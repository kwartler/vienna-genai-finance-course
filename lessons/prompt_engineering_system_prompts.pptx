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lunch. Remind students the system prompt they save here is the one they will extend in the Repo 1 Build this afternoon.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9A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9A6B2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9A6B2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890" y="625450"/>
            <a:ext cx="486461" cy="4864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11:00 – 12:00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73736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&amp;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Prompt Best Practices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instructions you write are the interface. Learn to shape them on purpose, not by accident.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in Finance   |   EA Executive MBA   |   Finance Masters + Data Science Masters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 this hour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353312"/>
            <a:ext cx="420624" cy="420624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533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30759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your haggl.com system prompt experiment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130552"/>
            <a:ext cx="420624" cy="420624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30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08483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structure: role, context, task, format, constraints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907792"/>
            <a:ext cx="420624" cy="420624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077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86207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anatomy: persona, boundaries, output format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685032"/>
            <a:ext cx="420624" cy="420624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850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63931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on: prompts that return structured JSON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462272"/>
            <a:ext cx="420624" cy="420624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622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41655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risks and responsible prompt design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239512"/>
            <a:ext cx="420624" cy="420624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239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519379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best system prompt to your repo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ellipse">
            <a:avLst/>
          </a:prstGeom>
          <a:solidFill>
            <a:srgbClr val="9A6B2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Debrief: your haggl.com system prompts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wrote a system prompt, ran two negotiation simulations, then reflected on the gap between what you intended and what happened.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85800" y="2542032"/>
            <a:ext cx="128016" cy="128016"/>
          </a:xfrm>
          <a:prstGeom prst="ellipse">
            <a:avLst/>
          </a:prstGeom>
          <a:solidFill>
            <a:srgbClr val="9A6B2C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246888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behavior did your system prompt intend to produce?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5800" y="3182112"/>
            <a:ext cx="128016" cy="128016"/>
          </a:xfrm>
          <a:prstGeom prst="ellipse">
            <a:avLst/>
          </a:prstGeom>
          <a:solidFill>
            <a:srgbClr val="9A6B2C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31089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behavior did you actually observe from the AI counterpart?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85800" y="3822192"/>
            <a:ext cx="128016" cy="128016"/>
          </a:xfrm>
          <a:prstGeom prst="ellipse">
            <a:avLst/>
          </a:prstGeom>
          <a:solidFill>
            <a:srgbClr val="9A6B2C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374904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was the gap, and what one line would you add or change to close it?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85800" y="4462272"/>
            <a:ext cx="128016" cy="128016"/>
          </a:xfrm>
          <a:prstGeom prst="ellipse">
            <a:avLst/>
          </a:prstGeom>
          <a:solidFill>
            <a:srgbClr val="9A6B2C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438912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 stronger persona description change behavior more than a longer list of rules?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0080" y="53492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gap, intent versus observed behavior, is exactly what the rest of today's session gives you tools to close.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the request you will send all course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OpenRouter call this semester is built from the same five pieces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017520" y="1600200"/>
            <a:ext cx="8366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AI you are calling, for example anthropic/claude-sonnet-4-6. Same prompt, different model, different quality and speed.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532888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prompt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017520" y="2532888"/>
            <a:ext cx="8366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behind the scenes instruction that sets role and rules before the user prompt arrives. Shapes every response, usually invisible to an end user.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7413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465576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017520" y="3465576"/>
            <a:ext cx="8366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question or instruction, the part a user typically sees and types.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0682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398264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017520" y="4398264"/>
            <a:ext cx="8366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about 2. Low values are consistent and repeatable. Higher values are more varied, but less predictable.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3951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33095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tokens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017520" y="5330952"/>
            <a:ext cx="8366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 on response length. If the model hits it mid thought, the response is cut off, not summarized, so JSON can come back truncated.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94360" cy="594360"/>
          </a:xfrm>
          <a:prstGeom prst="ellipse">
            <a:avLst/>
          </a:prstGeom>
          <a:solidFill>
            <a:srgbClr val="9A6B2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52852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structure: five parts worth naming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C2B52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69164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2194560"/>
            <a:ext cx="181051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the model act as? An analyst, a tutor, a skeptical reviewer.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779776" y="14630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C2B52"/>
          </a:solidFill>
          <a:ln/>
        </p:spPr>
      </p:sp>
      <p:sp>
        <p:nvSpPr>
          <p:cNvPr id="9" name="Text 6"/>
          <p:cNvSpPr/>
          <p:nvPr/>
        </p:nvSpPr>
        <p:spPr>
          <a:xfrm>
            <a:off x="2916936" y="169164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916936" y="2194560"/>
            <a:ext cx="181051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background does it need to answer well, without guessing?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10912" y="14630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C2B52"/>
          </a:solidFill>
          <a:ln/>
        </p:spPr>
      </p:sp>
      <p:sp>
        <p:nvSpPr>
          <p:cNvPr id="12" name="Text 9"/>
          <p:cNvSpPr/>
          <p:nvPr/>
        </p:nvSpPr>
        <p:spPr>
          <a:xfrm>
            <a:off x="5148072" y="169164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148072" y="2194560"/>
            <a:ext cx="181051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action you want performed, stated as one clear instruction.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242048" y="14630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C2B52"/>
          </a:solidFill>
          <a:ln/>
        </p:spPr>
      </p:sp>
      <p:sp>
        <p:nvSpPr>
          <p:cNvPr id="15" name="Text 12"/>
          <p:cNvSpPr/>
          <p:nvPr/>
        </p:nvSpPr>
        <p:spPr>
          <a:xfrm>
            <a:off x="7379208" y="169164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379208" y="2194560"/>
            <a:ext cx="181051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the answer be shaped: a list, a table, JSON, one paragraph?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473184" y="14630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C2B52"/>
          </a:solidFill>
          <a:ln/>
        </p:spPr>
      </p:sp>
      <p:sp>
        <p:nvSpPr>
          <p:cNvPr id="18" name="Text 15"/>
          <p:cNvSpPr/>
          <p:nvPr/>
        </p:nvSpPr>
        <p:spPr>
          <a:xfrm>
            <a:off x="9610344" y="169164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610344" y="2194560"/>
            <a:ext cx="181051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it avoid, or what limits apply: length, tone, no speculation?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prompt needs all five written out. Naming them in your head is often enough once this becomes habit.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it: same task, more constraints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Bare request:  “Recommend 5 ETFs I might like.”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positive and negative examples:  “I like low cost, broad market index funds such as VOO and SCHB. I avoid actively managed funds and anything with high turnover. Recommend 5 ETFs.”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 of thought, then contrast on a small model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520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held 40 shares. The investor sold 15 to rebalance, then bought 8 more after a dip. How many shares now? Please explain your logic in steps.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Contrast:  “...How many shares now? Do not give me any information except the final number.”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7091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both on a small model (llama-3.2-1b-instruct) at temperature 1, several times. Watch whether skipping the reasoning step changes correctness, not just length.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5440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A_examplePrompts_finance.txt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Going deeper: the COSTAR framework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several structured frameworks online. Worth the extra effort for prompts you will reuse often.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that helps the model understand the specific scenario.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5112" y="15087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07992" y="16459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07992" y="20116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task, stated clearly enough to focus the model.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01584" y="15087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84464" y="16459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84464" y="20116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writing style the response should follow.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2004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5661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sentiment the response should carry.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25112" y="306324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07992" y="32004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07992" y="35661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will read the response, so it is targeted correctly.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01584" y="306324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84464" y="32004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84464" y="35661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format: text, a list, JSON, so it plugs into a pipeline.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a research note COSTAR prompt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for a portfolio analyst preparing a note for an investment committee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0" y="155448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 portfolio analyst preparing a research note for an investment committee with limited time per submission.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35915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235915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me in producing a research note structure for one equity: thesis, signals, risks.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16382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/ TONE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3163824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Analytical, direct, confident but not overstated. State uncertainty plainly.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96849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3968496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financially literate committee that has not looked at this equity recently.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7731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4773168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(one sentence), Supporting Signals, Risk Factors, Recommendation line.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669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B_costar_prompt_finance.txt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7" y="52303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prompt anatomy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8016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prompt sets role, behavior, and rules before the user's message ever arrives.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920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3774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model, for this application? A concise assistant, a research analyst, a cautious tutor.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26280" y="1920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Boundaries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26280" y="23774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it refuse or avoid? What topics, tones, or actions are out of scope?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046720" y="16916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75320" y="1920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format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75320" y="23774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shape must every response take, so downstream code can parse it reliably?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8640" y="4023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habits that make system prompts work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F1EEE3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4805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context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807208" y="4480560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F1EEE3"/>
          </a:solidFill>
          <a:ln/>
        </p:spPr>
      </p:sp>
      <p:sp>
        <p:nvSpPr>
          <p:cNvPr id="19" name="Text 16"/>
          <p:cNvSpPr/>
          <p:nvPr/>
        </p:nvSpPr>
        <p:spPr>
          <a:xfrm>
            <a:off x="2807208" y="44805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the response format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65776" y="4480560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F1EEE3"/>
          </a:solidFill>
          <a:ln/>
        </p:spPr>
      </p:sp>
      <p:sp>
        <p:nvSpPr>
          <p:cNvPr id="21" name="Text 18"/>
          <p:cNvSpPr/>
          <p:nvPr/>
        </p:nvSpPr>
        <p:spPr>
          <a:xfrm>
            <a:off x="5065776" y="44805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clear and specific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24344" y="4480560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F1EEE3"/>
          </a:solidFill>
          <a:ln/>
        </p:spPr>
      </p:sp>
      <p:sp>
        <p:nvSpPr>
          <p:cNvPr id="23" name="Text 20"/>
          <p:cNvSpPr/>
          <p:nvPr/>
        </p:nvSpPr>
        <p:spPr>
          <a:xfrm>
            <a:off x="7324344" y="44805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an example or two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582912" y="4480560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F1EEE3"/>
          </a:solidFill>
          <a:ln/>
        </p:spPr>
      </p:sp>
      <p:sp>
        <p:nvSpPr>
          <p:cNvPr id="25" name="Text 22"/>
          <p:cNvSpPr/>
          <p:nvPr/>
        </p:nvSpPr>
        <p:spPr>
          <a:xfrm>
            <a:off x="9582912" y="44805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task into steps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7" y="52303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 on: force a structured JSON response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28016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pattern Repo 1 needs this afternoon: a system prompt that returns parseable JSON, every time.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4213D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73736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0574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are a financial signal explainer. Respond only with valid JSON matching this shape: {ticker, signal, confidence, one_sentence_reason}. No text outside the JSON.”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this, then break it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3657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user prompt with a ticker and a moving average signal. Confirm the JSON parses cleanly.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42519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max_tokens until the response gets cut off mid JSON. Notice it is truncated, not summarized.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48640" y="4846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“no text outside the JSON” constraint and resend. Compare what comes back.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48640" y="5623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save the system prompt version that survived all three tests to your repo.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ellipse">
            <a:avLst/>
          </a:prstGeom>
          <a:solidFill>
            <a:srgbClr val="9A6B2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injection risks and responsible design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prompt is not a security boundary. Anything a user can type can attempt to override, extract, or distract from your instructions.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10789920" cy="1600200"/>
          </a:xfrm>
          <a:prstGeom prst="roundRect">
            <a:avLst>
              <a:gd name="adj" fmla="val 4571"/>
            </a:avLst>
          </a:prstGeom>
          <a:solidFill>
            <a:srgbClr val="1C2B52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pattern to recognize, not to use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attacks split a disallowed request into smaller, innocuous looking sub questions, then ask the model to combine the answers into the original request. Nothing in any single piece looks like a violation on its own. This is why boundaries need to describe intent, not just list forbidden keywords.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41605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a system prompt alone to enforce safety or business rules, validate on the backend too.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0080" y="47274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and review unusual inputs the way you would review unusual trades.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" y="5294376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app touches money or personal data, treat prompt handling with the same care as authentication.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0080" y="5943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demo only: C_DecompRecon_Jailbreak.txt in the course materials repo, not for redistribution or production use.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7" y="52303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break for lunch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70" y="1569110"/>
            <a:ext cx="382219" cy="3822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46304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best system prompt from the JSON exercise to your repo.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2267712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31520" y="2404872"/>
            <a:ext cx="502920" cy="502920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70" y="2465222"/>
            <a:ext cx="382219" cy="3822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2359152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what changed if you revised it: what did not work in the first version?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163824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731520" y="3300984"/>
            <a:ext cx="502920" cy="502920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" y="3361334"/>
            <a:ext cx="382219" cy="38221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3255264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role, context, task, format, and constraints in mind for every prompt this afternoon.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548640" y="4059936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31520" y="4197096"/>
            <a:ext cx="502920" cy="502920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870" y="4257446"/>
            <a:ext cx="382219" cy="38221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17320" y="4151376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a system prompt shapes behavior, it does not guarantee safety.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Vibe Coding Best Practices, then the Repo 1 Build this afternoon.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and System Prompt Best Practices</dc:title>
  <dc:subject>PptxGenJS Presentation</dc:subject>
  <dc:creator>Ted Kwartler</dc:creator>
  <cp:lastModifiedBy>Ted Kwartler</cp:lastModifiedBy>
  <cp:revision>1</cp:revision>
  <dcterms:created xsi:type="dcterms:W3CDTF">2026-07-06T13:30:53Z</dcterms:created>
  <dcterms:modified xsi:type="dcterms:W3CDTF">2026-07-06T13:30:53Z</dcterms:modified>
</cp:coreProperties>
</file>