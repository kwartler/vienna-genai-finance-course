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11:00 Prompt Engineering session. EMA is now covered: the deck explains it right after the SMA and lag slide, B_TTR.R compares SMA and EMA on the same chart, and D_TTR.R calculates MACD both ways (SMA and EMA) side by side before continuing with EMA for the backtest.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9A6B2C">
              <a:alpha val="12000"/>
            </a:srgbClr>
          </a:solidFill>
          <a:ln/>
        </p:spPr>
      </p:sp>
      <p:sp>
        <p:nvSpPr>
          <p:cNvPr id="3" name="Shape 1"/>
          <p:cNvSpPr/>
          <p:nvPr/>
        </p:nvSpPr>
        <p:spPr>
          <a:xfrm>
            <a:off x="-1463040" y="4937760"/>
            <a:ext cx="3291840" cy="3291840"/>
          </a:xfrm>
          <a:prstGeom prst="ellipse">
            <a:avLst/>
          </a:prstGeom>
          <a:solidFill>
            <a:srgbClr val="9A6B2C">
              <a:alpha val="12000"/>
            </a:srgbClr>
          </a:solidFill>
          <a:ln/>
        </p:spPr>
      </p:sp>
      <p:sp>
        <p:nvSpPr>
          <p:cNvPr id="4" name="Shape 2"/>
          <p:cNvSpPr/>
          <p:nvPr/>
        </p:nvSpPr>
        <p:spPr>
          <a:xfrm>
            <a:off x="640080" y="548640"/>
            <a:ext cx="640080" cy="640080"/>
          </a:xfrm>
          <a:prstGeom prst="ellipse">
            <a:avLst/>
          </a:prstGeom>
          <a:solidFill>
            <a:srgbClr val="9A6B2C"/>
          </a:solidFill>
          <a:ln/>
        </p:spPr>
      </p:sp>
      <p:pic>
        <p:nvPicPr>
          <p:cNvPr id="5" name="Image 0" descr="preencoded.png">    </p:cNvPr>
          <p:cNvPicPr>
            <a:picLocks noChangeAspect="1"/>
          </p:cNvPicPr>
          <p:nvPr/>
        </p:nvPicPr>
        <p:blipFill>
          <a:blip r:embed="rId1"/>
          <a:stretch>
            <a:fillRect/>
          </a:stretch>
        </p:blipFill>
        <p:spPr>
          <a:xfrm>
            <a:off x="716890" y="625450"/>
            <a:ext cx="486461" cy="486461"/>
          </a:xfrm>
          <a:prstGeom prst="rect">
            <a:avLst/>
          </a:prstGeom>
        </p:spPr>
      </p:pic>
      <p:sp>
        <p:nvSpPr>
          <p:cNvPr id="6" name="Text 3"/>
          <p:cNvSpPr/>
          <p:nvPr/>
        </p:nvSpPr>
        <p:spPr>
          <a:xfrm>
            <a:off x="640080" y="1325880"/>
            <a:ext cx="5486400" cy="365760"/>
          </a:xfrm>
          <a:prstGeom prst="rect">
            <a:avLst/>
          </a:prstGeom>
          <a:noFill/>
          <a:ln/>
        </p:spPr>
        <p:txBody>
          <a:bodyPr wrap="square" rtlCol="0" anchor="ctr"/>
          <a:lstStyle/>
          <a:p>
            <a:pPr indent="0" marL="0">
              <a:buNone/>
            </a:pPr>
            <a:r>
              <a:rPr lang="en-US" sz="1300" b="1" spc="200" kern="0" dirty="0">
                <a:solidFill>
                  <a:srgbClr val="9A6B2C"/>
                </a:solidFill>
                <a:latin typeface="Calibri" pitchFamily="34" charset="0"/>
                <a:ea typeface="Calibri" pitchFamily="34" charset="-122"/>
                <a:cs typeface="Calibri" pitchFamily="34" charset="-120"/>
              </a:rPr>
              <a:t>DAY 1  ·  9:00 TO 11:00</a:t>
            </a:r>
            <a:endParaRPr lang="en-US" sz="1300" dirty="0"/>
          </a:p>
        </p:txBody>
      </p:sp>
      <p:sp>
        <p:nvSpPr>
          <p:cNvPr id="7" name="Text 4"/>
          <p:cNvSpPr/>
          <p:nvPr/>
        </p:nvSpPr>
        <p:spPr>
          <a:xfrm>
            <a:off x="594360" y="1737360"/>
            <a:ext cx="9601200" cy="1188720"/>
          </a:xfrm>
          <a:prstGeom prst="rect">
            <a:avLst/>
          </a:prstGeom>
          <a:noFill/>
          <a:ln/>
        </p:spPr>
        <p:txBody>
          <a:bodyPr wrap="square"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Technical Indicators in R</a:t>
            </a:r>
            <a:endParaRPr lang="en-US" sz="4200" dirty="0"/>
          </a:p>
        </p:txBody>
      </p:sp>
      <p:sp>
        <p:nvSpPr>
          <p:cNvPr id="8" name="Text 5"/>
          <p:cNvSpPr/>
          <p:nvPr/>
        </p:nvSpPr>
        <p:spPr>
          <a:xfrm>
            <a:off x="640080" y="2880360"/>
            <a:ext cx="8686800" cy="73152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Moving averages, MACD, and RSI: reading price action in R, one indicator at a time.</a:t>
            </a:r>
            <a:endParaRPr lang="en-US" sz="1600" dirty="0"/>
          </a:p>
        </p:txBody>
      </p:sp>
      <p:sp>
        <p:nvSpPr>
          <p:cNvPr id="9" name="Text 6"/>
          <p:cNvSpPr/>
          <p:nvPr/>
        </p:nvSpPr>
        <p:spPr>
          <a:xfrm>
            <a:off x="640080" y="6126480"/>
            <a:ext cx="10058400" cy="365760"/>
          </a:xfrm>
          <a:prstGeom prst="rect">
            <a:avLst/>
          </a:prstGeom>
          <a:noFill/>
          <a:ln/>
        </p:spPr>
        <p:txBody>
          <a:bodyPr wrap="square" rtlCol="0" anchor="ctr"/>
          <a:lstStyle/>
          <a:p>
            <a:pPr indent="0" marL="0">
              <a:buNone/>
            </a:pPr>
            <a:r>
              <a:rPr lang="en-US" sz="1200" dirty="0">
                <a:solidFill>
                  <a:srgbClr val="8FA3C9"/>
                </a:solidFill>
                <a:latin typeface="Calibri" pitchFamily="34" charset="0"/>
                <a:ea typeface="Calibri" pitchFamily="34" charset="-122"/>
                <a:cs typeface="Calibri" pitchFamily="34" charset="-120"/>
              </a:rPr>
              <a:t>Generative AI in Finance   |   EA Executive MBA   |   Finance Masters + Data Science Masters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a:ln/>
        </p:spPr>
        <p:txBody>
          <a:bodyPr wrap="square"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What we cover this session</a:t>
            </a:r>
            <a:endParaRPr lang="en-US" sz="3000" dirty="0"/>
          </a:p>
        </p:txBody>
      </p:sp>
      <p:sp>
        <p:nvSpPr>
          <p:cNvPr id="3" name="Shape 1"/>
          <p:cNvSpPr/>
          <p:nvPr/>
        </p:nvSpPr>
        <p:spPr>
          <a:xfrm>
            <a:off x="548640" y="123444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4" name="Shape 2"/>
          <p:cNvSpPr/>
          <p:nvPr/>
        </p:nvSpPr>
        <p:spPr>
          <a:xfrm>
            <a:off x="777240" y="1353312"/>
            <a:ext cx="420624" cy="420624"/>
          </a:xfrm>
          <a:prstGeom prst="ellipse">
            <a:avLst/>
          </a:prstGeom>
          <a:solidFill>
            <a:srgbClr val="F1EEE3"/>
          </a:solidFill>
          <a:ln/>
        </p:spPr>
      </p:sp>
      <p:sp>
        <p:nvSpPr>
          <p:cNvPr id="5" name="Text 3"/>
          <p:cNvSpPr/>
          <p:nvPr/>
        </p:nvSpPr>
        <p:spPr>
          <a:xfrm>
            <a:off x="777240" y="135331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417320" y="130759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Where technical trading fits among four ways to invest</a:t>
            </a:r>
            <a:endParaRPr lang="en-US" sz="1500" dirty="0"/>
          </a:p>
        </p:txBody>
      </p:sp>
      <p:sp>
        <p:nvSpPr>
          <p:cNvPr id="7" name="Shape 5"/>
          <p:cNvSpPr/>
          <p:nvPr/>
        </p:nvSpPr>
        <p:spPr>
          <a:xfrm>
            <a:off x="548640" y="201168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2130552"/>
            <a:ext cx="420624" cy="420624"/>
          </a:xfrm>
          <a:prstGeom prst="ellipse">
            <a:avLst/>
          </a:prstGeom>
          <a:solidFill>
            <a:srgbClr val="F1EEE3"/>
          </a:solidFill>
          <a:ln/>
        </p:spPr>
      </p:sp>
      <p:sp>
        <p:nvSpPr>
          <p:cNvPr id="9" name="Text 7"/>
          <p:cNvSpPr/>
          <p:nvPr/>
        </p:nvSpPr>
        <p:spPr>
          <a:xfrm>
            <a:off x="777240" y="213055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417320" y="208483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Why stock prices resist traditional forecasting</a:t>
            </a:r>
            <a:endParaRPr lang="en-US" sz="1500" dirty="0"/>
          </a:p>
        </p:txBody>
      </p:sp>
      <p:sp>
        <p:nvSpPr>
          <p:cNvPr id="11" name="Shape 9"/>
          <p:cNvSpPr/>
          <p:nvPr/>
        </p:nvSpPr>
        <p:spPr>
          <a:xfrm>
            <a:off x="548640" y="278892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12" name="Shape 10"/>
          <p:cNvSpPr/>
          <p:nvPr/>
        </p:nvSpPr>
        <p:spPr>
          <a:xfrm>
            <a:off x="777240" y="2907792"/>
            <a:ext cx="420624" cy="420624"/>
          </a:xfrm>
          <a:prstGeom prst="ellipse">
            <a:avLst/>
          </a:prstGeom>
          <a:solidFill>
            <a:srgbClr val="F1EEE3"/>
          </a:solidFill>
          <a:ln/>
        </p:spPr>
      </p:sp>
      <p:sp>
        <p:nvSpPr>
          <p:cNvPr id="13" name="Text 11"/>
          <p:cNvSpPr/>
          <p:nvPr/>
        </p:nvSpPr>
        <p:spPr>
          <a:xfrm>
            <a:off x="777240" y="290779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417320" y="286207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Simple moving averages, and why every indicator needs a lag</a:t>
            </a:r>
            <a:endParaRPr lang="en-US" sz="1500" dirty="0"/>
          </a:p>
        </p:txBody>
      </p:sp>
      <p:sp>
        <p:nvSpPr>
          <p:cNvPr id="15" name="Shape 13"/>
          <p:cNvSpPr/>
          <p:nvPr/>
        </p:nvSpPr>
        <p:spPr>
          <a:xfrm>
            <a:off x="548640" y="356616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16" name="Shape 14"/>
          <p:cNvSpPr/>
          <p:nvPr/>
        </p:nvSpPr>
        <p:spPr>
          <a:xfrm>
            <a:off x="777240" y="3685032"/>
            <a:ext cx="420624" cy="420624"/>
          </a:xfrm>
          <a:prstGeom prst="ellipse">
            <a:avLst/>
          </a:prstGeom>
          <a:solidFill>
            <a:srgbClr val="F1EEE3"/>
          </a:solidFill>
          <a:ln/>
        </p:spPr>
      </p:sp>
      <p:sp>
        <p:nvSpPr>
          <p:cNvPr id="17" name="Text 15"/>
          <p:cNvSpPr/>
          <p:nvPr/>
        </p:nvSpPr>
        <p:spPr>
          <a:xfrm>
            <a:off x="777240" y="368503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417320" y="363931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Golden and death cross signals, using 50 and 200 day SMA</a:t>
            </a:r>
            <a:endParaRPr lang="en-US" sz="1500" dirty="0"/>
          </a:p>
        </p:txBody>
      </p:sp>
      <p:sp>
        <p:nvSpPr>
          <p:cNvPr id="19" name="Shape 17"/>
          <p:cNvSpPr/>
          <p:nvPr/>
        </p:nvSpPr>
        <p:spPr>
          <a:xfrm>
            <a:off x="548640" y="434340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20" name="Shape 18"/>
          <p:cNvSpPr/>
          <p:nvPr/>
        </p:nvSpPr>
        <p:spPr>
          <a:xfrm>
            <a:off x="777240" y="4462272"/>
            <a:ext cx="420624" cy="420624"/>
          </a:xfrm>
          <a:prstGeom prst="ellipse">
            <a:avLst/>
          </a:prstGeom>
          <a:solidFill>
            <a:srgbClr val="F1EEE3"/>
          </a:solidFill>
          <a:ln/>
        </p:spPr>
      </p:sp>
      <p:sp>
        <p:nvSpPr>
          <p:cNvPr id="21" name="Text 19"/>
          <p:cNvSpPr/>
          <p:nvPr/>
        </p:nvSpPr>
        <p:spPr>
          <a:xfrm>
            <a:off x="777240" y="446227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1417320" y="441655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MACD: signal line and histogram</a:t>
            </a:r>
            <a:endParaRPr lang="en-US" sz="1500" dirty="0"/>
          </a:p>
        </p:txBody>
      </p:sp>
      <p:sp>
        <p:nvSpPr>
          <p:cNvPr id="23" name="Shape 21"/>
          <p:cNvSpPr/>
          <p:nvPr/>
        </p:nvSpPr>
        <p:spPr>
          <a:xfrm>
            <a:off x="548640" y="5120640"/>
            <a:ext cx="11064240" cy="658368"/>
          </a:xfrm>
          <a:prstGeom prst="roundRect">
            <a:avLst>
              <a:gd name="adj" fmla="val 8333"/>
            </a:avLst>
          </a:prstGeom>
          <a:solidFill>
            <a:srgbClr val="FFFFFF"/>
          </a:solidFill>
          <a:ln/>
          <a:effectLst>
            <a:outerShdw sx="100000" sy="100000" kx="0" ky="0" algn="bl" rotWithShape="0" blurRad="63500" dist="25400" dir="5400000">
              <a:srgbClr val="000000">
                <a:alpha val="8000"/>
              </a:srgbClr>
            </a:outerShdw>
          </a:effectLst>
        </p:spPr>
      </p:sp>
      <p:sp>
        <p:nvSpPr>
          <p:cNvPr id="24" name="Shape 22"/>
          <p:cNvSpPr/>
          <p:nvPr/>
        </p:nvSpPr>
        <p:spPr>
          <a:xfrm>
            <a:off x="777240" y="5239512"/>
            <a:ext cx="420624" cy="420624"/>
          </a:xfrm>
          <a:prstGeom prst="ellipse">
            <a:avLst/>
          </a:prstGeom>
          <a:solidFill>
            <a:srgbClr val="F1EEE3"/>
          </a:solidFill>
          <a:ln/>
        </p:spPr>
      </p:sp>
      <p:sp>
        <p:nvSpPr>
          <p:cNvPr id="25" name="Text 23"/>
          <p:cNvSpPr/>
          <p:nvPr/>
        </p:nvSpPr>
        <p:spPr>
          <a:xfrm>
            <a:off x="777240" y="523951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6</a:t>
            </a:r>
            <a:endParaRPr lang="en-US" sz="1600" dirty="0"/>
          </a:p>
        </p:txBody>
      </p:sp>
      <p:sp>
        <p:nvSpPr>
          <p:cNvPr id="26" name="Text 24"/>
          <p:cNvSpPr/>
          <p:nvPr/>
        </p:nvSpPr>
        <p:spPr>
          <a:xfrm>
            <a:off x="1417320" y="5193792"/>
            <a:ext cx="9966960" cy="512064"/>
          </a:xfrm>
          <a:prstGeom prst="rect">
            <a:avLst/>
          </a:prstGeom>
          <a:noFill/>
          <a:ln/>
        </p:spPr>
        <p:txBody>
          <a:bodyPr wrap="square" rtlCol="0" anchor="ctr"/>
          <a:lstStyle/>
          <a:p>
            <a:pPr indent="0" marL="0">
              <a:buNone/>
            </a:pPr>
            <a:r>
              <a:rPr lang="en-US" sz="1500" dirty="0">
                <a:solidFill>
                  <a:srgbClr val="14213D"/>
                </a:solidFill>
                <a:latin typeface="Calibri" pitchFamily="34" charset="0"/>
                <a:ea typeface="Calibri" pitchFamily="34" charset="-122"/>
                <a:cs typeface="Calibri" pitchFamily="34" charset="-120"/>
              </a:rPr>
              <a:t>RSI: overbought and oversold thresholds</a:t>
            </a:r>
            <a:endParaRPr lang="en-US" sz="1500" dirty="0"/>
          </a:p>
        </p:txBody>
      </p:sp>
      <p:sp>
        <p:nvSpPr>
          <p:cNvPr id="27" name="Text 25"/>
          <p:cNvSpPr/>
          <p:nvPr/>
        </p:nvSpPr>
        <p:spPr>
          <a:xfrm>
            <a:off x="548640" y="6126480"/>
            <a:ext cx="10058400" cy="36576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Five R scripts: A through E. We run and modify each one together.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Four ways people decide to trade</a:t>
            </a:r>
            <a:endParaRPr lang="en-US" sz="2600" dirty="0"/>
          </a:p>
        </p:txBody>
      </p:sp>
      <p:sp>
        <p:nvSpPr>
          <p:cNvPr id="3" name="Shape 1"/>
          <p:cNvSpPr/>
          <p:nvPr/>
        </p:nvSpPr>
        <p:spPr>
          <a:xfrm>
            <a:off x="548640" y="1371600"/>
            <a:ext cx="11064240" cy="960120"/>
          </a:xfrm>
          <a:prstGeom prst="roundRect">
            <a:avLst>
              <a:gd name="adj" fmla="val 6667"/>
            </a:avLst>
          </a:prstGeom>
          <a:solidFill>
            <a:srgbClr val="FFFFFF"/>
          </a:solidFill>
          <a:ln/>
          <a:effectLst>
            <a:outerShdw sx="100000" sy="100000" kx="0" ky="0" algn="bl" rotWithShape="0" blurRad="63500" dist="25400" dir="5400000">
              <a:srgbClr val="000000">
                <a:alpha val="7000"/>
              </a:srgbClr>
            </a:outerShdw>
          </a:effectLst>
        </p:spPr>
      </p:sp>
      <p:sp>
        <p:nvSpPr>
          <p:cNvPr id="4" name="Shape 2"/>
          <p:cNvSpPr/>
          <p:nvPr/>
        </p:nvSpPr>
        <p:spPr>
          <a:xfrm>
            <a:off x="749808" y="1591056"/>
            <a:ext cx="530352" cy="530352"/>
          </a:xfrm>
          <a:prstGeom prst="ellipse">
            <a:avLst/>
          </a:prstGeom>
          <a:solidFill>
            <a:srgbClr val="F1EEE3"/>
          </a:solidFill>
          <a:ln/>
        </p:spPr>
      </p:sp>
      <p:pic>
        <p:nvPicPr>
          <p:cNvPr id="5" name="Image 0" descr="preencoded.png">    </p:cNvPr>
          <p:cNvPicPr>
            <a:picLocks noChangeAspect="1"/>
          </p:cNvPicPr>
          <p:nvPr/>
        </p:nvPicPr>
        <p:blipFill>
          <a:blip r:embed="rId1"/>
          <a:stretch>
            <a:fillRect/>
          </a:stretch>
        </p:blipFill>
        <p:spPr>
          <a:xfrm>
            <a:off x="813450" y="1654698"/>
            <a:ext cx="403068" cy="403068"/>
          </a:xfrm>
          <a:prstGeom prst="rect">
            <a:avLst/>
          </a:prstGeom>
        </p:spPr>
      </p:pic>
      <p:sp>
        <p:nvSpPr>
          <p:cNvPr id="6" name="Text 3"/>
          <p:cNvSpPr/>
          <p:nvPr/>
        </p:nvSpPr>
        <p:spPr>
          <a:xfrm>
            <a:off x="1508760" y="1481328"/>
            <a:ext cx="2377440" cy="731520"/>
          </a:xfrm>
          <a:prstGeom prst="rect">
            <a:avLst/>
          </a:prstGeom>
          <a:noFill/>
          <a:ln/>
        </p:spPr>
        <p:txBody>
          <a:bodyPr wrap="square" rtlCol="0" anchor="ctr"/>
          <a:lstStyle/>
          <a:p>
            <a:pPr indent="0" marL="0">
              <a:buNone/>
            </a:pPr>
            <a:r>
              <a:rPr lang="en-US" sz="1550" b="1" dirty="0">
                <a:solidFill>
                  <a:srgbClr val="9A6B2C"/>
                </a:solidFill>
                <a:latin typeface="Cambria" pitchFamily="34" charset="0"/>
                <a:ea typeface="Cambria" pitchFamily="34" charset="-122"/>
                <a:cs typeface="Cambria" pitchFamily="34" charset="-120"/>
              </a:rPr>
              <a:t>Belief based</a:t>
            </a:r>
            <a:endParaRPr lang="en-US" sz="1550" dirty="0"/>
          </a:p>
        </p:txBody>
      </p:sp>
      <p:sp>
        <p:nvSpPr>
          <p:cNvPr id="7" name="Text 4"/>
          <p:cNvSpPr/>
          <p:nvPr/>
        </p:nvSpPr>
        <p:spPr>
          <a:xfrm>
            <a:off x="3977640" y="1463040"/>
            <a:ext cx="7406640" cy="77724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A company's story or product is appealing on its own, regardless of financial or market factors.</a:t>
            </a:r>
            <a:endParaRPr lang="en-US" sz="1250" dirty="0"/>
          </a:p>
        </p:txBody>
      </p:sp>
      <p:sp>
        <p:nvSpPr>
          <p:cNvPr id="8" name="Shape 5"/>
          <p:cNvSpPr/>
          <p:nvPr/>
        </p:nvSpPr>
        <p:spPr>
          <a:xfrm>
            <a:off x="548640" y="2450592"/>
            <a:ext cx="11064240" cy="960120"/>
          </a:xfrm>
          <a:prstGeom prst="roundRect">
            <a:avLst>
              <a:gd name="adj" fmla="val 6667"/>
            </a:avLst>
          </a:prstGeom>
          <a:solidFill>
            <a:srgbClr val="FFFFFF"/>
          </a:solidFill>
          <a:ln/>
          <a:effectLst>
            <a:outerShdw sx="100000" sy="100000" kx="0" ky="0" algn="bl" rotWithShape="0" blurRad="63500" dist="25400" dir="5400000">
              <a:srgbClr val="000000">
                <a:alpha val="7000"/>
              </a:srgbClr>
            </a:outerShdw>
          </a:effectLst>
        </p:spPr>
      </p:sp>
      <p:sp>
        <p:nvSpPr>
          <p:cNvPr id="9" name="Shape 6"/>
          <p:cNvSpPr/>
          <p:nvPr/>
        </p:nvSpPr>
        <p:spPr>
          <a:xfrm>
            <a:off x="749808" y="2670048"/>
            <a:ext cx="530352" cy="530352"/>
          </a:xfrm>
          <a:prstGeom prst="ellipse">
            <a:avLst/>
          </a:prstGeom>
          <a:solidFill>
            <a:srgbClr val="F1EEE3"/>
          </a:solidFill>
          <a:ln/>
        </p:spPr>
      </p:sp>
      <p:pic>
        <p:nvPicPr>
          <p:cNvPr id="10" name="Image 1" descr="preencoded.png">    </p:cNvPr>
          <p:cNvPicPr>
            <a:picLocks noChangeAspect="1"/>
          </p:cNvPicPr>
          <p:nvPr/>
        </p:nvPicPr>
        <p:blipFill>
          <a:blip r:embed="rId2"/>
          <a:stretch>
            <a:fillRect/>
          </a:stretch>
        </p:blipFill>
        <p:spPr>
          <a:xfrm>
            <a:off x="813450" y="2733690"/>
            <a:ext cx="403068" cy="403068"/>
          </a:xfrm>
          <a:prstGeom prst="rect">
            <a:avLst/>
          </a:prstGeom>
        </p:spPr>
      </p:pic>
      <p:sp>
        <p:nvSpPr>
          <p:cNvPr id="11" name="Text 7"/>
          <p:cNvSpPr/>
          <p:nvPr/>
        </p:nvSpPr>
        <p:spPr>
          <a:xfrm>
            <a:off x="1508760" y="2560320"/>
            <a:ext cx="2377440" cy="731520"/>
          </a:xfrm>
          <a:prstGeom prst="rect">
            <a:avLst/>
          </a:prstGeom>
          <a:noFill/>
          <a:ln/>
        </p:spPr>
        <p:txBody>
          <a:bodyPr wrap="square" rtlCol="0" anchor="ctr"/>
          <a:lstStyle/>
          <a:p>
            <a:pPr indent="0" marL="0">
              <a:buNone/>
            </a:pPr>
            <a:r>
              <a:rPr lang="en-US" sz="1550" b="1" dirty="0">
                <a:solidFill>
                  <a:srgbClr val="9A6B2C"/>
                </a:solidFill>
                <a:latin typeface="Cambria" pitchFamily="34" charset="0"/>
                <a:ea typeface="Cambria" pitchFamily="34" charset="-122"/>
                <a:cs typeface="Cambria" pitchFamily="34" charset="-120"/>
              </a:rPr>
              <a:t>Fundamental</a:t>
            </a:r>
            <a:endParaRPr lang="en-US" sz="1550" dirty="0"/>
          </a:p>
        </p:txBody>
      </p:sp>
      <p:sp>
        <p:nvSpPr>
          <p:cNvPr id="12" name="Text 8"/>
          <p:cNvSpPr/>
          <p:nvPr/>
        </p:nvSpPr>
        <p:spPr>
          <a:xfrm>
            <a:off x="3977640" y="2542032"/>
            <a:ext cx="7406640" cy="77724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Traditional financial indicators (earnings, revenue) trigger the decision, regardless of sector or product.</a:t>
            </a:r>
            <a:endParaRPr lang="en-US" sz="1250" dirty="0"/>
          </a:p>
        </p:txBody>
      </p:sp>
      <p:sp>
        <p:nvSpPr>
          <p:cNvPr id="13" name="Shape 9"/>
          <p:cNvSpPr/>
          <p:nvPr/>
        </p:nvSpPr>
        <p:spPr>
          <a:xfrm>
            <a:off x="548640" y="3529584"/>
            <a:ext cx="11064240" cy="960120"/>
          </a:xfrm>
          <a:prstGeom prst="roundRect">
            <a:avLst>
              <a:gd name="adj" fmla="val 6667"/>
            </a:avLst>
          </a:prstGeom>
          <a:solidFill>
            <a:srgbClr val="FFFFFF"/>
          </a:solidFill>
          <a:ln/>
          <a:effectLst>
            <a:outerShdw sx="100000" sy="100000" kx="0" ky="0" algn="bl" rotWithShape="0" blurRad="63500" dist="25400" dir="5400000">
              <a:srgbClr val="000000">
                <a:alpha val="7000"/>
              </a:srgbClr>
            </a:outerShdw>
          </a:effectLst>
        </p:spPr>
      </p:sp>
      <p:sp>
        <p:nvSpPr>
          <p:cNvPr id="14" name="Shape 10"/>
          <p:cNvSpPr/>
          <p:nvPr/>
        </p:nvSpPr>
        <p:spPr>
          <a:xfrm>
            <a:off x="749808" y="3749040"/>
            <a:ext cx="530352" cy="530352"/>
          </a:xfrm>
          <a:prstGeom prst="ellipse">
            <a:avLst/>
          </a:prstGeom>
          <a:solidFill>
            <a:srgbClr val="F1EEE3"/>
          </a:solidFill>
          <a:ln/>
        </p:spPr>
      </p:sp>
      <p:pic>
        <p:nvPicPr>
          <p:cNvPr id="15" name="Image 2" descr="preencoded.png">    </p:cNvPr>
          <p:cNvPicPr>
            <a:picLocks noChangeAspect="1"/>
          </p:cNvPicPr>
          <p:nvPr/>
        </p:nvPicPr>
        <p:blipFill>
          <a:blip r:embed="rId3"/>
          <a:stretch>
            <a:fillRect/>
          </a:stretch>
        </p:blipFill>
        <p:spPr>
          <a:xfrm>
            <a:off x="813450" y="3812682"/>
            <a:ext cx="403068" cy="403068"/>
          </a:xfrm>
          <a:prstGeom prst="rect">
            <a:avLst/>
          </a:prstGeom>
        </p:spPr>
      </p:pic>
      <p:sp>
        <p:nvSpPr>
          <p:cNvPr id="16" name="Text 11"/>
          <p:cNvSpPr/>
          <p:nvPr/>
        </p:nvSpPr>
        <p:spPr>
          <a:xfrm>
            <a:off x="1508760" y="3639312"/>
            <a:ext cx="2377440" cy="731520"/>
          </a:xfrm>
          <a:prstGeom prst="rect">
            <a:avLst/>
          </a:prstGeom>
          <a:noFill/>
          <a:ln/>
        </p:spPr>
        <p:txBody>
          <a:bodyPr wrap="square" rtlCol="0" anchor="ctr"/>
          <a:lstStyle/>
          <a:p>
            <a:pPr indent="0" marL="0">
              <a:buNone/>
            </a:pPr>
            <a:r>
              <a:rPr lang="en-US" sz="1550" b="1" dirty="0">
                <a:solidFill>
                  <a:srgbClr val="9A6B2C"/>
                </a:solidFill>
                <a:latin typeface="Cambria" pitchFamily="34" charset="0"/>
                <a:ea typeface="Cambria" pitchFamily="34" charset="-122"/>
                <a:cs typeface="Cambria" pitchFamily="34" charset="-120"/>
              </a:rPr>
              <a:t>Technical</a:t>
            </a:r>
            <a:endParaRPr lang="en-US" sz="1550" dirty="0"/>
          </a:p>
        </p:txBody>
      </p:sp>
      <p:sp>
        <p:nvSpPr>
          <p:cNvPr id="17" name="Text 12"/>
          <p:cNvSpPr/>
          <p:nvPr/>
        </p:nvSpPr>
        <p:spPr>
          <a:xfrm>
            <a:off x="3977640" y="3621024"/>
            <a:ext cx="7406640" cy="77724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Price action itself, not the reason behind it, triggers the decision: crossovers, momentum, chart patterns.</a:t>
            </a:r>
            <a:endParaRPr lang="en-US" sz="1250" dirty="0"/>
          </a:p>
        </p:txBody>
      </p:sp>
      <p:sp>
        <p:nvSpPr>
          <p:cNvPr id="18" name="Shape 13"/>
          <p:cNvSpPr/>
          <p:nvPr/>
        </p:nvSpPr>
        <p:spPr>
          <a:xfrm>
            <a:off x="548640" y="4608576"/>
            <a:ext cx="11064240" cy="960120"/>
          </a:xfrm>
          <a:prstGeom prst="roundRect">
            <a:avLst>
              <a:gd name="adj" fmla="val 6667"/>
            </a:avLst>
          </a:prstGeom>
          <a:solidFill>
            <a:srgbClr val="FFFFFF"/>
          </a:solidFill>
          <a:ln/>
          <a:effectLst>
            <a:outerShdw sx="100000" sy="100000" kx="0" ky="0" algn="bl" rotWithShape="0" blurRad="63500" dist="25400" dir="5400000">
              <a:srgbClr val="000000">
                <a:alpha val="7000"/>
              </a:srgbClr>
            </a:outerShdw>
          </a:effectLst>
        </p:spPr>
      </p:sp>
      <p:sp>
        <p:nvSpPr>
          <p:cNvPr id="19" name="Shape 14"/>
          <p:cNvSpPr/>
          <p:nvPr/>
        </p:nvSpPr>
        <p:spPr>
          <a:xfrm>
            <a:off x="749808" y="4828032"/>
            <a:ext cx="530352" cy="530352"/>
          </a:xfrm>
          <a:prstGeom prst="ellipse">
            <a:avLst/>
          </a:prstGeom>
          <a:solidFill>
            <a:srgbClr val="F1EEE3"/>
          </a:solidFill>
          <a:ln/>
        </p:spPr>
      </p:sp>
      <p:pic>
        <p:nvPicPr>
          <p:cNvPr id="20" name="Image 3" descr="preencoded.png">    </p:cNvPr>
          <p:cNvPicPr>
            <a:picLocks noChangeAspect="1"/>
          </p:cNvPicPr>
          <p:nvPr/>
        </p:nvPicPr>
        <p:blipFill>
          <a:blip r:embed="rId4"/>
          <a:stretch>
            <a:fillRect/>
          </a:stretch>
        </p:blipFill>
        <p:spPr>
          <a:xfrm>
            <a:off x="813450" y="4891674"/>
            <a:ext cx="403068" cy="403068"/>
          </a:xfrm>
          <a:prstGeom prst="rect">
            <a:avLst/>
          </a:prstGeom>
        </p:spPr>
      </p:pic>
      <p:sp>
        <p:nvSpPr>
          <p:cNvPr id="21" name="Text 15"/>
          <p:cNvSpPr/>
          <p:nvPr/>
        </p:nvSpPr>
        <p:spPr>
          <a:xfrm>
            <a:off x="1508760" y="4718304"/>
            <a:ext cx="2377440" cy="731520"/>
          </a:xfrm>
          <a:prstGeom prst="rect">
            <a:avLst/>
          </a:prstGeom>
          <a:noFill/>
          <a:ln/>
        </p:spPr>
        <p:txBody>
          <a:bodyPr wrap="square" rtlCol="0" anchor="ctr"/>
          <a:lstStyle/>
          <a:p>
            <a:pPr indent="0" marL="0">
              <a:buNone/>
            </a:pPr>
            <a:r>
              <a:rPr lang="en-US" sz="1550" b="1" dirty="0">
                <a:solidFill>
                  <a:srgbClr val="9A6B2C"/>
                </a:solidFill>
                <a:latin typeface="Cambria" pitchFamily="34" charset="0"/>
                <a:ea typeface="Cambria" pitchFamily="34" charset="-122"/>
                <a:cs typeface="Cambria" pitchFamily="34" charset="-120"/>
              </a:rPr>
              <a:t>High frequency</a:t>
            </a:r>
            <a:endParaRPr lang="en-US" sz="1550" dirty="0"/>
          </a:p>
        </p:txBody>
      </p:sp>
      <p:sp>
        <p:nvSpPr>
          <p:cNvPr id="22" name="Text 16"/>
          <p:cNvSpPr/>
          <p:nvPr/>
        </p:nvSpPr>
        <p:spPr>
          <a:xfrm>
            <a:off x="3977640" y="4700016"/>
            <a:ext cx="7406640" cy="77724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Algorithmic scalping measured in fractions of a second. No human in the loop, profit from market making.</a:t>
            </a:r>
            <a:endParaRPr lang="en-US" sz="1250" dirty="0"/>
          </a:p>
        </p:txBody>
      </p:sp>
      <p:sp>
        <p:nvSpPr>
          <p:cNvPr id="23" name="Text 17"/>
          <p:cNvSpPr/>
          <p:nvPr/>
        </p:nvSpPr>
        <p:spPr>
          <a:xfrm>
            <a:off x="548640" y="5623560"/>
            <a:ext cx="10972800" cy="502920"/>
          </a:xfrm>
          <a:prstGeom prst="rect">
            <a:avLst/>
          </a:prstGeom>
          <a:noFill/>
          <a:ln/>
        </p:spPr>
        <p:txBody>
          <a:bodyPr wrap="square" rtlCol="0" anchor="ctr"/>
          <a:lstStyle/>
          <a:p>
            <a:pPr indent="0" marL="0">
              <a:buNone/>
            </a:pPr>
            <a:r>
              <a:rPr lang="en-US" sz="1250" i="1" dirty="0">
                <a:solidFill>
                  <a:srgbClr val="3A3F4B"/>
                </a:solidFill>
                <a:latin typeface="Calibri" pitchFamily="34" charset="0"/>
                <a:ea typeface="Calibri" pitchFamily="34" charset="-122"/>
                <a:cs typeface="Calibri" pitchFamily="34" charset="-120"/>
              </a:rPr>
              <a:t>This session focuses on technical trading. We are not trying to make you a trader, only to help you understand the tools well enough to build with them responsibly.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1440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word of caution before we start</a:t>
            </a:r>
            <a:endParaRPr lang="en-US" sz="2600" dirty="0"/>
          </a:p>
        </p:txBody>
      </p:sp>
      <p:sp>
        <p:nvSpPr>
          <p:cNvPr id="5" name="Text 2"/>
          <p:cNvSpPr/>
          <p:nvPr/>
        </p:nvSpPr>
        <p:spPr>
          <a:xfrm>
            <a:off x="640080" y="1371600"/>
            <a:ext cx="10789920" cy="73152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In the short term, trading is a negative sum game. Market makers earn on the transaction. Retail investors pay a fee, or lose the race to faster traders.</a:t>
            </a:r>
            <a:endParaRPr lang="en-US" sz="1500" dirty="0"/>
          </a:p>
        </p:txBody>
      </p:sp>
      <p:sp>
        <p:nvSpPr>
          <p:cNvPr id="6" name="Shape 3"/>
          <p:cNvSpPr/>
          <p:nvPr/>
        </p:nvSpPr>
        <p:spPr>
          <a:xfrm>
            <a:off x="640080" y="2286000"/>
            <a:ext cx="10789920" cy="1737360"/>
          </a:xfrm>
          <a:prstGeom prst="roundRect">
            <a:avLst>
              <a:gd name="adj" fmla="val 4211"/>
            </a:avLst>
          </a:prstGeom>
          <a:solidFill>
            <a:srgbClr val="1C2B52"/>
          </a:solidFill>
          <a:ln/>
        </p:spPr>
      </p:sp>
      <p:sp>
        <p:nvSpPr>
          <p:cNvPr id="7" name="Text 4"/>
          <p:cNvSpPr/>
          <p:nvPr/>
        </p:nvSpPr>
        <p:spPr>
          <a:xfrm>
            <a:off x="914400" y="2468880"/>
            <a:ext cx="731520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This is also the Knight Capital session</a:t>
            </a:r>
            <a:endParaRPr lang="en-US" sz="1500" dirty="0"/>
          </a:p>
        </p:txBody>
      </p:sp>
      <p:sp>
        <p:nvSpPr>
          <p:cNvPr id="8" name="Text 5"/>
          <p:cNvSpPr/>
          <p:nvPr/>
        </p:nvSpPr>
        <p:spPr>
          <a:xfrm>
            <a:off x="914400" y="2834640"/>
            <a:ext cx="10241280" cy="1051560"/>
          </a:xfrm>
          <a:prstGeom prst="rect">
            <a:avLst/>
          </a:prstGeom>
          <a:noFill/>
          <a:ln/>
        </p:spPr>
        <p:txBody>
          <a:bodyPr wrap="square" rtlCol="0" anchor="ctr"/>
          <a:lstStyle/>
          <a:p>
            <a:pPr indent="0" marL="0">
              <a:lnSpc>
                <a:spcPct val="125000"/>
              </a:lnSpc>
              <a:buNone/>
            </a:pPr>
            <a:r>
              <a:rPr lang="en-US" sz="1300" dirty="0">
                <a:solidFill>
                  <a:srgbClr val="E4E9F5"/>
                </a:solidFill>
                <a:latin typeface="Calibri" pitchFamily="34" charset="0"/>
                <a:ea typeface="Calibri" pitchFamily="34" charset="-122"/>
                <a:cs typeface="Calibri" pitchFamily="34" charset="-120"/>
              </a:rPr>
              <a:t>Later, one of today's scripts asks you to flip a single line of trading logic and rerun the backtest. That one line flip is the same category of mistake that cost Knight Capital roughly $440 million in 45 minutes: an automated rule, deployed with confidence, that nobody caught before it ran.</a:t>
            </a:r>
            <a:endParaRPr lang="en-US" sz="1300" dirty="0"/>
          </a:p>
        </p:txBody>
      </p:sp>
      <p:sp>
        <p:nvSpPr>
          <p:cNvPr id="9" name="Text 6"/>
          <p:cNvSpPr/>
          <p:nvPr/>
        </p:nvSpPr>
        <p:spPr>
          <a:xfrm>
            <a:off x="640080" y="4343400"/>
            <a:ext cx="10789920" cy="548640"/>
          </a:xfrm>
          <a:prstGeom prst="rect">
            <a:avLst/>
          </a:prstGeom>
          <a:noFill/>
          <a:ln/>
        </p:spPr>
        <p:txBody>
          <a:bodyPr wrap="square" rtlCol="0" anchor="ctr"/>
          <a:lstStyle/>
          <a:p>
            <a:pPr indent="0" marL="0">
              <a:buNone/>
            </a:pPr>
            <a:r>
              <a:rPr lang="en-US" sz="1450" i="1" dirty="0">
                <a:solidFill>
                  <a:srgbClr val="9A6B2C"/>
                </a:solidFill>
                <a:latin typeface="Cambria" pitchFamily="34" charset="0"/>
                <a:ea typeface="Cambria" pitchFamily="34" charset="-122"/>
                <a:cs typeface="Cambria" pitchFamily="34" charset="-120"/>
              </a:rPr>
              <a:t>Our learning goal is not to make you a trader. It is to help you understand the tools well enough to catch a mistake like this before it ships.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Stock prices resist traditional forecasting</a:t>
            </a:r>
            <a:endParaRPr lang="en-US" sz="2400" dirty="0"/>
          </a:p>
        </p:txBody>
      </p:sp>
      <p:sp>
        <p:nvSpPr>
          <p:cNvPr id="5" name="Text 2"/>
          <p:cNvSpPr/>
          <p:nvPr/>
        </p:nvSpPr>
        <p:spPr>
          <a:xfrm>
            <a:off x="1280160" y="1051560"/>
            <a:ext cx="100584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A stock price is a time series, but not the kind that traditional forecasting methods handle well.</a:t>
            </a:r>
            <a:endParaRPr lang="en-US" sz="1350" dirty="0"/>
          </a:p>
        </p:txBody>
      </p:sp>
      <p:sp>
        <p:nvSpPr>
          <p:cNvPr id="6" name="Shape 3"/>
          <p:cNvSpPr/>
          <p:nvPr/>
        </p:nvSpPr>
        <p:spPr>
          <a:xfrm>
            <a:off x="777240" y="1764792"/>
            <a:ext cx="128016" cy="128016"/>
          </a:xfrm>
          <a:prstGeom prst="ellipse">
            <a:avLst/>
          </a:prstGeom>
          <a:solidFill>
            <a:srgbClr val="9A6B2C"/>
          </a:solidFill>
          <a:ln/>
        </p:spPr>
      </p:sp>
      <p:sp>
        <p:nvSpPr>
          <p:cNvPr id="7" name="Text 4"/>
          <p:cNvSpPr/>
          <p:nvPr/>
        </p:nvSpPr>
        <p:spPr>
          <a:xfrm>
            <a:off x="1097280" y="1691640"/>
            <a:ext cx="10332720" cy="594360"/>
          </a:xfrm>
          <a:prstGeom prst="rect">
            <a:avLst/>
          </a:prstGeom>
          <a:noFill/>
          <a:ln/>
        </p:spPr>
        <p:txBody>
          <a:bodyPr wrap="square" rtlCol="0" anchor="ctr"/>
          <a:lstStyle/>
          <a:p>
            <a:pPr indent="0" marL="0">
              <a:buNone/>
            </a:pPr>
            <a:r>
              <a:rPr lang="en-US" sz="1350" dirty="0">
                <a:solidFill>
                  <a:srgbClr val="3A3F4B"/>
                </a:solidFill>
                <a:latin typeface="Calibri" pitchFamily="34" charset="0"/>
                <a:ea typeface="Calibri" pitchFamily="34" charset="-122"/>
                <a:cs typeface="Calibri" pitchFamily="34" charset="-120"/>
              </a:rPr>
              <a:t>It behaves like a random walk, not a series with stable trend and seasonality.</a:t>
            </a:r>
            <a:endParaRPr lang="en-US" sz="1350" dirty="0"/>
          </a:p>
        </p:txBody>
      </p:sp>
      <p:sp>
        <p:nvSpPr>
          <p:cNvPr id="8" name="Shape 5"/>
          <p:cNvSpPr/>
          <p:nvPr/>
        </p:nvSpPr>
        <p:spPr>
          <a:xfrm>
            <a:off x="777240" y="2478024"/>
            <a:ext cx="128016" cy="128016"/>
          </a:xfrm>
          <a:prstGeom prst="ellipse">
            <a:avLst/>
          </a:prstGeom>
          <a:solidFill>
            <a:srgbClr val="9A6B2C"/>
          </a:solidFill>
          <a:ln/>
        </p:spPr>
      </p:sp>
      <p:sp>
        <p:nvSpPr>
          <p:cNvPr id="9" name="Text 6"/>
          <p:cNvSpPr/>
          <p:nvPr/>
        </p:nvSpPr>
        <p:spPr>
          <a:xfrm>
            <a:off x="1097280" y="2404872"/>
            <a:ext cx="10332720" cy="594360"/>
          </a:xfrm>
          <a:prstGeom prst="rect">
            <a:avLst/>
          </a:prstGeom>
          <a:noFill/>
          <a:ln/>
        </p:spPr>
        <p:txBody>
          <a:bodyPr wrap="square" rtlCol="0" anchor="ctr"/>
          <a:lstStyle/>
          <a:p>
            <a:pPr indent="0" marL="0">
              <a:buNone/>
            </a:pPr>
            <a:r>
              <a:rPr lang="en-US" sz="1350" dirty="0">
                <a:solidFill>
                  <a:srgbClr val="3A3F4B"/>
                </a:solidFill>
                <a:latin typeface="Calibri" pitchFamily="34" charset="0"/>
                <a:ea typeface="Calibri" pitchFamily="34" charset="-122"/>
                <a:cs typeface="Calibri" pitchFamily="34" charset="-120"/>
              </a:rPr>
              <a:t>Known information is already reflected in the price, so pattern based forecasts have little left to exploit.</a:t>
            </a:r>
            <a:endParaRPr lang="en-US" sz="1350" dirty="0"/>
          </a:p>
        </p:txBody>
      </p:sp>
      <p:sp>
        <p:nvSpPr>
          <p:cNvPr id="10" name="Shape 7"/>
          <p:cNvSpPr/>
          <p:nvPr/>
        </p:nvSpPr>
        <p:spPr>
          <a:xfrm>
            <a:off x="777240" y="3191256"/>
            <a:ext cx="128016" cy="128016"/>
          </a:xfrm>
          <a:prstGeom prst="ellipse">
            <a:avLst/>
          </a:prstGeom>
          <a:solidFill>
            <a:srgbClr val="9A6B2C"/>
          </a:solidFill>
          <a:ln/>
        </p:spPr>
      </p:sp>
      <p:sp>
        <p:nvSpPr>
          <p:cNvPr id="11" name="Text 8"/>
          <p:cNvSpPr/>
          <p:nvPr/>
        </p:nvSpPr>
        <p:spPr>
          <a:xfrm>
            <a:off x="1097280" y="3118104"/>
            <a:ext cx="10332720" cy="594360"/>
          </a:xfrm>
          <a:prstGeom prst="rect">
            <a:avLst/>
          </a:prstGeom>
          <a:noFill/>
          <a:ln/>
        </p:spPr>
        <p:txBody>
          <a:bodyPr wrap="square" rtlCol="0" anchor="ctr"/>
          <a:lstStyle/>
          <a:p>
            <a:pPr indent="0" marL="0">
              <a:buNone/>
            </a:pPr>
            <a:r>
              <a:rPr lang="en-US" sz="1350" dirty="0">
                <a:solidFill>
                  <a:srgbClr val="3A3F4B"/>
                </a:solidFill>
                <a:latin typeface="Calibri" pitchFamily="34" charset="0"/>
                <a:ea typeface="Calibri" pitchFamily="34" charset="-122"/>
                <a:cs typeface="Calibri" pitchFamily="34" charset="-120"/>
              </a:rPr>
              <a:t>External shocks (earnings misses, tariffs, litigation) can move a price for reasons that have nothing to do with the company's actual output.</a:t>
            </a:r>
            <a:endParaRPr lang="en-US" sz="1350" dirty="0"/>
          </a:p>
        </p:txBody>
      </p:sp>
      <p:sp>
        <p:nvSpPr>
          <p:cNvPr id="12" name="Shape 9"/>
          <p:cNvSpPr/>
          <p:nvPr/>
        </p:nvSpPr>
        <p:spPr>
          <a:xfrm>
            <a:off x="777240" y="3904488"/>
            <a:ext cx="128016" cy="128016"/>
          </a:xfrm>
          <a:prstGeom prst="ellipse">
            <a:avLst/>
          </a:prstGeom>
          <a:solidFill>
            <a:srgbClr val="9A6B2C"/>
          </a:solidFill>
          <a:ln/>
        </p:spPr>
      </p:sp>
      <p:sp>
        <p:nvSpPr>
          <p:cNvPr id="13" name="Text 10"/>
          <p:cNvSpPr/>
          <p:nvPr/>
        </p:nvSpPr>
        <p:spPr>
          <a:xfrm>
            <a:off x="1097280" y="3831336"/>
            <a:ext cx="10332720" cy="594360"/>
          </a:xfrm>
          <a:prstGeom prst="rect">
            <a:avLst/>
          </a:prstGeom>
          <a:noFill/>
          <a:ln/>
        </p:spPr>
        <p:txBody>
          <a:bodyPr wrap="square" rtlCol="0" anchor="ctr"/>
          <a:lstStyle/>
          <a:p>
            <a:pPr indent="0" marL="0">
              <a:buNone/>
            </a:pPr>
            <a:r>
              <a:rPr lang="en-US" sz="1350" dirty="0">
                <a:solidFill>
                  <a:srgbClr val="3A3F4B"/>
                </a:solidFill>
                <a:latin typeface="Calibri" pitchFamily="34" charset="0"/>
                <a:ea typeface="Calibri" pitchFamily="34" charset="-122"/>
                <a:cs typeface="Calibri" pitchFamily="34" charset="-120"/>
              </a:rPr>
              <a:t>A forecast that leads to action can itself change the market, making the next forecast harder.</a:t>
            </a:r>
            <a:endParaRPr lang="en-US" sz="1350" dirty="0"/>
          </a:p>
        </p:txBody>
      </p:sp>
      <p:sp>
        <p:nvSpPr>
          <p:cNvPr id="14" name="Text 11"/>
          <p:cNvSpPr/>
          <p:nvPr/>
        </p:nvSpPr>
        <p:spPr>
          <a:xfrm>
            <a:off x="548640" y="4709160"/>
            <a:ext cx="10972800" cy="822960"/>
          </a:xfrm>
          <a:prstGeom prst="rect">
            <a:avLst/>
          </a:prstGeom>
          <a:noFill/>
          <a:ln/>
        </p:spPr>
        <p:txBody>
          <a:bodyPr wrap="square" rtlCol="0" anchor="ctr"/>
          <a:lstStyle/>
          <a:p>
            <a:pPr indent="0" marL="0">
              <a:buNone/>
            </a:pPr>
            <a:r>
              <a:rPr lang="en-US" sz="1200" i="1" dirty="0">
                <a:solidFill>
                  <a:srgbClr val="8A8577"/>
                </a:solidFill>
                <a:latin typeface="Calibri" pitchFamily="34" charset="0"/>
                <a:ea typeface="Calibri" pitchFamily="34" charset="-122"/>
                <a:cs typeface="Calibri" pitchFamily="34" charset="-120"/>
              </a:rPr>
              <a:t>Example from the original material: U.S. Steel's price moved on a missed earnings report, then steel tariffs, then retaliatory auto tariffs, none of which had anything to do with how much steel the company actually made that quarter.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What technical trading assumes</a:t>
            </a:r>
            <a:endParaRPr lang="en-US" sz="2600" dirty="0"/>
          </a:p>
        </p:txBody>
      </p:sp>
      <p:sp>
        <p:nvSpPr>
          <p:cNvPr id="3" name="Shape 1"/>
          <p:cNvSpPr/>
          <p:nvPr/>
        </p:nvSpPr>
        <p:spPr>
          <a:xfrm>
            <a:off x="548640" y="1371600"/>
            <a:ext cx="2606040" cy="3017520"/>
          </a:xfrm>
          <a:prstGeom prst="roundRect">
            <a:avLst>
              <a:gd name="adj" fmla="val 2807"/>
            </a:avLst>
          </a:prstGeom>
          <a:solidFill>
            <a:srgbClr val="FFFFFF"/>
          </a:solidFill>
          <a:ln/>
          <a:effectLst>
            <a:outerShdw sx="100000" sy="100000" kx="0" ky="0" algn="bl" rotWithShape="0" blurRad="76200" dist="25400" dir="5400000">
              <a:srgbClr val="000000">
                <a:alpha val="8000"/>
              </a:srgbClr>
            </a:outerShdw>
          </a:effectLst>
        </p:spPr>
      </p:sp>
      <p:sp>
        <p:nvSpPr>
          <p:cNvPr id="4" name="Text 2"/>
          <p:cNvSpPr/>
          <p:nvPr/>
        </p:nvSpPr>
        <p:spPr>
          <a:xfrm>
            <a:off x="731520" y="1600200"/>
            <a:ext cx="2240280" cy="64008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What over why</a:t>
            </a:r>
            <a:endParaRPr lang="en-US" sz="1450" dirty="0"/>
          </a:p>
        </p:txBody>
      </p:sp>
      <p:sp>
        <p:nvSpPr>
          <p:cNvPr id="5" name="Text 3"/>
          <p:cNvSpPr/>
          <p:nvPr/>
        </p:nvSpPr>
        <p:spPr>
          <a:xfrm>
            <a:off x="731520" y="2240280"/>
            <a:ext cx="2240280" cy="2011680"/>
          </a:xfrm>
          <a:prstGeom prst="rect">
            <a:avLst/>
          </a:prstGeom>
          <a:noFill/>
          <a:ln/>
        </p:spPr>
        <p:txBody>
          <a:bodyPr wrap="square" rtlCol="0" anchor="ctr"/>
          <a:lstStyle/>
          <a:p>
            <a:pPr indent="0" marL="0">
              <a:buNone/>
            </a:pPr>
            <a:r>
              <a:rPr lang="en-US" sz="1150" dirty="0">
                <a:solidFill>
                  <a:srgbClr val="3A3F4B"/>
                </a:solidFill>
                <a:latin typeface="Calibri" pitchFamily="34" charset="0"/>
                <a:ea typeface="Calibri" pitchFamily="34" charset="-122"/>
                <a:cs typeface="Calibri" pitchFamily="34" charset="-120"/>
              </a:rPr>
              <a:t>Price action matters more than the reason behind it. Technical traders act on movement, not explanation.</a:t>
            </a:r>
            <a:endParaRPr lang="en-US" sz="1150" dirty="0"/>
          </a:p>
        </p:txBody>
      </p:sp>
      <p:sp>
        <p:nvSpPr>
          <p:cNvPr id="6" name="Shape 4"/>
          <p:cNvSpPr/>
          <p:nvPr/>
        </p:nvSpPr>
        <p:spPr>
          <a:xfrm>
            <a:off x="3383280" y="1371600"/>
            <a:ext cx="2606040" cy="3017520"/>
          </a:xfrm>
          <a:prstGeom prst="roundRect">
            <a:avLst>
              <a:gd name="adj" fmla="val 2807"/>
            </a:avLst>
          </a:prstGeom>
          <a:solidFill>
            <a:srgbClr val="FFFFFF"/>
          </a:solidFill>
          <a:ln/>
          <a:effectLst>
            <a:outerShdw sx="100000" sy="100000" kx="0" ky="0" algn="bl" rotWithShape="0" blurRad="76200" dist="25400" dir="5400000">
              <a:srgbClr val="000000">
                <a:alpha val="8000"/>
              </a:srgbClr>
            </a:outerShdw>
          </a:effectLst>
        </p:spPr>
      </p:sp>
      <p:sp>
        <p:nvSpPr>
          <p:cNvPr id="7" name="Text 5"/>
          <p:cNvSpPr/>
          <p:nvPr/>
        </p:nvSpPr>
        <p:spPr>
          <a:xfrm>
            <a:off x="3566160" y="1600200"/>
            <a:ext cx="2240280" cy="64008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Price reflects information</a:t>
            </a:r>
            <a:endParaRPr lang="en-US" sz="1450" dirty="0"/>
          </a:p>
        </p:txBody>
      </p:sp>
      <p:sp>
        <p:nvSpPr>
          <p:cNvPr id="8" name="Text 6"/>
          <p:cNvSpPr/>
          <p:nvPr/>
        </p:nvSpPr>
        <p:spPr>
          <a:xfrm>
            <a:off x="3566160" y="2240280"/>
            <a:ext cx="2240280" cy="2011680"/>
          </a:xfrm>
          <a:prstGeom prst="rect">
            <a:avLst/>
          </a:prstGeom>
          <a:noFill/>
          <a:ln/>
        </p:spPr>
        <p:txBody>
          <a:bodyPr wrap="square" rtlCol="0" anchor="ctr"/>
          <a:lstStyle/>
          <a:p>
            <a:pPr indent="0" marL="0">
              <a:buNone/>
            </a:pPr>
            <a:r>
              <a:rPr lang="en-US" sz="1150" dirty="0">
                <a:solidFill>
                  <a:srgbClr val="3A3F4B"/>
                </a:solidFill>
                <a:latin typeface="Calibri" pitchFamily="34" charset="0"/>
                <a:ea typeface="Calibri" pitchFamily="34" charset="-122"/>
                <a:cs typeface="Calibri" pitchFamily="34" charset="-120"/>
              </a:rPr>
              <a:t>Known information is already priced in, so acting on public news for an edge is usually too late.</a:t>
            </a:r>
            <a:endParaRPr lang="en-US" sz="1150" dirty="0"/>
          </a:p>
        </p:txBody>
      </p:sp>
      <p:sp>
        <p:nvSpPr>
          <p:cNvPr id="9" name="Shape 7"/>
          <p:cNvSpPr/>
          <p:nvPr/>
        </p:nvSpPr>
        <p:spPr>
          <a:xfrm>
            <a:off x="6217920" y="1371600"/>
            <a:ext cx="2606040" cy="3017520"/>
          </a:xfrm>
          <a:prstGeom prst="roundRect">
            <a:avLst>
              <a:gd name="adj" fmla="val 2807"/>
            </a:avLst>
          </a:prstGeom>
          <a:solidFill>
            <a:srgbClr val="FFFFFF"/>
          </a:solidFill>
          <a:ln/>
          <a:effectLst>
            <a:outerShdw sx="100000" sy="100000" kx="0" ky="0" algn="bl" rotWithShape="0" blurRad="76200" dist="25400" dir="5400000">
              <a:srgbClr val="000000">
                <a:alpha val="8000"/>
              </a:srgbClr>
            </a:outerShdw>
          </a:effectLst>
        </p:spPr>
      </p:sp>
      <p:sp>
        <p:nvSpPr>
          <p:cNvPr id="10" name="Text 8"/>
          <p:cNvSpPr/>
          <p:nvPr/>
        </p:nvSpPr>
        <p:spPr>
          <a:xfrm>
            <a:off x="6400800" y="1600200"/>
            <a:ext cx="2240280" cy="64008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Emotion moves markets</a:t>
            </a:r>
            <a:endParaRPr lang="en-US" sz="1450" dirty="0"/>
          </a:p>
        </p:txBody>
      </p:sp>
      <p:sp>
        <p:nvSpPr>
          <p:cNvPr id="11" name="Text 9"/>
          <p:cNvSpPr/>
          <p:nvPr/>
        </p:nvSpPr>
        <p:spPr>
          <a:xfrm>
            <a:off x="6400800" y="2240280"/>
            <a:ext cx="2240280" cy="2011680"/>
          </a:xfrm>
          <a:prstGeom prst="rect">
            <a:avLst/>
          </a:prstGeom>
          <a:noFill/>
          <a:ln/>
        </p:spPr>
        <p:txBody>
          <a:bodyPr wrap="square" rtlCol="0" anchor="ctr"/>
          <a:lstStyle/>
          <a:p>
            <a:pPr indent="0" marL="0">
              <a:buNone/>
            </a:pPr>
            <a:r>
              <a:rPr lang="en-US" sz="1150" dirty="0">
                <a:solidFill>
                  <a:srgbClr val="3A3F4B"/>
                </a:solidFill>
                <a:latin typeface="Calibri" pitchFamily="34" charset="0"/>
                <a:ea typeface="Calibri" pitchFamily="34" charset="-122"/>
                <a:cs typeface="Calibri" pitchFamily="34" charset="-120"/>
              </a:rPr>
              <a:t>Fear and greed drive some share of every trade. A disciplined, unemotional trader can exploit that.</a:t>
            </a:r>
            <a:endParaRPr lang="en-US" sz="1150" dirty="0"/>
          </a:p>
        </p:txBody>
      </p:sp>
      <p:sp>
        <p:nvSpPr>
          <p:cNvPr id="12" name="Shape 10"/>
          <p:cNvSpPr/>
          <p:nvPr/>
        </p:nvSpPr>
        <p:spPr>
          <a:xfrm>
            <a:off x="9052560" y="1371600"/>
            <a:ext cx="2606040" cy="3017520"/>
          </a:xfrm>
          <a:prstGeom prst="roundRect">
            <a:avLst>
              <a:gd name="adj" fmla="val 2807"/>
            </a:avLst>
          </a:prstGeom>
          <a:solidFill>
            <a:srgbClr val="FFFFFF"/>
          </a:solidFill>
          <a:ln/>
          <a:effectLst>
            <a:outerShdw sx="100000" sy="100000" kx="0" ky="0" algn="bl" rotWithShape="0" blurRad="76200" dist="25400" dir="5400000">
              <a:srgbClr val="000000">
                <a:alpha val="8000"/>
              </a:srgbClr>
            </a:outerShdw>
          </a:effectLst>
        </p:spPr>
      </p:sp>
      <p:sp>
        <p:nvSpPr>
          <p:cNvPr id="13" name="Text 11"/>
          <p:cNvSpPr/>
          <p:nvPr/>
        </p:nvSpPr>
        <p:spPr>
          <a:xfrm>
            <a:off x="9235440" y="1600200"/>
            <a:ext cx="2240280" cy="640080"/>
          </a:xfrm>
          <a:prstGeom prst="rect">
            <a:avLst/>
          </a:prstGeom>
          <a:noFill/>
          <a:ln/>
        </p:spPr>
        <p:txBody>
          <a:bodyPr wrap="square" rtlCol="0" anchor="ctr"/>
          <a:lstStyle/>
          <a:p>
            <a:pPr indent="0" marL="0">
              <a:buNone/>
            </a:pPr>
            <a:r>
              <a:rPr lang="en-US" sz="1450" b="1" dirty="0">
                <a:solidFill>
                  <a:srgbClr val="9A6B2C"/>
                </a:solidFill>
                <a:latin typeface="Cambria" pitchFamily="34" charset="0"/>
                <a:ea typeface="Cambria" pitchFamily="34" charset="-122"/>
                <a:cs typeface="Cambria" pitchFamily="34" charset="-120"/>
              </a:rPr>
              <a:t>Volatility is required</a:t>
            </a:r>
            <a:endParaRPr lang="en-US" sz="1450" dirty="0"/>
          </a:p>
        </p:txBody>
      </p:sp>
      <p:sp>
        <p:nvSpPr>
          <p:cNvPr id="14" name="Text 12"/>
          <p:cNvSpPr/>
          <p:nvPr/>
        </p:nvSpPr>
        <p:spPr>
          <a:xfrm>
            <a:off x="9235440" y="2240280"/>
            <a:ext cx="2240280" cy="2011680"/>
          </a:xfrm>
          <a:prstGeom prst="rect">
            <a:avLst/>
          </a:prstGeom>
          <a:noFill/>
          <a:ln/>
        </p:spPr>
        <p:txBody>
          <a:bodyPr wrap="square" rtlCol="0" anchor="ctr"/>
          <a:lstStyle/>
          <a:p>
            <a:pPr indent="0" marL="0">
              <a:buNone/>
            </a:pPr>
            <a:r>
              <a:rPr lang="en-US" sz="1150" dirty="0">
                <a:solidFill>
                  <a:srgbClr val="3A3F4B"/>
                </a:solidFill>
                <a:latin typeface="Calibri" pitchFamily="34" charset="0"/>
                <a:ea typeface="Calibri" pitchFamily="34" charset="-122"/>
                <a:cs typeface="Calibri" pitchFamily="34" charset="-120"/>
              </a:rPr>
              <a:t>Without price fluctuation, there is nothing for a technical rule to detect or act on.</a:t>
            </a:r>
            <a:endParaRPr lang="en-US" sz="1150" dirty="0"/>
          </a:p>
        </p:txBody>
      </p:sp>
      <p:sp>
        <p:nvSpPr>
          <p:cNvPr id="15" name="Text 13"/>
          <p:cNvSpPr/>
          <p:nvPr/>
        </p:nvSpPr>
        <p:spPr>
          <a:xfrm>
            <a:off x="548640" y="4572000"/>
            <a:ext cx="10972800" cy="457200"/>
          </a:xfrm>
          <a:prstGeom prst="rect">
            <a:avLst/>
          </a:prstGeom>
          <a:noFill/>
          <a:ln/>
        </p:spPr>
        <p:txBody>
          <a:bodyPr wrap="square" rtlCol="0" anchor="ctr"/>
          <a:lstStyle/>
          <a:p>
            <a:pPr indent="0" marL="0">
              <a:buNone/>
            </a:pPr>
            <a:r>
              <a:rPr lang="en-US" sz="1250" i="1" dirty="0">
                <a:solidFill>
                  <a:srgbClr val="3A3F4B"/>
                </a:solidFill>
                <a:latin typeface="Calibri" pitchFamily="34" charset="0"/>
                <a:ea typeface="Calibri" pitchFamily="34" charset="-122"/>
                <a:cs typeface="Calibri" pitchFamily="34" charset="-120"/>
              </a:rPr>
              <a:t>Further research is needed before acting on any of this with real money. That is true of every indicator in this session.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Our tools: quantmod and TTR</a:t>
            </a:r>
            <a:endParaRPr lang="en-US" sz="2600" dirty="0"/>
          </a:p>
        </p:txBody>
      </p:sp>
      <p:sp>
        <p:nvSpPr>
          <p:cNvPr id="5" name="Shape 2"/>
          <p:cNvSpPr/>
          <p:nvPr/>
        </p:nvSpPr>
        <p:spPr>
          <a:xfrm>
            <a:off x="640080" y="1463040"/>
            <a:ext cx="5349240" cy="3291840"/>
          </a:xfrm>
          <a:prstGeom prst="roundRect">
            <a:avLst>
              <a:gd name="adj" fmla="val 2222"/>
            </a:avLst>
          </a:prstGeom>
          <a:solidFill>
            <a:srgbClr val="1C2B52"/>
          </a:solidFill>
          <a:ln/>
        </p:spPr>
      </p:sp>
      <p:sp>
        <p:nvSpPr>
          <p:cNvPr id="6" name="Text 3"/>
          <p:cNvSpPr/>
          <p:nvPr/>
        </p:nvSpPr>
        <p:spPr>
          <a:xfrm>
            <a:off x="914400" y="1691640"/>
            <a:ext cx="4572000" cy="365760"/>
          </a:xfrm>
          <a:prstGeom prst="rect">
            <a:avLst/>
          </a:prstGeom>
          <a:noFill/>
          <a:ln/>
        </p:spPr>
        <p:txBody>
          <a:bodyPr wrap="square" rtlCol="0" anchor="ctr"/>
          <a:lstStyle/>
          <a:p>
            <a:pPr indent="0" marL="0">
              <a:buNone/>
            </a:pPr>
            <a:r>
              <a:rPr lang="en-US" sz="1600" b="1" dirty="0">
                <a:solidFill>
                  <a:srgbClr val="9A6B2C"/>
                </a:solidFill>
                <a:latin typeface="Cambria" pitchFamily="34" charset="0"/>
                <a:ea typeface="Cambria" pitchFamily="34" charset="-122"/>
                <a:cs typeface="Cambria" pitchFamily="34" charset="-120"/>
              </a:rPr>
              <a:t>quantmod</a:t>
            </a:r>
            <a:endParaRPr lang="en-US" sz="1600" dirty="0"/>
          </a:p>
        </p:txBody>
      </p:sp>
      <p:sp>
        <p:nvSpPr>
          <p:cNvPr id="7" name="Text 4"/>
          <p:cNvSpPr/>
          <p:nvPr/>
        </p:nvSpPr>
        <p:spPr>
          <a:xfrm>
            <a:off x="914400" y="2148840"/>
            <a:ext cx="4846320" cy="91440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Handles the request to Yahoo Finance and organizes the response into an xts time series object, so you never write the API call by hand.</a:t>
            </a:r>
            <a:endParaRPr lang="en-US" sz="1300" dirty="0"/>
          </a:p>
        </p:txBody>
      </p:sp>
      <p:sp>
        <p:nvSpPr>
          <p:cNvPr id="8" name="Text 5"/>
          <p:cNvSpPr/>
          <p:nvPr/>
        </p:nvSpPr>
        <p:spPr>
          <a:xfrm>
            <a:off x="914400" y="3200400"/>
            <a:ext cx="4846320" cy="365760"/>
          </a:xfrm>
          <a:prstGeom prst="rect">
            <a:avLst/>
          </a:prstGeom>
          <a:noFill/>
          <a:ln/>
        </p:spPr>
        <p:txBody>
          <a:bodyPr wrap="square" rtlCol="0" anchor="ctr"/>
          <a:lstStyle/>
          <a:p>
            <a:pPr indent="0" marL="0">
              <a:buNone/>
            </a:pPr>
            <a:r>
              <a:rPr lang="en-US" sz="1250" dirty="0">
                <a:solidFill>
                  <a:srgbClr val="9A6B2C"/>
                </a:solidFill>
                <a:latin typeface="Courier New" pitchFamily="34" charset="0"/>
                <a:ea typeface="Courier New" pitchFamily="34" charset="-122"/>
                <a:cs typeface="Courier New" pitchFamily="34" charset="-120"/>
              </a:rPr>
              <a:t>getSymbols("AAPL", src = "yahoo")</a:t>
            </a:r>
            <a:endParaRPr lang="en-US" sz="1250" dirty="0"/>
          </a:p>
        </p:txBody>
      </p:sp>
      <p:sp>
        <p:nvSpPr>
          <p:cNvPr id="9" name="Shape 6"/>
          <p:cNvSpPr/>
          <p:nvPr/>
        </p:nvSpPr>
        <p:spPr>
          <a:xfrm>
            <a:off x="6172200" y="1463040"/>
            <a:ext cx="5349240" cy="3291840"/>
          </a:xfrm>
          <a:prstGeom prst="roundRect">
            <a:avLst>
              <a:gd name="adj" fmla="val 2222"/>
            </a:avLst>
          </a:prstGeom>
          <a:solidFill>
            <a:srgbClr val="1C2B52"/>
          </a:solidFill>
          <a:ln/>
        </p:spPr>
      </p:sp>
      <p:sp>
        <p:nvSpPr>
          <p:cNvPr id="10" name="Text 7"/>
          <p:cNvSpPr/>
          <p:nvPr/>
        </p:nvSpPr>
        <p:spPr>
          <a:xfrm>
            <a:off x="6446520" y="1691640"/>
            <a:ext cx="4572000" cy="365760"/>
          </a:xfrm>
          <a:prstGeom prst="rect">
            <a:avLst/>
          </a:prstGeom>
          <a:noFill/>
          <a:ln/>
        </p:spPr>
        <p:txBody>
          <a:bodyPr wrap="square" rtlCol="0" anchor="ctr"/>
          <a:lstStyle/>
          <a:p>
            <a:pPr indent="0" marL="0">
              <a:buNone/>
            </a:pPr>
            <a:r>
              <a:rPr lang="en-US" sz="1600" b="1" dirty="0">
                <a:solidFill>
                  <a:srgbClr val="9A6B2C"/>
                </a:solidFill>
                <a:latin typeface="Cambria" pitchFamily="34" charset="0"/>
                <a:ea typeface="Cambria" pitchFamily="34" charset="-122"/>
                <a:cs typeface="Cambria" pitchFamily="34" charset="-120"/>
              </a:rPr>
              <a:t>TTR</a:t>
            </a:r>
            <a:endParaRPr lang="en-US" sz="1600" dirty="0"/>
          </a:p>
        </p:txBody>
      </p:sp>
      <p:sp>
        <p:nvSpPr>
          <p:cNvPr id="11" name="Text 8"/>
          <p:cNvSpPr/>
          <p:nvPr/>
        </p:nvSpPr>
        <p:spPr>
          <a:xfrm>
            <a:off x="6446520" y="2148840"/>
            <a:ext cx="4846320" cy="91440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Technical Trading Rules. Provides the indicator functions we use today, and many more we do not have time to cover.</a:t>
            </a:r>
            <a:endParaRPr lang="en-US" sz="1300" dirty="0"/>
          </a:p>
        </p:txBody>
      </p:sp>
      <p:sp>
        <p:nvSpPr>
          <p:cNvPr id="12" name="Text 9"/>
          <p:cNvSpPr/>
          <p:nvPr/>
        </p:nvSpPr>
        <p:spPr>
          <a:xfrm>
            <a:off x="6446520" y="3200400"/>
            <a:ext cx="4846320" cy="365760"/>
          </a:xfrm>
          <a:prstGeom prst="rect">
            <a:avLst/>
          </a:prstGeom>
          <a:noFill/>
          <a:ln/>
        </p:spPr>
        <p:txBody>
          <a:bodyPr wrap="square" rtlCol="0" anchor="ctr"/>
          <a:lstStyle/>
          <a:p>
            <a:pPr indent="0" marL="0">
              <a:buNone/>
            </a:pPr>
            <a:r>
              <a:rPr lang="en-US" sz="1250" dirty="0">
                <a:solidFill>
                  <a:srgbClr val="9A6B2C"/>
                </a:solidFill>
                <a:latin typeface="Courier New" pitchFamily="34" charset="0"/>
                <a:ea typeface="Courier New" pitchFamily="34" charset="-122"/>
                <a:cs typeface="Courier New" pitchFamily="34" charset="-120"/>
              </a:rPr>
              <a:t>SMA()   MACD()   RSI()</a:t>
            </a:r>
            <a:endParaRPr lang="en-US" sz="1250" dirty="0"/>
          </a:p>
        </p:txBody>
      </p:sp>
      <p:sp>
        <p:nvSpPr>
          <p:cNvPr id="13" name="Text 10"/>
          <p:cNvSpPr/>
          <p:nvPr/>
        </p:nvSpPr>
        <p:spPr>
          <a:xfrm>
            <a:off x="640080" y="5029200"/>
            <a:ext cx="10789920" cy="457200"/>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Script A_TTR.R: get real stock data, subset an xts object, plot the time series.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A moving average, and why you must lag it</a:t>
            </a:r>
            <a:endParaRPr lang="en-US" sz="2400" dirty="0"/>
          </a:p>
        </p:txBody>
      </p:sp>
      <p:sp>
        <p:nvSpPr>
          <p:cNvPr id="3" name="Shape 1"/>
          <p:cNvSpPr/>
          <p:nvPr/>
        </p:nvSpPr>
        <p:spPr>
          <a:xfrm>
            <a:off x="548640" y="1188720"/>
            <a:ext cx="5349240" cy="2926080"/>
          </a:xfrm>
          <a:prstGeom prst="roundRect">
            <a:avLst>
              <a:gd name="adj" fmla="val 2500"/>
            </a:avLst>
          </a:prstGeom>
          <a:solidFill>
            <a:srgbClr val="FFFFFF"/>
          </a:solidFill>
          <a:ln/>
          <a:effectLst>
            <a:outerShdw sx="100000" sy="100000" kx="0" ky="0" algn="bl" rotWithShape="0" blurRad="63500" dist="25400" dir="5400000">
              <a:srgbClr val="000000">
                <a:alpha val="8000"/>
              </a:srgbClr>
            </a:outerShdw>
          </a:effectLst>
        </p:spPr>
      </p:sp>
      <p:sp>
        <p:nvSpPr>
          <p:cNvPr id="4" name="Text 2"/>
          <p:cNvSpPr/>
          <p:nvPr/>
        </p:nvSpPr>
        <p:spPr>
          <a:xfrm>
            <a:off x="822960" y="1371600"/>
            <a:ext cx="484632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What it is</a:t>
            </a:r>
            <a:endParaRPr lang="en-US" sz="1500" dirty="0"/>
          </a:p>
        </p:txBody>
      </p:sp>
      <p:sp>
        <p:nvSpPr>
          <p:cNvPr id="5" name="Text 3"/>
          <p:cNvSpPr/>
          <p:nvPr/>
        </p:nvSpPr>
        <p:spPr>
          <a:xfrm>
            <a:off x="822960" y="1783080"/>
            <a:ext cx="4846320" cy="1188720"/>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A smoothing technique that reduces noise by averaging price over the last n periods. SMA(vec, n = 5) takes the mean of every rolling 5 day window.</a:t>
            </a:r>
            <a:endParaRPr lang="en-US" sz="1300" dirty="0"/>
          </a:p>
        </p:txBody>
      </p:sp>
      <p:sp>
        <p:nvSpPr>
          <p:cNvPr id="6" name="Text 4"/>
          <p:cNvSpPr/>
          <p:nvPr/>
        </p:nvSpPr>
        <p:spPr>
          <a:xfrm>
            <a:off x="822960" y="3017520"/>
            <a:ext cx="4846320" cy="822960"/>
          </a:xfrm>
          <a:prstGeom prst="rect">
            <a:avLst/>
          </a:prstGeom>
          <a:noFill/>
          <a:ln/>
        </p:spPr>
        <p:txBody>
          <a:bodyPr wrap="square" rtlCol="0" anchor="ctr"/>
          <a:lstStyle/>
          <a:p>
            <a:pPr indent="0" marL="0">
              <a:buNone/>
            </a:pPr>
            <a:r>
              <a:rPr lang="en-US" sz="1200" i="1" dirty="0">
                <a:solidFill>
                  <a:srgbClr val="8A8577"/>
                </a:solidFill>
                <a:latin typeface="Calibri" pitchFamily="34" charset="0"/>
                <a:ea typeface="Calibri" pitchFamily="34" charset="-122"/>
                <a:cs typeface="Calibri" pitchFamily="34" charset="-120"/>
              </a:rPr>
              <a:t>The first n minus 1 values are always NA. There is not yet enough history to average.</a:t>
            </a:r>
            <a:endParaRPr lang="en-US" sz="1200" dirty="0"/>
          </a:p>
        </p:txBody>
      </p:sp>
      <p:sp>
        <p:nvSpPr>
          <p:cNvPr id="7" name="Shape 5"/>
          <p:cNvSpPr/>
          <p:nvPr/>
        </p:nvSpPr>
        <p:spPr>
          <a:xfrm>
            <a:off x="6172200" y="1188720"/>
            <a:ext cx="5440680" cy="2926080"/>
          </a:xfrm>
          <a:prstGeom prst="roundRect">
            <a:avLst>
              <a:gd name="adj" fmla="val 2500"/>
            </a:avLst>
          </a:prstGeom>
          <a:solidFill>
            <a:srgbClr val="14213D"/>
          </a:solidFill>
          <a:ln/>
        </p:spPr>
      </p:sp>
      <p:sp>
        <p:nvSpPr>
          <p:cNvPr id="8" name="Text 6"/>
          <p:cNvSpPr/>
          <p:nvPr/>
        </p:nvSpPr>
        <p:spPr>
          <a:xfrm>
            <a:off x="6446520" y="1371600"/>
            <a:ext cx="493776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Why you lag it</a:t>
            </a:r>
            <a:endParaRPr lang="en-US" sz="1500" dirty="0"/>
          </a:p>
        </p:txBody>
      </p:sp>
      <p:sp>
        <p:nvSpPr>
          <p:cNvPr id="9" name="Text 7"/>
          <p:cNvSpPr/>
          <p:nvPr/>
        </p:nvSpPr>
        <p:spPr>
          <a:xfrm>
            <a:off x="6446520" y="1783080"/>
            <a:ext cx="4937760" cy="137160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A closing price is only known at 4:00 PM. You cannot trade on today's close until tomorrow's market open. Every indicator built on closing prices must shift forward one period before it becomes a realistic trading rule.</a:t>
            </a:r>
            <a:endParaRPr lang="en-US" sz="1300" dirty="0"/>
          </a:p>
        </p:txBody>
      </p:sp>
      <p:sp>
        <p:nvSpPr>
          <p:cNvPr id="10" name="Text 8"/>
          <p:cNvSpPr/>
          <p:nvPr/>
        </p:nvSpPr>
        <p:spPr>
          <a:xfrm>
            <a:off x="6446520" y="3246120"/>
            <a:ext cx="4937760" cy="640080"/>
          </a:xfrm>
          <a:prstGeom prst="rect">
            <a:avLst/>
          </a:prstGeom>
          <a:noFill/>
          <a:ln/>
        </p:spPr>
        <p:txBody>
          <a:bodyPr wrap="square" rtlCol="0" anchor="ctr"/>
          <a:lstStyle/>
          <a:p>
            <a:pPr indent="0" marL="0">
              <a:buNone/>
            </a:pPr>
            <a:r>
              <a:rPr lang="en-US" sz="1200" i="1" dirty="0">
                <a:solidFill>
                  <a:srgbClr val="9A6B2C"/>
                </a:solidFill>
                <a:latin typeface="Calibri" pitchFamily="34" charset="0"/>
                <a:ea typeface="Calibri" pitchFamily="34" charset="-122"/>
                <a:cs typeface="Calibri" pitchFamily="34" charset="-120"/>
              </a:rPr>
              <a:t>Skip the lag, and your backtest quietly trades on information you would not have had yet.</a:t>
            </a:r>
            <a:endParaRPr lang="en-US" sz="1200" dirty="0"/>
          </a:p>
        </p:txBody>
      </p:sp>
      <p:sp>
        <p:nvSpPr>
          <p:cNvPr id="11" name="Text 9"/>
          <p:cNvSpPr/>
          <p:nvPr/>
        </p:nvSpPr>
        <p:spPr>
          <a:xfrm>
            <a:off x="548640" y="4343400"/>
            <a:ext cx="10972800" cy="457200"/>
          </a:xfrm>
          <a:prstGeom prst="rect">
            <a:avLst/>
          </a:prstGeom>
          <a:noFill/>
          <a:ln/>
        </p:spPr>
        <p:txBody>
          <a:bodyPr wrap="square" rtlCol="0" anchor="ctr"/>
          <a:lstStyle/>
          <a:p>
            <a:pPr indent="0" marL="0">
              <a:buNone/>
            </a:pPr>
            <a:r>
              <a:rPr lang="en-US" sz="1300" i="1" dirty="0">
                <a:solidFill>
                  <a:srgbClr val="3A3F4B"/>
                </a:solidFill>
                <a:latin typeface="Calibri" pitchFamily="34" charset="0"/>
                <a:ea typeface="Calibri" pitchFamily="34" charset="-122"/>
                <a:cs typeface="Calibri" pitchFamily="34" charset="-120"/>
              </a:rPr>
              <a:t>Script B_TTR.R: build several SMA windows (3, 10, 30, 100, 250 day), then compare against an EMA next.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The exponential moving average (EMA)</a:t>
            </a:r>
            <a:endParaRPr lang="en-US" sz="2500" dirty="0"/>
          </a:p>
        </p:txBody>
      </p:sp>
      <p:sp>
        <p:nvSpPr>
          <p:cNvPr id="5" name="Text 2"/>
          <p:cNvSpPr/>
          <p:nvPr/>
        </p:nvSpPr>
        <p:spPr>
          <a:xfrm>
            <a:off x="640080" y="1325880"/>
            <a:ext cx="10789920" cy="68580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An SMA treats every day in its window the same. An EMA does not: it gives more weight to recent prices and less weight to older ones.</a:t>
            </a:r>
            <a:endParaRPr lang="en-US" sz="1500" dirty="0"/>
          </a:p>
        </p:txBody>
      </p:sp>
      <p:sp>
        <p:nvSpPr>
          <p:cNvPr id="6" name="Shape 3"/>
          <p:cNvSpPr/>
          <p:nvPr/>
        </p:nvSpPr>
        <p:spPr>
          <a:xfrm>
            <a:off x="640080" y="2194560"/>
            <a:ext cx="10789920" cy="1188720"/>
          </a:xfrm>
          <a:prstGeom prst="roundRect">
            <a:avLst>
              <a:gd name="adj" fmla="val 6154"/>
            </a:avLst>
          </a:prstGeom>
          <a:solidFill>
            <a:srgbClr val="1C2B52"/>
          </a:solidFill>
          <a:ln/>
        </p:spPr>
      </p:sp>
      <p:sp>
        <p:nvSpPr>
          <p:cNvPr id="7" name="Text 4"/>
          <p:cNvSpPr/>
          <p:nvPr/>
        </p:nvSpPr>
        <p:spPr>
          <a:xfrm>
            <a:off x="914400" y="2359152"/>
            <a:ext cx="2743200" cy="365760"/>
          </a:xfrm>
          <a:prstGeom prst="rect">
            <a:avLst/>
          </a:prstGeom>
          <a:noFill/>
          <a:ln/>
        </p:spPr>
        <p:txBody>
          <a:bodyPr wrap="square" rtlCol="0" anchor="ctr"/>
          <a:lstStyle/>
          <a:p>
            <a:pPr indent="0" marL="0">
              <a:buNone/>
            </a:pPr>
            <a:r>
              <a:rPr lang="en-US" sz="1400" b="1" dirty="0">
                <a:solidFill>
                  <a:srgbClr val="9A6B2C"/>
                </a:solidFill>
                <a:latin typeface="Cambria" pitchFamily="34" charset="0"/>
                <a:ea typeface="Cambria" pitchFamily="34" charset="-122"/>
                <a:cs typeface="Cambria" pitchFamily="34" charset="-120"/>
              </a:rPr>
              <a:t>An analogy</a:t>
            </a:r>
            <a:endParaRPr lang="en-US" sz="1400" dirty="0"/>
          </a:p>
        </p:txBody>
      </p:sp>
      <p:sp>
        <p:nvSpPr>
          <p:cNvPr id="8" name="Text 5"/>
          <p:cNvSpPr/>
          <p:nvPr/>
        </p:nvSpPr>
        <p:spPr>
          <a:xfrm>
            <a:off x="914400" y="2724912"/>
            <a:ext cx="10241280" cy="594360"/>
          </a:xfrm>
          <a:prstGeom prst="rect">
            <a:avLst/>
          </a:prstGeom>
          <a:noFill/>
          <a:ln/>
        </p:spPr>
        <p:txBody>
          <a:bodyPr wrap="square" rtlCol="0" anchor="ctr"/>
          <a:lstStyle/>
          <a:p>
            <a:pPr indent="0" marL="0">
              <a:buNone/>
            </a:pPr>
            <a:r>
              <a:rPr lang="en-US" sz="1300" i="1" dirty="0">
                <a:solidFill>
                  <a:srgbClr val="E4E9F5"/>
                </a:solidFill>
                <a:latin typeface="Calibri" pitchFamily="34" charset="0"/>
                <a:ea typeface="Calibri" pitchFamily="34" charset="-122"/>
                <a:cs typeface="Calibri" pitchFamily="34" charset="-120"/>
              </a:rPr>
              <a:t>Think about how you personally weigh news. Yesterday's headline still matters, but this morning's headline matters more. An EMA works the same way with prices: it does not forget the past, it just cares about it less the further back it goes.</a:t>
            </a:r>
            <a:endParaRPr lang="en-US" sz="1300" dirty="0"/>
          </a:p>
        </p:txBody>
      </p:sp>
      <p:sp>
        <p:nvSpPr>
          <p:cNvPr id="9" name="Text 6"/>
          <p:cNvSpPr/>
          <p:nvPr/>
        </p:nvSpPr>
        <p:spPr>
          <a:xfrm>
            <a:off x="640080" y="3611880"/>
            <a:ext cx="731520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it matters for trading</a:t>
            </a:r>
            <a:endParaRPr lang="en-US" sz="1600" dirty="0"/>
          </a:p>
        </p:txBody>
      </p:sp>
      <p:sp>
        <p:nvSpPr>
          <p:cNvPr id="10" name="Shape 7"/>
          <p:cNvSpPr/>
          <p:nvPr/>
        </p:nvSpPr>
        <p:spPr>
          <a:xfrm>
            <a:off x="777240" y="4142232"/>
            <a:ext cx="128016" cy="128016"/>
          </a:xfrm>
          <a:prstGeom prst="ellipse">
            <a:avLst/>
          </a:prstGeom>
          <a:solidFill>
            <a:srgbClr val="9A6B2C"/>
          </a:solidFill>
          <a:ln/>
        </p:spPr>
      </p:sp>
      <p:sp>
        <p:nvSpPr>
          <p:cNvPr id="11" name="Text 8"/>
          <p:cNvSpPr/>
          <p:nvPr/>
        </p:nvSpPr>
        <p:spPr>
          <a:xfrm>
            <a:off x="1097280" y="4069080"/>
            <a:ext cx="1024128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It reacts faster than an SMA when a price genuinely changes direction.</a:t>
            </a:r>
            <a:endParaRPr lang="en-US" sz="1350" dirty="0"/>
          </a:p>
        </p:txBody>
      </p:sp>
      <p:sp>
        <p:nvSpPr>
          <p:cNvPr id="12" name="Shape 9"/>
          <p:cNvSpPr/>
          <p:nvPr/>
        </p:nvSpPr>
        <p:spPr>
          <a:xfrm>
            <a:off x="777240" y="4709160"/>
            <a:ext cx="128016" cy="128016"/>
          </a:xfrm>
          <a:prstGeom prst="ellipse">
            <a:avLst/>
          </a:prstGeom>
          <a:solidFill>
            <a:srgbClr val="9A6B2C"/>
          </a:solidFill>
          <a:ln/>
        </p:spPr>
      </p:sp>
      <p:sp>
        <p:nvSpPr>
          <p:cNvPr id="13" name="Text 10"/>
          <p:cNvSpPr/>
          <p:nvPr/>
        </p:nvSpPr>
        <p:spPr>
          <a:xfrm>
            <a:off x="1097280" y="4636008"/>
            <a:ext cx="1024128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It is also noisier: that faster reaction can mean more false signals.</a:t>
            </a:r>
            <a:endParaRPr lang="en-US" sz="1350" dirty="0"/>
          </a:p>
        </p:txBody>
      </p:sp>
      <p:sp>
        <p:nvSpPr>
          <p:cNvPr id="14" name="Shape 11"/>
          <p:cNvSpPr/>
          <p:nvPr/>
        </p:nvSpPr>
        <p:spPr>
          <a:xfrm>
            <a:off x="777240" y="5276088"/>
            <a:ext cx="128016" cy="128016"/>
          </a:xfrm>
          <a:prstGeom prst="ellipse">
            <a:avLst/>
          </a:prstGeom>
          <a:solidFill>
            <a:srgbClr val="9A6B2C"/>
          </a:solidFill>
          <a:ln/>
        </p:spPr>
      </p:sp>
      <p:sp>
        <p:nvSpPr>
          <p:cNvPr id="15" name="Text 12"/>
          <p:cNvSpPr/>
          <p:nvPr/>
        </p:nvSpPr>
        <p:spPr>
          <a:xfrm>
            <a:off x="1097280" y="5202936"/>
            <a:ext cx="10241280" cy="50292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This trade off, speed against smoothness, is why some indicators default to SMA and others default to EMA.</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601200" cy="548640"/>
          </a:xfrm>
          <a:prstGeom prst="rect">
            <a:avLst/>
          </a:prstGeom>
          <a:noFill/>
          <a:ln/>
        </p:spPr>
        <p:txBody>
          <a:bodyPr wrap="square" rtlCol="0" anchor="ctr"/>
          <a:lstStyle/>
          <a:p>
            <a:pPr indent="0" marL="0">
              <a:buNone/>
            </a:pPr>
            <a:r>
              <a:rPr lang="en-US" sz="2500" b="1" dirty="0">
                <a:solidFill>
                  <a:srgbClr val="14213D"/>
                </a:solidFill>
                <a:latin typeface="Cambria" pitchFamily="34" charset="0"/>
                <a:ea typeface="Cambria" pitchFamily="34" charset="-122"/>
                <a:cs typeface="Cambria" pitchFamily="34" charset="-120"/>
              </a:rPr>
              <a:t>How the weighting actually works</a:t>
            </a:r>
            <a:endParaRPr lang="en-US" sz="2500" dirty="0"/>
          </a:p>
        </p:txBody>
      </p:sp>
      <p:sp>
        <p:nvSpPr>
          <p:cNvPr id="3" name="Shape 1"/>
          <p:cNvSpPr/>
          <p:nvPr/>
        </p:nvSpPr>
        <p:spPr>
          <a:xfrm>
            <a:off x="548640" y="1188720"/>
            <a:ext cx="11064240" cy="1051560"/>
          </a:xfrm>
          <a:prstGeom prst="roundRect">
            <a:avLst>
              <a:gd name="adj" fmla="val 6957"/>
            </a:avLst>
          </a:prstGeom>
          <a:solidFill>
            <a:srgbClr val="FFFFFF"/>
          </a:solidFill>
          <a:ln/>
          <a:effectLst>
            <a:outerShdw sx="100000" sy="100000" kx="0" ky="0" algn="bl" rotWithShape="0" blurRad="63500" dist="25400" dir="5400000">
              <a:srgbClr val="000000">
                <a:alpha val="8000"/>
              </a:srgbClr>
            </a:outerShdw>
          </a:effectLst>
        </p:spPr>
      </p:sp>
      <p:sp>
        <p:nvSpPr>
          <p:cNvPr id="4" name="Text 2"/>
          <p:cNvSpPr/>
          <p:nvPr/>
        </p:nvSpPr>
        <p:spPr>
          <a:xfrm>
            <a:off x="822960" y="1353312"/>
            <a:ext cx="10424160" cy="365760"/>
          </a:xfrm>
          <a:prstGeom prst="rect">
            <a:avLst/>
          </a:prstGeom>
          <a:noFill/>
          <a:ln/>
        </p:spPr>
        <p:txBody>
          <a:bodyPr wrap="square" rtlCol="0" anchor="ctr"/>
          <a:lstStyle/>
          <a:p>
            <a:pPr indent="0" marL="0">
              <a:buNone/>
            </a:pPr>
            <a:r>
              <a:rPr lang="en-US" sz="1500" b="1" dirty="0">
                <a:solidFill>
                  <a:srgbClr val="9A6B2C"/>
                </a:solidFill>
                <a:latin typeface="Courier New" pitchFamily="34" charset="0"/>
                <a:ea typeface="Courier New" pitchFamily="34" charset="-122"/>
                <a:cs typeface="Courier New" pitchFamily="34" charset="-120"/>
              </a:rPr>
              <a:t>Multiplier = 2 / (n + 1)</a:t>
            </a:r>
            <a:endParaRPr lang="en-US" sz="1500" dirty="0"/>
          </a:p>
        </p:txBody>
      </p:sp>
      <p:sp>
        <p:nvSpPr>
          <p:cNvPr id="5" name="Text 3"/>
          <p:cNvSpPr/>
          <p:nvPr/>
        </p:nvSpPr>
        <p:spPr>
          <a:xfrm>
            <a:off x="822960" y="1737360"/>
            <a:ext cx="10424160" cy="365760"/>
          </a:xfrm>
          <a:prstGeom prst="rect">
            <a:avLst/>
          </a:prstGeom>
          <a:noFill/>
          <a:ln/>
        </p:spPr>
        <p:txBody>
          <a:bodyPr wrap="square" rtlCol="0" anchor="ctr"/>
          <a:lstStyle/>
          <a:p>
            <a:pPr indent="0" marL="0">
              <a:buNone/>
            </a:pPr>
            <a:r>
              <a:rPr lang="en-US" sz="1500" b="1" dirty="0">
                <a:solidFill>
                  <a:srgbClr val="14213D"/>
                </a:solidFill>
                <a:latin typeface="Courier New" pitchFamily="34" charset="0"/>
                <a:ea typeface="Courier New" pitchFamily="34" charset="-122"/>
                <a:cs typeface="Courier New" pitchFamily="34" charset="-120"/>
              </a:rPr>
              <a:t>EMA today = (Price today × multiplier) + (EMA yesterday × (1 minus multiplier))</a:t>
            </a:r>
            <a:endParaRPr lang="en-US" sz="1500" dirty="0"/>
          </a:p>
        </p:txBody>
      </p:sp>
      <p:sp>
        <p:nvSpPr>
          <p:cNvPr id="6" name="Text 4"/>
          <p:cNvSpPr/>
          <p:nvPr/>
        </p:nvSpPr>
        <p:spPr>
          <a:xfrm>
            <a:off x="548640" y="2468880"/>
            <a:ext cx="100584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Worked example, with n = 3 so the arithmetic stays simple</a:t>
            </a:r>
            <a:endParaRPr lang="en-US" sz="1500" dirty="0"/>
          </a:p>
        </p:txBody>
      </p:sp>
      <p:sp>
        <p:nvSpPr>
          <p:cNvPr id="7" name="Text 5"/>
          <p:cNvSpPr/>
          <p:nvPr/>
        </p:nvSpPr>
        <p:spPr>
          <a:xfrm>
            <a:off x="548640" y="2880360"/>
            <a:ext cx="7315200" cy="320040"/>
          </a:xfrm>
          <a:prstGeom prst="rect">
            <a:avLst/>
          </a:prstGeom>
          <a:noFill/>
          <a:ln/>
        </p:spPr>
        <p:txBody>
          <a:bodyPr wrap="square" rtlCol="0" anchor="ctr"/>
          <a:lstStyle/>
          <a:p>
            <a:pPr indent="0" marL="0">
              <a:buNone/>
            </a:pPr>
            <a:r>
              <a:rPr lang="en-US" sz="1300" dirty="0">
                <a:solidFill>
                  <a:srgbClr val="3A3F4B"/>
                </a:solidFill>
                <a:latin typeface="Courier New" pitchFamily="34" charset="0"/>
                <a:ea typeface="Courier New" pitchFamily="34" charset="-122"/>
                <a:cs typeface="Courier New" pitchFamily="34" charset="-120"/>
              </a:rPr>
              <a:t>Multiplier = 2 / (3 + 1) = 0.5</a:t>
            </a:r>
            <a:endParaRPr lang="en-US" sz="1300" dirty="0"/>
          </a:p>
        </p:txBody>
      </p:sp>
      <p:sp>
        <p:nvSpPr>
          <p:cNvPr id="8" name="Shape 6"/>
          <p:cNvSpPr/>
          <p:nvPr/>
        </p:nvSpPr>
        <p:spPr>
          <a:xfrm>
            <a:off x="548640" y="3291840"/>
            <a:ext cx="10881360" cy="402336"/>
          </a:xfrm>
          <a:prstGeom prst="rect">
            <a:avLst/>
          </a:prstGeom>
          <a:solidFill>
            <a:srgbClr val="14213D"/>
          </a:solidFill>
          <a:ln/>
        </p:spPr>
      </p:sp>
      <p:sp>
        <p:nvSpPr>
          <p:cNvPr id="9" name="Text 7"/>
          <p:cNvSpPr/>
          <p:nvPr/>
        </p:nvSpPr>
        <p:spPr>
          <a:xfrm>
            <a:off x="685800" y="3291840"/>
            <a:ext cx="91440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Day</a:t>
            </a:r>
            <a:endParaRPr lang="en-US" sz="1250" dirty="0"/>
          </a:p>
        </p:txBody>
      </p:sp>
      <p:sp>
        <p:nvSpPr>
          <p:cNvPr id="10" name="Text 8"/>
          <p:cNvSpPr/>
          <p:nvPr/>
        </p:nvSpPr>
        <p:spPr>
          <a:xfrm>
            <a:off x="1783080" y="3291840"/>
            <a:ext cx="1280160" cy="402336"/>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Price</a:t>
            </a:r>
            <a:endParaRPr lang="en-US" sz="1250" dirty="0"/>
          </a:p>
        </p:txBody>
      </p:sp>
      <p:sp>
        <p:nvSpPr>
          <p:cNvPr id="11" name="Text 9"/>
          <p:cNvSpPr/>
          <p:nvPr/>
        </p:nvSpPr>
        <p:spPr>
          <a:xfrm>
            <a:off x="3246120" y="3291840"/>
            <a:ext cx="8138160" cy="402336"/>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SMA seed / EMA</a:t>
            </a:r>
            <a:endParaRPr lang="en-US" sz="1250" dirty="0"/>
          </a:p>
        </p:txBody>
      </p:sp>
      <p:sp>
        <p:nvSpPr>
          <p:cNvPr id="12" name="Shape 10"/>
          <p:cNvSpPr/>
          <p:nvPr/>
        </p:nvSpPr>
        <p:spPr>
          <a:xfrm>
            <a:off x="548640" y="3712464"/>
            <a:ext cx="10881360" cy="402336"/>
          </a:xfrm>
          <a:prstGeom prst="rect">
            <a:avLst/>
          </a:prstGeom>
          <a:solidFill>
            <a:srgbClr val="FFFFFF"/>
          </a:solidFill>
          <a:ln/>
        </p:spPr>
      </p:sp>
      <p:sp>
        <p:nvSpPr>
          <p:cNvPr id="13" name="Text 11"/>
          <p:cNvSpPr/>
          <p:nvPr/>
        </p:nvSpPr>
        <p:spPr>
          <a:xfrm>
            <a:off x="685800" y="3712464"/>
            <a:ext cx="91440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1</a:t>
            </a:r>
            <a:endParaRPr lang="en-US" sz="1250" dirty="0"/>
          </a:p>
        </p:txBody>
      </p:sp>
      <p:sp>
        <p:nvSpPr>
          <p:cNvPr id="14" name="Text 12"/>
          <p:cNvSpPr/>
          <p:nvPr/>
        </p:nvSpPr>
        <p:spPr>
          <a:xfrm>
            <a:off x="1783080" y="3712464"/>
            <a:ext cx="128016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10</a:t>
            </a:r>
            <a:endParaRPr lang="en-US" sz="1250" dirty="0"/>
          </a:p>
        </p:txBody>
      </p:sp>
      <p:sp>
        <p:nvSpPr>
          <p:cNvPr id="15" name="Text 13"/>
          <p:cNvSpPr/>
          <p:nvPr/>
        </p:nvSpPr>
        <p:spPr>
          <a:xfrm>
            <a:off x="3246120" y="3712464"/>
            <a:ext cx="8138160" cy="402336"/>
          </a:xfrm>
          <a:prstGeom prst="rect">
            <a:avLst/>
          </a:prstGeom>
          <a:noFill/>
          <a:ln/>
        </p:spPr>
        <p:txBody>
          <a:bodyPr wrap="square" rtlCol="0" anchor="ctr"/>
          <a:lstStyle/>
          <a:p>
            <a:pPr indent="0" marL="0">
              <a:buNone/>
            </a:pPr>
            <a:endParaRPr lang="en-US" sz="1250" dirty="0"/>
          </a:p>
        </p:txBody>
      </p:sp>
      <p:sp>
        <p:nvSpPr>
          <p:cNvPr id="16" name="Shape 14"/>
          <p:cNvSpPr/>
          <p:nvPr/>
        </p:nvSpPr>
        <p:spPr>
          <a:xfrm>
            <a:off x="548640" y="4133088"/>
            <a:ext cx="10881360" cy="402336"/>
          </a:xfrm>
          <a:prstGeom prst="rect">
            <a:avLst/>
          </a:prstGeom>
          <a:solidFill>
            <a:srgbClr val="F1EEE3"/>
          </a:solidFill>
          <a:ln/>
        </p:spPr>
      </p:sp>
      <p:sp>
        <p:nvSpPr>
          <p:cNvPr id="17" name="Text 15"/>
          <p:cNvSpPr/>
          <p:nvPr/>
        </p:nvSpPr>
        <p:spPr>
          <a:xfrm>
            <a:off x="685800" y="4133088"/>
            <a:ext cx="91440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2</a:t>
            </a:r>
            <a:endParaRPr lang="en-US" sz="1250" dirty="0"/>
          </a:p>
        </p:txBody>
      </p:sp>
      <p:sp>
        <p:nvSpPr>
          <p:cNvPr id="18" name="Text 16"/>
          <p:cNvSpPr/>
          <p:nvPr/>
        </p:nvSpPr>
        <p:spPr>
          <a:xfrm>
            <a:off x="1783080" y="4133088"/>
            <a:ext cx="128016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11</a:t>
            </a:r>
            <a:endParaRPr lang="en-US" sz="1250" dirty="0"/>
          </a:p>
        </p:txBody>
      </p:sp>
      <p:sp>
        <p:nvSpPr>
          <p:cNvPr id="19" name="Text 17"/>
          <p:cNvSpPr/>
          <p:nvPr/>
        </p:nvSpPr>
        <p:spPr>
          <a:xfrm>
            <a:off x="3246120" y="4133088"/>
            <a:ext cx="8138160" cy="402336"/>
          </a:xfrm>
          <a:prstGeom prst="rect">
            <a:avLst/>
          </a:prstGeom>
          <a:noFill/>
          <a:ln/>
        </p:spPr>
        <p:txBody>
          <a:bodyPr wrap="square" rtlCol="0" anchor="ctr"/>
          <a:lstStyle/>
          <a:p>
            <a:pPr indent="0" marL="0">
              <a:buNone/>
            </a:pPr>
            <a:endParaRPr lang="en-US" sz="1250" dirty="0"/>
          </a:p>
        </p:txBody>
      </p:sp>
      <p:sp>
        <p:nvSpPr>
          <p:cNvPr id="20" name="Shape 18"/>
          <p:cNvSpPr/>
          <p:nvPr/>
        </p:nvSpPr>
        <p:spPr>
          <a:xfrm>
            <a:off x="548640" y="4553712"/>
            <a:ext cx="10881360" cy="402336"/>
          </a:xfrm>
          <a:prstGeom prst="rect">
            <a:avLst/>
          </a:prstGeom>
          <a:solidFill>
            <a:srgbClr val="FFFFFF"/>
          </a:solidFill>
          <a:ln/>
        </p:spPr>
      </p:sp>
      <p:sp>
        <p:nvSpPr>
          <p:cNvPr id="21" name="Text 19"/>
          <p:cNvSpPr/>
          <p:nvPr/>
        </p:nvSpPr>
        <p:spPr>
          <a:xfrm>
            <a:off x="685800" y="4553712"/>
            <a:ext cx="91440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1783080" y="4553712"/>
            <a:ext cx="128016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9</a:t>
            </a:r>
            <a:endParaRPr lang="en-US" sz="1250" dirty="0"/>
          </a:p>
        </p:txBody>
      </p:sp>
      <p:sp>
        <p:nvSpPr>
          <p:cNvPr id="23" name="Text 21"/>
          <p:cNvSpPr/>
          <p:nvPr/>
        </p:nvSpPr>
        <p:spPr>
          <a:xfrm>
            <a:off x="3246120" y="4553712"/>
            <a:ext cx="8138160" cy="402336"/>
          </a:xfrm>
          <a:prstGeom prst="rect">
            <a:avLst/>
          </a:prstGeom>
          <a:noFill/>
          <a:ln/>
        </p:spPr>
        <p:txBody>
          <a:bodyPr wrap="square" rtlCol="0" anchor="ctr"/>
          <a:lstStyle/>
          <a:p>
            <a:pPr indent="0" marL="0">
              <a:buNone/>
            </a:pPr>
            <a:r>
              <a:rPr lang="en-US" sz="1250" dirty="0">
                <a:solidFill>
                  <a:srgbClr val="9A6B2C"/>
                </a:solidFill>
                <a:latin typeface="Courier New" pitchFamily="34" charset="0"/>
                <a:ea typeface="Courier New" pitchFamily="34" charset="-122"/>
                <a:cs typeface="Courier New" pitchFamily="34" charset="-120"/>
              </a:rPr>
              <a:t>SMA(10, 11, 9) = 10, used to seed the first EMA</a:t>
            </a:r>
            <a:endParaRPr lang="en-US" sz="1250" dirty="0"/>
          </a:p>
        </p:txBody>
      </p:sp>
      <p:sp>
        <p:nvSpPr>
          <p:cNvPr id="24" name="Shape 22"/>
          <p:cNvSpPr/>
          <p:nvPr/>
        </p:nvSpPr>
        <p:spPr>
          <a:xfrm>
            <a:off x="548640" y="4974336"/>
            <a:ext cx="10881360" cy="402336"/>
          </a:xfrm>
          <a:prstGeom prst="rect">
            <a:avLst/>
          </a:prstGeom>
          <a:solidFill>
            <a:srgbClr val="F1EEE3"/>
          </a:solidFill>
          <a:ln/>
        </p:spPr>
      </p:sp>
      <p:sp>
        <p:nvSpPr>
          <p:cNvPr id="25" name="Text 23"/>
          <p:cNvSpPr/>
          <p:nvPr/>
        </p:nvSpPr>
        <p:spPr>
          <a:xfrm>
            <a:off x="685800" y="4974336"/>
            <a:ext cx="91440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4</a:t>
            </a:r>
            <a:endParaRPr lang="en-US" sz="1250" dirty="0"/>
          </a:p>
        </p:txBody>
      </p:sp>
      <p:sp>
        <p:nvSpPr>
          <p:cNvPr id="26" name="Text 24"/>
          <p:cNvSpPr/>
          <p:nvPr/>
        </p:nvSpPr>
        <p:spPr>
          <a:xfrm>
            <a:off x="1783080" y="4974336"/>
            <a:ext cx="128016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12</a:t>
            </a:r>
            <a:endParaRPr lang="en-US" sz="1250" dirty="0"/>
          </a:p>
        </p:txBody>
      </p:sp>
      <p:sp>
        <p:nvSpPr>
          <p:cNvPr id="27" name="Text 25"/>
          <p:cNvSpPr/>
          <p:nvPr/>
        </p:nvSpPr>
        <p:spPr>
          <a:xfrm>
            <a:off x="3246120" y="4974336"/>
            <a:ext cx="8138160" cy="402336"/>
          </a:xfrm>
          <a:prstGeom prst="rect">
            <a:avLst/>
          </a:prstGeom>
          <a:noFill/>
          <a:ln/>
        </p:spPr>
        <p:txBody>
          <a:bodyPr wrap="square" rtlCol="0" anchor="ctr"/>
          <a:lstStyle/>
          <a:p>
            <a:pPr indent="0" marL="0">
              <a:buNone/>
            </a:pPr>
            <a:r>
              <a:rPr lang="en-US" sz="1250" dirty="0">
                <a:solidFill>
                  <a:srgbClr val="9A6B2C"/>
                </a:solidFill>
                <a:latin typeface="Courier New" pitchFamily="34" charset="0"/>
                <a:ea typeface="Courier New" pitchFamily="34" charset="-122"/>
                <a:cs typeface="Courier New" pitchFamily="34" charset="-120"/>
              </a:rPr>
              <a:t>(12 × 0.5) + (10 × 0.5) = 11</a:t>
            </a:r>
            <a:endParaRPr lang="en-US" sz="1250" dirty="0"/>
          </a:p>
        </p:txBody>
      </p:sp>
      <p:sp>
        <p:nvSpPr>
          <p:cNvPr id="28" name="Shape 26"/>
          <p:cNvSpPr/>
          <p:nvPr/>
        </p:nvSpPr>
        <p:spPr>
          <a:xfrm>
            <a:off x="548640" y="5394960"/>
            <a:ext cx="10881360" cy="402336"/>
          </a:xfrm>
          <a:prstGeom prst="rect">
            <a:avLst/>
          </a:prstGeom>
          <a:solidFill>
            <a:srgbClr val="FFFFFF"/>
          </a:solidFill>
          <a:ln/>
        </p:spPr>
      </p:sp>
      <p:sp>
        <p:nvSpPr>
          <p:cNvPr id="29" name="Text 27"/>
          <p:cNvSpPr/>
          <p:nvPr/>
        </p:nvSpPr>
        <p:spPr>
          <a:xfrm>
            <a:off x="685800" y="5394960"/>
            <a:ext cx="91440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5</a:t>
            </a:r>
            <a:endParaRPr lang="en-US" sz="1250" dirty="0"/>
          </a:p>
        </p:txBody>
      </p:sp>
      <p:sp>
        <p:nvSpPr>
          <p:cNvPr id="30" name="Text 28"/>
          <p:cNvSpPr/>
          <p:nvPr/>
        </p:nvSpPr>
        <p:spPr>
          <a:xfrm>
            <a:off x="1783080" y="5394960"/>
            <a:ext cx="1280160" cy="402336"/>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13</a:t>
            </a:r>
            <a:endParaRPr lang="en-US" sz="1250" dirty="0"/>
          </a:p>
        </p:txBody>
      </p:sp>
      <p:sp>
        <p:nvSpPr>
          <p:cNvPr id="31" name="Text 29"/>
          <p:cNvSpPr/>
          <p:nvPr/>
        </p:nvSpPr>
        <p:spPr>
          <a:xfrm>
            <a:off x="3246120" y="5394960"/>
            <a:ext cx="8138160" cy="402336"/>
          </a:xfrm>
          <a:prstGeom prst="rect">
            <a:avLst/>
          </a:prstGeom>
          <a:noFill/>
          <a:ln/>
        </p:spPr>
        <p:txBody>
          <a:bodyPr wrap="square" rtlCol="0" anchor="ctr"/>
          <a:lstStyle/>
          <a:p>
            <a:pPr indent="0" marL="0">
              <a:buNone/>
            </a:pPr>
            <a:r>
              <a:rPr lang="en-US" sz="1250" dirty="0">
                <a:solidFill>
                  <a:srgbClr val="9A6B2C"/>
                </a:solidFill>
                <a:latin typeface="Courier New" pitchFamily="34" charset="0"/>
                <a:ea typeface="Courier New" pitchFamily="34" charset="-122"/>
                <a:cs typeface="Courier New" pitchFamily="34" charset="-120"/>
              </a:rPr>
              <a:t>(13 × 0.5) + (11 × 0.5) = 12</a:t>
            </a:r>
            <a:endParaRPr lang="en-US" sz="1250" dirty="0"/>
          </a:p>
        </p:txBody>
      </p:sp>
      <p:sp>
        <p:nvSpPr>
          <p:cNvPr id="32" name="Text 30"/>
          <p:cNvSpPr/>
          <p:nvPr/>
        </p:nvSpPr>
        <p:spPr>
          <a:xfrm>
            <a:off x="548640" y="5623560"/>
            <a:ext cx="10972800" cy="54864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Notice that day 4's EMA leans on day 4's actual price as much as it leans on all of history combined. That is the recency weighting in action.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700" b="1" dirty="0">
                <a:solidFill>
                  <a:srgbClr val="14213D"/>
                </a:solidFill>
                <a:latin typeface="Cambria" pitchFamily="34" charset="0"/>
                <a:ea typeface="Cambria" pitchFamily="34" charset="-122"/>
                <a:cs typeface="Cambria" pitchFamily="34" charset="-120"/>
              </a:rPr>
              <a:t>SMA and EMA, side by side</a:t>
            </a:r>
            <a:endParaRPr lang="en-US" sz="2700" dirty="0"/>
          </a:p>
        </p:txBody>
      </p:sp>
      <p:sp>
        <p:nvSpPr>
          <p:cNvPr id="3" name="Shape 1"/>
          <p:cNvSpPr/>
          <p:nvPr/>
        </p:nvSpPr>
        <p:spPr>
          <a:xfrm>
            <a:off x="548640" y="1280160"/>
            <a:ext cx="11064240" cy="502920"/>
          </a:xfrm>
          <a:prstGeom prst="rect">
            <a:avLst/>
          </a:prstGeom>
          <a:solidFill>
            <a:srgbClr val="14213D"/>
          </a:solidFill>
          <a:ln/>
        </p:spPr>
      </p:sp>
      <p:sp>
        <p:nvSpPr>
          <p:cNvPr id="4" name="Text 2"/>
          <p:cNvSpPr/>
          <p:nvPr/>
        </p:nvSpPr>
        <p:spPr>
          <a:xfrm>
            <a:off x="548640" y="1280160"/>
            <a:ext cx="3200400" cy="502920"/>
          </a:xfrm>
          <a:prstGeom prst="rect">
            <a:avLst/>
          </a:prstGeom>
          <a:noFill/>
          <a:ln/>
        </p:spPr>
        <p:txBody>
          <a:bodyPr wrap="square" rtlCol="0" anchor="ctr"/>
          <a:lstStyle/>
          <a:p>
            <a:pPr indent="0" marL="0">
              <a:buNone/>
            </a:pPr>
            <a:endParaRPr lang="en-US" dirty="0"/>
          </a:p>
        </p:txBody>
      </p:sp>
      <p:sp>
        <p:nvSpPr>
          <p:cNvPr id="5" name="Text 3"/>
          <p:cNvSpPr/>
          <p:nvPr/>
        </p:nvSpPr>
        <p:spPr>
          <a:xfrm>
            <a:off x="3749040" y="1280160"/>
            <a:ext cx="3657600" cy="502920"/>
          </a:xfrm>
          <a:prstGeom prst="rect">
            <a:avLst/>
          </a:prstGeom>
          <a:noFill/>
          <a:ln/>
        </p:spPr>
        <p:txBody>
          <a:bodyPr wrap="square" rtlCol="0" anchor="ctr"/>
          <a:lstStyle/>
          <a:p>
            <a:pPr algn="ctr" indent="0" marL="0">
              <a:buNone/>
            </a:pPr>
            <a:r>
              <a:rPr lang="en-US" sz="1500" b="1" dirty="0">
                <a:solidFill>
                  <a:srgbClr val="9A6B2C"/>
                </a:solidFill>
                <a:latin typeface="Cambria" pitchFamily="34" charset="0"/>
                <a:ea typeface="Cambria" pitchFamily="34" charset="-122"/>
                <a:cs typeface="Cambria" pitchFamily="34" charset="-120"/>
              </a:rPr>
              <a:t>SMA</a:t>
            </a:r>
            <a:endParaRPr lang="en-US" sz="1500" dirty="0"/>
          </a:p>
        </p:txBody>
      </p:sp>
      <p:sp>
        <p:nvSpPr>
          <p:cNvPr id="6" name="Text 4"/>
          <p:cNvSpPr/>
          <p:nvPr/>
        </p:nvSpPr>
        <p:spPr>
          <a:xfrm>
            <a:off x="7406640" y="1280160"/>
            <a:ext cx="4206240" cy="502920"/>
          </a:xfrm>
          <a:prstGeom prst="rect">
            <a:avLst/>
          </a:prstGeom>
          <a:noFill/>
          <a:ln/>
        </p:spPr>
        <p:txBody>
          <a:bodyPr wrap="square" rtlCol="0" anchor="ctr"/>
          <a:lstStyle/>
          <a:p>
            <a:pPr algn="ctr" indent="0" marL="0">
              <a:buNone/>
            </a:pPr>
            <a:r>
              <a:rPr lang="en-US" sz="1500" b="1" dirty="0">
                <a:solidFill>
                  <a:srgbClr val="9A6B2C"/>
                </a:solidFill>
                <a:latin typeface="Cambria" pitchFamily="34" charset="0"/>
                <a:ea typeface="Cambria" pitchFamily="34" charset="-122"/>
                <a:cs typeface="Cambria" pitchFamily="34" charset="-120"/>
              </a:rPr>
              <a:t>EMA</a:t>
            </a:r>
            <a:endParaRPr lang="en-US" sz="1500" dirty="0"/>
          </a:p>
        </p:txBody>
      </p:sp>
      <p:sp>
        <p:nvSpPr>
          <p:cNvPr id="7" name="Shape 5"/>
          <p:cNvSpPr/>
          <p:nvPr/>
        </p:nvSpPr>
        <p:spPr>
          <a:xfrm>
            <a:off x="548640" y="1783080"/>
            <a:ext cx="11064240" cy="777240"/>
          </a:xfrm>
          <a:prstGeom prst="rect">
            <a:avLst/>
          </a:prstGeom>
          <a:solidFill>
            <a:srgbClr val="FFFFFF"/>
          </a:solidFill>
          <a:ln/>
        </p:spPr>
      </p:sp>
      <p:sp>
        <p:nvSpPr>
          <p:cNvPr id="8" name="Text 6"/>
          <p:cNvSpPr/>
          <p:nvPr/>
        </p:nvSpPr>
        <p:spPr>
          <a:xfrm>
            <a:off x="777240" y="1783080"/>
            <a:ext cx="2971800" cy="7772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Weighting</a:t>
            </a:r>
            <a:endParaRPr lang="en-US" sz="1300" dirty="0"/>
          </a:p>
        </p:txBody>
      </p:sp>
      <p:sp>
        <p:nvSpPr>
          <p:cNvPr id="9" name="Text 7"/>
          <p:cNvSpPr/>
          <p:nvPr/>
        </p:nvSpPr>
        <p:spPr>
          <a:xfrm>
            <a:off x="3749040" y="1783080"/>
            <a:ext cx="365760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Every day in the window counts equally</a:t>
            </a:r>
            <a:endParaRPr lang="en-US" sz="1200" dirty="0"/>
          </a:p>
        </p:txBody>
      </p:sp>
      <p:sp>
        <p:nvSpPr>
          <p:cNvPr id="10" name="Text 8"/>
          <p:cNvSpPr/>
          <p:nvPr/>
        </p:nvSpPr>
        <p:spPr>
          <a:xfrm>
            <a:off x="7406640" y="1783080"/>
            <a:ext cx="420624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Recent days count more than older days</a:t>
            </a:r>
            <a:endParaRPr lang="en-US" sz="1200" dirty="0"/>
          </a:p>
        </p:txBody>
      </p:sp>
      <p:sp>
        <p:nvSpPr>
          <p:cNvPr id="11" name="Shape 9"/>
          <p:cNvSpPr/>
          <p:nvPr/>
        </p:nvSpPr>
        <p:spPr>
          <a:xfrm>
            <a:off x="548640" y="2578608"/>
            <a:ext cx="11064240" cy="777240"/>
          </a:xfrm>
          <a:prstGeom prst="rect">
            <a:avLst/>
          </a:prstGeom>
          <a:solidFill>
            <a:srgbClr val="F1EEE3"/>
          </a:solidFill>
          <a:ln/>
        </p:spPr>
      </p:sp>
      <p:sp>
        <p:nvSpPr>
          <p:cNvPr id="12" name="Text 10"/>
          <p:cNvSpPr/>
          <p:nvPr/>
        </p:nvSpPr>
        <p:spPr>
          <a:xfrm>
            <a:off x="777240" y="2578608"/>
            <a:ext cx="2971800" cy="7772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Reaction speed</a:t>
            </a:r>
            <a:endParaRPr lang="en-US" sz="1300" dirty="0"/>
          </a:p>
        </p:txBody>
      </p:sp>
      <p:sp>
        <p:nvSpPr>
          <p:cNvPr id="13" name="Text 11"/>
          <p:cNvSpPr/>
          <p:nvPr/>
        </p:nvSpPr>
        <p:spPr>
          <a:xfrm>
            <a:off x="3749040" y="2578608"/>
            <a:ext cx="365760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Slower to reflect a new trend</a:t>
            </a:r>
            <a:endParaRPr lang="en-US" sz="1200" dirty="0"/>
          </a:p>
        </p:txBody>
      </p:sp>
      <p:sp>
        <p:nvSpPr>
          <p:cNvPr id="14" name="Text 12"/>
          <p:cNvSpPr/>
          <p:nvPr/>
        </p:nvSpPr>
        <p:spPr>
          <a:xfrm>
            <a:off x="7406640" y="2578608"/>
            <a:ext cx="420624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Faster to reflect a new trend</a:t>
            </a:r>
            <a:endParaRPr lang="en-US" sz="1200" dirty="0"/>
          </a:p>
        </p:txBody>
      </p:sp>
      <p:sp>
        <p:nvSpPr>
          <p:cNvPr id="15" name="Shape 13"/>
          <p:cNvSpPr/>
          <p:nvPr/>
        </p:nvSpPr>
        <p:spPr>
          <a:xfrm>
            <a:off x="548640" y="3374136"/>
            <a:ext cx="11064240" cy="777240"/>
          </a:xfrm>
          <a:prstGeom prst="rect">
            <a:avLst/>
          </a:prstGeom>
          <a:solidFill>
            <a:srgbClr val="FFFFFF"/>
          </a:solidFill>
          <a:ln/>
        </p:spPr>
      </p:sp>
      <p:sp>
        <p:nvSpPr>
          <p:cNvPr id="16" name="Text 14"/>
          <p:cNvSpPr/>
          <p:nvPr/>
        </p:nvSpPr>
        <p:spPr>
          <a:xfrm>
            <a:off x="777240" y="3374136"/>
            <a:ext cx="2971800" cy="7772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Smoothness</a:t>
            </a:r>
            <a:endParaRPr lang="en-US" sz="1300" dirty="0"/>
          </a:p>
        </p:txBody>
      </p:sp>
      <p:sp>
        <p:nvSpPr>
          <p:cNvPr id="17" name="Text 15"/>
          <p:cNvSpPr/>
          <p:nvPr/>
        </p:nvSpPr>
        <p:spPr>
          <a:xfrm>
            <a:off x="3749040" y="3374136"/>
            <a:ext cx="365760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Smoother, fewer false signals</a:t>
            </a:r>
            <a:endParaRPr lang="en-US" sz="1200" dirty="0"/>
          </a:p>
        </p:txBody>
      </p:sp>
      <p:sp>
        <p:nvSpPr>
          <p:cNvPr id="18" name="Text 16"/>
          <p:cNvSpPr/>
          <p:nvPr/>
        </p:nvSpPr>
        <p:spPr>
          <a:xfrm>
            <a:off x="7406640" y="3374136"/>
            <a:ext cx="420624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Noisier, more false signals possible</a:t>
            </a:r>
            <a:endParaRPr lang="en-US" sz="1200" dirty="0"/>
          </a:p>
        </p:txBody>
      </p:sp>
      <p:sp>
        <p:nvSpPr>
          <p:cNvPr id="19" name="Shape 17"/>
          <p:cNvSpPr/>
          <p:nvPr/>
        </p:nvSpPr>
        <p:spPr>
          <a:xfrm>
            <a:off x="548640" y="4169664"/>
            <a:ext cx="11064240" cy="777240"/>
          </a:xfrm>
          <a:prstGeom prst="rect">
            <a:avLst/>
          </a:prstGeom>
          <a:solidFill>
            <a:srgbClr val="F1EEE3"/>
          </a:solidFill>
          <a:ln/>
        </p:spPr>
      </p:sp>
      <p:sp>
        <p:nvSpPr>
          <p:cNvPr id="20" name="Text 18"/>
          <p:cNvSpPr/>
          <p:nvPr/>
        </p:nvSpPr>
        <p:spPr>
          <a:xfrm>
            <a:off x="777240" y="4169664"/>
            <a:ext cx="2971800" cy="777240"/>
          </a:xfrm>
          <a:prstGeom prst="rect">
            <a:avLst/>
          </a:prstGeom>
          <a:noFill/>
          <a:ln/>
        </p:spPr>
        <p:txBody>
          <a:bodyPr wrap="square" rtlCol="0" anchor="ctr"/>
          <a:lstStyle/>
          <a:p>
            <a:pPr indent="0" marL="0">
              <a:buNone/>
            </a:pPr>
            <a:r>
              <a:rPr lang="en-US" sz="1300" b="1" dirty="0">
                <a:solidFill>
                  <a:srgbClr val="14213D"/>
                </a:solidFill>
                <a:latin typeface="Cambria" pitchFamily="34" charset="0"/>
                <a:ea typeface="Cambria" pitchFamily="34" charset="-122"/>
                <a:cs typeface="Cambria" pitchFamily="34" charset="-120"/>
              </a:rPr>
              <a:t>Where we use it</a:t>
            </a:r>
            <a:endParaRPr lang="en-US" sz="1300" dirty="0"/>
          </a:p>
        </p:txBody>
      </p:sp>
      <p:sp>
        <p:nvSpPr>
          <p:cNvPr id="21" name="Text 19"/>
          <p:cNvSpPr/>
          <p:nvPr/>
        </p:nvSpPr>
        <p:spPr>
          <a:xfrm>
            <a:off x="3749040" y="4169664"/>
            <a:ext cx="365760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Golden and death cross (50 / 200 day)</a:t>
            </a:r>
            <a:endParaRPr lang="en-US" sz="1200" dirty="0"/>
          </a:p>
        </p:txBody>
      </p:sp>
      <p:sp>
        <p:nvSpPr>
          <p:cNvPr id="22" name="Text 20"/>
          <p:cNvSpPr/>
          <p:nvPr/>
        </p:nvSpPr>
        <p:spPr>
          <a:xfrm>
            <a:off x="7406640" y="4169664"/>
            <a:ext cx="4206240" cy="777240"/>
          </a:xfrm>
          <a:prstGeom prst="rect">
            <a:avLst/>
          </a:prstGeom>
          <a:noFill/>
          <a:ln/>
        </p:spPr>
        <p:txBody>
          <a:bodyPr wrap="square" rtlCol="0" anchor="ctr"/>
          <a:lstStyle/>
          <a:p>
            <a:pPr indent="0" marL="0">
              <a:buNone/>
            </a:pPr>
            <a:r>
              <a:rPr lang="en-US" sz="1200" dirty="0">
                <a:solidFill>
                  <a:srgbClr val="3A3F4B"/>
                </a:solidFill>
                <a:latin typeface="Calibri" pitchFamily="34" charset="0"/>
                <a:ea typeface="Calibri" pitchFamily="34" charset="-122"/>
                <a:cs typeface="Calibri" pitchFamily="34" charset="-120"/>
              </a:rPr>
              <a:t>MACD's fast, slow, and signal lines</a:t>
            </a:r>
            <a:endParaRPr lang="en-US" sz="1200" dirty="0"/>
          </a:p>
        </p:txBody>
      </p:sp>
      <p:sp>
        <p:nvSpPr>
          <p:cNvPr id="23" name="Text 21"/>
          <p:cNvSpPr/>
          <p:nvPr/>
        </p:nvSpPr>
        <p:spPr>
          <a:xfrm>
            <a:off x="548640" y="4892040"/>
            <a:ext cx="10972800" cy="365760"/>
          </a:xfrm>
          <a:prstGeom prst="rect">
            <a:avLst/>
          </a:prstGeom>
          <a:noFill/>
          <a:ln/>
        </p:spPr>
        <p:txBody>
          <a:bodyPr wrap="square" rtlCol="0" anchor="ctr"/>
          <a:lstStyle/>
          <a:p>
            <a:pPr indent="0" marL="0">
              <a:buNone/>
            </a:pPr>
            <a:r>
              <a:rPr lang="en-US" sz="1300" i="1" dirty="0">
                <a:solidFill>
                  <a:srgbClr val="3A3F4B"/>
                </a:solidFill>
                <a:latin typeface="Calibri" pitchFamily="34" charset="0"/>
                <a:ea typeface="Calibri" pitchFamily="34" charset="-122"/>
                <a:cs typeface="Calibri" pitchFamily="34" charset="-120"/>
              </a:rPr>
              <a:t>Neither is universally better. Match the average to what the indicator is trying to catch.</a:t>
            </a:r>
            <a:endParaRPr lang="en-US" sz="1300" dirty="0"/>
          </a:p>
        </p:txBody>
      </p:sp>
      <p:sp>
        <p:nvSpPr>
          <p:cNvPr id="24" name="Text 22"/>
          <p:cNvSpPr/>
          <p:nvPr/>
        </p:nvSpPr>
        <p:spPr>
          <a:xfrm>
            <a:off x="548640" y="5303520"/>
            <a:ext cx="10972800" cy="36576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Script B_TTR.R now includes an SMA versus EMA comparison on the same chart.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The golden cross and the death cross</a:t>
            </a:r>
            <a:endParaRPr lang="en-US" sz="2400" dirty="0"/>
          </a:p>
        </p:txBody>
      </p:sp>
      <p:sp>
        <p:nvSpPr>
          <p:cNvPr id="5" name="Text 2"/>
          <p:cNvSpPr/>
          <p:nvPr/>
        </p:nvSpPr>
        <p:spPr>
          <a:xfrm>
            <a:off x="1280160" y="1051560"/>
            <a:ext cx="100584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The most widely used SMA based indicator: a 50 day average crossing a 200 day average.</a:t>
            </a:r>
            <a:endParaRPr lang="en-US" sz="1350" dirty="0"/>
          </a:p>
        </p:txBody>
      </p:sp>
      <p:sp>
        <p:nvSpPr>
          <p:cNvPr id="6" name="Shape 3"/>
          <p:cNvSpPr/>
          <p:nvPr/>
        </p:nvSpPr>
        <p:spPr>
          <a:xfrm>
            <a:off x="548640" y="1600200"/>
            <a:ext cx="5349240" cy="2651760"/>
          </a:xfrm>
          <a:prstGeom prst="roundRect">
            <a:avLst>
              <a:gd name="adj" fmla="val 2759"/>
            </a:avLst>
          </a:prstGeom>
          <a:solidFill>
            <a:srgbClr val="FFFFFF"/>
          </a:solidFill>
          <a:ln/>
          <a:effectLst>
            <a:outerShdw sx="100000" sy="100000" kx="0" ky="0" algn="bl" rotWithShape="0" blurRad="63500" dist="25400" dir="5400000">
              <a:srgbClr val="000000">
                <a:alpha val="8000"/>
              </a:srgbClr>
            </a:outerShdw>
          </a:effectLst>
        </p:spPr>
      </p:sp>
      <p:sp>
        <p:nvSpPr>
          <p:cNvPr id="7" name="Text 4"/>
          <p:cNvSpPr/>
          <p:nvPr/>
        </p:nvSpPr>
        <p:spPr>
          <a:xfrm>
            <a:off x="822960" y="1783080"/>
            <a:ext cx="4846320" cy="365760"/>
          </a:xfrm>
          <a:prstGeom prst="rect">
            <a:avLst/>
          </a:prstGeom>
          <a:noFill/>
          <a:ln/>
        </p:spPr>
        <p:txBody>
          <a:bodyPr wrap="square" rtlCol="0" anchor="ctr"/>
          <a:lstStyle/>
          <a:p>
            <a:pPr indent="0" marL="0">
              <a:buNone/>
            </a:pPr>
            <a:r>
              <a:rPr lang="en-US" sz="1600" b="1" dirty="0">
                <a:solidFill>
                  <a:srgbClr val="9A6B2C"/>
                </a:solidFill>
                <a:latin typeface="Cambria" pitchFamily="34" charset="0"/>
                <a:ea typeface="Cambria" pitchFamily="34" charset="-122"/>
                <a:cs typeface="Cambria" pitchFamily="34" charset="-120"/>
              </a:rPr>
              <a:t>Golden cross</a:t>
            </a:r>
            <a:endParaRPr lang="en-US" sz="1600" dirty="0"/>
          </a:p>
        </p:txBody>
      </p:sp>
      <p:sp>
        <p:nvSpPr>
          <p:cNvPr id="8" name="Text 5"/>
          <p:cNvSpPr/>
          <p:nvPr/>
        </p:nvSpPr>
        <p:spPr>
          <a:xfrm>
            <a:off x="822960" y="2240280"/>
            <a:ext cx="4846320" cy="914400"/>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The 50 day average rises above the 200 day average. Money is moving into the stock. Often read as a bullish signal.</a:t>
            </a:r>
            <a:endParaRPr lang="en-US" sz="1300" dirty="0"/>
          </a:p>
        </p:txBody>
      </p:sp>
      <p:sp>
        <p:nvSpPr>
          <p:cNvPr id="9" name="Shape 6"/>
          <p:cNvSpPr/>
          <p:nvPr/>
        </p:nvSpPr>
        <p:spPr>
          <a:xfrm>
            <a:off x="6172200" y="1600200"/>
            <a:ext cx="5440680" cy="2651760"/>
          </a:xfrm>
          <a:prstGeom prst="roundRect">
            <a:avLst>
              <a:gd name="adj" fmla="val 2759"/>
            </a:avLst>
          </a:prstGeom>
          <a:solidFill>
            <a:srgbClr val="14213D"/>
          </a:solidFill>
          <a:ln/>
        </p:spPr>
      </p:sp>
      <p:sp>
        <p:nvSpPr>
          <p:cNvPr id="10" name="Text 7"/>
          <p:cNvSpPr/>
          <p:nvPr/>
        </p:nvSpPr>
        <p:spPr>
          <a:xfrm>
            <a:off x="6446520" y="1783080"/>
            <a:ext cx="4937760" cy="365760"/>
          </a:xfrm>
          <a:prstGeom prst="rect">
            <a:avLst/>
          </a:prstGeom>
          <a:noFill/>
          <a:ln/>
        </p:spPr>
        <p:txBody>
          <a:bodyPr wrap="square" rtlCol="0" anchor="ctr"/>
          <a:lstStyle/>
          <a:p>
            <a:pPr indent="0" marL="0">
              <a:buNone/>
            </a:pPr>
            <a:r>
              <a:rPr lang="en-US" sz="1600" b="1" dirty="0">
                <a:solidFill>
                  <a:srgbClr val="9A6B2C"/>
                </a:solidFill>
                <a:latin typeface="Cambria" pitchFamily="34" charset="0"/>
                <a:ea typeface="Cambria" pitchFamily="34" charset="-122"/>
                <a:cs typeface="Cambria" pitchFamily="34" charset="-120"/>
              </a:rPr>
              <a:t>Death cross</a:t>
            </a:r>
            <a:endParaRPr lang="en-US" sz="1600" dirty="0"/>
          </a:p>
        </p:txBody>
      </p:sp>
      <p:sp>
        <p:nvSpPr>
          <p:cNvPr id="11" name="Text 8"/>
          <p:cNvSpPr/>
          <p:nvPr/>
        </p:nvSpPr>
        <p:spPr>
          <a:xfrm>
            <a:off x="6446520" y="2240280"/>
            <a:ext cx="4937760" cy="914400"/>
          </a:xfrm>
          <a:prstGeom prst="rect">
            <a:avLst/>
          </a:prstGeom>
          <a:noFill/>
          <a:ln/>
        </p:spPr>
        <p:txBody>
          <a:bodyPr wrap="square" rtlCol="0" anchor="ctr"/>
          <a:lstStyle/>
          <a:p>
            <a:pPr indent="0" marL="0">
              <a:buNone/>
            </a:pPr>
            <a:r>
              <a:rPr lang="en-US" sz="1300" dirty="0">
                <a:solidFill>
                  <a:srgbClr val="E4E9F5"/>
                </a:solidFill>
                <a:latin typeface="Calibri" pitchFamily="34" charset="0"/>
                <a:ea typeface="Calibri" pitchFamily="34" charset="-122"/>
                <a:cs typeface="Calibri" pitchFamily="34" charset="-120"/>
              </a:rPr>
              <a:t>The 50 day average falls below the 200 day average. Money is moving out of the stock. Often read as a bearish signal.</a:t>
            </a:r>
            <a:endParaRPr lang="en-US" sz="1300" dirty="0"/>
          </a:p>
        </p:txBody>
      </p:sp>
      <p:sp>
        <p:nvSpPr>
          <p:cNvPr id="12" name="Text 9"/>
          <p:cNvSpPr/>
          <p:nvPr/>
        </p:nvSpPr>
        <p:spPr>
          <a:xfrm>
            <a:off x="548640" y="4480560"/>
            <a:ext cx="10972800" cy="640080"/>
          </a:xfrm>
          <a:prstGeom prst="rect">
            <a:avLst/>
          </a:prstGeom>
          <a:noFill/>
          <a:ln/>
        </p:spPr>
        <p:txBody>
          <a:bodyPr wrap="square" rtlCol="0" anchor="ctr"/>
          <a:lstStyle/>
          <a:p>
            <a:pPr indent="0" marL="0">
              <a:buNone/>
            </a:pPr>
            <a:r>
              <a:rPr lang="en-US" sz="1300" i="1" dirty="0">
                <a:solidFill>
                  <a:srgbClr val="3A3F4B"/>
                </a:solidFill>
                <a:latin typeface="Calibri" pitchFamily="34" charset="0"/>
                <a:ea typeface="Calibri" pitchFamily="34" charset="-122"/>
                <a:cs typeface="Calibri" pitchFamily="34" charset="-120"/>
              </a:rPr>
              <a:t>200 days is roughly 9.5 months of trading. 50 days is roughly 2.4 months. Backtest to confirm these windows fit the equity you are trading, 50 and 200 will not suit every stock.</a:t>
            </a:r>
            <a:endParaRPr lang="en-US" sz="1300" dirty="0"/>
          </a:p>
        </p:txBody>
      </p:sp>
      <p:sp>
        <p:nvSpPr>
          <p:cNvPr id="13" name="Text 10"/>
          <p:cNvSpPr/>
          <p:nvPr/>
        </p:nvSpPr>
        <p:spPr>
          <a:xfrm>
            <a:off x="548640" y="5074920"/>
            <a:ext cx="10972800" cy="502920"/>
          </a:xfrm>
          <a:prstGeom prst="rect">
            <a:avLst/>
          </a:prstGeom>
          <a:noFill/>
          <a:ln/>
        </p:spPr>
        <p:txBody>
          <a:bodyPr wrap="square" rtlCol="0" anchor="ctr"/>
          <a:lstStyle/>
          <a:p>
            <a:pPr indent="0" marL="0">
              <a:buNone/>
            </a:pPr>
            <a:r>
              <a:rPr lang="en-US" sz="1200" i="1" dirty="0">
                <a:solidFill>
                  <a:srgbClr val="8A8577"/>
                </a:solidFill>
                <a:latin typeface="Calibri" pitchFamily="34" charset="0"/>
                <a:ea typeface="Calibri" pitchFamily="34" charset="-122"/>
                <a:cs typeface="Calibri" pitchFamily="34" charset="-120"/>
              </a:rPr>
              <a:t>This signal is conventionally built on SMA, not EMA. The slower, smoother average is the point here: it filters out short term noise so the cross means something.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Build it, lag it, backtest it, then break it</a:t>
            </a:r>
            <a:endParaRPr lang="en-US" sz="2400" dirty="0"/>
          </a:p>
        </p:txBody>
      </p:sp>
      <p:sp>
        <p:nvSpPr>
          <p:cNvPr id="5" name="Text 2"/>
          <p:cNvSpPr/>
          <p:nvPr/>
        </p:nvSpPr>
        <p:spPr>
          <a:xfrm>
            <a:off x="640080" y="1325880"/>
            <a:ext cx="10515600" cy="365760"/>
          </a:xfrm>
          <a:prstGeom prst="rect">
            <a:avLst/>
          </a:prstGeom>
          <a:noFill/>
          <a:ln/>
        </p:spPr>
        <p:txBody>
          <a:bodyPr wrap="square"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Script C_TTR_50Day_200Day_SMA.R walks through the full lifecycle of an indicator.</a:t>
            </a:r>
            <a:endParaRPr lang="en-US" sz="1350" dirty="0"/>
          </a:p>
        </p:txBody>
      </p:sp>
      <p:sp>
        <p:nvSpPr>
          <p:cNvPr id="6" name="Shape 3"/>
          <p:cNvSpPr/>
          <p:nvPr/>
        </p:nvSpPr>
        <p:spPr>
          <a:xfrm>
            <a:off x="685800" y="1901952"/>
            <a:ext cx="329184" cy="329184"/>
          </a:xfrm>
          <a:prstGeom prst="ellipse">
            <a:avLst/>
          </a:prstGeom>
          <a:solidFill>
            <a:srgbClr val="1C2B52"/>
          </a:solidFill>
          <a:ln/>
        </p:spPr>
      </p:sp>
      <p:sp>
        <p:nvSpPr>
          <p:cNvPr id="7" name="Text 4"/>
          <p:cNvSpPr/>
          <p:nvPr/>
        </p:nvSpPr>
        <p:spPr>
          <a:xfrm>
            <a:off x="685800" y="1901952"/>
            <a:ext cx="329184" cy="329184"/>
          </a:xfrm>
          <a:prstGeom prst="rect">
            <a:avLst/>
          </a:prstGeom>
          <a:noFill/>
          <a:ln/>
        </p:spPr>
        <p:txBody>
          <a:bodyPr wrap="square" rtlCol="0" anchor="ctr"/>
          <a:lstStyle/>
          <a:p>
            <a:pPr algn="ctr" indent="0" marL="0">
              <a:buNone/>
            </a:pPr>
            <a:r>
              <a:rPr lang="en-US" sz="1300" b="1" dirty="0">
                <a:solidFill>
                  <a:srgbClr val="9A6B2C"/>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1188720" y="1874520"/>
            <a:ext cx="1014984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Calculate the 50 and 200 day SMA on a real equity.</a:t>
            </a:r>
            <a:endParaRPr lang="en-US" sz="1400" dirty="0"/>
          </a:p>
        </p:txBody>
      </p:sp>
      <p:sp>
        <p:nvSpPr>
          <p:cNvPr id="9" name="Shape 6"/>
          <p:cNvSpPr/>
          <p:nvPr/>
        </p:nvSpPr>
        <p:spPr>
          <a:xfrm>
            <a:off x="685800" y="2432304"/>
            <a:ext cx="329184" cy="329184"/>
          </a:xfrm>
          <a:prstGeom prst="ellipse">
            <a:avLst/>
          </a:prstGeom>
          <a:solidFill>
            <a:srgbClr val="1C2B52"/>
          </a:solidFill>
          <a:ln/>
        </p:spPr>
      </p:sp>
      <p:sp>
        <p:nvSpPr>
          <p:cNvPr id="10" name="Text 7"/>
          <p:cNvSpPr/>
          <p:nvPr/>
        </p:nvSpPr>
        <p:spPr>
          <a:xfrm>
            <a:off x="685800" y="2432304"/>
            <a:ext cx="329184" cy="329184"/>
          </a:xfrm>
          <a:prstGeom prst="rect">
            <a:avLst/>
          </a:prstGeom>
          <a:noFill/>
          <a:ln/>
        </p:spPr>
        <p:txBody>
          <a:bodyPr wrap="square" rtlCol="0" anchor="ctr"/>
          <a:lstStyle/>
          <a:p>
            <a:pPr algn="ctr" indent="0" marL="0">
              <a:buNone/>
            </a:pPr>
            <a:r>
              <a:rPr lang="en-US" sz="1300" b="1" dirty="0">
                <a:solidFill>
                  <a:srgbClr val="9A6B2C"/>
                </a:solidFill>
                <a:latin typeface="Cambria" pitchFamily="34" charset="0"/>
                <a:ea typeface="Cambria" pitchFamily="34" charset="-122"/>
                <a:cs typeface="Cambria" pitchFamily="34" charset="-120"/>
              </a:rPr>
              <a:t>2</a:t>
            </a:r>
            <a:endParaRPr lang="en-US" sz="1300" dirty="0"/>
          </a:p>
        </p:txBody>
      </p:sp>
      <p:sp>
        <p:nvSpPr>
          <p:cNvPr id="11" name="Text 8"/>
          <p:cNvSpPr/>
          <p:nvPr/>
        </p:nvSpPr>
        <p:spPr>
          <a:xfrm>
            <a:off x="1188720" y="2404872"/>
            <a:ext cx="1014984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Build a trading rule: 1 if 50 day is above 200 day, 0 otherwise.</a:t>
            </a:r>
            <a:endParaRPr lang="en-US" sz="1400" dirty="0"/>
          </a:p>
        </p:txBody>
      </p:sp>
      <p:sp>
        <p:nvSpPr>
          <p:cNvPr id="12" name="Shape 9"/>
          <p:cNvSpPr/>
          <p:nvPr/>
        </p:nvSpPr>
        <p:spPr>
          <a:xfrm>
            <a:off x="685800" y="2962656"/>
            <a:ext cx="329184" cy="329184"/>
          </a:xfrm>
          <a:prstGeom prst="ellipse">
            <a:avLst/>
          </a:prstGeom>
          <a:solidFill>
            <a:srgbClr val="1C2B52"/>
          </a:solidFill>
          <a:ln/>
        </p:spPr>
      </p:sp>
      <p:sp>
        <p:nvSpPr>
          <p:cNvPr id="13" name="Text 10"/>
          <p:cNvSpPr/>
          <p:nvPr/>
        </p:nvSpPr>
        <p:spPr>
          <a:xfrm>
            <a:off x="685800" y="2962656"/>
            <a:ext cx="329184" cy="329184"/>
          </a:xfrm>
          <a:prstGeom prst="rect">
            <a:avLst/>
          </a:prstGeom>
          <a:noFill/>
          <a:ln/>
        </p:spPr>
        <p:txBody>
          <a:bodyPr wrap="square" rtlCol="0" anchor="ctr"/>
          <a:lstStyle/>
          <a:p>
            <a:pPr algn="ctr" indent="0" marL="0">
              <a:buNone/>
            </a:pPr>
            <a:r>
              <a:rPr lang="en-US" sz="1300" b="1" dirty="0">
                <a:solidFill>
                  <a:srgbClr val="9A6B2C"/>
                </a:solidFill>
                <a:latin typeface="Cambria" pitchFamily="34" charset="0"/>
                <a:ea typeface="Cambria" pitchFamily="34" charset="-122"/>
                <a:cs typeface="Cambria" pitchFamily="34" charset="-120"/>
              </a:rPr>
              <a:t>3</a:t>
            </a:r>
            <a:endParaRPr lang="en-US" sz="1300" dirty="0"/>
          </a:p>
        </p:txBody>
      </p:sp>
      <p:sp>
        <p:nvSpPr>
          <p:cNvPr id="14" name="Text 11"/>
          <p:cNvSpPr/>
          <p:nvPr/>
        </p:nvSpPr>
        <p:spPr>
          <a:xfrm>
            <a:off x="1188720" y="2935224"/>
            <a:ext cx="1014984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Lag the rule by one period, so it reflects what you could actually have known.</a:t>
            </a:r>
            <a:endParaRPr lang="en-US" sz="1400" dirty="0"/>
          </a:p>
        </p:txBody>
      </p:sp>
      <p:sp>
        <p:nvSpPr>
          <p:cNvPr id="15" name="Shape 12"/>
          <p:cNvSpPr/>
          <p:nvPr/>
        </p:nvSpPr>
        <p:spPr>
          <a:xfrm>
            <a:off x="685800" y="3493008"/>
            <a:ext cx="329184" cy="329184"/>
          </a:xfrm>
          <a:prstGeom prst="ellipse">
            <a:avLst/>
          </a:prstGeom>
          <a:solidFill>
            <a:srgbClr val="1C2B52"/>
          </a:solidFill>
          <a:ln/>
        </p:spPr>
      </p:sp>
      <p:sp>
        <p:nvSpPr>
          <p:cNvPr id="16" name="Text 13"/>
          <p:cNvSpPr/>
          <p:nvPr/>
        </p:nvSpPr>
        <p:spPr>
          <a:xfrm>
            <a:off x="685800" y="3493008"/>
            <a:ext cx="329184" cy="329184"/>
          </a:xfrm>
          <a:prstGeom prst="rect">
            <a:avLst/>
          </a:prstGeom>
          <a:noFill/>
          <a:ln/>
        </p:spPr>
        <p:txBody>
          <a:bodyPr wrap="square" rtlCol="0" anchor="ctr"/>
          <a:lstStyle/>
          <a:p>
            <a:pPr algn="ctr" indent="0" marL="0">
              <a:buNone/>
            </a:pPr>
            <a:r>
              <a:rPr lang="en-US" sz="1300" b="1" dirty="0">
                <a:solidFill>
                  <a:srgbClr val="9A6B2C"/>
                </a:solidFill>
                <a:latin typeface="Cambria" pitchFamily="34" charset="0"/>
                <a:ea typeface="Cambria" pitchFamily="34" charset="-122"/>
                <a:cs typeface="Cambria" pitchFamily="34" charset="-120"/>
              </a:rPr>
              <a:t>4</a:t>
            </a:r>
            <a:endParaRPr lang="en-US" sz="1300" dirty="0"/>
          </a:p>
        </p:txBody>
      </p:sp>
      <p:sp>
        <p:nvSpPr>
          <p:cNvPr id="17" name="Text 14"/>
          <p:cNvSpPr/>
          <p:nvPr/>
        </p:nvSpPr>
        <p:spPr>
          <a:xfrm>
            <a:off x="1188720" y="3465576"/>
            <a:ext cx="1014984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Backtest: multiply the rule by daily returns and review cumulative performance.</a:t>
            </a:r>
            <a:endParaRPr lang="en-US" sz="1400" dirty="0"/>
          </a:p>
        </p:txBody>
      </p:sp>
      <p:sp>
        <p:nvSpPr>
          <p:cNvPr id="18" name="Shape 15"/>
          <p:cNvSpPr/>
          <p:nvPr/>
        </p:nvSpPr>
        <p:spPr>
          <a:xfrm>
            <a:off x="685800" y="4023360"/>
            <a:ext cx="329184" cy="329184"/>
          </a:xfrm>
          <a:prstGeom prst="ellipse">
            <a:avLst/>
          </a:prstGeom>
          <a:solidFill>
            <a:srgbClr val="9A6B2C"/>
          </a:solidFill>
          <a:ln/>
        </p:spPr>
      </p:sp>
      <p:sp>
        <p:nvSpPr>
          <p:cNvPr id="19" name="Text 16"/>
          <p:cNvSpPr/>
          <p:nvPr/>
        </p:nvSpPr>
        <p:spPr>
          <a:xfrm>
            <a:off x="685800" y="4023360"/>
            <a:ext cx="329184" cy="329184"/>
          </a:xfrm>
          <a:prstGeom prst="rect">
            <a:avLst/>
          </a:prstGeom>
          <a:noFill/>
          <a:ln/>
        </p:spPr>
        <p:txBody>
          <a:bodyPr wrap="square" rtlCol="0" anchor="ctr"/>
          <a:lstStyle/>
          <a:p>
            <a:pPr algn="ctr" indent="0" marL="0">
              <a:buNone/>
            </a:pPr>
            <a:r>
              <a:rPr lang="en-US" sz="1300" b="1" dirty="0">
                <a:solidFill>
                  <a:srgbClr val="14213D"/>
                </a:solidFill>
                <a:latin typeface="Cambria" pitchFamily="34" charset="0"/>
                <a:ea typeface="Cambria" pitchFamily="34" charset="-122"/>
                <a:cs typeface="Cambria" pitchFamily="34" charset="-120"/>
              </a:rPr>
              <a:t>5</a:t>
            </a:r>
            <a:endParaRPr lang="en-US" sz="1300" dirty="0"/>
          </a:p>
        </p:txBody>
      </p:sp>
      <p:sp>
        <p:nvSpPr>
          <p:cNvPr id="20" name="Text 17"/>
          <p:cNvSpPr/>
          <p:nvPr/>
        </p:nvSpPr>
        <p:spPr>
          <a:xfrm>
            <a:off x="1188720" y="3995928"/>
            <a:ext cx="10149840" cy="41148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Now flip one line: swap the 1 and the 0. Rerun the backtest.</a:t>
            </a:r>
            <a:endParaRPr lang="en-US" sz="1400" dirty="0"/>
          </a:p>
        </p:txBody>
      </p:sp>
      <p:sp>
        <p:nvSpPr>
          <p:cNvPr id="21" name="Text 18"/>
          <p:cNvSpPr/>
          <p:nvPr/>
        </p:nvSpPr>
        <p:spPr>
          <a:xfrm>
            <a:off x="640080" y="4709160"/>
            <a:ext cx="10789920" cy="731520"/>
          </a:xfrm>
          <a:prstGeom prst="rect">
            <a:avLst/>
          </a:prstGeom>
          <a:noFill/>
          <a:ln/>
        </p:spPr>
        <p:txBody>
          <a:bodyPr wrap="square" rtlCol="0" anchor="ctr"/>
          <a:lstStyle/>
          <a:p>
            <a:pPr indent="0" marL="0">
              <a:buNone/>
            </a:pPr>
            <a:r>
              <a:rPr lang="en-US" sz="1350" i="1" dirty="0">
                <a:solidFill>
                  <a:srgbClr val="9A6B2C"/>
                </a:solidFill>
                <a:latin typeface="Cambria" pitchFamily="34" charset="0"/>
                <a:ea typeface="Cambria" pitchFamily="34" charset="-122"/>
                <a:cs typeface="Cambria" pitchFamily="34" charset="-120"/>
              </a:rPr>
              <a:t>That last step, flipping one line and getting a materially different, and much worse, result, is the same shape of mistake as Knight Capital. The code ran. Nobody had reviewed what it actually did.</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indent="0" marL="0">
              <a:buNone/>
            </a:pPr>
            <a:r>
              <a:rPr lang="en-US" sz="2500" b="1" dirty="0">
                <a:solidFill>
                  <a:srgbClr val="14213D"/>
                </a:solidFill>
                <a:latin typeface="Cambria" pitchFamily="34" charset="0"/>
                <a:ea typeface="Cambria" pitchFamily="34" charset="-122"/>
                <a:cs typeface="Cambria" pitchFamily="34" charset="-120"/>
              </a:rPr>
              <a:t>MACD: momentum from two moving averages</a:t>
            </a:r>
            <a:endParaRPr lang="en-US" sz="2500" dirty="0"/>
          </a:p>
        </p:txBody>
      </p:sp>
      <p:sp>
        <p:nvSpPr>
          <p:cNvPr id="3" name="Text 1"/>
          <p:cNvSpPr/>
          <p:nvPr/>
        </p:nvSpPr>
        <p:spPr>
          <a:xfrm>
            <a:off x="548640" y="960120"/>
            <a:ext cx="10515600" cy="365760"/>
          </a:xfrm>
          <a:prstGeom prst="rect">
            <a:avLst/>
          </a:prstGeom>
          <a:noFill/>
          <a:ln/>
        </p:spPr>
        <p:txBody>
          <a:bodyPr wrap="square" rtlCol="0" anchor="ctr"/>
          <a:lstStyle/>
          <a:p>
            <a:pPr indent="0" marL="0">
              <a:buNone/>
            </a:pPr>
            <a:r>
              <a:rPr lang="en-US" sz="1350" i="1" dirty="0">
                <a:solidFill>
                  <a:srgbClr val="3A3F4B"/>
                </a:solidFill>
                <a:latin typeface="Calibri" pitchFamily="34" charset="0"/>
                <a:ea typeface="Calibri" pitchFamily="34" charset="-122"/>
                <a:cs typeface="Calibri" pitchFamily="34" charset="-120"/>
              </a:rPr>
              <a:t>Moving Average Convergence Divergence. Measures whether momentum is building or fading.</a:t>
            </a:r>
            <a:endParaRPr lang="en-US" sz="1350" dirty="0"/>
          </a:p>
        </p:txBody>
      </p:sp>
      <p:sp>
        <p:nvSpPr>
          <p:cNvPr id="4" name="Shape 2"/>
          <p:cNvSpPr/>
          <p:nvPr/>
        </p:nvSpPr>
        <p:spPr>
          <a:xfrm>
            <a:off x="548640" y="1508760"/>
            <a:ext cx="11064240" cy="868680"/>
          </a:xfrm>
          <a:prstGeom prst="roundRect">
            <a:avLst>
              <a:gd name="adj" fmla="val 7368"/>
            </a:avLst>
          </a:prstGeom>
          <a:solidFill>
            <a:srgbClr val="FFFFFF"/>
          </a:solidFill>
          <a:ln/>
          <a:effectLst>
            <a:outerShdw sx="100000" sy="100000" kx="0" ky="0" algn="bl" rotWithShape="0" blurRad="63500" dist="25400" dir="5400000">
              <a:srgbClr val="000000">
                <a:alpha val="7000"/>
              </a:srgbClr>
            </a:outerShdw>
          </a:effectLst>
        </p:spPr>
      </p:sp>
      <p:sp>
        <p:nvSpPr>
          <p:cNvPr id="5" name="Shape 3"/>
          <p:cNvSpPr/>
          <p:nvPr/>
        </p:nvSpPr>
        <p:spPr>
          <a:xfrm>
            <a:off x="749808" y="1728216"/>
            <a:ext cx="420624" cy="420624"/>
          </a:xfrm>
          <a:prstGeom prst="ellipse">
            <a:avLst/>
          </a:prstGeom>
          <a:solidFill>
            <a:srgbClr val="F1EEE3"/>
          </a:solidFill>
          <a:ln/>
        </p:spPr>
      </p:sp>
      <p:sp>
        <p:nvSpPr>
          <p:cNvPr id="6" name="Text 4"/>
          <p:cNvSpPr/>
          <p:nvPr/>
        </p:nvSpPr>
        <p:spPr>
          <a:xfrm>
            <a:off x="749808" y="1728216"/>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600200"/>
            <a:ext cx="9966960" cy="713232"/>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Calculate a fast average and a slow average (nFast, typically 12 periods, and nSlow, typically 26 periods). MACD conventionally uses EMA here, not SMA, because it is meant to catch a shift in momentum early.</a:t>
            </a:r>
            <a:endParaRPr lang="en-US" sz="1300" dirty="0"/>
          </a:p>
        </p:txBody>
      </p:sp>
      <p:sp>
        <p:nvSpPr>
          <p:cNvPr id="8" name="Shape 6"/>
          <p:cNvSpPr/>
          <p:nvPr/>
        </p:nvSpPr>
        <p:spPr>
          <a:xfrm>
            <a:off x="548640" y="2496312"/>
            <a:ext cx="11064240" cy="868680"/>
          </a:xfrm>
          <a:prstGeom prst="roundRect">
            <a:avLst>
              <a:gd name="adj" fmla="val 7368"/>
            </a:avLst>
          </a:prstGeom>
          <a:solidFill>
            <a:srgbClr val="FFFFFF"/>
          </a:solidFill>
          <a:ln/>
          <a:effectLst>
            <a:outerShdw sx="100000" sy="100000" kx="0" ky="0" algn="bl" rotWithShape="0" blurRad="63500" dist="25400" dir="5400000">
              <a:srgbClr val="000000">
                <a:alpha val="7000"/>
              </a:srgbClr>
            </a:outerShdw>
          </a:effectLst>
        </p:spPr>
      </p:sp>
      <p:sp>
        <p:nvSpPr>
          <p:cNvPr id="9" name="Shape 7"/>
          <p:cNvSpPr/>
          <p:nvPr/>
        </p:nvSpPr>
        <p:spPr>
          <a:xfrm>
            <a:off x="749808" y="2715768"/>
            <a:ext cx="420624" cy="420624"/>
          </a:xfrm>
          <a:prstGeom prst="ellipse">
            <a:avLst/>
          </a:prstGeom>
          <a:solidFill>
            <a:srgbClr val="F1EEE3"/>
          </a:solidFill>
          <a:ln/>
        </p:spPr>
      </p:sp>
      <p:sp>
        <p:nvSpPr>
          <p:cNvPr id="10" name="Text 8"/>
          <p:cNvSpPr/>
          <p:nvPr/>
        </p:nvSpPr>
        <p:spPr>
          <a:xfrm>
            <a:off x="749808" y="2715768"/>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417320" y="2587752"/>
            <a:ext cx="9966960" cy="713232"/>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Subtract: fast minus slow. This difference is the MACD line.</a:t>
            </a:r>
            <a:endParaRPr lang="en-US" sz="1300" dirty="0"/>
          </a:p>
        </p:txBody>
      </p:sp>
      <p:sp>
        <p:nvSpPr>
          <p:cNvPr id="12" name="Shape 10"/>
          <p:cNvSpPr/>
          <p:nvPr/>
        </p:nvSpPr>
        <p:spPr>
          <a:xfrm>
            <a:off x="548640" y="3483864"/>
            <a:ext cx="11064240" cy="868680"/>
          </a:xfrm>
          <a:prstGeom prst="roundRect">
            <a:avLst>
              <a:gd name="adj" fmla="val 7368"/>
            </a:avLst>
          </a:prstGeom>
          <a:solidFill>
            <a:srgbClr val="FFFFFF"/>
          </a:solidFill>
          <a:ln/>
          <a:effectLst>
            <a:outerShdw sx="100000" sy="100000" kx="0" ky="0" algn="bl" rotWithShape="0" blurRad="63500" dist="25400" dir="5400000">
              <a:srgbClr val="000000">
                <a:alpha val="7000"/>
              </a:srgbClr>
            </a:outerShdw>
          </a:effectLst>
        </p:spPr>
      </p:sp>
      <p:sp>
        <p:nvSpPr>
          <p:cNvPr id="13" name="Shape 11"/>
          <p:cNvSpPr/>
          <p:nvPr/>
        </p:nvSpPr>
        <p:spPr>
          <a:xfrm>
            <a:off x="749808" y="3703320"/>
            <a:ext cx="420624" cy="420624"/>
          </a:xfrm>
          <a:prstGeom prst="ellipse">
            <a:avLst/>
          </a:prstGeom>
          <a:solidFill>
            <a:srgbClr val="F1EEE3"/>
          </a:solidFill>
          <a:ln/>
        </p:spPr>
      </p:sp>
      <p:sp>
        <p:nvSpPr>
          <p:cNvPr id="14" name="Text 12"/>
          <p:cNvSpPr/>
          <p:nvPr/>
        </p:nvSpPr>
        <p:spPr>
          <a:xfrm>
            <a:off x="749808" y="3703320"/>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417320" y="3575304"/>
            <a:ext cx="9966960" cy="713232"/>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Calculate a signal line: a further EMA (nSig, typically 9 periods) of that difference.</a:t>
            </a:r>
            <a:endParaRPr lang="en-US" sz="1300" dirty="0"/>
          </a:p>
        </p:txBody>
      </p:sp>
      <p:sp>
        <p:nvSpPr>
          <p:cNvPr id="16" name="Shape 14"/>
          <p:cNvSpPr/>
          <p:nvPr/>
        </p:nvSpPr>
        <p:spPr>
          <a:xfrm>
            <a:off x="548640" y="4471416"/>
            <a:ext cx="11064240" cy="868680"/>
          </a:xfrm>
          <a:prstGeom prst="roundRect">
            <a:avLst>
              <a:gd name="adj" fmla="val 7368"/>
            </a:avLst>
          </a:prstGeom>
          <a:solidFill>
            <a:srgbClr val="FFFFFF"/>
          </a:solidFill>
          <a:ln/>
          <a:effectLst>
            <a:outerShdw sx="100000" sy="100000" kx="0" ky="0" algn="bl" rotWithShape="0" blurRad="63500" dist="25400" dir="5400000">
              <a:srgbClr val="000000">
                <a:alpha val="7000"/>
              </a:srgbClr>
            </a:outerShdw>
          </a:effectLst>
        </p:spPr>
      </p:sp>
      <p:sp>
        <p:nvSpPr>
          <p:cNvPr id="17" name="Shape 15"/>
          <p:cNvSpPr/>
          <p:nvPr/>
        </p:nvSpPr>
        <p:spPr>
          <a:xfrm>
            <a:off x="749808" y="4690872"/>
            <a:ext cx="420624" cy="420624"/>
          </a:xfrm>
          <a:prstGeom prst="ellipse">
            <a:avLst/>
          </a:prstGeom>
          <a:solidFill>
            <a:srgbClr val="F1EEE3"/>
          </a:solidFill>
          <a:ln/>
        </p:spPr>
      </p:sp>
      <p:sp>
        <p:nvSpPr>
          <p:cNvPr id="18" name="Text 16"/>
          <p:cNvSpPr/>
          <p:nvPr/>
        </p:nvSpPr>
        <p:spPr>
          <a:xfrm>
            <a:off x="749808" y="4690872"/>
            <a:ext cx="420624" cy="420624"/>
          </a:xfrm>
          <a:prstGeom prst="rect">
            <a:avLst/>
          </a:prstGeom>
          <a:noFill/>
          <a:ln/>
        </p:spPr>
        <p:txBody>
          <a:bodyPr wrap="square" rtlCol="0" anchor="ctr"/>
          <a:lstStyle/>
          <a:p>
            <a:pPr algn="ctr" indent="0" marL="0">
              <a:buNone/>
            </a:pPr>
            <a:r>
              <a:rPr lang="en-US" sz="1600" b="1" dirty="0">
                <a:solidFill>
                  <a:srgbClr val="9A6B2C"/>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417320" y="4562856"/>
            <a:ext cx="9966960" cy="713232"/>
          </a:xfrm>
          <a:prstGeom prst="rect">
            <a:avLst/>
          </a:prstGeom>
          <a:noFill/>
          <a:ln/>
        </p:spPr>
        <p:txBody>
          <a:bodyPr wrap="square" rtlCol="0" anchor="ctr"/>
          <a:lstStyle/>
          <a:p>
            <a:pPr indent="0" marL="0">
              <a:buNone/>
            </a:pPr>
            <a:r>
              <a:rPr lang="en-US" sz="1300" dirty="0">
                <a:solidFill>
                  <a:srgbClr val="3A3F4B"/>
                </a:solidFill>
                <a:latin typeface="Calibri" pitchFamily="34" charset="0"/>
                <a:ea typeface="Calibri" pitchFamily="34" charset="-122"/>
                <a:cs typeface="Calibri" pitchFamily="34" charset="-120"/>
              </a:rPr>
              <a:t>When MACD rises above the signal line, momentum is accelerating. That is read as a buy signal. The reverse is a sell signal.</a:t>
            </a:r>
            <a:endParaRPr lang="en-US" sz="1300" dirty="0"/>
          </a:p>
        </p:txBody>
      </p:sp>
      <p:sp>
        <p:nvSpPr>
          <p:cNvPr id="20" name="Text 18"/>
          <p:cNvSpPr/>
          <p:nvPr/>
        </p:nvSpPr>
        <p:spPr>
          <a:xfrm>
            <a:off x="548640" y="5532120"/>
            <a:ext cx="10972800" cy="457200"/>
          </a:xfrm>
          <a:prstGeom prst="rect">
            <a:avLst/>
          </a:prstGeom>
          <a:noFill/>
          <a:ln/>
        </p:spPr>
        <p:txBody>
          <a:bodyPr wrap="square" rtlCol="0" anchor="ctr"/>
          <a:lstStyle/>
          <a:p>
            <a:pPr indent="0" marL="0">
              <a:buNone/>
            </a:pPr>
            <a:r>
              <a:rPr lang="en-US" sz="1250" i="1" dirty="0">
                <a:solidFill>
                  <a:srgbClr val="8A8577"/>
                </a:solidFill>
                <a:latin typeface="Calibri" pitchFamily="34" charset="0"/>
                <a:ea typeface="Calibri" pitchFamily="34" charset="-122"/>
                <a:cs typeface="Calibri" pitchFamily="34" charset="-120"/>
              </a:rPr>
              <a:t>Reminder: MACD does not buy low and sell high. It buys high and sells higher. It will never capture the exact top or bottom.</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9601200" cy="54864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Script D_TTR.R: calculate and visualize MACD</a:t>
            </a:r>
            <a:endParaRPr lang="en-US" sz="2400" dirty="0"/>
          </a:p>
        </p:txBody>
      </p:sp>
      <p:sp>
        <p:nvSpPr>
          <p:cNvPr id="5" name="Shape 2"/>
          <p:cNvSpPr/>
          <p:nvPr/>
        </p:nvSpPr>
        <p:spPr>
          <a:xfrm>
            <a:off x="685800" y="1627632"/>
            <a:ext cx="128016" cy="128016"/>
          </a:xfrm>
          <a:prstGeom prst="ellipse">
            <a:avLst/>
          </a:prstGeom>
          <a:solidFill>
            <a:srgbClr val="9A6B2C"/>
          </a:solidFill>
          <a:ln/>
        </p:spPr>
      </p:sp>
      <p:sp>
        <p:nvSpPr>
          <p:cNvPr id="6" name="Text 3"/>
          <p:cNvSpPr/>
          <p:nvPr/>
        </p:nvSpPr>
        <p:spPr>
          <a:xfrm>
            <a:off x="1005840" y="1554480"/>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Calculate MACD by hand using both SMA and EMA, then confirm each against TTR::MACD().</a:t>
            </a:r>
            <a:endParaRPr lang="en-US" sz="1500" dirty="0"/>
          </a:p>
        </p:txBody>
      </p:sp>
      <p:sp>
        <p:nvSpPr>
          <p:cNvPr id="7" name="Shape 4"/>
          <p:cNvSpPr/>
          <p:nvPr/>
        </p:nvSpPr>
        <p:spPr>
          <a:xfrm>
            <a:off x="685800" y="2286000"/>
            <a:ext cx="128016" cy="128016"/>
          </a:xfrm>
          <a:prstGeom prst="ellipse">
            <a:avLst/>
          </a:prstGeom>
          <a:solidFill>
            <a:srgbClr val="9A6B2C"/>
          </a:solidFill>
          <a:ln/>
        </p:spPr>
      </p:sp>
      <p:sp>
        <p:nvSpPr>
          <p:cNvPr id="8" name="Text 5"/>
          <p:cNvSpPr/>
          <p:nvPr/>
        </p:nvSpPr>
        <p:spPr>
          <a:xfrm>
            <a:off x="1005840" y="2212848"/>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Plot the two MACD lines together and see where they disagree.</a:t>
            </a:r>
            <a:endParaRPr lang="en-US" sz="1500" dirty="0"/>
          </a:p>
        </p:txBody>
      </p:sp>
      <p:sp>
        <p:nvSpPr>
          <p:cNvPr id="9" name="Shape 6"/>
          <p:cNvSpPr/>
          <p:nvPr/>
        </p:nvSpPr>
        <p:spPr>
          <a:xfrm>
            <a:off x="685800" y="2944368"/>
            <a:ext cx="128016" cy="128016"/>
          </a:xfrm>
          <a:prstGeom prst="ellipse">
            <a:avLst/>
          </a:prstGeom>
          <a:solidFill>
            <a:srgbClr val="9A6B2C"/>
          </a:solidFill>
          <a:ln/>
        </p:spPr>
      </p:sp>
      <p:sp>
        <p:nvSpPr>
          <p:cNvPr id="10" name="Text 7"/>
          <p:cNvSpPr/>
          <p:nvPr/>
        </p:nvSpPr>
        <p:spPr>
          <a:xfrm>
            <a:off x="1005840" y="2871216"/>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Plot a dynamic, stacked chart of price and the EMA based MACD, the version we carry forward.</a:t>
            </a:r>
            <a:endParaRPr lang="en-US" sz="1500" dirty="0"/>
          </a:p>
        </p:txBody>
      </p:sp>
      <p:sp>
        <p:nvSpPr>
          <p:cNvPr id="11" name="Shape 8"/>
          <p:cNvSpPr/>
          <p:nvPr/>
        </p:nvSpPr>
        <p:spPr>
          <a:xfrm>
            <a:off x="685800" y="3602736"/>
            <a:ext cx="128016" cy="128016"/>
          </a:xfrm>
          <a:prstGeom prst="ellipse">
            <a:avLst/>
          </a:prstGeom>
          <a:solidFill>
            <a:srgbClr val="9A6B2C"/>
          </a:solidFill>
          <a:ln/>
        </p:spPr>
      </p:sp>
      <p:sp>
        <p:nvSpPr>
          <p:cNvPr id="12" name="Text 9"/>
          <p:cNvSpPr/>
          <p:nvPr/>
        </p:nvSpPr>
        <p:spPr>
          <a:xfrm>
            <a:off x="1005840" y="3529584"/>
            <a:ext cx="10241280" cy="50292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Calculate the cumulative return the EMA based indicator would have produced.</a:t>
            </a:r>
            <a:endParaRPr lang="en-US" sz="1500" dirty="0"/>
          </a:p>
        </p:txBody>
      </p:sp>
      <p:sp>
        <p:nvSpPr>
          <p:cNvPr id="13" name="Text 10"/>
          <p:cNvSpPr/>
          <p:nvPr/>
        </p:nvSpPr>
        <p:spPr>
          <a:xfrm>
            <a:off x="640080" y="4572000"/>
            <a:ext cx="10789920" cy="548640"/>
          </a:xfrm>
          <a:prstGeom prst="rect">
            <a:avLst/>
          </a:prstGeom>
          <a:noFill/>
          <a:ln/>
        </p:spPr>
        <p:txBody>
          <a:bodyPr wrap="square" rtlCol="0" anchor="ctr"/>
          <a:lstStyle/>
          <a:p>
            <a:pPr indent="0" marL="0">
              <a:buNone/>
            </a:pPr>
            <a:r>
              <a:rPr lang="en-US" sz="1350" i="1" dirty="0">
                <a:solidFill>
                  <a:srgbClr val="9A6B2C"/>
                </a:solidFill>
                <a:latin typeface="Calibri" pitchFamily="34" charset="0"/>
                <a:ea typeface="Calibri" pitchFamily="34" charset="-122"/>
                <a:cs typeface="Calibri" pitchFamily="34" charset="-120"/>
              </a:rPr>
              <a:t>This script now calculates both versions side by side, then continues with EMA for the backtest, since that is what most trading platforms compute by default.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RSI: a momentum oscillator</a:t>
            </a:r>
            <a:endParaRPr lang="en-US" sz="2600" dirty="0"/>
          </a:p>
        </p:txBody>
      </p:sp>
      <p:sp>
        <p:nvSpPr>
          <p:cNvPr id="3" name="Shape 1"/>
          <p:cNvSpPr/>
          <p:nvPr/>
        </p:nvSpPr>
        <p:spPr>
          <a:xfrm>
            <a:off x="548640" y="1188720"/>
            <a:ext cx="5349240" cy="2468880"/>
          </a:xfrm>
          <a:prstGeom prst="roundRect">
            <a:avLst>
              <a:gd name="adj" fmla="val 2963"/>
            </a:avLst>
          </a:prstGeom>
          <a:solidFill>
            <a:srgbClr val="FFFFFF"/>
          </a:solidFill>
          <a:ln/>
          <a:effectLst>
            <a:outerShdw sx="100000" sy="100000" kx="0" ky="0" algn="bl" rotWithShape="0" blurRad="63500" dist="25400" dir="5400000">
              <a:srgbClr val="000000">
                <a:alpha val="8000"/>
              </a:srgbClr>
            </a:outerShdw>
          </a:effectLst>
        </p:spPr>
      </p:sp>
      <p:sp>
        <p:nvSpPr>
          <p:cNvPr id="4" name="Text 2"/>
          <p:cNvSpPr/>
          <p:nvPr/>
        </p:nvSpPr>
        <p:spPr>
          <a:xfrm>
            <a:off x="822960" y="1371600"/>
            <a:ext cx="484632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What it measures</a:t>
            </a:r>
            <a:endParaRPr lang="en-US" sz="1500" dirty="0"/>
          </a:p>
        </p:txBody>
      </p:sp>
      <p:sp>
        <p:nvSpPr>
          <p:cNvPr id="5" name="Text 3"/>
          <p:cNvSpPr/>
          <p:nvPr/>
        </p:nvSpPr>
        <p:spPr>
          <a:xfrm>
            <a:off x="822960" y="1783080"/>
            <a:ext cx="4846320" cy="1097280"/>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An index between 0 and 100, comparing average gains to average losses over a window, typically 14 periods. Below 30 is read as oversold. Above 70 is read as overbought.</a:t>
            </a:r>
            <a:endParaRPr lang="en-US" sz="1250" dirty="0"/>
          </a:p>
        </p:txBody>
      </p:sp>
      <p:sp>
        <p:nvSpPr>
          <p:cNvPr id="6" name="Text 4"/>
          <p:cNvSpPr/>
          <p:nvPr/>
        </p:nvSpPr>
        <p:spPr>
          <a:xfrm>
            <a:off x="822960" y="2926080"/>
            <a:ext cx="4846320" cy="685800"/>
          </a:xfrm>
          <a:prstGeom prst="rect">
            <a:avLst/>
          </a:prstGeom>
          <a:noFill/>
          <a:ln/>
        </p:spPr>
        <p:txBody>
          <a:bodyPr wrap="square" rtlCol="0" anchor="ctr"/>
          <a:lstStyle/>
          <a:p>
            <a:pPr indent="0" marL="0">
              <a:buNone/>
            </a:pPr>
            <a:r>
              <a:rPr lang="en-US" sz="1250" dirty="0">
                <a:solidFill>
                  <a:srgbClr val="14213D"/>
                </a:solidFill>
                <a:latin typeface="Courier New" pitchFamily="34" charset="0"/>
                <a:ea typeface="Courier New" pitchFamily="34" charset="-122"/>
                <a:cs typeface="Courier New" pitchFamily="34" charset="-120"/>
              </a:rPr>
              <a:t>RS = Avg Gain / Avg Loss</a:t>
            </a:r>
            <a:endParaRPr lang="en-US" sz="1250" dirty="0"/>
          </a:p>
          <a:p>
            <a:pPr indent="0" marL="0">
              <a:buNone/>
            </a:pPr>
            <a:r>
              <a:rPr lang="en-US" sz="1250" dirty="0">
                <a:solidFill>
                  <a:srgbClr val="14213D"/>
                </a:solidFill>
                <a:latin typeface="Courier New" pitchFamily="34" charset="0"/>
                <a:ea typeface="Courier New" pitchFamily="34" charset="-122"/>
                <a:cs typeface="Courier New" pitchFamily="34" charset="-120"/>
              </a:rPr>
              <a:t>RSI = 100 minus (100 divided by 1 plus RS)</a:t>
            </a:r>
            <a:endParaRPr lang="en-US" sz="1250" dirty="0"/>
          </a:p>
        </p:txBody>
      </p:sp>
      <p:sp>
        <p:nvSpPr>
          <p:cNvPr id="7" name="Shape 5"/>
          <p:cNvSpPr/>
          <p:nvPr/>
        </p:nvSpPr>
        <p:spPr>
          <a:xfrm>
            <a:off x="6172200" y="1188720"/>
            <a:ext cx="5440680" cy="2468880"/>
          </a:xfrm>
          <a:prstGeom prst="roundRect">
            <a:avLst>
              <a:gd name="adj" fmla="val 2963"/>
            </a:avLst>
          </a:prstGeom>
          <a:solidFill>
            <a:srgbClr val="14213D"/>
          </a:solidFill>
          <a:ln/>
        </p:spPr>
      </p:sp>
      <p:sp>
        <p:nvSpPr>
          <p:cNvPr id="8" name="Text 6"/>
          <p:cNvSpPr/>
          <p:nvPr/>
        </p:nvSpPr>
        <p:spPr>
          <a:xfrm>
            <a:off x="6446520" y="1371600"/>
            <a:ext cx="4937760" cy="365760"/>
          </a:xfrm>
          <a:prstGeom prst="rect">
            <a:avLst/>
          </a:prstGeom>
          <a:noFill/>
          <a:ln/>
        </p:spPr>
        <p:txBody>
          <a:bodyPr wrap="square" rtlCol="0" anchor="ctr"/>
          <a:lstStyle/>
          <a:p>
            <a:pPr indent="0" marL="0">
              <a:buNone/>
            </a:pPr>
            <a:r>
              <a:rPr lang="en-US" sz="1500" b="1" dirty="0">
                <a:solidFill>
                  <a:srgbClr val="9A6B2C"/>
                </a:solidFill>
                <a:latin typeface="Cambria" pitchFamily="34" charset="0"/>
                <a:ea typeface="Cambria" pitchFamily="34" charset="-122"/>
                <a:cs typeface="Cambria" pitchFamily="34" charset="-120"/>
              </a:rPr>
              <a:t>Why the window size matters</a:t>
            </a:r>
            <a:endParaRPr lang="en-US" sz="1500" dirty="0"/>
          </a:p>
        </p:txBody>
      </p:sp>
      <p:sp>
        <p:nvSpPr>
          <p:cNvPr id="9" name="Text 7"/>
          <p:cNvSpPr/>
          <p:nvPr/>
        </p:nvSpPr>
        <p:spPr>
          <a:xfrm>
            <a:off x="6446520" y="1783080"/>
            <a:ext cx="4937760" cy="1188720"/>
          </a:xfrm>
          <a:prstGeom prst="rect">
            <a:avLst/>
          </a:prstGeom>
          <a:noFill/>
          <a:ln/>
        </p:spPr>
        <p:txBody>
          <a:bodyPr wrap="square" rtlCol="0" anchor="ctr"/>
          <a:lstStyle/>
          <a:p>
            <a:pPr indent="0" marL="0">
              <a:buNone/>
            </a:pPr>
            <a:r>
              <a:rPr lang="en-US" sz="1250" dirty="0">
                <a:solidFill>
                  <a:srgbClr val="E4E9F5"/>
                </a:solidFill>
                <a:latin typeface="Calibri" pitchFamily="34" charset="0"/>
                <a:ea typeface="Calibri" pitchFamily="34" charset="-122"/>
                <a:cs typeface="Calibri" pitchFamily="34" charset="-120"/>
              </a:rPr>
              <a:t>Avg Gain and Avg Loss both divide by the same window (n, typically 14), not by a separate count of up days or down days. That shared denominator is what keeps the ratio meaningful.</a:t>
            </a:r>
            <a:endParaRPr lang="en-US" sz="1250" dirty="0"/>
          </a:p>
        </p:txBody>
      </p:sp>
      <p:sp>
        <p:nvSpPr>
          <p:cNvPr id="10" name="Text 8"/>
          <p:cNvSpPr/>
          <p:nvPr/>
        </p:nvSpPr>
        <p:spPr>
          <a:xfrm>
            <a:off x="6446520" y="3017520"/>
            <a:ext cx="4937760" cy="54864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We use SMA for this calculation, matching the scripts. EMA is more common in practice.</a:t>
            </a:r>
            <a:endParaRPr lang="en-US" sz="1100" dirty="0"/>
          </a:p>
        </p:txBody>
      </p:sp>
      <p:sp>
        <p:nvSpPr>
          <p:cNvPr id="11" name="Text 9"/>
          <p:cNvSpPr/>
          <p:nvPr/>
        </p:nvSpPr>
        <p:spPr>
          <a:xfrm>
            <a:off x="548640" y="3840480"/>
            <a:ext cx="7315200" cy="36576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Worked example, n = 14 throughout</a:t>
            </a:r>
            <a:endParaRPr lang="en-US" sz="1500" dirty="0"/>
          </a:p>
        </p:txBody>
      </p:sp>
      <p:sp>
        <p:nvSpPr>
          <p:cNvPr id="12" name="Shape 10"/>
          <p:cNvSpPr/>
          <p:nvPr/>
        </p:nvSpPr>
        <p:spPr>
          <a:xfrm>
            <a:off x="548640" y="4251960"/>
            <a:ext cx="10972800" cy="384048"/>
          </a:xfrm>
          <a:prstGeom prst="rect">
            <a:avLst/>
          </a:prstGeom>
          <a:solidFill>
            <a:srgbClr val="14213D"/>
          </a:solidFill>
          <a:ln/>
        </p:spPr>
      </p:sp>
      <p:sp>
        <p:nvSpPr>
          <p:cNvPr id="13" name="Text 11"/>
          <p:cNvSpPr/>
          <p:nvPr/>
        </p:nvSpPr>
        <p:spPr>
          <a:xfrm>
            <a:off x="685800" y="4251960"/>
            <a:ext cx="2011680" cy="38404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Case</a:t>
            </a:r>
            <a:endParaRPr lang="en-US" sz="1250" dirty="0"/>
          </a:p>
        </p:txBody>
      </p:sp>
      <p:sp>
        <p:nvSpPr>
          <p:cNvPr id="14" name="Text 12"/>
          <p:cNvSpPr/>
          <p:nvPr/>
        </p:nvSpPr>
        <p:spPr>
          <a:xfrm>
            <a:off x="2880360" y="4251960"/>
            <a:ext cx="2011680" cy="38404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Total gain</a:t>
            </a:r>
            <a:endParaRPr lang="en-US" sz="1250" dirty="0"/>
          </a:p>
        </p:txBody>
      </p:sp>
      <p:sp>
        <p:nvSpPr>
          <p:cNvPr id="15" name="Text 13"/>
          <p:cNvSpPr/>
          <p:nvPr/>
        </p:nvSpPr>
        <p:spPr>
          <a:xfrm>
            <a:off x="5074920" y="4251960"/>
            <a:ext cx="2011680" cy="38404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Total loss</a:t>
            </a:r>
            <a:endParaRPr lang="en-US" sz="1250" dirty="0"/>
          </a:p>
        </p:txBody>
      </p:sp>
      <p:sp>
        <p:nvSpPr>
          <p:cNvPr id="16" name="Text 14"/>
          <p:cNvSpPr/>
          <p:nvPr/>
        </p:nvSpPr>
        <p:spPr>
          <a:xfrm>
            <a:off x="7269480" y="4251960"/>
            <a:ext cx="2011680" cy="384048"/>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RS</a:t>
            </a:r>
            <a:endParaRPr lang="en-US" sz="1250" dirty="0"/>
          </a:p>
        </p:txBody>
      </p:sp>
      <p:sp>
        <p:nvSpPr>
          <p:cNvPr id="17" name="Text 15"/>
          <p:cNvSpPr/>
          <p:nvPr/>
        </p:nvSpPr>
        <p:spPr>
          <a:xfrm>
            <a:off x="9464040" y="4251960"/>
            <a:ext cx="2011680" cy="384048"/>
          </a:xfrm>
          <a:prstGeom prst="rect">
            <a:avLst/>
          </a:prstGeom>
          <a:noFill/>
          <a:ln/>
        </p:spPr>
        <p:txBody>
          <a:bodyPr wrap="square"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RSI</a:t>
            </a:r>
            <a:endParaRPr lang="en-US" sz="1250" dirty="0"/>
          </a:p>
        </p:txBody>
      </p:sp>
      <p:sp>
        <p:nvSpPr>
          <p:cNvPr id="18" name="Shape 16"/>
          <p:cNvSpPr/>
          <p:nvPr/>
        </p:nvSpPr>
        <p:spPr>
          <a:xfrm>
            <a:off x="548640" y="4672584"/>
            <a:ext cx="10972800" cy="384048"/>
          </a:xfrm>
          <a:prstGeom prst="rect">
            <a:avLst/>
          </a:prstGeom>
          <a:solidFill>
            <a:srgbClr val="FFFFFF"/>
          </a:solidFill>
          <a:ln/>
        </p:spPr>
      </p:sp>
      <p:sp>
        <p:nvSpPr>
          <p:cNvPr id="19" name="Text 17"/>
          <p:cNvSpPr/>
          <p:nvPr/>
        </p:nvSpPr>
        <p:spPr>
          <a:xfrm>
            <a:off x="685800" y="4672584"/>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Neutral</a:t>
            </a:r>
            <a:endParaRPr lang="en-US" sz="1250" dirty="0"/>
          </a:p>
        </p:txBody>
      </p:sp>
      <p:sp>
        <p:nvSpPr>
          <p:cNvPr id="20" name="Text 18"/>
          <p:cNvSpPr/>
          <p:nvPr/>
        </p:nvSpPr>
        <p:spPr>
          <a:xfrm>
            <a:off x="2880360" y="4672584"/>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7</a:t>
            </a:r>
            <a:endParaRPr lang="en-US" sz="1250" dirty="0"/>
          </a:p>
        </p:txBody>
      </p:sp>
      <p:sp>
        <p:nvSpPr>
          <p:cNvPr id="21" name="Text 19"/>
          <p:cNvSpPr/>
          <p:nvPr/>
        </p:nvSpPr>
        <p:spPr>
          <a:xfrm>
            <a:off x="5074920" y="4672584"/>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7</a:t>
            </a:r>
            <a:endParaRPr lang="en-US" sz="1250" dirty="0"/>
          </a:p>
        </p:txBody>
      </p:sp>
      <p:sp>
        <p:nvSpPr>
          <p:cNvPr id="22" name="Text 20"/>
          <p:cNvSpPr/>
          <p:nvPr/>
        </p:nvSpPr>
        <p:spPr>
          <a:xfrm>
            <a:off x="7269480" y="4672584"/>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1</a:t>
            </a:r>
            <a:endParaRPr lang="en-US" sz="1250" dirty="0"/>
          </a:p>
        </p:txBody>
      </p:sp>
      <p:sp>
        <p:nvSpPr>
          <p:cNvPr id="23" name="Text 21"/>
          <p:cNvSpPr/>
          <p:nvPr/>
        </p:nvSpPr>
        <p:spPr>
          <a:xfrm>
            <a:off x="9464040" y="4672584"/>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50</a:t>
            </a:r>
            <a:endParaRPr lang="en-US" sz="1250" dirty="0"/>
          </a:p>
        </p:txBody>
      </p:sp>
      <p:sp>
        <p:nvSpPr>
          <p:cNvPr id="24" name="Shape 22"/>
          <p:cNvSpPr/>
          <p:nvPr/>
        </p:nvSpPr>
        <p:spPr>
          <a:xfrm>
            <a:off x="548640" y="5093208"/>
            <a:ext cx="10972800" cy="384048"/>
          </a:xfrm>
          <a:prstGeom prst="rect">
            <a:avLst/>
          </a:prstGeom>
          <a:solidFill>
            <a:srgbClr val="F1EEE3"/>
          </a:solidFill>
          <a:ln/>
        </p:spPr>
      </p:sp>
      <p:sp>
        <p:nvSpPr>
          <p:cNvPr id="25" name="Text 23"/>
          <p:cNvSpPr/>
          <p:nvPr/>
        </p:nvSpPr>
        <p:spPr>
          <a:xfrm>
            <a:off x="685800" y="5093208"/>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Overbought</a:t>
            </a:r>
            <a:endParaRPr lang="en-US" sz="1250" dirty="0"/>
          </a:p>
        </p:txBody>
      </p:sp>
      <p:sp>
        <p:nvSpPr>
          <p:cNvPr id="26" name="Text 24"/>
          <p:cNvSpPr/>
          <p:nvPr/>
        </p:nvSpPr>
        <p:spPr>
          <a:xfrm>
            <a:off x="2880360" y="5093208"/>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70</a:t>
            </a:r>
            <a:endParaRPr lang="en-US" sz="1250" dirty="0"/>
          </a:p>
        </p:txBody>
      </p:sp>
      <p:sp>
        <p:nvSpPr>
          <p:cNvPr id="27" name="Text 25"/>
          <p:cNvSpPr/>
          <p:nvPr/>
        </p:nvSpPr>
        <p:spPr>
          <a:xfrm>
            <a:off x="5074920" y="5093208"/>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7</a:t>
            </a:r>
            <a:endParaRPr lang="en-US" sz="1250" dirty="0"/>
          </a:p>
        </p:txBody>
      </p:sp>
      <p:sp>
        <p:nvSpPr>
          <p:cNvPr id="28" name="Text 26"/>
          <p:cNvSpPr/>
          <p:nvPr/>
        </p:nvSpPr>
        <p:spPr>
          <a:xfrm>
            <a:off x="7269480" y="5093208"/>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10</a:t>
            </a:r>
            <a:endParaRPr lang="en-US" sz="1250" dirty="0"/>
          </a:p>
        </p:txBody>
      </p:sp>
      <p:sp>
        <p:nvSpPr>
          <p:cNvPr id="29" name="Text 27"/>
          <p:cNvSpPr/>
          <p:nvPr/>
        </p:nvSpPr>
        <p:spPr>
          <a:xfrm>
            <a:off x="9464040" y="5093208"/>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90.9</a:t>
            </a:r>
            <a:endParaRPr lang="en-US" sz="1250" dirty="0"/>
          </a:p>
        </p:txBody>
      </p:sp>
      <p:sp>
        <p:nvSpPr>
          <p:cNvPr id="30" name="Shape 28"/>
          <p:cNvSpPr/>
          <p:nvPr/>
        </p:nvSpPr>
        <p:spPr>
          <a:xfrm>
            <a:off x="548640" y="5513832"/>
            <a:ext cx="10972800" cy="384048"/>
          </a:xfrm>
          <a:prstGeom prst="rect">
            <a:avLst/>
          </a:prstGeom>
          <a:solidFill>
            <a:srgbClr val="FFFFFF"/>
          </a:solidFill>
          <a:ln/>
        </p:spPr>
      </p:sp>
      <p:sp>
        <p:nvSpPr>
          <p:cNvPr id="31" name="Text 29"/>
          <p:cNvSpPr/>
          <p:nvPr/>
        </p:nvSpPr>
        <p:spPr>
          <a:xfrm>
            <a:off x="685800" y="5513832"/>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Oversold</a:t>
            </a:r>
            <a:endParaRPr lang="en-US" sz="1250" dirty="0"/>
          </a:p>
        </p:txBody>
      </p:sp>
      <p:sp>
        <p:nvSpPr>
          <p:cNvPr id="32" name="Text 30"/>
          <p:cNvSpPr/>
          <p:nvPr/>
        </p:nvSpPr>
        <p:spPr>
          <a:xfrm>
            <a:off x="2880360" y="5513832"/>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7</a:t>
            </a:r>
            <a:endParaRPr lang="en-US" sz="1250" dirty="0"/>
          </a:p>
        </p:txBody>
      </p:sp>
      <p:sp>
        <p:nvSpPr>
          <p:cNvPr id="33" name="Text 31"/>
          <p:cNvSpPr/>
          <p:nvPr/>
        </p:nvSpPr>
        <p:spPr>
          <a:xfrm>
            <a:off x="5074920" y="5513832"/>
            <a:ext cx="2011680" cy="384048"/>
          </a:xfrm>
          <a:prstGeom prst="rect">
            <a:avLst/>
          </a:prstGeom>
          <a:noFill/>
          <a:ln/>
        </p:spPr>
        <p:txBody>
          <a:bodyPr wrap="square" rtlCol="0" anchor="ctr"/>
          <a:lstStyle/>
          <a:p>
            <a:pPr indent="0" marL="0">
              <a:buNone/>
            </a:pPr>
            <a:r>
              <a:rPr lang="en-US" sz="1250" dirty="0">
                <a:solidFill>
                  <a:srgbClr val="3A3F4B"/>
                </a:solidFill>
                <a:latin typeface="Calibri" pitchFamily="34" charset="0"/>
                <a:ea typeface="Calibri" pitchFamily="34" charset="-122"/>
                <a:cs typeface="Calibri" pitchFamily="34" charset="-120"/>
              </a:rPr>
              <a:t>56</a:t>
            </a:r>
            <a:endParaRPr lang="en-US" sz="1250" dirty="0"/>
          </a:p>
        </p:txBody>
      </p:sp>
      <p:sp>
        <p:nvSpPr>
          <p:cNvPr id="34" name="Text 32"/>
          <p:cNvSpPr/>
          <p:nvPr/>
        </p:nvSpPr>
        <p:spPr>
          <a:xfrm>
            <a:off x="7269480" y="5513832"/>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0.125</a:t>
            </a:r>
            <a:endParaRPr lang="en-US" sz="1250" dirty="0"/>
          </a:p>
        </p:txBody>
      </p:sp>
      <p:sp>
        <p:nvSpPr>
          <p:cNvPr id="35" name="Text 33"/>
          <p:cNvSpPr/>
          <p:nvPr/>
        </p:nvSpPr>
        <p:spPr>
          <a:xfrm>
            <a:off x="9464040" y="5513832"/>
            <a:ext cx="2011680" cy="384048"/>
          </a:xfrm>
          <a:prstGeom prst="rect">
            <a:avLst/>
          </a:prstGeom>
          <a:noFill/>
          <a:ln/>
        </p:spPr>
        <p:txBody>
          <a:bodyPr wrap="square" rtlCol="0" anchor="ctr"/>
          <a:lstStyle/>
          <a:p>
            <a:pPr indent="0" marL="0">
              <a:buNone/>
            </a:pPr>
            <a:r>
              <a:rPr lang="en-US" sz="1250" b="1" dirty="0">
                <a:solidFill>
                  <a:srgbClr val="9A6B2C"/>
                </a:solidFill>
                <a:latin typeface="Courier New" pitchFamily="34" charset="0"/>
                <a:ea typeface="Courier New" pitchFamily="34" charset="-122"/>
                <a:cs typeface="Courier New" pitchFamily="34" charset="-120"/>
              </a:rPr>
              <a:t>11.1</a:t>
            </a:r>
            <a:endParaRPr lang="en-US" sz="1250" dirty="0"/>
          </a:p>
        </p:txBody>
      </p:sp>
      <p:sp>
        <p:nvSpPr>
          <p:cNvPr id="36" name="Text 34"/>
          <p:cNvSpPr/>
          <p:nvPr/>
        </p:nvSpPr>
        <p:spPr>
          <a:xfrm>
            <a:off x="548640" y="5989320"/>
            <a:ext cx="10972800" cy="457200"/>
          </a:xfrm>
          <a:prstGeom prst="rect">
            <a:avLst/>
          </a:prstGeom>
          <a:noFill/>
          <a:ln/>
        </p:spPr>
        <p:txBody>
          <a:bodyPr wrap="square" rtlCol="0" anchor="ctr"/>
          <a:lstStyle/>
          <a:p>
            <a:pPr indent="0" marL="0">
              <a:buNone/>
            </a:pPr>
            <a:r>
              <a:rPr lang="en-US" sz="1150" i="1" dirty="0">
                <a:solidFill>
                  <a:srgbClr val="8A8577"/>
                </a:solidFill>
                <a:latin typeface="Calibri" pitchFamily="34" charset="0"/>
                <a:ea typeface="Calibri" pitchFamily="34" charset="-122"/>
                <a:cs typeface="Calibri" pitchFamily="34" charset="-120"/>
              </a:rPr>
              <a:t>Every row divides by the same n = 14. Only the gain and loss totals change, and that alone moves RSI from neutral to overbought to oversold.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548640" y="457200"/>
            <a:ext cx="548640" cy="548640"/>
          </a:xfrm>
          <a:prstGeom prst="ellipse">
            <a:avLst/>
          </a:prstGeom>
          <a:solidFill>
            <a:srgbClr val="F1EEE3"/>
          </a:solidFill>
          <a:ln/>
        </p:spPr>
      </p:sp>
      <p:pic>
        <p:nvPicPr>
          <p:cNvPr id="3" name="Image 0" descr="preencoded.png">    </p:cNvPr>
          <p:cNvPicPr>
            <a:picLocks noChangeAspect="1"/>
          </p:cNvPicPr>
          <p:nvPr/>
        </p:nvPicPr>
        <p:blipFill>
          <a:blip r:embed="rId1"/>
          <a:stretch>
            <a:fillRect/>
          </a:stretch>
        </p:blipFill>
        <p:spPr>
          <a:xfrm>
            <a:off x="614477" y="523037"/>
            <a:ext cx="416966" cy="416966"/>
          </a:xfrm>
          <a:prstGeom prst="rect">
            <a:avLst/>
          </a:prstGeom>
        </p:spPr>
      </p:pic>
      <p:sp>
        <p:nvSpPr>
          <p:cNvPr id="4" name="Text 1"/>
          <p:cNvSpPr/>
          <p:nvPr/>
        </p:nvSpPr>
        <p:spPr>
          <a:xfrm>
            <a:off x="1280160" y="502920"/>
            <a:ext cx="9601200" cy="548640"/>
          </a:xfrm>
          <a:prstGeom prst="rect">
            <a:avLst/>
          </a:prstGeom>
          <a:noFill/>
          <a:ln/>
        </p:spPr>
        <p:txBody>
          <a:bodyPr wrap="square" rtlCol="0" anchor="ctr"/>
          <a:lstStyle/>
          <a:p>
            <a:pPr indent="0" marL="0">
              <a:buNone/>
            </a:pPr>
            <a:r>
              <a:rPr lang="en-US" sz="2400" b="1" dirty="0">
                <a:solidFill>
                  <a:srgbClr val="14213D"/>
                </a:solidFill>
                <a:latin typeface="Cambria" pitchFamily="34" charset="0"/>
                <a:ea typeface="Cambria" pitchFamily="34" charset="-122"/>
                <a:cs typeface="Cambria" pitchFamily="34" charset="-120"/>
              </a:rPr>
              <a:t>Script E_TTR.R: RSI and compound rules</a:t>
            </a:r>
            <a:endParaRPr lang="en-US" sz="2400" dirty="0"/>
          </a:p>
        </p:txBody>
      </p:sp>
      <p:sp>
        <p:nvSpPr>
          <p:cNvPr id="5" name="Text 2"/>
          <p:cNvSpPr/>
          <p:nvPr/>
        </p:nvSpPr>
        <p:spPr>
          <a:xfrm>
            <a:off x="548640" y="1417320"/>
            <a:ext cx="10972800" cy="548640"/>
          </a:xfrm>
          <a:prstGeom prst="rect">
            <a:avLst/>
          </a:prstGeom>
          <a:noFill/>
          <a:ln/>
        </p:spPr>
        <p:txBody>
          <a:bodyPr wrap="square" rtlCol="0" anchor="ctr"/>
          <a:lstStyle/>
          <a:p>
            <a:pPr marL="342900" indent="-342900">
              <a:buSzPct val="100000"/>
              <a:buChar char="•"/>
            </a:pPr>
            <a:r>
              <a:rPr lang="en-US" sz="1450" dirty="0">
                <a:solidFill>
                  <a:srgbClr val="3A3F4B"/>
                </a:solidFill>
                <a:latin typeface="Calibri" pitchFamily="34" charset="0"/>
                <a:ea typeface="Calibri" pitchFamily="34" charset="-122"/>
                <a:cs typeface="Calibri" pitchFamily="34" charset="-120"/>
              </a:rPr>
              <a:t>Calculate RSI for a real equity and plot it against the closing price.</a:t>
            </a:r>
            <a:endParaRPr lang="en-US" sz="1450" dirty="0"/>
          </a:p>
        </p:txBody>
      </p:sp>
      <p:sp>
        <p:nvSpPr>
          <p:cNvPr id="6" name="Text 3"/>
          <p:cNvSpPr/>
          <p:nvPr/>
        </p:nvSpPr>
        <p:spPr>
          <a:xfrm>
            <a:off x="548640" y="2075688"/>
            <a:ext cx="10972800" cy="548640"/>
          </a:xfrm>
          <a:prstGeom prst="rect">
            <a:avLst/>
          </a:prstGeom>
          <a:noFill/>
          <a:ln/>
        </p:spPr>
        <p:txBody>
          <a:bodyPr wrap="square" rtlCol="0" anchor="ctr"/>
          <a:lstStyle/>
          <a:p>
            <a:pPr marL="342900" indent="-342900">
              <a:buSzPct val="100000"/>
              <a:buChar char="•"/>
            </a:pPr>
            <a:r>
              <a:rPr lang="en-US" sz="1450" dirty="0">
                <a:solidFill>
                  <a:srgbClr val="3A3F4B"/>
                </a:solidFill>
                <a:latin typeface="Calibri" pitchFamily="34" charset="0"/>
                <a:ea typeface="Calibri" pitchFamily="34" charset="-122"/>
                <a:cs typeface="Calibri" pitchFamily="34" charset="-120"/>
              </a:rPr>
              <a:t>Mark the 30 and 70 thresholds and visually inspect where they trigger.</a:t>
            </a:r>
            <a:endParaRPr lang="en-US" sz="1450" dirty="0"/>
          </a:p>
        </p:txBody>
      </p:sp>
      <p:sp>
        <p:nvSpPr>
          <p:cNvPr id="7" name="Text 4"/>
          <p:cNvSpPr/>
          <p:nvPr/>
        </p:nvSpPr>
        <p:spPr>
          <a:xfrm>
            <a:off x="548640" y="2734056"/>
            <a:ext cx="10972800" cy="548640"/>
          </a:xfrm>
          <a:prstGeom prst="rect">
            <a:avLst/>
          </a:prstGeom>
          <a:noFill/>
          <a:ln/>
        </p:spPr>
        <p:txBody>
          <a:bodyPr wrap="square" rtlCol="0" anchor="ctr"/>
          <a:lstStyle/>
          <a:p>
            <a:pPr marL="342900" indent="-342900">
              <a:buSzPct val="100000"/>
              <a:buChar char="•"/>
            </a:pPr>
            <a:r>
              <a:rPr lang="en-US" sz="1450" dirty="0">
                <a:solidFill>
                  <a:srgbClr val="3A3F4B"/>
                </a:solidFill>
                <a:latin typeface="Calibri" pitchFamily="34" charset="0"/>
                <a:ea typeface="Calibri" pitchFamily="34" charset="-122"/>
                <a:cs typeface="Calibri" pitchFamily="34" charset="-120"/>
              </a:rPr>
              <a:t>Turn RSI into a backtestable indicator and review cumulative return.</a:t>
            </a:r>
            <a:endParaRPr lang="en-US" sz="1450" dirty="0"/>
          </a:p>
        </p:txBody>
      </p:sp>
      <p:sp>
        <p:nvSpPr>
          <p:cNvPr id="8" name="Text 5"/>
          <p:cNvSpPr/>
          <p:nvPr/>
        </p:nvSpPr>
        <p:spPr>
          <a:xfrm>
            <a:off x="548640" y="3392424"/>
            <a:ext cx="10972800" cy="548640"/>
          </a:xfrm>
          <a:prstGeom prst="rect">
            <a:avLst/>
          </a:prstGeom>
          <a:noFill/>
          <a:ln/>
        </p:spPr>
        <p:txBody>
          <a:bodyPr wrap="square" rtlCol="0" anchor="ctr"/>
          <a:lstStyle/>
          <a:p>
            <a:pPr marL="342900" indent="-342900">
              <a:buSzPct val="100000"/>
              <a:buChar char="•"/>
            </a:pPr>
            <a:r>
              <a:rPr lang="en-US" sz="1450" dirty="0">
                <a:solidFill>
                  <a:srgbClr val="3A3F4B"/>
                </a:solidFill>
                <a:latin typeface="Calibri" pitchFamily="34" charset="0"/>
                <a:ea typeface="Calibri" pitchFamily="34" charset="-122"/>
                <a:cs typeface="Calibri" pitchFamily="34" charset="-120"/>
              </a:rPr>
              <a:t>Combine RSI with MACD into a single compound rule, then compare capital at risk between the two approaches.</a:t>
            </a:r>
            <a:endParaRPr lang="en-US" sz="1450" dirty="0"/>
          </a:p>
        </p:txBody>
      </p:sp>
      <p:sp>
        <p:nvSpPr>
          <p:cNvPr id="9" name="Text 6"/>
          <p:cNvSpPr/>
          <p:nvPr/>
        </p:nvSpPr>
        <p:spPr>
          <a:xfrm>
            <a:off x="548640" y="4206240"/>
            <a:ext cx="10972800" cy="731520"/>
          </a:xfrm>
          <a:prstGeom prst="rect">
            <a:avLst/>
          </a:prstGeom>
          <a:noFill/>
          <a:ln/>
        </p:spPr>
        <p:txBody>
          <a:bodyPr wrap="square" rtlCol="0" anchor="ctr"/>
          <a:lstStyle/>
          <a:p>
            <a:pPr indent="0" marL="0">
              <a:buNone/>
            </a:pPr>
            <a:r>
              <a:rPr lang="en-US" sz="1300" i="1" dirty="0">
                <a:solidFill>
                  <a:srgbClr val="3A3F4B"/>
                </a:solidFill>
                <a:latin typeface="Calibri" pitchFamily="34" charset="0"/>
                <a:ea typeface="Calibri" pitchFamily="34" charset="-122"/>
                <a:cs typeface="Calibri" pitchFamily="34" charset="-120"/>
              </a:rPr>
              <a:t>Two stocks can post the same total return with very different volatility along the way. A compound rule can reduce the days your capital is at risk, even if the headline return looks similar.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9A6B2C"/>
          </a:solidFill>
          <a:ln/>
        </p:spPr>
      </p:sp>
      <p:pic>
        <p:nvPicPr>
          <p:cNvPr id="3" name="Image 0" descr="preencoded.png">    </p:cNvPr>
          <p:cNvPicPr>
            <a:picLocks noChangeAspect="1"/>
          </p:cNvPicPr>
          <p:nvPr/>
        </p:nvPicPr>
        <p:blipFill>
          <a:blip r:embed="rId1"/>
          <a:stretch>
            <a:fillRect/>
          </a:stretch>
        </p:blipFill>
        <p:spPr>
          <a:xfrm>
            <a:off x="619963" y="574243"/>
            <a:ext cx="451714" cy="451714"/>
          </a:xfrm>
          <a:prstGeom prst="rect">
            <a:avLst/>
          </a:prstGeom>
        </p:spPr>
      </p:pic>
      <p:sp>
        <p:nvSpPr>
          <p:cNvPr id="4" name="Text 1"/>
          <p:cNvSpPr/>
          <p:nvPr/>
        </p:nvSpPr>
        <p:spPr>
          <a:xfrm>
            <a:off x="1325880" y="548640"/>
            <a:ext cx="822960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Before the coffee break</a:t>
            </a:r>
            <a:endParaRPr lang="en-US" sz="2600" dirty="0"/>
          </a:p>
        </p:txBody>
      </p:sp>
      <p:sp>
        <p:nvSpPr>
          <p:cNvPr id="5" name="Shape 2"/>
          <p:cNvSpPr/>
          <p:nvPr/>
        </p:nvSpPr>
        <p:spPr>
          <a:xfrm>
            <a:off x="685800" y="1581912"/>
            <a:ext cx="128016" cy="128016"/>
          </a:xfrm>
          <a:prstGeom prst="ellipse">
            <a:avLst/>
          </a:prstGeom>
          <a:solidFill>
            <a:srgbClr val="9A6B2C"/>
          </a:solidFill>
          <a:ln/>
        </p:spPr>
      </p:sp>
      <p:sp>
        <p:nvSpPr>
          <p:cNvPr id="6" name="Text 3"/>
          <p:cNvSpPr/>
          <p:nvPr/>
        </p:nvSpPr>
        <p:spPr>
          <a:xfrm>
            <a:off x="1005840" y="1508760"/>
            <a:ext cx="1024128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Every indicator built on closing prices needs a lag before it becomes a realistic trading rule.</a:t>
            </a:r>
            <a:endParaRPr lang="en-US" sz="1500" dirty="0"/>
          </a:p>
        </p:txBody>
      </p:sp>
      <p:sp>
        <p:nvSpPr>
          <p:cNvPr id="7" name="Shape 4"/>
          <p:cNvSpPr/>
          <p:nvPr/>
        </p:nvSpPr>
        <p:spPr>
          <a:xfrm>
            <a:off x="685800" y="2295144"/>
            <a:ext cx="128016" cy="128016"/>
          </a:xfrm>
          <a:prstGeom prst="ellipse">
            <a:avLst/>
          </a:prstGeom>
          <a:solidFill>
            <a:srgbClr val="9A6B2C"/>
          </a:solidFill>
          <a:ln/>
        </p:spPr>
      </p:sp>
      <p:sp>
        <p:nvSpPr>
          <p:cNvPr id="8" name="Text 5"/>
          <p:cNvSpPr/>
          <p:nvPr/>
        </p:nvSpPr>
        <p:spPr>
          <a:xfrm>
            <a:off x="1005840" y="2221992"/>
            <a:ext cx="1024128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Backtest before you trust a rule, and rerun the backtest any time you change the logic.</a:t>
            </a:r>
            <a:endParaRPr lang="en-US" sz="1500" dirty="0"/>
          </a:p>
        </p:txBody>
      </p:sp>
      <p:sp>
        <p:nvSpPr>
          <p:cNvPr id="9" name="Shape 6"/>
          <p:cNvSpPr/>
          <p:nvPr/>
        </p:nvSpPr>
        <p:spPr>
          <a:xfrm>
            <a:off x="685800" y="3008376"/>
            <a:ext cx="128016" cy="128016"/>
          </a:xfrm>
          <a:prstGeom prst="ellipse">
            <a:avLst/>
          </a:prstGeom>
          <a:solidFill>
            <a:srgbClr val="9A6B2C"/>
          </a:solidFill>
          <a:ln/>
        </p:spPr>
      </p:sp>
      <p:sp>
        <p:nvSpPr>
          <p:cNvPr id="10" name="Text 7"/>
          <p:cNvSpPr/>
          <p:nvPr/>
        </p:nvSpPr>
        <p:spPr>
          <a:xfrm>
            <a:off x="1005840" y="2935224"/>
            <a:ext cx="1024128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single flipped line can turn a working strategy into a Knight Capital story. Review before you deploy.</a:t>
            </a:r>
            <a:endParaRPr lang="en-US" sz="1500" dirty="0"/>
          </a:p>
        </p:txBody>
      </p:sp>
      <p:sp>
        <p:nvSpPr>
          <p:cNvPr id="11" name="Shape 8"/>
          <p:cNvSpPr/>
          <p:nvPr/>
        </p:nvSpPr>
        <p:spPr>
          <a:xfrm>
            <a:off x="685800" y="3721608"/>
            <a:ext cx="128016" cy="128016"/>
          </a:xfrm>
          <a:prstGeom prst="ellipse">
            <a:avLst/>
          </a:prstGeom>
          <a:solidFill>
            <a:srgbClr val="9A6B2C"/>
          </a:solidFill>
          <a:ln/>
        </p:spPr>
      </p:sp>
      <p:sp>
        <p:nvSpPr>
          <p:cNvPr id="12" name="Text 9"/>
          <p:cNvSpPr/>
          <p:nvPr/>
        </p:nvSpPr>
        <p:spPr>
          <a:xfrm>
            <a:off x="1005840" y="3648456"/>
            <a:ext cx="1024128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No single indicator is reliable alone. Combine signals, and still expect to be wrong sometimes.</a:t>
            </a:r>
            <a:endParaRPr lang="en-US" sz="1500" dirty="0"/>
          </a:p>
        </p:txBody>
      </p:sp>
      <p:sp>
        <p:nvSpPr>
          <p:cNvPr id="13" name="Text 10"/>
          <p:cNvSpPr/>
          <p:nvPr/>
        </p:nvSpPr>
        <p:spPr>
          <a:xfrm>
            <a:off x="640080" y="5394960"/>
            <a:ext cx="10789920" cy="457200"/>
          </a:xfrm>
          <a:prstGeom prst="rect">
            <a:avLst/>
          </a:prstGeom>
          <a:noFill/>
          <a:ln/>
        </p:spPr>
        <p:txBody>
          <a:bodyPr wrap="square" rtlCol="0" anchor="ctr"/>
          <a:lstStyle/>
          <a:p>
            <a:pPr indent="0" marL="0">
              <a:buNone/>
            </a:pPr>
            <a:r>
              <a:rPr lang="en-US" sz="1500" i="1" dirty="0">
                <a:solidFill>
                  <a:srgbClr val="9A6B2C"/>
                </a:solidFill>
                <a:latin typeface="Cambria" pitchFamily="34" charset="0"/>
                <a:ea typeface="Cambria" pitchFamily="34" charset="-122"/>
                <a:cs typeface="Cambria" pitchFamily="34" charset="-120"/>
              </a:rPr>
              <a:t>Next: Prompt Engineering and System Prompt Best Practices, at 11:00.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Indicators in R</dc:title>
  <dc:subject>PptxGenJS Presentation</dc:subject>
  <dc:creator>Ted Kwartler</dc:creator>
  <cp:lastModifiedBy>Ted Kwartler</cp:lastModifiedBy>
  <cp:revision>1</cp:revision>
  <dcterms:created xsi:type="dcterms:W3CDTF">2026-07-06T22:38:34Z</dcterms:created>
  <dcterms:modified xsi:type="dcterms:W3CDTF">2026-07-06T22:38:34Z</dcterms:modified>
</cp:coreProperties>
</file>