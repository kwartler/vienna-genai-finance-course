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4"/>
  </p:notesMasterIdLst>
  <p:sldIdLst>
    <p:sldId id="661" r:id="rId2"/>
    <p:sldId id="276" r:id="rId3"/>
    <p:sldId id="449" r:id="rId4"/>
    <p:sldId id="556" r:id="rId5"/>
    <p:sldId id="670" r:id="rId6"/>
    <p:sldId id="557" r:id="rId7"/>
    <p:sldId id="558" r:id="rId8"/>
    <p:sldId id="559" r:id="rId9"/>
    <p:sldId id="630" r:id="rId10"/>
    <p:sldId id="560" r:id="rId11"/>
    <p:sldId id="561" r:id="rId12"/>
    <p:sldId id="563" r:id="rId13"/>
    <p:sldId id="616" r:id="rId14"/>
    <p:sldId id="618" r:id="rId15"/>
    <p:sldId id="619" r:id="rId16"/>
    <p:sldId id="655" r:id="rId17"/>
    <p:sldId id="620" r:id="rId18"/>
    <p:sldId id="621" r:id="rId19"/>
    <p:sldId id="622" r:id="rId20"/>
    <p:sldId id="682" r:id="rId21"/>
    <p:sldId id="683" r:id="rId22"/>
    <p:sldId id="684" r:id="rId23"/>
    <p:sldId id="685" r:id="rId24"/>
    <p:sldId id="686" r:id="rId25"/>
    <p:sldId id="687" r:id="rId26"/>
    <p:sldId id="623" r:id="rId27"/>
    <p:sldId id="624" r:id="rId28"/>
    <p:sldId id="625" r:id="rId29"/>
    <p:sldId id="626" r:id="rId30"/>
    <p:sldId id="456" r:id="rId31"/>
    <p:sldId id="672" r:id="rId32"/>
    <p:sldId id="628" r:id="rId33"/>
    <p:sldId id="629" r:id="rId34"/>
    <p:sldId id="664" r:id="rId35"/>
    <p:sldId id="677" r:id="rId36"/>
    <p:sldId id="679" r:id="rId37"/>
    <p:sldId id="680" r:id="rId38"/>
    <p:sldId id="681" r:id="rId39"/>
    <p:sldId id="631" r:id="rId40"/>
    <p:sldId id="575" r:id="rId41"/>
    <p:sldId id="634" r:id="rId42"/>
    <p:sldId id="635" r:id="rId4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1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49" autoAdjust="0"/>
    <p:restoredTop sz="91565" autoAdjust="0"/>
  </p:normalViewPr>
  <p:slideViewPr>
    <p:cSldViewPr snapToGrid="0">
      <p:cViewPr varScale="1">
        <p:scale>
          <a:sx n="112" d="100"/>
          <a:sy n="112" d="100"/>
        </p:scale>
        <p:origin x="19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333ABA6-B72D-4ED4-A6E7-13A0DAE65F1A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DC303B9-2C3E-4EA0-A819-58B20A5A8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82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3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</a:t>
            </a:r>
            <a:r>
              <a:rPr lang="en-US" baseline="0" dirty="0"/>
              <a:t> new approaches and applications for DS so adjustments and active learning is paramount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80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98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67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82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63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98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57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36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07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7/6/26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2290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104642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11347"/>
            <a:ext cx="7886700" cy="5120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7/6/26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3669344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1074-1C18-4AE7-957D-F18524378C85}" type="datetime1">
              <a:rPr lang="en-US" smtClean="0"/>
              <a:t>7/6/26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360728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92583"/>
            <a:ext cx="3886200" cy="4969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92583"/>
            <a:ext cx="3886200" cy="4969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E256C-8D9A-4404-B47D-41A1AE514425}" type="datetime1">
              <a:rPr lang="en-US" smtClean="0"/>
              <a:t>7/6/26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3481223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32519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56431"/>
            <a:ext cx="3868340" cy="4205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32519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56431"/>
            <a:ext cx="3887391" cy="4205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2154-9035-4012-8189-BAAB61C5A5EE}" type="datetime1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496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3361983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E382-4F61-4E24-BE1A-377EC83D0E3A}" type="datetime1">
              <a:rPr lang="en-US" smtClean="0"/>
              <a:t>7/6/26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252303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83212"/>
            <a:ext cx="4629150" cy="5078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79"/>
            <a:ext cx="2949178" cy="506436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EED6-FC16-45B9-B8C4-2BC5DBA88325}" type="datetime1">
              <a:rPr lang="en-US" smtClean="0"/>
              <a:t>7/6/26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303538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1139483"/>
            <a:ext cx="4629150" cy="5022166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181685"/>
            <a:ext cx="2949178" cy="497996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512B-4F1D-43D7-8819-2F53FEF69650}" type="datetime1">
              <a:rPr lang="en-US" smtClean="0"/>
              <a:t>7/6/26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3159791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80030"/>
            <a:ext cx="7886700" cy="51206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EA29D-D431-42FE-B7B6-AAE4454C77D3}" type="datetime1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0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209821"/>
            <a:ext cx="1971675" cy="4967141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3889"/>
            <a:ext cx="5800725" cy="4953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D8A1E-EA8F-46C1-B891-AE0C00D9C314}" type="datetime1">
              <a:rPr lang="en-US" smtClean="0"/>
              <a:t>7/6/26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</p:spTree>
    <p:extLst>
      <p:ext uri="{BB962C8B-B14F-4D97-AF65-F5344CB8AC3E}">
        <p14:creationId xmlns:p14="http://schemas.microsoft.com/office/powerpoint/2010/main" val="76533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08176"/>
            <a:ext cx="7886700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37B94-E2BF-44DC-ADC5-B05FC9934E9D}" type="datetime1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89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tiff"/><Relationship Id="rId4" Type="http://schemas.openxmlformats.org/officeDocument/2006/relationships/image" Target="../media/image19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jpeg"/><Relationship Id="rId5" Type="http://schemas.openxmlformats.org/officeDocument/2006/relationships/image" Target="../media/image40.png"/><Relationship Id="rId10" Type="http://schemas.openxmlformats.org/officeDocument/2006/relationships/image" Target="../media/image37.png"/><Relationship Id="rId4" Type="http://schemas.openxmlformats.org/officeDocument/2006/relationships/image" Target="../media/image27.jpeg"/><Relationship Id="rId9" Type="http://schemas.openxmlformats.org/officeDocument/2006/relationships/image" Target="../media/image4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wartler/Harvard_DataMining_Business_Student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wartler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tiff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5E57B-BE2D-114B-8DCC-EADA18F2D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663DF8-B3F2-0E40-BCAF-A0941E68A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Ted Kwartler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743C0-5ADD-AB47-8EFA-BB2C94EA1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DBB05-3661-B540-8214-9B5AC5F77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Google Shape;489;p5">
            <a:extLst>
              <a:ext uri="{FF2B5EF4-FFF2-40B4-BE49-F238E27FC236}">
                <a16:creationId xmlns:a16="http://schemas.microsoft.com/office/drawing/2014/main" id="{4EFA6641-5D4B-0749-816A-7C9C119C990B}"/>
              </a:ext>
            </a:extLst>
          </p:cNvPr>
          <p:cNvSpPr/>
          <p:nvPr/>
        </p:nvSpPr>
        <p:spPr>
          <a:xfrm>
            <a:off x="1653275" y="2115192"/>
            <a:ext cx="7207200" cy="3231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490;p5">
            <a:extLst>
              <a:ext uri="{FF2B5EF4-FFF2-40B4-BE49-F238E27FC236}">
                <a16:creationId xmlns:a16="http://schemas.microsoft.com/office/drawing/2014/main" id="{E1D28499-D95F-344A-AE42-BDCCDF825635}"/>
              </a:ext>
            </a:extLst>
          </p:cNvPr>
          <p:cNvSpPr/>
          <p:nvPr/>
        </p:nvSpPr>
        <p:spPr>
          <a:xfrm>
            <a:off x="152400" y="1491886"/>
            <a:ext cx="3410400" cy="341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91;p5">
            <a:extLst>
              <a:ext uri="{FF2B5EF4-FFF2-40B4-BE49-F238E27FC236}">
                <a16:creationId xmlns:a16="http://schemas.microsoft.com/office/drawing/2014/main" id="{93006B92-0CCF-5345-BE64-CF72C5FF8CB8}"/>
              </a:ext>
            </a:extLst>
          </p:cNvPr>
          <p:cNvSpPr/>
          <p:nvPr/>
        </p:nvSpPr>
        <p:spPr>
          <a:xfrm>
            <a:off x="242100" y="1581586"/>
            <a:ext cx="3231000" cy="32310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492;p5">
            <a:extLst>
              <a:ext uri="{FF2B5EF4-FFF2-40B4-BE49-F238E27FC236}">
                <a16:creationId xmlns:a16="http://schemas.microsoft.com/office/drawing/2014/main" id="{3685104A-B79C-E845-B27E-79E06DD8EF4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7913" y="1703661"/>
            <a:ext cx="2979375" cy="298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494;p5">
            <a:extLst>
              <a:ext uri="{FF2B5EF4-FFF2-40B4-BE49-F238E27FC236}">
                <a16:creationId xmlns:a16="http://schemas.microsoft.com/office/drawing/2014/main" id="{3D46C302-9CE3-0D44-882E-3957D912CD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1038" y="3370177"/>
            <a:ext cx="65722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495;p5">
            <a:extLst>
              <a:ext uri="{FF2B5EF4-FFF2-40B4-BE49-F238E27FC236}">
                <a16:creationId xmlns:a16="http://schemas.microsoft.com/office/drawing/2014/main" id="{16F08D27-05AD-1042-AF04-5B5B95F77EE8}"/>
              </a:ext>
            </a:extLst>
          </p:cNvPr>
          <p:cNvSpPr txBox="1"/>
          <p:nvPr/>
        </p:nvSpPr>
        <p:spPr>
          <a:xfrm>
            <a:off x="3617900" y="2190267"/>
            <a:ext cx="5835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MBA</a:t>
            </a:r>
            <a:endParaRPr sz="1400" b="0" i="0" u="sng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496;p5">
            <a:extLst>
              <a:ext uri="{FF2B5EF4-FFF2-40B4-BE49-F238E27FC236}">
                <a16:creationId xmlns:a16="http://schemas.microsoft.com/office/drawing/2014/main" id="{DB80CD2B-8561-A347-80D0-8BB6698A1910}"/>
              </a:ext>
            </a:extLst>
          </p:cNvPr>
          <p:cNvSpPr txBox="1"/>
          <p:nvPr/>
        </p:nvSpPr>
        <p:spPr>
          <a:xfrm>
            <a:off x="4738600" y="2190267"/>
            <a:ext cx="7296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Work</a:t>
            </a:r>
            <a:endParaRPr sz="1400" b="0" i="0" u="sng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497;p5">
            <a:extLst>
              <a:ext uri="{FF2B5EF4-FFF2-40B4-BE49-F238E27FC236}">
                <a16:creationId xmlns:a16="http://schemas.microsoft.com/office/drawing/2014/main" id="{C282FF98-8DAC-B448-A100-84A30E769582}"/>
              </a:ext>
            </a:extLst>
          </p:cNvPr>
          <p:cNvSpPr txBox="1"/>
          <p:nvPr/>
        </p:nvSpPr>
        <p:spPr>
          <a:xfrm>
            <a:off x="7379925" y="2190262"/>
            <a:ext cx="1374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Advisory Roles</a:t>
            </a:r>
            <a:endParaRPr sz="1400" b="0" i="0" u="sng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498;p5">
            <a:extLst>
              <a:ext uri="{FF2B5EF4-FFF2-40B4-BE49-F238E27FC236}">
                <a16:creationId xmlns:a16="http://schemas.microsoft.com/office/drawing/2014/main" id="{BD243883-16BB-1547-BC31-9D8964B7A7EC}"/>
              </a:ext>
            </a:extLst>
          </p:cNvPr>
          <p:cNvSpPr txBox="1"/>
          <p:nvPr/>
        </p:nvSpPr>
        <p:spPr>
          <a:xfrm>
            <a:off x="6145160" y="2190267"/>
            <a:ext cx="1028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Teaching</a:t>
            </a:r>
            <a:endParaRPr sz="1400" b="0" i="0" u="sng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" name="Google Shape;502;p5">
            <a:extLst>
              <a:ext uri="{FF2B5EF4-FFF2-40B4-BE49-F238E27FC236}">
                <a16:creationId xmlns:a16="http://schemas.microsoft.com/office/drawing/2014/main" id="{98558A8D-4CC8-244E-8586-47AA6F5C9B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26640" y="2762767"/>
            <a:ext cx="800407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503;p5">
            <a:extLst>
              <a:ext uri="{FF2B5EF4-FFF2-40B4-BE49-F238E27FC236}">
                <a16:creationId xmlns:a16="http://schemas.microsoft.com/office/drawing/2014/main" id="{BD24214B-112C-8C4E-BDC2-246E8CE1271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54366" y="3460998"/>
            <a:ext cx="1028700" cy="507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504;p5">
            <a:extLst>
              <a:ext uri="{FF2B5EF4-FFF2-40B4-BE49-F238E27FC236}">
                <a16:creationId xmlns:a16="http://schemas.microsoft.com/office/drawing/2014/main" id="{B4CECFD3-F407-3649-807A-BCDF537A3C4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39365" y="2762767"/>
            <a:ext cx="1040291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505;p5">
            <a:extLst>
              <a:ext uri="{FF2B5EF4-FFF2-40B4-BE49-F238E27FC236}">
                <a16:creationId xmlns:a16="http://schemas.microsoft.com/office/drawing/2014/main" id="{D5502DEE-FAAF-024D-918E-EDEB2D63191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59310" y="3430515"/>
            <a:ext cx="800400" cy="469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506;p5">
            <a:extLst>
              <a:ext uri="{FF2B5EF4-FFF2-40B4-BE49-F238E27FC236}">
                <a16:creationId xmlns:a16="http://schemas.microsoft.com/office/drawing/2014/main" id="{97885903-18E5-A742-91A5-C371E18A73E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23400" y="4192167"/>
            <a:ext cx="1290650" cy="39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" descr="Image result for wiley and sons">
            <a:extLst>
              <a:ext uri="{FF2B5EF4-FFF2-40B4-BE49-F238E27FC236}">
                <a16:creationId xmlns:a16="http://schemas.microsoft.com/office/drawing/2014/main" id="{2AF552AB-A40C-7840-A209-B3F2AD5225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" t="34851" r="5092" b="31309"/>
          <a:stretch/>
        </p:blipFill>
        <p:spPr bwMode="auto">
          <a:xfrm>
            <a:off x="6150798" y="4191734"/>
            <a:ext cx="1017425" cy="28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oogle Shape;499;p5">
            <a:extLst>
              <a:ext uri="{FF2B5EF4-FFF2-40B4-BE49-F238E27FC236}">
                <a16:creationId xmlns:a16="http://schemas.microsoft.com/office/drawing/2014/main" id="{1C85F8D0-DA41-95F6-99B3-0A3E53C65AC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87834" y="3171942"/>
            <a:ext cx="1290654" cy="7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500;p5">
            <a:extLst>
              <a:ext uri="{FF2B5EF4-FFF2-40B4-BE49-F238E27FC236}">
                <a16:creationId xmlns:a16="http://schemas.microsoft.com/office/drawing/2014/main" id="{8ADF286E-08A8-5586-5C6D-8D56CB7D0D3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66436" y="4522614"/>
            <a:ext cx="933450" cy="281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501;p5">
            <a:extLst>
              <a:ext uri="{FF2B5EF4-FFF2-40B4-BE49-F238E27FC236}">
                <a16:creationId xmlns:a16="http://schemas.microsoft.com/office/drawing/2014/main" id="{D6EADAE0-ED10-8316-F9EA-691DB8F5BB51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66437" y="3846965"/>
            <a:ext cx="933449" cy="638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" descr="Accenture New Logo transparent PNG - StickPNG">
            <a:extLst>
              <a:ext uri="{FF2B5EF4-FFF2-40B4-BE49-F238E27FC236}">
                <a16:creationId xmlns:a16="http://schemas.microsoft.com/office/drawing/2014/main" id="{67BA5782-0659-E4F6-1DD1-8ECC13DBC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190" y="2438578"/>
            <a:ext cx="1125942" cy="63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Vienna University of Economics and Business - Wikipedia">
            <a:extLst>
              <a:ext uri="{FF2B5EF4-FFF2-40B4-BE49-F238E27FC236}">
                <a16:creationId xmlns:a16="http://schemas.microsoft.com/office/drawing/2014/main" id="{9825BDBF-3EF8-B94B-2EEC-C6B0EE6AB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310" y="4726874"/>
            <a:ext cx="941049" cy="48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52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6936" y="220484"/>
            <a:ext cx="7886700" cy="591477"/>
          </a:xfrm>
        </p:spPr>
        <p:txBody>
          <a:bodyPr/>
          <a:lstStyle/>
          <a:p>
            <a:r>
              <a:rPr lang="en-US" dirty="0"/>
              <a:t>Syllabus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23" name="Freeform 22"/>
          <p:cNvSpPr/>
          <p:nvPr/>
        </p:nvSpPr>
        <p:spPr>
          <a:xfrm>
            <a:off x="286936" y="1060825"/>
            <a:ext cx="6484567" cy="3185539"/>
          </a:xfrm>
          <a:custGeom>
            <a:avLst/>
            <a:gdLst>
              <a:gd name="connsiteX0" fmla="*/ 0 w 5486400"/>
              <a:gd name="connsiteY0" fmla="*/ 0 h 3490737"/>
              <a:gd name="connsiteX1" fmla="*/ 5486400 w 5486400"/>
              <a:gd name="connsiteY1" fmla="*/ 0 h 3490737"/>
              <a:gd name="connsiteX2" fmla="*/ 5486400 w 5486400"/>
              <a:gd name="connsiteY2" fmla="*/ 3181345 h 3490737"/>
              <a:gd name="connsiteX3" fmla="*/ 5486400 w 5486400"/>
              <a:gd name="connsiteY3" fmla="*/ 3200400 h 3490737"/>
              <a:gd name="connsiteX4" fmla="*/ 5465339 w 5486400"/>
              <a:gd name="connsiteY4" fmla="*/ 3200400 h 3490737"/>
              <a:gd name="connsiteX5" fmla="*/ 5144430 w 5486400"/>
              <a:gd name="connsiteY5" fmla="*/ 3490737 h 3490737"/>
              <a:gd name="connsiteX6" fmla="*/ 4877625 w 5486400"/>
              <a:gd name="connsiteY6" fmla="*/ 3249350 h 3490737"/>
              <a:gd name="connsiteX7" fmla="*/ 4610820 w 5486400"/>
              <a:gd name="connsiteY7" fmla="*/ 3490737 h 3490737"/>
              <a:gd name="connsiteX8" fmla="*/ 4344017 w 5486400"/>
              <a:gd name="connsiteY8" fmla="*/ 3249352 h 3490737"/>
              <a:gd name="connsiteX9" fmla="*/ 4077213 w 5486400"/>
              <a:gd name="connsiteY9" fmla="*/ 3490737 h 3490737"/>
              <a:gd name="connsiteX10" fmla="*/ 3810410 w 5486400"/>
              <a:gd name="connsiteY10" fmla="*/ 3249352 h 3490737"/>
              <a:gd name="connsiteX11" fmla="*/ 3543607 w 5486400"/>
              <a:gd name="connsiteY11" fmla="*/ 3490737 h 3490737"/>
              <a:gd name="connsiteX12" fmla="*/ 3276804 w 5486400"/>
              <a:gd name="connsiteY12" fmla="*/ 3249352 h 3490737"/>
              <a:gd name="connsiteX13" fmla="*/ 3010001 w 5486400"/>
              <a:gd name="connsiteY13" fmla="*/ 3490737 h 3490737"/>
              <a:gd name="connsiteX14" fmla="*/ 2743198 w 5486400"/>
              <a:gd name="connsiteY14" fmla="*/ 3249352 h 3490737"/>
              <a:gd name="connsiteX15" fmla="*/ 2476395 w 5486400"/>
              <a:gd name="connsiteY15" fmla="*/ 3490737 h 3490737"/>
              <a:gd name="connsiteX16" fmla="*/ 2209592 w 5486400"/>
              <a:gd name="connsiteY16" fmla="*/ 3249352 h 3490737"/>
              <a:gd name="connsiteX17" fmla="*/ 1942789 w 5486400"/>
              <a:gd name="connsiteY17" fmla="*/ 3490737 h 3490737"/>
              <a:gd name="connsiteX18" fmla="*/ 1675986 w 5486400"/>
              <a:gd name="connsiteY18" fmla="*/ 3249352 h 3490737"/>
              <a:gd name="connsiteX19" fmla="*/ 1409184 w 5486400"/>
              <a:gd name="connsiteY19" fmla="*/ 3490737 h 3490737"/>
              <a:gd name="connsiteX20" fmla="*/ 1142380 w 5486400"/>
              <a:gd name="connsiteY20" fmla="*/ 3249352 h 3490737"/>
              <a:gd name="connsiteX21" fmla="*/ 875577 w 5486400"/>
              <a:gd name="connsiteY21" fmla="*/ 3490737 h 3490737"/>
              <a:gd name="connsiteX22" fmla="*/ 608774 w 5486400"/>
              <a:gd name="connsiteY22" fmla="*/ 3249352 h 3490737"/>
              <a:gd name="connsiteX23" fmla="*/ 341970 w 5486400"/>
              <a:gd name="connsiteY23" fmla="*/ 3490737 h 3490737"/>
              <a:gd name="connsiteX24" fmla="*/ 21062 w 5486400"/>
              <a:gd name="connsiteY24" fmla="*/ 3200400 h 3490737"/>
              <a:gd name="connsiteX25" fmla="*/ 0 w 5486400"/>
              <a:gd name="connsiteY25" fmla="*/ 3200400 h 3490737"/>
              <a:gd name="connsiteX26" fmla="*/ 0 w 5486400"/>
              <a:gd name="connsiteY26" fmla="*/ 3181345 h 3490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486400" h="3490737">
                <a:moveTo>
                  <a:pt x="0" y="0"/>
                </a:moveTo>
                <a:lnTo>
                  <a:pt x="5486400" y="0"/>
                </a:lnTo>
                <a:lnTo>
                  <a:pt x="5486400" y="3181345"/>
                </a:lnTo>
                <a:lnTo>
                  <a:pt x="5486400" y="3200400"/>
                </a:lnTo>
                <a:lnTo>
                  <a:pt x="5465339" y="3200400"/>
                </a:lnTo>
                <a:lnTo>
                  <a:pt x="5144430" y="3490737"/>
                </a:lnTo>
                <a:lnTo>
                  <a:pt x="4877625" y="3249350"/>
                </a:lnTo>
                <a:lnTo>
                  <a:pt x="4610820" y="3490737"/>
                </a:lnTo>
                <a:lnTo>
                  <a:pt x="4344017" y="3249352"/>
                </a:lnTo>
                <a:lnTo>
                  <a:pt x="4077213" y="3490737"/>
                </a:lnTo>
                <a:lnTo>
                  <a:pt x="3810410" y="3249352"/>
                </a:lnTo>
                <a:lnTo>
                  <a:pt x="3543607" y="3490737"/>
                </a:lnTo>
                <a:lnTo>
                  <a:pt x="3276804" y="3249352"/>
                </a:lnTo>
                <a:lnTo>
                  <a:pt x="3010001" y="3490737"/>
                </a:lnTo>
                <a:lnTo>
                  <a:pt x="2743198" y="3249352"/>
                </a:lnTo>
                <a:lnTo>
                  <a:pt x="2476395" y="3490737"/>
                </a:lnTo>
                <a:lnTo>
                  <a:pt x="2209592" y="3249352"/>
                </a:lnTo>
                <a:lnTo>
                  <a:pt x="1942789" y="3490737"/>
                </a:lnTo>
                <a:lnTo>
                  <a:pt x="1675986" y="3249352"/>
                </a:lnTo>
                <a:lnTo>
                  <a:pt x="1409184" y="3490737"/>
                </a:lnTo>
                <a:lnTo>
                  <a:pt x="1142380" y="3249352"/>
                </a:lnTo>
                <a:lnTo>
                  <a:pt x="875577" y="3490737"/>
                </a:lnTo>
                <a:lnTo>
                  <a:pt x="608774" y="3249352"/>
                </a:lnTo>
                <a:lnTo>
                  <a:pt x="341970" y="3490737"/>
                </a:lnTo>
                <a:lnTo>
                  <a:pt x="21062" y="3200400"/>
                </a:lnTo>
                <a:lnTo>
                  <a:pt x="0" y="3200400"/>
                </a:lnTo>
                <a:lnTo>
                  <a:pt x="0" y="3181345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286936" y="4350586"/>
            <a:ext cx="6484567" cy="2070871"/>
          </a:xfrm>
          <a:custGeom>
            <a:avLst/>
            <a:gdLst>
              <a:gd name="connsiteX0" fmla="*/ 341971 w 5486401"/>
              <a:gd name="connsiteY0" fmla="*/ 0 h 1471612"/>
              <a:gd name="connsiteX1" fmla="*/ 608775 w 5486401"/>
              <a:gd name="connsiteY1" fmla="*/ 241385 h 1471612"/>
              <a:gd name="connsiteX2" fmla="*/ 875578 w 5486401"/>
              <a:gd name="connsiteY2" fmla="*/ 0 h 1471612"/>
              <a:gd name="connsiteX3" fmla="*/ 1142381 w 5486401"/>
              <a:gd name="connsiteY3" fmla="*/ 241385 h 1471612"/>
              <a:gd name="connsiteX4" fmla="*/ 1409185 w 5486401"/>
              <a:gd name="connsiteY4" fmla="*/ 0 h 1471612"/>
              <a:gd name="connsiteX5" fmla="*/ 1675987 w 5486401"/>
              <a:gd name="connsiteY5" fmla="*/ 241385 h 1471612"/>
              <a:gd name="connsiteX6" fmla="*/ 1942790 w 5486401"/>
              <a:gd name="connsiteY6" fmla="*/ 0 h 1471612"/>
              <a:gd name="connsiteX7" fmla="*/ 2209593 w 5486401"/>
              <a:gd name="connsiteY7" fmla="*/ 241385 h 1471612"/>
              <a:gd name="connsiteX8" fmla="*/ 2476396 w 5486401"/>
              <a:gd name="connsiteY8" fmla="*/ 0 h 1471612"/>
              <a:gd name="connsiteX9" fmla="*/ 2743199 w 5486401"/>
              <a:gd name="connsiteY9" fmla="*/ 241385 h 1471612"/>
              <a:gd name="connsiteX10" fmla="*/ 3010002 w 5486401"/>
              <a:gd name="connsiteY10" fmla="*/ 0 h 1471612"/>
              <a:gd name="connsiteX11" fmla="*/ 3276805 w 5486401"/>
              <a:gd name="connsiteY11" fmla="*/ 241385 h 1471612"/>
              <a:gd name="connsiteX12" fmla="*/ 3543608 w 5486401"/>
              <a:gd name="connsiteY12" fmla="*/ 0 h 1471612"/>
              <a:gd name="connsiteX13" fmla="*/ 3810411 w 5486401"/>
              <a:gd name="connsiteY13" fmla="*/ 241385 h 1471612"/>
              <a:gd name="connsiteX14" fmla="*/ 4077214 w 5486401"/>
              <a:gd name="connsiteY14" fmla="*/ 0 h 1471612"/>
              <a:gd name="connsiteX15" fmla="*/ 4344018 w 5486401"/>
              <a:gd name="connsiteY15" fmla="*/ 241385 h 1471612"/>
              <a:gd name="connsiteX16" fmla="*/ 4610821 w 5486401"/>
              <a:gd name="connsiteY16" fmla="*/ 0 h 1471612"/>
              <a:gd name="connsiteX17" fmla="*/ 4877626 w 5486401"/>
              <a:gd name="connsiteY17" fmla="*/ 241387 h 1471612"/>
              <a:gd name="connsiteX18" fmla="*/ 5144431 w 5486401"/>
              <a:gd name="connsiteY18" fmla="*/ 0 h 1471612"/>
              <a:gd name="connsiteX19" fmla="*/ 5444478 w 5486401"/>
              <a:gd name="connsiteY19" fmla="*/ 271463 h 1471612"/>
              <a:gd name="connsiteX20" fmla="*/ 5486400 w 5486401"/>
              <a:gd name="connsiteY20" fmla="*/ 271463 h 1471612"/>
              <a:gd name="connsiteX21" fmla="*/ 5486400 w 5486401"/>
              <a:gd name="connsiteY21" fmla="*/ 309391 h 1471612"/>
              <a:gd name="connsiteX22" fmla="*/ 5486401 w 5486401"/>
              <a:gd name="connsiteY22" fmla="*/ 309392 h 1471612"/>
              <a:gd name="connsiteX23" fmla="*/ 5486400 w 5486401"/>
              <a:gd name="connsiteY23" fmla="*/ 309392 h 1471612"/>
              <a:gd name="connsiteX24" fmla="*/ 5486400 w 5486401"/>
              <a:gd name="connsiteY24" fmla="*/ 1471612 h 1471612"/>
              <a:gd name="connsiteX25" fmla="*/ 0 w 5486401"/>
              <a:gd name="connsiteY25" fmla="*/ 1471612 h 1471612"/>
              <a:gd name="connsiteX26" fmla="*/ 0 w 5486401"/>
              <a:gd name="connsiteY26" fmla="*/ 271463 h 1471612"/>
              <a:gd name="connsiteX27" fmla="*/ 41924 w 5486401"/>
              <a:gd name="connsiteY27" fmla="*/ 271463 h 1471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486401" h="1471612">
                <a:moveTo>
                  <a:pt x="341971" y="0"/>
                </a:moveTo>
                <a:lnTo>
                  <a:pt x="608775" y="241385"/>
                </a:lnTo>
                <a:lnTo>
                  <a:pt x="875578" y="0"/>
                </a:lnTo>
                <a:lnTo>
                  <a:pt x="1142381" y="241385"/>
                </a:lnTo>
                <a:lnTo>
                  <a:pt x="1409185" y="0"/>
                </a:lnTo>
                <a:lnTo>
                  <a:pt x="1675987" y="241385"/>
                </a:lnTo>
                <a:lnTo>
                  <a:pt x="1942790" y="0"/>
                </a:lnTo>
                <a:lnTo>
                  <a:pt x="2209593" y="241385"/>
                </a:lnTo>
                <a:lnTo>
                  <a:pt x="2476396" y="0"/>
                </a:lnTo>
                <a:lnTo>
                  <a:pt x="2743199" y="241385"/>
                </a:lnTo>
                <a:lnTo>
                  <a:pt x="3010002" y="0"/>
                </a:lnTo>
                <a:lnTo>
                  <a:pt x="3276805" y="241385"/>
                </a:lnTo>
                <a:lnTo>
                  <a:pt x="3543608" y="0"/>
                </a:lnTo>
                <a:lnTo>
                  <a:pt x="3810411" y="241385"/>
                </a:lnTo>
                <a:lnTo>
                  <a:pt x="4077214" y="0"/>
                </a:lnTo>
                <a:lnTo>
                  <a:pt x="4344018" y="241385"/>
                </a:lnTo>
                <a:lnTo>
                  <a:pt x="4610821" y="0"/>
                </a:lnTo>
                <a:lnTo>
                  <a:pt x="4877626" y="241387"/>
                </a:lnTo>
                <a:lnTo>
                  <a:pt x="5144431" y="0"/>
                </a:lnTo>
                <a:lnTo>
                  <a:pt x="5444478" y="271463"/>
                </a:lnTo>
                <a:lnTo>
                  <a:pt x="5486400" y="271463"/>
                </a:lnTo>
                <a:lnTo>
                  <a:pt x="5486400" y="309391"/>
                </a:lnTo>
                <a:lnTo>
                  <a:pt x="5486401" y="309392"/>
                </a:lnTo>
                <a:lnTo>
                  <a:pt x="5486400" y="309392"/>
                </a:lnTo>
                <a:lnTo>
                  <a:pt x="5486400" y="1471612"/>
                </a:lnTo>
                <a:lnTo>
                  <a:pt x="0" y="1471612"/>
                </a:lnTo>
                <a:lnTo>
                  <a:pt x="0" y="271463"/>
                </a:lnTo>
                <a:lnTo>
                  <a:pt x="41924" y="271463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B88C39DF-60BA-4343-8301-ABCA37625F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95"/>
          <a:stretch/>
        </p:blipFill>
        <p:spPr>
          <a:xfrm>
            <a:off x="428344" y="4907666"/>
            <a:ext cx="3738542" cy="14645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249B6EF-D2DC-6944-98A6-67FE292DEC7D}"/>
              </a:ext>
            </a:extLst>
          </p:cNvPr>
          <p:cNvSpPr/>
          <p:nvPr/>
        </p:nvSpPr>
        <p:spPr>
          <a:xfrm>
            <a:off x="286936" y="691493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kwartler</a:t>
            </a:r>
            <a:r>
              <a:rPr lang="en-US" dirty="0"/>
              <a:t>/</a:t>
            </a:r>
            <a:r>
              <a:rPr lang="en-US" dirty="0" err="1"/>
              <a:t>Harvard_DataMining_Business_Student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035303-B98F-DA19-2ACE-BE31735A0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44" y="1104017"/>
            <a:ext cx="3903626" cy="274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8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Learning Expectations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339" y="1114419"/>
            <a:ext cx="87296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expect: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Kindness &gt; Cleverness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Active learning &amp; participation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To make adjustments along the way so learning will be engaging &amp; fun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Academic rigor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The use of AI (ChatGPT </a:t>
            </a:r>
            <a:r>
              <a:rPr lang="en-US" dirty="0" err="1"/>
              <a:t>etc</a:t>
            </a:r>
            <a:r>
              <a:rPr lang="en-US" dirty="0"/>
              <a:t>) to be used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 do </a:t>
            </a:r>
            <a:r>
              <a:rPr lang="en-US" b="1" u="sng" dirty="0"/>
              <a:t>not</a:t>
            </a:r>
            <a:r>
              <a:rPr lang="en-US" dirty="0"/>
              <a:t> expect: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Significant math skills – </a:t>
            </a:r>
            <a:r>
              <a:rPr lang="en-US" i="1" dirty="0"/>
              <a:t>not a heavy math course; we let R do the work</a:t>
            </a:r>
          </a:p>
          <a:p>
            <a:endParaRPr lang="en-US" dirty="0"/>
          </a:p>
          <a:p>
            <a:r>
              <a:rPr lang="en-US" dirty="0"/>
              <a:t>My goal for your learning experience is that the topics are: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Interesting </a:t>
            </a:r>
            <a:r>
              <a:rPr lang="en-US" dirty="0"/>
              <a:t>to cover a lot of topics</a:t>
            </a:r>
            <a:endParaRPr lang="en-US" b="1" dirty="0"/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Applicable</a:t>
            </a:r>
            <a:r>
              <a:rPr lang="en-US" dirty="0"/>
              <a:t> as a professional or future business person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Perspective building </a:t>
            </a:r>
            <a:r>
              <a:rPr lang="en-US" dirty="0"/>
              <a:t>as a consumer affected by these methods</a:t>
            </a:r>
          </a:p>
        </p:txBody>
      </p:sp>
    </p:spTree>
    <p:extLst>
      <p:ext uri="{BB962C8B-B14F-4D97-AF65-F5344CB8AC3E}">
        <p14:creationId xmlns:p14="http://schemas.microsoft.com/office/powerpoint/2010/main" val="234651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Learning Objectives</a:t>
            </a:r>
          </a:p>
          <a:p>
            <a:r>
              <a:rPr lang="en-US" dirty="0"/>
              <a:t>What is R?</a:t>
            </a:r>
          </a:p>
          <a:p>
            <a:r>
              <a:rPr lang="en-US" dirty="0"/>
              <a:t>What is R Studio?</a:t>
            </a:r>
          </a:p>
          <a:p>
            <a:r>
              <a:rPr lang="en-US" dirty="0"/>
              <a:t>Scripting Structure in this course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7/6/26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496" y="5580993"/>
            <a:ext cx="7819696" cy="346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Why?  This ensures a basic fluency before the course really starts.</a:t>
            </a:r>
          </a:p>
        </p:txBody>
      </p:sp>
    </p:spTree>
    <p:extLst>
      <p:ext uri="{BB962C8B-B14F-4D97-AF65-F5344CB8AC3E}">
        <p14:creationId xmlns:p14="http://schemas.microsoft.com/office/powerpoint/2010/main" val="70543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481D41-D5CD-F042-8FC0-5659D7E25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7E9391-6913-4C41-8C29-18C4F013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591477"/>
          </a:xfrm>
        </p:spPr>
        <p:txBody>
          <a:bodyPr/>
          <a:lstStyle/>
          <a:p>
            <a:r>
              <a:rPr lang="en-US" sz="2800" dirty="0"/>
              <a:t>The course uses three software components for learning.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C393C-7BAD-D147-88A8-AE7589E9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14BF3-8268-A349-BDBA-411B4380B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F8A957-9325-EB49-BEBD-0CC9764D8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38" y="1942705"/>
            <a:ext cx="1309260" cy="1012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EDB5BF-7FA9-E14A-9EAD-4975725A7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231" y="1965896"/>
            <a:ext cx="966304" cy="9663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A0FA41-7EA2-7A43-9229-D69DBC808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519" y="1960685"/>
            <a:ext cx="2341217" cy="9767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286733-6DD0-494B-AA49-32776EDC1C43}"/>
              </a:ext>
            </a:extLst>
          </p:cNvPr>
          <p:cNvSpPr txBox="1"/>
          <p:nvPr/>
        </p:nvSpPr>
        <p:spPr>
          <a:xfrm>
            <a:off x="443948" y="3903421"/>
            <a:ext cx="1973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Statistical Software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DA6791-53F0-9E44-84FF-6D991276D7B7}"/>
              </a:ext>
            </a:extLst>
          </p:cNvPr>
          <p:cNvSpPr txBox="1"/>
          <p:nvPr/>
        </p:nvSpPr>
        <p:spPr>
          <a:xfrm>
            <a:off x="3488635" y="3626422"/>
            <a:ext cx="1497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Integrated Development Environment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0DEE9C-36EB-554B-95C9-2951CEA7D8CB}"/>
              </a:ext>
            </a:extLst>
          </p:cNvPr>
          <p:cNvSpPr txBox="1"/>
          <p:nvPr/>
        </p:nvSpPr>
        <p:spPr>
          <a:xfrm>
            <a:off x="6766336" y="3626422"/>
            <a:ext cx="1265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Version Control &amp; file sharing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A8C5E8-9889-C44A-B045-FA0901A14073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3EB4BC-C015-4541-8D38-BA8D298CF668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058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01266" y="1279664"/>
            <a:ext cx="2949178" cy="3331846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Flexible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Open source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Academic &amp; growing in industry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Language agnostic, SQL, Weka, C, Fortran, Java </a:t>
            </a:r>
            <a:r>
              <a:rPr lang="en-US" sz="2400" dirty="0" err="1"/>
              <a:t>etc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EED6-FC16-45B9-B8C4-2BC5DBA88325}" type="datetime1">
              <a:rPr lang="en-US" smtClean="0"/>
              <a:t>7/6/26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6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30651" y="1279664"/>
            <a:ext cx="4629150" cy="35414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5171087"/>
            <a:ext cx="8686800" cy="481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 is a language &amp; environment for statistical computing and graphics. It is the </a:t>
            </a:r>
            <a:r>
              <a:rPr lang="en-US" sz="1400" b="1" dirty="0">
                <a:solidFill>
                  <a:schemeClr val="accent5"/>
                </a:solidFill>
              </a:rPr>
              <a:t>most popular statistical software</a:t>
            </a:r>
            <a:r>
              <a:rPr lang="en-US" sz="1400" dirty="0"/>
              <a:t> in circulation today and is used by more than </a:t>
            </a:r>
            <a:r>
              <a:rPr lang="en-US" sz="1400" b="1" dirty="0">
                <a:solidFill>
                  <a:schemeClr val="accent5"/>
                </a:solidFill>
              </a:rPr>
              <a:t>2 million</a:t>
            </a:r>
            <a:r>
              <a:rPr lang="en-US" sz="1400" dirty="0"/>
              <a:t> data scientists &amp; statisticians worldwide.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6275" y="5655307"/>
            <a:ext cx="4443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How Companies Use R to Compete in a Data-Driven World, </a:t>
            </a:r>
            <a:r>
              <a:rPr lang="en-US" sz="1050" dirty="0"/>
              <a:t>Data-informed.com</a:t>
            </a:r>
          </a:p>
        </p:txBody>
      </p:sp>
      <p:pic>
        <p:nvPicPr>
          <p:cNvPr id="11" name="Picture 2" descr="C:\Users\n0232877\AppData\Local\Microsoft\Windows\Temporary Internet Files\Content.IE5\FRTMVNL1\Rlogo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936" y="14288"/>
            <a:ext cx="1363200" cy="10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13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214313" y="1285875"/>
            <a:ext cx="2257425" cy="3331846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IDE – Integrated Development Environment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Adds additional functionality e.g. </a:t>
            </a:r>
            <a:r>
              <a:rPr lang="en-US" sz="2000" dirty="0" err="1"/>
              <a:t>git</a:t>
            </a:r>
            <a:r>
              <a:rPr lang="en-US" sz="2000" dirty="0"/>
              <a:t>, shiny projects, markdown templates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EED6-FC16-45B9-B8C4-2BC5DBA88325}" type="datetime1">
              <a:rPr lang="en-US" smtClean="0"/>
              <a:t>7/6/26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7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 Studio?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5055814"/>
            <a:ext cx="8686800" cy="7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 studio is the most popular IDE for R although there are others &amp;  you don’t actually need it to execute R code.  </a:t>
            </a:r>
          </a:p>
        </p:txBody>
      </p:sp>
      <p:pic>
        <p:nvPicPr>
          <p:cNvPr id="12" name="Picture 2" descr="Image result for r studio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296" y="28576"/>
            <a:ext cx="1005840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803" y="1285875"/>
            <a:ext cx="6635197" cy="3400174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704284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/>
        </p:nvSpPr>
        <p:spPr>
          <a:xfrm>
            <a:off x="1009652" y="3471856"/>
            <a:ext cx="6883357" cy="1143000"/>
          </a:xfrm>
          <a:custGeom>
            <a:avLst/>
            <a:gdLst>
              <a:gd name="connsiteX0" fmla="*/ 1180004 w 6883357"/>
              <a:gd name="connsiteY0" fmla="*/ 0 h 1143000"/>
              <a:gd name="connsiteX1" fmla="*/ 5703353 w 6883357"/>
              <a:gd name="connsiteY1" fmla="*/ 0 h 1143000"/>
              <a:gd name="connsiteX2" fmla="*/ 6883357 w 6883357"/>
              <a:gd name="connsiteY2" fmla="*/ 1143000 h 1143000"/>
              <a:gd name="connsiteX3" fmla="*/ 0 w 6883357"/>
              <a:gd name="connsiteY3" fmla="*/ 1143000 h 1143000"/>
              <a:gd name="connsiteX4" fmla="*/ 1180004 w 6883357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3357" h="1143000">
                <a:moveTo>
                  <a:pt x="1180004" y="0"/>
                </a:moveTo>
                <a:lnTo>
                  <a:pt x="5703353" y="0"/>
                </a:lnTo>
                <a:lnTo>
                  <a:pt x="6883357" y="1143000"/>
                </a:lnTo>
                <a:lnTo>
                  <a:pt x="0" y="1143000"/>
                </a:lnTo>
                <a:lnTo>
                  <a:pt x="1180004" y="0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2228850" y="1235949"/>
            <a:ext cx="4472090" cy="2190750"/>
          </a:xfrm>
          <a:custGeom>
            <a:avLst/>
            <a:gdLst>
              <a:gd name="connsiteX0" fmla="*/ 2261675 w 4523349"/>
              <a:gd name="connsiteY0" fmla="*/ 0 h 2190750"/>
              <a:gd name="connsiteX1" fmla="*/ 4523349 w 4523349"/>
              <a:gd name="connsiteY1" fmla="*/ 2190750 h 2190750"/>
              <a:gd name="connsiteX2" fmla="*/ 0 w 4523349"/>
              <a:gd name="connsiteY2" fmla="*/ 2190750 h 2190750"/>
              <a:gd name="connsiteX3" fmla="*/ 2261675 w 4523349"/>
              <a:gd name="connsiteY3" fmla="*/ 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3349" h="2190750">
                <a:moveTo>
                  <a:pt x="2261675" y="0"/>
                </a:moveTo>
                <a:lnTo>
                  <a:pt x="4523349" y="2190750"/>
                </a:lnTo>
                <a:lnTo>
                  <a:pt x="0" y="2190750"/>
                </a:lnTo>
                <a:lnTo>
                  <a:pt x="2261675" y="0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5750" y="365126"/>
            <a:ext cx="8229600" cy="591477"/>
          </a:xfrm>
        </p:spPr>
        <p:txBody>
          <a:bodyPr/>
          <a:lstStyle/>
          <a:p>
            <a:r>
              <a:rPr lang="en-US" dirty="0"/>
              <a:t>What is the relationship between R &amp; R studio?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5229237"/>
            <a:ext cx="8686800" cy="7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 Studio sits atop of the installed R version. Without base R, R studio cannot function.  By programmatically accessing base R, R Studio improves the interface and functionality.  </a:t>
            </a:r>
          </a:p>
        </p:txBody>
      </p:sp>
      <p:pic>
        <p:nvPicPr>
          <p:cNvPr id="7" name="Picture 2" descr="C:\Users\n0232877\AppData\Local\Microsoft\Windows\Temporary Internet Files\Content.IE5\FRTMVNL1\R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286" y="3486143"/>
            <a:ext cx="1363200" cy="10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 result for r studio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410" y="1828404"/>
            <a:ext cx="1005840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081591" y="3834836"/>
            <a:ext cx="2720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Statistical &amp; graphing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1591" y="1916897"/>
            <a:ext cx="3533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Nice interface &amp; additional functionality for faster programming, analysis &amp; production.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28600" y="5057778"/>
            <a:ext cx="8558213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731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2248" y="100085"/>
            <a:ext cx="8263102" cy="591477"/>
          </a:xfrm>
        </p:spPr>
        <p:txBody>
          <a:bodyPr/>
          <a:lstStyle/>
          <a:p>
            <a:r>
              <a:rPr lang="en-US" dirty="0"/>
              <a:t>Now that you have R, R-Studio &amp; Git, time to connect to our class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0445C-850B-D543-93F2-2A5F04F1E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38" y="2476088"/>
            <a:ext cx="1309260" cy="1012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0F69CD-16D1-A04F-9558-2149C7231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78" y="2119659"/>
            <a:ext cx="1725544" cy="17255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86DF65-F9BE-2144-8555-FB168BAA8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729" y="4079600"/>
            <a:ext cx="1033672" cy="4312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77A276-C775-5540-A6B0-938FC075D23C}"/>
              </a:ext>
            </a:extLst>
          </p:cNvPr>
          <p:cNvSpPr txBox="1"/>
          <p:nvPr/>
        </p:nvSpPr>
        <p:spPr>
          <a:xfrm>
            <a:off x="6718852" y="3833552"/>
            <a:ext cx="1298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Files hosted on </a:t>
            </a:r>
            <a:r>
              <a:rPr lang="en-US" dirty="0" err="1"/>
              <a:t>github.com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CB578D-AA55-A34C-8D21-1B280A2F51BD}"/>
              </a:ext>
            </a:extLst>
          </p:cNvPr>
          <p:cNvSpPr txBox="1"/>
          <p:nvPr/>
        </p:nvSpPr>
        <p:spPr>
          <a:xfrm>
            <a:off x="1007166" y="3833552"/>
            <a:ext cx="2703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 Studio sits on top of base R &amp; adds functionality.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7D0B05-7908-754A-8EE5-8B637FE81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251" y="2467253"/>
            <a:ext cx="1085915" cy="1030357"/>
          </a:xfrm>
          <a:prstGeom prst="rect">
            <a:avLst/>
          </a:prstGeom>
        </p:spPr>
      </p:pic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90DBCD3B-DF82-0741-BAB8-A6BAE361EB5A}"/>
              </a:ext>
            </a:extLst>
          </p:cNvPr>
          <p:cNvSpPr/>
          <p:nvPr/>
        </p:nvSpPr>
        <p:spPr>
          <a:xfrm>
            <a:off x="3591340" y="2538484"/>
            <a:ext cx="2915478" cy="8878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Connect to git repository.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93924A-45E4-384D-B138-BD982CFCCFF1}"/>
              </a:ext>
            </a:extLst>
          </p:cNvPr>
          <p:cNvSpPr txBox="1"/>
          <p:nvPr/>
        </p:nvSpPr>
        <p:spPr>
          <a:xfrm>
            <a:off x="4340086" y="4555795"/>
            <a:ext cx="12987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Makes the programmatic connection.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93DCCA-90EC-3845-AED9-CCF741EFA77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43F82F-B069-DF44-B5C5-F84AA8A540B4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71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Studio has four main panes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5757871"/>
            <a:ext cx="8686800" cy="296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 Studio works on Linux, Windows and iOS.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20" y="1071562"/>
            <a:ext cx="8587361" cy="4400551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1596673" y="1910941"/>
            <a:ext cx="1930400" cy="156309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Scripting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7391" y="2273706"/>
            <a:ext cx="17689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Commands are written &amp; adjusted here then executed in the console.  Then saved for future quick execution.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988" y="1528763"/>
            <a:ext cx="4572000" cy="22002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80988" y="3724277"/>
            <a:ext cx="4572000" cy="18192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625248" y="4000718"/>
            <a:ext cx="1930400" cy="14045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Console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5966" y="4407793"/>
            <a:ext cx="17689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Execution of scripts and commands, data exploration and code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86325" y="1528763"/>
            <a:ext cx="3986213" cy="14859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6022623" y="1918747"/>
            <a:ext cx="1930400" cy="88900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3340" y="2250610"/>
            <a:ext cx="1768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of objects &amp; values</a:t>
            </a:r>
          </a:p>
          <a:p>
            <a:r>
              <a:rPr lang="en-US" sz="1200" dirty="0"/>
              <a:t>e.g. loaded “excel”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81563" y="3038474"/>
            <a:ext cx="3986213" cy="25050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879747" y="3581967"/>
            <a:ext cx="1930400" cy="151431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Files, Plots, Packages, 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6177" y="4234906"/>
            <a:ext cx="1768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Find files, load packages, see visualizations and quickly find help</a:t>
            </a:r>
          </a:p>
        </p:txBody>
      </p:sp>
    </p:spTree>
    <p:extLst>
      <p:ext uri="{BB962C8B-B14F-4D97-AF65-F5344CB8AC3E}">
        <p14:creationId xmlns:p14="http://schemas.microsoft.com/office/powerpoint/2010/main" val="1441396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R: Where is it being used?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4" y="1262217"/>
            <a:ext cx="1737360" cy="393192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/>
              <a:t>Media</a:t>
            </a:r>
          </a:p>
          <a:p>
            <a:pPr algn="ctr"/>
            <a:r>
              <a:rPr lang="en-US" sz="1600" dirty="0"/>
              <a:t>Google</a:t>
            </a:r>
          </a:p>
          <a:p>
            <a:pPr algn="ctr"/>
            <a:r>
              <a:rPr lang="en-US" sz="1600" dirty="0"/>
              <a:t>Facebook</a:t>
            </a:r>
          </a:p>
          <a:p>
            <a:pPr algn="ctr"/>
            <a:r>
              <a:rPr lang="en-US" sz="1600" dirty="0"/>
              <a:t>Twitter</a:t>
            </a:r>
          </a:p>
          <a:p>
            <a:pPr algn="ctr"/>
            <a:r>
              <a:rPr lang="en-US" sz="1600" dirty="0"/>
              <a:t>Foursquare</a:t>
            </a:r>
          </a:p>
          <a:p>
            <a:pPr algn="ctr"/>
            <a:r>
              <a:rPr lang="en-US" sz="1600" dirty="0"/>
              <a:t>Kickstarter</a:t>
            </a:r>
          </a:p>
          <a:p>
            <a:pPr algn="ctr"/>
            <a:r>
              <a:rPr lang="en-US" sz="1600" dirty="0"/>
              <a:t>New York Times</a:t>
            </a:r>
          </a:p>
          <a:p>
            <a:pPr algn="ctr"/>
            <a:r>
              <a:rPr lang="en-US" sz="1600" dirty="0"/>
              <a:t>Economist</a:t>
            </a:r>
          </a:p>
          <a:p>
            <a:pPr algn="ctr"/>
            <a:r>
              <a:rPr lang="en-US" sz="1600" dirty="0"/>
              <a:t>Warner Bros.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3092" y="1262217"/>
            <a:ext cx="1737360" cy="393192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/>
              <a:t>Services</a:t>
            </a:r>
          </a:p>
          <a:p>
            <a:pPr algn="ctr"/>
            <a:r>
              <a:rPr lang="en-US" sz="1600" dirty="0"/>
              <a:t>Zillow</a:t>
            </a:r>
          </a:p>
          <a:p>
            <a:pPr algn="ctr"/>
            <a:r>
              <a:rPr lang="en-US" sz="1600" dirty="0"/>
              <a:t>Trulia</a:t>
            </a:r>
          </a:p>
          <a:p>
            <a:pPr algn="ctr"/>
            <a:r>
              <a:rPr lang="en-US" sz="1600" dirty="0"/>
              <a:t>eHarmony</a:t>
            </a:r>
          </a:p>
          <a:p>
            <a:pPr algn="ctr"/>
            <a:r>
              <a:rPr lang="en-US" sz="1600" dirty="0"/>
              <a:t>DataSong</a:t>
            </a:r>
          </a:p>
          <a:p>
            <a:pPr algn="ctr"/>
            <a:r>
              <a:rPr lang="en-US" sz="1600" dirty="0"/>
              <a:t>PredictWise</a:t>
            </a:r>
          </a:p>
          <a:p>
            <a:pPr algn="ctr"/>
            <a:r>
              <a:rPr lang="en-US" sz="1600" dirty="0"/>
              <a:t>Nationwide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3548" y="1262217"/>
            <a:ext cx="1737360" cy="392988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/>
              <a:t>Technology</a:t>
            </a:r>
          </a:p>
          <a:p>
            <a:pPr algn="ctr"/>
            <a:r>
              <a:rPr lang="en-US" sz="1600" dirty="0"/>
              <a:t>SAS</a:t>
            </a:r>
          </a:p>
          <a:p>
            <a:pPr algn="ctr"/>
            <a:r>
              <a:rPr lang="en-US" sz="1600" dirty="0"/>
              <a:t>Oracle</a:t>
            </a:r>
          </a:p>
          <a:p>
            <a:pPr algn="ctr"/>
            <a:r>
              <a:rPr lang="en-US" sz="1600" dirty="0"/>
              <a:t>IBM</a:t>
            </a:r>
          </a:p>
          <a:p>
            <a:pPr algn="ctr"/>
            <a:r>
              <a:rPr lang="en-US" sz="1600" dirty="0"/>
              <a:t>Teradata</a:t>
            </a:r>
          </a:p>
          <a:p>
            <a:pPr algn="ctr"/>
            <a:r>
              <a:rPr lang="en-US" sz="1600" dirty="0"/>
              <a:t>Coursera</a:t>
            </a:r>
          </a:p>
          <a:p>
            <a:pPr algn="ctr"/>
            <a:r>
              <a:rPr lang="en-US" sz="1600" dirty="0"/>
              <a:t>SAP</a:t>
            </a:r>
          </a:p>
          <a:p>
            <a:pPr algn="ctr"/>
            <a:r>
              <a:rPr lang="en-US" sz="1600" dirty="0"/>
              <a:t>DataCamp</a:t>
            </a:r>
          </a:p>
          <a:p>
            <a:pPr algn="ctr"/>
            <a:r>
              <a:rPr lang="en-US" sz="1600" dirty="0"/>
              <a:t>Alteryx</a:t>
            </a:r>
          </a:p>
          <a:p>
            <a:pPr algn="ctr"/>
            <a:r>
              <a:rPr lang="en-US" sz="1600" dirty="0"/>
              <a:t>TIBCO</a:t>
            </a:r>
          </a:p>
          <a:p>
            <a:pPr algn="ctr"/>
            <a:r>
              <a:rPr lang="en-US" sz="1600" dirty="0" err="1"/>
              <a:t>OneTick</a:t>
            </a:r>
            <a:endParaRPr lang="en-US" sz="1600" dirty="0"/>
          </a:p>
          <a:p>
            <a:pPr algn="ctr"/>
            <a:r>
              <a:rPr lang="en-US" sz="1600" dirty="0"/>
              <a:t>Amazon</a:t>
            </a:r>
          </a:p>
          <a:p>
            <a:pPr algn="ctr"/>
            <a:r>
              <a:rPr lang="en-US" sz="1600" dirty="0"/>
              <a:t>Google</a:t>
            </a:r>
          </a:p>
          <a:p>
            <a:pPr algn="ctr"/>
            <a:r>
              <a:rPr lang="en-US" sz="1600" dirty="0"/>
              <a:t>Microsoft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62217"/>
            <a:ext cx="1737360" cy="393192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/>
              <a:t>Finance</a:t>
            </a:r>
          </a:p>
          <a:p>
            <a:pPr algn="ctr"/>
            <a:r>
              <a:rPr lang="en-US" sz="1600" dirty="0"/>
              <a:t>Lloyd’s Bank</a:t>
            </a:r>
          </a:p>
          <a:p>
            <a:pPr algn="ctr"/>
            <a:r>
              <a:rPr lang="en-US" sz="1600" dirty="0"/>
              <a:t>Credit Suisse</a:t>
            </a:r>
          </a:p>
          <a:p>
            <a:pPr algn="ctr"/>
            <a:r>
              <a:rPr lang="en-US" sz="1600" dirty="0"/>
              <a:t>American Century</a:t>
            </a:r>
          </a:p>
          <a:p>
            <a:pPr algn="ctr"/>
            <a:r>
              <a:rPr lang="en-US" sz="1600" dirty="0"/>
              <a:t>Australia and New Zealand Banking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3776" y="1262217"/>
            <a:ext cx="1737360" cy="393192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b="1" dirty="0"/>
              <a:t>U.S Government</a:t>
            </a:r>
          </a:p>
          <a:p>
            <a:pPr algn="ctr"/>
            <a:r>
              <a:rPr lang="en-US" sz="1600" dirty="0"/>
              <a:t>Food &amp; Drug </a:t>
            </a:r>
          </a:p>
          <a:p>
            <a:pPr algn="ctr"/>
            <a:r>
              <a:rPr lang="en-US" sz="1600" dirty="0"/>
              <a:t>Administration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National Weather </a:t>
            </a:r>
          </a:p>
          <a:p>
            <a:pPr algn="ctr"/>
            <a:r>
              <a:rPr lang="en-US" sz="1600" dirty="0"/>
              <a:t>Service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National Institute </a:t>
            </a:r>
          </a:p>
          <a:p>
            <a:pPr algn="ctr"/>
            <a:r>
              <a:rPr lang="en-US" sz="1600" dirty="0"/>
              <a:t>of Standards </a:t>
            </a:r>
          </a:p>
          <a:p>
            <a:pPr algn="ctr"/>
            <a:r>
              <a:rPr lang="en-US" sz="1600" dirty="0"/>
              <a:t>in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500709"/>
            <a:ext cx="8686800" cy="553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 is ubiquitous in various industries used for analysis, prototyping and visualization.   However, more often python is used in </a:t>
            </a:r>
            <a:r>
              <a:rPr lang="en-US" sz="1600" i="1" dirty="0"/>
              <a:t>production</a:t>
            </a:r>
            <a:r>
              <a:rPr lang="en-US" sz="1600" dirty="0"/>
              <a:t> environments.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228600" y="5329250"/>
            <a:ext cx="8558213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402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29842" y="1956431"/>
            <a:ext cx="3868340" cy="3769050"/>
          </a:xfrm>
          <a:ln>
            <a:solidFill>
              <a:schemeClr val="accent3"/>
            </a:solidFill>
          </a:ln>
        </p:spPr>
        <p:txBody>
          <a:bodyPr/>
          <a:lstStyle/>
          <a:p>
            <a:pPr marL="230188" lvl="0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Arial"/>
              </a:rPr>
              <a:t>VERY extensible  </a:t>
            </a:r>
          </a:p>
          <a:p>
            <a:pPr marL="573088" lvl="1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1700" dirty="0">
                <a:solidFill>
                  <a:sysClr val="windowText" lastClr="000000"/>
                </a:solidFill>
                <a:latin typeface="Arial"/>
              </a:rPr>
              <a:t>20K+ packages</a:t>
            </a:r>
          </a:p>
          <a:p>
            <a:pPr marL="230188" lvl="0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Arial"/>
              </a:rPr>
              <a:t>Built by stats, made for stats</a:t>
            </a:r>
          </a:p>
          <a:p>
            <a:pPr marL="230188" lvl="0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Arial"/>
              </a:rPr>
              <a:t>Free, open source</a:t>
            </a:r>
          </a:p>
          <a:p>
            <a:pPr marL="573088" lvl="1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1700" dirty="0">
                <a:solidFill>
                  <a:sysClr val="windowText" lastClr="000000"/>
                </a:solidFill>
                <a:latin typeface="Arial"/>
              </a:rPr>
              <a:t>Cutting edge</a:t>
            </a:r>
          </a:p>
          <a:p>
            <a:pPr marL="573088" lvl="1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1700" dirty="0">
                <a:solidFill>
                  <a:sysClr val="windowText" lastClr="000000"/>
                </a:solidFill>
                <a:latin typeface="Arial"/>
              </a:rPr>
              <a:t>Diverse applications</a:t>
            </a:r>
          </a:p>
          <a:p>
            <a:pPr marL="230188" lvl="0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Arial"/>
              </a:rPr>
              <a:t>Outstanding graphical capabilities</a:t>
            </a:r>
          </a:p>
          <a:p>
            <a:pPr marL="230188" lvl="0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rgbClr val="FF0000"/>
                </a:solidFill>
                <a:latin typeface="Arial"/>
              </a:rPr>
              <a:t>Large community-based help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>
          <a:solidFill>
            <a:schemeClr val="accent3"/>
          </a:solidFill>
          <a:ln>
            <a:solidFill>
              <a:schemeClr val="accent3"/>
            </a:solidFill>
          </a:ln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4"/>
          </p:nvPr>
        </p:nvSpPr>
        <p:spPr>
          <a:xfrm>
            <a:off x="4629150" y="1956431"/>
            <a:ext cx="3887391" cy="3769050"/>
          </a:xfrm>
          <a:ln>
            <a:solidFill>
              <a:schemeClr val="accent3"/>
            </a:solidFill>
          </a:ln>
        </p:spPr>
        <p:txBody>
          <a:bodyPr/>
          <a:lstStyle/>
          <a:p>
            <a:pPr marL="230188" lvl="0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Arial"/>
              </a:rPr>
              <a:t>Tough to do “big data” </a:t>
            </a:r>
          </a:p>
          <a:p>
            <a:pPr marL="573088" lvl="1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1700" dirty="0">
                <a:solidFill>
                  <a:sysClr val="windowText" lastClr="000000"/>
                </a:solidFill>
                <a:latin typeface="Arial"/>
              </a:rPr>
              <a:t>In memory data constraints w/o extra effort</a:t>
            </a:r>
          </a:p>
          <a:p>
            <a:pPr marL="230188" lvl="0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Arial"/>
              </a:rPr>
              <a:t>Official documentation is terse</a:t>
            </a:r>
          </a:p>
          <a:p>
            <a:pPr marL="230188" lvl="0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Arial"/>
              </a:rPr>
              <a:t>Not as polished as a commercial application</a:t>
            </a:r>
          </a:p>
          <a:p>
            <a:pPr marL="230188" lvl="0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Arial"/>
              </a:rPr>
              <a:t>Slow compared to lower level languages</a:t>
            </a:r>
          </a:p>
          <a:p>
            <a:pPr marL="230188" lvl="0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Arial"/>
              </a:rPr>
              <a:t>Production worthy apps can be </a:t>
            </a:r>
            <a:r>
              <a:rPr lang="en-US" sz="2000" i="1" dirty="0">
                <a:solidFill>
                  <a:sysClr val="windowText" lastClr="000000"/>
                </a:solidFill>
                <a:latin typeface="Arial"/>
              </a:rPr>
              <a:t>difficult</a:t>
            </a:r>
            <a:r>
              <a:rPr lang="en-US" sz="2000" dirty="0">
                <a:solidFill>
                  <a:sysClr val="windowText" lastClr="000000"/>
                </a:solidFill>
                <a:latin typeface="Arial"/>
              </a:rPr>
              <a:t> to create </a:t>
            </a:r>
          </a:p>
          <a:p>
            <a:pPr marL="230188" lvl="0" indent="-230188" defTabSz="9144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rgbClr val="FF0000"/>
                </a:solidFill>
                <a:latin typeface="Arial"/>
              </a:rPr>
              <a:t>Large community-based help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2154-9035-4012-8189-BAAB61C5A5EE}" type="datetime1">
              <a:rPr lang="en-US" smtClean="0"/>
              <a:t>7/6/26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Ok, it’s awesome but…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12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4B2A16-B135-66A9-81AD-336C050CF405}"/>
              </a:ext>
            </a:extLst>
          </p:cNvPr>
          <p:cNvSpPr/>
          <p:nvPr/>
        </p:nvSpPr>
        <p:spPr>
          <a:xfrm>
            <a:off x="627459" y="5844988"/>
            <a:ext cx="7886700" cy="358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Most Large Language Models (LLMs) like ChatGPT know R code!  You can just ask to get help.</a:t>
            </a:r>
          </a:p>
        </p:txBody>
      </p:sp>
    </p:spTree>
    <p:extLst>
      <p:ext uri="{BB962C8B-B14F-4D97-AF65-F5344CB8AC3E}">
        <p14:creationId xmlns:p14="http://schemas.microsoft.com/office/powerpoint/2010/main" val="1930796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basic R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0003F2-6EC5-4EC0-96D8-393437A752B0}"/>
              </a:ext>
            </a:extLst>
          </p:cNvPr>
          <p:cNvSpPr/>
          <p:nvPr/>
        </p:nvSpPr>
        <p:spPr>
          <a:xfrm>
            <a:off x="240631" y="1095366"/>
            <a:ext cx="8686800" cy="4175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Let’s eat a banana for breakfast.  </a:t>
            </a:r>
            <a:r>
              <a:rPr lang="en-US" sz="2400" b="1" u="sng" dirty="0">
                <a:solidFill>
                  <a:schemeClr val="accent1"/>
                </a:solidFill>
              </a:rPr>
              <a:t>Where is the fruit?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2D44EF-9F10-4497-A64C-FB989A9FA3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50" y="1912338"/>
            <a:ext cx="2423319" cy="187859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057600D-422B-4BD6-98C5-ECD6CB4C0601}"/>
              </a:ext>
            </a:extLst>
          </p:cNvPr>
          <p:cNvSpPr/>
          <p:nvPr/>
        </p:nvSpPr>
        <p:spPr>
          <a:xfrm>
            <a:off x="240631" y="5956944"/>
            <a:ext cx="8686800" cy="4175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item of interest needs to be in the “working directory” or a defined path </a:t>
            </a:r>
            <a:endParaRPr lang="en-US" b="1" u="sng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E26C31-2DE9-4F0E-90DC-A879D013CDE8}"/>
              </a:ext>
            </a:extLst>
          </p:cNvPr>
          <p:cNvSpPr txBox="1"/>
          <p:nvPr/>
        </p:nvSpPr>
        <p:spPr>
          <a:xfrm>
            <a:off x="240630" y="1737196"/>
            <a:ext cx="6217319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If a “local” file define the path to the file</a:t>
            </a:r>
          </a:p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setwd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(‘ted/fruit/basket’)</a:t>
            </a:r>
          </a:p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&lt;- "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forceAwakens_definedScenes.csv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u="sng" dirty="0">
                <a:latin typeface="Consolas" panose="020B0609020204030204" pitchFamily="49" charset="0"/>
                <a:cs typeface="Consolas" panose="020B0609020204030204" pitchFamily="49" charset="0"/>
              </a:rPr>
              <a:t>OR WINDOWS</a:t>
            </a:r>
          </a:p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&lt;- "</a:t>
            </a:r>
            <a:r>
              <a:rPr lang="en-US" sz="1400" b="0" i="0" dirty="0">
                <a:solidFill>
                  <a:srgbClr val="16161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C:\\Documents\\</a:t>
            </a:r>
            <a:r>
              <a:rPr lang="en-US" sz="1400" b="0" i="0" dirty="0" err="1">
                <a:solidFill>
                  <a:srgbClr val="16161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hult</a:t>
            </a:r>
            <a:r>
              <a:rPr lang="en-US" sz="1400" b="0" i="0" dirty="0">
                <a:solidFill>
                  <a:srgbClr val="16161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\\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forceAwakens_definedScenes.csv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u="sng" dirty="0">
                <a:latin typeface="Consolas" panose="020B0609020204030204" pitchFamily="49" charset="0"/>
                <a:cs typeface="Consolas" panose="020B0609020204030204" pitchFamily="49" charset="0"/>
              </a:rPr>
              <a:t>OR MAC</a:t>
            </a:r>
          </a:p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&lt;- "~/Desktop/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Hult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forceAwakens_definedScenes.csv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u="sng" dirty="0"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From a URL</a:t>
            </a:r>
          </a:p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&lt;- 'https://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raw.githubusercontent.com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kwartler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Hult_Visualizing_Analyzing_Data_with_R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/main/Lessons/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A_Intro_Admin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/data/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forceAwakens_definedScenes.csv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713083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0003F2-6EC5-4EC0-96D8-393437A752B0}"/>
              </a:ext>
            </a:extLst>
          </p:cNvPr>
          <p:cNvSpPr/>
          <p:nvPr/>
        </p:nvSpPr>
        <p:spPr>
          <a:xfrm>
            <a:off x="240631" y="1095366"/>
            <a:ext cx="8686800" cy="4175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Found the fruit basket!  </a:t>
            </a:r>
            <a:r>
              <a:rPr lang="en-US" sz="2400" b="1" u="sng" dirty="0">
                <a:solidFill>
                  <a:schemeClr val="accent1"/>
                </a:solidFill>
              </a:rPr>
              <a:t>What tools do I need?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57600D-422B-4BD6-98C5-ECD6CB4C0601}"/>
              </a:ext>
            </a:extLst>
          </p:cNvPr>
          <p:cNvSpPr/>
          <p:nvPr/>
        </p:nvSpPr>
        <p:spPr>
          <a:xfrm>
            <a:off x="240631" y="5345069"/>
            <a:ext cx="8686800" cy="6143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Change R into a breakfast preparing machine with specialized libraries.</a:t>
            </a:r>
            <a:endParaRPr lang="en-US" sz="2000" b="1" u="sng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48A29-42F6-469F-9DBF-84740FD81173}"/>
              </a:ext>
            </a:extLst>
          </p:cNvPr>
          <p:cNvSpPr txBox="1"/>
          <p:nvPr/>
        </p:nvSpPr>
        <p:spPr>
          <a:xfrm>
            <a:off x="240631" y="1737196"/>
            <a:ext cx="3477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</a:t>
            </a:r>
            <a:r>
              <a:rPr lang="en-US" dirty="0" err="1">
                <a:latin typeface="Consolas" panose="020B0609020204030204" pitchFamily="49" charset="0"/>
              </a:rPr>
              <a:t>setwd</a:t>
            </a:r>
            <a:r>
              <a:rPr lang="en-US" dirty="0">
                <a:latin typeface="Consolas" panose="020B0609020204030204" pitchFamily="49" charset="0"/>
              </a:rPr>
              <a:t>(“ted/fruit/basket”)</a:t>
            </a:r>
          </a:p>
          <a:p>
            <a:r>
              <a:rPr lang="en-US" dirty="0">
                <a:latin typeface="Consolas" panose="020B0609020204030204" pitchFamily="49" charset="0"/>
              </a:rPr>
              <a:t># Load Libraries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B94BE-BED5-4DAC-BD02-4840C2714CF6}"/>
              </a:ext>
            </a:extLst>
          </p:cNvPr>
          <p:cNvSpPr txBox="1"/>
          <p:nvPr/>
        </p:nvSpPr>
        <p:spPr>
          <a:xfrm>
            <a:off x="240630" y="2318773"/>
            <a:ext cx="19575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library(knife)</a:t>
            </a:r>
          </a:p>
          <a:p>
            <a:r>
              <a:rPr lang="en-US" dirty="0">
                <a:latin typeface="Consolas" panose="020B0609020204030204" pitchFamily="49" charset="0"/>
              </a:rPr>
              <a:t>library(peel)</a:t>
            </a:r>
          </a:p>
          <a:p>
            <a:r>
              <a:rPr lang="en-US" dirty="0">
                <a:latin typeface="Consolas" panose="020B0609020204030204" pitchFamily="49" charset="0"/>
              </a:rPr>
              <a:t>library(</a:t>
            </a:r>
            <a:r>
              <a:rPr lang="en-US" dirty="0" err="1">
                <a:latin typeface="Consolas" panose="020B0609020204030204" pitchFamily="49" charset="0"/>
              </a:rPr>
              <a:t>readr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0" name="Picture 2" descr="Image result for hand white background">
            <a:extLst>
              <a:ext uri="{FF2B5EF4-FFF2-40B4-BE49-F238E27FC236}">
                <a16:creationId xmlns:a16="http://schemas.microsoft.com/office/drawing/2014/main" id="{C1310C95-C648-4984-A9E4-F1D5794C9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173" y="2028449"/>
            <a:ext cx="2627168" cy="226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://cdn.xl.thumbs.canstockphoto.com/canstock14746167.jpg">
            <a:extLst>
              <a:ext uri="{FF2B5EF4-FFF2-40B4-BE49-F238E27FC236}">
                <a16:creationId xmlns:a16="http://schemas.microsoft.com/office/drawing/2014/main" id="{433837BB-B7CA-422B-AE90-5EC2CAE951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0" b="38097"/>
          <a:stretch/>
        </p:blipFill>
        <p:spPr bwMode="auto">
          <a:xfrm rot="5400000">
            <a:off x="5803428" y="2990364"/>
            <a:ext cx="2580919" cy="65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861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100"/>
              <a:t>Another trap!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79AAEF-9330-4155-8F4A-DA255700AA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37" b="10552"/>
          <a:stretch/>
        </p:blipFill>
        <p:spPr>
          <a:xfrm>
            <a:off x="20" y="11"/>
            <a:ext cx="9143980" cy="3657590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57F220-BFA2-43FF-989A-C877C7FF0A67}"/>
              </a:ext>
            </a:extLst>
          </p:cNvPr>
          <p:cNvSpPr/>
          <p:nvPr/>
        </p:nvSpPr>
        <p:spPr>
          <a:xfrm>
            <a:off x="3167986" y="3752850"/>
            <a:ext cx="5614060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Before loading a library use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install.packages</a:t>
            </a:r>
            <a:r>
              <a:rPr lang="en-US" sz="1600" dirty="0"/>
              <a:t>(“name of package”). 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You only need to do this once per environment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But you will need to repeat it w/each new environment!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60759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700A58B-DD98-43D0-B791-721480A02982}" type="datetime1"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7/6/26</a:t>
            </a:fld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/>
                <a:ea typeface="+mn-ea"/>
                <a:cs typeface="+mn-cs"/>
              </a:rPr>
              <a:t>Kwartler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484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37290FF7-652B-4475-AEAB-8B1A5D23AE09}" type="slidenum"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15</a:t>
            </a:fld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94333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5195" y="365126"/>
            <a:ext cx="8330155" cy="591477"/>
          </a:xfrm>
        </p:spPr>
        <p:txBody>
          <a:bodyPr/>
          <a:lstStyle/>
          <a:p>
            <a:r>
              <a:rPr lang="en-US" dirty="0"/>
              <a:t>The course readme has the packages to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E64883-1A2E-6744-A141-61BAB6B5D57E}"/>
              </a:ext>
            </a:extLst>
          </p:cNvPr>
          <p:cNvSpPr/>
          <p:nvPr/>
        </p:nvSpPr>
        <p:spPr>
          <a:xfrm>
            <a:off x="240631" y="5706323"/>
            <a:ext cx="8686800" cy="3920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Don’t install them now, it takes awhile. </a:t>
            </a:r>
            <a:endParaRPr lang="en-US" sz="2000" b="1" u="sng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AE7E8C-ED60-DF91-32FE-0E69291ED2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150"/>
          <a:stretch/>
        </p:blipFill>
        <p:spPr>
          <a:xfrm>
            <a:off x="240631" y="1100730"/>
            <a:ext cx="5300360" cy="367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87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0003F2-6EC5-4EC0-96D8-393437A752B0}"/>
              </a:ext>
            </a:extLst>
          </p:cNvPr>
          <p:cNvSpPr/>
          <p:nvPr/>
        </p:nvSpPr>
        <p:spPr>
          <a:xfrm>
            <a:off x="240631" y="1095366"/>
            <a:ext cx="8686800" cy="4175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Now R is a cutting &amp; peeling machine, </a:t>
            </a:r>
            <a:r>
              <a:rPr lang="en-US" sz="2400" dirty="0">
                <a:solidFill>
                  <a:schemeClr val="accent1"/>
                </a:solidFill>
              </a:rPr>
              <a:t>let’s pick our fruit.</a:t>
            </a:r>
            <a:endParaRPr lang="en-US" sz="2400" b="1" u="sng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57600D-422B-4BD6-98C5-ECD6CB4C0601}"/>
              </a:ext>
            </a:extLst>
          </p:cNvPr>
          <p:cNvSpPr/>
          <p:nvPr/>
        </p:nvSpPr>
        <p:spPr>
          <a:xfrm>
            <a:off x="240631" y="5345069"/>
            <a:ext cx="8686800" cy="6143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 now has the object called </a:t>
            </a:r>
            <a:r>
              <a:rPr lang="en-US" sz="2000" b="1" u="sng" dirty="0">
                <a:solidFill>
                  <a:schemeClr val="bg1"/>
                </a:solidFill>
              </a:rPr>
              <a:t>banana</a:t>
            </a:r>
            <a:r>
              <a:rPr lang="en-US" sz="2000" dirty="0">
                <a:solidFill>
                  <a:schemeClr val="bg1"/>
                </a:solidFill>
              </a:rPr>
              <a:t> in memory </a:t>
            </a:r>
            <a:r>
              <a:rPr lang="en-US" sz="2000" dirty="0" err="1">
                <a:solidFill>
                  <a:schemeClr val="bg1"/>
                </a:solidFill>
              </a:rPr>
              <a:t>ie</a:t>
            </a:r>
            <a:r>
              <a:rPr lang="en-US" sz="2000" dirty="0">
                <a:solidFill>
                  <a:schemeClr val="bg1"/>
                </a:solidFill>
              </a:rPr>
              <a:t> “opening a spreadsheet”</a:t>
            </a:r>
            <a:endParaRPr lang="en-US" sz="2000" b="1" u="sng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B94BE-BED5-4DAC-BD02-4840C2714CF6}"/>
              </a:ext>
            </a:extLst>
          </p:cNvPr>
          <p:cNvSpPr txBox="1"/>
          <p:nvPr/>
        </p:nvSpPr>
        <p:spPr>
          <a:xfrm>
            <a:off x="240630" y="1608036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library(knife)</a:t>
            </a:r>
          </a:p>
          <a:p>
            <a:r>
              <a:rPr lang="en-US" dirty="0">
                <a:latin typeface="Consolas" panose="020B0609020204030204" pitchFamily="49" charset="0"/>
              </a:rPr>
              <a:t>library(peel)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1120AF-BC7C-483D-AC5F-D193F15235D7}"/>
              </a:ext>
            </a:extLst>
          </p:cNvPr>
          <p:cNvSpPr txBox="1"/>
          <p:nvPr/>
        </p:nvSpPr>
        <p:spPr>
          <a:xfrm>
            <a:off x="240630" y="2465567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banana &lt;- </a:t>
            </a:r>
            <a:r>
              <a:rPr lang="en-US" dirty="0" err="1">
                <a:latin typeface="Consolas" panose="020B0609020204030204" pitchFamily="49" charset="0"/>
              </a:rPr>
              <a:t>read.csv</a:t>
            </a:r>
            <a:r>
              <a:rPr lang="en-US" dirty="0">
                <a:latin typeface="Consolas" panose="020B0609020204030204" pitchFamily="49" charset="0"/>
              </a:rPr>
              <a:t>(“</a:t>
            </a:r>
            <a:r>
              <a:rPr lang="en-US" dirty="0" err="1">
                <a:latin typeface="Consolas" panose="020B0609020204030204" pitchFamily="49" charset="0"/>
              </a:rPr>
              <a:t>Banana.csv</a:t>
            </a:r>
            <a:r>
              <a:rPr lang="en-US" dirty="0">
                <a:latin typeface="Consolas" panose="020B0609020204030204" pitchFamily="49" charset="0"/>
              </a:rPr>
              <a:t>”)</a:t>
            </a:r>
            <a:endParaRPr lang="en-US" dirty="0"/>
          </a:p>
        </p:txBody>
      </p:sp>
      <p:pic>
        <p:nvPicPr>
          <p:cNvPr id="11" name="Picture 6" descr="Image result for banana transparent background">
            <a:extLst>
              <a:ext uri="{FF2B5EF4-FFF2-40B4-BE49-F238E27FC236}">
                <a16:creationId xmlns:a16="http://schemas.microsoft.com/office/drawing/2014/main" id="{5D8E29B8-7D56-4DAC-83F8-3181EDB09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705" y="1322773"/>
            <a:ext cx="2973247" cy="297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peech Bubble: Rectangle with Corners Rounded 7">
            <a:extLst>
              <a:ext uri="{FF2B5EF4-FFF2-40B4-BE49-F238E27FC236}">
                <a16:creationId xmlns:a16="http://schemas.microsoft.com/office/drawing/2014/main" id="{E27E2BA0-A2C4-4F36-ABAE-408CEF983453}"/>
              </a:ext>
            </a:extLst>
          </p:cNvPr>
          <p:cNvSpPr/>
          <p:nvPr/>
        </p:nvSpPr>
        <p:spPr>
          <a:xfrm>
            <a:off x="4738235" y="4023101"/>
            <a:ext cx="3131507" cy="1164920"/>
          </a:xfrm>
          <a:prstGeom prst="wedgeRoundRectCallout">
            <a:avLst>
              <a:gd name="adj1" fmla="val -61224"/>
              <a:gd name="adj2" fmla="val -160184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Must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 In the working directory or full path declared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 inside quotes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Have correct capitalization, spacing &amp; spelling matter.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FAF387-53BA-5A68-1C72-B3AB42315846}"/>
              </a:ext>
            </a:extLst>
          </p:cNvPr>
          <p:cNvSpPr txBox="1"/>
          <p:nvPr/>
        </p:nvSpPr>
        <p:spPr>
          <a:xfrm>
            <a:off x="240630" y="3219722"/>
            <a:ext cx="5302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latin typeface="Consolas" panose="020B0609020204030204" pitchFamily="49" charset="0"/>
              </a:rPr>
              <a:t>OR</a:t>
            </a:r>
          </a:p>
          <a:p>
            <a:r>
              <a:rPr lang="en-US" dirty="0">
                <a:latin typeface="Consolas" panose="020B0609020204030204" pitchFamily="49" charset="0"/>
              </a:rPr>
              <a:t>banana &lt;- </a:t>
            </a:r>
            <a:r>
              <a:rPr lang="en-US" dirty="0" err="1">
                <a:latin typeface="Consolas" panose="020B0609020204030204" pitchFamily="49" charset="0"/>
              </a:rPr>
              <a:t>read.csv</a:t>
            </a:r>
            <a:r>
              <a:rPr lang="en-US" dirty="0">
                <a:latin typeface="Consolas" panose="020B0609020204030204" pitchFamily="49" charset="0"/>
              </a:rPr>
              <a:t>(“</a:t>
            </a:r>
            <a:r>
              <a:rPr lang="en-US" dirty="0" err="1">
                <a:latin typeface="Consolas" panose="020B0609020204030204" pitchFamily="49" charset="0"/>
              </a:rPr>
              <a:t>www.csvFile.csv</a:t>
            </a:r>
            <a:r>
              <a:rPr lang="en-US" dirty="0">
                <a:latin typeface="Consolas" panose="020B0609020204030204" pitchFamily="49" charset="0"/>
              </a:rPr>
              <a:t>”)</a:t>
            </a:r>
            <a:endParaRPr lang="en-US" dirty="0"/>
          </a:p>
        </p:txBody>
      </p:sp>
      <p:sp>
        <p:nvSpPr>
          <p:cNvPr id="15" name="Speech Bubble: Rectangle with Corners Rounded 7">
            <a:extLst>
              <a:ext uri="{FF2B5EF4-FFF2-40B4-BE49-F238E27FC236}">
                <a16:creationId xmlns:a16="http://schemas.microsoft.com/office/drawing/2014/main" id="{F51F4D2A-7F6F-2E5D-5E2C-CFC56F80173B}"/>
              </a:ext>
            </a:extLst>
          </p:cNvPr>
          <p:cNvSpPr/>
          <p:nvPr/>
        </p:nvSpPr>
        <p:spPr>
          <a:xfrm>
            <a:off x="2198217" y="4458117"/>
            <a:ext cx="2042037" cy="724855"/>
          </a:xfrm>
          <a:prstGeom prst="wedgeRoundRectCallout">
            <a:avLst>
              <a:gd name="adj1" fmla="val 15629"/>
              <a:gd name="adj2" fmla="val -145039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Must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Refer to the URL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Or be the URL in quotes</a:t>
            </a:r>
          </a:p>
        </p:txBody>
      </p:sp>
    </p:spTree>
    <p:extLst>
      <p:ext uri="{BB962C8B-B14F-4D97-AF65-F5344CB8AC3E}">
        <p14:creationId xmlns:p14="http://schemas.microsoft.com/office/powerpoint/2010/main" val="2963678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my file is Excel or ???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2" descr="Image result for advice meme">
            <a:extLst>
              <a:ext uri="{FF2B5EF4-FFF2-40B4-BE49-F238E27FC236}">
                <a16:creationId xmlns:a16="http://schemas.microsoft.com/office/drawing/2014/main" id="{2C3CA585-ACF4-469C-BE93-2BF26DF57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25" y="1848170"/>
            <a:ext cx="3640942" cy="291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D510A5-BA30-4AB1-9EDA-6E4222102AF1}"/>
              </a:ext>
            </a:extLst>
          </p:cNvPr>
          <p:cNvSpPr txBox="1"/>
          <p:nvPr/>
        </p:nvSpPr>
        <p:spPr>
          <a:xfrm>
            <a:off x="3820017" y="1848755"/>
            <a:ext cx="50875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can open many files types with different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SaS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Rds</a:t>
            </a:r>
            <a:r>
              <a:rPr lang="en-US" dirty="0"/>
              <a:t>, </a:t>
            </a:r>
            <a:r>
              <a:rPr lang="en-US" dirty="0" err="1"/>
              <a:t>rda</a:t>
            </a:r>
            <a:r>
              <a:rPr lang="en-US" dirty="0"/>
              <a:t>, </a:t>
            </a:r>
            <a:r>
              <a:rPr lang="en-US" dirty="0" err="1"/>
              <a:t>fst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Databases (SQL, </a:t>
            </a:r>
            <a:r>
              <a:rPr lang="en-US" dirty="0" err="1"/>
              <a:t>mongoDB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S3 Buckets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14952-F2EF-4FC6-A890-56476579D625}"/>
              </a:ext>
            </a:extLst>
          </p:cNvPr>
          <p:cNvSpPr/>
          <p:nvPr/>
        </p:nvSpPr>
        <p:spPr>
          <a:xfrm>
            <a:off x="240630" y="5345069"/>
            <a:ext cx="8686800" cy="6143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Recommendation: to get started stick with CSV.  Most software can export CSV.  Most class files are CSV.</a:t>
            </a:r>
            <a:endParaRPr lang="en-US" sz="2000" b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416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57600D-422B-4BD6-98C5-ECD6CB4C0601}"/>
              </a:ext>
            </a:extLst>
          </p:cNvPr>
          <p:cNvSpPr/>
          <p:nvPr/>
        </p:nvSpPr>
        <p:spPr>
          <a:xfrm>
            <a:off x="240631" y="5345069"/>
            <a:ext cx="8686800" cy="6143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R uses predefined functions to accomplish things.</a:t>
            </a:r>
            <a:endParaRPr lang="en-US" sz="2400" b="1" u="sng" dirty="0">
              <a:solidFill>
                <a:schemeClr val="accent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B1C195-F0A1-4DF2-83F7-CCD1E042F513}"/>
              </a:ext>
            </a:extLst>
          </p:cNvPr>
          <p:cNvCxnSpPr/>
          <p:nvPr/>
        </p:nvCxnSpPr>
        <p:spPr>
          <a:xfrm>
            <a:off x="1281504" y="3106455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90C574D-332E-41EE-87C5-81241A5307BF}"/>
              </a:ext>
            </a:extLst>
          </p:cNvPr>
          <p:cNvSpPr/>
          <p:nvPr/>
        </p:nvSpPr>
        <p:spPr>
          <a:xfrm>
            <a:off x="3538967" y="2099657"/>
            <a:ext cx="2041743" cy="204174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7A9DDF-ABC4-486B-BABF-3D7BAD0689BF}"/>
              </a:ext>
            </a:extLst>
          </p:cNvPr>
          <p:cNvSpPr txBox="1"/>
          <p:nvPr/>
        </p:nvSpPr>
        <p:spPr>
          <a:xfrm>
            <a:off x="155214" y="29217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F5C5F6-6775-4B27-8329-824CF1E7A3A3}"/>
              </a:ext>
            </a:extLst>
          </p:cNvPr>
          <p:cNvCxnSpPr/>
          <p:nvPr/>
        </p:nvCxnSpPr>
        <p:spPr>
          <a:xfrm>
            <a:off x="6009373" y="3096017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6CDC2A-2032-43BC-B8F4-FE3782DA2BFB}"/>
              </a:ext>
            </a:extLst>
          </p:cNvPr>
          <p:cNvSpPr txBox="1"/>
          <p:nvPr/>
        </p:nvSpPr>
        <p:spPr>
          <a:xfrm>
            <a:off x="8266837" y="29113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995320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0C574D-332E-41EE-87C5-81241A5307BF}"/>
              </a:ext>
            </a:extLst>
          </p:cNvPr>
          <p:cNvSpPr/>
          <p:nvPr/>
        </p:nvSpPr>
        <p:spPr>
          <a:xfrm>
            <a:off x="3538967" y="2099657"/>
            <a:ext cx="2041743" cy="204174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Our Function accepts any number and is a “plus 2 and multiply by 3” Machine. 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232162-39D8-F747-A15E-BF2A58EE942D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A630FC-BC10-FD42-A6DF-414E9313392D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09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B1C195-F0A1-4DF2-83F7-CCD1E042F513}"/>
              </a:ext>
            </a:extLst>
          </p:cNvPr>
          <p:cNvCxnSpPr/>
          <p:nvPr/>
        </p:nvCxnSpPr>
        <p:spPr>
          <a:xfrm>
            <a:off x="1281504" y="3106455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90C574D-332E-41EE-87C5-81241A5307BF}"/>
              </a:ext>
            </a:extLst>
          </p:cNvPr>
          <p:cNvSpPr/>
          <p:nvPr/>
        </p:nvSpPr>
        <p:spPr>
          <a:xfrm>
            <a:off x="3538967" y="2099657"/>
            <a:ext cx="2041743" cy="204174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7A9DDF-ABC4-486B-BABF-3D7BAD0689BF}"/>
              </a:ext>
            </a:extLst>
          </p:cNvPr>
          <p:cNvSpPr txBox="1"/>
          <p:nvPr/>
        </p:nvSpPr>
        <p:spPr>
          <a:xfrm>
            <a:off x="155214" y="2921789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F5A8FF-CE5F-3843-8F79-FB48E9538584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304E82-2CBB-3F42-A7F3-08FB2655CD53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492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B1C195-F0A1-4DF2-83F7-CCD1E042F513}"/>
              </a:ext>
            </a:extLst>
          </p:cNvPr>
          <p:cNvCxnSpPr/>
          <p:nvPr/>
        </p:nvCxnSpPr>
        <p:spPr>
          <a:xfrm>
            <a:off x="1281504" y="3106455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66FF5B7-0F52-1F46-BD80-25C8B922C3F0}"/>
              </a:ext>
            </a:extLst>
          </p:cNvPr>
          <p:cNvSpPr txBox="1"/>
          <p:nvPr/>
        </p:nvSpPr>
        <p:spPr>
          <a:xfrm>
            <a:off x="155214" y="2921789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31279-5F36-B24A-ADE6-80702C286798}"/>
              </a:ext>
            </a:extLst>
          </p:cNvPr>
          <p:cNvSpPr/>
          <p:nvPr/>
        </p:nvSpPr>
        <p:spPr>
          <a:xfrm>
            <a:off x="3538967" y="2099657"/>
            <a:ext cx="2041743" cy="204174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X = 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2+X = 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4 * 3 = 12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Return (12)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B70062-7772-C347-90A7-B74893ADE544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5BD68B-8701-C64C-999A-9A6F3F586BC5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992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B1C195-F0A1-4DF2-83F7-CCD1E042F513}"/>
              </a:ext>
            </a:extLst>
          </p:cNvPr>
          <p:cNvCxnSpPr/>
          <p:nvPr/>
        </p:nvCxnSpPr>
        <p:spPr>
          <a:xfrm>
            <a:off x="1281504" y="3106455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F5C5F6-6775-4B27-8329-824CF1E7A3A3}"/>
              </a:ext>
            </a:extLst>
          </p:cNvPr>
          <p:cNvCxnSpPr/>
          <p:nvPr/>
        </p:nvCxnSpPr>
        <p:spPr>
          <a:xfrm>
            <a:off x="6009373" y="3096017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6CDC2A-2032-43BC-B8F4-FE3782DA2BFB}"/>
              </a:ext>
            </a:extLst>
          </p:cNvPr>
          <p:cNvSpPr txBox="1"/>
          <p:nvPr/>
        </p:nvSpPr>
        <p:spPr>
          <a:xfrm>
            <a:off x="8266837" y="2911351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6FF5B7-0F52-1F46-BD80-25C8B922C3F0}"/>
              </a:ext>
            </a:extLst>
          </p:cNvPr>
          <p:cNvSpPr txBox="1"/>
          <p:nvPr/>
        </p:nvSpPr>
        <p:spPr>
          <a:xfrm>
            <a:off x="155214" y="2921789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31279-5F36-B24A-ADE6-80702C286798}"/>
              </a:ext>
            </a:extLst>
          </p:cNvPr>
          <p:cNvSpPr/>
          <p:nvPr/>
        </p:nvSpPr>
        <p:spPr>
          <a:xfrm>
            <a:off x="3538967" y="2099657"/>
            <a:ext cx="2041743" cy="204174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X = 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2+X = 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4 * 3 = 12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Return (12)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D3B9A9-268A-FC41-9D3E-719FB969D8F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E74442-6E4E-A84D-B769-942BF62B557A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718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B1C195-F0A1-4DF2-83F7-CCD1E042F513}"/>
              </a:ext>
            </a:extLst>
          </p:cNvPr>
          <p:cNvCxnSpPr>
            <a:cxnSpLocks/>
          </p:cNvCxnSpPr>
          <p:nvPr/>
        </p:nvCxnSpPr>
        <p:spPr>
          <a:xfrm>
            <a:off x="1281504" y="3137453"/>
            <a:ext cx="99787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F5C5F6-6775-4B27-8329-824CF1E7A3A3}"/>
              </a:ext>
            </a:extLst>
          </p:cNvPr>
          <p:cNvCxnSpPr/>
          <p:nvPr/>
        </p:nvCxnSpPr>
        <p:spPr>
          <a:xfrm>
            <a:off x="6009373" y="3137453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6CDC2A-2032-43BC-B8F4-FE3782DA2BFB}"/>
              </a:ext>
            </a:extLst>
          </p:cNvPr>
          <p:cNvSpPr txBox="1"/>
          <p:nvPr/>
        </p:nvSpPr>
        <p:spPr>
          <a:xfrm>
            <a:off x="8266837" y="2814288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6FF5B7-0F52-1F46-BD80-25C8B922C3F0}"/>
              </a:ext>
            </a:extLst>
          </p:cNvPr>
          <p:cNvSpPr txBox="1"/>
          <p:nvPr/>
        </p:nvSpPr>
        <p:spPr>
          <a:xfrm>
            <a:off x="155214" y="2814288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832EF26A-EAFF-5047-9483-A17FD34E9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2191303"/>
            <a:ext cx="4533900" cy="18923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6A3803-3222-0841-AD79-34BF1294779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AD556F-30B6-714F-B8D2-2B7EA667A3FE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550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knife&#10;&#10;Description automatically generated">
            <a:extLst>
              <a:ext uri="{FF2B5EF4-FFF2-40B4-BE49-F238E27FC236}">
                <a16:creationId xmlns:a16="http://schemas.microsoft.com/office/drawing/2014/main" id="{AC81AA87-77F2-8F48-B34C-E16FBC5AA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2" y="2145419"/>
            <a:ext cx="2599083" cy="4998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F5C5F6-6775-4B27-8329-824CF1E7A3A3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107096" y="2398643"/>
            <a:ext cx="2385389" cy="866086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B1C195-F0A1-4DF2-83F7-CCD1E042F513}"/>
              </a:ext>
            </a:extLst>
          </p:cNvPr>
          <p:cNvCxnSpPr>
            <a:cxnSpLocks/>
          </p:cNvCxnSpPr>
          <p:nvPr/>
        </p:nvCxnSpPr>
        <p:spPr>
          <a:xfrm>
            <a:off x="3044043" y="1762539"/>
            <a:ext cx="0" cy="38431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66FF5B7-0F52-1F46-BD80-25C8B922C3F0}"/>
              </a:ext>
            </a:extLst>
          </p:cNvPr>
          <p:cNvSpPr txBox="1"/>
          <p:nvPr/>
        </p:nvSpPr>
        <p:spPr>
          <a:xfrm>
            <a:off x="2686380" y="113126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832EF26A-EAFF-5047-9483-A17FD34E9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535" y="3264729"/>
            <a:ext cx="4533900" cy="18923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860E69-30B5-1C41-B729-03107DF781E8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CE4159-DC81-DD44-96D7-746315F7B5BC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57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57600D-422B-4BD6-98C5-ECD6CB4C0601}"/>
              </a:ext>
            </a:extLst>
          </p:cNvPr>
          <p:cNvSpPr/>
          <p:nvPr/>
        </p:nvSpPr>
        <p:spPr>
          <a:xfrm>
            <a:off x="240631" y="5345069"/>
            <a:ext cx="8686800" cy="6143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“ </a:t>
            </a:r>
            <a:r>
              <a:rPr lang="en-US" sz="2400" dirty="0">
                <a:latin typeface="Consolas" panose="020B0609020204030204" pitchFamily="49" charset="0"/>
              </a:rPr>
              <a:t>&lt;- ” is the assignment operator</a:t>
            </a:r>
            <a:endParaRPr lang="en-US" sz="2400" b="1" u="sng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120AF-BC7C-483D-AC5F-D193F15235D7}"/>
              </a:ext>
            </a:extLst>
          </p:cNvPr>
          <p:cNvSpPr txBox="1"/>
          <p:nvPr/>
        </p:nvSpPr>
        <p:spPr>
          <a:xfrm>
            <a:off x="928065" y="2831348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 &lt;- </a:t>
            </a:r>
            <a:r>
              <a:rPr lang="en-US" dirty="0" err="1">
                <a:latin typeface="Consolas" panose="020B0609020204030204" pitchFamily="49" charset="0"/>
              </a:rPr>
              <a:t>cutinhalf</a:t>
            </a:r>
            <a:r>
              <a:rPr lang="en-US" dirty="0">
                <a:latin typeface="Consolas" panose="020B0609020204030204" pitchFamily="49" charset="0"/>
              </a:rPr>
              <a:t>(banana )</a:t>
            </a:r>
            <a:endParaRPr lang="en-US" dirty="0"/>
          </a:p>
        </p:txBody>
      </p:sp>
      <p:pic>
        <p:nvPicPr>
          <p:cNvPr id="8" name="Picture 2" descr="http://www.brainkandie.com/images/banana.png">
            <a:extLst>
              <a:ext uri="{FF2B5EF4-FFF2-40B4-BE49-F238E27FC236}">
                <a16:creationId xmlns:a16="http://schemas.microsoft.com/office/drawing/2014/main" id="{F131010D-A51D-449B-A4EC-6FA4FAAA0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038486" y="1821307"/>
            <a:ext cx="3338782" cy="2003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://cdn.xl.thumbs.canstockphoto.com/canstock14746167.jpg">
            <a:extLst>
              <a:ext uri="{FF2B5EF4-FFF2-40B4-BE49-F238E27FC236}">
                <a16:creationId xmlns:a16="http://schemas.microsoft.com/office/drawing/2014/main" id="{BADE13CE-D19F-477C-B30C-CA95D42771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0" b="38097"/>
          <a:stretch/>
        </p:blipFill>
        <p:spPr bwMode="auto">
          <a:xfrm rot="5400000">
            <a:off x="6387740" y="2929490"/>
            <a:ext cx="2819554" cy="71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0750E9D-BE5C-45ED-A40C-CDF1D2C48FFA}"/>
              </a:ext>
            </a:extLst>
          </p:cNvPr>
          <p:cNvSpPr/>
          <p:nvPr/>
        </p:nvSpPr>
        <p:spPr>
          <a:xfrm>
            <a:off x="2683594" y="3345657"/>
            <a:ext cx="1290182" cy="34019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FF11B1-B091-4AE7-91D0-6E51D2A84A8F}"/>
              </a:ext>
            </a:extLst>
          </p:cNvPr>
          <p:cNvSpPr txBox="1"/>
          <p:nvPr/>
        </p:nvSpPr>
        <p:spPr>
          <a:xfrm>
            <a:off x="4152564" y="33310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6E95B4-4528-4F4A-9DED-2D3431AAAD60}"/>
              </a:ext>
            </a:extLst>
          </p:cNvPr>
          <p:cNvSpPr txBox="1"/>
          <p:nvPr/>
        </p:nvSpPr>
        <p:spPr>
          <a:xfrm>
            <a:off x="1170086" y="33310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22A061-6C3F-4577-8CFA-72B564A8F28B}"/>
              </a:ext>
            </a:extLst>
          </p:cNvPr>
          <p:cNvCxnSpPr/>
          <p:nvPr/>
        </p:nvCxnSpPr>
        <p:spPr>
          <a:xfrm>
            <a:off x="2495704" y="3241435"/>
            <a:ext cx="0" cy="54864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44ACFCD-D15B-409F-862E-5418190449DB}"/>
              </a:ext>
            </a:extLst>
          </p:cNvPr>
          <p:cNvSpPr/>
          <p:nvPr/>
        </p:nvSpPr>
        <p:spPr>
          <a:xfrm>
            <a:off x="3880753" y="333108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A4D964-AB5B-4B9A-B814-F29D6F3773F7}"/>
              </a:ext>
            </a:extLst>
          </p:cNvPr>
          <p:cNvSpPr/>
          <p:nvPr/>
        </p:nvSpPr>
        <p:spPr>
          <a:xfrm>
            <a:off x="4853818" y="333108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481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57600D-422B-4BD6-98C5-ECD6CB4C0601}"/>
              </a:ext>
            </a:extLst>
          </p:cNvPr>
          <p:cNvSpPr/>
          <p:nvPr/>
        </p:nvSpPr>
        <p:spPr>
          <a:xfrm>
            <a:off x="240631" y="5345069"/>
            <a:ext cx="8686800" cy="6143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Results of an object can be used in the next function.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120AF-BC7C-483D-AC5F-D193F15235D7}"/>
              </a:ext>
            </a:extLst>
          </p:cNvPr>
          <p:cNvSpPr txBox="1"/>
          <p:nvPr/>
        </p:nvSpPr>
        <p:spPr>
          <a:xfrm>
            <a:off x="240630" y="2545370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 &lt;- </a:t>
            </a:r>
            <a:r>
              <a:rPr lang="en-US" dirty="0" err="1">
                <a:latin typeface="Consolas" panose="020B0609020204030204" pitchFamily="49" charset="0"/>
              </a:rPr>
              <a:t>cutinhalf</a:t>
            </a:r>
            <a:r>
              <a:rPr lang="en-US" dirty="0">
                <a:latin typeface="Consolas" panose="020B0609020204030204" pitchFamily="49" charset="0"/>
              </a:rPr>
              <a:t>(banana 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750E9D-BE5C-45ED-A40C-CDF1D2C48FFA}"/>
              </a:ext>
            </a:extLst>
          </p:cNvPr>
          <p:cNvSpPr/>
          <p:nvPr/>
        </p:nvSpPr>
        <p:spPr>
          <a:xfrm>
            <a:off x="2494405" y="4173670"/>
            <a:ext cx="1290182" cy="34019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F11B1-B091-4AE7-91D0-6E51D2A84A8F}"/>
              </a:ext>
            </a:extLst>
          </p:cNvPr>
          <p:cNvSpPr txBox="1"/>
          <p:nvPr/>
        </p:nvSpPr>
        <p:spPr>
          <a:xfrm>
            <a:off x="3963375" y="415910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6E95B4-4528-4F4A-9DED-2D3431AAAD60}"/>
              </a:ext>
            </a:extLst>
          </p:cNvPr>
          <p:cNvSpPr txBox="1"/>
          <p:nvPr/>
        </p:nvSpPr>
        <p:spPr>
          <a:xfrm>
            <a:off x="980897" y="41591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22A061-6C3F-4577-8CFA-72B564A8F28B}"/>
              </a:ext>
            </a:extLst>
          </p:cNvPr>
          <p:cNvCxnSpPr/>
          <p:nvPr/>
        </p:nvCxnSpPr>
        <p:spPr>
          <a:xfrm>
            <a:off x="2306515" y="4069448"/>
            <a:ext cx="0" cy="54864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44ACFCD-D15B-409F-862E-5418190449DB}"/>
              </a:ext>
            </a:extLst>
          </p:cNvPr>
          <p:cNvSpPr/>
          <p:nvPr/>
        </p:nvSpPr>
        <p:spPr>
          <a:xfrm>
            <a:off x="3691564" y="4159102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A4D964-AB5B-4B9A-B814-F29D6F3773F7}"/>
              </a:ext>
            </a:extLst>
          </p:cNvPr>
          <p:cNvSpPr/>
          <p:nvPr/>
        </p:nvSpPr>
        <p:spPr>
          <a:xfrm>
            <a:off x="5044375" y="4118459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414A2-E293-4507-8771-437EFDF9F349}"/>
              </a:ext>
            </a:extLst>
          </p:cNvPr>
          <p:cNvSpPr txBox="1"/>
          <p:nvPr/>
        </p:nvSpPr>
        <p:spPr>
          <a:xfrm>
            <a:off x="767693" y="3700116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 &lt;- peel     ( </a:t>
            </a:r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59E285-700D-4A32-94E4-92B3B7FE84BB}"/>
              </a:ext>
            </a:extLst>
          </p:cNvPr>
          <p:cNvSpPr txBox="1"/>
          <p:nvPr/>
        </p:nvSpPr>
        <p:spPr>
          <a:xfrm>
            <a:off x="240630" y="1255813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library(knife)</a:t>
            </a:r>
          </a:p>
          <a:p>
            <a:r>
              <a:rPr lang="en-US" dirty="0">
                <a:latin typeface="Consolas" panose="020B0609020204030204" pitchFamily="49" charset="0"/>
              </a:rPr>
              <a:t>library(peel)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DC38A5-5520-4620-AFF8-371F7AB82BCD}"/>
              </a:ext>
            </a:extLst>
          </p:cNvPr>
          <p:cNvSpPr txBox="1"/>
          <p:nvPr/>
        </p:nvSpPr>
        <p:spPr>
          <a:xfrm>
            <a:off x="240630" y="2085295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banana &lt;- </a:t>
            </a:r>
            <a:r>
              <a:rPr lang="en-US" dirty="0" err="1">
                <a:latin typeface="Consolas" panose="020B0609020204030204" pitchFamily="49" charset="0"/>
              </a:rPr>
              <a:t>read.csv</a:t>
            </a:r>
            <a:r>
              <a:rPr lang="en-US" dirty="0">
                <a:latin typeface="Consolas" panose="020B0609020204030204" pitchFamily="49" charset="0"/>
              </a:rPr>
              <a:t>(“Banana.csv”)</a:t>
            </a:r>
            <a:endParaRPr lang="en-US" dirty="0"/>
          </a:p>
        </p:txBody>
      </p:sp>
      <p:pic>
        <p:nvPicPr>
          <p:cNvPr id="18" name="Picture 2" descr="Image result for half banana">
            <a:extLst>
              <a:ext uri="{FF2B5EF4-FFF2-40B4-BE49-F238E27FC236}">
                <a16:creationId xmlns:a16="http://schemas.microsoft.com/office/drawing/2014/main" id="{DEAEA782-61E0-43B4-BDA6-A3944FAD2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65" b="28476"/>
          <a:stretch/>
        </p:blipFill>
        <p:spPr bwMode="auto">
          <a:xfrm rot="1615433" flipV="1">
            <a:off x="5136265" y="2079687"/>
            <a:ext cx="3022887" cy="140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mage result for hand white background">
            <a:extLst>
              <a:ext uri="{FF2B5EF4-FFF2-40B4-BE49-F238E27FC236}">
                <a16:creationId xmlns:a16="http://schemas.microsoft.com/office/drawing/2014/main" id="{C6351A39-5E58-42B0-9337-2C3158360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517" y="2185147"/>
            <a:ext cx="2148623" cy="185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F93F3B-41BA-45B8-A62C-663812BF0B8D}"/>
              </a:ext>
            </a:extLst>
          </p:cNvPr>
          <p:cNvCxnSpPr>
            <a:cxnSpLocks/>
            <a:stCxn id="21" idx="4"/>
            <a:endCxn id="22" idx="0"/>
          </p:cNvCxnSpPr>
          <p:nvPr/>
        </p:nvCxnSpPr>
        <p:spPr>
          <a:xfrm>
            <a:off x="908137" y="2968669"/>
            <a:ext cx="3591769" cy="70211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F92392B-93E6-4019-9EE6-4791E3E0CD25}"/>
              </a:ext>
            </a:extLst>
          </p:cNvPr>
          <p:cNvSpPr/>
          <p:nvPr/>
        </p:nvSpPr>
        <p:spPr>
          <a:xfrm>
            <a:off x="112734" y="2517257"/>
            <a:ext cx="1590806" cy="4514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A29B2D-E4AF-4336-9EDF-24F29AA47942}"/>
              </a:ext>
            </a:extLst>
          </p:cNvPr>
          <p:cNvSpPr/>
          <p:nvPr/>
        </p:nvSpPr>
        <p:spPr>
          <a:xfrm>
            <a:off x="3691564" y="3670784"/>
            <a:ext cx="1616684" cy="4514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861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uses functions, libraries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57600D-422B-4BD6-98C5-ECD6CB4C0601}"/>
              </a:ext>
            </a:extLst>
          </p:cNvPr>
          <p:cNvSpPr/>
          <p:nvPr/>
        </p:nvSpPr>
        <p:spPr>
          <a:xfrm>
            <a:off x="240631" y="5345069"/>
            <a:ext cx="8686800" cy="6143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You don’t always have to declare an output object &amp; you can also save items to disk.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120AF-BC7C-483D-AC5F-D193F15235D7}"/>
              </a:ext>
            </a:extLst>
          </p:cNvPr>
          <p:cNvSpPr txBox="1"/>
          <p:nvPr/>
        </p:nvSpPr>
        <p:spPr>
          <a:xfrm>
            <a:off x="240630" y="2415074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 &lt;- </a:t>
            </a:r>
            <a:r>
              <a:rPr lang="en-US" dirty="0" err="1">
                <a:latin typeface="Consolas" panose="020B0609020204030204" pitchFamily="49" charset="0"/>
              </a:rPr>
              <a:t>cutinhalf</a:t>
            </a:r>
            <a:r>
              <a:rPr lang="en-US" dirty="0">
                <a:latin typeface="Consolas" panose="020B0609020204030204" pitchFamily="49" charset="0"/>
              </a:rPr>
              <a:t>(banana)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750E9D-BE5C-45ED-A40C-CDF1D2C48FFA}"/>
              </a:ext>
            </a:extLst>
          </p:cNvPr>
          <p:cNvSpPr/>
          <p:nvPr/>
        </p:nvSpPr>
        <p:spPr>
          <a:xfrm>
            <a:off x="823262" y="4157904"/>
            <a:ext cx="1290182" cy="34019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F11B1-B091-4AE7-91D0-6E51D2A84A8F}"/>
              </a:ext>
            </a:extLst>
          </p:cNvPr>
          <p:cNvSpPr txBox="1"/>
          <p:nvPr/>
        </p:nvSpPr>
        <p:spPr>
          <a:xfrm>
            <a:off x="2217433" y="414333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4ACFCD-D15B-409F-862E-5418190449DB}"/>
              </a:ext>
            </a:extLst>
          </p:cNvPr>
          <p:cNvSpPr/>
          <p:nvPr/>
        </p:nvSpPr>
        <p:spPr>
          <a:xfrm>
            <a:off x="2020421" y="4143336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A4D964-AB5B-4B9A-B814-F29D6F3773F7}"/>
              </a:ext>
            </a:extLst>
          </p:cNvPr>
          <p:cNvSpPr/>
          <p:nvPr/>
        </p:nvSpPr>
        <p:spPr>
          <a:xfrm>
            <a:off x="2800768" y="412876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8414A2-E293-4507-8771-437EFDF9F349}"/>
              </a:ext>
            </a:extLst>
          </p:cNvPr>
          <p:cNvSpPr txBox="1"/>
          <p:nvPr/>
        </p:nvSpPr>
        <p:spPr>
          <a:xfrm>
            <a:off x="240630" y="2719888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 &lt;- peel(</a:t>
            </a:r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6D1A91-602C-4723-91DA-11002DADC131}"/>
              </a:ext>
            </a:extLst>
          </p:cNvPr>
          <p:cNvSpPr txBox="1"/>
          <p:nvPr/>
        </p:nvSpPr>
        <p:spPr>
          <a:xfrm>
            <a:off x="240630" y="1223630"/>
            <a:ext cx="335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setwd</a:t>
            </a:r>
            <a:r>
              <a:rPr lang="en-US" dirty="0">
                <a:latin typeface="Consolas" panose="020B0609020204030204" pitchFamily="49" charset="0"/>
              </a:rPr>
              <a:t>(“ted/fruit/basket”)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59E285-700D-4A32-94E4-92B3B7FE84BB}"/>
              </a:ext>
            </a:extLst>
          </p:cNvPr>
          <p:cNvSpPr txBox="1"/>
          <p:nvPr/>
        </p:nvSpPr>
        <p:spPr>
          <a:xfrm>
            <a:off x="240630" y="1528445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library(knife)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DC38A5-5520-4620-AFF8-371F7AB82BCD}"/>
              </a:ext>
            </a:extLst>
          </p:cNvPr>
          <p:cNvSpPr txBox="1"/>
          <p:nvPr/>
        </p:nvSpPr>
        <p:spPr>
          <a:xfrm>
            <a:off x="240630" y="2110259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banana     &lt;- </a:t>
            </a:r>
            <a:r>
              <a:rPr lang="en-US" dirty="0" err="1">
                <a:latin typeface="Consolas" panose="020B0609020204030204" pitchFamily="49" charset="0"/>
              </a:rPr>
              <a:t>read.csv</a:t>
            </a:r>
            <a:r>
              <a:rPr lang="en-US" dirty="0">
                <a:latin typeface="Consolas" panose="020B0609020204030204" pitchFamily="49" charset="0"/>
              </a:rPr>
              <a:t>(“Banana.csv”)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D17F439-6E11-4B4C-9536-FE7E4BE05003}"/>
              </a:ext>
            </a:extLst>
          </p:cNvPr>
          <p:cNvGrpSpPr/>
          <p:nvPr/>
        </p:nvGrpSpPr>
        <p:grpSpPr>
          <a:xfrm>
            <a:off x="5102567" y="1935754"/>
            <a:ext cx="3840480" cy="2250358"/>
            <a:chOff x="4884420" y="2092654"/>
            <a:chExt cx="3840480" cy="2250358"/>
          </a:xfrm>
        </p:grpSpPr>
        <p:pic>
          <p:nvPicPr>
            <p:cNvPr id="17" name="Picture 4" descr="http://sape.inf.usi.ch/sites/default/files/ggplot2-geom_blank-example.png">
              <a:extLst>
                <a:ext uri="{FF2B5EF4-FFF2-40B4-BE49-F238E27FC236}">
                  <a16:creationId xmlns:a16="http://schemas.microsoft.com/office/drawing/2014/main" id="{F3EBEA82-AEC2-4503-901A-DBDAF7BAC9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06"/>
            <a:stretch/>
          </p:blipFill>
          <p:spPr bwMode="auto">
            <a:xfrm>
              <a:off x="4884420" y="2092654"/>
              <a:ext cx="3840480" cy="2250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Image result for half banana">
              <a:extLst>
                <a:ext uri="{FF2B5EF4-FFF2-40B4-BE49-F238E27FC236}">
                  <a16:creationId xmlns:a16="http://schemas.microsoft.com/office/drawing/2014/main" id="{813A08A4-7A0F-45BF-A1CD-14DD858FD3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469884" y="2498909"/>
              <a:ext cx="2787633" cy="1217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9B0164B-0149-4DD5-8E06-DAA3041D8C9F}"/>
              </a:ext>
            </a:extLst>
          </p:cNvPr>
          <p:cNvSpPr txBox="1"/>
          <p:nvPr/>
        </p:nvSpPr>
        <p:spPr>
          <a:xfrm>
            <a:off x="884383" y="374343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plot(</a:t>
            </a:r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338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22C5B7-2DB5-4EA8-859A-5A5743A396CA}"/>
              </a:ext>
            </a:extLst>
          </p:cNvPr>
          <p:cNvSpPr txBox="1"/>
          <p:nvPr/>
        </p:nvSpPr>
        <p:spPr>
          <a:xfrm>
            <a:off x="3692285" y="5005776"/>
            <a:ext cx="4112023" cy="33855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object&lt;-function(applied to object)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BC3515-0129-435C-9B18-BB4DC06E04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074" y="1103590"/>
            <a:ext cx="1201613" cy="93151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E99666D-0A26-45F7-822B-A575960EC698}"/>
              </a:ext>
            </a:extLst>
          </p:cNvPr>
          <p:cNvGrpSpPr/>
          <p:nvPr/>
        </p:nvGrpSpPr>
        <p:grpSpPr>
          <a:xfrm>
            <a:off x="1273971" y="2274676"/>
            <a:ext cx="1321555" cy="1006531"/>
            <a:chOff x="919527" y="2384361"/>
            <a:chExt cx="1459728" cy="1071794"/>
          </a:xfrm>
        </p:grpSpPr>
        <p:pic>
          <p:nvPicPr>
            <p:cNvPr id="12" name="Picture 2" descr="Image result for hand white background">
              <a:extLst>
                <a:ext uri="{FF2B5EF4-FFF2-40B4-BE49-F238E27FC236}">
                  <a16:creationId xmlns:a16="http://schemas.microsoft.com/office/drawing/2014/main" id="{DB259A06-A46D-4D41-AB85-BEFA1B65E3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527" y="2449871"/>
              <a:ext cx="1091000" cy="940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http://cdn.xl.thumbs.canstockphoto.com/canstock14746167.jpg">
              <a:extLst>
                <a:ext uri="{FF2B5EF4-FFF2-40B4-BE49-F238E27FC236}">
                  <a16:creationId xmlns:a16="http://schemas.microsoft.com/office/drawing/2014/main" id="{86987945-E340-45C2-9E67-760C16CB63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470" b="38097"/>
            <a:stretch/>
          </p:blipFill>
          <p:spPr bwMode="auto">
            <a:xfrm rot="5400000">
              <a:off x="1706921" y="2783821"/>
              <a:ext cx="1071794" cy="272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6" descr="Image result for banana transparent background">
            <a:extLst>
              <a:ext uri="{FF2B5EF4-FFF2-40B4-BE49-F238E27FC236}">
                <a16:creationId xmlns:a16="http://schemas.microsoft.com/office/drawing/2014/main" id="{4C70DCF7-8AC6-41FE-A567-DCC741701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864" y="3238565"/>
            <a:ext cx="955958" cy="95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17EEA90-78B0-4080-9D60-480EF7F02082}"/>
              </a:ext>
            </a:extLst>
          </p:cNvPr>
          <p:cNvGrpSpPr/>
          <p:nvPr/>
        </p:nvGrpSpPr>
        <p:grpSpPr>
          <a:xfrm>
            <a:off x="1379306" y="4907138"/>
            <a:ext cx="1130829" cy="605894"/>
            <a:chOff x="5001597" y="2799644"/>
            <a:chExt cx="2498122" cy="1373047"/>
          </a:xfrm>
        </p:grpSpPr>
        <p:pic>
          <p:nvPicPr>
            <p:cNvPr id="16" name="Picture 2" descr="Image result for half banana">
              <a:extLst>
                <a:ext uri="{FF2B5EF4-FFF2-40B4-BE49-F238E27FC236}">
                  <a16:creationId xmlns:a16="http://schemas.microsoft.com/office/drawing/2014/main" id="{9FA2FE0D-E6C3-40BB-BD19-25623F72AD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001597" y="2799644"/>
              <a:ext cx="2381250" cy="11063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Image result for hand white background">
              <a:extLst>
                <a:ext uri="{FF2B5EF4-FFF2-40B4-BE49-F238E27FC236}">
                  <a16:creationId xmlns:a16="http://schemas.microsoft.com/office/drawing/2014/main" id="{77671E1D-32D3-47BB-BF76-3BAE074C37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046" y="2816567"/>
              <a:ext cx="1572673" cy="13561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751ABA-CE4D-4CCD-905A-BF5DE70EEC4E}"/>
              </a:ext>
            </a:extLst>
          </p:cNvPr>
          <p:cNvGrpSpPr/>
          <p:nvPr/>
        </p:nvGrpSpPr>
        <p:grpSpPr>
          <a:xfrm>
            <a:off x="1475066" y="4203444"/>
            <a:ext cx="957435" cy="741843"/>
            <a:chOff x="4262775" y="5030993"/>
            <a:chExt cx="1057538" cy="789944"/>
          </a:xfrm>
        </p:grpSpPr>
        <p:pic>
          <p:nvPicPr>
            <p:cNvPr id="19" name="Picture 2" descr="http://www.brainkandie.com/images/banana.png">
              <a:extLst>
                <a:ext uri="{FF2B5EF4-FFF2-40B4-BE49-F238E27FC236}">
                  <a16:creationId xmlns:a16="http://schemas.microsoft.com/office/drawing/2014/main" id="{2477DECE-209B-4BF9-A37D-D85CB9CCC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62775" y="5030993"/>
              <a:ext cx="1057538" cy="634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http://cdn.xl.thumbs.canstockphoto.com/canstock14746167.jpg">
              <a:extLst>
                <a:ext uri="{FF2B5EF4-FFF2-40B4-BE49-F238E27FC236}">
                  <a16:creationId xmlns:a16="http://schemas.microsoft.com/office/drawing/2014/main" id="{6EC81316-03FA-48F1-BF02-1436C0E846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470" b="38097"/>
            <a:stretch/>
          </p:blipFill>
          <p:spPr bwMode="auto">
            <a:xfrm rot="5400000">
              <a:off x="4757761" y="5371276"/>
              <a:ext cx="716823" cy="18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233138-9FB0-47EE-AFFB-2530CD03B4B5}"/>
              </a:ext>
            </a:extLst>
          </p:cNvPr>
          <p:cNvCxnSpPr/>
          <p:nvPr/>
        </p:nvCxnSpPr>
        <p:spPr>
          <a:xfrm>
            <a:off x="217532" y="5660777"/>
            <a:ext cx="8558213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A5C6AD-C32D-4CA9-BE76-17DC8276ECCB}"/>
              </a:ext>
            </a:extLst>
          </p:cNvPr>
          <p:cNvCxnSpPr/>
          <p:nvPr/>
        </p:nvCxnSpPr>
        <p:spPr>
          <a:xfrm>
            <a:off x="217532" y="4130419"/>
            <a:ext cx="8558213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54C2B2-0684-464E-A709-FD3F70ED7EAE}"/>
              </a:ext>
            </a:extLst>
          </p:cNvPr>
          <p:cNvCxnSpPr/>
          <p:nvPr/>
        </p:nvCxnSpPr>
        <p:spPr>
          <a:xfrm>
            <a:off x="217532" y="3258077"/>
            <a:ext cx="8558213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045E73-B651-4844-B314-D7565CFD6330}"/>
              </a:ext>
            </a:extLst>
          </p:cNvPr>
          <p:cNvCxnSpPr/>
          <p:nvPr/>
        </p:nvCxnSpPr>
        <p:spPr>
          <a:xfrm>
            <a:off x="217532" y="2188497"/>
            <a:ext cx="8558213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2C95643-2EA8-4C88-B12B-FA099C6118CC}"/>
              </a:ext>
            </a:extLst>
          </p:cNvPr>
          <p:cNvSpPr txBox="1"/>
          <p:nvPr/>
        </p:nvSpPr>
        <p:spPr>
          <a:xfrm>
            <a:off x="225493" y="135447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831379-6A77-4E07-A24F-B6EADF40E5AC}"/>
              </a:ext>
            </a:extLst>
          </p:cNvPr>
          <p:cNvSpPr txBox="1"/>
          <p:nvPr/>
        </p:nvSpPr>
        <p:spPr>
          <a:xfrm>
            <a:off x="225493" y="2371453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6D1A98-9339-4747-9C61-000CB534B3B5}"/>
              </a:ext>
            </a:extLst>
          </p:cNvPr>
          <p:cNvSpPr txBox="1"/>
          <p:nvPr/>
        </p:nvSpPr>
        <p:spPr>
          <a:xfrm>
            <a:off x="225493" y="4286443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CC920A-AE7C-4984-B351-456A0E44F02D}"/>
              </a:ext>
            </a:extLst>
          </p:cNvPr>
          <p:cNvSpPr txBox="1"/>
          <p:nvPr/>
        </p:nvSpPr>
        <p:spPr>
          <a:xfrm>
            <a:off x="225493" y="337438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5055C6-8B82-45FA-9430-EF481856A1FB}"/>
              </a:ext>
            </a:extLst>
          </p:cNvPr>
          <p:cNvSpPr txBox="1"/>
          <p:nvPr/>
        </p:nvSpPr>
        <p:spPr>
          <a:xfrm>
            <a:off x="257025" y="5776140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DB50E6-9E18-46E3-84FD-FFCF596B08E9}"/>
              </a:ext>
            </a:extLst>
          </p:cNvPr>
          <p:cNvSpPr txBox="1"/>
          <p:nvPr/>
        </p:nvSpPr>
        <p:spPr>
          <a:xfrm>
            <a:off x="3505512" y="1354478"/>
            <a:ext cx="5412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sz="1600" dirty="0"/>
              <a:t> Optional use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 paths</a:t>
            </a:r>
            <a:r>
              <a:rPr lang="en-US" sz="1600" dirty="0">
                <a:solidFill>
                  <a:schemeClr val="accent1"/>
                </a:solidFill>
                <a:cs typeface="Consolas" panose="020B0609020204030204" pitchFamily="49" charset="0"/>
              </a:rPr>
              <a:t> </a:t>
            </a:r>
            <a:r>
              <a:rPr lang="en-US" sz="1600" dirty="0"/>
              <a:t>to point to your files &amp; where to save outputs.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4F2075-9AC5-4FC8-88CC-83EDEBA95BDB}"/>
              </a:ext>
            </a:extLst>
          </p:cNvPr>
          <p:cNvSpPr txBox="1"/>
          <p:nvPr/>
        </p:nvSpPr>
        <p:spPr>
          <a:xfrm>
            <a:off x="3537044" y="2311788"/>
            <a:ext cx="56069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sz="1600" dirty="0"/>
              <a:t> Load some customized libraries with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library()</a:t>
            </a:r>
            <a:r>
              <a:rPr lang="en-US" sz="1600" dirty="0">
                <a:solidFill>
                  <a:schemeClr val="accent1"/>
                </a:solidFill>
                <a:cs typeface="Consolas" panose="020B0609020204030204" pitchFamily="49" charset="0"/>
              </a:rPr>
              <a:t> </a:t>
            </a:r>
            <a:r>
              <a:rPr lang="en-US" sz="1600" dirty="0"/>
              <a:t>for your specific analysis and methodology.  </a:t>
            </a:r>
            <a:r>
              <a:rPr lang="en-US" sz="1600" i="1" dirty="0"/>
              <a:t>Sometimes we will also create customized functions not in a library to aid our analysis.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4E07D4-0D0A-4ACB-A5E8-ADD36201F40F}"/>
              </a:ext>
            </a:extLst>
          </p:cNvPr>
          <p:cNvSpPr txBox="1"/>
          <p:nvPr/>
        </p:nvSpPr>
        <p:spPr>
          <a:xfrm>
            <a:off x="3505512" y="3393165"/>
            <a:ext cx="5606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sz="1600" dirty="0"/>
              <a:t> Read in the file so the object is “in-memory” with </a:t>
            </a:r>
            <a:r>
              <a:rPr lang="en-US" sz="16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read.csv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600" dirty="0">
                <a:solidFill>
                  <a:schemeClr val="accent1"/>
                </a:solidFill>
                <a:cs typeface="Consolas" panose="020B0609020204030204" pitchFamily="49" charset="0"/>
              </a:rPr>
              <a:t> </a:t>
            </a:r>
            <a:r>
              <a:rPr lang="en-US" sz="1600" dirty="0"/>
              <a:t>or similar.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2D0D57-B8C7-49B5-A8C0-018A6F3A98E6}"/>
              </a:ext>
            </a:extLst>
          </p:cNvPr>
          <p:cNvSpPr txBox="1"/>
          <p:nvPr/>
        </p:nvSpPr>
        <p:spPr>
          <a:xfrm>
            <a:off x="3505512" y="4163333"/>
            <a:ext cx="5606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sz="1600" dirty="0"/>
              <a:t> Apply a function(s) from a library to adjust or create new objects in memory.   The pseudo code for this is: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0305CB-050E-47C1-8BE0-60EC8BF8D9BC}"/>
              </a:ext>
            </a:extLst>
          </p:cNvPr>
          <p:cNvSpPr txBox="1"/>
          <p:nvPr/>
        </p:nvSpPr>
        <p:spPr>
          <a:xfrm>
            <a:off x="3537044" y="5776140"/>
            <a:ext cx="5606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sz="1600" dirty="0"/>
              <a:t> Consume the results by saving, plotting etc.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37C58EB-A1AF-2546-8595-0F61CAF4B0CB}"/>
              </a:ext>
            </a:extLst>
          </p:cNvPr>
          <p:cNvGrpSpPr/>
          <p:nvPr/>
        </p:nvGrpSpPr>
        <p:grpSpPr>
          <a:xfrm>
            <a:off x="1411940" y="5795060"/>
            <a:ext cx="1170647" cy="551952"/>
            <a:chOff x="4884420" y="2092654"/>
            <a:chExt cx="3840480" cy="2250358"/>
          </a:xfrm>
        </p:grpSpPr>
        <p:pic>
          <p:nvPicPr>
            <p:cNvPr id="36" name="Picture 4" descr="http://sape.inf.usi.ch/sites/default/files/ggplot2-geom_blank-example.png">
              <a:extLst>
                <a:ext uri="{FF2B5EF4-FFF2-40B4-BE49-F238E27FC236}">
                  <a16:creationId xmlns:a16="http://schemas.microsoft.com/office/drawing/2014/main" id="{D4D9F585-C374-554B-A844-320A2009C0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06"/>
            <a:stretch/>
          </p:blipFill>
          <p:spPr bwMode="auto">
            <a:xfrm>
              <a:off x="4884420" y="2092654"/>
              <a:ext cx="3840480" cy="2250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" descr="Image result for half banana">
              <a:extLst>
                <a:ext uri="{FF2B5EF4-FFF2-40B4-BE49-F238E27FC236}">
                  <a16:creationId xmlns:a16="http://schemas.microsoft.com/office/drawing/2014/main" id="{C69AC490-0C1B-774F-ABB4-608BEA7E8B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469884" y="2498909"/>
              <a:ext cx="2787633" cy="1217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18231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7610" y="365126"/>
            <a:ext cx="8708781" cy="591477"/>
          </a:xfrm>
        </p:spPr>
        <p:txBody>
          <a:bodyPr/>
          <a:lstStyle/>
          <a:p>
            <a:r>
              <a:rPr lang="en-US" dirty="0"/>
              <a:t>To get scripts, </a:t>
            </a:r>
            <a:r>
              <a:rPr lang="en-US" dirty="0" err="1"/>
              <a:t>pptxs</a:t>
            </a:r>
            <a:r>
              <a:rPr lang="en-US" dirty="0"/>
              <a:t> &amp; data use the class repo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04" y="2225915"/>
            <a:ext cx="3314700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17610" y="1132000"/>
            <a:ext cx="8805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linkClick r:id="rId3"/>
              </a:rPr>
              <a:t>https://github.com/kwartler/Harvard_DataMining_Business_Student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" y="1776042"/>
            <a:ext cx="8387861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If you have </a:t>
            </a:r>
            <a:r>
              <a:rPr lang="en-US" dirty="0" err="1">
                <a:solidFill>
                  <a:schemeClr val="bg1"/>
                </a:solidFill>
              </a:rPr>
              <a:t>git</a:t>
            </a:r>
            <a:r>
              <a:rPr lang="en-US" dirty="0">
                <a:solidFill>
                  <a:schemeClr val="bg1"/>
                </a:solidFill>
              </a:rPr>
              <a:t> software, when do a “</a:t>
            </a:r>
            <a:r>
              <a:rPr lang="en-US" dirty="0" err="1">
                <a:solidFill>
                  <a:schemeClr val="bg1"/>
                </a:solidFill>
              </a:rPr>
              <a:t>git</a:t>
            </a:r>
            <a:r>
              <a:rPr lang="en-US" dirty="0">
                <a:solidFill>
                  <a:schemeClr val="bg1"/>
                </a:solidFill>
              </a:rPr>
              <a:t> pull” in </a:t>
            </a:r>
            <a:r>
              <a:rPr lang="en-US" dirty="0" err="1">
                <a:solidFill>
                  <a:schemeClr val="bg1"/>
                </a:solidFill>
              </a:rPr>
              <a:t>Rstudio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204" y="3901561"/>
            <a:ext cx="5503984" cy="23312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75492" y="3124192"/>
            <a:ext cx="8387861" cy="64633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Alternatively you can download a zip of the repo on github.com but this can be cumbersome with file updates.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677008" y="2971793"/>
            <a:ext cx="7789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89580" y="5029200"/>
            <a:ext cx="1055077" cy="36927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600200" y="2420816"/>
            <a:ext cx="457200" cy="28721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53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65126"/>
            <a:ext cx="8926391" cy="591477"/>
          </a:xfrm>
        </p:spPr>
        <p:txBody>
          <a:bodyPr/>
          <a:lstStyle/>
          <a:p>
            <a:r>
              <a:rPr lang="en-US" sz="2400" dirty="0"/>
              <a:t>Now let’s get class files by setting up a new project &amp; do a “git clone”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 CSCI S-96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881960" y="5651931"/>
            <a:ext cx="7789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880" y="2096813"/>
            <a:ext cx="3887657" cy="280938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2248" y="2506717"/>
            <a:ext cx="19747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New Project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Version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248" y="2006350"/>
            <a:ext cx="3247697" cy="394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 R Studio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687400-4952-0D40-8087-CA88B1F0AB67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77DA67-A9A8-7F48-8FDA-BBFFCD6C3E57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7764474-036B-EE46-93CD-4037E65D9624}"/>
              </a:ext>
            </a:extLst>
          </p:cNvPr>
          <p:cNvSpPr/>
          <p:nvPr/>
        </p:nvSpPr>
        <p:spPr>
          <a:xfrm>
            <a:off x="0" y="1102674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you to look at in browser:    </a:t>
            </a:r>
            <a:r>
              <a:rPr lang="en-US" dirty="0">
                <a:hlinkClick r:id="rId3"/>
              </a:rPr>
              <a:t>https://github.com/kwartler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316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65126"/>
            <a:ext cx="8926391" cy="591477"/>
          </a:xfrm>
        </p:spPr>
        <p:txBody>
          <a:bodyPr/>
          <a:lstStyle/>
          <a:p>
            <a:r>
              <a:rPr lang="en-US" sz="3200" dirty="0"/>
              <a:t>Setup a new project &amp; do a “git pull”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 CSCI S-96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52248" y="2506717"/>
            <a:ext cx="3326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New Project…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Version Control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dirty="0" err="1"/>
              <a:t>Git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Add URL from </a:t>
            </a:r>
            <a:r>
              <a:rPr lang="en-US" dirty="0" err="1"/>
              <a:t>github</a:t>
            </a:r>
            <a:r>
              <a:rPr lang="en-US" dirty="0"/>
              <a:t> repository, create a folder name &amp; destination to save files 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248" y="1734207"/>
            <a:ext cx="3247697" cy="394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R Studio</a:t>
            </a:r>
          </a:p>
        </p:txBody>
      </p:sp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5B725840-1B62-BF40-87A2-A94709BDC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566" y="1685235"/>
            <a:ext cx="4020363" cy="294778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382242-FB53-0641-BCBB-D5E6766FAAF3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34A6FB-686A-A849-A968-0AFB6DBC77E6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978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7610" y="60327"/>
            <a:ext cx="8708781" cy="591477"/>
          </a:xfrm>
        </p:spPr>
        <p:txBody>
          <a:bodyPr/>
          <a:lstStyle/>
          <a:p>
            <a:r>
              <a:rPr lang="en-US" sz="3200" dirty="0"/>
              <a:t>Each class we will perform a git pull in case there are updates to curriculum to aid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 CSCI S-96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52248" y="2506717"/>
            <a:ext cx="3326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New Project…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Version Control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dirty="0" err="1"/>
              <a:t>Git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Add URL, folder name &amp; destination for files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EACH Class session perform a </a:t>
            </a:r>
            <a:r>
              <a:rPr lang="en-US" b="1" u="sng" dirty="0" err="1"/>
              <a:t>Git</a:t>
            </a:r>
            <a:r>
              <a:rPr lang="en-US" b="1" u="sng" dirty="0"/>
              <a:t> Pull </a:t>
            </a:r>
            <a:r>
              <a:rPr lang="en-US" dirty="0"/>
              <a:t>to update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248" y="1734207"/>
            <a:ext cx="3247697" cy="394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R Studio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160" y="2139081"/>
            <a:ext cx="3314700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Oval 8"/>
          <p:cNvSpPr/>
          <p:nvPr/>
        </p:nvSpPr>
        <p:spPr>
          <a:xfrm>
            <a:off x="6106282" y="2388362"/>
            <a:ext cx="520262" cy="220717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FDC963EC-2228-054C-8DF5-0EF7FB343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808" y="2911288"/>
            <a:ext cx="2832100" cy="11430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1293F0-2B63-ED43-AFF2-ABE2FBB0188A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B1F04E-0240-AA42-9E4F-40616A47B758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C7BF4B-624E-3B43-83E7-92B6021234D8}"/>
              </a:ext>
            </a:extLst>
          </p:cNvPr>
          <p:cNvCxnSpPr/>
          <p:nvPr/>
        </p:nvCxnSpPr>
        <p:spPr>
          <a:xfrm flipV="1">
            <a:off x="2884714" y="2612571"/>
            <a:ext cx="3230336" cy="205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173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B72EA-A0A2-8199-3903-B454EA5D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72DF5F-8B48-D8CD-493F-DBFE721D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YOUR copy of files.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636A-17CE-F9BE-183D-97BD6236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1BA7E-AB48-B3B4-447D-B6DF28184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BDB0E-8FF2-772B-644E-789B4665E625}"/>
              </a:ext>
            </a:extLst>
          </p:cNvPr>
          <p:cNvSpPr txBox="1"/>
          <p:nvPr/>
        </p:nvSpPr>
        <p:spPr>
          <a:xfrm>
            <a:off x="628650" y="1037227"/>
            <a:ext cx="748788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avoid conflicts with the class files create a “personal” folder that is ignored.</a:t>
            </a:r>
          </a:p>
          <a:p>
            <a:r>
              <a:rPr lang="en-US" dirty="0"/>
              <a:t>1 Create the Personal Folder</a:t>
            </a:r>
          </a:p>
          <a:p>
            <a:r>
              <a:rPr lang="en-US" dirty="0"/>
              <a:t>2 Add to the “</a:t>
            </a:r>
            <a:r>
              <a:rPr lang="en-US" dirty="0" err="1"/>
              <a:t>gitignore</a:t>
            </a:r>
            <a:r>
              <a:rPr lang="en-US" dirty="0"/>
              <a:t>” file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SAVE All your work there, copies of class files, homework, cases.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EB7764-51C8-F7D5-618D-04C44FA42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22" y="3002056"/>
            <a:ext cx="4093570" cy="303868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7616C0A-2AB8-4BEC-6D80-42743BCBF43C}"/>
              </a:ext>
            </a:extLst>
          </p:cNvPr>
          <p:cNvSpPr/>
          <p:nvPr/>
        </p:nvSpPr>
        <p:spPr>
          <a:xfrm>
            <a:off x="279022" y="5349922"/>
            <a:ext cx="1378328" cy="423081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3FD9F1-220D-191C-74B4-7783855ECE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844"/>
          <a:stretch/>
        </p:blipFill>
        <p:spPr>
          <a:xfrm>
            <a:off x="4629150" y="3002056"/>
            <a:ext cx="4364725" cy="281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689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993C2-9204-1D1E-7E36-4A0F5B096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43" y="2259606"/>
            <a:ext cx="2776371" cy="240515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FD47B3-13F4-B144-B909-EF5FEE82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43C35C-A1E6-A143-899F-46AB4BB8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to last item.  Create a personal folder.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F1A49-8A39-D342-9740-44E45516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FE960-B246-F243-8842-A2905F688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23E392-49DB-0745-9ABA-BF00DBB98A2E}"/>
              </a:ext>
            </a:extLst>
          </p:cNvPr>
          <p:cNvSpPr/>
          <p:nvPr/>
        </p:nvSpPr>
        <p:spPr>
          <a:xfrm>
            <a:off x="114300" y="5527213"/>
            <a:ext cx="8915400" cy="5532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When you work and make changes to scripts, SAVE AS to a personal folder that is ignored by git.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75FA1E-8F64-E04C-9532-BE2F6A033FAC}"/>
              </a:ext>
            </a:extLst>
          </p:cNvPr>
          <p:cNvSpPr txBox="1"/>
          <p:nvPr/>
        </p:nvSpPr>
        <p:spPr>
          <a:xfrm>
            <a:off x="3442446" y="3012141"/>
            <a:ext cx="438485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Name of folder to be ignored “</a:t>
            </a:r>
            <a:r>
              <a:rPr lang="en-US" dirty="0" err="1"/>
              <a:t>personalFiles</a:t>
            </a:r>
            <a:r>
              <a:rPr lang="en-US" dirty="0"/>
              <a:t>”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03342F-C22C-0A43-89DF-DB2AFB9B8C6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885361" y="3196807"/>
            <a:ext cx="1557085" cy="1328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9EA4C7-716F-874A-AA58-CC00844A32E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EA0ADD-402A-5B46-ACB2-E1B65C421BA4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8B765AC-DF29-BB4D-9281-B0642B02FA76}"/>
              </a:ext>
            </a:extLst>
          </p:cNvPr>
          <p:cNvSpPr/>
          <p:nvPr/>
        </p:nvSpPr>
        <p:spPr>
          <a:xfrm>
            <a:off x="132230" y="1107613"/>
            <a:ext cx="8915400" cy="5532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Open the “</a:t>
            </a:r>
            <a:r>
              <a:rPr lang="en-US" sz="1600" dirty="0" err="1"/>
              <a:t>gitignore</a:t>
            </a:r>
            <a:r>
              <a:rPr lang="en-US" sz="1600" dirty="0"/>
              <a:t>” file.  Add slash personal</a:t>
            </a:r>
          </a:p>
        </p:txBody>
      </p:sp>
    </p:spTree>
    <p:extLst>
      <p:ext uri="{BB962C8B-B14F-4D97-AF65-F5344CB8AC3E}">
        <p14:creationId xmlns:p14="http://schemas.microsoft.com/office/powerpoint/2010/main" val="35407675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FD47B3-13F4-B144-B909-EF5FEE82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43C35C-A1E6-A143-899F-46AB4BB8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to last item.  Create a personal folder.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F1A49-8A39-D342-9740-44E45516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FE960-B246-F243-8842-A2905F688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9EA4C7-716F-874A-AA58-CC00844A32E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EA0ADD-402A-5B46-ACB2-E1B65C421BA4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8B765AC-DF29-BB4D-9281-B0642B02FA76}"/>
              </a:ext>
            </a:extLst>
          </p:cNvPr>
          <p:cNvSpPr/>
          <p:nvPr/>
        </p:nvSpPr>
        <p:spPr>
          <a:xfrm>
            <a:off x="132230" y="1107613"/>
            <a:ext cx="8915400" cy="5532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 the lower right file section click “New Folder”. Name it “personal” exactly as in the </a:t>
            </a:r>
            <a:r>
              <a:rPr lang="en-US" sz="1400" dirty="0" err="1"/>
              <a:t>gitignore</a:t>
            </a:r>
            <a:r>
              <a:rPr lang="en-US" sz="1400" dirty="0"/>
              <a:t> (capitalization)</a:t>
            </a: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89B004E-D40B-3B42-A31F-C8AFAD401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465" y="2824256"/>
            <a:ext cx="3937000" cy="698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764745-91F4-A14D-90CC-7ED730B3A31C}"/>
              </a:ext>
            </a:extLst>
          </p:cNvPr>
          <p:cNvSpPr txBox="1"/>
          <p:nvPr/>
        </p:nvSpPr>
        <p:spPr>
          <a:xfrm>
            <a:off x="2545976" y="3675530"/>
            <a:ext cx="174490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Click New Folder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9F9DDA-F3BC-C041-AFA9-7E3975C94933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2420471" y="3415554"/>
            <a:ext cx="997956" cy="259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290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FD47B3-13F4-B144-B909-EF5FEE82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43C35C-A1E6-A143-899F-46AB4BB8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Save yourself a headache!  Create a personal folder.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F1A49-8A39-D342-9740-44E45516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FE960-B246-F243-8842-A2905F688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9EA4C7-716F-874A-AA58-CC00844A32E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EA0ADD-402A-5B46-ACB2-E1B65C421BA4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8B765AC-DF29-BB4D-9281-B0642B02FA76}"/>
              </a:ext>
            </a:extLst>
          </p:cNvPr>
          <p:cNvSpPr/>
          <p:nvPr/>
        </p:nvSpPr>
        <p:spPr>
          <a:xfrm>
            <a:off x="132230" y="1107613"/>
            <a:ext cx="8915400" cy="5532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 the lower right file section click “New Folder”. Name it “personal” exactly as in the </a:t>
            </a:r>
            <a:r>
              <a:rPr lang="en-US" sz="1400" dirty="0" err="1"/>
              <a:t>gitignore</a:t>
            </a:r>
            <a:r>
              <a:rPr lang="en-US" sz="1400" dirty="0"/>
              <a:t> (capitalization)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3A3AE7-DC01-5F45-9BAC-9820716D8359}"/>
              </a:ext>
            </a:extLst>
          </p:cNvPr>
          <p:cNvSpPr txBox="1"/>
          <p:nvPr/>
        </p:nvSpPr>
        <p:spPr>
          <a:xfrm>
            <a:off x="2850775" y="4654924"/>
            <a:ext cx="3964887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Any file you change should  be in this folder as “Save As”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E31F93-D68D-4A4D-6923-A10DC9B22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90" y="2212241"/>
            <a:ext cx="6553200" cy="14478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E93D46-D12E-1642-BE4E-72978E107A8F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2850775" y="3280410"/>
            <a:ext cx="1982444" cy="1374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757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5846" y="365126"/>
            <a:ext cx="8968154" cy="591477"/>
          </a:xfrm>
        </p:spPr>
        <p:txBody>
          <a:bodyPr/>
          <a:lstStyle/>
          <a:p>
            <a:r>
              <a:rPr lang="en-US" dirty="0"/>
              <a:t>Libraries to install…we cover a lot in this course!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554" y="1019908"/>
            <a:ext cx="76528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Please review the readme file of the Student repo!!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2727B0-FD03-C489-84BC-0AC7BCCA6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515" y="1807120"/>
            <a:ext cx="5619750" cy="369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36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351679"/>
            <a:ext cx="8515350" cy="591477"/>
          </a:xfrm>
        </p:spPr>
        <p:txBody>
          <a:bodyPr/>
          <a:lstStyle/>
          <a:p>
            <a:r>
              <a:rPr lang="en-US" i="1" dirty="0"/>
              <a:t>Don’t worry if you need help!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2CD7BD-4229-2E4F-8F7C-E12D81559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159000"/>
            <a:ext cx="3810000" cy="2540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BFB634-E97B-054C-845E-FA1CBEF3CBED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E89E17-6E3C-1440-B78E-BF66D0BB267C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526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14363" y="1111250"/>
          <a:ext cx="7915275" cy="2773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2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1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Syllabus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 to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 Installation, environment &amp; 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Simple R Scripting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23708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99B-5349-415A-8E56-8E989211A366}" type="datetime1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71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X-Ray: A basic R-Script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 descr="Image result for force awakens x ray amazon">
            <a:extLst>
              <a:ext uri="{FF2B5EF4-FFF2-40B4-BE49-F238E27FC236}">
                <a16:creationId xmlns:a16="http://schemas.microsoft.com/office/drawing/2014/main" id="{D63EAA9F-39DF-4B05-A41E-DA65DE8A84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8"/>
          <a:stretch/>
        </p:blipFill>
        <p:spPr bwMode="auto">
          <a:xfrm>
            <a:off x="189897" y="2172866"/>
            <a:ext cx="4224106" cy="31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40C16EF-D21E-42CC-885A-A42D564CB5CA}"/>
              </a:ext>
            </a:extLst>
          </p:cNvPr>
          <p:cNvSpPr/>
          <p:nvPr/>
        </p:nvSpPr>
        <p:spPr>
          <a:xfrm>
            <a:off x="189897" y="1187745"/>
            <a:ext cx="4206240" cy="78652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Left Hand Screen:</a:t>
            </a:r>
          </a:p>
          <a:p>
            <a:r>
              <a:rPr lang="en-US" sz="2000" dirty="0">
                <a:solidFill>
                  <a:schemeClr val="bg1"/>
                </a:solidFill>
              </a:rPr>
              <a:t>Actor Information &amp; Trivia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3763F2-851C-4BF6-9173-27A06AAF4A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391"/>
          <a:stretch/>
        </p:blipFill>
        <p:spPr>
          <a:xfrm>
            <a:off x="4551028" y="2167670"/>
            <a:ext cx="4220509" cy="31610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80BC9DA-D0B9-402A-B935-9A92DE951947}"/>
              </a:ext>
            </a:extLst>
          </p:cNvPr>
          <p:cNvSpPr/>
          <p:nvPr/>
        </p:nvSpPr>
        <p:spPr>
          <a:xfrm>
            <a:off x="4551028" y="1191601"/>
            <a:ext cx="4206240" cy="7826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Center “Pop-over” Screen:</a:t>
            </a:r>
          </a:p>
          <a:p>
            <a:r>
              <a:rPr lang="en-US" dirty="0">
                <a:solidFill>
                  <a:schemeClr val="bg1"/>
                </a:solidFill>
              </a:rPr>
              <a:t>Scenes, Cast, Characters, Music &amp; Trivia</a:t>
            </a:r>
          </a:p>
        </p:txBody>
      </p:sp>
    </p:spTree>
    <p:extLst>
      <p:ext uri="{BB962C8B-B14F-4D97-AF65-F5344CB8AC3E}">
        <p14:creationId xmlns:p14="http://schemas.microsoft.com/office/powerpoint/2010/main" val="34335511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7/6/26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practice!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549BB-6AF5-468A-8D72-A45EED7452EF}"/>
              </a:ext>
            </a:extLst>
          </p:cNvPr>
          <p:cNvSpPr/>
          <p:nvPr/>
        </p:nvSpPr>
        <p:spPr>
          <a:xfrm>
            <a:off x="228600" y="5313693"/>
            <a:ext cx="8686800" cy="70658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Learning Outcome: Following a consistent workflow, load, clean, &amp; analyze real data with multiple data types to establish basic familiarity.</a:t>
            </a:r>
          </a:p>
        </p:txBody>
      </p:sp>
      <p:pic>
        <p:nvPicPr>
          <p:cNvPr id="9" name="Picture 2" descr="Image result for star wars force awakens">
            <a:extLst>
              <a:ext uri="{FF2B5EF4-FFF2-40B4-BE49-F238E27FC236}">
                <a16:creationId xmlns:a16="http://schemas.microsoft.com/office/drawing/2014/main" id="{8E7D28FF-4104-42E8-871E-112088516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2124023"/>
            <a:ext cx="2073426" cy="311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E6549BB-6AF5-468A-8D72-A45EED7452EF}"/>
              </a:ext>
            </a:extLst>
          </p:cNvPr>
          <p:cNvSpPr/>
          <p:nvPr/>
        </p:nvSpPr>
        <p:spPr>
          <a:xfrm>
            <a:off x="228600" y="1193632"/>
            <a:ext cx="8686800" cy="4617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/>
              <a:t>Open </a:t>
            </a:r>
            <a:r>
              <a:rPr lang="en-US" b="1" dirty="0" err="1"/>
              <a:t>A_demo_script.R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89F6EE-B762-8542-89CC-77921EF2C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066" y="2124710"/>
            <a:ext cx="6320013" cy="100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51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rv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1C30"/>
      </a:accent1>
      <a:accent2>
        <a:srgbClr val="8C8179"/>
      </a:accent2>
      <a:accent3>
        <a:srgbClr val="293352"/>
      </a:accent3>
      <a:accent4>
        <a:srgbClr val="8996A0"/>
      </a:accent4>
      <a:accent5>
        <a:srgbClr val="BAC5C6"/>
      </a:accent5>
      <a:accent6>
        <a:srgbClr val="4E84C4"/>
      </a:accent6>
      <a:hlink>
        <a:srgbClr val="52854C"/>
      </a:hlink>
      <a:folHlink>
        <a:srgbClr val="E87D1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2139</Words>
  <Application>Microsoft Macintosh PowerPoint</Application>
  <PresentationFormat>On-screen Show (4:3)</PresentationFormat>
  <Paragraphs>468</Paragraphs>
  <Slides>42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Consolas</vt:lpstr>
      <vt:lpstr>Roboto</vt:lpstr>
      <vt:lpstr>Wingdings</vt:lpstr>
      <vt:lpstr>Office Theme</vt:lpstr>
      <vt:lpstr>Ted Kwartler</vt:lpstr>
      <vt:lpstr>Syllabus Review</vt:lpstr>
      <vt:lpstr>Community Learning Expectations</vt:lpstr>
      <vt:lpstr>Intro to R</vt:lpstr>
      <vt:lpstr>The course uses three software components for learning.</vt:lpstr>
      <vt:lpstr>What is R?</vt:lpstr>
      <vt:lpstr>What is R Studio?</vt:lpstr>
      <vt:lpstr>What is the relationship between R &amp; R studio?</vt:lpstr>
      <vt:lpstr>Now that you have R, R-Studio &amp; Git, time to connect to our class repository.</vt:lpstr>
      <vt:lpstr>R Studio has four main panes</vt:lpstr>
      <vt:lpstr>R: Where is it being used?</vt:lpstr>
      <vt:lpstr>Ok, it’s awesome but… </vt:lpstr>
      <vt:lpstr>A basic R workflow</vt:lpstr>
      <vt:lpstr>R uses functions, libraries &amp; objects</vt:lpstr>
      <vt:lpstr>Another trap!</vt:lpstr>
      <vt:lpstr>The course readme has the packages to install.</vt:lpstr>
      <vt:lpstr>R uses functions, libraries &amp; objects</vt:lpstr>
      <vt:lpstr>What if my file is Excel or ???</vt:lpstr>
      <vt:lpstr>R uses functions, libraries &amp; objects</vt:lpstr>
      <vt:lpstr>R uses functions, libraries &amp; objects</vt:lpstr>
      <vt:lpstr>R uses functions, libraries &amp; objects</vt:lpstr>
      <vt:lpstr>R uses functions, libraries &amp; objects</vt:lpstr>
      <vt:lpstr>R uses functions, libraries &amp; objects</vt:lpstr>
      <vt:lpstr>R uses functions, libraries &amp; objects</vt:lpstr>
      <vt:lpstr>R uses functions, libraries &amp; objects</vt:lpstr>
      <vt:lpstr>R uses functions, libraries &amp; objects</vt:lpstr>
      <vt:lpstr>R uses functions, libraries &amp; objects</vt:lpstr>
      <vt:lpstr>R uses functions, libraries &amp; objects</vt:lpstr>
      <vt:lpstr>Workflow review</vt:lpstr>
      <vt:lpstr>To get scripts, pptxs &amp; data use the class repo</vt:lpstr>
      <vt:lpstr>Now let’s get class files by setting up a new project &amp; do a “git clone”</vt:lpstr>
      <vt:lpstr>Setup a new project &amp; do a “git pull”</vt:lpstr>
      <vt:lpstr>Each class we will perform a git pull in case there are updates to curriculum to aid learning.</vt:lpstr>
      <vt:lpstr>Saving YOUR copy of files.</vt:lpstr>
      <vt:lpstr>Second to last item.  Create a personal folder.</vt:lpstr>
      <vt:lpstr>Second to last item.  Create a personal folder.</vt:lpstr>
      <vt:lpstr>Save yourself a headache!  Create a personal folder.</vt:lpstr>
      <vt:lpstr>Libraries to install…we cover a lot in this course!</vt:lpstr>
      <vt:lpstr>Don’t worry if you need help!</vt:lpstr>
      <vt:lpstr>Agenda</vt:lpstr>
      <vt:lpstr>Amazon X-Ray: A basic R-Script</vt:lpstr>
      <vt:lpstr>Let’s practice!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for Business Harvard CSCI E-96</dc:title>
  <dc:creator>Edward Kwartler</dc:creator>
  <cp:lastModifiedBy>Ted Kwartler</cp:lastModifiedBy>
  <cp:revision>31</cp:revision>
  <dcterms:created xsi:type="dcterms:W3CDTF">2020-08-24T01:48:41Z</dcterms:created>
  <dcterms:modified xsi:type="dcterms:W3CDTF">2026-07-06T12:58:38Z</dcterms:modified>
</cp:coreProperties>
</file>