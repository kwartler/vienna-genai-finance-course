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Arial"/>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9pPr>
    </p:bodyStyle>
    <p:otherStyle>
      <a:defPPr>
        <a:defRPr lang="en-US"/>
      </a:defPPr>
      <a:lvl1pPr marL="0" algn="l" defTabSz="914400" rtl="0" eaLnBrk="1" latinLnBrk="0" hangingPunct="1">
        <a:defRPr sz="1800" kern="1200">
          <a:solidFill>
            <a:schemeClr val="tx1"/>
          </a:solidFill>
          <a:latin typeface="Arial"/>
          <a:ea typeface="+mn-ea"/>
          <a:cs typeface="+mn-cs"/>
        </a:defRPr>
      </a:lvl1pPr>
      <a:lvl2pPr marL="457200" algn="l" defTabSz="914400" rtl="0" eaLnBrk="1" latinLnBrk="0" hangingPunct="1">
        <a:defRPr sz="1800" kern="1200">
          <a:solidFill>
            <a:schemeClr val="tx1"/>
          </a:solidFill>
          <a:latin typeface="Arial"/>
          <a:ea typeface="+mn-ea"/>
          <a:cs typeface="+mn-cs"/>
        </a:defRPr>
      </a:lvl2pPr>
      <a:lvl3pPr marL="914400" algn="l" defTabSz="914400" rtl="0" eaLnBrk="1" latinLnBrk="0" hangingPunct="1">
        <a:defRPr sz="1800" kern="1200">
          <a:solidFill>
            <a:schemeClr val="tx1"/>
          </a:solidFill>
          <a:latin typeface="Arial"/>
          <a:ea typeface="+mn-ea"/>
          <a:cs typeface="+mn-cs"/>
        </a:defRPr>
      </a:lvl3pPr>
      <a:lvl4pPr marL="1371600" algn="l" defTabSz="914400" rtl="0" eaLnBrk="1" latinLnBrk="0" hangingPunct="1">
        <a:defRPr sz="1800" kern="1200">
          <a:solidFill>
            <a:schemeClr val="tx1"/>
          </a:solidFill>
          <a:latin typeface="Arial"/>
          <a:ea typeface="+mn-ea"/>
          <a:cs typeface="+mn-cs"/>
        </a:defRPr>
      </a:lvl4pPr>
      <a:lvl5pPr marL="1828800" algn="l" defTabSz="914400" rtl="0" eaLnBrk="1" latinLnBrk="0" hangingPunct="1">
        <a:defRPr sz="18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Arial"/>
          <a:ea typeface="+mn-ea"/>
          <a:cs typeface="+mn-cs"/>
        </a:defRPr>
      </a:lvl6pPr>
      <a:lvl7pPr marL="2743200" algn="l" defTabSz="914400" rtl="0" eaLnBrk="1" latinLnBrk="0" hangingPunct="1">
        <a:defRPr sz="1800" kern="1200">
          <a:solidFill>
            <a:schemeClr val="tx1"/>
          </a:solidFill>
          <a:latin typeface="Arial"/>
          <a:ea typeface="+mn-ea"/>
          <a:cs typeface="+mn-cs"/>
        </a:defRPr>
      </a:lvl7pPr>
      <a:lvl8pPr marL="3200400" algn="l" defTabSz="914400" rtl="0" eaLnBrk="1" latinLnBrk="0" hangingPunct="1">
        <a:defRPr sz="1800" kern="1200">
          <a:solidFill>
            <a:schemeClr val="tx1"/>
          </a:solidFill>
          <a:latin typeface="Arial"/>
          <a:ea typeface="+mn-ea"/>
          <a:cs typeface="+mn-cs"/>
        </a:defRPr>
      </a:lvl8pPr>
      <a:lvl9pPr marL="3657600" algn="l" defTabSz="914400" rtl="0" eaLnBrk="1" latinLnBrk="0" hangingPunct="1">
        <a:defRPr sz="1800" kern="1200">
          <a:solidFill>
            <a:schemeClr val="tx1"/>
          </a:solidFill>
          <a:latin typeface="Arial"/>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A51C30"/>
        </a:solidFill>
        <a:effectLst/>
      </p:bgPr>
    </p:bg>
    <p:spTree>
      <p:nvGrpSpPr>
        <p:cNvPr id="1" name=""/>
        <p:cNvGrpSpPr/>
        <p:nvPr/>
      </p:nvGrpSpPr>
      <p:grpSpPr>
        <a:xfrm>
          <a:off x="0" y="0"/>
          <a:ext cx="0" cy="0"/>
          <a:chOff x="0" y="0"/>
          <a:chExt cx="0" cy="0"/>
        </a:xfrm>
      </p:grpSpPr>
      <p:sp>
        <p:nvSpPr>
          <p:cNvPr id="2" name="Text 0"/>
          <p:cNvSpPr/>
          <p:nvPr/>
        </p:nvSpPr>
        <p:spPr>
          <a:xfrm>
            <a:off x="731520" y="1554480"/>
            <a:ext cx="10698480" cy="548640"/>
          </a:xfrm>
          <a:prstGeom prst="rect">
            <a:avLst/>
          </a:prstGeom>
          <a:noFill/>
          <a:ln/>
        </p:spPr>
        <p:txBody>
          <a:bodyPr wrap="square" lIns="0" tIns="0" rIns="0" bIns="0" rtlCol="0" anchor="ctr"/>
          <a:lstStyle/>
          <a:p>
            <a:pPr indent="0" marL="0">
              <a:buNone/>
            </a:pPr>
            <a:r>
              <a:rPr lang="en-US" sz="2000" spc="200" kern="0" dirty="0">
                <a:solidFill>
                  <a:srgbClr val="FFFFFF"/>
                </a:solidFill>
                <a:latin typeface="Arial" pitchFamily="34" charset="0"/>
                <a:ea typeface="Arial" pitchFamily="34" charset="-122"/>
                <a:cs typeface="Arial" pitchFamily="34" charset="-120"/>
              </a:rPr>
              <a:t>Generative AI in Finance</a:t>
            </a:r>
            <a:endParaRPr lang="en-US" sz="2000" dirty="0"/>
          </a:p>
        </p:txBody>
      </p:sp>
      <p:sp>
        <p:nvSpPr>
          <p:cNvPr id="3" name="Text 1"/>
          <p:cNvSpPr/>
          <p:nvPr/>
        </p:nvSpPr>
        <p:spPr>
          <a:xfrm>
            <a:off x="731520" y="2286000"/>
            <a:ext cx="10698480" cy="109728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Day 2, Data Science Masters Track</a:t>
            </a:r>
            <a:endParaRPr lang="en-US" sz="4000" dirty="0"/>
          </a:p>
        </p:txBody>
      </p:sp>
      <p:sp>
        <p:nvSpPr>
          <p:cNvPr id="4" name="Text 2"/>
          <p:cNvSpPr/>
          <p:nvPr/>
        </p:nvSpPr>
        <p:spPr>
          <a:xfrm>
            <a:off x="731520" y="3474720"/>
            <a:ext cx="10698480" cy="731520"/>
          </a:xfrm>
          <a:prstGeom prst="rect">
            <a:avLst/>
          </a:prstGeom>
          <a:noFill/>
          <a:ln/>
        </p:spPr>
        <p:txBody>
          <a:bodyPr wrap="square" lIns="0" tIns="0" rIns="0" bIns="0" rtlCol="0" anchor="ctr"/>
          <a:lstStyle/>
          <a:p>
            <a:pPr indent="0" marL="0">
              <a:buNone/>
            </a:pPr>
            <a:r>
              <a:rPr lang="en-US" sz="2000" dirty="0">
                <a:solidFill>
                  <a:srgbClr val="FFFFFF"/>
                </a:solidFill>
                <a:latin typeface="Arial" pitchFamily="34" charset="0"/>
                <a:ea typeface="Arial" pitchFamily="34" charset="-122"/>
                <a:cs typeface="Arial" pitchFamily="34" charset="-120"/>
              </a:rPr>
              <a:t>Portfolio optimization, rolling risk metrics, and a live investment thesis app</a:t>
            </a:r>
            <a:endParaRPr lang="en-US" sz="2000" dirty="0"/>
          </a:p>
        </p:txBody>
      </p:sp>
      <p:sp>
        <p:nvSpPr>
          <p:cNvPr id="5"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F3F3F1"/>
                </a:solidFill>
                <a:latin typeface="Arial"/>
              </a:rPr>
              <a:t>© 2026 Ted Kwartler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51C30"/>
        </a:solidFill>
        <a:effectLst/>
      </p:bgPr>
    </p:bg>
    <p:spTree>
      <p:nvGrpSpPr>
        <p:cNvPr id="1" name=""/>
        <p:cNvGrpSpPr/>
        <p:nvPr/>
      </p:nvGrpSpPr>
      <p:grpSpPr>
        <a:xfrm>
          <a:off x="0" y="0"/>
          <a:ext cx="0" cy="0"/>
          <a:chOff x="0" y="0"/>
          <a:chExt cx="0" cy="0"/>
        </a:xfrm>
      </p:grpSpPr>
      <p:sp>
        <p:nvSpPr>
          <p:cNvPr id="2" name="Text 0"/>
          <p:cNvSpPr/>
          <p:nvPr/>
        </p:nvSpPr>
        <p:spPr>
          <a:xfrm>
            <a:off x="731520" y="2011680"/>
            <a:ext cx="10698480" cy="457200"/>
          </a:xfrm>
          <a:prstGeom prst="rect">
            <a:avLst/>
          </a:prstGeom>
          <a:noFill/>
          <a:ln/>
        </p:spPr>
        <p:txBody>
          <a:bodyPr wrap="square" lIns="0" tIns="0" rIns="0" bIns="0" rtlCol="0" anchor="ctr"/>
          <a:lstStyle/>
          <a:p>
            <a:pPr indent="0" marL="0">
              <a:buNone/>
            </a:pPr>
            <a:r>
              <a:rPr lang="en-US" sz="1600" b="1" spc="200" kern="0" dirty="0">
                <a:solidFill>
                  <a:srgbClr val="FFFFFF"/>
                </a:solidFill>
                <a:latin typeface="Arial" pitchFamily="34" charset="0"/>
                <a:ea typeface="Arial" pitchFamily="34" charset="-122"/>
                <a:cs typeface="Arial" pitchFamily="34" charset="-120"/>
              </a:rPr>
              <a:t>HOUR 1  ·  8:00 TO 9:00</a:t>
            </a:r>
            <a:endParaRPr lang="en-US" sz="1600" dirty="0"/>
          </a:p>
        </p:txBody>
      </p:sp>
      <p:sp>
        <p:nvSpPr>
          <p:cNvPr id="3" name="Text 1"/>
          <p:cNvSpPr/>
          <p:nvPr/>
        </p:nvSpPr>
        <p:spPr>
          <a:xfrm>
            <a:off x="731520" y="2468880"/>
            <a:ext cx="10698480" cy="128016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Portfolio Optimization in R</a:t>
            </a:r>
            <a:endParaRPr lang="en-US" sz="4000" dirty="0"/>
          </a:p>
        </p:txBody>
      </p:sp>
      <p:sp>
        <p:nvSpPr>
          <p:cNvPr id="4" name="Text 2"/>
          <p:cNvSpPr/>
          <p:nvPr/>
        </p:nvSpPr>
        <p:spPr>
          <a:xfrm>
            <a:off x="731520" y="3749040"/>
            <a:ext cx="10698480" cy="914400"/>
          </a:xfrm>
          <a:prstGeom prst="rect">
            <a:avLst/>
          </a:prstGeom>
          <a:noFill/>
          <a:ln/>
        </p:spPr>
        <p:txBody>
          <a:bodyPr wrap="square" lIns="0" tIns="0" rIns="0" bIns="0" rtlCol="0" anchor="ctr"/>
          <a:lstStyle/>
          <a:p>
            <a:pPr indent="0" marL="0">
              <a:buNone/>
            </a:pPr>
            <a:r>
              <a:rPr lang="en-US" sz="2000" dirty="0">
                <a:solidFill>
                  <a:srgbClr val="FFFFFF"/>
                </a:solidFill>
                <a:latin typeface="Arial" pitchFamily="34" charset="0"/>
                <a:ea typeface="Arial" pitchFamily="34" charset="-122"/>
                <a:cs typeface="Arial" pitchFamily="34" charset="-120"/>
              </a:rPr>
              <a:t>From raw prices to two optimized portfolios, then a plain English read</a:t>
            </a:r>
            <a:endParaRPr lang="en-US" sz="2000" dirty="0"/>
          </a:p>
        </p:txBody>
      </p:sp>
      <p:sp>
        <p:nvSpPr>
          <p:cNvPr id="5"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F3F3F1"/>
                </a:solidFill>
                <a:latin typeface="Arial"/>
              </a:rPr>
              <a:t>© 2026 Ted Kwartler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SCRIPTS A TO D</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The hour as one pipeline</a:t>
            </a:r>
            <a:endParaRPr lang="en-US" sz="2800" dirty="0"/>
          </a:p>
        </p:txBody>
      </p:sp>
      <p:sp>
        <p:nvSpPr>
          <p:cNvPr id="4" name="Shape 2"/>
          <p:cNvSpPr/>
          <p:nvPr/>
        </p:nvSpPr>
        <p:spPr>
          <a:xfrm>
            <a:off x="640080" y="2148840"/>
            <a:ext cx="2377440" cy="2468880"/>
          </a:xfrm>
          <a:prstGeom prst="roundRect">
            <a:avLst>
              <a:gd name="adj" fmla="val 2692"/>
            </a:avLst>
          </a:prstGeom>
          <a:solidFill>
            <a:srgbClr val="293352"/>
          </a:solidFill>
          <a:ln/>
        </p:spPr>
      </p:sp>
      <p:sp>
        <p:nvSpPr>
          <p:cNvPr id="5" name="Shape 3"/>
          <p:cNvSpPr/>
          <p:nvPr/>
        </p:nvSpPr>
        <p:spPr>
          <a:xfrm>
            <a:off x="1545336" y="2468880"/>
            <a:ext cx="566928" cy="566928"/>
          </a:xfrm>
          <a:prstGeom prst="roundRect">
            <a:avLst>
              <a:gd name="adj" fmla="val 14516"/>
            </a:avLst>
          </a:prstGeom>
          <a:solidFill>
            <a:srgbClr val="A51C30"/>
          </a:solidFill>
          <a:ln/>
        </p:spPr>
      </p:sp>
      <p:pic>
        <p:nvPicPr>
          <p:cNvPr id="6" name="Image 0" descr="preencoded.png">    </p:cNvPr>
          <p:cNvPicPr>
            <a:picLocks noChangeAspect="1"/>
          </p:cNvPicPr>
          <p:nvPr/>
        </p:nvPicPr>
        <p:blipFill>
          <a:blip r:embed="rId1"/>
          <a:stretch>
            <a:fillRect/>
          </a:stretch>
        </p:blipFill>
        <p:spPr>
          <a:xfrm>
            <a:off x="1672895" y="2596439"/>
            <a:ext cx="311810" cy="311810"/>
          </a:xfrm>
          <a:prstGeom prst="rect">
            <a:avLst/>
          </a:prstGeom>
        </p:spPr>
      </p:pic>
      <p:sp>
        <p:nvSpPr>
          <p:cNvPr id="7" name="Text 4"/>
          <p:cNvSpPr/>
          <p:nvPr/>
        </p:nvSpPr>
        <p:spPr>
          <a:xfrm>
            <a:off x="777240" y="3200400"/>
            <a:ext cx="2103120" cy="548640"/>
          </a:xfrm>
          <a:prstGeom prst="rect">
            <a:avLst/>
          </a:prstGeom>
          <a:noFill/>
          <a:ln/>
        </p:spPr>
        <p:txBody>
          <a:bodyPr wrap="square" lIns="0" tIns="0" rIns="0" bIns="0" rtlCol="0" anchor="t"/>
          <a:lstStyle/>
          <a:p>
            <a:pPr algn="ctr" indent="0" marL="0">
              <a:buNone/>
            </a:pPr>
            <a:r>
              <a:rPr lang="en-US" sz="1500" b="1" dirty="0">
                <a:solidFill>
                  <a:srgbClr val="FFFFFF"/>
                </a:solidFill>
                <a:latin typeface="Arial" pitchFamily="34" charset="0"/>
                <a:ea typeface="Arial" pitchFamily="34" charset="-122"/>
                <a:cs typeface="Arial" pitchFamily="34" charset="-120"/>
              </a:rPr>
              <a:t>A  Prepare</a:t>
            </a:r>
            <a:endParaRPr lang="en-US" sz="1500" dirty="0"/>
          </a:p>
        </p:txBody>
      </p:sp>
      <p:sp>
        <p:nvSpPr>
          <p:cNvPr id="8" name="Text 5"/>
          <p:cNvSpPr/>
          <p:nvPr/>
        </p:nvSpPr>
        <p:spPr>
          <a:xfrm>
            <a:off x="822960" y="3703320"/>
            <a:ext cx="2011680" cy="822960"/>
          </a:xfrm>
          <a:prstGeom prst="rect">
            <a:avLst/>
          </a:prstGeom>
          <a:noFill/>
          <a:ln/>
        </p:spPr>
        <p:txBody>
          <a:bodyPr wrap="square" lIns="0" tIns="0" rIns="0" bIns="0" rtlCol="0" anchor="t"/>
          <a:lstStyle/>
          <a:p>
            <a:pPr algn="ctr" indent="0" marL="0">
              <a:buNone/>
            </a:pPr>
            <a:r>
              <a:rPr lang="en-US" sz="1150" dirty="0">
                <a:solidFill>
                  <a:srgbClr val="F3F3F1"/>
                </a:solidFill>
                <a:latin typeface="Arial" pitchFamily="34" charset="0"/>
                <a:ea typeface="Arial" pitchFamily="34" charset="-122"/>
                <a:cs typeface="Arial" pitchFamily="34" charset="-120"/>
              </a:rPr>
              <a:t>Prices to returns, five stocks plus SPY</a:t>
            </a:r>
            <a:endParaRPr lang="en-US" sz="1150" dirty="0"/>
          </a:p>
        </p:txBody>
      </p:sp>
      <p:sp>
        <p:nvSpPr>
          <p:cNvPr id="9" name="Text 6"/>
          <p:cNvSpPr/>
          <p:nvPr/>
        </p:nvSpPr>
        <p:spPr>
          <a:xfrm>
            <a:off x="3017520" y="3063240"/>
            <a:ext cx="487680" cy="640080"/>
          </a:xfrm>
          <a:prstGeom prst="rect">
            <a:avLst/>
          </a:prstGeom>
          <a:noFill/>
          <a:ln/>
        </p:spPr>
        <p:txBody>
          <a:bodyPr wrap="square" lIns="0" tIns="0" rIns="0" bIns="0" rtlCol="0" anchor="ctr"/>
          <a:lstStyle/>
          <a:p>
            <a:pPr algn="ctr" indent="0" marL="0">
              <a:buNone/>
            </a:pPr>
            <a:r>
              <a:rPr lang="en-US" sz="2600" b="1" dirty="0">
                <a:solidFill>
                  <a:srgbClr val="8996A0"/>
                </a:solidFill>
                <a:latin typeface="Arial" pitchFamily="34" charset="0"/>
                <a:ea typeface="Arial" pitchFamily="34" charset="-122"/>
                <a:cs typeface="Arial" pitchFamily="34" charset="-120"/>
              </a:rPr>
              <a:t>→</a:t>
            </a:r>
            <a:endParaRPr lang="en-US" sz="2600" dirty="0"/>
          </a:p>
        </p:txBody>
      </p:sp>
      <p:sp>
        <p:nvSpPr>
          <p:cNvPr id="10" name="Shape 7"/>
          <p:cNvSpPr/>
          <p:nvPr/>
        </p:nvSpPr>
        <p:spPr>
          <a:xfrm>
            <a:off x="3505200" y="2148840"/>
            <a:ext cx="2377440" cy="2468880"/>
          </a:xfrm>
          <a:prstGeom prst="roundRect">
            <a:avLst>
              <a:gd name="adj" fmla="val 2692"/>
            </a:avLst>
          </a:prstGeom>
          <a:solidFill>
            <a:srgbClr val="F3F3F1"/>
          </a:solidFill>
          <a:ln/>
        </p:spPr>
      </p:sp>
      <p:sp>
        <p:nvSpPr>
          <p:cNvPr id="11" name="Shape 8"/>
          <p:cNvSpPr/>
          <p:nvPr/>
        </p:nvSpPr>
        <p:spPr>
          <a:xfrm>
            <a:off x="4410456" y="2468880"/>
            <a:ext cx="566928" cy="566928"/>
          </a:xfrm>
          <a:prstGeom prst="roundRect">
            <a:avLst>
              <a:gd name="adj" fmla="val 14516"/>
            </a:avLst>
          </a:prstGeom>
          <a:solidFill>
            <a:srgbClr val="293352"/>
          </a:solidFill>
          <a:ln/>
        </p:spPr>
      </p:sp>
      <p:pic>
        <p:nvPicPr>
          <p:cNvPr id="12" name="Image 1" descr="preencoded.png">    </p:cNvPr>
          <p:cNvPicPr>
            <a:picLocks noChangeAspect="1"/>
          </p:cNvPicPr>
          <p:nvPr/>
        </p:nvPicPr>
        <p:blipFill>
          <a:blip r:embed="rId2"/>
          <a:stretch>
            <a:fillRect/>
          </a:stretch>
        </p:blipFill>
        <p:spPr>
          <a:xfrm>
            <a:off x="4538015" y="2596439"/>
            <a:ext cx="311810" cy="311810"/>
          </a:xfrm>
          <a:prstGeom prst="rect">
            <a:avLst/>
          </a:prstGeom>
        </p:spPr>
      </p:pic>
      <p:sp>
        <p:nvSpPr>
          <p:cNvPr id="13" name="Text 9"/>
          <p:cNvSpPr/>
          <p:nvPr/>
        </p:nvSpPr>
        <p:spPr>
          <a:xfrm>
            <a:off x="3642360" y="3200400"/>
            <a:ext cx="2103120" cy="548640"/>
          </a:xfrm>
          <a:prstGeom prst="rect">
            <a:avLst/>
          </a:prstGeom>
          <a:noFill/>
          <a:ln/>
        </p:spPr>
        <p:txBody>
          <a:bodyPr wrap="square" lIns="0" tIns="0" rIns="0" bIns="0" rtlCol="0" anchor="t"/>
          <a:lstStyle/>
          <a:p>
            <a:pPr algn="ctr" indent="0" marL="0">
              <a:buNone/>
            </a:pPr>
            <a:r>
              <a:rPr lang="en-US" sz="1500" b="1" dirty="0">
                <a:solidFill>
                  <a:srgbClr val="293352"/>
                </a:solidFill>
                <a:latin typeface="Arial" pitchFamily="34" charset="0"/>
                <a:ea typeface="Arial" pitchFamily="34" charset="-122"/>
                <a:cs typeface="Arial" pitchFamily="34" charset="-120"/>
              </a:rPr>
              <a:t>B  Min variance</a:t>
            </a:r>
            <a:endParaRPr lang="en-US" sz="1500" dirty="0"/>
          </a:p>
        </p:txBody>
      </p:sp>
      <p:sp>
        <p:nvSpPr>
          <p:cNvPr id="14" name="Text 10"/>
          <p:cNvSpPr/>
          <p:nvPr/>
        </p:nvSpPr>
        <p:spPr>
          <a:xfrm>
            <a:off x="3688080" y="3703320"/>
            <a:ext cx="2011680" cy="822960"/>
          </a:xfrm>
          <a:prstGeom prst="rect">
            <a:avLst/>
          </a:prstGeom>
          <a:noFill/>
          <a:ln/>
        </p:spPr>
        <p:txBody>
          <a:bodyPr wrap="square" lIns="0" tIns="0" rIns="0" bIns="0" rtlCol="0" anchor="t"/>
          <a:lstStyle/>
          <a:p>
            <a:pPr algn="ctr" indent="0" marL="0">
              <a:buNone/>
            </a:pPr>
            <a:r>
              <a:rPr lang="en-US" sz="1150" dirty="0">
                <a:solidFill>
                  <a:srgbClr val="1E1E1E"/>
                </a:solidFill>
                <a:latin typeface="Arial" pitchFamily="34" charset="0"/>
                <a:ea typeface="Arial" pitchFamily="34" charset="-122"/>
                <a:cs typeface="Arial" pitchFamily="34" charset="-120"/>
              </a:rPr>
              <a:t>The calmest mix of holdings</a:t>
            </a:r>
            <a:endParaRPr lang="en-US" sz="1150" dirty="0"/>
          </a:p>
        </p:txBody>
      </p:sp>
      <p:sp>
        <p:nvSpPr>
          <p:cNvPr id="15" name="Text 11"/>
          <p:cNvSpPr/>
          <p:nvPr/>
        </p:nvSpPr>
        <p:spPr>
          <a:xfrm>
            <a:off x="5882640" y="3063240"/>
            <a:ext cx="487680" cy="640080"/>
          </a:xfrm>
          <a:prstGeom prst="rect">
            <a:avLst/>
          </a:prstGeom>
          <a:noFill/>
          <a:ln/>
        </p:spPr>
        <p:txBody>
          <a:bodyPr wrap="square" lIns="0" tIns="0" rIns="0" bIns="0" rtlCol="0" anchor="ctr"/>
          <a:lstStyle/>
          <a:p>
            <a:pPr algn="ctr" indent="0" marL="0">
              <a:buNone/>
            </a:pPr>
            <a:r>
              <a:rPr lang="en-US" sz="2600" b="1" dirty="0">
                <a:solidFill>
                  <a:srgbClr val="8996A0"/>
                </a:solidFill>
                <a:latin typeface="Arial" pitchFamily="34" charset="0"/>
                <a:ea typeface="Arial" pitchFamily="34" charset="-122"/>
                <a:cs typeface="Arial" pitchFamily="34" charset="-120"/>
              </a:rPr>
              <a:t>→</a:t>
            </a:r>
            <a:endParaRPr lang="en-US" sz="2600" dirty="0"/>
          </a:p>
        </p:txBody>
      </p:sp>
      <p:sp>
        <p:nvSpPr>
          <p:cNvPr id="16" name="Shape 12"/>
          <p:cNvSpPr/>
          <p:nvPr/>
        </p:nvSpPr>
        <p:spPr>
          <a:xfrm>
            <a:off x="6370320" y="2148840"/>
            <a:ext cx="2377440" cy="2468880"/>
          </a:xfrm>
          <a:prstGeom prst="roundRect">
            <a:avLst>
              <a:gd name="adj" fmla="val 2692"/>
            </a:avLst>
          </a:prstGeom>
          <a:solidFill>
            <a:srgbClr val="F3F3F1"/>
          </a:solidFill>
          <a:ln/>
        </p:spPr>
      </p:sp>
      <p:sp>
        <p:nvSpPr>
          <p:cNvPr id="17" name="Shape 13"/>
          <p:cNvSpPr/>
          <p:nvPr/>
        </p:nvSpPr>
        <p:spPr>
          <a:xfrm>
            <a:off x="7275576" y="2468880"/>
            <a:ext cx="566928" cy="566928"/>
          </a:xfrm>
          <a:prstGeom prst="roundRect">
            <a:avLst>
              <a:gd name="adj" fmla="val 14516"/>
            </a:avLst>
          </a:prstGeom>
          <a:solidFill>
            <a:srgbClr val="293352"/>
          </a:solidFill>
          <a:ln/>
        </p:spPr>
      </p:sp>
      <p:pic>
        <p:nvPicPr>
          <p:cNvPr id="18" name="Image 2" descr="preencoded.png">    </p:cNvPr>
          <p:cNvPicPr>
            <a:picLocks noChangeAspect="1"/>
          </p:cNvPicPr>
          <p:nvPr/>
        </p:nvPicPr>
        <p:blipFill>
          <a:blip r:embed="rId3"/>
          <a:stretch>
            <a:fillRect/>
          </a:stretch>
        </p:blipFill>
        <p:spPr>
          <a:xfrm>
            <a:off x="7403135" y="2596439"/>
            <a:ext cx="311810" cy="311810"/>
          </a:xfrm>
          <a:prstGeom prst="rect">
            <a:avLst/>
          </a:prstGeom>
        </p:spPr>
      </p:pic>
      <p:sp>
        <p:nvSpPr>
          <p:cNvPr id="19" name="Text 14"/>
          <p:cNvSpPr/>
          <p:nvPr/>
        </p:nvSpPr>
        <p:spPr>
          <a:xfrm>
            <a:off x="6507480" y="3200400"/>
            <a:ext cx="2103120" cy="548640"/>
          </a:xfrm>
          <a:prstGeom prst="rect">
            <a:avLst/>
          </a:prstGeom>
          <a:noFill/>
          <a:ln/>
        </p:spPr>
        <p:txBody>
          <a:bodyPr wrap="square" lIns="0" tIns="0" rIns="0" bIns="0" rtlCol="0" anchor="t"/>
          <a:lstStyle/>
          <a:p>
            <a:pPr algn="ctr" indent="0" marL="0">
              <a:buNone/>
            </a:pPr>
            <a:r>
              <a:rPr lang="en-US" sz="1500" b="1" dirty="0">
                <a:solidFill>
                  <a:srgbClr val="293352"/>
                </a:solidFill>
                <a:latin typeface="Arial" pitchFamily="34" charset="0"/>
                <a:ea typeface="Arial" pitchFamily="34" charset="-122"/>
                <a:cs typeface="Arial" pitchFamily="34" charset="-120"/>
              </a:rPr>
              <a:t>C  Max Sharpe</a:t>
            </a:r>
            <a:endParaRPr lang="en-US" sz="1500" dirty="0"/>
          </a:p>
        </p:txBody>
      </p:sp>
      <p:sp>
        <p:nvSpPr>
          <p:cNvPr id="20" name="Text 15"/>
          <p:cNvSpPr/>
          <p:nvPr/>
        </p:nvSpPr>
        <p:spPr>
          <a:xfrm>
            <a:off x="6553200" y="3703320"/>
            <a:ext cx="2011680" cy="822960"/>
          </a:xfrm>
          <a:prstGeom prst="rect">
            <a:avLst/>
          </a:prstGeom>
          <a:noFill/>
          <a:ln/>
        </p:spPr>
        <p:txBody>
          <a:bodyPr wrap="square" lIns="0" tIns="0" rIns="0" bIns="0" rtlCol="0" anchor="t"/>
          <a:lstStyle/>
          <a:p>
            <a:pPr algn="ctr" indent="0" marL="0">
              <a:buNone/>
            </a:pPr>
            <a:r>
              <a:rPr lang="en-US" sz="1150" dirty="0">
                <a:solidFill>
                  <a:srgbClr val="1E1E1E"/>
                </a:solidFill>
                <a:latin typeface="Arial" pitchFamily="34" charset="0"/>
                <a:ea typeface="Arial" pitchFamily="34" charset="-122"/>
                <a:cs typeface="Arial" pitchFamily="34" charset="-120"/>
              </a:rPr>
              <a:t>Best return per unit of risk</a:t>
            </a:r>
            <a:endParaRPr lang="en-US" sz="1150" dirty="0"/>
          </a:p>
        </p:txBody>
      </p:sp>
      <p:sp>
        <p:nvSpPr>
          <p:cNvPr id="21" name="Text 16"/>
          <p:cNvSpPr/>
          <p:nvPr/>
        </p:nvSpPr>
        <p:spPr>
          <a:xfrm>
            <a:off x="8747760" y="3063240"/>
            <a:ext cx="487680" cy="640080"/>
          </a:xfrm>
          <a:prstGeom prst="rect">
            <a:avLst/>
          </a:prstGeom>
          <a:noFill/>
          <a:ln/>
        </p:spPr>
        <p:txBody>
          <a:bodyPr wrap="square" lIns="0" tIns="0" rIns="0" bIns="0" rtlCol="0" anchor="ctr"/>
          <a:lstStyle/>
          <a:p>
            <a:pPr algn="ctr" indent="0" marL="0">
              <a:buNone/>
            </a:pPr>
            <a:r>
              <a:rPr lang="en-US" sz="2600" b="1" dirty="0">
                <a:solidFill>
                  <a:srgbClr val="8996A0"/>
                </a:solidFill>
                <a:latin typeface="Arial" pitchFamily="34" charset="0"/>
                <a:ea typeface="Arial" pitchFamily="34" charset="-122"/>
                <a:cs typeface="Arial" pitchFamily="34" charset="-120"/>
              </a:rPr>
              <a:t>→</a:t>
            </a:r>
            <a:endParaRPr lang="en-US" sz="2600" dirty="0"/>
          </a:p>
        </p:txBody>
      </p:sp>
      <p:sp>
        <p:nvSpPr>
          <p:cNvPr id="22" name="Shape 17"/>
          <p:cNvSpPr/>
          <p:nvPr/>
        </p:nvSpPr>
        <p:spPr>
          <a:xfrm>
            <a:off x="9235440" y="2148840"/>
            <a:ext cx="2377440" cy="2468880"/>
          </a:xfrm>
          <a:prstGeom prst="roundRect">
            <a:avLst>
              <a:gd name="adj" fmla="val 2692"/>
            </a:avLst>
          </a:prstGeom>
          <a:solidFill>
            <a:srgbClr val="F3F3F1"/>
          </a:solidFill>
          <a:ln/>
        </p:spPr>
      </p:sp>
      <p:sp>
        <p:nvSpPr>
          <p:cNvPr id="23" name="Shape 18"/>
          <p:cNvSpPr/>
          <p:nvPr/>
        </p:nvSpPr>
        <p:spPr>
          <a:xfrm>
            <a:off x="10140696" y="2468880"/>
            <a:ext cx="566928" cy="566928"/>
          </a:xfrm>
          <a:prstGeom prst="roundRect">
            <a:avLst>
              <a:gd name="adj" fmla="val 14516"/>
            </a:avLst>
          </a:prstGeom>
          <a:solidFill>
            <a:srgbClr val="293352"/>
          </a:solidFill>
          <a:ln/>
        </p:spPr>
      </p:sp>
      <p:pic>
        <p:nvPicPr>
          <p:cNvPr id="24" name="Image 3" descr="preencoded.png">    </p:cNvPr>
          <p:cNvPicPr>
            <a:picLocks noChangeAspect="1"/>
          </p:cNvPicPr>
          <p:nvPr/>
        </p:nvPicPr>
        <p:blipFill>
          <a:blip r:embed="rId4"/>
          <a:stretch>
            <a:fillRect/>
          </a:stretch>
        </p:blipFill>
        <p:spPr>
          <a:xfrm>
            <a:off x="10268255" y="2596439"/>
            <a:ext cx="311810" cy="311810"/>
          </a:xfrm>
          <a:prstGeom prst="rect">
            <a:avLst/>
          </a:prstGeom>
        </p:spPr>
      </p:pic>
      <p:sp>
        <p:nvSpPr>
          <p:cNvPr id="25" name="Text 19"/>
          <p:cNvSpPr/>
          <p:nvPr/>
        </p:nvSpPr>
        <p:spPr>
          <a:xfrm>
            <a:off x="9372600" y="3200400"/>
            <a:ext cx="2103120" cy="548640"/>
          </a:xfrm>
          <a:prstGeom prst="rect">
            <a:avLst/>
          </a:prstGeom>
          <a:noFill/>
          <a:ln/>
        </p:spPr>
        <p:txBody>
          <a:bodyPr wrap="square" lIns="0" tIns="0" rIns="0" bIns="0" rtlCol="0" anchor="t"/>
          <a:lstStyle/>
          <a:p>
            <a:pPr algn="ctr" indent="0" marL="0">
              <a:buNone/>
            </a:pPr>
            <a:r>
              <a:rPr lang="en-US" sz="1500" b="1" dirty="0">
                <a:solidFill>
                  <a:srgbClr val="293352"/>
                </a:solidFill>
                <a:latin typeface="Arial" pitchFamily="34" charset="0"/>
                <a:ea typeface="Arial" pitchFamily="34" charset="-122"/>
                <a:cs typeface="Arial" pitchFamily="34" charset="-120"/>
              </a:rPr>
              <a:t>D  Compare</a:t>
            </a:r>
            <a:endParaRPr lang="en-US" sz="1500" dirty="0"/>
          </a:p>
        </p:txBody>
      </p:sp>
      <p:sp>
        <p:nvSpPr>
          <p:cNvPr id="26" name="Text 20"/>
          <p:cNvSpPr/>
          <p:nvPr/>
        </p:nvSpPr>
        <p:spPr>
          <a:xfrm>
            <a:off x="9418320" y="3703320"/>
            <a:ext cx="2011680" cy="822960"/>
          </a:xfrm>
          <a:prstGeom prst="rect">
            <a:avLst/>
          </a:prstGeom>
          <a:noFill/>
          <a:ln/>
        </p:spPr>
        <p:txBody>
          <a:bodyPr wrap="square" lIns="0" tIns="0" rIns="0" bIns="0" rtlCol="0" anchor="t"/>
          <a:lstStyle/>
          <a:p>
            <a:pPr algn="ctr" indent="0" marL="0">
              <a:buNone/>
            </a:pPr>
            <a:r>
              <a:rPr lang="en-US" sz="1150" dirty="0">
                <a:solidFill>
                  <a:srgbClr val="1E1E1E"/>
                </a:solidFill>
                <a:latin typeface="Arial" pitchFamily="34" charset="0"/>
                <a:ea typeface="Arial" pitchFamily="34" charset="-122"/>
                <a:cs typeface="Arial" pitchFamily="34" charset="-120"/>
              </a:rPr>
              <a:t>Benchmark, then export for the LLM</a:t>
            </a:r>
            <a:endParaRPr lang="en-US" sz="1150" dirty="0"/>
          </a:p>
        </p:txBody>
      </p:sp>
      <p:sp>
        <p:nvSpPr>
          <p:cNvPr id="27" name="Text 21"/>
          <p:cNvSpPr/>
          <p:nvPr/>
        </p:nvSpPr>
        <p:spPr>
          <a:xfrm>
            <a:off x="640080" y="5120640"/>
            <a:ext cx="10881360" cy="548640"/>
          </a:xfrm>
          <a:prstGeom prst="rect">
            <a:avLst/>
          </a:prstGeom>
          <a:noFill/>
          <a:ln/>
        </p:spPr>
        <p:txBody>
          <a:bodyPr wrap="square" lIns="0" tIns="0" rIns="0" bIns="0" rtlCol="0" anchor="ctr"/>
          <a:lstStyle/>
          <a:p>
            <a:pPr algn="ctr" indent="0" marL="0">
              <a:buNone/>
            </a:pPr>
            <a:r>
              <a:rPr lang="en-US" sz="1400" i="1" dirty="0">
                <a:solidFill>
                  <a:srgbClr val="8996A0"/>
                </a:solidFill>
                <a:latin typeface="Arial" pitchFamily="34" charset="0"/>
                <a:ea typeface="Arial" pitchFamily="34" charset="-122"/>
                <a:cs typeface="Arial" pitchFamily="34" charset="-120"/>
              </a:rPr>
              <a:t>Course principle throughout: R does the math, the LLM only interprets.</a:t>
            </a:r>
            <a:endParaRPr lang="en-US" sz="1400" dirty="0"/>
          </a:p>
        </p:txBody>
      </p:sp>
      <p:sp>
        <p:nvSpPr>
          <p:cNvPr id="28"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29" name="Harvard Page Number"/>
          <p:cNvSpPr txBox="1"/>
          <p:nvPr/>
        </p:nvSpPr>
        <p:spPr>
          <a:xfrm>
            <a:off x="11801189" y="6446043"/>
            <a:ext cx="253492" cy="274638"/>
          </a:xfrm>
          <a:prstGeom prst="rect">
            <a:avLst/>
          </a:prstGeom>
          <a:noFill/>
        </p:spPr>
        <p:txBody>
          <a:bodyPr wrap="none" lIns="0" rIns="0" tIns="0" bIns="0">
            <a:noAutofit/>
          </a:bodyPr>
          <a:lstStyle/>
          <a:p>
            <a:pPr algn="r"/>
            <a:fld id="{C4EF68A7-1299-4021-B74B-E4F4068413EB}" type="slidenum">
              <a:rPr lang="en-US" sz="1000">
                <a:solidFill>
                  <a:srgbClr val="8996A0"/>
                </a:solidFill>
                <a:latin typeface="Arial"/>
              </a:rPr>
              <a:t>3</a:t>
            </a:fld>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DATA PREPARATION</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Script A: from prices to returns</a:t>
            </a:r>
            <a:endParaRPr lang="en-US" sz="2800" dirty="0"/>
          </a:p>
        </p:txBody>
      </p:sp>
      <p:sp>
        <p:nvSpPr>
          <p:cNvPr id="4" name="Shape 2"/>
          <p:cNvSpPr/>
          <p:nvPr/>
        </p:nvSpPr>
        <p:spPr>
          <a:xfrm>
            <a:off x="640080" y="1600200"/>
            <a:ext cx="3749040" cy="3977640"/>
          </a:xfrm>
          <a:prstGeom prst="roundRect">
            <a:avLst>
              <a:gd name="adj" fmla="val 1951"/>
            </a:avLst>
          </a:prstGeom>
          <a:solidFill>
            <a:srgbClr val="293352"/>
          </a:solidFill>
          <a:ln/>
        </p:spPr>
      </p:sp>
      <p:sp>
        <p:nvSpPr>
          <p:cNvPr id="5" name="Shape 3"/>
          <p:cNvSpPr/>
          <p:nvPr/>
        </p:nvSpPr>
        <p:spPr>
          <a:xfrm>
            <a:off x="914400" y="1874520"/>
            <a:ext cx="640080" cy="640080"/>
          </a:xfrm>
          <a:prstGeom prst="roundRect">
            <a:avLst>
              <a:gd name="adj" fmla="val 12857"/>
            </a:avLst>
          </a:prstGeom>
          <a:solidFill>
            <a:srgbClr val="A51C30"/>
          </a:solidFill>
          <a:ln/>
        </p:spPr>
      </p:sp>
      <p:pic>
        <p:nvPicPr>
          <p:cNvPr id="6" name="Image 0" descr="preencoded.png">    </p:cNvPr>
          <p:cNvPicPr>
            <a:picLocks noChangeAspect="1"/>
          </p:cNvPicPr>
          <p:nvPr/>
        </p:nvPicPr>
        <p:blipFill>
          <a:blip r:embed="rId1"/>
          <a:stretch>
            <a:fillRect/>
          </a:stretch>
        </p:blipFill>
        <p:spPr>
          <a:xfrm>
            <a:off x="1058418" y="2018538"/>
            <a:ext cx="352044" cy="352044"/>
          </a:xfrm>
          <a:prstGeom prst="rect">
            <a:avLst/>
          </a:prstGeom>
        </p:spPr>
      </p:pic>
      <p:sp>
        <p:nvSpPr>
          <p:cNvPr id="7" name="Text 4"/>
          <p:cNvSpPr/>
          <p:nvPr/>
        </p:nvSpPr>
        <p:spPr>
          <a:xfrm>
            <a:off x="914400" y="2697480"/>
            <a:ext cx="3200400" cy="118872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Prices become returns</a:t>
            </a:r>
            <a:endParaRPr lang="en-US" sz="2200" dirty="0"/>
          </a:p>
        </p:txBody>
      </p:sp>
      <p:sp>
        <p:nvSpPr>
          <p:cNvPr id="8" name="Text 5"/>
          <p:cNvSpPr/>
          <p:nvPr/>
        </p:nvSpPr>
        <p:spPr>
          <a:xfrm>
            <a:off x="914400" y="3931920"/>
            <a:ext cx="3200400" cy="1371600"/>
          </a:xfrm>
          <a:prstGeom prst="rect">
            <a:avLst/>
          </a:prstGeom>
          <a:noFill/>
          <a:ln/>
        </p:spPr>
        <p:txBody>
          <a:bodyPr wrap="square" lIns="0" tIns="0" rIns="0" bIns="0" rtlCol="0" anchor="t"/>
          <a:lstStyle/>
          <a:p>
            <a:pPr indent="0" marL="0">
              <a:buNone/>
            </a:pPr>
            <a:r>
              <a:rPr lang="en-US" sz="1350" dirty="0">
                <a:solidFill>
                  <a:srgbClr val="F3F3F1"/>
                </a:solidFill>
                <a:latin typeface="Arial" pitchFamily="34" charset="0"/>
                <a:ea typeface="Arial" pitchFamily="34" charset="-122"/>
                <a:cs typeface="Arial" pitchFamily="34" charset="-120"/>
              </a:rPr>
              <a:t>Returns are comparable across stocks and are exactly what the optimizer needs.</a:t>
            </a:r>
            <a:endParaRPr lang="en-US" sz="1350" dirty="0"/>
          </a:p>
        </p:txBody>
      </p:sp>
      <p:sp>
        <p:nvSpPr>
          <p:cNvPr id="9" name="Shape 6"/>
          <p:cNvSpPr/>
          <p:nvPr/>
        </p:nvSpPr>
        <p:spPr>
          <a:xfrm>
            <a:off x="4663440" y="1600200"/>
            <a:ext cx="6858000" cy="1207008"/>
          </a:xfrm>
          <a:prstGeom prst="roundRect">
            <a:avLst>
              <a:gd name="adj" fmla="val 4545"/>
            </a:avLst>
          </a:prstGeom>
          <a:solidFill>
            <a:srgbClr val="F3F3F1"/>
          </a:solidFill>
          <a:ln/>
        </p:spPr>
      </p:sp>
      <p:sp>
        <p:nvSpPr>
          <p:cNvPr id="10" name="Shape 7"/>
          <p:cNvSpPr/>
          <p:nvPr/>
        </p:nvSpPr>
        <p:spPr>
          <a:xfrm>
            <a:off x="4892040" y="1952244"/>
            <a:ext cx="502920" cy="502920"/>
          </a:xfrm>
          <a:prstGeom prst="roundRect">
            <a:avLst>
              <a:gd name="adj" fmla="val 16364"/>
            </a:avLst>
          </a:prstGeom>
          <a:solidFill>
            <a:srgbClr val="A51C30"/>
          </a:solidFill>
          <a:ln/>
        </p:spPr>
      </p:sp>
      <p:pic>
        <p:nvPicPr>
          <p:cNvPr id="11" name="Image 1" descr="preencoded.png">    </p:cNvPr>
          <p:cNvPicPr>
            <a:picLocks noChangeAspect="1"/>
          </p:cNvPicPr>
          <p:nvPr/>
        </p:nvPicPr>
        <p:blipFill>
          <a:blip r:embed="rId2"/>
          <a:stretch>
            <a:fillRect/>
          </a:stretch>
        </p:blipFill>
        <p:spPr>
          <a:xfrm>
            <a:off x="5005197" y="2065401"/>
            <a:ext cx="276606" cy="276606"/>
          </a:xfrm>
          <a:prstGeom prst="rect">
            <a:avLst/>
          </a:prstGeom>
        </p:spPr>
      </p:pic>
      <p:sp>
        <p:nvSpPr>
          <p:cNvPr id="12" name="Text 8"/>
          <p:cNvSpPr/>
          <p:nvPr/>
        </p:nvSpPr>
        <p:spPr>
          <a:xfrm>
            <a:off x="5623560" y="1764792"/>
            <a:ext cx="5669280" cy="932688"/>
          </a:xfrm>
          <a:prstGeom prst="rect">
            <a:avLst/>
          </a:prstGeom>
          <a:noFill/>
          <a:ln/>
        </p:spPr>
        <p:txBody>
          <a:bodyPr wrap="square" lIns="0" tIns="0" rIns="0" bIns="0" rtlCol="0" anchor="ctr"/>
          <a:lstStyle/>
          <a:p>
            <a:pPr indent="0" marL="0">
              <a:lnSpc>
                <a:spcPct val="105000"/>
              </a:lnSpc>
              <a:buNone/>
            </a:pPr>
            <a:r>
              <a:rPr lang="en-US" sz="1500" b="1" dirty="0">
                <a:solidFill>
                  <a:srgbClr val="293352"/>
                </a:solidFill>
                <a:latin typeface="Arial" pitchFamily="34" charset="0"/>
                <a:ea typeface="Arial" pitchFamily="34" charset="-122"/>
                <a:cs typeface="Arial" pitchFamily="34" charset="-120"/>
              </a:rPr>
              <a:t>The basket
</a:t>
            </a:r>
            <a:pPr indent="0" marL="0">
              <a:lnSpc>
                <a:spcPct val="105000"/>
              </a:lnSpc>
              <a:buNone/>
            </a:pPr>
            <a:r>
              <a:rPr lang="en-US" sz="1300" dirty="0">
                <a:solidFill>
                  <a:srgbClr val="1E1E1E"/>
                </a:solidFill>
                <a:latin typeface="Arial" pitchFamily="34" charset="0"/>
                <a:ea typeface="Arial" pitchFamily="34" charset="-122"/>
                <a:cs typeface="Arial" pitchFamily="34" charset="-120"/>
              </a:rPr>
              <a:t>AAPL, JPM, JNJ, PG, XOM. Five sectors, so diversification has something real to work with.</a:t>
            </a:r>
            <a:endParaRPr lang="en-US" sz="1500" dirty="0"/>
          </a:p>
        </p:txBody>
      </p:sp>
      <p:sp>
        <p:nvSpPr>
          <p:cNvPr id="13" name="Shape 9"/>
          <p:cNvSpPr/>
          <p:nvPr/>
        </p:nvSpPr>
        <p:spPr>
          <a:xfrm>
            <a:off x="4663440" y="2990088"/>
            <a:ext cx="6858000" cy="1207008"/>
          </a:xfrm>
          <a:prstGeom prst="roundRect">
            <a:avLst>
              <a:gd name="adj" fmla="val 4545"/>
            </a:avLst>
          </a:prstGeom>
          <a:solidFill>
            <a:srgbClr val="F3F3F1"/>
          </a:solidFill>
          <a:ln/>
        </p:spPr>
      </p:sp>
      <p:sp>
        <p:nvSpPr>
          <p:cNvPr id="14" name="Shape 10"/>
          <p:cNvSpPr/>
          <p:nvPr/>
        </p:nvSpPr>
        <p:spPr>
          <a:xfrm>
            <a:off x="4892040" y="3342132"/>
            <a:ext cx="502920" cy="502920"/>
          </a:xfrm>
          <a:prstGeom prst="roundRect">
            <a:avLst>
              <a:gd name="adj" fmla="val 16364"/>
            </a:avLst>
          </a:prstGeom>
          <a:solidFill>
            <a:srgbClr val="A51C30"/>
          </a:solidFill>
          <a:ln/>
        </p:spPr>
      </p:sp>
      <p:pic>
        <p:nvPicPr>
          <p:cNvPr id="15" name="Image 2" descr="preencoded.png">    </p:cNvPr>
          <p:cNvPicPr>
            <a:picLocks noChangeAspect="1"/>
          </p:cNvPicPr>
          <p:nvPr/>
        </p:nvPicPr>
        <p:blipFill>
          <a:blip r:embed="rId3"/>
          <a:stretch>
            <a:fillRect/>
          </a:stretch>
        </p:blipFill>
        <p:spPr>
          <a:xfrm>
            <a:off x="5005197" y="3455289"/>
            <a:ext cx="276606" cy="276606"/>
          </a:xfrm>
          <a:prstGeom prst="rect">
            <a:avLst/>
          </a:prstGeom>
        </p:spPr>
      </p:pic>
      <p:sp>
        <p:nvSpPr>
          <p:cNvPr id="16" name="Text 11"/>
          <p:cNvSpPr/>
          <p:nvPr/>
        </p:nvSpPr>
        <p:spPr>
          <a:xfrm>
            <a:off x="5623560" y="3154680"/>
            <a:ext cx="5669280" cy="932688"/>
          </a:xfrm>
          <a:prstGeom prst="rect">
            <a:avLst/>
          </a:prstGeom>
          <a:noFill/>
          <a:ln/>
        </p:spPr>
        <p:txBody>
          <a:bodyPr wrap="square" lIns="0" tIns="0" rIns="0" bIns="0" rtlCol="0" anchor="ctr"/>
          <a:lstStyle/>
          <a:p>
            <a:pPr indent="0" marL="0">
              <a:lnSpc>
                <a:spcPct val="105000"/>
              </a:lnSpc>
              <a:buNone/>
            </a:pPr>
            <a:r>
              <a:rPr lang="en-US" sz="1500" b="1" dirty="0">
                <a:solidFill>
                  <a:srgbClr val="293352"/>
                </a:solidFill>
                <a:latin typeface="Arial" pitchFamily="34" charset="0"/>
                <a:ea typeface="Arial" pitchFamily="34" charset="-122"/>
                <a:cs typeface="Arial" pitchFamily="34" charset="-120"/>
              </a:rPr>
              <a:t>SPY benchmark
</a:t>
            </a:r>
            <a:pPr indent="0" marL="0">
              <a:lnSpc>
                <a:spcPct val="105000"/>
              </a:lnSpc>
              <a:buNone/>
            </a:pPr>
            <a:r>
              <a:rPr lang="en-US" sz="1300" dirty="0">
                <a:solidFill>
                  <a:srgbClr val="1E1E1E"/>
                </a:solidFill>
                <a:latin typeface="Arial" pitchFamily="34" charset="0"/>
                <a:ea typeface="Arial" pitchFamily="34" charset="-122"/>
                <a:cs typeface="Arial" pitchFamily="34" charset="-120"/>
              </a:rPr>
              <a:t>Fetched as the market reference for rolling beta in Hour 2, kept out of the optimization.</a:t>
            </a:r>
            <a:endParaRPr lang="en-US" sz="1500" dirty="0"/>
          </a:p>
        </p:txBody>
      </p:sp>
      <p:sp>
        <p:nvSpPr>
          <p:cNvPr id="17" name="Shape 12"/>
          <p:cNvSpPr/>
          <p:nvPr/>
        </p:nvSpPr>
        <p:spPr>
          <a:xfrm>
            <a:off x="4663440" y="4379976"/>
            <a:ext cx="6858000" cy="1207008"/>
          </a:xfrm>
          <a:prstGeom prst="roundRect">
            <a:avLst>
              <a:gd name="adj" fmla="val 4545"/>
            </a:avLst>
          </a:prstGeom>
          <a:solidFill>
            <a:srgbClr val="F3F3F1"/>
          </a:solidFill>
          <a:ln/>
        </p:spPr>
      </p:sp>
      <p:sp>
        <p:nvSpPr>
          <p:cNvPr id="18" name="Shape 13"/>
          <p:cNvSpPr/>
          <p:nvPr/>
        </p:nvSpPr>
        <p:spPr>
          <a:xfrm>
            <a:off x="4892040" y="4732020"/>
            <a:ext cx="502920" cy="502920"/>
          </a:xfrm>
          <a:prstGeom prst="roundRect">
            <a:avLst>
              <a:gd name="adj" fmla="val 16364"/>
            </a:avLst>
          </a:prstGeom>
          <a:solidFill>
            <a:srgbClr val="A51C30"/>
          </a:solidFill>
          <a:ln/>
        </p:spPr>
      </p:sp>
      <p:pic>
        <p:nvPicPr>
          <p:cNvPr id="19" name="Image 3" descr="preencoded.png">    </p:cNvPr>
          <p:cNvPicPr>
            <a:picLocks noChangeAspect="1"/>
          </p:cNvPicPr>
          <p:nvPr/>
        </p:nvPicPr>
        <p:blipFill>
          <a:blip r:embed="rId4"/>
          <a:stretch>
            <a:fillRect/>
          </a:stretch>
        </p:blipFill>
        <p:spPr>
          <a:xfrm>
            <a:off x="5005197" y="4845177"/>
            <a:ext cx="276606" cy="276606"/>
          </a:xfrm>
          <a:prstGeom prst="rect">
            <a:avLst/>
          </a:prstGeom>
        </p:spPr>
      </p:pic>
      <p:sp>
        <p:nvSpPr>
          <p:cNvPr id="20" name="Text 14"/>
          <p:cNvSpPr/>
          <p:nvPr/>
        </p:nvSpPr>
        <p:spPr>
          <a:xfrm>
            <a:off x="5623560" y="4544568"/>
            <a:ext cx="5669280" cy="932688"/>
          </a:xfrm>
          <a:prstGeom prst="rect">
            <a:avLst/>
          </a:prstGeom>
          <a:noFill/>
          <a:ln/>
        </p:spPr>
        <p:txBody>
          <a:bodyPr wrap="square" lIns="0" tIns="0" rIns="0" bIns="0" rtlCol="0" anchor="ctr"/>
          <a:lstStyle/>
          <a:p>
            <a:pPr indent="0" marL="0">
              <a:lnSpc>
                <a:spcPct val="105000"/>
              </a:lnSpc>
              <a:buNone/>
            </a:pPr>
            <a:r>
              <a:rPr lang="en-US" sz="1500" b="1" dirty="0">
                <a:solidFill>
                  <a:srgbClr val="293352"/>
                </a:solidFill>
                <a:latin typeface="Arial" pitchFamily="34" charset="0"/>
                <a:ea typeface="Arial" pitchFamily="34" charset="-122"/>
                <a:cs typeface="Arial" pitchFamily="34" charset="-120"/>
              </a:rPr>
              <a:t>Simple returns, saved once
</a:t>
            </a:r>
            <a:pPr indent="0" marL="0">
              <a:lnSpc>
                <a:spcPct val="105000"/>
              </a:lnSpc>
              <a:buNone/>
            </a:pPr>
            <a:r>
              <a:rPr lang="en-US" sz="1300" dirty="0">
                <a:solidFill>
                  <a:srgbClr val="1E1E1E"/>
                </a:solidFill>
                <a:latin typeface="Arial" pitchFamily="34" charset="0"/>
                <a:ea typeface="Arial" pitchFamily="34" charset="-122"/>
                <a:cs typeface="Arial" pitchFamily="34" charset="-120"/>
              </a:rPr>
              <a:t>Weights times returns equals portfolio return. A saves clean data so nothing re-fetches.</a:t>
            </a:r>
            <a:endParaRPr lang="en-US" sz="1500" dirty="0"/>
          </a:p>
        </p:txBody>
      </p:sp>
      <p:sp>
        <p:nvSpPr>
          <p:cNvPr id="21"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22" name="Harvard Page Number"/>
          <p:cNvSpPr txBox="1"/>
          <p:nvPr/>
        </p:nvSpPr>
        <p:spPr>
          <a:xfrm>
            <a:off x="11801189" y="6446043"/>
            <a:ext cx="253492" cy="274638"/>
          </a:xfrm>
          <a:prstGeom prst="rect">
            <a:avLst/>
          </a:prstGeom>
          <a:noFill/>
        </p:spPr>
        <p:txBody>
          <a:bodyPr wrap="none" lIns="0" rIns="0" tIns="0" bIns="0">
            <a:noAutofit/>
          </a:bodyPr>
          <a:lstStyle/>
          <a:p>
            <a:pPr algn="r"/>
            <a:fld id="{DB0F5BBB-1E90-4364-A91F-BE1F42E435C8}" type="slidenum">
              <a:rPr lang="en-US" sz="1000">
                <a:solidFill>
                  <a:srgbClr val="8996A0"/>
                </a:solidFill>
                <a:latin typeface="Arial"/>
              </a:rPr>
              <a:t>4</a:t>
            </a:fld>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LIVE IN RSTUDIO</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Script A: run it</a:t>
            </a:r>
            <a:endParaRPr lang="en-US" sz="2800" dirty="0"/>
          </a:p>
        </p:txBody>
      </p:sp>
      <p:sp>
        <p:nvSpPr>
          <p:cNvPr id="4" name="Shape 2"/>
          <p:cNvSpPr/>
          <p:nvPr/>
        </p:nvSpPr>
        <p:spPr>
          <a:xfrm>
            <a:off x="640080" y="1600200"/>
            <a:ext cx="10881360" cy="3611880"/>
          </a:xfrm>
          <a:prstGeom prst="roundRect">
            <a:avLst>
              <a:gd name="adj" fmla="val 1519"/>
            </a:avLst>
          </a:prstGeom>
          <a:solidFill>
            <a:srgbClr val="1E1E1E"/>
          </a:solidFill>
          <a:ln/>
        </p:spPr>
      </p:sp>
      <p:sp>
        <p:nvSpPr>
          <p:cNvPr id="5" name="Shape 3"/>
          <p:cNvSpPr/>
          <p:nvPr/>
        </p:nvSpPr>
        <p:spPr>
          <a:xfrm>
            <a:off x="914400" y="1828800"/>
            <a:ext cx="146304" cy="146304"/>
          </a:xfrm>
          <a:prstGeom prst="ellipse">
            <a:avLst/>
          </a:prstGeom>
          <a:solidFill>
            <a:srgbClr val="A51C30"/>
          </a:solidFill>
          <a:ln/>
        </p:spPr>
      </p:sp>
      <p:sp>
        <p:nvSpPr>
          <p:cNvPr id="6" name="Shape 4"/>
          <p:cNvSpPr/>
          <p:nvPr/>
        </p:nvSpPr>
        <p:spPr>
          <a:xfrm>
            <a:off x="1170432" y="1828800"/>
            <a:ext cx="146304" cy="146304"/>
          </a:xfrm>
          <a:prstGeom prst="ellipse">
            <a:avLst/>
          </a:prstGeom>
          <a:solidFill>
            <a:srgbClr val="C4961A"/>
          </a:solidFill>
          <a:ln/>
        </p:spPr>
      </p:sp>
      <p:sp>
        <p:nvSpPr>
          <p:cNvPr id="7" name="Shape 5"/>
          <p:cNvSpPr/>
          <p:nvPr/>
        </p:nvSpPr>
        <p:spPr>
          <a:xfrm>
            <a:off x="1426464" y="1828800"/>
            <a:ext cx="146304" cy="146304"/>
          </a:xfrm>
          <a:prstGeom prst="ellipse">
            <a:avLst/>
          </a:prstGeom>
          <a:solidFill>
            <a:srgbClr val="1D9E75"/>
          </a:solidFill>
          <a:ln/>
        </p:spPr>
      </p:sp>
      <p:sp>
        <p:nvSpPr>
          <p:cNvPr id="8" name="Text 6"/>
          <p:cNvSpPr/>
          <p:nvPr/>
        </p:nvSpPr>
        <p:spPr>
          <a:xfrm>
            <a:off x="2011680" y="1764792"/>
            <a:ext cx="5486400" cy="274320"/>
          </a:xfrm>
          <a:prstGeom prst="rect">
            <a:avLst/>
          </a:prstGeom>
          <a:noFill/>
          <a:ln/>
        </p:spPr>
        <p:txBody>
          <a:bodyPr wrap="square" lIns="0" tIns="0" rIns="0" bIns="0" rtlCol="0" anchor="ctr"/>
          <a:lstStyle/>
          <a:p>
            <a:pPr indent="0" marL="0">
              <a:buNone/>
            </a:pPr>
            <a:r>
              <a:rPr lang="en-US" sz="1100" b="1" spc="200" kern="0" dirty="0">
                <a:solidFill>
                  <a:srgbClr val="8996A0"/>
                </a:solidFill>
                <a:latin typeface="Arial" pitchFamily="34" charset="0"/>
                <a:ea typeface="Arial" pitchFamily="34" charset="-122"/>
                <a:cs typeface="Arial" pitchFamily="34" charset="-120"/>
              </a:rPr>
              <a:t>LIVE CODE STEP THROUGH</a:t>
            </a:r>
            <a:endParaRPr lang="en-US" sz="1100" dirty="0"/>
          </a:p>
        </p:txBody>
      </p:sp>
      <p:sp>
        <p:nvSpPr>
          <p:cNvPr id="9" name="Text 7"/>
          <p:cNvSpPr/>
          <p:nvPr/>
        </p:nvSpPr>
        <p:spPr>
          <a:xfrm>
            <a:off x="914400" y="2331720"/>
            <a:ext cx="10332720" cy="685800"/>
          </a:xfrm>
          <a:prstGeom prst="rect">
            <a:avLst/>
          </a:prstGeom>
          <a:noFill/>
          <a:ln/>
        </p:spPr>
        <p:txBody>
          <a:bodyPr wrap="square" lIns="0" tIns="0" rIns="0" bIns="0" rtlCol="0" anchor="t"/>
          <a:lstStyle/>
          <a:p>
            <a:pPr indent="0" marL="0">
              <a:lnSpc>
                <a:spcPct val="100000"/>
              </a:lnSpc>
              <a:buNone/>
            </a:pPr>
            <a:r>
              <a:rPr lang="en-US" sz="1500" b="1" dirty="0">
                <a:solidFill>
                  <a:srgbClr val="4E84C4"/>
                </a:solidFill>
                <a:latin typeface="Arial" pitchFamily="34" charset="0"/>
                <a:ea typeface="Arial" pitchFamily="34" charset="-122"/>
                <a:cs typeface="Arial" pitchFamily="34" charset="-120"/>
              </a:rPr>
              <a:t>&gt; </a:t>
            </a:r>
            <a:pPr indent="0" marL="0">
              <a:lnSpc>
                <a:spcPct val="100000"/>
              </a:lnSpc>
              <a:buNone/>
            </a:pPr>
            <a:r>
              <a:rPr lang="en-US" sz="1500" dirty="0">
                <a:solidFill>
                  <a:srgbClr val="F3F3F1"/>
                </a:solidFill>
                <a:latin typeface="Arial" pitchFamily="34" charset="0"/>
                <a:ea typeface="Arial" pitchFamily="34" charset="-122"/>
                <a:cs typeface="Arial" pitchFamily="34" charset="-120"/>
              </a:rPr>
              <a:t>Fetch from Yahoo, inspect one raw ticker object, extract adjusted close.</a:t>
            </a:r>
            <a:endParaRPr lang="en-US" sz="1500" dirty="0"/>
          </a:p>
        </p:txBody>
      </p:sp>
      <p:sp>
        <p:nvSpPr>
          <p:cNvPr id="10" name="Text 8"/>
          <p:cNvSpPr/>
          <p:nvPr/>
        </p:nvSpPr>
        <p:spPr>
          <a:xfrm>
            <a:off x="914400" y="3172968"/>
            <a:ext cx="10332720" cy="685800"/>
          </a:xfrm>
          <a:prstGeom prst="rect">
            <a:avLst/>
          </a:prstGeom>
          <a:noFill/>
          <a:ln/>
        </p:spPr>
        <p:txBody>
          <a:bodyPr wrap="square" lIns="0" tIns="0" rIns="0" bIns="0" rtlCol="0" anchor="t"/>
          <a:lstStyle/>
          <a:p>
            <a:pPr indent="0" marL="0">
              <a:lnSpc>
                <a:spcPct val="100000"/>
              </a:lnSpc>
              <a:buNone/>
            </a:pPr>
            <a:r>
              <a:rPr lang="en-US" sz="1500" b="1" dirty="0">
                <a:solidFill>
                  <a:srgbClr val="4E84C4"/>
                </a:solidFill>
                <a:latin typeface="Arial" pitchFamily="34" charset="0"/>
                <a:ea typeface="Arial" pitchFamily="34" charset="-122"/>
                <a:cs typeface="Arial" pitchFamily="34" charset="-120"/>
              </a:rPr>
              <a:t>&gt; </a:t>
            </a:r>
            <a:pPr indent="0" marL="0">
              <a:lnSpc>
                <a:spcPct val="100000"/>
              </a:lnSpc>
              <a:buNone/>
            </a:pPr>
            <a:r>
              <a:rPr lang="en-US" sz="1500" dirty="0">
                <a:solidFill>
                  <a:srgbClr val="F3F3F1"/>
                </a:solidFill>
                <a:latin typeface="Arial" pitchFamily="34" charset="0"/>
                <a:ea typeface="Arial" pitchFamily="34" charset="-122"/>
                <a:cs typeface="Arial" pitchFamily="34" charset="-120"/>
              </a:rPr>
              <a:t>Run the missing data check, build the returns matrix, preview the correlation matrix.</a:t>
            </a:r>
            <a:endParaRPr lang="en-US" sz="1500" dirty="0"/>
          </a:p>
        </p:txBody>
      </p:sp>
      <p:sp>
        <p:nvSpPr>
          <p:cNvPr id="11" name="Text 9"/>
          <p:cNvSpPr/>
          <p:nvPr/>
        </p:nvSpPr>
        <p:spPr>
          <a:xfrm>
            <a:off x="914400" y="4014216"/>
            <a:ext cx="10332720" cy="685800"/>
          </a:xfrm>
          <a:prstGeom prst="rect">
            <a:avLst/>
          </a:prstGeom>
          <a:noFill/>
          <a:ln/>
        </p:spPr>
        <p:txBody>
          <a:bodyPr wrap="square" lIns="0" tIns="0" rIns="0" bIns="0" rtlCol="0" anchor="t"/>
          <a:lstStyle/>
          <a:p>
            <a:pPr indent="0" marL="0">
              <a:lnSpc>
                <a:spcPct val="100000"/>
              </a:lnSpc>
              <a:buNone/>
            </a:pPr>
            <a:r>
              <a:rPr lang="en-US" sz="1500" b="1" dirty="0">
                <a:solidFill>
                  <a:srgbClr val="4E84C4"/>
                </a:solidFill>
                <a:latin typeface="Arial" pitchFamily="34" charset="0"/>
                <a:ea typeface="Arial" pitchFamily="34" charset="-122"/>
                <a:cs typeface="Arial" pitchFamily="34" charset="-120"/>
              </a:rPr>
              <a:t>&gt; </a:t>
            </a:r>
            <a:pPr indent="0" marL="0">
              <a:lnSpc>
                <a:spcPct val="100000"/>
              </a:lnSpc>
              <a:buNone/>
            </a:pPr>
            <a:r>
              <a:rPr lang="en-US" sz="1500" dirty="0">
                <a:solidFill>
                  <a:srgbClr val="F3F3F1"/>
                </a:solidFill>
                <a:latin typeface="Arial" pitchFamily="34" charset="0"/>
                <a:ea typeface="Arial" pitchFamily="34" charset="-122"/>
                <a:cs typeface="Arial" pitchFamily="34" charset="-120"/>
              </a:rPr>
              <a:t>Point out the saved .rds files that every downstream script reads.</a:t>
            </a:r>
            <a:endParaRPr lang="en-US" sz="1500" dirty="0"/>
          </a:p>
        </p:txBody>
      </p:sp>
      <p:sp>
        <p:nvSpPr>
          <p:cNvPr id="12" name="Shape 10"/>
          <p:cNvSpPr/>
          <p:nvPr/>
        </p:nvSpPr>
        <p:spPr>
          <a:xfrm>
            <a:off x="640080" y="5440680"/>
            <a:ext cx="2377440" cy="457200"/>
          </a:xfrm>
          <a:prstGeom prst="roundRect">
            <a:avLst>
              <a:gd name="adj" fmla="val 50000"/>
            </a:avLst>
          </a:prstGeom>
          <a:solidFill>
            <a:srgbClr val="F3F3F1"/>
          </a:solidFill>
          <a:ln/>
        </p:spPr>
      </p:sp>
      <p:sp>
        <p:nvSpPr>
          <p:cNvPr id="13" name="Text 11"/>
          <p:cNvSpPr/>
          <p:nvPr/>
        </p:nvSpPr>
        <p:spPr>
          <a:xfrm>
            <a:off x="640080" y="5440680"/>
            <a:ext cx="2377440" cy="457200"/>
          </a:xfrm>
          <a:prstGeom prst="rect">
            <a:avLst/>
          </a:prstGeom>
          <a:noFill/>
          <a:ln/>
        </p:spPr>
        <p:txBody>
          <a:bodyPr wrap="square" lIns="0" tIns="0" rIns="0" bIns="0" rtlCol="0" anchor="ctr"/>
          <a:lstStyle/>
          <a:p>
            <a:pPr algn="ctr" indent="0" marL="0">
              <a:buNone/>
            </a:pPr>
            <a:r>
              <a:rPr lang="en-US" sz="1300" b="1" dirty="0">
                <a:solidFill>
                  <a:srgbClr val="293352"/>
                </a:solidFill>
                <a:latin typeface="Arial" pitchFamily="34" charset="0"/>
                <a:ea typeface="Arial" pitchFamily="34" charset="-122"/>
                <a:cs typeface="Arial" pitchFamily="34" charset="-120"/>
              </a:rPr>
              <a:t>⏱  about 8 minutes</a:t>
            </a:r>
            <a:endParaRPr lang="en-US" sz="1300" dirty="0"/>
          </a:p>
        </p:txBody>
      </p:sp>
      <p:sp>
        <p:nvSpPr>
          <p:cNvPr id="14"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15" name="Harvard Page Number"/>
          <p:cNvSpPr txBox="1"/>
          <p:nvPr/>
        </p:nvSpPr>
        <p:spPr>
          <a:xfrm>
            <a:off x="11801189" y="6446043"/>
            <a:ext cx="253492" cy="274638"/>
          </a:xfrm>
          <a:prstGeom prst="rect">
            <a:avLst/>
          </a:prstGeom>
          <a:noFill/>
        </p:spPr>
        <p:txBody>
          <a:bodyPr wrap="none" lIns="0" rIns="0" tIns="0" bIns="0">
            <a:noAutofit/>
          </a:bodyPr>
          <a:lstStyle/>
          <a:p>
            <a:pPr algn="r"/>
            <a:fld id="{22B0C63C-A5EB-4DE5-A91F-697DF62F2DA6}" type="slidenum">
              <a:rPr lang="en-US" sz="1000">
                <a:solidFill>
                  <a:srgbClr val="8996A0"/>
                </a:solidFill>
                <a:latin typeface="Arial"/>
              </a:rPr>
              <a:t>5</a:t>
            </a:fld>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THE CALMEST PORTFOLIO</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Script B: minimum variance</a:t>
            </a:r>
            <a:endParaRPr lang="en-US" sz="2800" dirty="0"/>
          </a:p>
        </p:txBody>
      </p:sp>
      <p:sp>
        <p:nvSpPr>
          <p:cNvPr id="4" name="Shape 2"/>
          <p:cNvSpPr/>
          <p:nvPr/>
        </p:nvSpPr>
        <p:spPr>
          <a:xfrm>
            <a:off x="640080" y="1600200"/>
            <a:ext cx="5257800" cy="1965960"/>
          </a:xfrm>
          <a:prstGeom prst="roundRect">
            <a:avLst>
              <a:gd name="adj" fmla="val 2791"/>
            </a:avLst>
          </a:prstGeom>
          <a:solidFill>
            <a:srgbClr val="F3F3F1"/>
          </a:solidFill>
          <a:ln/>
        </p:spPr>
      </p:sp>
      <p:sp>
        <p:nvSpPr>
          <p:cNvPr id="5" name="Shape 3"/>
          <p:cNvSpPr/>
          <p:nvPr/>
        </p:nvSpPr>
        <p:spPr>
          <a:xfrm>
            <a:off x="914400" y="1874520"/>
            <a:ext cx="548640" cy="548640"/>
          </a:xfrm>
          <a:prstGeom prst="roundRect">
            <a:avLst>
              <a:gd name="adj" fmla="val 15000"/>
            </a:avLst>
          </a:prstGeom>
          <a:solidFill>
            <a:srgbClr val="293352"/>
          </a:solidFill>
          <a:ln/>
        </p:spPr>
      </p:sp>
      <p:pic>
        <p:nvPicPr>
          <p:cNvPr id="6" name="Image 0" descr="preencoded.png">    </p:cNvPr>
          <p:cNvPicPr>
            <a:picLocks noChangeAspect="1"/>
          </p:cNvPicPr>
          <p:nvPr/>
        </p:nvPicPr>
        <p:blipFill>
          <a:blip r:embed="rId1"/>
          <a:stretch>
            <a:fillRect/>
          </a:stretch>
        </p:blipFill>
        <p:spPr>
          <a:xfrm>
            <a:off x="1037844" y="1997964"/>
            <a:ext cx="301752" cy="301752"/>
          </a:xfrm>
          <a:prstGeom prst="rect">
            <a:avLst/>
          </a:prstGeom>
        </p:spPr>
      </p:pic>
      <p:sp>
        <p:nvSpPr>
          <p:cNvPr id="7" name="Text 4"/>
          <p:cNvSpPr/>
          <p:nvPr/>
        </p:nvSpPr>
        <p:spPr>
          <a:xfrm>
            <a:off x="1645920" y="1856232"/>
            <a:ext cx="4023360" cy="548640"/>
          </a:xfrm>
          <a:prstGeom prst="rect">
            <a:avLst/>
          </a:prstGeom>
          <a:noFill/>
          <a:ln/>
        </p:spPr>
        <p:txBody>
          <a:bodyPr wrap="square" lIns="0" tIns="0" rIns="0" bIns="0" rtlCol="0" anchor="ctr"/>
          <a:lstStyle/>
          <a:p>
            <a:pPr indent="0" marL="0">
              <a:buNone/>
            </a:pPr>
            <a:r>
              <a:rPr lang="en-US" sz="1600" b="1" dirty="0">
                <a:solidFill>
                  <a:srgbClr val="293352"/>
                </a:solidFill>
                <a:latin typeface="Arial" pitchFamily="34" charset="0"/>
                <a:ea typeface="Arial" pitchFamily="34" charset="-122"/>
                <a:cs typeface="Arial" pitchFamily="34" charset="-120"/>
              </a:rPr>
              <a:t>The goal</a:t>
            </a:r>
            <a:endParaRPr lang="en-US" sz="1600" dirty="0"/>
          </a:p>
        </p:txBody>
      </p:sp>
      <p:sp>
        <p:nvSpPr>
          <p:cNvPr id="8" name="Text 5"/>
          <p:cNvSpPr/>
          <p:nvPr/>
        </p:nvSpPr>
        <p:spPr>
          <a:xfrm>
            <a:off x="914400" y="2514600"/>
            <a:ext cx="4709160" cy="914400"/>
          </a:xfrm>
          <a:prstGeom prst="rect">
            <a:avLst/>
          </a:prstGeom>
          <a:noFill/>
          <a:ln/>
        </p:spPr>
        <p:txBody>
          <a:bodyPr wrap="square" lIns="0" tIns="0" rIns="0" bIns="0" rtlCol="0" anchor="t"/>
          <a:lstStyle/>
          <a:p>
            <a:pPr indent="0" marL="0">
              <a:buNone/>
            </a:pPr>
            <a:r>
              <a:rPr lang="en-US" sz="1350" dirty="0">
                <a:solidFill>
                  <a:srgbClr val="1E1E1E"/>
                </a:solidFill>
                <a:latin typeface="Arial" pitchFamily="34" charset="0"/>
                <a:ea typeface="Arial" pitchFamily="34" charset="-122"/>
                <a:cs typeface="Arial" pitchFamily="34" charset="-120"/>
              </a:rPr>
              <a:t>The calmest portfolio, not the highest return. Variance is our stand in for risk.</a:t>
            </a:r>
            <a:endParaRPr lang="en-US" sz="1350" dirty="0"/>
          </a:p>
        </p:txBody>
      </p:sp>
      <p:sp>
        <p:nvSpPr>
          <p:cNvPr id="9" name="Shape 6"/>
          <p:cNvSpPr/>
          <p:nvPr/>
        </p:nvSpPr>
        <p:spPr>
          <a:xfrm>
            <a:off x="6263640" y="1600200"/>
            <a:ext cx="5257800" cy="1965960"/>
          </a:xfrm>
          <a:prstGeom prst="roundRect">
            <a:avLst>
              <a:gd name="adj" fmla="val 2791"/>
            </a:avLst>
          </a:prstGeom>
          <a:solidFill>
            <a:srgbClr val="F3F3F1"/>
          </a:solidFill>
          <a:ln/>
        </p:spPr>
      </p:sp>
      <p:sp>
        <p:nvSpPr>
          <p:cNvPr id="10" name="Shape 7"/>
          <p:cNvSpPr/>
          <p:nvPr/>
        </p:nvSpPr>
        <p:spPr>
          <a:xfrm>
            <a:off x="6537960" y="1874520"/>
            <a:ext cx="548640" cy="548640"/>
          </a:xfrm>
          <a:prstGeom prst="roundRect">
            <a:avLst>
              <a:gd name="adj" fmla="val 15000"/>
            </a:avLst>
          </a:prstGeom>
          <a:solidFill>
            <a:srgbClr val="A51C30"/>
          </a:solidFill>
          <a:ln/>
        </p:spPr>
      </p:sp>
      <p:pic>
        <p:nvPicPr>
          <p:cNvPr id="11" name="Image 1" descr="preencoded.png">    </p:cNvPr>
          <p:cNvPicPr>
            <a:picLocks noChangeAspect="1"/>
          </p:cNvPicPr>
          <p:nvPr/>
        </p:nvPicPr>
        <p:blipFill>
          <a:blip r:embed="rId2"/>
          <a:stretch>
            <a:fillRect/>
          </a:stretch>
        </p:blipFill>
        <p:spPr>
          <a:xfrm>
            <a:off x="6661404" y="1997964"/>
            <a:ext cx="301752" cy="301752"/>
          </a:xfrm>
          <a:prstGeom prst="rect">
            <a:avLst/>
          </a:prstGeom>
        </p:spPr>
      </p:pic>
      <p:sp>
        <p:nvSpPr>
          <p:cNvPr id="12" name="Text 8"/>
          <p:cNvSpPr/>
          <p:nvPr/>
        </p:nvSpPr>
        <p:spPr>
          <a:xfrm>
            <a:off x="7269480" y="1856232"/>
            <a:ext cx="4023360" cy="548640"/>
          </a:xfrm>
          <a:prstGeom prst="rect">
            <a:avLst/>
          </a:prstGeom>
          <a:noFill/>
          <a:ln/>
        </p:spPr>
        <p:txBody>
          <a:bodyPr wrap="square" lIns="0" tIns="0" rIns="0" bIns="0" rtlCol="0" anchor="ctr"/>
          <a:lstStyle/>
          <a:p>
            <a:pPr indent="0" marL="0">
              <a:buNone/>
            </a:pPr>
            <a:r>
              <a:rPr lang="en-US" sz="1600" b="1" dirty="0">
                <a:solidFill>
                  <a:srgbClr val="293352"/>
                </a:solidFill>
                <a:latin typeface="Arial" pitchFamily="34" charset="0"/>
                <a:ea typeface="Arial" pitchFamily="34" charset="-122"/>
                <a:cs typeface="Arial" pitchFamily="34" charset="-120"/>
              </a:rPr>
              <a:t>Covariance is key</a:t>
            </a:r>
            <a:endParaRPr lang="en-US" sz="1600" dirty="0"/>
          </a:p>
        </p:txBody>
      </p:sp>
      <p:sp>
        <p:nvSpPr>
          <p:cNvPr id="13" name="Text 9"/>
          <p:cNvSpPr/>
          <p:nvPr/>
        </p:nvSpPr>
        <p:spPr>
          <a:xfrm>
            <a:off x="6537960" y="2514600"/>
            <a:ext cx="4709160" cy="914400"/>
          </a:xfrm>
          <a:prstGeom prst="rect">
            <a:avLst/>
          </a:prstGeom>
          <a:noFill/>
          <a:ln/>
        </p:spPr>
        <p:txBody>
          <a:bodyPr wrap="square" lIns="0" tIns="0" rIns="0" bIns="0" rtlCol="0" anchor="t"/>
          <a:lstStyle/>
          <a:p>
            <a:pPr indent="0" marL="0">
              <a:buNone/>
            </a:pPr>
            <a:r>
              <a:rPr lang="en-US" sz="1350" dirty="0">
                <a:solidFill>
                  <a:srgbClr val="1E1E1E"/>
                </a:solidFill>
                <a:latin typeface="Arial" pitchFamily="34" charset="0"/>
                <a:ea typeface="Arial" pitchFamily="34" charset="-122"/>
                <a:cs typeface="Arial" pitchFamily="34" charset="-120"/>
              </a:rPr>
              <a:t>The single most important input. Correlation between holdings matters more than any one stock's own risk.</a:t>
            </a:r>
            <a:endParaRPr lang="en-US" sz="1350" dirty="0"/>
          </a:p>
        </p:txBody>
      </p:sp>
      <p:sp>
        <p:nvSpPr>
          <p:cNvPr id="14" name="Shape 10"/>
          <p:cNvSpPr/>
          <p:nvPr/>
        </p:nvSpPr>
        <p:spPr>
          <a:xfrm>
            <a:off x="640080" y="3886200"/>
            <a:ext cx="5257800" cy="1965960"/>
          </a:xfrm>
          <a:prstGeom prst="roundRect">
            <a:avLst>
              <a:gd name="adj" fmla="val 2791"/>
            </a:avLst>
          </a:prstGeom>
          <a:solidFill>
            <a:srgbClr val="F3F3F1"/>
          </a:solidFill>
          <a:ln/>
        </p:spPr>
      </p:sp>
      <p:sp>
        <p:nvSpPr>
          <p:cNvPr id="15" name="Shape 11"/>
          <p:cNvSpPr/>
          <p:nvPr/>
        </p:nvSpPr>
        <p:spPr>
          <a:xfrm>
            <a:off x="914400" y="4160520"/>
            <a:ext cx="548640" cy="548640"/>
          </a:xfrm>
          <a:prstGeom prst="roundRect">
            <a:avLst>
              <a:gd name="adj" fmla="val 15000"/>
            </a:avLst>
          </a:prstGeom>
          <a:solidFill>
            <a:srgbClr val="293352"/>
          </a:solidFill>
          <a:ln/>
        </p:spPr>
      </p:sp>
      <p:pic>
        <p:nvPicPr>
          <p:cNvPr id="16" name="Image 2" descr="preencoded.png">    </p:cNvPr>
          <p:cNvPicPr>
            <a:picLocks noChangeAspect="1"/>
          </p:cNvPicPr>
          <p:nvPr/>
        </p:nvPicPr>
        <p:blipFill>
          <a:blip r:embed="rId3"/>
          <a:stretch>
            <a:fillRect/>
          </a:stretch>
        </p:blipFill>
        <p:spPr>
          <a:xfrm>
            <a:off x="1037844" y="4283964"/>
            <a:ext cx="301752" cy="301752"/>
          </a:xfrm>
          <a:prstGeom prst="rect">
            <a:avLst/>
          </a:prstGeom>
        </p:spPr>
      </p:pic>
      <p:sp>
        <p:nvSpPr>
          <p:cNvPr id="17" name="Text 12"/>
          <p:cNvSpPr/>
          <p:nvPr/>
        </p:nvSpPr>
        <p:spPr>
          <a:xfrm>
            <a:off x="1645920" y="4142232"/>
            <a:ext cx="4023360" cy="548640"/>
          </a:xfrm>
          <a:prstGeom prst="rect">
            <a:avLst/>
          </a:prstGeom>
          <a:noFill/>
          <a:ln/>
        </p:spPr>
        <p:txBody>
          <a:bodyPr wrap="square" lIns="0" tIns="0" rIns="0" bIns="0" rtlCol="0" anchor="ctr"/>
          <a:lstStyle/>
          <a:p>
            <a:pPr indent="0" marL="0">
              <a:buNone/>
            </a:pPr>
            <a:r>
              <a:rPr lang="en-US" sz="1600" b="1" dirty="0">
                <a:solidFill>
                  <a:srgbClr val="293352"/>
                </a:solidFill>
                <a:latin typeface="Arial" pitchFamily="34" charset="0"/>
                <a:ea typeface="Arial" pitchFamily="34" charset="-122"/>
                <a:cs typeface="Arial" pitchFamily="34" charset="-120"/>
              </a:rPr>
              <a:t>Two rules</a:t>
            </a:r>
            <a:endParaRPr lang="en-US" sz="1600" dirty="0"/>
          </a:p>
        </p:txBody>
      </p:sp>
      <p:sp>
        <p:nvSpPr>
          <p:cNvPr id="18" name="Text 13"/>
          <p:cNvSpPr/>
          <p:nvPr/>
        </p:nvSpPr>
        <p:spPr>
          <a:xfrm>
            <a:off x="914400" y="4800600"/>
            <a:ext cx="4709160" cy="914400"/>
          </a:xfrm>
          <a:prstGeom prst="rect">
            <a:avLst/>
          </a:prstGeom>
          <a:noFill/>
          <a:ln/>
        </p:spPr>
        <p:txBody>
          <a:bodyPr wrap="square" lIns="0" tIns="0" rIns="0" bIns="0" rtlCol="0" anchor="t"/>
          <a:lstStyle/>
          <a:p>
            <a:pPr indent="0" marL="0">
              <a:buNone/>
            </a:pPr>
            <a:r>
              <a:rPr lang="en-US" sz="1350" dirty="0">
                <a:solidFill>
                  <a:srgbClr val="1E1E1E"/>
                </a:solidFill>
                <a:latin typeface="Arial" pitchFamily="34" charset="0"/>
                <a:ea typeface="Arial" pitchFamily="34" charset="-122"/>
                <a:cs typeface="Arial" pitchFamily="34" charset="-120"/>
              </a:rPr>
              <a:t>Weights sum to 1, and no short selling (every weight at or above zero).</a:t>
            </a:r>
            <a:endParaRPr lang="en-US" sz="1350" dirty="0"/>
          </a:p>
        </p:txBody>
      </p:sp>
      <p:sp>
        <p:nvSpPr>
          <p:cNvPr id="19" name="Shape 14"/>
          <p:cNvSpPr/>
          <p:nvPr/>
        </p:nvSpPr>
        <p:spPr>
          <a:xfrm>
            <a:off x="6263640" y="3886200"/>
            <a:ext cx="5257800" cy="1965960"/>
          </a:xfrm>
          <a:prstGeom prst="roundRect">
            <a:avLst>
              <a:gd name="adj" fmla="val 2791"/>
            </a:avLst>
          </a:prstGeom>
          <a:solidFill>
            <a:srgbClr val="F3F3F1"/>
          </a:solidFill>
          <a:ln/>
        </p:spPr>
      </p:sp>
      <p:sp>
        <p:nvSpPr>
          <p:cNvPr id="20" name="Shape 15"/>
          <p:cNvSpPr/>
          <p:nvPr/>
        </p:nvSpPr>
        <p:spPr>
          <a:xfrm>
            <a:off x="6537960" y="4160520"/>
            <a:ext cx="548640" cy="548640"/>
          </a:xfrm>
          <a:prstGeom prst="roundRect">
            <a:avLst>
              <a:gd name="adj" fmla="val 15000"/>
            </a:avLst>
          </a:prstGeom>
          <a:solidFill>
            <a:srgbClr val="A51C30"/>
          </a:solidFill>
          <a:ln/>
        </p:spPr>
      </p:sp>
      <p:pic>
        <p:nvPicPr>
          <p:cNvPr id="21" name="Image 3" descr="preencoded.png">    </p:cNvPr>
          <p:cNvPicPr>
            <a:picLocks noChangeAspect="1"/>
          </p:cNvPicPr>
          <p:nvPr/>
        </p:nvPicPr>
        <p:blipFill>
          <a:blip r:embed="rId4"/>
          <a:stretch>
            <a:fillRect/>
          </a:stretch>
        </p:blipFill>
        <p:spPr>
          <a:xfrm>
            <a:off x="6661404" y="4283964"/>
            <a:ext cx="301752" cy="301752"/>
          </a:xfrm>
          <a:prstGeom prst="rect">
            <a:avLst/>
          </a:prstGeom>
        </p:spPr>
      </p:pic>
      <p:sp>
        <p:nvSpPr>
          <p:cNvPr id="22" name="Text 16"/>
          <p:cNvSpPr/>
          <p:nvPr/>
        </p:nvSpPr>
        <p:spPr>
          <a:xfrm>
            <a:off x="7269480" y="4142232"/>
            <a:ext cx="4023360" cy="548640"/>
          </a:xfrm>
          <a:prstGeom prst="rect">
            <a:avLst/>
          </a:prstGeom>
          <a:noFill/>
          <a:ln/>
        </p:spPr>
        <p:txBody>
          <a:bodyPr wrap="square" lIns="0" tIns="0" rIns="0" bIns="0" rtlCol="0" anchor="ctr"/>
          <a:lstStyle/>
          <a:p>
            <a:pPr indent="0" marL="0">
              <a:buNone/>
            </a:pPr>
            <a:r>
              <a:rPr lang="en-US" sz="1600" b="1" dirty="0">
                <a:solidFill>
                  <a:srgbClr val="293352"/>
                </a:solidFill>
                <a:latin typeface="Arial" pitchFamily="34" charset="0"/>
                <a:ea typeface="Arial" pitchFamily="34" charset="-122"/>
                <a:cs typeface="Arial" pitchFamily="34" charset="-120"/>
              </a:rPr>
              <a:t>Solved with quadprog</a:t>
            </a:r>
            <a:endParaRPr lang="en-US" sz="1600" dirty="0"/>
          </a:p>
        </p:txBody>
      </p:sp>
      <p:sp>
        <p:nvSpPr>
          <p:cNvPr id="23" name="Text 17"/>
          <p:cNvSpPr/>
          <p:nvPr/>
        </p:nvSpPr>
        <p:spPr>
          <a:xfrm>
            <a:off x="6537960" y="4800600"/>
            <a:ext cx="4709160" cy="914400"/>
          </a:xfrm>
          <a:prstGeom prst="rect">
            <a:avLst/>
          </a:prstGeom>
          <a:noFill/>
          <a:ln/>
        </p:spPr>
        <p:txBody>
          <a:bodyPr wrap="square" lIns="0" tIns="0" rIns="0" bIns="0" rtlCol="0" anchor="t"/>
          <a:lstStyle/>
          <a:p>
            <a:pPr indent="0" marL="0">
              <a:buNone/>
            </a:pPr>
            <a:r>
              <a:rPr lang="en-US" sz="1350" dirty="0">
                <a:solidFill>
                  <a:srgbClr val="1E1E1E"/>
                </a:solidFill>
                <a:latin typeface="Arial" pitchFamily="34" charset="0"/>
                <a:ea typeface="Arial" pitchFamily="34" charset="-122"/>
                <a:cs typeface="Arial" pitchFamily="34" charset="-120"/>
              </a:rPr>
              <a:t>We hand the solver the covariance matrix and the two constraints.</a:t>
            </a:r>
            <a:endParaRPr lang="en-US" sz="1350" dirty="0"/>
          </a:p>
        </p:txBody>
      </p:sp>
      <p:sp>
        <p:nvSpPr>
          <p:cNvPr id="24"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25" name="Harvard Page Number"/>
          <p:cNvSpPr txBox="1"/>
          <p:nvPr/>
        </p:nvSpPr>
        <p:spPr>
          <a:xfrm>
            <a:off x="11801189" y="6446043"/>
            <a:ext cx="253492" cy="274638"/>
          </a:xfrm>
          <a:prstGeom prst="rect">
            <a:avLst/>
          </a:prstGeom>
          <a:noFill/>
        </p:spPr>
        <p:txBody>
          <a:bodyPr wrap="none" lIns="0" rIns="0" tIns="0" bIns="0">
            <a:noAutofit/>
          </a:bodyPr>
          <a:lstStyle/>
          <a:p>
            <a:pPr algn="r"/>
            <a:fld id="{141130D2-7F3A-48B5-8164-691CE04B2A01}" type="slidenum">
              <a:rPr lang="en-US" sz="1000">
                <a:solidFill>
                  <a:srgbClr val="8996A0"/>
                </a:solidFill>
                <a:latin typeface="Arial"/>
              </a:rPr>
              <a:t>6</a:t>
            </a:fld>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LIVE IN RSTUDIO</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Script B: run it</a:t>
            </a:r>
            <a:endParaRPr lang="en-US" sz="2800" dirty="0"/>
          </a:p>
        </p:txBody>
      </p:sp>
      <p:sp>
        <p:nvSpPr>
          <p:cNvPr id="4" name="Shape 2"/>
          <p:cNvSpPr/>
          <p:nvPr/>
        </p:nvSpPr>
        <p:spPr>
          <a:xfrm>
            <a:off x="640080" y="1600200"/>
            <a:ext cx="10881360" cy="3611880"/>
          </a:xfrm>
          <a:prstGeom prst="roundRect">
            <a:avLst>
              <a:gd name="adj" fmla="val 1519"/>
            </a:avLst>
          </a:prstGeom>
          <a:solidFill>
            <a:srgbClr val="1E1E1E"/>
          </a:solidFill>
          <a:ln/>
        </p:spPr>
      </p:sp>
      <p:sp>
        <p:nvSpPr>
          <p:cNvPr id="5" name="Shape 3"/>
          <p:cNvSpPr/>
          <p:nvPr/>
        </p:nvSpPr>
        <p:spPr>
          <a:xfrm>
            <a:off x="914400" y="1828800"/>
            <a:ext cx="146304" cy="146304"/>
          </a:xfrm>
          <a:prstGeom prst="ellipse">
            <a:avLst/>
          </a:prstGeom>
          <a:solidFill>
            <a:srgbClr val="A51C30"/>
          </a:solidFill>
          <a:ln/>
        </p:spPr>
      </p:sp>
      <p:sp>
        <p:nvSpPr>
          <p:cNvPr id="6" name="Shape 4"/>
          <p:cNvSpPr/>
          <p:nvPr/>
        </p:nvSpPr>
        <p:spPr>
          <a:xfrm>
            <a:off x="1170432" y="1828800"/>
            <a:ext cx="146304" cy="146304"/>
          </a:xfrm>
          <a:prstGeom prst="ellipse">
            <a:avLst/>
          </a:prstGeom>
          <a:solidFill>
            <a:srgbClr val="C4961A"/>
          </a:solidFill>
          <a:ln/>
        </p:spPr>
      </p:sp>
      <p:sp>
        <p:nvSpPr>
          <p:cNvPr id="7" name="Shape 5"/>
          <p:cNvSpPr/>
          <p:nvPr/>
        </p:nvSpPr>
        <p:spPr>
          <a:xfrm>
            <a:off x="1426464" y="1828800"/>
            <a:ext cx="146304" cy="146304"/>
          </a:xfrm>
          <a:prstGeom prst="ellipse">
            <a:avLst/>
          </a:prstGeom>
          <a:solidFill>
            <a:srgbClr val="1D9E75"/>
          </a:solidFill>
          <a:ln/>
        </p:spPr>
      </p:sp>
      <p:sp>
        <p:nvSpPr>
          <p:cNvPr id="8" name="Text 6"/>
          <p:cNvSpPr/>
          <p:nvPr/>
        </p:nvSpPr>
        <p:spPr>
          <a:xfrm>
            <a:off x="2011680" y="1764792"/>
            <a:ext cx="5486400" cy="274320"/>
          </a:xfrm>
          <a:prstGeom prst="rect">
            <a:avLst/>
          </a:prstGeom>
          <a:noFill/>
          <a:ln/>
        </p:spPr>
        <p:txBody>
          <a:bodyPr wrap="square" lIns="0" tIns="0" rIns="0" bIns="0" rtlCol="0" anchor="ctr"/>
          <a:lstStyle/>
          <a:p>
            <a:pPr indent="0" marL="0">
              <a:buNone/>
            </a:pPr>
            <a:r>
              <a:rPr lang="en-US" sz="1100" b="1" spc="200" kern="0" dirty="0">
                <a:solidFill>
                  <a:srgbClr val="8996A0"/>
                </a:solidFill>
                <a:latin typeface="Arial" pitchFamily="34" charset="0"/>
                <a:ea typeface="Arial" pitchFamily="34" charset="-122"/>
                <a:cs typeface="Arial" pitchFamily="34" charset="-120"/>
              </a:rPr>
              <a:t>LIVE CODE STEP THROUGH</a:t>
            </a:r>
            <a:endParaRPr lang="en-US" sz="1100" dirty="0"/>
          </a:p>
        </p:txBody>
      </p:sp>
      <p:sp>
        <p:nvSpPr>
          <p:cNvPr id="9" name="Text 7"/>
          <p:cNvSpPr/>
          <p:nvPr/>
        </p:nvSpPr>
        <p:spPr>
          <a:xfrm>
            <a:off x="914400" y="2331720"/>
            <a:ext cx="10332720" cy="685800"/>
          </a:xfrm>
          <a:prstGeom prst="rect">
            <a:avLst/>
          </a:prstGeom>
          <a:noFill/>
          <a:ln/>
        </p:spPr>
        <p:txBody>
          <a:bodyPr wrap="square" lIns="0" tIns="0" rIns="0" bIns="0" rtlCol="0" anchor="t"/>
          <a:lstStyle/>
          <a:p>
            <a:pPr indent="0" marL="0">
              <a:lnSpc>
                <a:spcPct val="100000"/>
              </a:lnSpc>
              <a:buNone/>
            </a:pPr>
            <a:r>
              <a:rPr lang="en-US" sz="1500" b="1" dirty="0">
                <a:solidFill>
                  <a:srgbClr val="4E84C4"/>
                </a:solidFill>
                <a:latin typeface="Arial" pitchFamily="34" charset="0"/>
                <a:ea typeface="Arial" pitchFamily="34" charset="-122"/>
                <a:cs typeface="Arial" pitchFamily="34" charset="-120"/>
              </a:rPr>
              <a:t>&gt; </a:t>
            </a:r>
            <a:pPr indent="0" marL="0">
              <a:lnSpc>
                <a:spcPct val="100000"/>
              </a:lnSpc>
              <a:buNone/>
            </a:pPr>
            <a:r>
              <a:rPr lang="en-US" sz="1500" dirty="0">
                <a:solidFill>
                  <a:srgbClr val="F3F3F1"/>
                </a:solidFill>
                <a:latin typeface="Arial" pitchFamily="34" charset="0"/>
                <a:ea typeface="Arial" pitchFamily="34" charset="-122"/>
                <a:cs typeface="Arial" pitchFamily="34" charset="-120"/>
              </a:rPr>
              <a:t>Build the covariance matrix, set up the quadprog inputs, solve.</a:t>
            </a:r>
            <a:endParaRPr lang="en-US" sz="1500" dirty="0"/>
          </a:p>
        </p:txBody>
      </p:sp>
      <p:sp>
        <p:nvSpPr>
          <p:cNvPr id="10" name="Text 8"/>
          <p:cNvSpPr/>
          <p:nvPr/>
        </p:nvSpPr>
        <p:spPr>
          <a:xfrm>
            <a:off x="914400" y="3172968"/>
            <a:ext cx="10332720" cy="685800"/>
          </a:xfrm>
          <a:prstGeom prst="rect">
            <a:avLst/>
          </a:prstGeom>
          <a:noFill/>
          <a:ln/>
        </p:spPr>
        <p:txBody>
          <a:bodyPr wrap="square" lIns="0" tIns="0" rIns="0" bIns="0" rtlCol="0" anchor="t"/>
          <a:lstStyle/>
          <a:p>
            <a:pPr indent="0" marL="0">
              <a:lnSpc>
                <a:spcPct val="100000"/>
              </a:lnSpc>
              <a:buNone/>
            </a:pPr>
            <a:r>
              <a:rPr lang="en-US" sz="1500" b="1" dirty="0">
                <a:solidFill>
                  <a:srgbClr val="4E84C4"/>
                </a:solidFill>
                <a:latin typeface="Arial" pitchFamily="34" charset="0"/>
                <a:ea typeface="Arial" pitchFamily="34" charset="-122"/>
                <a:cs typeface="Arial" pitchFamily="34" charset="-120"/>
              </a:rPr>
              <a:t>&gt; </a:t>
            </a:r>
            <a:pPr indent="0" marL="0">
              <a:lnSpc>
                <a:spcPct val="100000"/>
              </a:lnSpc>
              <a:buNone/>
            </a:pPr>
            <a:r>
              <a:rPr lang="en-US" sz="1500" dirty="0">
                <a:solidFill>
                  <a:srgbClr val="F3F3F1"/>
                </a:solidFill>
                <a:latin typeface="Arial" pitchFamily="34" charset="0"/>
                <a:ea typeface="Arial" pitchFamily="34" charset="-122"/>
                <a:cs typeface="Arial" pitchFamily="34" charset="-120"/>
              </a:rPr>
              <a:t>Read out the weights, run the sanity check that they sum to 1.</a:t>
            </a:r>
            <a:endParaRPr lang="en-US" sz="1500" dirty="0"/>
          </a:p>
        </p:txBody>
      </p:sp>
      <p:sp>
        <p:nvSpPr>
          <p:cNvPr id="11" name="Text 9"/>
          <p:cNvSpPr/>
          <p:nvPr/>
        </p:nvSpPr>
        <p:spPr>
          <a:xfrm>
            <a:off x="914400" y="4014216"/>
            <a:ext cx="10332720" cy="685800"/>
          </a:xfrm>
          <a:prstGeom prst="rect">
            <a:avLst/>
          </a:prstGeom>
          <a:noFill/>
          <a:ln/>
        </p:spPr>
        <p:txBody>
          <a:bodyPr wrap="square" lIns="0" tIns="0" rIns="0" bIns="0" rtlCol="0" anchor="t"/>
          <a:lstStyle/>
          <a:p>
            <a:pPr indent="0" marL="0">
              <a:lnSpc>
                <a:spcPct val="100000"/>
              </a:lnSpc>
              <a:buNone/>
            </a:pPr>
            <a:r>
              <a:rPr lang="en-US" sz="1500" b="1" dirty="0">
                <a:solidFill>
                  <a:srgbClr val="4E84C4"/>
                </a:solidFill>
                <a:latin typeface="Arial" pitchFamily="34" charset="0"/>
                <a:ea typeface="Arial" pitchFamily="34" charset="-122"/>
                <a:cs typeface="Arial" pitchFamily="34" charset="-120"/>
              </a:rPr>
              <a:t>&gt; </a:t>
            </a:r>
            <a:pPr indent="0" marL="0">
              <a:lnSpc>
                <a:spcPct val="100000"/>
              </a:lnSpc>
              <a:buNone/>
            </a:pPr>
            <a:r>
              <a:rPr lang="en-US" sz="1500" dirty="0">
                <a:solidFill>
                  <a:srgbClr val="F3F3F1"/>
                </a:solidFill>
                <a:latin typeface="Arial" pitchFamily="34" charset="0"/>
                <a:ea typeface="Arial" pitchFamily="34" charset="-122"/>
                <a:cs typeface="Arial" pitchFamily="34" charset="-120"/>
              </a:rPr>
              <a:t>Compare portfolio volatility to each stock alone: the diversification payoff.</a:t>
            </a:r>
            <a:endParaRPr lang="en-US" sz="1500" dirty="0"/>
          </a:p>
        </p:txBody>
      </p:sp>
      <p:sp>
        <p:nvSpPr>
          <p:cNvPr id="12" name="Shape 10"/>
          <p:cNvSpPr/>
          <p:nvPr/>
        </p:nvSpPr>
        <p:spPr>
          <a:xfrm>
            <a:off x="640080" y="5440680"/>
            <a:ext cx="2377440" cy="457200"/>
          </a:xfrm>
          <a:prstGeom prst="roundRect">
            <a:avLst>
              <a:gd name="adj" fmla="val 50000"/>
            </a:avLst>
          </a:prstGeom>
          <a:solidFill>
            <a:srgbClr val="F3F3F1"/>
          </a:solidFill>
          <a:ln/>
        </p:spPr>
      </p:sp>
      <p:sp>
        <p:nvSpPr>
          <p:cNvPr id="13" name="Text 11"/>
          <p:cNvSpPr/>
          <p:nvPr/>
        </p:nvSpPr>
        <p:spPr>
          <a:xfrm>
            <a:off x="640080" y="5440680"/>
            <a:ext cx="2377440" cy="457200"/>
          </a:xfrm>
          <a:prstGeom prst="rect">
            <a:avLst/>
          </a:prstGeom>
          <a:noFill/>
          <a:ln/>
        </p:spPr>
        <p:txBody>
          <a:bodyPr wrap="square" lIns="0" tIns="0" rIns="0" bIns="0" rtlCol="0" anchor="ctr"/>
          <a:lstStyle/>
          <a:p>
            <a:pPr algn="ctr" indent="0" marL="0">
              <a:buNone/>
            </a:pPr>
            <a:r>
              <a:rPr lang="en-US" sz="1300" b="1" dirty="0">
                <a:solidFill>
                  <a:srgbClr val="293352"/>
                </a:solidFill>
                <a:latin typeface="Arial" pitchFamily="34" charset="0"/>
                <a:ea typeface="Arial" pitchFamily="34" charset="-122"/>
                <a:cs typeface="Arial" pitchFamily="34" charset="-120"/>
              </a:rPr>
              <a:t>⏱  about 8 minutes</a:t>
            </a:r>
            <a:endParaRPr lang="en-US" sz="1300" dirty="0"/>
          </a:p>
        </p:txBody>
      </p:sp>
      <p:sp>
        <p:nvSpPr>
          <p:cNvPr id="14"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15" name="Harvard Page Number"/>
          <p:cNvSpPr txBox="1"/>
          <p:nvPr/>
        </p:nvSpPr>
        <p:spPr>
          <a:xfrm>
            <a:off x="11801189" y="6446043"/>
            <a:ext cx="253492" cy="274638"/>
          </a:xfrm>
          <a:prstGeom prst="rect">
            <a:avLst/>
          </a:prstGeom>
          <a:noFill/>
        </p:spPr>
        <p:txBody>
          <a:bodyPr wrap="none" lIns="0" rIns="0" tIns="0" bIns="0">
            <a:noAutofit/>
          </a:bodyPr>
          <a:lstStyle/>
          <a:p>
            <a:pPr algn="r"/>
            <a:fld id="{219BAF68-B0CD-4F4A-AD81-195395746964}" type="slidenum">
              <a:rPr lang="en-US" sz="1000">
                <a:solidFill>
                  <a:srgbClr val="8996A0"/>
                </a:solidFill>
                <a:latin typeface="Arial"/>
              </a:rPr>
              <a:t>7</a:t>
            </a:fld>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RETURN PER UNIT OF RISK</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Script C: maximum Sharpe</a:t>
            </a:r>
            <a:endParaRPr lang="en-US" sz="2800" dirty="0"/>
          </a:p>
        </p:txBody>
      </p:sp>
      <p:sp>
        <p:nvSpPr>
          <p:cNvPr id="4" name="Shape 2"/>
          <p:cNvSpPr/>
          <p:nvPr/>
        </p:nvSpPr>
        <p:spPr>
          <a:xfrm>
            <a:off x="640080" y="1600200"/>
            <a:ext cx="5257800" cy="1965960"/>
          </a:xfrm>
          <a:prstGeom prst="roundRect">
            <a:avLst>
              <a:gd name="adj" fmla="val 2791"/>
            </a:avLst>
          </a:prstGeom>
          <a:solidFill>
            <a:srgbClr val="F3F3F1"/>
          </a:solidFill>
          <a:ln/>
        </p:spPr>
      </p:sp>
      <p:sp>
        <p:nvSpPr>
          <p:cNvPr id="5" name="Shape 3"/>
          <p:cNvSpPr/>
          <p:nvPr/>
        </p:nvSpPr>
        <p:spPr>
          <a:xfrm>
            <a:off x="914400" y="1874520"/>
            <a:ext cx="548640" cy="548640"/>
          </a:xfrm>
          <a:prstGeom prst="roundRect">
            <a:avLst>
              <a:gd name="adj" fmla="val 15000"/>
            </a:avLst>
          </a:prstGeom>
          <a:solidFill>
            <a:srgbClr val="293352"/>
          </a:solidFill>
          <a:ln/>
        </p:spPr>
      </p:sp>
      <p:pic>
        <p:nvPicPr>
          <p:cNvPr id="6" name="Image 0" descr="preencoded.png">    </p:cNvPr>
          <p:cNvPicPr>
            <a:picLocks noChangeAspect="1"/>
          </p:cNvPicPr>
          <p:nvPr/>
        </p:nvPicPr>
        <p:blipFill>
          <a:blip r:embed="rId1"/>
          <a:stretch>
            <a:fillRect/>
          </a:stretch>
        </p:blipFill>
        <p:spPr>
          <a:xfrm>
            <a:off x="1037844" y="1997964"/>
            <a:ext cx="301752" cy="301752"/>
          </a:xfrm>
          <a:prstGeom prst="rect">
            <a:avLst/>
          </a:prstGeom>
        </p:spPr>
      </p:pic>
      <p:sp>
        <p:nvSpPr>
          <p:cNvPr id="7" name="Text 4"/>
          <p:cNvSpPr/>
          <p:nvPr/>
        </p:nvSpPr>
        <p:spPr>
          <a:xfrm>
            <a:off x="1645920" y="1856232"/>
            <a:ext cx="4023360" cy="548640"/>
          </a:xfrm>
          <a:prstGeom prst="rect">
            <a:avLst/>
          </a:prstGeom>
          <a:noFill/>
          <a:ln/>
        </p:spPr>
        <p:txBody>
          <a:bodyPr wrap="square" lIns="0" tIns="0" rIns="0" bIns="0" rtlCol="0" anchor="ctr"/>
          <a:lstStyle/>
          <a:p>
            <a:pPr indent="0" marL="0">
              <a:buNone/>
            </a:pPr>
            <a:r>
              <a:rPr lang="en-US" sz="1600" b="1" dirty="0">
                <a:solidFill>
                  <a:srgbClr val="293352"/>
                </a:solidFill>
                <a:latin typeface="Arial" pitchFamily="34" charset="0"/>
                <a:ea typeface="Arial" pitchFamily="34" charset="-122"/>
                <a:cs typeface="Arial" pitchFamily="34" charset="-120"/>
              </a:rPr>
              <a:t>The tangency portfolio</a:t>
            </a:r>
            <a:endParaRPr lang="en-US" sz="1600" dirty="0"/>
          </a:p>
        </p:txBody>
      </p:sp>
      <p:sp>
        <p:nvSpPr>
          <p:cNvPr id="8" name="Text 5"/>
          <p:cNvSpPr/>
          <p:nvPr/>
        </p:nvSpPr>
        <p:spPr>
          <a:xfrm>
            <a:off x="914400" y="2514600"/>
            <a:ext cx="4709160" cy="914400"/>
          </a:xfrm>
          <a:prstGeom prst="rect">
            <a:avLst/>
          </a:prstGeom>
          <a:noFill/>
          <a:ln/>
        </p:spPr>
        <p:txBody>
          <a:bodyPr wrap="square" lIns="0" tIns="0" rIns="0" bIns="0" rtlCol="0" anchor="t"/>
          <a:lstStyle/>
          <a:p>
            <a:pPr indent="0" marL="0">
              <a:buNone/>
            </a:pPr>
            <a:r>
              <a:rPr lang="en-US" sz="1350" dirty="0">
                <a:solidFill>
                  <a:srgbClr val="1E1E1E"/>
                </a:solidFill>
                <a:latin typeface="Arial" pitchFamily="34" charset="0"/>
                <a:ea typeface="Arial" pitchFamily="34" charset="-122"/>
                <a:cs typeface="Arial" pitchFamily="34" charset="-120"/>
              </a:rPr>
              <a:t>Best return per unit of risk, not lowest risk. The contrast with B.</a:t>
            </a:r>
            <a:endParaRPr lang="en-US" sz="1350" dirty="0"/>
          </a:p>
        </p:txBody>
      </p:sp>
      <p:sp>
        <p:nvSpPr>
          <p:cNvPr id="9" name="Shape 6"/>
          <p:cNvSpPr/>
          <p:nvPr/>
        </p:nvSpPr>
        <p:spPr>
          <a:xfrm>
            <a:off x="6263640" y="1600200"/>
            <a:ext cx="5257800" cy="1965960"/>
          </a:xfrm>
          <a:prstGeom prst="roundRect">
            <a:avLst>
              <a:gd name="adj" fmla="val 2791"/>
            </a:avLst>
          </a:prstGeom>
          <a:solidFill>
            <a:srgbClr val="F3F3F1"/>
          </a:solidFill>
          <a:ln/>
        </p:spPr>
      </p:sp>
      <p:sp>
        <p:nvSpPr>
          <p:cNvPr id="10" name="Shape 7"/>
          <p:cNvSpPr/>
          <p:nvPr/>
        </p:nvSpPr>
        <p:spPr>
          <a:xfrm>
            <a:off x="6537960" y="1874520"/>
            <a:ext cx="548640" cy="548640"/>
          </a:xfrm>
          <a:prstGeom prst="roundRect">
            <a:avLst>
              <a:gd name="adj" fmla="val 15000"/>
            </a:avLst>
          </a:prstGeom>
          <a:solidFill>
            <a:srgbClr val="A51C30"/>
          </a:solidFill>
          <a:ln/>
        </p:spPr>
      </p:sp>
      <p:pic>
        <p:nvPicPr>
          <p:cNvPr id="11" name="Image 1" descr="preencoded.png">    </p:cNvPr>
          <p:cNvPicPr>
            <a:picLocks noChangeAspect="1"/>
          </p:cNvPicPr>
          <p:nvPr/>
        </p:nvPicPr>
        <p:blipFill>
          <a:blip r:embed="rId2"/>
          <a:stretch>
            <a:fillRect/>
          </a:stretch>
        </p:blipFill>
        <p:spPr>
          <a:xfrm>
            <a:off x="6661404" y="1997964"/>
            <a:ext cx="301752" cy="301752"/>
          </a:xfrm>
          <a:prstGeom prst="rect">
            <a:avLst/>
          </a:prstGeom>
        </p:spPr>
      </p:pic>
      <p:sp>
        <p:nvSpPr>
          <p:cNvPr id="12" name="Text 8"/>
          <p:cNvSpPr/>
          <p:nvPr/>
        </p:nvSpPr>
        <p:spPr>
          <a:xfrm>
            <a:off x="7269480" y="1856232"/>
            <a:ext cx="4023360" cy="548640"/>
          </a:xfrm>
          <a:prstGeom prst="rect">
            <a:avLst/>
          </a:prstGeom>
          <a:noFill/>
          <a:ln/>
        </p:spPr>
        <p:txBody>
          <a:bodyPr wrap="square" lIns="0" tIns="0" rIns="0" bIns="0" rtlCol="0" anchor="ctr"/>
          <a:lstStyle/>
          <a:p>
            <a:pPr indent="0" marL="0">
              <a:buNone/>
            </a:pPr>
            <a:r>
              <a:rPr lang="en-US" sz="1600" b="1" dirty="0">
                <a:solidFill>
                  <a:srgbClr val="293352"/>
                </a:solidFill>
                <a:latin typeface="Arial" pitchFamily="34" charset="0"/>
                <a:ea typeface="Arial" pitchFamily="34" charset="-122"/>
                <a:cs typeface="Arial" pitchFamily="34" charset="-120"/>
              </a:rPr>
              <a:t>PortfolioAnalytics wrapper</a:t>
            </a:r>
            <a:endParaRPr lang="en-US" sz="1600" dirty="0"/>
          </a:p>
        </p:txBody>
      </p:sp>
      <p:sp>
        <p:nvSpPr>
          <p:cNvPr id="13" name="Text 9"/>
          <p:cNvSpPr/>
          <p:nvPr/>
        </p:nvSpPr>
        <p:spPr>
          <a:xfrm>
            <a:off x="6537960" y="2514600"/>
            <a:ext cx="4709160" cy="914400"/>
          </a:xfrm>
          <a:prstGeom prst="rect">
            <a:avLst/>
          </a:prstGeom>
          <a:noFill/>
          <a:ln/>
        </p:spPr>
        <p:txBody>
          <a:bodyPr wrap="square" lIns="0" tIns="0" rIns="0" bIns="0" rtlCol="0" anchor="t"/>
          <a:lstStyle/>
          <a:p>
            <a:pPr indent="0" marL="0">
              <a:buNone/>
            </a:pPr>
            <a:r>
              <a:rPr lang="en-US" sz="1350" dirty="0">
                <a:solidFill>
                  <a:srgbClr val="1E1E1E"/>
                </a:solidFill>
                <a:latin typeface="Arial" pitchFamily="34" charset="0"/>
                <a:ea typeface="Arial" pitchFamily="34" charset="-122"/>
                <a:cs typeface="Arial" pitchFamily="34" charset="-120"/>
              </a:rPr>
              <a:t>Describe the portfolio, let it solve. The quadprog reformulation is optional depth.</a:t>
            </a:r>
            <a:endParaRPr lang="en-US" sz="1350" dirty="0"/>
          </a:p>
        </p:txBody>
      </p:sp>
      <p:sp>
        <p:nvSpPr>
          <p:cNvPr id="14" name="Shape 10"/>
          <p:cNvSpPr/>
          <p:nvPr/>
        </p:nvSpPr>
        <p:spPr>
          <a:xfrm>
            <a:off x="640080" y="3886200"/>
            <a:ext cx="5257800" cy="1965960"/>
          </a:xfrm>
          <a:prstGeom prst="roundRect">
            <a:avLst>
              <a:gd name="adj" fmla="val 2791"/>
            </a:avLst>
          </a:prstGeom>
          <a:solidFill>
            <a:srgbClr val="F3F3F1"/>
          </a:solidFill>
          <a:ln/>
        </p:spPr>
      </p:sp>
      <p:sp>
        <p:nvSpPr>
          <p:cNvPr id="15" name="Shape 11"/>
          <p:cNvSpPr/>
          <p:nvPr/>
        </p:nvSpPr>
        <p:spPr>
          <a:xfrm>
            <a:off x="914400" y="4160520"/>
            <a:ext cx="548640" cy="548640"/>
          </a:xfrm>
          <a:prstGeom prst="roundRect">
            <a:avLst>
              <a:gd name="adj" fmla="val 15000"/>
            </a:avLst>
          </a:prstGeom>
          <a:solidFill>
            <a:srgbClr val="293352"/>
          </a:solidFill>
          <a:ln/>
        </p:spPr>
      </p:sp>
      <p:pic>
        <p:nvPicPr>
          <p:cNvPr id="16" name="Image 2" descr="preencoded.png">    </p:cNvPr>
          <p:cNvPicPr>
            <a:picLocks noChangeAspect="1"/>
          </p:cNvPicPr>
          <p:nvPr/>
        </p:nvPicPr>
        <p:blipFill>
          <a:blip r:embed="rId3"/>
          <a:stretch>
            <a:fillRect/>
          </a:stretch>
        </p:blipFill>
        <p:spPr>
          <a:xfrm>
            <a:off x="1037844" y="4283964"/>
            <a:ext cx="301752" cy="301752"/>
          </a:xfrm>
          <a:prstGeom prst="rect">
            <a:avLst/>
          </a:prstGeom>
        </p:spPr>
      </p:pic>
      <p:sp>
        <p:nvSpPr>
          <p:cNvPr id="17" name="Text 12"/>
          <p:cNvSpPr/>
          <p:nvPr/>
        </p:nvSpPr>
        <p:spPr>
          <a:xfrm>
            <a:off x="1645920" y="4142232"/>
            <a:ext cx="4023360" cy="548640"/>
          </a:xfrm>
          <a:prstGeom prst="rect">
            <a:avLst/>
          </a:prstGeom>
          <a:noFill/>
          <a:ln/>
        </p:spPr>
        <p:txBody>
          <a:bodyPr wrap="square" lIns="0" tIns="0" rIns="0" bIns="0" rtlCol="0" anchor="ctr"/>
          <a:lstStyle/>
          <a:p>
            <a:pPr indent="0" marL="0">
              <a:buNone/>
            </a:pPr>
            <a:r>
              <a:rPr lang="en-US" sz="1600" b="1" dirty="0">
                <a:solidFill>
                  <a:srgbClr val="293352"/>
                </a:solidFill>
                <a:latin typeface="Arial" pitchFamily="34" charset="0"/>
                <a:ea typeface="Arial" pitchFamily="34" charset="-122"/>
                <a:cs typeface="Arial" pitchFamily="34" charset="-120"/>
              </a:rPr>
              <a:t>Why not maximize directly</a:t>
            </a:r>
            <a:endParaRPr lang="en-US" sz="1600" dirty="0"/>
          </a:p>
        </p:txBody>
      </p:sp>
      <p:sp>
        <p:nvSpPr>
          <p:cNvPr id="18" name="Text 13"/>
          <p:cNvSpPr/>
          <p:nvPr/>
        </p:nvSpPr>
        <p:spPr>
          <a:xfrm>
            <a:off x="914400" y="4800600"/>
            <a:ext cx="4709160" cy="914400"/>
          </a:xfrm>
          <a:prstGeom prst="rect">
            <a:avLst/>
          </a:prstGeom>
          <a:noFill/>
          <a:ln/>
        </p:spPr>
        <p:txBody>
          <a:bodyPr wrap="square" lIns="0" tIns="0" rIns="0" bIns="0" rtlCol="0" anchor="t"/>
          <a:lstStyle/>
          <a:p>
            <a:pPr indent="0" marL="0">
              <a:buNone/>
            </a:pPr>
            <a:r>
              <a:rPr lang="en-US" sz="1350" dirty="0">
                <a:solidFill>
                  <a:srgbClr val="1E1E1E"/>
                </a:solidFill>
                <a:latin typeface="Arial" pitchFamily="34" charset="0"/>
                <a:ea typeface="Arial" pitchFamily="34" charset="-122"/>
                <a:cs typeface="Arial" pitchFamily="34" charset="-120"/>
              </a:rPr>
              <a:t>Sharpe is a ratio of two functions of the weights, which the solver cannot take head on.</a:t>
            </a:r>
            <a:endParaRPr lang="en-US" sz="1350" dirty="0"/>
          </a:p>
        </p:txBody>
      </p:sp>
      <p:sp>
        <p:nvSpPr>
          <p:cNvPr id="19" name="Shape 14"/>
          <p:cNvSpPr/>
          <p:nvPr/>
        </p:nvSpPr>
        <p:spPr>
          <a:xfrm>
            <a:off x="6263640" y="3886200"/>
            <a:ext cx="5257800" cy="1965960"/>
          </a:xfrm>
          <a:prstGeom prst="roundRect">
            <a:avLst>
              <a:gd name="adj" fmla="val 2791"/>
            </a:avLst>
          </a:prstGeom>
          <a:solidFill>
            <a:srgbClr val="F3F3F1"/>
          </a:solidFill>
          <a:ln/>
        </p:spPr>
      </p:sp>
      <p:sp>
        <p:nvSpPr>
          <p:cNvPr id="20" name="Shape 15"/>
          <p:cNvSpPr/>
          <p:nvPr/>
        </p:nvSpPr>
        <p:spPr>
          <a:xfrm>
            <a:off x="6537960" y="4160520"/>
            <a:ext cx="548640" cy="548640"/>
          </a:xfrm>
          <a:prstGeom prst="roundRect">
            <a:avLst>
              <a:gd name="adj" fmla="val 15000"/>
            </a:avLst>
          </a:prstGeom>
          <a:solidFill>
            <a:srgbClr val="A51C30"/>
          </a:solidFill>
          <a:ln/>
        </p:spPr>
      </p:sp>
      <p:pic>
        <p:nvPicPr>
          <p:cNvPr id="21" name="Image 3" descr="preencoded.png">    </p:cNvPr>
          <p:cNvPicPr>
            <a:picLocks noChangeAspect="1"/>
          </p:cNvPicPr>
          <p:nvPr/>
        </p:nvPicPr>
        <p:blipFill>
          <a:blip r:embed="rId4"/>
          <a:stretch>
            <a:fillRect/>
          </a:stretch>
        </p:blipFill>
        <p:spPr>
          <a:xfrm>
            <a:off x="6661404" y="4283964"/>
            <a:ext cx="301752" cy="301752"/>
          </a:xfrm>
          <a:prstGeom prst="rect">
            <a:avLst/>
          </a:prstGeom>
        </p:spPr>
      </p:pic>
      <p:sp>
        <p:nvSpPr>
          <p:cNvPr id="22" name="Text 16"/>
          <p:cNvSpPr/>
          <p:nvPr/>
        </p:nvSpPr>
        <p:spPr>
          <a:xfrm>
            <a:off x="7269480" y="4142232"/>
            <a:ext cx="4023360" cy="548640"/>
          </a:xfrm>
          <a:prstGeom prst="rect">
            <a:avLst/>
          </a:prstGeom>
          <a:noFill/>
          <a:ln/>
        </p:spPr>
        <p:txBody>
          <a:bodyPr wrap="square" lIns="0" tIns="0" rIns="0" bIns="0" rtlCol="0" anchor="ctr"/>
          <a:lstStyle/>
          <a:p>
            <a:pPr indent="0" marL="0">
              <a:buNone/>
            </a:pPr>
            <a:r>
              <a:rPr lang="en-US" sz="1600" b="1" dirty="0">
                <a:solidFill>
                  <a:srgbClr val="293352"/>
                </a:solidFill>
                <a:latin typeface="Arial" pitchFamily="34" charset="0"/>
                <a:ea typeface="Arial" pitchFamily="34" charset="-122"/>
                <a:cs typeface="Arial" pitchFamily="34" charset="-120"/>
              </a:rPr>
              <a:t>Risk free rate: 3.5%</a:t>
            </a:r>
            <a:endParaRPr lang="en-US" sz="1600" dirty="0"/>
          </a:p>
        </p:txBody>
      </p:sp>
      <p:sp>
        <p:nvSpPr>
          <p:cNvPr id="23" name="Text 17"/>
          <p:cNvSpPr/>
          <p:nvPr/>
        </p:nvSpPr>
        <p:spPr>
          <a:xfrm>
            <a:off x="6537960" y="4800600"/>
            <a:ext cx="4709160" cy="914400"/>
          </a:xfrm>
          <a:prstGeom prst="rect">
            <a:avLst/>
          </a:prstGeom>
          <a:noFill/>
          <a:ln/>
        </p:spPr>
        <p:txBody>
          <a:bodyPr wrap="square" lIns="0" tIns="0" rIns="0" bIns="0" rtlCol="0" anchor="t"/>
          <a:lstStyle/>
          <a:p>
            <a:pPr indent="0" marL="0">
              <a:buNone/>
            </a:pPr>
            <a:r>
              <a:rPr lang="en-US" sz="1350" dirty="0">
                <a:solidFill>
                  <a:srgbClr val="1E1E1E"/>
                </a:solidFill>
                <a:latin typeface="Arial" pitchFamily="34" charset="0"/>
                <a:ea typeface="Arial" pitchFamily="34" charset="-122"/>
                <a:cs typeface="Arial" pitchFamily="34" charset="-120"/>
              </a:rPr>
              <a:t>A single input. Real value: the 3 month T bill (FRED series DTB3).</a:t>
            </a:r>
            <a:endParaRPr lang="en-US" sz="1350" dirty="0"/>
          </a:p>
        </p:txBody>
      </p:sp>
      <p:sp>
        <p:nvSpPr>
          <p:cNvPr id="24"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25" name="Harvard Page Number"/>
          <p:cNvSpPr txBox="1"/>
          <p:nvPr/>
        </p:nvSpPr>
        <p:spPr>
          <a:xfrm>
            <a:off x="11801189" y="6446043"/>
            <a:ext cx="253492" cy="274638"/>
          </a:xfrm>
          <a:prstGeom prst="rect">
            <a:avLst/>
          </a:prstGeom>
          <a:noFill/>
        </p:spPr>
        <p:txBody>
          <a:bodyPr wrap="none" lIns="0" rIns="0" tIns="0" bIns="0">
            <a:noAutofit/>
          </a:bodyPr>
          <a:lstStyle/>
          <a:p>
            <a:pPr algn="r"/>
            <a:fld id="{3798E1B0-FD5A-4F46-8394-4E492859EA7E}" type="slidenum">
              <a:rPr lang="en-US" sz="1000">
                <a:solidFill>
                  <a:srgbClr val="8996A0"/>
                </a:solidFill>
                <a:latin typeface="Arial"/>
              </a:rPr>
              <a:t>8</a:t>
            </a:fld>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LIVE IN RSTUDIO</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Script C: run it</a:t>
            </a:r>
            <a:endParaRPr lang="en-US" sz="2800" dirty="0"/>
          </a:p>
        </p:txBody>
      </p:sp>
      <p:sp>
        <p:nvSpPr>
          <p:cNvPr id="4" name="Shape 2"/>
          <p:cNvSpPr/>
          <p:nvPr/>
        </p:nvSpPr>
        <p:spPr>
          <a:xfrm>
            <a:off x="640080" y="1600200"/>
            <a:ext cx="10881360" cy="3611880"/>
          </a:xfrm>
          <a:prstGeom prst="roundRect">
            <a:avLst>
              <a:gd name="adj" fmla="val 1519"/>
            </a:avLst>
          </a:prstGeom>
          <a:solidFill>
            <a:srgbClr val="1E1E1E"/>
          </a:solidFill>
          <a:ln/>
        </p:spPr>
      </p:sp>
      <p:sp>
        <p:nvSpPr>
          <p:cNvPr id="5" name="Shape 3"/>
          <p:cNvSpPr/>
          <p:nvPr/>
        </p:nvSpPr>
        <p:spPr>
          <a:xfrm>
            <a:off x="914400" y="1828800"/>
            <a:ext cx="146304" cy="146304"/>
          </a:xfrm>
          <a:prstGeom prst="ellipse">
            <a:avLst/>
          </a:prstGeom>
          <a:solidFill>
            <a:srgbClr val="A51C30"/>
          </a:solidFill>
          <a:ln/>
        </p:spPr>
      </p:sp>
      <p:sp>
        <p:nvSpPr>
          <p:cNvPr id="6" name="Shape 4"/>
          <p:cNvSpPr/>
          <p:nvPr/>
        </p:nvSpPr>
        <p:spPr>
          <a:xfrm>
            <a:off x="1170432" y="1828800"/>
            <a:ext cx="146304" cy="146304"/>
          </a:xfrm>
          <a:prstGeom prst="ellipse">
            <a:avLst/>
          </a:prstGeom>
          <a:solidFill>
            <a:srgbClr val="C4961A"/>
          </a:solidFill>
          <a:ln/>
        </p:spPr>
      </p:sp>
      <p:sp>
        <p:nvSpPr>
          <p:cNvPr id="7" name="Shape 5"/>
          <p:cNvSpPr/>
          <p:nvPr/>
        </p:nvSpPr>
        <p:spPr>
          <a:xfrm>
            <a:off x="1426464" y="1828800"/>
            <a:ext cx="146304" cy="146304"/>
          </a:xfrm>
          <a:prstGeom prst="ellipse">
            <a:avLst/>
          </a:prstGeom>
          <a:solidFill>
            <a:srgbClr val="1D9E75"/>
          </a:solidFill>
          <a:ln/>
        </p:spPr>
      </p:sp>
      <p:sp>
        <p:nvSpPr>
          <p:cNvPr id="8" name="Text 6"/>
          <p:cNvSpPr/>
          <p:nvPr/>
        </p:nvSpPr>
        <p:spPr>
          <a:xfrm>
            <a:off x="2011680" y="1764792"/>
            <a:ext cx="5486400" cy="274320"/>
          </a:xfrm>
          <a:prstGeom prst="rect">
            <a:avLst/>
          </a:prstGeom>
          <a:noFill/>
          <a:ln/>
        </p:spPr>
        <p:txBody>
          <a:bodyPr wrap="square" lIns="0" tIns="0" rIns="0" bIns="0" rtlCol="0" anchor="ctr"/>
          <a:lstStyle/>
          <a:p>
            <a:pPr indent="0" marL="0">
              <a:buNone/>
            </a:pPr>
            <a:r>
              <a:rPr lang="en-US" sz="1100" b="1" spc="200" kern="0" dirty="0">
                <a:solidFill>
                  <a:srgbClr val="8996A0"/>
                </a:solidFill>
                <a:latin typeface="Arial" pitchFamily="34" charset="0"/>
                <a:ea typeface="Arial" pitchFamily="34" charset="-122"/>
                <a:cs typeface="Arial" pitchFamily="34" charset="-120"/>
              </a:rPr>
              <a:t>LIVE CODE STEP THROUGH</a:t>
            </a:r>
            <a:endParaRPr lang="en-US" sz="1100" dirty="0"/>
          </a:p>
        </p:txBody>
      </p:sp>
      <p:sp>
        <p:nvSpPr>
          <p:cNvPr id="9" name="Text 7"/>
          <p:cNvSpPr/>
          <p:nvPr/>
        </p:nvSpPr>
        <p:spPr>
          <a:xfrm>
            <a:off x="914400" y="2331720"/>
            <a:ext cx="10332720" cy="685800"/>
          </a:xfrm>
          <a:prstGeom prst="rect">
            <a:avLst/>
          </a:prstGeom>
          <a:noFill/>
          <a:ln/>
        </p:spPr>
        <p:txBody>
          <a:bodyPr wrap="square" lIns="0" tIns="0" rIns="0" bIns="0" rtlCol="0" anchor="t"/>
          <a:lstStyle/>
          <a:p>
            <a:pPr indent="0" marL="0">
              <a:lnSpc>
                <a:spcPct val="100000"/>
              </a:lnSpc>
              <a:buNone/>
            </a:pPr>
            <a:r>
              <a:rPr lang="en-US" sz="1500" b="1" dirty="0">
                <a:solidFill>
                  <a:srgbClr val="4E84C4"/>
                </a:solidFill>
                <a:latin typeface="Arial" pitchFamily="34" charset="0"/>
                <a:ea typeface="Arial" pitchFamily="34" charset="-122"/>
                <a:cs typeface="Arial" pitchFamily="34" charset="-120"/>
              </a:rPr>
              <a:t>&gt; </a:t>
            </a:r>
            <a:pPr indent="0" marL="0">
              <a:lnSpc>
                <a:spcPct val="100000"/>
              </a:lnSpc>
              <a:buNone/>
            </a:pPr>
            <a:r>
              <a:rPr lang="en-US" sz="1500" dirty="0">
                <a:solidFill>
                  <a:srgbClr val="F3F3F1"/>
                </a:solidFill>
                <a:latin typeface="Arial" pitchFamily="34" charset="0"/>
                <a:ea typeface="Arial" pitchFamily="34" charset="-122"/>
                <a:cs typeface="Arial" pitchFamily="34" charset="-120"/>
              </a:rPr>
              <a:t>Set the rate, build the portfolio spec, run optimize.portfolio.</a:t>
            </a:r>
            <a:endParaRPr lang="en-US" sz="1500" dirty="0"/>
          </a:p>
        </p:txBody>
      </p:sp>
      <p:sp>
        <p:nvSpPr>
          <p:cNvPr id="10" name="Text 8"/>
          <p:cNvSpPr/>
          <p:nvPr/>
        </p:nvSpPr>
        <p:spPr>
          <a:xfrm>
            <a:off x="914400" y="3172968"/>
            <a:ext cx="10332720" cy="685800"/>
          </a:xfrm>
          <a:prstGeom prst="rect">
            <a:avLst/>
          </a:prstGeom>
          <a:noFill/>
          <a:ln/>
        </p:spPr>
        <p:txBody>
          <a:bodyPr wrap="square" lIns="0" tIns="0" rIns="0" bIns="0" rtlCol="0" anchor="t"/>
          <a:lstStyle/>
          <a:p>
            <a:pPr indent="0" marL="0">
              <a:lnSpc>
                <a:spcPct val="100000"/>
              </a:lnSpc>
              <a:buNone/>
            </a:pPr>
            <a:r>
              <a:rPr lang="en-US" sz="1500" b="1" dirty="0">
                <a:solidFill>
                  <a:srgbClr val="4E84C4"/>
                </a:solidFill>
                <a:latin typeface="Arial" pitchFamily="34" charset="0"/>
                <a:ea typeface="Arial" pitchFamily="34" charset="-122"/>
                <a:cs typeface="Arial" pitchFamily="34" charset="-120"/>
              </a:rPr>
              <a:t>&gt; </a:t>
            </a:r>
            <a:pPr indent="0" marL="0">
              <a:lnSpc>
                <a:spcPct val="100000"/>
              </a:lnSpc>
              <a:buNone/>
            </a:pPr>
            <a:r>
              <a:rPr lang="en-US" sz="1500" dirty="0">
                <a:solidFill>
                  <a:srgbClr val="F3F3F1"/>
                </a:solidFill>
                <a:latin typeface="Arial" pitchFamily="34" charset="0"/>
                <a:ea typeface="Arial" pitchFamily="34" charset="-122"/>
                <a:cs typeface="Arial" pitchFamily="34" charset="-120"/>
              </a:rPr>
              <a:t>Read out weights and the annualized return, volatility, and Sharpe.</a:t>
            </a:r>
            <a:endParaRPr lang="en-US" sz="1500" dirty="0"/>
          </a:p>
        </p:txBody>
      </p:sp>
      <p:sp>
        <p:nvSpPr>
          <p:cNvPr id="11" name="Text 9"/>
          <p:cNvSpPr/>
          <p:nvPr/>
        </p:nvSpPr>
        <p:spPr>
          <a:xfrm>
            <a:off x="914400" y="4014216"/>
            <a:ext cx="10332720" cy="685800"/>
          </a:xfrm>
          <a:prstGeom prst="rect">
            <a:avLst/>
          </a:prstGeom>
          <a:noFill/>
          <a:ln/>
        </p:spPr>
        <p:txBody>
          <a:bodyPr wrap="square" lIns="0" tIns="0" rIns="0" bIns="0" rtlCol="0" anchor="t"/>
          <a:lstStyle/>
          <a:p>
            <a:pPr indent="0" marL="0">
              <a:lnSpc>
                <a:spcPct val="100000"/>
              </a:lnSpc>
              <a:buNone/>
            </a:pPr>
            <a:r>
              <a:rPr lang="en-US" sz="1500" b="1" dirty="0">
                <a:solidFill>
                  <a:srgbClr val="4E84C4"/>
                </a:solidFill>
                <a:latin typeface="Arial" pitchFamily="34" charset="0"/>
                <a:ea typeface="Arial" pitchFamily="34" charset="-122"/>
                <a:cs typeface="Arial" pitchFamily="34" charset="-120"/>
              </a:rPr>
              <a:t>&gt; </a:t>
            </a:r>
            <a:pPr indent="0" marL="0">
              <a:lnSpc>
                <a:spcPct val="100000"/>
              </a:lnSpc>
              <a:buNone/>
            </a:pPr>
            <a:r>
              <a:rPr lang="en-US" sz="1500" dirty="0">
                <a:solidFill>
                  <a:srgbClr val="F3F3F1"/>
                </a:solidFill>
                <a:latin typeface="Arial" pitchFamily="34" charset="0"/>
                <a:ea typeface="Arial" pitchFamily="34" charset="-122"/>
                <a:cs typeface="Arial" pitchFamily="34" charset="-120"/>
              </a:rPr>
              <a:t>Note the concentration into a few names, which sets up the comparison in D.</a:t>
            </a:r>
            <a:endParaRPr lang="en-US" sz="1500" dirty="0"/>
          </a:p>
        </p:txBody>
      </p:sp>
      <p:sp>
        <p:nvSpPr>
          <p:cNvPr id="12" name="Shape 10"/>
          <p:cNvSpPr/>
          <p:nvPr/>
        </p:nvSpPr>
        <p:spPr>
          <a:xfrm>
            <a:off x="640080" y="5440680"/>
            <a:ext cx="2377440" cy="457200"/>
          </a:xfrm>
          <a:prstGeom prst="roundRect">
            <a:avLst>
              <a:gd name="adj" fmla="val 50000"/>
            </a:avLst>
          </a:prstGeom>
          <a:solidFill>
            <a:srgbClr val="F3F3F1"/>
          </a:solidFill>
          <a:ln/>
        </p:spPr>
      </p:sp>
      <p:sp>
        <p:nvSpPr>
          <p:cNvPr id="13" name="Text 11"/>
          <p:cNvSpPr/>
          <p:nvPr/>
        </p:nvSpPr>
        <p:spPr>
          <a:xfrm>
            <a:off x="640080" y="5440680"/>
            <a:ext cx="2377440" cy="457200"/>
          </a:xfrm>
          <a:prstGeom prst="rect">
            <a:avLst/>
          </a:prstGeom>
          <a:noFill/>
          <a:ln/>
        </p:spPr>
        <p:txBody>
          <a:bodyPr wrap="square" lIns="0" tIns="0" rIns="0" bIns="0" rtlCol="0" anchor="ctr"/>
          <a:lstStyle/>
          <a:p>
            <a:pPr algn="ctr" indent="0" marL="0">
              <a:buNone/>
            </a:pPr>
            <a:r>
              <a:rPr lang="en-US" sz="1300" b="1" dirty="0">
                <a:solidFill>
                  <a:srgbClr val="293352"/>
                </a:solidFill>
                <a:latin typeface="Arial" pitchFamily="34" charset="0"/>
                <a:ea typeface="Arial" pitchFamily="34" charset="-122"/>
                <a:cs typeface="Arial" pitchFamily="34" charset="-120"/>
              </a:rPr>
              <a:t>⏱  about 8 minutes</a:t>
            </a:r>
            <a:endParaRPr lang="en-US" sz="1300" dirty="0"/>
          </a:p>
        </p:txBody>
      </p:sp>
      <p:sp>
        <p:nvSpPr>
          <p:cNvPr id="14"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15" name="Harvard Page Number"/>
          <p:cNvSpPr txBox="1"/>
          <p:nvPr/>
        </p:nvSpPr>
        <p:spPr>
          <a:xfrm>
            <a:off x="11801189" y="6446043"/>
            <a:ext cx="253492" cy="274638"/>
          </a:xfrm>
          <a:prstGeom prst="rect">
            <a:avLst/>
          </a:prstGeom>
          <a:noFill/>
        </p:spPr>
        <p:txBody>
          <a:bodyPr wrap="none" lIns="0" rIns="0" tIns="0" bIns="0">
            <a:noAutofit/>
          </a:bodyPr>
          <a:lstStyle/>
          <a:p>
            <a:pPr algn="r"/>
            <a:fld id="{FCF4546C-2EE0-4745-BF71-CAAD020C98AC}" type="slidenum">
              <a:rPr lang="en-US" sz="1000">
                <a:solidFill>
                  <a:srgbClr val="8996A0"/>
                </a:solidFill>
                <a:latin typeface="Arial"/>
              </a:rPr>
              <a:t>9</a:t>
            </a:fld>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THREE PORTFOLIOS, ONE READ</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Script D: compare and export</a:t>
            </a:r>
            <a:endParaRPr lang="en-US" sz="2800" dirty="0"/>
          </a:p>
        </p:txBody>
      </p:sp>
      <p:sp>
        <p:nvSpPr>
          <p:cNvPr id="4" name="Shape 2"/>
          <p:cNvSpPr/>
          <p:nvPr/>
        </p:nvSpPr>
        <p:spPr>
          <a:xfrm>
            <a:off x="640080" y="1600200"/>
            <a:ext cx="5257800" cy="1965960"/>
          </a:xfrm>
          <a:prstGeom prst="roundRect">
            <a:avLst>
              <a:gd name="adj" fmla="val 2791"/>
            </a:avLst>
          </a:prstGeom>
          <a:solidFill>
            <a:srgbClr val="F3F3F1"/>
          </a:solidFill>
          <a:ln/>
        </p:spPr>
      </p:sp>
      <p:sp>
        <p:nvSpPr>
          <p:cNvPr id="5" name="Shape 3"/>
          <p:cNvSpPr/>
          <p:nvPr/>
        </p:nvSpPr>
        <p:spPr>
          <a:xfrm>
            <a:off x="914400" y="1874520"/>
            <a:ext cx="548640" cy="548640"/>
          </a:xfrm>
          <a:prstGeom prst="roundRect">
            <a:avLst>
              <a:gd name="adj" fmla="val 15000"/>
            </a:avLst>
          </a:prstGeom>
          <a:solidFill>
            <a:srgbClr val="293352"/>
          </a:solidFill>
          <a:ln/>
        </p:spPr>
      </p:sp>
      <p:pic>
        <p:nvPicPr>
          <p:cNvPr id="6" name="Image 0" descr="preencoded.png">    </p:cNvPr>
          <p:cNvPicPr>
            <a:picLocks noChangeAspect="1"/>
          </p:cNvPicPr>
          <p:nvPr/>
        </p:nvPicPr>
        <p:blipFill>
          <a:blip r:embed="rId1"/>
          <a:stretch>
            <a:fillRect/>
          </a:stretch>
        </p:blipFill>
        <p:spPr>
          <a:xfrm>
            <a:off x="1037844" y="1997964"/>
            <a:ext cx="301752" cy="301752"/>
          </a:xfrm>
          <a:prstGeom prst="rect">
            <a:avLst/>
          </a:prstGeom>
        </p:spPr>
      </p:pic>
      <p:sp>
        <p:nvSpPr>
          <p:cNvPr id="7" name="Text 4"/>
          <p:cNvSpPr/>
          <p:nvPr/>
        </p:nvSpPr>
        <p:spPr>
          <a:xfrm>
            <a:off x="1645920" y="1856232"/>
            <a:ext cx="4023360" cy="548640"/>
          </a:xfrm>
          <a:prstGeom prst="rect">
            <a:avLst/>
          </a:prstGeom>
          <a:noFill/>
          <a:ln/>
        </p:spPr>
        <p:txBody>
          <a:bodyPr wrap="square" lIns="0" tIns="0" rIns="0" bIns="0" rtlCol="0" anchor="ctr"/>
          <a:lstStyle/>
          <a:p>
            <a:pPr indent="0" marL="0">
              <a:buNone/>
            </a:pPr>
            <a:r>
              <a:rPr lang="en-US" sz="1600" b="1" dirty="0">
                <a:solidFill>
                  <a:srgbClr val="293352"/>
                </a:solidFill>
                <a:latin typeface="Arial" pitchFamily="34" charset="0"/>
                <a:ea typeface="Arial" pitchFamily="34" charset="-122"/>
                <a:cs typeface="Arial" pitchFamily="34" charset="-120"/>
              </a:rPr>
              <a:t>Three way comparison</a:t>
            </a:r>
            <a:endParaRPr lang="en-US" sz="1600" dirty="0"/>
          </a:p>
        </p:txBody>
      </p:sp>
      <p:sp>
        <p:nvSpPr>
          <p:cNvPr id="8" name="Text 5"/>
          <p:cNvSpPr/>
          <p:nvPr/>
        </p:nvSpPr>
        <p:spPr>
          <a:xfrm>
            <a:off x="914400" y="2514600"/>
            <a:ext cx="4709160" cy="914400"/>
          </a:xfrm>
          <a:prstGeom prst="rect">
            <a:avLst/>
          </a:prstGeom>
          <a:noFill/>
          <a:ln/>
        </p:spPr>
        <p:txBody>
          <a:bodyPr wrap="square" lIns="0" tIns="0" rIns="0" bIns="0" rtlCol="0" anchor="t"/>
          <a:lstStyle/>
          <a:p>
            <a:pPr indent="0" marL="0">
              <a:buNone/>
            </a:pPr>
            <a:r>
              <a:rPr lang="en-US" sz="1350" dirty="0">
                <a:solidFill>
                  <a:srgbClr val="1E1E1E"/>
                </a:solidFill>
                <a:latin typeface="Arial" pitchFamily="34" charset="0"/>
                <a:ea typeface="Arial" pitchFamily="34" charset="-122"/>
                <a:cs typeface="Arial" pitchFamily="34" charset="-120"/>
              </a:rPr>
              <a:t>Equal weight (1/N) as an honest benchmark alongside minimum variance and maximum Sharpe.</a:t>
            </a:r>
            <a:endParaRPr lang="en-US" sz="1350" dirty="0"/>
          </a:p>
        </p:txBody>
      </p:sp>
      <p:sp>
        <p:nvSpPr>
          <p:cNvPr id="9" name="Shape 6"/>
          <p:cNvSpPr/>
          <p:nvPr/>
        </p:nvSpPr>
        <p:spPr>
          <a:xfrm>
            <a:off x="6263640" y="1600200"/>
            <a:ext cx="5257800" cy="1965960"/>
          </a:xfrm>
          <a:prstGeom prst="roundRect">
            <a:avLst>
              <a:gd name="adj" fmla="val 2791"/>
            </a:avLst>
          </a:prstGeom>
          <a:solidFill>
            <a:srgbClr val="F3F3F1"/>
          </a:solidFill>
          <a:ln/>
        </p:spPr>
      </p:sp>
      <p:sp>
        <p:nvSpPr>
          <p:cNvPr id="10" name="Shape 7"/>
          <p:cNvSpPr/>
          <p:nvPr/>
        </p:nvSpPr>
        <p:spPr>
          <a:xfrm>
            <a:off x="6537960" y="1874520"/>
            <a:ext cx="548640" cy="548640"/>
          </a:xfrm>
          <a:prstGeom prst="roundRect">
            <a:avLst>
              <a:gd name="adj" fmla="val 15000"/>
            </a:avLst>
          </a:prstGeom>
          <a:solidFill>
            <a:srgbClr val="A51C30"/>
          </a:solidFill>
          <a:ln/>
        </p:spPr>
      </p:sp>
      <p:pic>
        <p:nvPicPr>
          <p:cNvPr id="11" name="Image 1" descr="preencoded.png">    </p:cNvPr>
          <p:cNvPicPr>
            <a:picLocks noChangeAspect="1"/>
          </p:cNvPicPr>
          <p:nvPr/>
        </p:nvPicPr>
        <p:blipFill>
          <a:blip r:embed="rId2"/>
          <a:stretch>
            <a:fillRect/>
          </a:stretch>
        </p:blipFill>
        <p:spPr>
          <a:xfrm>
            <a:off x="6661404" y="1997964"/>
            <a:ext cx="301752" cy="301752"/>
          </a:xfrm>
          <a:prstGeom prst="rect">
            <a:avLst/>
          </a:prstGeom>
        </p:spPr>
      </p:pic>
      <p:sp>
        <p:nvSpPr>
          <p:cNvPr id="12" name="Text 8"/>
          <p:cNvSpPr/>
          <p:nvPr/>
        </p:nvSpPr>
        <p:spPr>
          <a:xfrm>
            <a:off x="7269480" y="1856232"/>
            <a:ext cx="4023360" cy="548640"/>
          </a:xfrm>
          <a:prstGeom prst="rect">
            <a:avLst/>
          </a:prstGeom>
          <a:noFill/>
          <a:ln/>
        </p:spPr>
        <p:txBody>
          <a:bodyPr wrap="square" lIns="0" tIns="0" rIns="0" bIns="0" rtlCol="0" anchor="ctr"/>
          <a:lstStyle/>
          <a:p>
            <a:pPr indent="0" marL="0">
              <a:buNone/>
            </a:pPr>
            <a:r>
              <a:rPr lang="en-US" sz="1600" b="1" dirty="0">
                <a:solidFill>
                  <a:srgbClr val="293352"/>
                </a:solidFill>
                <a:latin typeface="Arial" pitchFamily="34" charset="0"/>
                <a:ea typeface="Arial" pitchFamily="34" charset="-122"/>
                <a:cs typeface="Arial" pitchFamily="34" charset="-120"/>
              </a:rPr>
              <a:t>What to expect</a:t>
            </a:r>
            <a:endParaRPr lang="en-US" sz="1600" dirty="0"/>
          </a:p>
        </p:txBody>
      </p:sp>
      <p:sp>
        <p:nvSpPr>
          <p:cNvPr id="13" name="Text 9"/>
          <p:cNvSpPr/>
          <p:nvPr/>
        </p:nvSpPr>
        <p:spPr>
          <a:xfrm>
            <a:off x="6537960" y="2514600"/>
            <a:ext cx="4709160" cy="914400"/>
          </a:xfrm>
          <a:prstGeom prst="rect">
            <a:avLst/>
          </a:prstGeom>
          <a:noFill/>
          <a:ln/>
        </p:spPr>
        <p:txBody>
          <a:bodyPr wrap="square" lIns="0" tIns="0" rIns="0" bIns="0" rtlCol="0" anchor="t"/>
          <a:lstStyle/>
          <a:p>
            <a:pPr indent="0" marL="0">
              <a:buNone/>
            </a:pPr>
            <a:r>
              <a:rPr lang="en-US" sz="1350" dirty="0">
                <a:solidFill>
                  <a:srgbClr val="1E1E1E"/>
                </a:solidFill>
                <a:latin typeface="Arial" pitchFamily="34" charset="0"/>
                <a:ea typeface="Arial" pitchFamily="34" charset="-122"/>
                <a:cs typeface="Arial" pitchFamily="34" charset="-120"/>
              </a:rPr>
              <a:t>Min variance wins volatility, max Sharpe wins Sharpe, equal weight lands in the middle.</a:t>
            </a:r>
            <a:endParaRPr lang="en-US" sz="1350" dirty="0"/>
          </a:p>
        </p:txBody>
      </p:sp>
      <p:sp>
        <p:nvSpPr>
          <p:cNvPr id="14" name="Shape 10"/>
          <p:cNvSpPr/>
          <p:nvPr/>
        </p:nvSpPr>
        <p:spPr>
          <a:xfrm>
            <a:off x="640080" y="3886200"/>
            <a:ext cx="5257800" cy="1965960"/>
          </a:xfrm>
          <a:prstGeom prst="roundRect">
            <a:avLst>
              <a:gd name="adj" fmla="val 2791"/>
            </a:avLst>
          </a:prstGeom>
          <a:solidFill>
            <a:srgbClr val="F3F3F1"/>
          </a:solidFill>
          <a:ln/>
        </p:spPr>
      </p:sp>
      <p:sp>
        <p:nvSpPr>
          <p:cNvPr id="15" name="Shape 11"/>
          <p:cNvSpPr/>
          <p:nvPr/>
        </p:nvSpPr>
        <p:spPr>
          <a:xfrm>
            <a:off x="914400" y="4160520"/>
            <a:ext cx="548640" cy="548640"/>
          </a:xfrm>
          <a:prstGeom prst="roundRect">
            <a:avLst>
              <a:gd name="adj" fmla="val 15000"/>
            </a:avLst>
          </a:prstGeom>
          <a:solidFill>
            <a:srgbClr val="293352"/>
          </a:solidFill>
          <a:ln/>
        </p:spPr>
      </p:sp>
      <p:pic>
        <p:nvPicPr>
          <p:cNvPr id="16" name="Image 2" descr="preencoded.png">    </p:cNvPr>
          <p:cNvPicPr>
            <a:picLocks noChangeAspect="1"/>
          </p:cNvPicPr>
          <p:nvPr/>
        </p:nvPicPr>
        <p:blipFill>
          <a:blip r:embed="rId3"/>
          <a:stretch>
            <a:fillRect/>
          </a:stretch>
        </p:blipFill>
        <p:spPr>
          <a:xfrm>
            <a:off x="1037844" y="4283964"/>
            <a:ext cx="301752" cy="301752"/>
          </a:xfrm>
          <a:prstGeom prst="rect">
            <a:avLst/>
          </a:prstGeom>
        </p:spPr>
      </p:pic>
      <p:sp>
        <p:nvSpPr>
          <p:cNvPr id="17" name="Text 12"/>
          <p:cNvSpPr/>
          <p:nvPr/>
        </p:nvSpPr>
        <p:spPr>
          <a:xfrm>
            <a:off x="1645920" y="4142232"/>
            <a:ext cx="4023360" cy="548640"/>
          </a:xfrm>
          <a:prstGeom prst="rect">
            <a:avLst/>
          </a:prstGeom>
          <a:noFill/>
          <a:ln/>
        </p:spPr>
        <p:txBody>
          <a:bodyPr wrap="square" lIns="0" tIns="0" rIns="0" bIns="0" rtlCol="0" anchor="ctr"/>
          <a:lstStyle/>
          <a:p>
            <a:pPr indent="0" marL="0">
              <a:buNone/>
            </a:pPr>
            <a:r>
              <a:rPr lang="en-US" sz="1600" b="1" dirty="0">
                <a:solidFill>
                  <a:srgbClr val="293352"/>
                </a:solidFill>
                <a:latin typeface="Arial" pitchFamily="34" charset="0"/>
                <a:ea typeface="Arial" pitchFamily="34" charset="-122"/>
                <a:cs typeface="Arial" pitchFamily="34" charset="-120"/>
              </a:rPr>
              <a:t>JSON export</a:t>
            </a:r>
            <a:endParaRPr lang="en-US" sz="1600" dirty="0"/>
          </a:p>
        </p:txBody>
      </p:sp>
      <p:sp>
        <p:nvSpPr>
          <p:cNvPr id="18" name="Text 13"/>
          <p:cNvSpPr/>
          <p:nvPr/>
        </p:nvSpPr>
        <p:spPr>
          <a:xfrm>
            <a:off x="914400" y="4800600"/>
            <a:ext cx="4709160" cy="914400"/>
          </a:xfrm>
          <a:prstGeom prst="rect">
            <a:avLst/>
          </a:prstGeom>
          <a:noFill/>
          <a:ln/>
        </p:spPr>
        <p:txBody>
          <a:bodyPr wrap="square" lIns="0" tIns="0" rIns="0" bIns="0" rtlCol="0" anchor="t"/>
          <a:lstStyle/>
          <a:p>
            <a:pPr indent="0" marL="0">
              <a:buNone/>
            </a:pPr>
            <a:r>
              <a:rPr lang="en-US" sz="1350" dirty="0">
                <a:solidFill>
                  <a:srgbClr val="1E1E1E"/>
                </a:solidFill>
                <a:latin typeface="Arial" pitchFamily="34" charset="0"/>
                <a:ea typeface="Arial" pitchFamily="34" charset="-122"/>
                <a:cs typeface="Arial" pitchFamily="34" charset="-120"/>
              </a:rPr>
              <a:t>R produced the numbers. The export is the interpretation step for an LLM.</a:t>
            </a:r>
            <a:endParaRPr lang="en-US" sz="1350" dirty="0"/>
          </a:p>
        </p:txBody>
      </p:sp>
      <p:sp>
        <p:nvSpPr>
          <p:cNvPr id="19" name="Shape 14"/>
          <p:cNvSpPr/>
          <p:nvPr/>
        </p:nvSpPr>
        <p:spPr>
          <a:xfrm>
            <a:off x="6263640" y="3886200"/>
            <a:ext cx="5257800" cy="1965960"/>
          </a:xfrm>
          <a:prstGeom prst="roundRect">
            <a:avLst>
              <a:gd name="adj" fmla="val 2791"/>
            </a:avLst>
          </a:prstGeom>
          <a:solidFill>
            <a:srgbClr val="F3F3F1"/>
          </a:solidFill>
          <a:ln/>
        </p:spPr>
      </p:sp>
      <p:sp>
        <p:nvSpPr>
          <p:cNvPr id="20" name="Shape 15"/>
          <p:cNvSpPr/>
          <p:nvPr/>
        </p:nvSpPr>
        <p:spPr>
          <a:xfrm>
            <a:off x="6537960" y="4160520"/>
            <a:ext cx="548640" cy="548640"/>
          </a:xfrm>
          <a:prstGeom prst="roundRect">
            <a:avLst>
              <a:gd name="adj" fmla="val 15000"/>
            </a:avLst>
          </a:prstGeom>
          <a:solidFill>
            <a:srgbClr val="A51C30"/>
          </a:solidFill>
          <a:ln/>
        </p:spPr>
      </p:sp>
      <p:pic>
        <p:nvPicPr>
          <p:cNvPr id="21" name="Image 3" descr="preencoded.png">    </p:cNvPr>
          <p:cNvPicPr>
            <a:picLocks noChangeAspect="1"/>
          </p:cNvPicPr>
          <p:nvPr/>
        </p:nvPicPr>
        <p:blipFill>
          <a:blip r:embed="rId4"/>
          <a:stretch>
            <a:fillRect/>
          </a:stretch>
        </p:blipFill>
        <p:spPr>
          <a:xfrm>
            <a:off x="6661404" y="4283964"/>
            <a:ext cx="301752" cy="301752"/>
          </a:xfrm>
          <a:prstGeom prst="rect">
            <a:avLst/>
          </a:prstGeom>
        </p:spPr>
      </p:pic>
      <p:sp>
        <p:nvSpPr>
          <p:cNvPr id="22" name="Text 16"/>
          <p:cNvSpPr/>
          <p:nvPr/>
        </p:nvSpPr>
        <p:spPr>
          <a:xfrm>
            <a:off x="7269480" y="4142232"/>
            <a:ext cx="4023360" cy="548640"/>
          </a:xfrm>
          <a:prstGeom prst="rect">
            <a:avLst/>
          </a:prstGeom>
          <a:noFill/>
          <a:ln/>
        </p:spPr>
        <p:txBody>
          <a:bodyPr wrap="square" lIns="0" tIns="0" rIns="0" bIns="0" rtlCol="0" anchor="ctr"/>
          <a:lstStyle/>
          <a:p>
            <a:pPr indent="0" marL="0">
              <a:buNone/>
            </a:pPr>
            <a:r>
              <a:rPr lang="en-US" sz="1600" b="1" dirty="0">
                <a:solidFill>
                  <a:srgbClr val="293352"/>
                </a:solidFill>
                <a:latin typeface="Arial" pitchFamily="34" charset="0"/>
                <a:ea typeface="Arial" pitchFamily="34" charset="-122"/>
                <a:cs typeface="Arial" pitchFamily="34" charset="-120"/>
              </a:rPr>
              <a:t>Interpret, not recalculate</a:t>
            </a:r>
            <a:endParaRPr lang="en-US" sz="1600" dirty="0"/>
          </a:p>
        </p:txBody>
      </p:sp>
      <p:sp>
        <p:nvSpPr>
          <p:cNvPr id="23" name="Text 17"/>
          <p:cNvSpPr/>
          <p:nvPr/>
        </p:nvSpPr>
        <p:spPr>
          <a:xfrm>
            <a:off x="6537960" y="4800600"/>
            <a:ext cx="4709160" cy="914400"/>
          </a:xfrm>
          <a:prstGeom prst="rect">
            <a:avLst/>
          </a:prstGeom>
          <a:noFill/>
          <a:ln/>
        </p:spPr>
        <p:txBody>
          <a:bodyPr wrap="square" lIns="0" tIns="0" rIns="0" bIns="0" rtlCol="0" anchor="t"/>
          <a:lstStyle/>
          <a:p>
            <a:pPr indent="0" marL="0">
              <a:buNone/>
            </a:pPr>
            <a:r>
              <a:rPr lang="en-US" sz="1350" dirty="0">
                <a:solidFill>
                  <a:srgbClr val="1E1E1E"/>
                </a:solidFill>
                <a:latin typeface="Arial" pitchFamily="34" charset="0"/>
                <a:ea typeface="Arial" pitchFamily="34" charset="-122"/>
                <a:cs typeface="Arial" pitchFamily="34" charset="-120"/>
              </a:rPr>
              <a:t>The chatbot prompt says it plainly: read the numbers, do not recompute them.</a:t>
            </a:r>
            <a:endParaRPr lang="en-US" sz="1350" dirty="0"/>
          </a:p>
        </p:txBody>
      </p:sp>
      <p:sp>
        <p:nvSpPr>
          <p:cNvPr id="24"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25" name="Harvard Page Number"/>
          <p:cNvSpPr txBox="1"/>
          <p:nvPr/>
        </p:nvSpPr>
        <p:spPr>
          <a:xfrm>
            <a:off x="11730577" y="6446043"/>
            <a:ext cx="324104" cy="274638"/>
          </a:xfrm>
          <a:prstGeom prst="rect">
            <a:avLst/>
          </a:prstGeom>
          <a:noFill/>
        </p:spPr>
        <p:txBody>
          <a:bodyPr wrap="none" lIns="0" rIns="0" tIns="0" bIns="0">
            <a:noAutofit/>
          </a:bodyPr>
          <a:lstStyle/>
          <a:p>
            <a:pPr algn="r"/>
            <a:fld id="{A5A64AEE-DF37-48C7-89E1-DDF968451F2D}" type="slidenum">
              <a:rPr lang="en-US" sz="1000">
                <a:solidFill>
                  <a:srgbClr val="8996A0"/>
                </a:solidFill>
                <a:latin typeface="Arial"/>
              </a:rPr>
              <a:t>10</a:t>
            </a:fld>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LIVE IN RSTUDIO</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Script D: run it</a:t>
            </a:r>
            <a:endParaRPr lang="en-US" sz="2800" dirty="0"/>
          </a:p>
        </p:txBody>
      </p:sp>
      <p:sp>
        <p:nvSpPr>
          <p:cNvPr id="4" name="Shape 2"/>
          <p:cNvSpPr/>
          <p:nvPr/>
        </p:nvSpPr>
        <p:spPr>
          <a:xfrm>
            <a:off x="640080" y="1600200"/>
            <a:ext cx="10881360" cy="3611880"/>
          </a:xfrm>
          <a:prstGeom prst="roundRect">
            <a:avLst>
              <a:gd name="adj" fmla="val 1519"/>
            </a:avLst>
          </a:prstGeom>
          <a:solidFill>
            <a:srgbClr val="1E1E1E"/>
          </a:solidFill>
          <a:ln/>
        </p:spPr>
      </p:sp>
      <p:sp>
        <p:nvSpPr>
          <p:cNvPr id="5" name="Shape 3"/>
          <p:cNvSpPr/>
          <p:nvPr/>
        </p:nvSpPr>
        <p:spPr>
          <a:xfrm>
            <a:off x="914400" y="1828800"/>
            <a:ext cx="146304" cy="146304"/>
          </a:xfrm>
          <a:prstGeom prst="ellipse">
            <a:avLst/>
          </a:prstGeom>
          <a:solidFill>
            <a:srgbClr val="A51C30"/>
          </a:solidFill>
          <a:ln/>
        </p:spPr>
      </p:sp>
      <p:sp>
        <p:nvSpPr>
          <p:cNvPr id="6" name="Shape 4"/>
          <p:cNvSpPr/>
          <p:nvPr/>
        </p:nvSpPr>
        <p:spPr>
          <a:xfrm>
            <a:off x="1170432" y="1828800"/>
            <a:ext cx="146304" cy="146304"/>
          </a:xfrm>
          <a:prstGeom prst="ellipse">
            <a:avLst/>
          </a:prstGeom>
          <a:solidFill>
            <a:srgbClr val="C4961A"/>
          </a:solidFill>
          <a:ln/>
        </p:spPr>
      </p:sp>
      <p:sp>
        <p:nvSpPr>
          <p:cNvPr id="7" name="Shape 5"/>
          <p:cNvSpPr/>
          <p:nvPr/>
        </p:nvSpPr>
        <p:spPr>
          <a:xfrm>
            <a:off x="1426464" y="1828800"/>
            <a:ext cx="146304" cy="146304"/>
          </a:xfrm>
          <a:prstGeom prst="ellipse">
            <a:avLst/>
          </a:prstGeom>
          <a:solidFill>
            <a:srgbClr val="1D9E75"/>
          </a:solidFill>
          <a:ln/>
        </p:spPr>
      </p:sp>
      <p:sp>
        <p:nvSpPr>
          <p:cNvPr id="8" name="Text 6"/>
          <p:cNvSpPr/>
          <p:nvPr/>
        </p:nvSpPr>
        <p:spPr>
          <a:xfrm>
            <a:off x="2011680" y="1764792"/>
            <a:ext cx="5486400" cy="274320"/>
          </a:xfrm>
          <a:prstGeom prst="rect">
            <a:avLst/>
          </a:prstGeom>
          <a:noFill/>
          <a:ln/>
        </p:spPr>
        <p:txBody>
          <a:bodyPr wrap="square" lIns="0" tIns="0" rIns="0" bIns="0" rtlCol="0" anchor="ctr"/>
          <a:lstStyle/>
          <a:p>
            <a:pPr indent="0" marL="0">
              <a:buNone/>
            </a:pPr>
            <a:r>
              <a:rPr lang="en-US" sz="1100" b="1" spc="200" kern="0" dirty="0">
                <a:solidFill>
                  <a:srgbClr val="8996A0"/>
                </a:solidFill>
                <a:latin typeface="Arial" pitchFamily="34" charset="0"/>
                <a:ea typeface="Arial" pitchFamily="34" charset="-122"/>
                <a:cs typeface="Arial" pitchFamily="34" charset="-120"/>
              </a:rPr>
              <a:t>LIVE CODE STEP THROUGH</a:t>
            </a:r>
            <a:endParaRPr lang="en-US" sz="1100" dirty="0"/>
          </a:p>
        </p:txBody>
      </p:sp>
      <p:sp>
        <p:nvSpPr>
          <p:cNvPr id="9" name="Text 7"/>
          <p:cNvSpPr/>
          <p:nvPr/>
        </p:nvSpPr>
        <p:spPr>
          <a:xfrm>
            <a:off x="914400" y="2331720"/>
            <a:ext cx="10332720" cy="685800"/>
          </a:xfrm>
          <a:prstGeom prst="rect">
            <a:avLst/>
          </a:prstGeom>
          <a:noFill/>
          <a:ln/>
        </p:spPr>
        <p:txBody>
          <a:bodyPr wrap="square" lIns="0" tIns="0" rIns="0" bIns="0" rtlCol="0" anchor="t"/>
          <a:lstStyle/>
          <a:p>
            <a:pPr indent="0" marL="0">
              <a:lnSpc>
                <a:spcPct val="100000"/>
              </a:lnSpc>
              <a:buNone/>
            </a:pPr>
            <a:r>
              <a:rPr lang="en-US" sz="1500" b="1" dirty="0">
                <a:solidFill>
                  <a:srgbClr val="4E84C4"/>
                </a:solidFill>
                <a:latin typeface="Arial" pitchFamily="34" charset="0"/>
                <a:ea typeface="Arial" pitchFamily="34" charset="-122"/>
                <a:cs typeface="Arial" pitchFamily="34" charset="-120"/>
              </a:rPr>
              <a:t>&gt; </a:t>
            </a:r>
            <a:pPr indent="0" marL="0">
              <a:lnSpc>
                <a:spcPct val="100000"/>
              </a:lnSpc>
              <a:buNone/>
            </a:pPr>
            <a:r>
              <a:rPr lang="en-US" sz="1500" dirty="0">
                <a:solidFill>
                  <a:srgbClr val="F3F3F1"/>
                </a:solidFill>
                <a:latin typeface="Arial" pitchFamily="34" charset="0"/>
                <a:ea typeface="Arial" pitchFamily="34" charset="-122"/>
                <a:cs typeface="Arial" pitchFamily="34" charset="-120"/>
              </a:rPr>
              <a:t>Run the comparison table and the side by side weights barplot.</a:t>
            </a:r>
            <a:endParaRPr lang="en-US" sz="1500" dirty="0"/>
          </a:p>
        </p:txBody>
      </p:sp>
      <p:sp>
        <p:nvSpPr>
          <p:cNvPr id="10" name="Text 8"/>
          <p:cNvSpPr/>
          <p:nvPr/>
        </p:nvSpPr>
        <p:spPr>
          <a:xfrm>
            <a:off x="914400" y="3172968"/>
            <a:ext cx="10332720" cy="685800"/>
          </a:xfrm>
          <a:prstGeom prst="rect">
            <a:avLst/>
          </a:prstGeom>
          <a:noFill/>
          <a:ln/>
        </p:spPr>
        <p:txBody>
          <a:bodyPr wrap="square" lIns="0" tIns="0" rIns="0" bIns="0" rtlCol="0" anchor="t"/>
          <a:lstStyle/>
          <a:p>
            <a:pPr indent="0" marL="0">
              <a:lnSpc>
                <a:spcPct val="100000"/>
              </a:lnSpc>
              <a:buNone/>
            </a:pPr>
            <a:r>
              <a:rPr lang="en-US" sz="1500" b="1" dirty="0">
                <a:solidFill>
                  <a:srgbClr val="4E84C4"/>
                </a:solidFill>
                <a:latin typeface="Arial" pitchFamily="34" charset="0"/>
                <a:ea typeface="Arial" pitchFamily="34" charset="-122"/>
                <a:cs typeface="Arial" pitchFamily="34" charset="-120"/>
              </a:rPr>
              <a:t>&gt; </a:t>
            </a:r>
            <a:pPr indent="0" marL="0">
              <a:lnSpc>
                <a:spcPct val="100000"/>
              </a:lnSpc>
              <a:buNone/>
            </a:pPr>
            <a:r>
              <a:rPr lang="en-US" sz="1500" dirty="0">
                <a:solidFill>
                  <a:srgbClr val="F3F3F1"/>
                </a:solidFill>
                <a:latin typeface="Arial" pitchFamily="34" charset="0"/>
                <a:ea typeface="Arial" pitchFamily="34" charset="-122"/>
                <a:cs typeface="Arial" pitchFamily="34" charset="-120"/>
              </a:rPr>
              <a:t>Write portfolio_summary.json, open it, walk the structure.</a:t>
            </a:r>
            <a:endParaRPr lang="en-US" sz="1500" dirty="0"/>
          </a:p>
        </p:txBody>
      </p:sp>
      <p:sp>
        <p:nvSpPr>
          <p:cNvPr id="11" name="Text 9"/>
          <p:cNvSpPr/>
          <p:nvPr/>
        </p:nvSpPr>
        <p:spPr>
          <a:xfrm>
            <a:off x="914400" y="4014216"/>
            <a:ext cx="10332720" cy="685800"/>
          </a:xfrm>
          <a:prstGeom prst="rect">
            <a:avLst/>
          </a:prstGeom>
          <a:noFill/>
          <a:ln/>
        </p:spPr>
        <p:txBody>
          <a:bodyPr wrap="square" lIns="0" tIns="0" rIns="0" bIns="0" rtlCol="0" anchor="t"/>
          <a:lstStyle/>
          <a:p>
            <a:pPr indent="0" marL="0">
              <a:lnSpc>
                <a:spcPct val="100000"/>
              </a:lnSpc>
              <a:buNone/>
            </a:pPr>
            <a:r>
              <a:rPr lang="en-US" sz="1500" b="1" dirty="0">
                <a:solidFill>
                  <a:srgbClr val="4E84C4"/>
                </a:solidFill>
                <a:latin typeface="Arial" pitchFamily="34" charset="0"/>
                <a:ea typeface="Arial" pitchFamily="34" charset="-122"/>
                <a:cs typeface="Arial" pitchFamily="34" charset="-120"/>
              </a:rPr>
              <a:t>&gt; </a:t>
            </a:r>
            <a:pPr indent="0" marL="0">
              <a:lnSpc>
                <a:spcPct val="100000"/>
              </a:lnSpc>
              <a:buNone/>
            </a:pPr>
            <a:r>
              <a:rPr lang="en-US" sz="1500" dirty="0">
                <a:solidFill>
                  <a:srgbClr val="F3F3F1"/>
                </a:solidFill>
                <a:latin typeface="Arial" pitchFamily="34" charset="0"/>
                <a:ea typeface="Arial" pitchFamily="34" charset="-122"/>
                <a:cs typeface="Arial" pitchFamily="34" charset="-120"/>
              </a:rPr>
              <a:t>Live: paste the JSON into a chatbot and read the plain English response aloud.</a:t>
            </a:r>
            <a:endParaRPr lang="en-US" sz="1500" dirty="0"/>
          </a:p>
        </p:txBody>
      </p:sp>
      <p:sp>
        <p:nvSpPr>
          <p:cNvPr id="12" name="Shape 10"/>
          <p:cNvSpPr/>
          <p:nvPr/>
        </p:nvSpPr>
        <p:spPr>
          <a:xfrm>
            <a:off x="640080" y="5440680"/>
            <a:ext cx="2377440" cy="457200"/>
          </a:xfrm>
          <a:prstGeom prst="roundRect">
            <a:avLst>
              <a:gd name="adj" fmla="val 50000"/>
            </a:avLst>
          </a:prstGeom>
          <a:solidFill>
            <a:srgbClr val="F3F3F1"/>
          </a:solidFill>
          <a:ln/>
        </p:spPr>
      </p:sp>
      <p:sp>
        <p:nvSpPr>
          <p:cNvPr id="13" name="Text 11"/>
          <p:cNvSpPr/>
          <p:nvPr/>
        </p:nvSpPr>
        <p:spPr>
          <a:xfrm>
            <a:off x="640080" y="5440680"/>
            <a:ext cx="2377440" cy="457200"/>
          </a:xfrm>
          <a:prstGeom prst="rect">
            <a:avLst/>
          </a:prstGeom>
          <a:noFill/>
          <a:ln/>
        </p:spPr>
        <p:txBody>
          <a:bodyPr wrap="square" lIns="0" tIns="0" rIns="0" bIns="0" rtlCol="0" anchor="ctr"/>
          <a:lstStyle/>
          <a:p>
            <a:pPr algn="ctr" indent="0" marL="0">
              <a:buNone/>
            </a:pPr>
            <a:r>
              <a:rPr lang="en-US" sz="1300" b="1" dirty="0">
                <a:solidFill>
                  <a:srgbClr val="293352"/>
                </a:solidFill>
                <a:latin typeface="Arial" pitchFamily="34" charset="0"/>
                <a:ea typeface="Arial" pitchFamily="34" charset="-122"/>
                <a:cs typeface="Arial" pitchFamily="34" charset="-120"/>
              </a:rPr>
              <a:t>⏱  about 7 minutes</a:t>
            </a:r>
            <a:endParaRPr lang="en-US" sz="1300" dirty="0"/>
          </a:p>
        </p:txBody>
      </p:sp>
      <p:sp>
        <p:nvSpPr>
          <p:cNvPr id="14"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15" name="Harvard Page Number"/>
          <p:cNvSpPr txBox="1"/>
          <p:nvPr/>
        </p:nvSpPr>
        <p:spPr>
          <a:xfrm>
            <a:off x="11730577" y="6446043"/>
            <a:ext cx="324104" cy="274638"/>
          </a:xfrm>
          <a:prstGeom prst="rect">
            <a:avLst/>
          </a:prstGeom>
          <a:noFill/>
        </p:spPr>
        <p:txBody>
          <a:bodyPr wrap="none" lIns="0" rIns="0" tIns="0" bIns="0">
            <a:noAutofit/>
          </a:bodyPr>
          <a:lstStyle/>
          <a:p>
            <a:pPr algn="r"/>
            <a:fld id="{6E8658AA-C763-4372-8FB8-BCA0EC6ADE6C}" type="slidenum">
              <a:rPr lang="en-US" sz="1000">
                <a:solidFill>
                  <a:srgbClr val="8996A0"/>
                </a:solidFill>
                <a:latin typeface="Arial"/>
              </a:rPr>
              <a:t>11</a:t>
            </a:fld>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WHY ANY OF THIS MATTERS</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The human review surface</a:t>
            </a:r>
            <a:endParaRPr lang="en-US" sz="2800" dirty="0"/>
          </a:p>
        </p:txBody>
      </p:sp>
      <p:sp>
        <p:nvSpPr>
          <p:cNvPr id="4" name="Shape 2"/>
          <p:cNvSpPr/>
          <p:nvPr/>
        </p:nvSpPr>
        <p:spPr>
          <a:xfrm>
            <a:off x="640080" y="1554480"/>
            <a:ext cx="6949440" cy="3474720"/>
          </a:xfrm>
          <a:prstGeom prst="roundRect">
            <a:avLst>
              <a:gd name="adj" fmla="val 2105"/>
            </a:avLst>
          </a:prstGeom>
          <a:solidFill>
            <a:srgbClr val="F3F3F1"/>
          </a:solidFill>
          <a:ln/>
        </p:spPr>
      </p:sp>
      <p:sp>
        <p:nvSpPr>
          <p:cNvPr id="5" name="Text 3"/>
          <p:cNvSpPr/>
          <p:nvPr/>
        </p:nvSpPr>
        <p:spPr>
          <a:xfrm>
            <a:off x="960120" y="1828800"/>
            <a:ext cx="6309360" cy="2926080"/>
          </a:xfrm>
          <a:prstGeom prst="rect">
            <a:avLst/>
          </a:prstGeom>
          <a:noFill/>
          <a:ln/>
        </p:spPr>
        <p:txBody>
          <a:bodyPr wrap="square" lIns="0" tIns="0" rIns="0" bIns="0" rtlCol="0" anchor="t"/>
          <a:lstStyle/>
          <a:p>
            <a:pPr indent="0" marL="0">
              <a:lnSpc>
                <a:spcPct val="110000"/>
              </a:lnSpc>
              <a:buNone/>
            </a:pPr>
            <a:r>
              <a:rPr lang="en-US" sz="1800" dirty="0">
                <a:solidFill>
                  <a:srgbClr val="1E1E1E"/>
                </a:solidFill>
                <a:latin typeface="Arial" pitchFamily="34" charset="0"/>
                <a:ea typeface="Arial" pitchFamily="34" charset="-122"/>
                <a:cs typeface="Arial" pitchFamily="34" charset="-120"/>
              </a:rPr>
              <a:t>All three portfolios are drafts, built from two years of history.
</a:t>
            </a:r>
            <a:pPr indent="0" marL="0">
              <a:lnSpc>
                <a:spcPct val="110000"/>
              </a:lnSpc>
              <a:buNone/>
            </a:pPr>
            <a:r>
              <a:rPr lang="en-US" sz="1800" dirty="0">
                <a:solidFill>
                  <a:srgbClr val="1E1E1E"/>
                </a:solidFill>
                <a:latin typeface="Arial" pitchFamily="34" charset="0"/>
                <a:ea typeface="Arial" pitchFamily="34" charset="-122"/>
                <a:cs typeface="Arial" pitchFamily="34" charset="-120"/>
              </a:rPr>
              <a:t>Before any of them touches real capital, a human reviews the weights, questions the inputs, and makes the call.
</a:t>
            </a:r>
            <a:pPr indent="0" marL="0">
              <a:lnSpc>
                <a:spcPct val="110000"/>
              </a:lnSpc>
              <a:buNone/>
            </a:pPr>
            <a:r>
              <a:rPr lang="en-US" sz="1800" b="1" dirty="0">
                <a:solidFill>
                  <a:srgbClr val="293352"/>
                </a:solidFill>
                <a:latin typeface="Arial" pitchFamily="34" charset="0"/>
                <a:ea typeface="Arial" pitchFamily="34" charset="-122"/>
                <a:cs typeface="Arial" pitchFamily="34" charset="-120"/>
              </a:rPr>
              <a:t>The JSON export is exactly where that review happens.</a:t>
            </a:r>
            <a:endParaRPr lang="en-US" sz="1800" dirty="0"/>
          </a:p>
        </p:txBody>
      </p:sp>
      <p:sp>
        <p:nvSpPr>
          <p:cNvPr id="6" name="Shape 4"/>
          <p:cNvSpPr/>
          <p:nvPr/>
        </p:nvSpPr>
        <p:spPr>
          <a:xfrm>
            <a:off x="7863840" y="1554480"/>
            <a:ext cx="3657600" cy="3474720"/>
          </a:xfrm>
          <a:prstGeom prst="roundRect">
            <a:avLst>
              <a:gd name="adj" fmla="val 2105"/>
            </a:avLst>
          </a:prstGeom>
          <a:solidFill>
            <a:srgbClr val="A51C30"/>
          </a:solidFill>
          <a:ln/>
        </p:spPr>
      </p:sp>
      <p:sp>
        <p:nvSpPr>
          <p:cNvPr id="7" name="Text 5"/>
          <p:cNvSpPr/>
          <p:nvPr/>
        </p:nvSpPr>
        <p:spPr>
          <a:xfrm>
            <a:off x="7863840" y="2286000"/>
            <a:ext cx="3657600" cy="914400"/>
          </a:xfrm>
          <a:prstGeom prst="rect">
            <a:avLst/>
          </a:prstGeom>
          <a:noFill/>
          <a:ln/>
        </p:spPr>
        <p:txBody>
          <a:bodyPr wrap="square" lIns="0" tIns="0" rIns="0" bIns="0" rtlCol="0" anchor="ctr"/>
          <a:lstStyle/>
          <a:p>
            <a:pPr algn="ctr" indent="0" marL="0">
              <a:buNone/>
            </a:pPr>
            <a:r>
              <a:rPr lang="en-US" sz="5200" b="1" dirty="0">
                <a:solidFill>
                  <a:srgbClr val="FFFFFF"/>
                </a:solidFill>
                <a:latin typeface="Arial" pitchFamily="34" charset="0"/>
                <a:ea typeface="Arial" pitchFamily="34" charset="-122"/>
                <a:cs typeface="Arial" pitchFamily="34" charset="-120"/>
              </a:rPr>
              <a:t>45 min</a:t>
            </a:r>
            <a:endParaRPr lang="en-US" sz="5200" dirty="0"/>
          </a:p>
        </p:txBody>
      </p:sp>
      <p:sp>
        <p:nvSpPr>
          <p:cNvPr id="8" name="Text 6"/>
          <p:cNvSpPr/>
          <p:nvPr/>
        </p:nvSpPr>
        <p:spPr>
          <a:xfrm>
            <a:off x="8138160" y="3291840"/>
            <a:ext cx="3108960" cy="1463040"/>
          </a:xfrm>
          <a:prstGeom prst="rect">
            <a:avLst/>
          </a:prstGeom>
          <a:noFill/>
          <a:ln/>
        </p:spPr>
        <p:txBody>
          <a:bodyPr wrap="square" lIns="0" tIns="0" rIns="0" bIns="0" rtlCol="0" anchor="t"/>
          <a:lstStyle/>
          <a:p>
            <a:pPr algn="ctr" indent="0" marL="0">
              <a:buNone/>
            </a:pPr>
            <a:r>
              <a:rPr lang="en-US" sz="1500" dirty="0">
                <a:solidFill>
                  <a:srgbClr val="FFFFFF"/>
                </a:solidFill>
                <a:latin typeface="Arial" pitchFamily="34" charset="0"/>
                <a:ea typeface="Arial" pitchFamily="34" charset="-122"/>
                <a:cs typeface="Arial" pitchFamily="34" charset="-120"/>
              </a:rPr>
              <a:t>is how long Knight Capital's automated logic ran without a human, before it cost them the firm.</a:t>
            </a:r>
            <a:endParaRPr lang="en-US" sz="1500" dirty="0"/>
          </a:p>
        </p:txBody>
      </p:sp>
      <p:sp>
        <p:nvSpPr>
          <p:cNvPr id="9"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10" name="Harvard Page Number"/>
          <p:cNvSpPr txBox="1"/>
          <p:nvPr/>
        </p:nvSpPr>
        <p:spPr>
          <a:xfrm>
            <a:off x="11730577" y="6446043"/>
            <a:ext cx="324104" cy="274638"/>
          </a:xfrm>
          <a:prstGeom prst="rect">
            <a:avLst/>
          </a:prstGeom>
          <a:noFill/>
        </p:spPr>
        <p:txBody>
          <a:bodyPr wrap="none" lIns="0" rIns="0" tIns="0" bIns="0">
            <a:noAutofit/>
          </a:bodyPr>
          <a:lstStyle/>
          <a:p>
            <a:pPr algn="r"/>
            <a:fld id="{5014FA07-C91C-4691-A49E-EE34D31F7245}" type="slidenum">
              <a:rPr lang="en-US" sz="1000">
                <a:solidFill>
                  <a:srgbClr val="8996A0"/>
                </a:solidFill>
                <a:latin typeface="Arial"/>
              </a:rPr>
              <a:t>12</a:t>
            </a:fld>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A51C30"/>
        </a:solidFill>
        <a:effectLst/>
      </p:bgPr>
    </p:bg>
    <p:spTree>
      <p:nvGrpSpPr>
        <p:cNvPr id="1" name=""/>
        <p:cNvGrpSpPr/>
        <p:nvPr/>
      </p:nvGrpSpPr>
      <p:grpSpPr>
        <a:xfrm>
          <a:off x="0" y="0"/>
          <a:ext cx="0" cy="0"/>
          <a:chOff x="0" y="0"/>
          <a:chExt cx="0" cy="0"/>
        </a:xfrm>
      </p:grpSpPr>
      <p:sp>
        <p:nvSpPr>
          <p:cNvPr id="2" name="Text 0"/>
          <p:cNvSpPr/>
          <p:nvPr/>
        </p:nvSpPr>
        <p:spPr>
          <a:xfrm>
            <a:off x="731520" y="2011680"/>
            <a:ext cx="10698480" cy="457200"/>
          </a:xfrm>
          <a:prstGeom prst="rect">
            <a:avLst/>
          </a:prstGeom>
          <a:noFill/>
          <a:ln/>
        </p:spPr>
        <p:txBody>
          <a:bodyPr wrap="square" lIns="0" tIns="0" rIns="0" bIns="0" rtlCol="0" anchor="ctr"/>
          <a:lstStyle/>
          <a:p>
            <a:pPr indent="0" marL="0">
              <a:buNone/>
            </a:pPr>
            <a:r>
              <a:rPr lang="en-US" sz="1600" b="1" spc="200" kern="0" dirty="0">
                <a:solidFill>
                  <a:srgbClr val="FFFFFF"/>
                </a:solidFill>
                <a:latin typeface="Arial" pitchFamily="34" charset="0"/>
                <a:ea typeface="Arial" pitchFamily="34" charset="-122"/>
                <a:cs typeface="Arial" pitchFamily="34" charset="-120"/>
              </a:rPr>
              <a:t>HOUR 2  ·  9:00 TO 10:00</a:t>
            </a:r>
            <a:endParaRPr lang="en-US" sz="1600" dirty="0"/>
          </a:p>
        </p:txBody>
      </p:sp>
      <p:sp>
        <p:nvSpPr>
          <p:cNvPr id="3" name="Text 1"/>
          <p:cNvSpPr/>
          <p:nvPr/>
        </p:nvSpPr>
        <p:spPr>
          <a:xfrm>
            <a:off x="731520" y="2468880"/>
            <a:ext cx="10698480" cy="128016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How Relationships Change Over Time</a:t>
            </a:r>
            <a:endParaRPr lang="en-US" sz="4000" dirty="0"/>
          </a:p>
        </p:txBody>
      </p:sp>
      <p:sp>
        <p:nvSpPr>
          <p:cNvPr id="4" name="Text 2"/>
          <p:cNvSpPr/>
          <p:nvPr/>
        </p:nvSpPr>
        <p:spPr>
          <a:xfrm>
            <a:off x="731520" y="3749040"/>
            <a:ext cx="10698480" cy="914400"/>
          </a:xfrm>
          <a:prstGeom prst="rect">
            <a:avLst/>
          </a:prstGeom>
          <a:noFill/>
          <a:ln/>
        </p:spPr>
        <p:txBody>
          <a:bodyPr wrap="square" lIns="0" tIns="0" rIns="0" bIns="0" rtlCol="0" anchor="ctr"/>
          <a:lstStyle/>
          <a:p>
            <a:pPr indent="0" marL="0">
              <a:buNone/>
            </a:pPr>
            <a:r>
              <a:rPr lang="en-US" sz="2000" dirty="0">
                <a:solidFill>
                  <a:srgbClr val="FFFFFF"/>
                </a:solidFill>
                <a:latin typeface="Arial" pitchFamily="34" charset="0"/>
                <a:ea typeface="Arial" pitchFamily="34" charset="-122"/>
                <a:cs typeface="Arial" pitchFamily="34" charset="-120"/>
              </a:rPr>
              <a:t>The optimizer used one average correlation. What did that single number hide?</a:t>
            </a:r>
            <a:endParaRPr lang="en-US" sz="2000" dirty="0"/>
          </a:p>
        </p:txBody>
      </p:sp>
      <p:sp>
        <p:nvSpPr>
          <p:cNvPr id="5"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F3F3F1"/>
                </a:solidFill>
                <a:latin typeface="Arial"/>
              </a:rPr>
              <a:t>© 2026 Ted Kwartler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SCRIPTS E AND F</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The hour as one pipeline</a:t>
            </a:r>
            <a:endParaRPr lang="en-US" sz="2800" dirty="0"/>
          </a:p>
        </p:txBody>
      </p:sp>
      <p:sp>
        <p:nvSpPr>
          <p:cNvPr id="4" name="Shape 2"/>
          <p:cNvSpPr/>
          <p:nvPr/>
        </p:nvSpPr>
        <p:spPr>
          <a:xfrm>
            <a:off x="640080" y="2148840"/>
            <a:ext cx="3108960" cy="2468880"/>
          </a:xfrm>
          <a:prstGeom prst="roundRect">
            <a:avLst>
              <a:gd name="adj" fmla="val 2593"/>
            </a:avLst>
          </a:prstGeom>
          <a:solidFill>
            <a:srgbClr val="293352"/>
          </a:solidFill>
          <a:ln/>
        </p:spPr>
      </p:sp>
      <p:sp>
        <p:nvSpPr>
          <p:cNvPr id="5" name="Shape 3"/>
          <p:cNvSpPr/>
          <p:nvPr/>
        </p:nvSpPr>
        <p:spPr>
          <a:xfrm>
            <a:off x="1911096" y="2468880"/>
            <a:ext cx="566928" cy="566928"/>
          </a:xfrm>
          <a:prstGeom prst="roundRect">
            <a:avLst>
              <a:gd name="adj" fmla="val 14516"/>
            </a:avLst>
          </a:prstGeom>
          <a:solidFill>
            <a:srgbClr val="A51C30"/>
          </a:solidFill>
          <a:ln/>
        </p:spPr>
      </p:sp>
      <p:pic>
        <p:nvPicPr>
          <p:cNvPr id="6" name="Image 0" descr="preencoded.png">    </p:cNvPr>
          <p:cNvPicPr>
            <a:picLocks noChangeAspect="1"/>
          </p:cNvPicPr>
          <p:nvPr/>
        </p:nvPicPr>
        <p:blipFill>
          <a:blip r:embed="rId1"/>
          <a:stretch>
            <a:fillRect/>
          </a:stretch>
        </p:blipFill>
        <p:spPr>
          <a:xfrm>
            <a:off x="2038655" y="2596439"/>
            <a:ext cx="311810" cy="311810"/>
          </a:xfrm>
          <a:prstGeom prst="rect">
            <a:avLst/>
          </a:prstGeom>
        </p:spPr>
      </p:pic>
      <p:sp>
        <p:nvSpPr>
          <p:cNvPr id="7" name="Text 4"/>
          <p:cNvSpPr/>
          <p:nvPr/>
        </p:nvSpPr>
        <p:spPr>
          <a:xfrm>
            <a:off x="777240" y="3200400"/>
            <a:ext cx="2834640" cy="548640"/>
          </a:xfrm>
          <a:prstGeom prst="rect">
            <a:avLst/>
          </a:prstGeom>
          <a:noFill/>
          <a:ln/>
        </p:spPr>
        <p:txBody>
          <a:bodyPr wrap="square" lIns="0" tIns="0" rIns="0" bIns="0" rtlCol="0" anchor="t"/>
          <a:lstStyle/>
          <a:p>
            <a:pPr algn="ctr" indent="0" marL="0">
              <a:buNone/>
            </a:pPr>
            <a:r>
              <a:rPr lang="en-US" sz="1500" b="1" dirty="0">
                <a:solidFill>
                  <a:srgbClr val="FFFFFF"/>
                </a:solidFill>
                <a:latin typeface="Arial" pitchFamily="34" charset="0"/>
                <a:ea typeface="Arial" pitchFamily="34" charset="-122"/>
                <a:cs typeface="Arial" pitchFamily="34" charset="-120"/>
              </a:rPr>
              <a:t>E  Rolling correlation</a:t>
            </a:r>
            <a:endParaRPr lang="en-US" sz="1500" dirty="0"/>
          </a:p>
        </p:txBody>
      </p:sp>
      <p:sp>
        <p:nvSpPr>
          <p:cNvPr id="8" name="Text 5"/>
          <p:cNvSpPr/>
          <p:nvPr/>
        </p:nvSpPr>
        <p:spPr>
          <a:xfrm>
            <a:off x="822960" y="3703320"/>
            <a:ext cx="2743200" cy="822960"/>
          </a:xfrm>
          <a:prstGeom prst="rect">
            <a:avLst/>
          </a:prstGeom>
          <a:noFill/>
          <a:ln/>
        </p:spPr>
        <p:txBody>
          <a:bodyPr wrap="square" lIns="0" tIns="0" rIns="0" bIns="0" rtlCol="0" anchor="t"/>
          <a:lstStyle/>
          <a:p>
            <a:pPr algn="ctr" indent="0" marL="0">
              <a:buNone/>
            </a:pPr>
            <a:r>
              <a:rPr lang="en-US" sz="1150" dirty="0">
                <a:solidFill>
                  <a:srgbClr val="F3F3F1"/>
                </a:solidFill>
                <a:latin typeface="Arial" pitchFamily="34" charset="0"/>
                <a:ea typeface="Arial" pitchFamily="34" charset="-122"/>
                <a:cs typeface="Arial" pitchFamily="34" charset="-120"/>
              </a:rPr>
              <a:t>Every pair, at two window lengths</a:t>
            </a:r>
            <a:endParaRPr lang="en-US" sz="1150" dirty="0"/>
          </a:p>
        </p:txBody>
      </p:sp>
      <p:sp>
        <p:nvSpPr>
          <p:cNvPr id="9" name="Text 6"/>
          <p:cNvSpPr/>
          <p:nvPr/>
        </p:nvSpPr>
        <p:spPr>
          <a:xfrm>
            <a:off x="3749040" y="3063240"/>
            <a:ext cx="822960" cy="640080"/>
          </a:xfrm>
          <a:prstGeom prst="rect">
            <a:avLst/>
          </a:prstGeom>
          <a:noFill/>
          <a:ln/>
        </p:spPr>
        <p:txBody>
          <a:bodyPr wrap="square" lIns="0" tIns="0" rIns="0" bIns="0" rtlCol="0" anchor="ctr"/>
          <a:lstStyle/>
          <a:p>
            <a:pPr algn="ctr" indent="0" marL="0">
              <a:buNone/>
            </a:pPr>
            <a:r>
              <a:rPr lang="en-US" sz="2600" b="1" dirty="0">
                <a:solidFill>
                  <a:srgbClr val="8996A0"/>
                </a:solidFill>
                <a:latin typeface="Arial" pitchFamily="34" charset="0"/>
                <a:ea typeface="Arial" pitchFamily="34" charset="-122"/>
                <a:cs typeface="Arial" pitchFamily="34" charset="-120"/>
              </a:rPr>
              <a:t>→</a:t>
            </a:r>
            <a:endParaRPr lang="en-US" sz="2600" dirty="0"/>
          </a:p>
        </p:txBody>
      </p:sp>
      <p:sp>
        <p:nvSpPr>
          <p:cNvPr id="10" name="Shape 7"/>
          <p:cNvSpPr/>
          <p:nvPr/>
        </p:nvSpPr>
        <p:spPr>
          <a:xfrm>
            <a:off x="4572000" y="2148840"/>
            <a:ext cx="3108960" cy="2468880"/>
          </a:xfrm>
          <a:prstGeom prst="roundRect">
            <a:avLst>
              <a:gd name="adj" fmla="val 2593"/>
            </a:avLst>
          </a:prstGeom>
          <a:solidFill>
            <a:srgbClr val="F3F3F1"/>
          </a:solidFill>
          <a:ln/>
        </p:spPr>
      </p:sp>
      <p:sp>
        <p:nvSpPr>
          <p:cNvPr id="11" name="Shape 8"/>
          <p:cNvSpPr/>
          <p:nvPr/>
        </p:nvSpPr>
        <p:spPr>
          <a:xfrm>
            <a:off x="5843016" y="2468880"/>
            <a:ext cx="566928" cy="566928"/>
          </a:xfrm>
          <a:prstGeom prst="roundRect">
            <a:avLst>
              <a:gd name="adj" fmla="val 14516"/>
            </a:avLst>
          </a:prstGeom>
          <a:solidFill>
            <a:srgbClr val="293352"/>
          </a:solidFill>
          <a:ln/>
        </p:spPr>
      </p:sp>
      <p:pic>
        <p:nvPicPr>
          <p:cNvPr id="12" name="Image 1" descr="preencoded.png">    </p:cNvPr>
          <p:cNvPicPr>
            <a:picLocks noChangeAspect="1"/>
          </p:cNvPicPr>
          <p:nvPr/>
        </p:nvPicPr>
        <p:blipFill>
          <a:blip r:embed="rId2"/>
          <a:stretch>
            <a:fillRect/>
          </a:stretch>
        </p:blipFill>
        <p:spPr>
          <a:xfrm>
            <a:off x="5970575" y="2596439"/>
            <a:ext cx="311810" cy="311810"/>
          </a:xfrm>
          <a:prstGeom prst="rect">
            <a:avLst/>
          </a:prstGeom>
        </p:spPr>
      </p:pic>
      <p:sp>
        <p:nvSpPr>
          <p:cNvPr id="13" name="Text 9"/>
          <p:cNvSpPr/>
          <p:nvPr/>
        </p:nvSpPr>
        <p:spPr>
          <a:xfrm>
            <a:off x="4709160" y="3200400"/>
            <a:ext cx="2834640" cy="548640"/>
          </a:xfrm>
          <a:prstGeom prst="rect">
            <a:avLst/>
          </a:prstGeom>
          <a:noFill/>
          <a:ln/>
        </p:spPr>
        <p:txBody>
          <a:bodyPr wrap="square" lIns="0" tIns="0" rIns="0" bIns="0" rtlCol="0" anchor="t"/>
          <a:lstStyle/>
          <a:p>
            <a:pPr algn="ctr" indent="0" marL="0">
              <a:buNone/>
            </a:pPr>
            <a:r>
              <a:rPr lang="en-US" sz="1500" b="1" dirty="0">
                <a:solidFill>
                  <a:srgbClr val="293352"/>
                </a:solidFill>
                <a:latin typeface="Arial" pitchFamily="34" charset="0"/>
                <a:ea typeface="Arial" pitchFamily="34" charset="-122"/>
                <a:cs typeface="Arial" pitchFamily="34" charset="-120"/>
              </a:rPr>
              <a:t>F  Rolling diagnostics</a:t>
            </a:r>
            <a:endParaRPr lang="en-US" sz="1500" dirty="0"/>
          </a:p>
        </p:txBody>
      </p:sp>
      <p:sp>
        <p:nvSpPr>
          <p:cNvPr id="14" name="Text 10"/>
          <p:cNvSpPr/>
          <p:nvPr/>
        </p:nvSpPr>
        <p:spPr>
          <a:xfrm>
            <a:off x="4754880" y="3703320"/>
            <a:ext cx="2743200" cy="822960"/>
          </a:xfrm>
          <a:prstGeom prst="rect">
            <a:avLst/>
          </a:prstGeom>
          <a:noFill/>
          <a:ln/>
        </p:spPr>
        <p:txBody>
          <a:bodyPr wrap="square" lIns="0" tIns="0" rIns="0" bIns="0" rtlCol="0" anchor="t"/>
          <a:lstStyle/>
          <a:p>
            <a:pPr algn="ctr" indent="0" marL="0">
              <a:buNone/>
            </a:pPr>
            <a:r>
              <a:rPr lang="en-US" sz="1150" dirty="0">
                <a:solidFill>
                  <a:srgbClr val="1E1E1E"/>
                </a:solidFill>
                <a:latin typeface="Arial" pitchFamily="34" charset="0"/>
                <a:ea typeface="Arial" pitchFamily="34" charset="-122"/>
                <a:cs typeface="Arial" pitchFamily="34" charset="-120"/>
              </a:rPr>
              <a:t>Rolling Sharpe and rolling beta</a:t>
            </a:r>
            <a:endParaRPr lang="en-US" sz="1150" dirty="0"/>
          </a:p>
        </p:txBody>
      </p:sp>
      <p:sp>
        <p:nvSpPr>
          <p:cNvPr id="15" name="Text 11"/>
          <p:cNvSpPr/>
          <p:nvPr/>
        </p:nvSpPr>
        <p:spPr>
          <a:xfrm>
            <a:off x="7680960" y="3063240"/>
            <a:ext cx="822960" cy="640080"/>
          </a:xfrm>
          <a:prstGeom prst="rect">
            <a:avLst/>
          </a:prstGeom>
          <a:noFill/>
          <a:ln/>
        </p:spPr>
        <p:txBody>
          <a:bodyPr wrap="square" lIns="0" tIns="0" rIns="0" bIns="0" rtlCol="0" anchor="ctr"/>
          <a:lstStyle/>
          <a:p>
            <a:pPr algn="ctr" indent="0" marL="0">
              <a:buNone/>
            </a:pPr>
            <a:r>
              <a:rPr lang="en-US" sz="2600" b="1" dirty="0">
                <a:solidFill>
                  <a:srgbClr val="8996A0"/>
                </a:solidFill>
                <a:latin typeface="Arial" pitchFamily="34" charset="0"/>
                <a:ea typeface="Arial" pitchFamily="34" charset="-122"/>
                <a:cs typeface="Arial" pitchFamily="34" charset="-120"/>
              </a:rPr>
              <a:t>→</a:t>
            </a:r>
            <a:endParaRPr lang="en-US" sz="2600" dirty="0"/>
          </a:p>
        </p:txBody>
      </p:sp>
      <p:sp>
        <p:nvSpPr>
          <p:cNvPr id="16" name="Shape 12"/>
          <p:cNvSpPr/>
          <p:nvPr/>
        </p:nvSpPr>
        <p:spPr>
          <a:xfrm>
            <a:off x="8503920" y="2148840"/>
            <a:ext cx="3108960" cy="2468880"/>
          </a:xfrm>
          <a:prstGeom prst="roundRect">
            <a:avLst>
              <a:gd name="adj" fmla="val 2593"/>
            </a:avLst>
          </a:prstGeom>
          <a:solidFill>
            <a:srgbClr val="F3F3F1"/>
          </a:solidFill>
          <a:ln/>
        </p:spPr>
      </p:sp>
      <p:sp>
        <p:nvSpPr>
          <p:cNvPr id="17" name="Shape 13"/>
          <p:cNvSpPr/>
          <p:nvPr/>
        </p:nvSpPr>
        <p:spPr>
          <a:xfrm>
            <a:off x="9774936" y="2468880"/>
            <a:ext cx="566928" cy="566928"/>
          </a:xfrm>
          <a:prstGeom prst="roundRect">
            <a:avLst>
              <a:gd name="adj" fmla="val 14516"/>
            </a:avLst>
          </a:prstGeom>
          <a:solidFill>
            <a:srgbClr val="293352"/>
          </a:solidFill>
          <a:ln/>
        </p:spPr>
      </p:sp>
      <p:pic>
        <p:nvPicPr>
          <p:cNvPr id="18" name="Image 2" descr="preencoded.png">    </p:cNvPr>
          <p:cNvPicPr>
            <a:picLocks noChangeAspect="1"/>
          </p:cNvPicPr>
          <p:nvPr/>
        </p:nvPicPr>
        <p:blipFill>
          <a:blip r:embed="rId3"/>
          <a:stretch>
            <a:fillRect/>
          </a:stretch>
        </p:blipFill>
        <p:spPr>
          <a:xfrm>
            <a:off x="9902495" y="2596439"/>
            <a:ext cx="311810" cy="311810"/>
          </a:xfrm>
          <a:prstGeom prst="rect">
            <a:avLst/>
          </a:prstGeom>
        </p:spPr>
      </p:pic>
      <p:sp>
        <p:nvSpPr>
          <p:cNvPr id="19" name="Text 14"/>
          <p:cNvSpPr/>
          <p:nvPr/>
        </p:nvSpPr>
        <p:spPr>
          <a:xfrm>
            <a:off x="8641080" y="3200400"/>
            <a:ext cx="2834640" cy="548640"/>
          </a:xfrm>
          <a:prstGeom prst="rect">
            <a:avLst/>
          </a:prstGeom>
          <a:noFill/>
          <a:ln/>
        </p:spPr>
        <p:txBody>
          <a:bodyPr wrap="square" lIns="0" tIns="0" rIns="0" bIns="0" rtlCol="0" anchor="t"/>
          <a:lstStyle/>
          <a:p>
            <a:pPr algn="ctr" indent="0" marL="0">
              <a:buNone/>
            </a:pPr>
            <a:r>
              <a:rPr lang="en-US" sz="1500" b="1" dirty="0">
                <a:solidFill>
                  <a:srgbClr val="293352"/>
                </a:solidFill>
                <a:latin typeface="Arial" pitchFamily="34" charset="0"/>
                <a:ea typeface="Arial" pitchFamily="34" charset="-122"/>
                <a:cs typeface="Arial" pitchFamily="34" charset="-120"/>
              </a:rPr>
              <a:t>Export</a:t>
            </a:r>
            <a:endParaRPr lang="en-US" sz="1500" dirty="0"/>
          </a:p>
        </p:txBody>
      </p:sp>
      <p:sp>
        <p:nvSpPr>
          <p:cNvPr id="20" name="Text 15"/>
          <p:cNvSpPr/>
          <p:nvPr/>
        </p:nvSpPr>
        <p:spPr>
          <a:xfrm>
            <a:off x="8686800" y="3703320"/>
            <a:ext cx="2743200" cy="822960"/>
          </a:xfrm>
          <a:prstGeom prst="rect">
            <a:avLst/>
          </a:prstGeom>
          <a:noFill/>
          <a:ln/>
        </p:spPr>
        <p:txBody>
          <a:bodyPr wrap="square" lIns="0" tIns="0" rIns="0" bIns="0" rtlCol="0" anchor="t"/>
          <a:lstStyle/>
          <a:p>
            <a:pPr algn="ctr" indent="0" marL="0">
              <a:buNone/>
            </a:pPr>
            <a:r>
              <a:rPr lang="en-US" sz="1150" dirty="0">
                <a:solidFill>
                  <a:srgbClr val="1E1E1E"/>
                </a:solidFill>
                <a:latin typeface="Arial" pitchFamily="34" charset="0"/>
                <a:ea typeface="Arial" pitchFamily="34" charset="-122"/>
                <a:cs typeface="Arial" pitchFamily="34" charset="-120"/>
              </a:rPr>
              <a:t>The monitoring surface, for a person or an LLM</a:t>
            </a:r>
            <a:endParaRPr lang="en-US" sz="1150" dirty="0"/>
          </a:p>
        </p:txBody>
      </p:sp>
      <p:sp>
        <p:nvSpPr>
          <p:cNvPr id="21" name="Text 16"/>
          <p:cNvSpPr/>
          <p:nvPr/>
        </p:nvSpPr>
        <p:spPr>
          <a:xfrm>
            <a:off x="640080" y="5120640"/>
            <a:ext cx="10881360" cy="548640"/>
          </a:xfrm>
          <a:prstGeom prst="rect">
            <a:avLst/>
          </a:prstGeom>
          <a:noFill/>
          <a:ln/>
        </p:spPr>
        <p:txBody>
          <a:bodyPr wrap="square" lIns="0" tIns="0" rIns="0" bIns="0" rtlCol="0" anchor="ctr"/>
          <a:lstStyle/>
          <a:p>
            <a:pPr algn="ctr" indent="0" marL="0">
              <a:buNone/>
            </a:pPr>
            <a:r>
              <a:rPr lang="en-US" sz="1400" i="1" dirty="0">
                <a:solidFill>
                  <a:srgbClr val="8996A0"/>
                </a:solidFill>
                <a:latin typeface="Arial" pitchFamily="34" charset="0"/>
                <a:ea typeface="Arial" pitchFamily="34" charset="-122"/>
                <a:cs typeface="Arial" pitchFamily="34" charset="-120"/>
              </a:rPr>
              <a:t>The same split as Hour 1, and the bridge to the live app in Hour 3.</a:t>
            </a:r>
            <a:endParaRPr lang="en-US" sz="1400" dirty="0"/>
          </a:p>
        </p:txBody>
      </p:sp>
      <p:sp>
        <p:nvSpPr>
          <p:cNvPr id="22"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23" name="Harvard Page Number"/>
          <p:cNvSpPr txBox="1"/>
          <p:nvPr/>
        </p:nvSpPr>
        <p:spPr>
          <a:xfrm>
            <a:off x="11730577" y="6446043"/>
            <a:ext cx="324104" cy="274638"/>
          </a:xfrm>
          <a:prstGeom prst="rect">
            <a:avLst/>
          </a:prstGeom>
          <a:noFill/>
        </p:spPr>
        <p:txBody>
          <a:bodyPr wrap="none" lIns="0" rIns="0" tIns="0" bIns="0">
            <a:noAutofit/>
          </a:bodyPr>
          <a:lstStyle/>
          <a:p>
            <a:pPr algn="r"/>
            <a:fld id="{46B8D4D7-3B4C-4EF4-97FF-33FD8B65CF53}" type="slidenum">
              <a:rPr lang="en-US" sz="1000">
                <a:solidFill>
                  <a:srgbClr val="8996A0"/>
                </a:solidFill>
                <a:latin typeface="Arial"/>
              </a:rPr>
              <a:t>14</a:t>
            </a:fld>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TWO WINDOWS, TEN PAIRS</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Script E: rolling correlation</a:t>
            </a:r>
            <a:endParaRPr lang="en-US" sz="2800" dirty="0"/>
          </a:p>
        </p:txBody>
      </p:sp>
      <p:sp>
        <p:nvSpPr>
          <p:cNvPr id="4" name="Shape 2"/>
          <p:cNvSpPr/>
          <p:nvPr/>
        </p:nvSpPr>
        <p:spPr>
          <a:xfrm>
            <a:off x="640080" y="1600200"/>
            <a:ext cx="5257800" cy="1965960"/>
          </a:xfrm>
          <a:prstGeom prst="roundRect">
            <a:avLst>
              <a:gd name="adj" fmla="val 2791"/>
            </a:avLst>
          </a:prstGeom>
          <a:solidFill>
            <a:srgbClr val="F3F3F1"/>
          </a:solidFill>
          <a:ln/>
        </p:spPr>
      </p:sp>
      <p:sp>
        <p:nvSpPr>
          <p:cNvPr id="5" name="Shape 3"/>
          <p:cNvSpPr/>
          <p:nvPr/>
        </p:nvSpPr>
        <p:spPr>
          <a:xfrm>
            <a:off x="914400" y="1874520"/>
            <a:ext cx="548640" cy="548640"/>
          </a:xfrm>
          <a:prstGeom prst="roundRect">
            <a:avLst>
              <a:gd name="adj" fmla="val 15000"/>
            </a:avLst>
          </a:prstGeom>
          <a:solidFill>
            <a:srgbClr val="293352"/>
          </a:solidFill>
          <a:ln/>
        </p:spPr>
      </p:sp>
      <p:pic>
        <p:nvPicPr>
          <p:cNvPr id="6" name="Image 0" descr="preencoded.png">    </p:cNvPr>
          <p:cNvPicPr>
            <a:picLocks noChangeAspect="1"/>
          </p:cNvPicPr>
          <p:nvPr/>
        </p:nvPicPr>
        <p:blipFill>
          <a:blip r:embed="rId1"/>
          <a:stretch>
            <a:fillRect/>
          </a:stretch>
        </p:blipFill>
        <p:spPr>
          <a:xfrm>
            <a:off x="1037844" y="1997964"/>
            <a:ext cx="301752" cy="301752"/>
          </a:xfrm>
          <a:prstGeom prst="rect">
            <a:avLst/>
          </a:prstGeom>
        </p:spPr>
      </p:pic>
      <p:sp>
        <p:nvSpPr>
          <p:cNvPr id="7" name="Text 4"/>
          <p:cNvSpPr/>
          <p:nvPr/>
        </p:nvSpPr>
        <p:spPr>
          <a:xfrm>
            <a:off x="1645920" y="1856232"/>
            <a:ext cx="4023360" cy="548640"/>
          </a:xfrm>
          <a:prstGeom prst="rect">
            <a:avLst/>
          </a:prstGeom>
          <a:noFill/>
          <a:ln/>
        </p:spPr>
        <p:txBody>
          <a:bodyPr wrap="square" lIns="0" tIns="0" rIns="0" bIns="0" rtlCol="0" anchor="ctr"/>
          <a:lstStyle/>
          <a:p>
            <a:pPr indent="0" marL="0">
              <a:buNone/>
            </a:pPr>
            <a:r>
              <a:rPr lang="en-US" sz="1600" b="1" dirty="0">
                <a:solidFill>
                  <a:srgbClr val="293352"/>
                </a:solidFill>
                <a:latin typeface="Arial" pitchFamily="34" charset="0"/>
                <a:ea typeface="Arial" pitchFamily="34" charset="-122"/>
                <a:cs typeface="Arial" pitchFamily="34" charset="-120"/>
              </a:rPr>
              <a:t>30 day vs 90 day</a:t>
            </a:r>
            <a:endParaRPr lang="en-US" sz="1600" dirty="0"/>
          </a:p>
        </p:txBody>
      </p:sp>
      <p:sp>
        <p:nvSpPr>
          <p:cNvPr id="8" name="Text 5"/>
          <p:cNvSpPr/>
          <p:nvPr/>
        </p:nvSpPr>
        <p:spPr>
          <a:xfrm>
            <a:off x="914400" y="2514600"/>
            <a:ext cx="4709160" cy="914400"/>
          </a:xfrm>
          <a:prstGeom prst="rect">
            <a:avLst/>
          </a:prstGeom>
          <a:noFill/>
          <a:ln/>
        </p:spPr>
        <p:txBody>
          <a:bodyPr wrap="square" lIns="0" tIns="0" rIns="0" bIns="0" rtlCol="0" anchor="t"/>
          <a:lstStyle/>
          <a:p>
            <a:pPr indent="0" marL="0">
              <a:buNone/>
            </a:pPr>
            <a:r>
              <a:rPr lang="en-US" sz="1350" dirty="0">
                <a:solidFill>
                  <a:srgbClr val="1E1E1E"/>
                </a:solidFill>
                <a:latin typeface="Arial" pitchFamily="34" charset="0"/>
                <a:ea typeface="Arial" pitchFamily="34" charset="-122"/>
                <a:cs typeface="Arial" pitchFamily="34" charset="-120"/>
              </a:rPr>
              <a:t>Short is reactive but noisy. Long is smooth but slow to reveal a real change.</a:t>
            </a:r>
            <a:endParaRPr lang="en-US" sz="1350" dirty="0"/>
          </a:p>
        </p:txBody>
      </p:sp>
      <p:sp>
        <p:nvSpPr>
          <p:cNvPr id="9" name="Shape 6"/>
          <p:cNvSpPr/>
          <p:nvPr/>
        </p:nvSpPr>
        <p:spPr>
          <a:xfrm>
            <a:off x="6263640" y="1600200"/>
            <a:ext cx="5257800" cy="1965960"/>
          </a:xfrm>
          <a:prstGeom prst="roundRect">
            <a:avLst>
              <a:gd name="adj" fmla="val 2791"/>
            </a:avLst>
          </a:prstGeom>
          <a:solidFill>
            <a:srgbClr val="F3F3F1"/>
          </a:solidFill>
          <a:ln/>
        </p:spPr>
      </p:sp>
      <p:sp>
        <p:nvSpPr>
          <p:cNvPr id="10" name="Shape 7"/>
          <p:cNvSpPr/>
          <p:nvPr/>
        </p:nvSpPr>
        <p:spPr>
          <a:xfrm>
            <a:off x="6537960" y="1874520"/>
            <a:ext cx="548640" cy="548640"/>
          </a:xfrm>
          <a:prstGeom prst="roundRect">
            <a:avLst>
              <a:gd name="adj" fmla="val 15000"/>
            </a:avLst>
          </a:prstGeom>
          <a:solidFill>
            <a:srgbClr val="A51C30"/>
          </a:solidFill>
          <a:ln/>
        </p:spPr>
      </p:sp>
      <p:pic>
        <p:nvPicPr>
          <p:cNvPr id="11" name="Image 1" descr="preencoded.png">    </p:cNvPr>
          <p:cNvPicPr>
            <a:picLocks noChangeAspect="1"/>
          </p:cNvPicPr>
          <p:nvPr/>
        </p:nvPicPr>
        <p:blipFill>
          <a:blip r:embed="rId2"/>
          <a:stretch>
            <a:fillRect/>
          </a:stretch>
        </p:blipFill>
        <p:spPr>
          <a:xfrm>
            <a:off x="6661404" y="1997964"/>
            <a:ext cx="301752" cy="301752"/>
          </a:xfrm>
          <a:prstGeom prst="rect">
            <a:avLst/>
          </a:prstGeom>
        </p:spPr>
      </p:pic>
      <p:sp>
        <p:nvSpPr>
          <p:cNvPr id="12" name="Text 8"/>
          <p:cNvSpPr/>
          <p:nvPr/>
        </p:nvSpPr>
        <p:spPr>
          <a:xfrm>
            <a:off x="7269480" y="1856232"/>
            <a:ext cx="4023360" cy="548640"/>
          </a:xfrm>
          <a:prstGeom prst="rect">
            <a:avLst/>
          </a:prstGeom>
          <a:noFill/>
          <a:ln/>
        </p:spPr>
        <p:txBody>
          <a:bodyPr wrap="square" lIns="0" tIns="0" rIns="0" bIns="0" rtlCol="0" anchor="ctr"/>
          <a:lstStyle/>
          <a:p>
            <a:pPr indent="0" marL="0">
              <a:buNone/>
            </a:pPr>
            <a:r>
              <a:rPr lang="en-US" sz="1600" b="1" dirty="0">
                <a:solidFill>
                  <a:srgbClr val="293352"/>
                </a:solidFill>
                <a:latin typeface="Arial" pitchFamily="34" charset="0"/>
                <a:ea typeface="Arial" pitchFamily="34" charset="-122"/>
                <a:cs typeface="Arial" pitchFamily="34" charset="-120"/>
              </a:rPr>
              <a:t>Metrics start late</a:t>
            </a:r>
            <a:endParaRPr lang="en-US" sz="1600" dirty="0"/>
          </a:p>
        </p:txBody>
      </p:sp>
      <p:sp>
        <p:nvSpPr>
          <p:cNvPr id="13" name="Text 9"/>
          <p:cNvSpPr/>
          <p:nvPr/>
        </p:nvSpPr>
        <p:spPr>
          <a:xfrm>
            <a:off x="6537960" y="2514600"/>
            <a:ext cx="4709160" cy="914400"/>
          </a:xfrm>
          <a:prstGeom prst="rect">
            <a:avLst/>
          </a:prstGeom>
          <a:noFill/>
          <a:ln/>
        </p:spPr>
        <p:txBody>
          <a:bodyPr wrap="square" lIns="0" tIns="0" rIns="0" bIns="0" rtlCol="0" anchor="t"/>
          <a:lstStyle/>
          <a:p>
            <a:pPr indent="0" marL="0">
              <a:buNone/>
            </a:pPr>
            <a:r>
              <a:rPr lang="en-US" sz="1350" dirty="0">
                <a:solidFill>
                  <a:srgbClr val="1E1E1E"/>
                </a:solidFill>
                <a:latin typeface="Arial" pitchFamily="34" charset="0"/>
                <a:ea typeface="Arial" pitchFamily="34" charset="-122"/>
                <a:cs typeface="Arial" pitchFamily="34" charset="-120"/>
              </a:rPr>
              <a:t>A rolling window needs a full window of data before its first value. Expected, not a bug.</a:t>
            </a:r>
            <a:endParaRPr lang="en-US" sz="1350" dirty="0"/>
          </a:p>
        </p:txBody>
      </p:sp>
      <p:sp>
        <p:nvSpPr>
          <p:cNvPr id="14" name="Shape 10"/>
          <p:cNvSpPr/>
          <p:nvPr/>
        </p:nvSpPr>
        <p:spPr>
          <a:xfrm>
            <a:off x="640080" y="3886200"/>
            <a:ext cx="5257800" cy="1965960"/>
          </a:xfrm>
          <a:prstGeom prst="roundRect">
            <a:avLst>
              <a:gd name="adj" fmla="val 2791"/>
            </a:avLst>
          </a:prstGeom>
          <a:solidFill>
            <a:srgbClr val="F3F3F1"/>
          </a:solidFill>
          <a:ln/>
        </p:spPr>
      </p:sp>
      <p:sp>
        <p:nvSpPr>
          <p:cNvPr id="15" name="Shape 11"/>
          <p:cNvSpPr/>
          <p:nvPr/>
        </p:nvSpPr>
        <p:spPr>
          <a:xfrm>
            <a:off x="914400" y="4160520"/>
            <a:ext cx="548640" cy="548640"/>
          </a:xfrm>
          <a:prstGeom prst="roundRect">
            <a:avLst>
              <a:gd name="adj" fmla="val 15000"/>
            </a:avLst>
          </a:prstGeom>
          <a:solidFill>
            <a:srgbClr val="293352"/>
          </a:solidFill>
          <a:ln/>
        </p:spPr>
      </p:sp>
      <p:pic>
        <p:nvPicPr>
          <p:cNvPr id="16" name="Image 2" descr="preencoded.png">    </p:cNvPr>
          <p:cNvPicPr>
            <a:picLocks noChangeAspect="1"/>
          </p:cNvPicPr>
          <p:nvPr/>
        </p:nvPicPr>
        <p:blipFill>
          <a:blip r:embed="rId3"/>
          <a:stretch>
            <a:fillRect/>
          </a:stretch>
        </p:blipFill>
        <p:spPr>
          <a:xfrm>
            <a:off x="1037844" y="4283964"/>
            <a:ext cx="301752" cy="301752"/>
          </a:xfrm>
          <a:prstGeom prst="rect">
            <a:avLst/>
          </a:prstGeom>
        </p:spPr>
      </p:pic>
      <p:sp>
        <p:nvSpPr>
          <p:cNvPr id="17" name="Text 12"/>
          <p:cNvSpPr/>
          <p:nvPr/>
        </p:nvSpPr>
        <p:spPr>
          <a:xfrm>
            <a:off x="1645920" y="4142232"/>
            <a:ext cx="4023360" cy="548640"/>
          </a:xfrm>
          <a:prstGeom prst="rect">
            <a:avLst/>
          </a:prstGeom>
          <a:noFill/>
          <a:ln/>
        </p:spPr>
        <p:txBody>
          <a:bodyPr wrap="square" lIns="0" tIns="0" rIns="0" bIns="0" rtlCol="0" anchor="ctr"/>
          <a:lstStyle/>
          <a:p>
            <a:pPr indent="0" marL="0">
              <a:buNone/>
            </a:pPr>
            <a:r>
              <a:rPr lang="en-US" sz="1600" b="1" dirty="0">
                <a:solidFill>
                  <a:srgbClr val="293352"/>
                </a:solidFill>
                <a:latin typeface="Arial" pitchFamily="34" charset="0"/>
                <a:ea typeface="Arial" pitchFamily="34" charset="-122"/>
                <a:cs typeface="Arial" pitchFamily="34" charset="-120"/>
              </a:rPr>
              <a:t>All pairs at once</a:t>
            </a:r>
            <a:endParaRPr lang="en-US" sz="1600" dirty="0"/>
          </a:p>
        </p:txBody>
      </p:sp>
      <p:sp>
        <p:nvSpPr>
          <p:cNvPr id="18" name="Text 13"/>
          <p:cNvSpPr/>
          <p:nvPr/>
        </p:nvSpPr>
        <p:spPr>
          <a:xfrm>
            <a:off x="914400" y="4800600"/>
            <a:ext cx="4709160" cy="914400"/>
          </a:xfrm>
          <a:prstGeom prst="rect">
            <a:avLst/>
          </a:prstGeom>
          <a:noFill/>
          <a:ln/>
        </p:spPr>
        <p:txBody>
          <a:bodyPr wrap="square" lIns="0" tIns="0" rIns="0" bIns="0" rtlCol="0" anchor="t"/>
          <a:lstStyle/>
          <a:p>
            <a:pPr indent="0" marL="0">
              <a:buNone/>
            </a:pPr>
            <a:r>
              <a:rPr lang="en-US" sz="1350" dirty="0">
                <a:solidFill>
                  <a:srgbClr val="1E1E1E"/>
                </a:solidFill>
                <a:latin typeface="Arial" pitchFamily="34" charset="0"/>
                <a:ea typeface="Arial" pitchFamily="34" charset="-122"/>
                <a:cs typeface="Arial" pitchFamily="34" charset="-120"/>
              </a:rPr>
              <a:t>Five stocks make ten pairs. When the whole band rises together, diversification is weak.</a:t>
            </a:r>
            <a:endParaRPr lang="en-US" sz="1350" dirty="0"/>
          </a:p>
        </p:txBody>
      </p:sp>
      <p:sp>
        <p:nvSpPr>
          <p:cNvPr id="19" name="Shape 14"/>
          <p:cNvSpPr/>
          <p:nvPr/>
        </p:nvSpPr>
        <p:spPr>
          <a:xfrm>
            <a:off x="6263640" y="3886200"/>
            <a:ext cx="5257800" cy="1965960"/>
          </a:xfrm>
          <a:prstGeom prst="roundRect">
            <a:avLst>
              <a:gd name="adj" fmla="val 2791"/>
            </a:avLst>
          </a:prstGeom>
          <a:solidFill>
            <a:srgbClr val="F3F3F1"/>
          </a:solidFill>
          <a:ln/>
        </p:spPr>
      </p:sp>
      <p:sp>
        <p:nvSpPr>
          <p:cNvPr id="20" name="Shape 15"/>
          <p:cNvSpPr/>
          <p:nvPr/>
        </p:nvSpPr>
        <p:spPr>
          <a:xfrm>
            <a:off x="6537960" y="4160520"/>
            <a:ext cx="548640" cy="548640"/>
          </a:xfrm>
          <a:prstGeom prst="roundRect">
            <a:avLst>
              <a:gd name="adj" fmla="val 15000"/>
            </a:avLst>
          </a:prstGeom>
          <a:solidFill>
            <a:srgbClr val="A51C30"/>
          </a:solidFill>
          <a:ln/>
        </p:spPr>
      </p:sp>
      <p:pic>
        <p:nvPicPr>
          <p:cNvPr id="21" name="Image 3" descr="preencoded.png">    </p:cNvPr>
          <p:cNvPicPr>
            <a:picLocks noChangeAspect="1"/>
          </p:cNvPicPr>
          <p:nvPr/>
        </p:nvPicPr>
        <p:blipFill>
          <a:blip r:embed="rId4"/>
          <a:stretch>
            <a:fillRect/>
          </a:stretch>
        </p:blipFill>
        <p:spPr>
          <a:xfrm>
            <a:off x="6661404" y="4283964"/>
            <a:ext cx="301752" cy="301752"/>
          </a:xfrm>
          <a:prstGeom prst="rect">
            <a:avLst/>
          </a:prstGeom>
        </p:spPr>
      </p:pic>
      <p:sp>
        <p:nvSpPr>
          <p:cNvPr id="22" name="Text 16"/>
          <p:cNvSpPr/>
          <p:nvPr/>
        </p:nvSpPr>
        <p:spPr>
          <a:xfrm>
            <a:off x="7269480" y="4142232"/>
            <a:ext cx="4023360" cy="548640"/>
          </a:xfrm>
          <a:prstGeom prst="rect">
            <a:avLst/>
          </a:prstGeom>
          <a:noFill/>
          <a:ln/>
        </p:spPr>
        <p:txBody>
          <a:bodyPr wrap="square" lIns="0" tIns="0" rIns="0" bIns="0" rtlCol="0" anchor="ctr"/>
          <a:lstStyle/>
          <a:p>
            <a:pPr indent="0" marL="0">
              <a:buNone/>
            </a:pPr>
            <a:r>
              <a:rPr lang="en-US" sz="1600" b="1" dirty="0">
                <a:solidFill>
                  <a:srgbClr val="293352"/>
                </a:solidFill>
                <a:latin typeface="Arial" pitchFamily="34" charset="0"/>
                <a:ea typeface="Arial" pitchFamily="34" charset="-122"/>
                <a:cs typeface="Arial" pitchFamily="34" charset="-120"/>
              </a:rPr>
              <a:t>The stress point</a:t>
            </a:r>
            <a:endParaRPr lang="en-US" sz="1600" dirty="0"/>
          </a:p>
        </p:txBody>
      </p:sp>
      <p:sp>
        <p:nvSpPr>
          <p:cNvPr id="23" name="Text 17"/>
          <p:cNvSpPr/>
          <p:nvPr/>
        </p:nvSpPr>
        <p:spPr>
          <a:xfrm>
            <a:off x="6537960" y="4800600"/>
            <a:ext cx="4709160" cy="914400"/>
          </a:xfrm>
          <a:prstGeom prst="rect">
            <a:avLst/>
          </a:prstGeom>
          <a:noFill/>
          <a:ln/>
        </p:spPr>
        <p:txBody>
          <a:bodyPr wrap="square" lIns="0" tIns="0" rIns="0" bIns="0" rtlCol="0" anchor="t"/>
          <a:lstStyle/>
          <a:p>
            <a:pPr indent="0" marL="0">
              <a:buNone/>
            </a:pPr>
            <a:r>
              <a:rPr lang="en-US" sz="1350" dirty="0">
                <a:solidFill>
                  <a:srgbClr val="1E1E1E"/>
                </a:solidFill>
                <a:latin typeface="Arial" pitchFamily="34" charset="0"/>
                <a:ea typeface="Arial" pitchFamily="34" charset="-122"/>
                <a:cs typeface="Arial" pitchFamily="34" charset="-120"/>
              </a:rPr>
              <a:t>Correlations drift toward 1 in stress, the failure mode a single number cannot show.</a:t>
            </a:r>
            <a:endParaRPr lang="en-US" sz="1350" dirty="0"/>
          </a:p>
        </p:txBody>
      </p:sp>
      <p:sp>
        <p:nvSpPr>
          <p:cNvPr id="24"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25" name="Harvard Page Number"/>
          <p:cNvSpPr txBox="1"/>
          <p:nvPr/>
        </p:nvSpPr>
        <p:spPr>
          <a:xfrm>
            <a:off x="11730577" y="6446043"/>
            <a:ext cx="324104" cy="274638"/>
          </a:xfrm>
          <a:prstGeom prst="rect">
            <a:avLst/>
          </a:prstGeom>
          <a:noFill/>
        </p:spPr>
        <p:txBody>
          <a:bodyPr wrap="none" lIns="0" rIns="0" tIns="0" bIns="0">
            <a:noAutofit/>
          </a:bodyPr>
          <a:lstStyle/>
          <a:p>
            <a:pPr algn="r"/>
            <a:fld id="{60524444-EECC-4375-AFCA-ECAA4BB91B86}" type="slidenum">
              <a:rPr lang="en-US" sz="1000">
                <a:solidFill>
                  <a:srgbClr val="8996A0"/>
                </a:solidFill>
                <a:latin typeface="Arial"/>
              </a:rPr>
              <a:t>15</a:t>
            </a:fld>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LIVE IN RSTUDIO</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Script E: run it</a:t>
            </a:r>
            <a:endParaRPr lang="en-US" sz="2800" dirty="0"/>
          </a:p>
        </p:txBody>
      </p:sp>
      <p:sp>
        <p:nvSpPr>
          <p:cNvPr id="4" name="Shape 2"/>
          <p:cNvSpPr/>
          <p:nvPr/>
        </p:nvSpPr>
        <p:spPr>
          <a:xfrm>
            <a:off x="640080" y="1600200"/>
            <a:ext cx="10881360" cy="3611880"/>
          </a:xfrm>
          <a:prstGeom prst="roundRect">
            <a:avLst>
              <a:gd name="adj" fmla="val 1519"/>
            </a:avLst>
          </a:prstGeom>
          <a:solidFill>
            <a:srgbClr val="1E1E1E"/>
          </a:solidFill>
          <a:ln/>
        </p:spPr>
      </p:sp>
      <p:sp>
        <p:nvSpPr>
          <p:cNvPr id="5" name="Shape 3"/>
          <p:cNvSpPr/>
          <p:nvPr/>
        </p:nvSpPr>
        <p:spPr>
          <a:xfrm>
            <a:off x="914400" y="1828800"/>
            <a:ext cx="146304" cy="146304"/>
          </a:xfrm>
          <a:prstGeom prst="ellipse">
            <a:avLst/>
          </a:prstGeom>
          <a:solidFill>
            <a:srgbClr val="A51C30"/>
          </a:solidFill>
          <a:ln/>
        </p:spPr>
      </p:sp>
      <p:sp>
        <p:nvSpPr>
          <p:cNvPr id="6" name="Shape 4"/>
          <p:cNvSpPr/>
          <p:nvPr/>
        </p:nvSpPr>
        <p:spPr>
          <a:xfrm>
            <a:off x="1170432" y="1828800"/>
            <a:ext cx="146304" cy="146304"/>
          </a:xfrm>
          <a:prstGeom prst="ellipse">
            <a:avLst/>
          </a:prstGeom>
          <a:solidFill>
            <a:srgbClr val="C4961A"/>
          </a:solidFill>
          <a:ln/>
        </p:spPr>
      </p:sp>
      <p:sp>
        <p:nvSpPr>
          <p:cNvPr id="7" name="Shape 5"/>
          <p:cNvSpPr/>
          <p:nvPr/>
        </p:nvSpPr>
        <p:spPr>
          <a:xfrm>
            <a:off x="1426464" y="1828800"/>
            <a:ext cx="146304" cy="146304"/>
          </a:xfrm>
          <a:prstGeom prst="ellipse">
            <a:avLst/>
          </a:prstGeom>
          <a:solidFill>
            <a:srgbClr val="1D9E75"/>
          </a:solidFill>
          <a:ln/>
        </p:spPr>
      </p:sp>
      <p:sp>
        <p:nvSpPr>
          <p:cNvPr id="8" name="Text 6"/>
          <p:cNvSpPr/>
          <p:nvPr/>
        </p:nvSpPr>
        <p:spPr>
          <a:xfrm>
            <a:off x="2011680" y="1764792"/>
            <a:ext cx="5486400" cy="274320"/>
          </a:xfrm>
          <a:prstGeom prst="rect">
            <a:avLst/>
          </a:prstGeom>
          <a:noFill/>
          <a:ln/>
        </p:spPr>
        <p:txBody>
          <a:bodyPr wrap="square" lIns="0" tIns="0" rIns="0" bIns="0" rtlCol="0" anchor="ctr"/>
          <a:lstStyle/>
          <a:p>
            <a:pPr indent="0" marL="0">
              <a:buNone/>
            </a:pPr>
            <a:r>
              <a:rPr lang="en-US" sz="1100" b="1" spc="200" kern="0" dirty="0">
                <a:solidFill>
                  <a:srgbClr val="8996A0"/>
                </a:solidFill>
                <a:latin typeface="Arial" pitchFamily="34" charset="0"/>
                <a:ea typeface="Arial" pitchFamily="34" charset="-122"/>
                <a:cs typeface="Arial" pitchFamily="34" charset="-120"/>
              </a:rPr>
              <a:t>LIVE CODE STEP THROUGH</a:t>
            </a:r>
            <a:endParaRPr lang="en-US" sz="1100" dirty="0"/>
          </a:p>
        </p:txBody>
      </p:sp>
      <p:sp>
        <p:nvSpPr>
          <p:cNvPr id="9" name="Text 7"/>
          <p:cNvSpPr/>
          <p:nvPr/>
        </p:nvSpPr>
        <p:spPr>
          <a:xfrm>
            <a:off x="914400" y="2331720"/>
            <a:ext cx="10332720" cy="685800"/>
          </a:xfrm>
          <a:prstGeom prst="rect">
            <a:avLst/>
          </a:prstGeom>
          <a:noFill/>
          <a:ln/>
        </p:spPr>
        <p:txBody>
          <a:bodyPr wrap="square" lIns="0" tIns="0" rIns="0" bIns="0" rtlCol="0" anchor="t"/>
          <a:lstStyle/>
          <a:p>
            <a:pPr indent="0" marL="0">
              <a:lnSpc>
                <a:spcPct val="100000"/>
              </a:lnSpc>
              <a:buNone/>
            </a:pPr>
            <a:r>
              <a:rPr lang="en-US" sz="1500" b="1" dirty="0">
                <a:solidFill>
                  <a:srgbClr val="4E84C4"/>
                </a:solidFill>
                <a:latin typeface="Arial" pitchFamily="34" charset="0"/>
                <a:ea typeface="Arial" pitchFamily="34" charset="-122"/>
                <a:cs typeface="Arial" pitchFamily="34" charset="-120"/>
              </a:rPr>
              <a:t>&gt; </a:t>
            </a:r>
            <a:pPr indent="0" marL="0">
              <a:lnSpc>
                <a:spcPct val="100000"/>
              </a:lnSpc>
              <a:buNone/>
            </a:pPr>
            <a:r>
              <a:rPr lang="en-US" sz="1500" dirty="0">
                <a:solidFill>
                  <a:srgbClr val="F3F3F1"/>
                </a:solidFill>
                <a:latin typeface="Arial" pitchFamily="34" charset="0"/>
                <a:ea typeface="Arial" pitchFamily="34" charset="-122"/>
                <a:cs typeface="Arial" pitchFamily="34" charset="-120"/>
              </a:rPr>
              <a:t>Build all ten pairs, compute both windows in the loop.</a:t>
            </a:r>
            <a:endParaRPr lang="en-US" sz="1500" dirty="0"/>
          </a:p>
        </p:txBody>
      </p:sp>
      <p:sp>
        <p:nvSpPr>
          <p:cNvPr id="10" name="Text 8"/>
          <p:cNvSpPr/>
          <p:nvPr/>
        </p:nvSpPr>
        <p:spPr>
          <a:xfrm>
            <a:off x="914400" y="3172968"/>
            <a:ext cx="10332720" cy="685800"/>
          </a:xfrm>
          <a:prstGeom prst="rect">
            <a:avLst/>
          </a:prstGeom>
          <a:noFill/>
          <a:ln/>
        </p:spPr>
        <p:txBody>
          <a:bodyPr wrap="square" lIns="0" tIns="0" rIns="0" bIns="0" rtlCol="0" anchor="t"/>
          <a:lstStyle/>
          <a:p>
            <a:pPr indent="0" marL="0">
              <a:lnSpc>
                <a:spcPct val="100000"/>
              </a:lnSpc>
              <a:buNone/>
            </a:pPr>
            <a:r>
              <a:rPr lang="en-US" sz="1500" b="1" dirty="0">
                <a:solidFill>
                  <a:srgbClr val="4E84C4"/>
                </a:solidFill>
                <a:latin typeface="Arial" pitchFamily="34" charset="0"/>
                <a:ea typeface="Arial" pitchFamily="34" charset="-122"/>
                <a:cs typeface="Arial" pitchFamily="34" charset="-120"/>
              </a:rPr>
              <a:t>&gt; </a:t>
            </a:r>
            <a:pPr indent="0" marL="0">
              <a:lnSpc>
                <a:spcPct val="100000"/>
              </a:lnSpc>
              <a:buNone/>
            </a:pPr>
            <a:r>
              <a:rPr lang="en-US" sz="1500" dirty="0">
                <a:solidFill>
                  <a:srgbClr val="F3F3F1"/>
                </a:solidFill>
                <a:latin typeface="Arial" pitchFamily="34" charset="0"/>
                <a:ea typeface="Arial" pitchFamily="34" charset="-122"/>
                <a:cs typeface="Arial" pitchFamily="34" charset="-120"/>
              </a:rPr>
              <a:t>Plot 1: all pairs at the short window, read the moving band.</a:t>
            </a:r>
            <a:endParaRPr lang="en-US" sz="1500" dirty="0"/>
          </a:p>
        </p:txBody>
      </p:sp>
      <p:sp>
        <p:nvSpPr>
          <p:cNvPr id="11" name="Text 9"/>
          <p:cNvSpPr/>
          <p:nvPr/>
        </p:nvSpPr>
        <p:spPr>
          <a:xfrm>
            <a:off x="914400" y="4014216"/>
            <a:ext cx="10332720" cy="685800"/>
          </a:xfrm>
          <a:prstGeom prst="rect">
            <a:avLst/>
          </a:prstGeom>
          <a:noFill/>
          <a:ln/>
        </p:spPr>
        <p:txBody>
          <a:bodyPr wrap="square" lIns="0" tIns="0" rIns="0" bIns="0" rtlCol="0" anchor="t"/>
          <a:lstStyle/>
          <a:p>
            <a:pPr indent="0" marL="0">
              <a:lnSpc>
                <a:spcPct val="100000"/>
              </a:lnSpc>
              <a:buNone/>
            </a:pPr>
            <a:r>
              <a:rPr lang="en-US" sz="1500" b="1" dirty="0">
                <a:solidFill>
                  <a:srgbClr val="4E84C4"/>
                </a:solidFill>
                <a:latin typeface="Arial" pitchFamily="34" charset="0"/>
                <a:ea typeface="Arial" pitchFamily="34" charset="-122"/>
                <a:cs typeface="Arial" pitchFamily="34" charset="-120"/>
              </a:rPr>
              <a:t>&gt; </a:t>
            </a:r>
            <a:pPr indent="0" marL="0">
              <a:lnSpc>
                <a:spcPct val="100000"/>
              </a:lnSpc>
              <a:buNone/>
            </a:pPr>
            <a:r>
              <a:rPr lang="en-US" sz="1500" dirty="0">
                <a:solidFill>
                  <a:srgbClr val="F3F3F1"/>
                </a:solidFill>
                <a:latin typeface="Arial" pitchFamily="34" charset="0"/>
                <a:ea typeface="Arial" pitchFamily="34" charset="-122"/>
                <a:cs typeface="Arial" pitchFamily="34" charset="-120"/>
              </a:rPr>
              <a:t>Plot 2: one pair at both windows, the reactive versus smooth tradeoff.</a:t>
            </a:r>
            <a:endParaRPr lang="en-US" sz="1500" dirty="0"/>
          </a:p>
        </p:txBody>
      </p:sp>
      <p:sp>
        <p:nvSpPr>
          <p:cNvPr id="12" name="Shape 10"/>
          <p:cNvSpPr/>
          <p:nvPr/>
        </p:nvSpPr>
        <p:spPr>
          <a:xfrm>
            <a:off x="640080" y="5440680"/>
            <a:ext cx="2377440" cy="457200"/>
          </a:xfrm>
          <a:prstGeom prst="roundRect">
            <a:avLst>
              <a:gd name="adj" fmla="val 50000"/>
            </a:avLst>
          </a:prstGeom>
          <a:solidFill>
            <a:srgbClr val="F3F3F1"/>
          </a:solidFill>
          <a:ln/>
        </p:spPr>
      </p:sp>
      <p:sp>
        <p:nvSpPr>
          <p:cNvPr id="13" name="Text 11"/>
          <p:cNvSpPr/>
          <p:nvPr/>
        </p:nvSpPr>
        <p:spPr>
          <a:xfrm>
            <a:off x="640080" y="5440680"/>
            <a:ext cx="2377440" cy="457200"/>
          </a:xfrm>
          <a:prstGeom prst="rect">
            <a:avLst/>
          </a:prstGeom>
          <a:noFill/>
          <a:ln/>
        </p:spPr>
        <p:txBody>
          <a:bodyPr wrap="square" lIns="0" tIns="0" rIns="0" bIns="0" rtlCol="0" anchor="ctr"/>
          <a:lstStyle/>
          <a:p>
            <a:pPr algn="ctr" indent="0" marL="0">
              <a:buNone/>
            </a:pPr>
            <a:r>
              <a:rPr lang="en-US" sz="1300" b="1" dirty="0">
                <a:solidFill>
                  <a:srgbClr val="293352"/>
                </a:solidFill>
                <a:latin typeface="Arial" pitchFamily="34" charset="0"/>
                <a:ea typeface="Arial" pitchFamily="34" charset="-122"/>
                <a:cs typeface="Arial" pitchFamily="34" charset="-120"/>
              </a:rPr>
              <a:t>⏱  about 12 minutes</a:t>
            </a:r>
            <a:endParaRPr lang="en-US" sz="1300" dirty="0"/>
          </a:p>
        </p:txBody>
      </p:sp>
      <p:sp>
        <p:nvSpPr>
          <p:cNvPr id="14"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15" name="Harvard Page Number"/>
          <p:cNvSpPr txBox="1"/>
          <p:nvPr/>
        </p:nvSpPr>
        <p:spPr>
          <a:xfrm>
            <a:off x="11730577" y="6446043"/>
            <a:ext cx="324104" cy="274638"/>
          </a:xfrm>
          <a:prstGeom prst="rect">
            <a:avLst/>
          </a:prstGeom>
          <a:noFill/>
        </p:spPr>
        <p:txBody>
          <a:bodyPr wrap="none" lIns="0" rIns="0" tIns="0" bIns="0">
            <a:noAutofit/>
          </a:bodyPr>
          <a:lstStyle/>
          <a:p>
            <a:pPr algn="r"/>
            <a:fld id="{E3FFD6A9-1386-4E19-B456-D58F84B642CF}" type="slidenum">
              <a:rPr lang="en-US" sz="1000">
                <a:solidFill>
                  <a:srgbClr val="8996A0"/>
                </a:solidFill>
                <a:latin typeface="Arial"/>
              </a:rPr>
              <a:t>16</a:t>
            </a:fld>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RETURN PER RISK, OVER TIME</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Script F: rolling Sharpe</a:t>
            </a:r>
            <a:endParaRPr lang="en-US" sz="2800" dirty="0"/>
          </a:p>
        </p:txBody>
      </p:sp>
      <p:sp>
        <p:nvSpPr>
          <p:cNvPr id="4" name="Shape 2"/>
          <p:cNvSpPr/>
          <p:nvPr/>
        </p:nvSpPr>
        <p:spPr>
          <a:xfrm>
            <a:off x="640080" y="1600200"/>
            <a:ext cx="3749040" cy="3977640"/>
          </a:xfrm>
          <a:prstGeom prst="roundRect">
            <a:avLst>
              <a:gd name="adj" fmla="val 1951"/>
            </a:avLst>
          </a:prstGeom>
          <a:solidFill>
            <a:srgbClr val="293352"/>
          </a:solidFill>
          <a:ln/>
        </p:spPr>
      </p:sp>
      <p:sp>
        <p:nvSpPr>
          <p:cNvPr id="5" name="Shape 3"/>
          <p:cNvSpPr/>
          <p:nvPr/>
        </p:nvSpPr>
        <p:spPr>
          <a:xfrm>
            <a:off x="914400" y="1874520"/>
            <a:ext cx="640080" cy="640080"/>
          </a:xfrm>
          <a:prstGeom prst="roundRect">
            <a:avLst>
              <a:gd name="adj" fmla="val 12857"/>
            </a:avLst>
          </a:prstGeom>
          <a:solidFill>
            <a:srgbClr val="A51C30"/>
          </a:solidFill>
          <a:ln/>
        </p:spPr>
      </p:sp>
      <p:pic>
        <p:nvPicPr>
          <p:cNvPr id="6" name="Image 0" descr="preencoded.png">    </p:cNvPr>
          <p:cNvPicPr>
            <a:picLocks noChangeAspect="1"/>
          </p:cNvPicPr>
          <p:nvPr/>
        </p:nvPicPr>
        <p:blipFill>
          <a:blip r:embed="rId1"/>
          <a:stretch>
            <a:fillRect/>
          </a:stretch>
        </p:blipFill>
        <p:spPr>
          <a:xfrm>
            <a:off x="1058418" y="2018538"/>
            <a:ext cx="352044" cy="352044"/>
          </a:xfrm>
          <a:prstGeom prst="rect">
            <a:avLst/>
          </a:prstGeom>
        </p:spPr>
      </p:pic>
      <p:sp>
        <p:nvSpPr>
          <p:cNvPr id="7" name="Text 4"/>
          <p:cNvSpPr/>
          <p:nvPr/>
        </p:nvSpPr>
        <p:spPr>
          <a:xfrm>
            <a:off x="914400" y="2697480"/>
            <a:ext cx="3200400" cy="118872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The same idea, now moving</a:t>
            </a:r>
            <a:endParaRPr lang="en-US" sz="2200" dirty="0"/>
          </a:p>
        </p:txBody>
      </p:sp>
      <p:sp>
        <p:nvSpPr>
          <p:cNvPr id="8" name="Text 5"/>
          <p:cNvSpPr/>
          <p:nvPr/>
        </p:nvSpPr>
        <p:spPr>
          <a:xfrm>
            <a:off x="914400" y="3931920"/>
            <a:ext cx="3200400" cy="1371600"/>
          </a:xfrm>
          <a:prstGeom prst="rect">
            <a:avLst/>
          </a:prstGeom>
          <a:noFill/>
          <a:ln/>
        </p:spPr>
        <p:txBody>
          <a:bodyPr wrap="square" lIns="0" tIns="0" rIns="0" bIns="0" rtlCol="0" anchor="t"/>
          <a:lstStyle/>
          <a:p>
            <a:pPr indent="0" marL="0">
              <a:buNone/>
            </a:pPr>
            <a:r>
              <a:rPr lang="en-US" sz="1350" dirty="0">
                <a:solidFill>
                  <a:srgbClr val="F3F3F1"/>
                </a:solidFill>
                <a:latin typeface="Arial" pitchFamily="34" charset="0"/>
                <a:ea typeface="Arial" pitchFamily="34" charset="-122"/>
                <a:cs typeface="Arial" pitchFamily="34" charset="-120"/>
              </a:rPr>
              <a:t>The return per risk measure from Hour 1, tracked through time instead of as one number.</a:t>
            </a:r>
            <a:endParaRPr lang="en-US" sz="1350" dirty="0"/>
          </a:p>
        </p:txBody>
      </p:sp>
      <p:sp>
        <p:nvSpPr>
          <p:cNvPr id="9" name="Shape 6"/>
          <p:cNvSpPr/>
          <p:nvPr/>
        </p:nvSpPr>
        <p:spPr>
          <a:xfrm>
            <a:off x="4663440" y="1600200"/>
            <a:ext cx="6858000" cy="1207008"/>
          </a:xfrm>
          <a:prstGeom prst="roundRect">
            <a:avLst>
              <a:gd name="adj" fmla="val 4545"/>
            </a:avLst>
          </a:prstGeom>
          <a:solidFill>
            <a:srgbClr val="F3F3F1"/>
          </a:solidFill>
          <a:ln/>
        </p:spPr>
      </p:sp>
      <p:sp>
        <p:nvSpPr>
          <p:cNvPr id="10" name="Shape 7"/>
          <p:cNvSpPr/>
          <p:nvPr/>
        </p:nvSpPr>
        <p:spPr>
          <a:xfrm>
            <a:off x="4892040" y="1952244"/>
            <a:ext cx="502920" cy="502920"/>
          </a:xfrm>
          <a:prstGeom prst="roundRect">
            <a:avLst>
              <a:gd name="adj" fmla="val 16364"/>
            </a:avLst>
          </a:prstGeom>
          <a:solidFill>
            <a:srgbClr val="A51C30"/>
          </a:solidFill>
          <a:ln/>
        </p:spPr>
      </p:sp>
      <p:pic>
        <p:nvPicPr>
          <p:cNvPr id="11" name="Image 1" descr="preencoded.png">    </p:cNvPr>
          <p:cNvPicPr>
            <a:picLocks noChangeAspect="1"/>
          </p:cNvPicPr>
          <p:nvPr/>
        </p:nvPicPr>
        <p:blipFill>
          <a:blip r:embed="rId2"/>
          <a:stretch>
            <a:fillRect/>
          </a:stretch>
        </p:blipFill>
        <p:spPr>
          <a:xfrm>
            <a:off x="5005197" y="2065401"/>
            <a:ext cx="276606" cy="276606"/>
          </a:xfrm>
          <a:prstGeom prst="rect">
            <a:avLst/>
          </a:prstGeom>
        </p:spPr>
      </p:pic>
      <p:sp>
        <p:nvSpPr>
          <p:cNvPr id="12" name="Text 8"/>
          <p:cNvSpPr/>
          <p:nvPr/>
        </p:nvSpPr>
        <p:spPr>
          <a:xfrm>
            <a:off x="5623560" y="1764792"/>
            <a:ext cx="5669280" cy="932688"/>
          </a:xfrm>
          <a:prstGeom prst="rect">
            <a:avLst/>
          </a:prstGeom>
          <a:noFill/>
          <a:ln/>
        </p:spPr>
        <p:txBody>
          <a:bodyPr wrap="square" lIns="0" tIns="0" rIns="0" bIns="0" rtlCol="0" anchor="ctr"/>
          <a:lstStyle/>
          <a:p>
            <a:pPr indent="0" marL="0">
              <a:lnSpc>
                <a:spcPct val="105000"/>
              </a:lnSpc>
              <a:buNone/>
            </a:pPr>
            <a:r>
              <a:rPr lang="en-US" sz="1500" b="1" dirty="0">
                <a:solidFill>
                  <a:srgbClr val="293352"/>
                </a:solidFill>
                <a:latin typeface="Arial" pitchFamily="34" charset="0"/>
                <a:ea typeface="Arial" pitchFamily="34" charset="-122"/>
                <a:cs typeface="Arial" pitchFamily="34" charset="-120"/>
              </a:rPr>
              <a:t>Watch for the dip
</a:t>
            </a:r>
            <a:pPr indent="0" marL="0">
              <a:lnSpc>
                <a:spcPct val="105000"/>
              </a:lnSpc>
              <a:buNone/>
            </a:pPr>
            <a:r>
              <a:rPr lang="en-US" sz="1300" dirty="0">
                <a:solidFill>
                  <a:srgbClr val="1E1E1E"/>
                </a:solidFill>
                <a:latin typeface="Arial" pitchFamily="34" charset="0"/>
                <a:ea typeface="Arial" pitchFamily="34" charset="-122"/>
                <a:cs typeface="Arial" pitchFamily="34" charset="-120"/>
              </a:rPr>
              <a:t>A rolling Sharpe near zero means the portfolio stopped paying for the risk it carried.</a:t>
            </a:r>
            <a:endParaRPr lang="en-US" sz="1500" dirty="0"/>
          </a:p>
        </p:txBody>
      </p:sp>
      <p:sp>
        <p:nvSpPr>
          <p:cNvPr id="13" name="Shape 9"/>
          <p:cNvSpPr/>
          <p:nvPr/>
        </p:nvSpPr>
        <p:spPr>
          <a:xfrm>
            <a:off x="4663440" y="2990088"/>
            <a:ext cx="6858000" cy="1207008"/>
          </a:xfrm>
          <a:prstGeom prst="roundRect">
            <a:avLst>
              <a:gd name="adj" fmla="val 4545"/>
            </a:avLst>
          </a:prstGeom>
          <a:solidFill>
            <a:srgbClr val="F3F3F1"/>
          </a:solidFill>
          <a:ln/>
        </p:spPr>
      </p:sp>
      <p:sp>
        <p:nvSpPr>
          <p:cNvPr id="14" name="Shape 10"/>
          <p:cNvSpPr/>
          <p:nvPr/>
        </p:nvSpPr>
        <p:spPr>
          <a:xfrm>
            <a:off x="4892040" y="3342132"/>
            <a:ext cx="502920" cy="502920"/>
          </a:xfrm>
          <a:prstGeom prst="roundRect">
            <a:avLst>
              <a:gd name="adj" fmla="val 16364"/>
            </a:avLst>
          </a:prstGeom>
          <a:solidFill>
            <a:srgbClr val="A51C30"/>
          </a:solidFill>
          <a:ln/>
        </p:spPr>
      </p:sp>
      <p:pic>
        <p:nvPicPr>
          <p:cNvPr id="15" name="Image 2" descr="preencoded.png">    </p:cNvPr>
          <p:cNvPicPr>
            <a:picLocks noChangeAspect="1"/>
          </p:cNvPicPr>
          <p:nvPr/>
        </p:nvPicPr>
        <p:blipFill>
          <a:blip r:embed="rId3"/>
          <a:stretch>
            <a:fillRect/>
          </a:stretch>
        </p:blipFill>
        <p:spPr>
          <a:xfrm>
            <a:off x="5005197" y="3455289"/>
            <a:ext cx="276606" cy="276606"/>
          </a:xfrm>
          <a:prstGeom prst="rect">
            <a:avLst/>
          </a:prstGeom>
        </p:spPr>
      </p:pic>
      <p:sp>
        <p:nvSpPr>
          <p:cNvPr id="16" name="Text 11"/>
          <p:cNvSpPr/>
          <p:nvPr/>
        </p:nvSpPr>
        <p:spPr>
          <a:xfrm>
            <a:off x="5623560" y="3154680"/>
            <a:ext cx="5669280" cy="932688"/>
          </a:xfrm>
          <a:prstGeom prst="rect">
            <a:avLst/>
          </a:prstGeom>
          <a:noFill/>
          <a:ln/>
        </p:spPr>
        <p:txBody>
          <a:bodyPr wrap="square" lIns="0" tIns="0" rIns="0" bIns="0" rtlCol="0" anchor="ctr"/>
          <a:lstStyle/>
          <a:p>
            <a:pPr indent="0" marL="0">
              <a:lnSpc>
                <a:spcPct val="105000"/>
              </a:lnSpc>
              <a:buNone/>
            </a:pPr>
            <a:r>
              <a:rPr lang="en-US" sz="1500" b="1" dirty="0">
                <a:solidFill>
                  <a:srgbClr val="293352"/>
                </a:solidFill>
                <a:latin typeface="Arial" pitchFamily="34" charset="0"/>
                <a:ea typeface="Arial" pitchFamily="34" charset="-122"/>
                <a:cs typeface="Arial" pitchFamily="34" charset="-120"/>
              </a:rPr>
              <a:t>Built from parts
</a:t>
            </a:r>
            <a:pPr indent="0" marL="0">
              <a:lnSpc>
                <a:spcPct val="105000"/>
              </a:lnSpc>
              <a:buNone/>
            </a:pPr>
            <a:r>
              <a:rPr lang="en-US" sz="1300" dirty="0">
                <a:solidFill>
                  <a:srgbClr val="1E1E1E"/>
                </a:solidFill>
                <a:latin typeface="Arial" pitchFamily="34" charset="0"/>
                <a:ea typeface="Arial" pitchFamily="34" charset="-122"/>
                <a:cs typeface="Arial" pitchFamily="34" charset="-120"/>
              </a:rPr>
              <a:t>A rolling mean, a rolling standard deviation, then annualized. Each piece stays visible.</a:t>
            </a:r>
            <a:endParaRPr lang="en-US" sz="1500" dirty="0"/>
          </a:p>
        </p:txBody>
      </p:sp>
      <p:sp>
        <p:nvSpPr>
          <p:cNvPr id="17" name="Shape 12"/>
          <p:cNvSpPr/>
          <p:nvPr/>
        </p:nvSpPr>
        <p:spPr>
          <a:xfrm>
            <a:off x="4663440" y="4379976"/>
            <a:ext cx="6858000" cy="1207008"/>
          </a:xfrm>
          <a:prstGeom prst="roundRect">
            <a:avLst>
              <a:gd name="adj" fmla="val 4545"/>
            </a:avLst>
          </a:prstGeom>
          <a:solidFill>
            <a:srgbClr val="F3F3F1"/>
          </a:solidFill>
          <a:ln/>
        </p:spPr>
      </p:sp>
      <p:sp>
        <p:nvSpPr>
          <p:cNvPr id="18" name="Shape 13"/>
          <p:cNvSpPr/>
          <p:nvPr/>
        </p:nvSpPr>
        <p:spPr>
          <a:xfrm>
            <a:off x="4892040" y="4732020"/>
            <a:ext cx="502920" cy="502920"/>
          </a:xfrm>
          <a:prstGeom prst="roundRect">
            <a:avLst>
              <a:gd name="adj" fmla="val 16364"/>
            </a:avLst>
          </a:prstGeom>
          <a:solidFill>
            <a:srgbClr val="A51C30"/>
          </a:solidFill>
          <a:ln/>
        </p:spPr>
      </p:sp>
      <p:pic>
        <p:nvPicPr>
          <p:cNvPr id="19" name="Image 3" descr="preencoded.png">    </p:cNvPr>
          <p:cNvPicPr>
            <a:picLocks noChangeAspect="1"/>
          </p:cNvPicPr>
          <p:nvPr/>
        </p:nvPicPr>
        <p:blipFill>
          <a:blip r:embed="rId4"/>
          <a:stretch>
            <a:fillRect/>
          </a:stretch>
        </p:blipFill>
        <p:spPr>
          <a:xfrm>
            <a:off x="5005197" y="4845177"/>
            <a:ext cx="276606" cy="276606"/>
          </a:xfrm>
          <a:prstGeom prst="rect">
            <a:avLst/>
          </a:prstGeom>
        </p:spPr>
      </p:pic>
      <p:sp>
        <p:nvSpPr>
          <p:cNvPr id="20" name="Text 14"/>
          <p:cNvSpPr/>
          <p:nvPr/>
        </p:nvSpPr>
        <p:spPr>
          <a:xfrm>
            <a:off x="5623560" y="4544568"/>
            <a:ext cx="5669280" cy="932688"/>
          </a:xfrm>
          <a:prstGeom prst="rect">
            <a:avLst/>
          </a:prstGeom>
          <a:noFill/>
          <a:ln/>
        </p:spPr>
        <p:txBody>
          <a:bodyPr wrap="square" lIns="0" tIns="0" rIns="0" bIns="0" rtlCol="0" anchor="ctr"/>
          <a:lstStyle/>
          <a:p>
            <a:pPr indent="0" marL="0">
              <a:lnSpc>
                <a:spcPct val="105000"/>
              </a:lnSpc>
              <a:buNone/>
            </a:pPr>
            <a:r>
              <a:rPr lang="en-US" sz="1500" b="1" dirty="0">
                <a:solidFill>
                  <a:srgbClr val="293352"/>
                </a:solidFill>
                <a:latin typeface="Arial" pitchFamily="34" charset="0"/>
                <a:ea typeface="Arial" pitchFamily="34" charset="-122"/>
                <a:cs typeface="Arial" pitchFamily="34" charset="-120"/>
              </a:rPr>
              <a:t>Movement over a single figure
</a:t>
            </a:r>
            <a:pPr indent="0" marL="0">
              <a:lnSpc>
                <a:spcPct val="105000"/>
              </a:lnSpc>
              <a:buNone/>
            </a:pPr>
            <a:r>
              <a:rPr lang="en-US" sz="1300" dirty="0">
                <a:solidFill>
                  <a:srgbClr val="1E1E1E"/>
                </a:solidFill>
                <a:latin typeface="Arial" pitchFamily="34" charset="0"/>
                <a:ea typeface="Arial" pitchFamily="34" charset="-122"/>
                <a:cs typeface="Arial" pitchFamily="34" charset="-120"/>
              </a:rPr>
              <a:t>We watch it change rather than trust one all in Sharpe number.</a:t>
            </a:r>
            <a:endParaRPr lang="en-US" sz="1500" dirty="0"/>
          </a:p>
        </p:txBody>
      </p:sp>
      <p:sp>
        <p:nvSpPr>
          <p:cNvPr id="21"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22" name="Harvard Page Number"/>
          <p:cNvSpPr txBox="1"/>
          <p:nvPr/>
        </p:nvSpPr>
        <p:spPr>
          <a:xfrm>
            <a:off x="11730577" y="6446043"/>
            <a:ext cx="324104" cy="274638"/>
          </a:xfrm>
          <a:prstGeom prst="rect">
            <a:avLst/>
          </a:prstGeom>
          <a:noFill/>
        </p:spPr>
        <p:txBody>
          <a:bodyPr wrap="none" lIns="0" rIns="0" tIns="0" bIns="0">
            <a:noAutofit/>
          </a:bodyPr>
          <a:lstStyle/>
          <a:p>
            <a:pPr algn="r"/>
            <a:fld id="{5724E4C4-EE1F-4DB8-BB34-C965E70D00DA}" type="slidenum">
              <a:rPr lang="en-US" sz="1000">
                <a:solidFill>
                  <a:srgbClr val="8996A0"/>
                </a:solidFill>
                <a:latin typeface="Arial"/>
              </a:rPr>
              <a:t>17</a:t>
            </a:fld>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MARKET SENSITIVITY</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Script F: rolling beta versus SPY</a:t>
            </a:r>
            <a:endParaRPr lang="en-US" sz="2800" dirty="0"/>
          </a:p>
        </p:txBody>
      </p:sp>
      <p:sp>
        <p:nvSpPr>
          <p:cNvPr id="4" name="Shape 2"/>
          <p:cNvSpPr/>
          <p:nvPr/>
        </p:nvSpPr>
        <p:spPr>
          <a:xfrm>
            <a:off x="640080" y="1600200"/>
            <a:ext cx="3749040" cy="3977640"/>
          </a:xfrm>
          <a:prstGeom prst="roundRect">
            <a:avLst>
              <a:gd name="adj" fmla="val 1951"/>
            </a:avLst>
          </a:prstGeom>
          <a:solidFill>
            <a:srgbClr val="293352"/>
          </a:solidFill>
          <a:ln/>
        </p:spPr>
      </p:sp>
      <p:sp>
        <p:nvSpPr>
          <p:cNvPr id="5" name="Shape 3"/>
          <p:cNvSpPr/>
          <p:nvPr/>
        </p:nvSpPr>
        <p:spPr>
          <a:xfrm>
            <a:off x="914400" y="1874520"/>
            <a:ext cx="640080" cy="640080"/>
          </a:xfrm>
          <a:prstGeom prst="roundRect">
            <a:avLst>
              <a:gd name="adj" fmla="val 12857"/>
            </a:avLst>
          </a:prstGeom>
          <a:solidFill>
            <a:srgbClr val="A51C30"/>
          </a:solidFill>
          <a:ln/>
        </p:spPr>
      </p:sp>
      <p:pic>
        <p:nvPicPr>
          <p:cNvPr id="6" name="Image 0" descr="preencoded.png">    </p:cNvPr>
          <p:cNvPicPr>
            <a:picLocks noChangeAspect="1"/>
          </p:cNvPicPr>
          <p:nvPr/>
        </p:nvPicPr>
        <p:blipFill>
          <a:blip r:embed="rId1"/>
          <a:stretch>
            <a:fillRect/>
          </a:stretch>
        </p:blipFill>
        <p:spPr>
          <a:xfrm>
            <a:off x="1058418" y="2018538"/>
            <a:ext cx="352044" cy="352044"/>
          </a:xfrm>
          <a:prstGeom prst="rect">
            <a:avLst/>
          </a:prstGeom>
        </p:spPr>
      </p:pic>
      <p:sp>
        <p:nvSpPr>
          <p:cNvPr id="7" name="Text 4"/>
          <p:cNvSpPr/>
          <p:nvPr/>
        </p:nvSpPr>
        <p:spPr>
          <a:xfrm>
            <a:off x="914400" y="2697480"/>
            <a:ext cx="3200400" cy="118872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Beta = market sensitivity</a:t>
            </a:r>
            <a:endParaRPr lang="en-US" sz="2200" dirty="0"/>
          </a:p>
        </p:txBody>
      </p:sp>
      <p:sp>
        <p:nvSpPr>
          <p:cNvPr id="8" name="Text 5"/>
          <p:cNvSpPr/>
          <p:nvPr/>
        </p:nvSpPr>
        <p:spPr>
          <a:xfrm>
            <a:off x="914400" y="3977640"/>
            <a:ext cx="320040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1.0</a:t>
            </a:r>
            <a:endParaRPr lang="en-US" sz="3000" dirty="0"/>
          </a:p>
        </p:txBody>
      </p:sp>
      <p:sp>
        <p:nvSpPr>
          <p:cNvPr id="9" name="Text 6"/>
          <p:cNvSpPr/>
          <p:nvPr/>
        </p:nvSpPr>
        <p:spPr>
          <a:xfrm>
            <a:off x="914400" y="4617720"/>
            <a:ext cx="3200400" cy="457200"/>
          </a:xfrm>
          <a:prstGeom prst="rect">
            <a:avLst/>
          </a:prstGeom>
          <a:noFill/>
          <a:ln/>
        </p:spPr>
        <p:txBody>
          <a:bodyPr wrap="square" lIns="0" tIns="0" rIns="0" bIns="0" rtlCol="0" anchor="ctr"/>
          <a:lstStyle/>
          <a:p>
            <a:pPr indent="0" marL="0">
              <a:buNone/>
            </a:pPr>
            <a:r>
              <a:rPr lang="en-US" sz="1200" dirty="0">
                <a:solidFill>
                  <a:srgbClr val="F3F3F1"/>
                </a:solidFill>
                <a:latin typeface="Arial" pitchFamily="34" charset="0"/>
                <a:ea typeface="Arial" pitchFamily="34" charset="-122"/>
                <a:cs typeface="Arial" pitchFamily="34" charset="-120"/>
              </a:rPr>
              <a:t>moves with the market  ·  &gt;1 more volatile  ·  &lt;1 calmer</a:t>
            </a:r>
            <a:endParaRPr lang="en-US" sz="1200" dirty="0"/>
          </a:p>
        </p:txBody>
      </p:sp>
      <p:sp>
        <p:nvSpPr>
          <p:cNvPr id="10" name="Shape 7"/>
          <p:cNvSpPr/>
          <p:nvPr/>
        </p:nvSpPr>
        <p:spPr>
          <a:xfrm>
            <a:off x="4663440" y="1600200"/>
            <a:ext cx="6858000" cy="1207008"/>
          </a:xfrm>
          <a:prstGeom prst="roundRect">
            <a:avLst>
              <a:gd name="adj" fmla="val 4545"/>
            </a:avLst>
          </a:prstGeom>
          <a:solidFill>
            <a:srgbClr val="F3F3F1"/>
          </a:solidFill>
          <a:ln/>
        </p:spPr>
      </p:sp>
      <p:sp>
        <p:nvSpPr>
          <p:cNvPr id="11" name="Shape 8"/>
          <p:cNvSpPr/>
          <p:nvPr/>
        </p:nvSpPr>
        <p:spPr>
          <a:xfrm>
            <a:off x="4892040" y="1952244"/>
            <a:ext cx="502920" cy="502920"/>
          </a:xfrm>
          <a:prstGeom prst="roundRect">
            <a:avLst>
              <a:gd name="adj" fmla="val 16364"/>
            </a:avLst>
          </a:prstGeom>
          <a:solidFill>
            <a:srgbClr val="A51C30"/>
          </a:solidFill>
          <a:ln/>
        </p:spPr>
      </p:sp>
      <p:pic>
        <p:nvPicPr>
          <p:cNvPr id="12" name="Image 1" descr="preencoded.png">    </p:cNvPr>
          <p:cNvPicPr>
            <a:picLocks noChangeAspect="1"/>
          </p:cNvPicPr>
          <p:nvPr/>
        </p:nvPicPr>
        <p:blipFill>
          <a:blip r:embed="rId2"/>
          <a:stretch>
            <a:fillRect/>
          </a:stretch>
        </p:blipFill>
        <p:spPr>
          <a:xfrm>
            <a:off x="5005197" y="2065401"/>
            <a:ext cx="276606" cy="276606"/>
          </a:xfrm>
          <a:prstGeom prst="rect">
            <a:avLst/>
          </a:prstGeom>
        </p:spPr>
      </p:pic>
      <p:sp>
        <p:nvSpPr>
          <p:cNvPr id="13" name="Text 9"/>
          <p:cNvSpPr/>
          <p:nvPr/>
        </p:nvSpPr>
        <p:spPr>
          <a:xfrm>
            <a:off x="5623560" y="1764792"/>
            <a:ext cx="5669280" cy="932688"/>
          </a:xfrm>
          <a:prstGeom prst="rect">
            <a:avLst/>
          </a:prstGeom>
          <a:noFill/>
          <a:ln/>
        </p:spPr>
        <p:txBody>
          <a:bodyPr wrap="square" lIns="0" tIns="0" rIns="0" bIns="0" rtlCol="0" anchor="ctr"/>
          <a:lstStyle/>
          <a:p>
            <a:pPr indent="0" marL="0">
              <a:lnSpc>
                <a:spcPct val="105000"/>
              </a:lnSpc>
              <a:buNone/>
            </a:pPr>
            <a:r>
              <a:rPr lang="en-US" sz="1500" b="1" dirty="0">
                <a:solidFill>
                  <a:srgbClr val="293352"/>
                </a:solidFill>
                <a:latin typeface="Arial" pitchFamily="34" charset="0"/>
                <a:ea typeface="Arial" pitchFamily="34" charset="-122"/>
                <a:cs typeface="Arial" pitchFamily="34" charset="-120"/>
              </a:rPr>
              <a:t>SPY stands in for the market
</a:t>
            </a:r>
            <a:pPr indent="0" marL="0">
              <a:lnSpc>
                <a:spcPct val="105000"/>
              </a:lnSpc>
              <a:buNone/>
            </a:pPr>
            <a:r>
              <a:rPr lang="en-US" sz="1300" dirty="0">
                <a:solidFill>
                  <a:srgbClr val="1E1E1E"/>
                </a:solidFill>
                <a:latin typeface="Arial" pitchFamily="34" charset="0"/>
                <a:ea typeface="Arial" pitchFamily="34" charset="-122"/>
                <a:cs typeface="Arial" pitchFamily="34" charset="-120"/>
              </a:rPr>
              <a:t>An S&amp;P 500 ETF used only as a reference series, never inside the optimization.</a:t>
            </a:r>
            <a:endParaRPr lang="en-US" sz="1500" dirty="0"/>
          </a:p>
        </p:txBody>
      </p:sp>
      <p:sp>
        <p:nvSpPr>
          <p:cNvPr id="14" name="Shape 10"/>
          <p:cNvSpPr/>
          <p:nvPr/>
        </p:nvSpPr>
        <p:spPr>
          <a:xfrm>
            <a:off x="4663440" y="2990088"/>
            <a:ext cx="6858000" cy="1207008"/>
          </a:xfrm>
          <a:prstGeom prst="roundRect">
            <a:avLst>
              <a:gd name="adj" fmla="val 4545"/>
            </a:avLst>
          </a:prstGeom>
          <a:solidFill>
            <a:srgbClr val="F3F3F1"/>
          </a:solidFill>
          <a:ln/>
        </p:spPr>
      </p:sp>
      <p:sp>
        <p:nvSpPr>
          <p:cNvPr id="15" name="Shape 11"/>
          <p:cNvSpPr/>
          <p:nvPr/>
        </p:nvSpPr>
        <p:spPr>
          <a:xfrm>
            <a:off x="4892040" y="3342132"/>
            <a:ext cx="502920" cy="502920"/>
          </a:xfrm>
          <a:prstGeom prst="roundRect">
            <a:avLst>
              <a:gd name="adj" fmla="val 16364"/>
            </a:avLst>
          </a:prstGeom>
          <a:solidFill>
            <a:srgbClr val="A51C30"/>
          </a:solidFill>
          <a:ln/>
        </p:spPr>
      </p:sp>
      <p:pic>
        <p:nvPicPr>
          <p:cNvPr id="16" name="Image 2" descr="preencoded.png">    </p:cNvPr>
          <p:cNvPicPr>
            <a:picLocks noChangeAspect="1"/>
          </p:cNvPicPr>
          <p:nvPr/>
        </p:nvPicPr>
        <p:blipFill>
          <a:blip r:embed="rId3"/>
          <a:stretch>
            <a:fillRect/>
          </a:stretch>
        </p:blipFill>
        <p:spPr>
          <a:xfrm>
            <a:off x="5005197" y="3455289"/>
            <a:ext cx="276606" cy="276606"/>
          </a:xfrm>
          <a:prstGeom prst="rect">
            <a:avLst/>
          </a:prstGeom>
        </p:spPr>
      </p:pic>
      <p:sp>
        <p:nvSpPr>
          <p:cNvPr id="17" name="Text 12"/>
          <p:cNvSpPr/>
          <p:nvPr/>
        </p:nvSpPr>
        <p:spPr>
          <a:xfrm>
            <a:off x="5623560" y="3154680"/>
            <a:ext cx="5669280" cy="932688"/>
          </a:xfrm>
          <a:prstGeom prst="rect">
            <a:avLst/>
          </a:prstGeom>
          <a:noFill/>
          <a:ln/>
        </p:spPr>
        <p:txBody>
          <a:bodyPr wrap="square" lIns="0" tIns="0" rIns="0" bIns="0" rtlCol="0" anchor="ctr"/>
          <a:lstStyle/>
          <a:p>
            <a:pPr indent="0" marL="0">
              <a:lnSpc>
                <a:spcPct val="105000"/>
              </a:lnSpc>
              <a:buNone/>
            </a:pPr>
            <a:r>
              <a:rPr lang="en-US" sz="1500" b="1" dirty="0">
                <a:solidFill>
                  <a:srgbClr val="293352"/>
                </a:solidFill>
                <a:latin typeface="Arial" pitchFamily="34" charset="0"/>
                <a:ea typeface="Arial" pitchFamily="34" charset="-122"/>
                <a:cs typeface="Arial" pitchFamily="34" charset="-120"/>
              </a:rPr>
              <a:t>Why it matters
</a:t>
            </a:r>
            <a:pPr indent="0" marL="0">
              <a:lnSpc>
                <a:spcPct val="105000"/>
              </a:lnSpc>
              <a:buNone/>
            </a:pPr>
            <a:r>
              <a:rPr lang="en-US" sz="1300" dirty="0">
                <a:solidFill>
                  <a:srgbClr val="1E1E1E"/>
                </a:solidFill>
                <a:latin typeface="Arial" pitchFamily="34" charset="0"/>
                <a:ea typeface="Arial" pitchFamily="34" charset="-122"/>
                <a:cs typeface="Arial" pitchFamily="34" charset="-120"/>
              </a:rPr>
              <a:t>Your risk profile can drift even when your holdings do not change.</a:t>
            </a:r>
            <a:endParaRPr lang="en-US" sz="1500" dirty="0"/>
          </a:p>
        </p:txBody>
      </p:sp>
      <p:sp>
        <p:nvSpPr>
          <p:cNvPr id="18" name="Shape 13"/>
          <p:cNvSpPr/>
          <p:nvPr/>
        </p:nvSpPr>
        <p:spPr>
          <a:xfrm>
            <a:off x="4663440" y="4379976"/>
            <a:ext cx="6858000" cy="1207008"/>
          </a:xfrm>
          <a:prstGeom prst="roundRect">
            <a:avLst>
              <a:gd name="adj" fmla="val 4545"/>
            </a:avLst>
          </a:prstGeom>
          <a:solidFill>
            <a:srgbClr val="F3F3F1"/>
          </a:solidFill>
          <a:ln/>
        </p:spPr>
      </p:sp>
      <p:sp>
        <p:nvSpPr>
          <p:cNvPr id="19" name="Shape 14"/>
          <p:cNvSpPr/>
          <p:nvPr/>
        </p:nvSpPr>
        <p:spPr>
          <a:xfrm>
            <a:off x="4892040" y="4732020"/>
            <a:ext cx="502920" cy="502920"/>
          </a:xfrm>
          <a:prstGeom prst="roundRect">
            <a:avLst>
              <a:gd name="adj" fmla="val 16364"/>
            </a:avLst>
          </a:prstGeom>
          <a:solidFill>
            <a:srgbClr val="A51C30"/>
          </a:solidFill>
          <a:ln/>
        </p:spPr>
      </p:sp>
      <p:pic>
        <p:nvPicPr>
          <p:cNvPr id="20" name="Image 3" descr="preencoded.png">    </p:cNvPr>
          <p:cNvPicPr>
            <a:picLocks noChangeAspect="1"/>
          </p:cNvPicPr>
          <p:nvPr/>
        </p:nvPicPr>
        <p:blipFill>
          <a:blip r:embed="rId4"/>
          <a:stretch>
            <a:fillRect/>
          </a:stretch>
        </p:blipFill>
        <p:spPr>
          <a:xfrm>
            <a:off x="5005197" y="4845177"/>
            <a:ext cx="276606" cy="276606"/>
          </a:xfrm>
          <a:prstGeom prst="rect">
            <a:avLst/>
          </a:prstGeom>
        </p:spPr>
      </p:pic>
      <p:sp>
        <p:nvSpPr>
          <p:cNvPr id="21" name="Text 15"/>
          <p:cNvSpPr/>
          <p:nvPr/>
        </p:nvSpPr>
        <p:spPr>
          <a:xfrm>
            <a:off x="5623560" y="4544568"/>
            <a:ext cx="5669280" cy="932688"/>
          </a:xfrm>
          <a:prstGeom prst="rect">
            <a:avLst/>
          </a:prstGeom>
          <a:noFill/>
          <a:ln/>
        </p:spPr>
        <p:txBody>
          <a:bodyPr wrap="square" lIns="0" tIns="0" rIns="0" bIns="0" rtlCol="0" anchor="ctr"/>
          <a:lstStyle/>
          <a:p>
            <a:pPr indent="0" marL="0">
              <a:lnSpc>
                <a:spcPct val="105000"/>
              </a:lnSpc>
              <a:buNone/>
            </a:pPr>
            <a:r>
              <a:rPr lang="en-US" sz="1500" b="1" dirty="0">
                <a:solidFill>
                  <a:srgbClr val="293352"/>
                </a:solidFill>
                <a:latin typeface="Arial" pitchFamily="34" charset="0"/>
                <a:ea typeface="Arial" pitchFamily="34" charset="-122"/>
                <a:cs typeface="Arial" pitchFamily="34" charset="-120"/>
              </a:rPr>
              <a:t>How it is computed
</a:t>
            </a:r>
            <a:pPr indent="0" marL="0">
              <a:lnSpc>
                <a:spcPct val="105000"/>
              </a:lnSpc>
              <a:buNone/>
            </a:pPr>
            <a:r>
              <a:rPr lang="en-US" sz="1300" dirty="0">
                <a:solidFill>
                  <a:srgbClr val="1E1E1E"/>
                </a:solidFill>
                <a:latin typeface="Arial" pitchFamily="34" charset="0"/>
                <a:ea typeface="Arial" pitchFamily="34" charset="-122"/>
                <a:cs typeface="Arial" pitchFamily="34" charset="-120"/>
              </a:rPr>
              <a:t>A small regression style function inside a moving window.</a:t>
            </a:r>
            <a:endParaRPr lang="en-US" sz="1500" dirty="0"/>
          </a:p>
        </p:txBody>
      </p:sp>
      <p:sp>
        <p:nvSpPr>
          <p:cNvPr id="22"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23" name="Harvard Page Number"/>
          <p:cNvSpPr txBox="1"/>
          <p:nvPr/>
        </p:nvSpPr>
        <p:spPr>
          <a:xfrm>
            <a:off x="11730577" y="6446043"/>
            <a:ext cx="324104" cy="274638"/>
          </a:xfrm>
          <a:prstGeom prst="rect">
            <a:avLst/>
          </a:prstGeom>
          <a:noFill/>
        </p:spPr>
        <p:txBody>
          <a:bodyPr wrap="none" lIns="0" rIns="0" tIns="0" bIns="0">
            <a:noAutofit/>
          </a:bodyPr>
          <a:lstStyle/>
          <a:p>
            <a:pPr algn="r"/>
            <a:fld id="{CF3B2B8C-E72D-4CD5-98ED-5B418C871939}" type="slidenum">
              <a:rPr lang="en-US" sz="1000">
                <a:solidFill>
                  <a:srgbClr val="8996A0"/>
                </a:solidFill>
                <a:latin typeface="Arial"/>
              </a:rPr>
              <a:t>18</a:t>
            </a:fld>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LIVE IN RSTUDIO</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Script F: run it</a:t>
            </a:r>
            <a:endParaRPr lang="en-US" sz="2800" dirty="0"/>
          </a:p>
        </p:txBody>
      </p:sp>
      <p:sp>
        <p:nvSpPr>
          <p:cNvPr id="4" name="Shape 2"/>
          <p:cNvSpPr/>
          <p:nvPr/>
        </p:nvSpPr>
        <p:spPr>
          <a:xfrm>
            <a:off x="640080" y="1600200"/>
            <a:ext cx="10881360" cy="3611880"/>
          </a:xfrm>
          <a:prstGeom prst="roundRect">
            <a:avLst>
              <a:gd name="adj" fmla="val 1519"/>
            </a:avLst>
          </a:prstGeom>
          <a:solidFill>
            <a:srgbClr val="1E1E1E"/>
          </a:solidFill>
          <a:ln/>
        </p:spPr>
      </p:sp>
      <p:sp>
        <p:nvSpPr>
          <p:cNvPr id="5" name="Shape 3"/>
          <p:cNvSpPr/>
          <p:nvPr/>
        </p:nvSpPr>
        <p:spPr>
          <a:xfrm>
            <a:off x="914400" y="1828800"/>
            <a:ext cx="146304" cy="146304"/>
          </a:xfrm>
          <a:prstGeom prst="ellipse">
            <a:avLst/>
          </a:prstGeom>
          <a:solidFill>
            <a:srgbClr val="A51C30"/>
          </a:solidFill>
          <a:ln/>
        </p:spPr>
      </p:sp>
      <p:sp>
        <p:nvSpPr>
          <p:cNvPr id="6" name="Shape 4"/>
          <p:cNvSpPr/>
          <p:nvPr/>
        </p:nvSpPr>
        <p:spPr>
          <a:xfrm>
            <a:off x="1170432" y="1828800"/>
            <a:ext cx="146304" cy="146304"/>
          </a:xfrm>
          <a:prstGeom prst="ellipse">
            <a:avLst/>
          </a:prstGeom>
          <a:solidFill>
            <a:srgbClr val="C4961A"/>
          </a:solidFill>
          <a:ln/>
        </p:spPr>
      </p:sp>
      <p:sp>
        <p:nvSpPr>
          <p:cNvPr id="7" name="Shape 5"/>
          <p:cNvSpPr/>
          <p:nvPr/>
        </p:nvSpPr>
        <p:spPr>
          <a:xfrm>
            <a:off x="1426464" y="1828800"/>
            <a:ext cx="146304" cy="146304"/>
          </a:xfrm>
          <a:prstGeom prst="ellipse">
            <a:avLst/>
          </a:prstGeom>
          <a:solidFill>
            <a:srgbClr val="1D9E75"/>
          </a:solidFill>
          <a:ln/>
        </p:spPr>
      </p:sp>
      <p:sp>
        <p:nvSpPr>
          <p:cNvPr id="8" name="Text 6"/>
          <p:cNvSpPr/>
          <p:nvPr/>
        </p:nvSpPr>
        <p:spPr>
          <a:xfrm>
            <a:off x="2011680" y="1764792"/>
            <a:ext cx="5486400" cy="274320"/>
          </a:xfrm>
          <a:prstGeom prst="rect">
            <a:avLst/>
          </a:prstGeom>
          <a:noFill/>
          <a:ln/>
        </p:spPr>
        <p:txBody>
          <a:bodyPr wrap="square" lIns="0" tIns="0" rIns="0" bIns="0" rtlCol="0" anchor="ctr"/>
          <a:lstStyle/>
          <a:p>
            <a:pPr indent="0" marL="0">
              <a:buNone/>
            </a:pPr>
            <a:r>
              <a:rPr lang="en-US" sz="1100" b="1" spc="200" kern="0" dirty="0">
                <a:solidFill>
                  <a:srgbClr val="8996A0"/>
                </a:solidFill>
                <a:latin typeface="Arial" pitchFamily="34" charset="0"/>
                <a:ea typeface="Arial" pitchFamily="34" charset="-122"/>
                <a:cs typeface="Arial" pitchFamily="34" charset="-120"/>
              </a:rPr>
              <a:t>LIVE CODE STEP THROUGH</a:t>
            </a:r>
            <a:endParaRPr lang="en-US" sz="1100" dirty="0"/>
          </a:p>
        </p:txBody>
      </p:sp>
      <p:sp>
        <p:nvSpPr>
          <p:cNvPr id="9" name="Text 7"/>
          <p:cNvSpPr/>
          <p:nvPr/>
        </p:nvSpPr>
        <p:spPr>
          <a:xfrm>
            <a:off x="914400" y="2331720"/>
            <a:ext cx="10332720" cy="685800"/>
          </a:xfrm>
          <a:prstGeom prst="rect">
            <a:avLst/>
          </a:prstGeom>
          <a:noFill/>
          <a:ln/>
        </p:spPr>
        <p:txBody>
          <a:bodyPr wrap="square" lIns="0" tIns="0" rIns="0" bIns="0" rtlCol="0" anchor="t"/>
          <a:lstStyle/>
          <a:p>
            <a:pPr indent="0" marL="0">
              <a:lnSpc>
                <a:spcPct val="100000"/>
              </a:lnSpc>
              <a:buNone/>
            </a:pPr>
            <a:r>
              <a:rPr lang="en-US" sz="1500" b="1" dirty="0">
                <a:solidFill>
                  <a:srgbClr val="4E84C4"/>
                </a:solidFill>
                <a:latin typeface="Arial" pitchFamily="34" charset="0"/>
                <a:ea typeface="Arial" pitchFamily="34" charset="-122"/>
                <a:cs typeface="Arial" pitchFamily="34" charset="-120"/>
              </a:rPr>
              <a:t>&gt; </a:t>
            </a:r>
            <a:pPr indent="0" marL="0">
              <a:lnSpc>
                <a:spcPct val="100000"/>
              </a:lnSpc>
              <a:buNone/>
            </a:pPr>
            <a:r>
              <a:rPr lang="en-US" sz="1500" dirty="0">
                <a:solidFill>
                  <a:srgbClr val="F3F3F1"/>
                </a:solidFill>
                <a:latin typeface="Arial" pitchFamily="34" charset="0"/>
                <a:ea typeface="Arial" pitchFamily="34" charset="-122"/>
                <a:cs typeface="Arial" pitchFamily="34" charset="-120"/>
              </a:rPr>
              <a:t>Build the equal weight portfolio return series.</a:t>
            </a:r>
            <a:endParaRPr lang="en-US" sz="1500" dirty="0"/>
          </a:p>
        </p:txBody>
      </p:sp>
      <p:sp>
        <p:nvSpPr>
          <p:cNvPr id="10" name="Text 8"/>
          <p:cNvSpPr/>
          <p:nvPr/>
        </p:nvSpPr>
        <p:spPr>
          <a:xfrm>
            <a:off x="914400" y="3172968"/>
            <a:ext cx="10332720" cy="685800"/>
          </a:xfrm>
          <a:prstGeom prst="rect">
            <a:avLst/>
          </a:prstGeom>
          <a:noFill/>
          <a:ln/>
        </p:spPr>
        <p:txBody>
          <a:bodyPr wrap="square" lIns="0" tIns="0" rIns="0" bIns="0" rtlCol="0" anchor="t"/>
          <a:lstStyle/>
          <a:p>
            <a:pPr indent="0" marL="0">
              <a:lnSpc>
                <a:spcPct val="100000"/>
              </a:lnSpc>
              <a:buNone/>
            </a:pPr>
            <a:r>
              <a:rPr lang="en-US" sz="1500" b="1" dirty="0">
                <a:solidFill>
                  <a:srgbClr val="4E84C4"/>
                </a:solidFill>
                <a:latin typeface="Arial" pitchFamily="34" charset="0"/>
                <a:ea typeface="Arial" pitchFamily="34" charset="-122"/>
                <a:cs typeface="Arial" pitchFamily="34" charset="-120"/>
              </a:rPr>
              <a:t>&gt; </a:t>
            </a:r>
            <a:pPr indent="0" marL="0">
              <a:lnSpc>
                <a:spcPct val="100000"/>
              </a:lnSpc>
              <a:buNone/>
            </a:pPr>
            <a:r>
              <a:rPr lang="en-US" sz="1500" dirty="0">
                <a:solidFill>
                  <a:srgbClr val="F3F3F1"/>
                </a:solidFill>
                <a:latin typeface="Arial" pitchFamily="34" charset="0"/>
                <a:ea typeface="Arial" pitchFamily="34" charset="-122"/>
                <a:cs typeface="Arial" pitchFamily="34" charset="-120"/>
              </a:rPr>
              <a:t>Compute rolling Sharpe from parts, then rolling beta with the small regression function.</a:t>
            </a:r>
            <a:endParaRPr lang="en-US" sz="1500" dirty="0"/>
          </a:p>
        </p:txBody>
      </p:sp>
      <p:sp>
        <p:nvSpPr>
          <p:cNvPr id="11" name="Text 9"/>
          <p:cNvSpPr/>
          <p:nvPr/>
        </p:nvSpPr>
        <p:spPr>
          <a:xfrm>
            <a:off x="914400" y="4014216"/>
            <a:ext cx="10332720" cy="685800"/>
          </a:xfrm>
          <a:prstGeom prst="rect">
            <a:avLst/>
          </a:prstGeom>
          <a:noFill/>
          <a:ln/>
        </p:spPr>
        <p:txBody>
          <a:bodyPr wrap="square" lIns="0" tIns="0" rIns="0" bIns="0" rtlCol="0" anchor="t"/>
          <a:lstStyle/>
          <a:p>
            <a:pPr indent="0" marL="0">
              <a:lnSpc>
                <a:spcPct val="100000"/>
              </a:lnSpc>
              <a:buNone/>
            </a:pPr>
            <a:r>
              <a:rPr lang="en-US" sz="1500" b="1" dirty="0">
                <a:solidFill>
                  <a:srgbClr val="4E84C4"/>
                </a:solidFill>
                <a:latin typeface="Arial" pitchFamily="34" charset="0"/>
                <a:ea typeface="Arial" pitchFamily="34" charset="-122"/>
                <a:cs typeface="Arial" pitchFamily="34" charset="-120"/>
              </a:rPr>
              <a:t>&gt; </a:t>
            </a:r>
            <a:pPr indent="0" marL="0">
              <a:lnSpc>
                <a:spcPct val="100000"/>
              </a:lnSpc>
              <a:buNone/>
            </a:pPr>
            <a:r>
              <a:rPr lang="en-US" sz="1500" dirty="0">
                <a:solidFill>
                  <a:srgbClr val="F3F3F1"/>
                </a:solidFill>
                <a:latin typeface="Arial" pitchFamily="34" charset="0"/>
                <a:ea typeface="Arial" pitchFamily="34" charset="-122"/>
                <a:cs typeface="Arial" pitchFamily="34" charset="-120"/>
              </a:rPr>
              <a:t>Plot both, read the story in each.</a:t>
            </a:r>
            <a:endParaRPr lang="en-US" sz="1500" dirty="0"/>
          </a:p>
        </p:txBody>
      </p:sp>
      <p:sp>
        <p:nvSpPr>
          <p:cNvPr id="12" name="Shape 10"/>
          <p:cNvSpPr/>
          <p:nvPr/>
        </p:nvSpPr>
        <p:spPr>
          <a:xfrm>
            <a:off x="640080" y="5440680"/>
            <a:ext cx="2377440" cy="457200"/>
          </a:xfrm>
          <a:prstGeom prst="roundRect">
            <a:avLst>
              <a:gd name="adj" fmla="val 50000"/>
            </a:avLst>
          </a:prstGeom>
          <a:solidFill>
            <a:srgbClr val="F3F3F1"/>
          </a:solidFill>
          <a:ln/>
        </p:spPr>
      </p:sp>
      <p:sp>
        <p:nvSpPr>
          <p:cNvPr id="13" name="Text 11"/>
          <p:cNvSpPr/>
          <p:nvPr/>
        </p:nvSpPr>
        <p:spPr>
          <a:xfrm>
            <a:off x="640080" y="5440680"/>
            <a:ext cx="2377440" cy="457200"/>
          </a:xfrm>
          <a:prstGeom prst="rect">
            <a:avLst/>
          </a:prstGeom>
          <a:noFill/>
          <a:ln/>
        </p:spPr>
        <p:txBody>
          <a:bodyPr wrap="square" lIns="0" tIns="0" rIns="0" bIns="0" rtlCol="0" anchor="ctr"/>
          <a:lstStyle/>
          <a:p>
            <a:pPr algn="ctr" indent="0" marL="0">
              <a:buNone/>
            </a:pPr>
            <a:r>
              <a:rPr lang="en-US" sz="1300" b="1" dirty="0">
                <a:solidFill>
                  <a:srgbClr val="293352"/>
                </a:solidFill>
                <a:latin typeface="Arial" pitchFamily="34" charset="0"/>
                <a:ea typeface="Arial" pitchFamily="34" charset="-122"/>
                <a:cs typeface="Arial" pitchFamily="34" charset="-120"/>
              </a:rPr>
              <a:t>⏱  about 12 minutes</a:t>
            </a:r>
            <a:endParaRPr lang="en-US" sz="1300" dirty="0"/>
          </a:p>
        </p:txBody>
      </p:sp>
      <p:sp>
        <p:nvSpPr>
          <p:cNvPr id="14"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15" name="Harvard Page Number"/>
          <p:cNvSpPr txBox="1"/>
          <p:nvPr/>
        </p:nvSpPr>
        <p:spPr>
          <a:xfrm>
            <a:off x="11730577" y="6446043"/>
            <a:ext cx="324104" cy="274638"/>
          </a:xfrm>
          <a:prstGeom prst="rect">
            <a:avLst/>
          </a:prstGeom>
          <a:noFill/>
        </p:spPr>
        <p:txBody>
          <a:bodyPr wrap="none" lIns="0" rIns="0" tIns="0" bIns="0">
            <a:noAutofit/>
          </a:bodyPr>
          <a:lstStyle/>
          <a:p>
            <a:pPr algn="r"/>
            <a:fld id="{EB42DDD1-8F36-4E4D-ACAB-379353ACD5BA}" type="slidenum">
              <a:rPr lang="en-US" sz="1000">
                <a:solidFill>
                  <a:srgbClr val="8996A0"/>
                </a:solidFill>
                <a:latin typeface="Arial"/>
              </a:rPr>
              <a:t>19</a:t>
            </a:fld>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THE MONITORING SURFACE</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Export and the live chatbot read</a:t>
            </a:r>
            <a:endParaRPr lang="en-US" sz="2800" dirty="0"/>
          </a:p>
        </p:txBody>
      </p:sp>
      <p:sp>
        <p:nvSpPr>
          <p:cNvPr id="4" name="Shape 2"/>
          <p:cNvSpPr/>
          <p:nvPr/>
        </p:nvSpPr>
        <p:spPr>
          <a:xfrm>
            <a:off x="640080" y="1600200"/>
            <a:ext cx="5257800" cy="1965960"/>
          </a:xfrm>
          <a:prstGeom prst="roundRect">
            <a:avLst>
              <a:gd name="adj" fmla="val 2791"/>
            </a:avLst>
          </a:prstGeom>
          <a:solidFill>
            <a:srgbClr val="F3F3F1"/>
          </a:solidFill>
          <a:ln/>
        </p:spPr>
      </p:sp>
      <p:sp>
        <p:nvSpPr>
          <p:cNvPr id="5" name="Shape 3"/>
          <p:cNvSpPr/>
          <p:nvPr/>
        </p:nvSpPr>
        <p:spPr>
          <a:xfrm>
            <a:off x="914400" y="1874520"/>
            <a:ext cx="548640" cy="548640"/>
          </a:xfrm>
          <a:prstGeom prst="roundRect">
            <a:avLst>
              <a:gd name="adj" fmla="val 15000"/>
            </a:avLst>
          </a:prstGeom>
          <a:solidFill>
            <a:srgbClr val="293352"/>
          </a:solidFill>
          <a:ln/>
        </p:spPr>
      </p:sp>
      <p:pic>
        <p:nvPicPr>
          <p:cNvPr id="6" name="Image 0" descr="preencoded.png">    </p:cNvPr>
          <p:cNvPicPr>
            <a:picLocks noChangeAspect="1"/>
          </p:cNvPicPr>
          <p:nvPr/>
        </p:nvPicPr>
        <p:blipFill>
          <a:blip r:embed="rId1"/>
          <a:stretch>
            <a:fillRect/>
          </a:stretch>
        </p:blipFill>
        <p:spPr>
          <a:xfrm>
            <a:off x="1037844" y="1997964"/>
            <a:ext cx="301752" cy="301752"/>
          </a:xfrm>
          <a:prstGeom prst="rect">
            <a:avLst/>
          </a:prstGeom>
        </p:spPr>
      </p:pic>
      <p:sp>
        <p:nvSpPr>
          <p:cNvPr id="7" name="Text 4"/>
          <p:cNvSpPr/>
          <p:nvPr/>
        </p:nvSpPr>
        <p:spPr>
          <a:xfrm>
            <a:off x="1645920" y="1856232"/>
            <a:ext cx="4023360" cy="548640"/>
          </a:xfrm>
          <a:prstGeom prst="rect">
            <a:avLst/>
          </a:prstGeom>
          <a:noFill/>
          <a:ln/>
        </p:spPr>
        <p:txBody>
          <a:bodyPr wrap="square" lIns="0" tIns="0" rIns="0" bIns="0" rtlCol="0" anchor="ctr"/>
          <a:lstStyle/>
          <a:p>
            <a:pPr indent="0" marL="0">
              <a:buNone/>
            </a:pPr>
            <a:r>
              <a:rPr lang="en-US" sz="1600" b="1" dirty="0">
                <a:solidFill>
                  <a:srgbClr val="293352"/>
                </a:solidFill>
                <a:latin typeface="Arial" pitchFamily="34" charset="0"/>
                <a:ea typeface="Arial" pitchFamily="34" charset="-122"/>
                <a:cs typeface="Arial" pitchFamily="34" charset="-120"/>
              </a:rPr>
              <a:t>rolling_metrics.json</a:t>
            </a:r>
            <a:endParaRPr lang="en-US" sz="1600" dirty="0"/>
          </a:p>
        </p:txBody>
      </p:sp>
      <p:sp>
        <p:nvSpPr>
          <p:cNvPr id="8" name="Text 5"/>
          <p:cNvSpPr/>
          <p:nvPr/>
        </p:nvSpPr>
        <p:spPr>
          <a:xfrm>
            <a:off x="914400" y="2514600"/>
            <a:ext cx="4709160" cy="914400"/>
          </a:xfrm>
          <a:prstGeom prst="rect">
            <a:avLst/>
          </a:prstGeom>
          <a:noFill/>
          <a:ln/>
        </p:spPr>
        <p:txBody>
          <a:bodyPr wrap="square" lIns="0" tIns="0" rIns="0" bIns="0" rtlCol="0" anchor="t"/>
          <a:lstStyle/>
          <a:p>
            <a:pPr indent="0" marL="0">
              <a:buNone/>
            </a:pPr>
            <a:r>
              <a:rPr lang="en-US" sz="1350" dirty="0">
                <a:solidFill>
                  <a:srgbClr val="1E1E1E"/>
                </a:solidFill>
                <a:latin typeface="Arial" pitchFamily="34" charset="0"/>
                <a:ea typeface="Arial" pitchFamily="34" charset="-122"/>
                <a:cs typeface="Arial" pitchFamily="34" charset="-120"/>
              </a:rPr>
              <a:t>Latest Sharpe, latest beta, latest pairwise correlations, in one readable file.</a:t>
            </a:r>
            <a:endParaRPr lang="en-US" sz="1350" dirty="0"/>
          </a:p>
        </p:txBody>
      </p:sp>
      <p:sp>
        <p:nvSpPr>
          <p:cNvPr id="9" name="Shape 6"/>
          <p:cNvSpPr/>
          <p:nvPr/>
        </p:nvSpPr>
        <p:spPr>
          <a:xfrm>
            <a:off x="6263640" y="1600200"/>
            <a:ext cx="5257800" cy="1965960"/>
          </a:xfrm>
          <a:prstGeom prst="roundRect">
            <a:avLst>
              <a:gd name="adj" fmla="val 2791"/>
            </a:avLst>
          </a:prstGeom>
          <a:solidFill>
            <a:srgbClr val="F3F3F1"/>
          </a:solidFill>
          <a:ln/>
        </p:spPr>
      </p:sp>
      <p:sp>
        <p:nvSpPr>
          <p:cNvPr id="10" name="Shape 7"/>
          <p:cNvSpPr/>
          <p:nvPr/>
        </p:nvSpPr>
        <p:spPr>
          <a:xfrm>
            <a:off x="6537960" y="1874520"/>
            <a:ext cx="548640" cy="548640"/>
          </a:xfrm>
          <a:prstGeom prst="roundRect">
            <a:avLst>
              <a:gd name="adj" fmla="val 15000"/>
            </a:avLst>
          </a:prstGeom>
          <a:solidFill>
            <a:srgbClr val="A51C30"/>
          </a:solidFill>
          <a:ln/>
        </p:spPr>
      </p:sp>
      <p:pic>
        <p:nvPicPr>
          <p:cNvPr id="11" name="Image 1" descr="preencoded.png">    </p:cNvPr>
          <p:cNvPicPr>
            <a:picLocks noChangeAspect="1"/>
          </p:cNvPicPr>
          <p:nvPr/>
        </p:nvPicPr>
        <p:blipFill>
          <a:blip r:embed="rId2"/>
          <a:stretch>
            <a:fillRect/>
          </a:stretch>
        </p:blipFill>
        <p:spPr>
          <a:xfrm>
            <a:off x="6661404" y="1997964"/>
            <a:ext cx="301752" cy="301752"/>
          </a:xfrm>
          <a:prstGeom prst="rect">
            <a:avLst/>
          </a:prstGeom>
        </p:spPr>
      </p:pic>
      <p:sp>
        <p:nvSpPr>
          <p:cNvPr id="12" name="Text 8"/>
          <p:cNvSpPr/>
          <p:nvPr/>
        </p:nvSpPr>
        <p:spPr>
          <a:xfrm>
            <a:off x="7269480" y="1856232"/>
            <a:ext cx="4023360" cy="548640"/>
          </a:xfrm>
          <a:prstGeom prst="rect">
            <a:avLst/>
          </a:prstGeom>
          <a:noFill/>
          <a:ln/>
        </p:spPr>
        <p:txBody>
          <a:bodyPr wrap="square" lIns="0" tIns="0" rIns="0" bIns="0" rtlCol="0" anchor="ctr"/>
          <a:lstStyle/>
          <a:p>
            <a:pPr indent="0" marL="0">
              <a:buNone/>
            </a:pPr>
            <a:r>
              <a:rPr lang="en-US" sz="1600" b="1" dirty="0">
                <a:solidFill>
                  <a:srgbClr val="293352"/>
                </a:solidFill>
                <a:latin typeface="Arial" pitchFamily="34" charset="0"/>
                <a:ea typeface="Arial" pitchFamily="34" charset="-122"/>
                <a:cs typeface="Arial" pitchFamily="34" charset="-120"/>
              </a:rPr>
              <a:t>Live chatbot read</a:t>
            </a:r>
            <a:endParaRPr lang="en-US" sz="1600" dirty="0"/>
          </a:p>
        </p:txBody>
      </p:sp>
      <p:sp>
        <p:nvSpPr>
          <p:cNvPr id="13" name="Text 9"/>
          <p:cNvSpPr/>
          <p:nvPr/>
        </p:nvSpPr>
        <p:spPr>
          <a:xfrm>
            <a:off x="6537960" y="2514600"/>
            <a:ext cx="4709160" cy="914400"/>
          </a:xfrm>
          <a:prstGeom prst="rect">
            <a:avLst/>
          </a:prstGeom>
          <a:noFill/>
          <a:ln/>
        </p:spPr>
        <p:txBody>
          <a:bodyPr wrap="square" lIns="0" tIns="0" rIns="0" bIns="0" rtlCol="0" anchor="t"/>
          <a:lstStyle/>
          <a:p>
            <a:pPr indent="0" marL="0">
              <a:buNone/>
            </a:pPr>
            <a:r>
              <a:rPr lang="en-US" sz="1350" dirty="0">
                <a:solidFill>
                  <a:srgbClr val="1E1E1E"/>
                </a:solidFill>
                <a:latin typeface="Arial" pitchFamily="34" charset="0"/>
                <a:ea typeface="Arial" pitchFamily="34" charset="-122"/>
                <a:cs typeface="Arial" pitchFamily="34" charset="-120"/>
              </a:rPr>
              <a:t>Paste the JSON and show the plain English response. A live demo, not just the prompt.</a:t>
            </a:r>
            <a:endParaRPr lang="en-US" sz="1350" dirty="0"/>
          </a:p>
        </p:txBody>
      </p:sp>
      <p:sp>
        <p:nvSpPr>
          <p:cNvPr id="14" name="Shape 10"/>
          <p:cNvSpPr/>
          <p:nvPr/>
        </p:nvSpPr>
        <p:spPr>
          <a:xfrm>
            <a:off x="640080" y="3886200"/>
            <a:ext cx="5257800" cy="1965960"/>
          </a:xfrm>
          <a:prstGeom prst="roundRect">
            <a:avLst>
              <a:gd name="adj" fmla="val 2791"/>
            </a:avLst>
          </a:prstGeom>
          <a:solidFill>
            <a:srgbClr val="F3F3F1"/>
          </a:solidFill>
          <a:ln/>
        </p:spPr>
      </p:sp>
      <p:sp>
        <p:nvSpPr>
          <p:cNvPr id="15" name="Shape 11"/>
          <p:cNvSpPr/>
          <p:nvPr/>
        </p:nvSpPr>
        <p:spPr>
          <a:xfrm>
            <a:off x="914400" y="4160520"/>
            <a:ext cx="548640" cy="548640"/>
          </a:xfrm>
          <a:prstGeom prst="roundRect">
            <a:avLst>
              <a:gd name="adj" fmla="val 15000"/>
            </a:avLst>
          </a:prstGeom>
          <a:solidFill>
            <a:srgbClr val="293352"/>
          </a:solidFill>
          <a:ln/>
        </p:spPr>
      </p:sp>
      <p:pic>
        <p:nvPicPr>
          <p:cNvPr id="16" name="Image 2" descr="preencoded.png">    </p:cNvPr>
          <p:cNvPicPr>
            <a:picLocks noChangeAspect="1"/>
          </p:cNvPicPr>
          <p:nvPr/>
        </p:nvPicPr>
        <p:blipFill>
          <a:blip r:embed="rId3"/>
          <a:stretch>
            <a:fillRect/>
          </a:stretch>
        </p:blipFill>
        <p:spPr>
          <a:xfrm>
            <a:off x="1037844" y="4283964"/>
            <a:ext cx="301752" cy="301752"/>
          </a:xfrm>
          <a:prstGeom prst="rect">
            <a:avLst/>
          </a:prstGeom>
        </p:spPr>
      </p:pic>
      <p:sp>
        <p:nvSpPr>
          <p:cNvPr id="17" name="Text 12"/>
          <p:cNvSpPr/>
          <p:nvPr/>
        </p:nvSpPr>
        <p:spPr>
          <a:xfrm>
            <a:off x="1645920" y="4142232"/>
            <a:ext cx="4023360" cy="548640"/>
          </a:xfrm>
          <a:prstGeom prst="rect">
            <a:avLst/>
          </a:prstGeom>
          <a:noFill/>
          <a:ln/>
        </p:spPr>
        <p:txBody>
          <a:bodyPr wrap="square" lIns="0" tIns="0" rIns="0" bIns="0" rtlCol="0" anchor="ctr"/>
          <a:lstStyle/>
          <a:p>
            <a:pPr indent="0" marL="0">
              <a:buNone/>
            </a:pPr>
            <a:r>
              <a:rPr lang="en-US" sz="1600" b="1" dirty="0">
                <a:solidFill>
                  <a:srgbClr val="293352"/>
                </a:solidFill>
                <a:latin typeface="Arial" pitchFamily="34" charset="0"/>
                <a:ea typeface="Arial" pitchFamily="34" charset="-122"/>
                <a:cs typeface="Arial" pitchFamily="34" charset="-120"/>
              </a:rPr>
              <a:t>Could feed a dashboard</a:t>
            </a:r>
            <a:endParaRPr lang="en-US" sz="1600" dirty="0"/>
          </a:p>
        </p:txBody>
      </p:sp>
      <p:sp>
        <p:nvSpPr>
          <p:cNvPr id="18" name="Text 13"/>
          <p:cNvSpPr/>
          <p:nvPr/>
        </p:nvSpPr>
        <p:spPr>
          <a:xfrm>
            <a:off x="914400" y="4800600"/>
            <a:ext cx="4709160" cy="914400"/>
          </a:xfrm>
          <a:prstGeom prst="rect">
            <a:avLst/>
          </a:prstGeom>
          <a:noFill/>
          <a:ln/>
        </p:spPr>
        <p:txBody>
          <a:bodyPr wrap="square" lIns="0" tIns="0" rIns="0" bIns="0" rtlCol="0" anchor="t"/>
          <a:lstStyle/>
          <a:p>
            <a:pPr indent="0" marL="0">
              <a:buNone/>
            </a:pPr>
            <a:r>
              <a:rPr lang="en-US" sz="1350" dirty="0">
                <a:solidFill>
                  <a:srgbClr val="1E1E1E"/>
                </a:solidFill>
                <a:latin typeface="Arial" pitchFamily="34" charset="0"/>
                <a:ea typeface="Arial" pitchFamily="34" charset="-122"/>
                <a:cs typeface="Arial" pitchFamily="34" charset="-120"/>
              </a:rPr>
              <a:t>The same data drives a vibe coded monitor, which is the bridge to Hour 3.</a:t>
            </a:r>
            <a:endParaRPr lang="en-US" sz="1350" dirty="0"/>
          </a:p>
        </p:txBody>
      </p:sp>
      <p:sp>
        <p:nvSpPr>
          <p:cNvPr id="19" name="Shape 14"/>
          <p:cNvSpPr/>
          <p:nvPr/>
        </p:nvSpPr>
        <p:spPr>
          <a:xfrm>
            <a:off x="6263640" y="3886200"/>
            <a:ext cx="5257800" cy="1965960"/>
          </a:xfrm>
          <a:prstGeom prst="roundRect">
            <a:avLst>
              <a:gd name="adj" fmla="val 2791"/>
            </a:avLst>
          </a:prstGeom>
          <a:solidFill>
            <a:srgbClr val="F3F3F1"/>
          </a:solidFill>
          <a:ln/>
        </p:spPr>
      </p:sp>
      <p:sp>
        <p:nvSpPr>
          <p:cNvPr id="20" name="Shape 15"/>
          <p:cNvSpPr/>
          <p:nvPr/>
        </p:nvSpPr>
        <p:spPr>
          <a:xfrm>
            <a:off x="6537960" y="4160520"/>
            <a:ext cx="548640" cy="548640"/>
          </a:xfrm>
          <a:prstGeom prst="roundRect">
            <a:avLst>
              <a:gd name="adj" fmla="val 15000"/>
            </a:avLst>
          </a:prstGeom>
          <a:solidFill>
            <a:srgbClr val="A51C30"/>
          </a:solidFill>
          <a:ln/>
        </p:spPr>
      </p:sp>
      <p:pic>
        <p:nvPicPr>
          <p:cNvPr id="21" name="Image 3" descr="preencoded.png">    </p:cNvPr>
          <p:cNvPicPr>
            <a:picLocks noChangeAspect="1"/>
          </p:cNvPicPr>
          <p:nvPr/>
        </p:nvPicPr>
        <p:blipFill>
          <a:blip r:embed="rId4"/>
          <a:stretch>
            <a:fillRect/>
          </a:stretch>
        </p:blipFill>
        <p:spPr>
          <a:xfrm>
            <a:off x="6661404" y="4283964"/>
            <a:ext cx="301752" cy="301752"/>
          </a:xfrm>
          <a:prstGeom prst="rect">
            <a:avLst/>
          </a:prstGeom>
        </p:spPr>
      </p:pic>
      <p:sp>
        <p:nvSpPr>
          <p:cNvPr id="22" name="Text 16"/>
          <p:cNvSpPr/>
          <p:nvPr/>
        </p:nvSpPr>
        <p:spPr>
          <a:xfrm>
            <a:off x="7269480" y="4142232"/>
            <a:ext cx="4023360" cy="548640"/>
          </a:xfrm>
          <a:prstGeom prst="rect">
            <a:avLst/>
          </a:prstGeom>
          <a:noFill/>
          <a:ln/>
        </p:spPr>
        <p:txBody>
          <a:bodyPr wrap="square" lIns="0" tIns="0" rIns="0" bIns="0" rtlCol="0" anchor="ctr"/>
          <a:lstStyle/>
          <a:p>
            <a:pPr indent="0" marL="0">
              <a:buNone/>
            </a:pPr>
            <a:r>
              <a:rPr lang="en-US" sz="1600" b="1" dirty="0">
                <a:solidFill>
                  <a:srgbClr val="293352"/>
                </a:solidFill>
                <a:latin typeface="Arial" pitchFamily="34" charset="0"/>
                <a:ea typeface="Arial" pitchFamily="34" charset="-122"/>
                <a:cs typeface="Arial" pitchFamily="34" charset="-120"/>
              </a:rPr>
              <a:t>The surface Knight lacked</a:t>
            </a:r>
            <a:endParaRPr lang="en-US" sz="1600" dirty="0"/>
          </a:p>
        </p:txBody>
      </p:sp>
      <p:sp>
        <p:nvSpPr>
          <p:cNvPr id="23" name="Text 17"/>
          <p:cNvSpPr/>
          <p:nvPr/>
        </p:nvSpPr>
        <p:spPr>
          <a:xfrm>
            <a:off x="6537960" y="4800600"/>
            <a:ext cx="4709160" cy="914400"/>
          </a:xfrm>
          <a:prstGeom prst="rect">
            <a:avLst/>
          </a:prstGeom>
          <a:noFill/>
          <a:ln/>
        </p:spPr>
        <p:txBody>
          <a:bodyPr wrap="square" lIns="0" tIns="0" rIns="0" bIns="0" rtlCol="0" anchor="t"/>
          <a:lstStyle/>
          <a:p>
            <a:pPr indent="0" marL="0">
              <a:buNone/>
            </a:pPr>
            <a:r>
              <a:rPr lang="en-US" sz="1350" dirty="0">
                <a:solidFill>
                  <a:srgbClr val="1E1E1E"/>
                </a:solidFill>
                <a:latin typeface="Arial" pitchFamily="34" charset="0"/>
                <a:ea typeface="Arial" pitchFamily="34" charset="-122"/>
                <a:cs typeface="Arial" pitchFamily="34" charset="-120"/>
              </a:rPr>
              <a:t>Metrics exist so a person can see trouble and step in before it compounds.</a:t>
            </a:r>
            <a:endParaRPr lang="en-US" sz="1350" dirty="0"/>
          </a:p>
        </p:txBody>
      </p:sp>
      <p:sp>
        <p:nvSpPr>
          <p:cNvPr id="24"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25" name="Harvard Page Number"/>
          <p:cNvSpPr txBox="1"/>
          <p:nvPr/>
        </p:nvSpPr>
        <p:spPr>
          <a:xfrm>
            <a:off x="11730577" y="6446043"/>
            <a:ext cx="324104" cy="274638"/>
          </a:xfrm>
          <a:prstGeom prst="rect">
            <a:avLst/>
          </a:prstGeom>
          <a:noFill/>
        </p:spPr>
        <p:txBody>
          <a:bodyPr wrap="none" lIns="0" rIns="0" tIns="0" bIns="0">
            <a:noAutofit/>
          </a:bodyPr>
          <a:lstStyle/>
          <a:p>
            <a:pPr algn="r"/>
            <a:fld id="{1E4D7FED-BD1C-41B9-81DA-862C8A25BCE4}" type="slidenum">
              <a:rPr lang="en-US" sz="1000">
                <a:solidFill>
                  <a:srgbClr val="8996A0"/>
                </a:solidFill>
                <a:latin typeface="Arial"/>
              </a:rPr>
              <a:t>20</a:t>
            </a:fld>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FROM R TO THE BROWSER</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Bridge to the app</a:t>
            </a:r>
            <a:endParaRPr lang="en-US" sz="2800" dirty="0"/>
          </a:p>
        </p:txBody>
      </p:sp>
      <p:sp>
        <p:nvSpPr>
          <p:cNvPr id="4" name="Shape 2"/>
          <p:cNvSpPr/>
          <p:nvPr/>
        </p:nvSpPr>
        <p:spPr>
          <a:xfrm>
            <a:off x="640080" y="1737360"/>
            <a:ext cx="5257800" cy="3108960"/>
          </a:xfrm>
          <a:prstGeom prst="roundRect">
            <a:avLst>
              <a:gd name="adj" fmla="val 2353"/>
            </a:avLst>
          </a:prstGeom>
          <a:solidFill>
            <a:srgbClr val="293352"/>
          </a:solidFill>
          <a:ln/>
        </p:spPr>
      </p:sp>
      <p:sp>
        <p:nvSpPr>
          <p:cNvPr id="5" name="Text 3"/>
          <p:cNvSpPr/>
          <p:nvPr/>
        </p:nvSpPr>
        <p:spPr>
          <a:xfrm>
            <a:off x="640080" y="2011680"/>
            <a:ext cx="5257800" cy="914400"/>
          </a:xfrm>
          <a:prstGeom prst="rect">
            <a:avLst/>
          </a:prstGeom>
          <a:noFill/>
          <a:ln/>
        </p:spPr>
        <p:txBody>
          <a:bodyPr wrap="square" lIns="0" tIns="0" rIns="0" bIns="0" rtlCol="0" anchor="ctr"/>
          <a:lstStyle/>
          <a:p>
            <a:pPr algn="ctr" indent="0" marL="0">
              <a:buNone/>
            </a:pPr>
            <a:r>
              <a:rPr lang="en-US" sz="4600" b="1" dirty="0">
                <a:solidFill>
                  <a:srgbClr val="FFFFFF"/>
                </a:solidFill>
                <a:latin typeface="Arial" pitchFamily="34" charset="0"/>
                <a:ea typeface="Arial" pitchFamily="34" charset="-122"/>
                <a:cs typeface="Arial" pitchFamily="34" charset="-120"/>
              </a:rPr>
              <a:t>R</a:t>
            </a:r>
            <a:endParaRPr lang="en-US" sz="4600" dirty="0"/>
          </a:p>
        </p:txBody>
      </p:sp>
      <p:sp>
        <p:nvSpPr>
          <p:cNvPr id="6" name="Text 4"/>
          <p:cNvSpPr/>
          <p:nvPr/>
        </p:nvSpPr>
        <p:spPr>
          <a:xfrm>
            <a:off x="1005840" y="3108960"/>
            <a:ext cx="4572000" cy="1371600"/>
          </a:xfrm>
          <a:prstGeom prst="rect">
            <a:avLst/>
          </a:prstGeom>
          <a:noFill/>
          <a:ln/>
        </p:spPr>
        <p:txBody>
          <a:bodyPr wrap="square" lIns="0" tIns="0" rIns="0" bIns="0" rtlCol="0" anchor="t"/>
          <a:lstStyle/>
          <a:p>
            <a:pPr algn="ctr" indent="0" marL="0">
              <a:buNone/>
            </a:pPr>
            <a:r>
              <a:rPr lang="en-US" sz="1700" dirty="0">
                <a:solidFill>
                  <a:srgbClr val="F3F3F1"/>
                </a:solidFill>
                <a:latin typeface="Arial" pitchFamily="34" charset="0"/>
                <a:ea typeface="Arial" pitchFamily="34" charset="-122"/>
                <a:cs typeface="Arial" pitchFamily="34" charset="-120"/>
              </a:rPr>
              <a:t>Taught us the math and gave us a live fetchable abstraction.</a:t>
            </a:r>
            <a:endParaRPr lang="en-US" sz="1700" dirty="0"/>
          </a:p>
        </p:txBody>
      </p:sp>
      <p:sp>
        <p:nvSpPr>
          <p:cNvPr id="7" name="Text 5"/>
          <p:cNvSpPr/>
          <p:nvPr/>
        </p:nvSpPr>
        <p:spPr>
          <a:xfrm>
            <a:off x="5897880" y="2926080"/>
            <a:ext cx="822960" cy="731520"/>
          </a:xfrm>
          <a:prstGeom prst="rect">
            <a:avLst/>
          </a:prstGeom>
          <a:noFill/>
          <a:ln/>
        </p:spPr>
        <p:txBody>
          <a:bodyPr wrap="square" lIns="0" tIns="0" rIns="0" bIns="0" rtlCol="0" anchor="ctr"/>
          <a:lstStyle/>
          <a:p>
            <a:pPr algn="ctr" indent="0" marL="0">
              <a:buNone/>
            </a:pPr>
            <a:r>
              <a:rPr lang="en-US" sz="3400" b="1" dirty="0">
                <a:solidFill>
                  <a:srgbClr val="8996A0"/>
                </a:solidFill>
                <a:latin typeface="Arial" pitchFamily="34" charset="0"/>
                <a:ea typeface="Arial" pitchFamily="34" charset="-122"/>
                <a:cs typeface="Arial" pitchFamily="34" charset="-120"/>
              </a:rPr>
              <a:t>→</a:t>
            </a:r>
            <a:endParaRPr lang="en-US" sz="3400" dirty="0"/>
          </a:p>
        </p:txBody>
      </p:sp>
      <p:sp>
        <p:nvSpPr>
          <p:cNvPr id="8" name="Shape 6"/>
          <p:cNvSpPr/>
          <p:nvPr/>
        </p:nvSpPr>
        <p:spPr>
          <a:xfrm>
            <a:off x="6675120" y="1737360"/>
            <a:ext cx="4846320" cy="3108960"/>
          </a:xfrm>
          <a:prstGeom prst="roundRect">
            <a:avLst>
              <a:gd name="adj" fmla="val 2353"/>
            </a:avLst>
          </a:prstGeom>
          <a:solidFill>
            <a:srgbClr val="A51C30"/>
          </a:solidFill>
          <a:ln/>
        </p:spPr>
      </p:sp>
      <p:sp>
        <p:nvSpPr>
          <p:cNvPr id="9" name="Text 7"/>
          <p:cNvSpPr/>
          <p:nvPr/>
        </p:nvSpPr>
        <p:spPr>
          <a:xfrm>
            <a:off x="6675120" y="2011680"/>
            <a:ext cx="4846320" cy="914400"/>
          </a:xfrm>
          <a:prstGeom prst="rect">
            <a:avLst/>
          </a:prstGeom>
          <a:noFill/>
          <a:ln/>
        </p:spPr>
        <p:txBody>
          <a:bodyPr wrap="square" lIns="0" tIns="0" rIns="0" bIns="0" rtlCol="0" anchor="ctr"/>
          <a:lstStyle/>
          <a:p>
            <a:pPr algn="ctr" indent="0" marL="0">
              <a:buNone/>
            </a:pPr>
            <a:r>
              <a:rPr lang="en-US" sz="4600" b="1" dirty="0">
                <a:solidFill>
                  <a:srgbClr val="FFFFFF"/>
                </a:solidFill>
                <a:latin typeface="Arial" pitchFamily="34" charset="0"/>
                <a:ea typeface="Arial" pitchFamily="34" charset="-122"/>
                <a:cs typeface="Arial" pitchFamily="34" charset="-120"/>
              </a:rPr>
              <a:t>SPA</a:t>
            </a:r>
            <a:endParaRPr lang="en-US" sz="4600" dirty="0"/>
          </a:p>
        </p:txBody>
      </p:sp>
      <p:sp>
        <p:nvSpPr>
          <p:cNvPr id="10" name="Text 8"/>
          <p:cNvSpPr/>
          <p:nvPr/>
        </p:nvSpPr>
        <p:spPr>
          <a:xfrm>
            <a:off x="7040880" y="3108960"/>
            <a:ext cx="4114800" cy="1463040"/>
          </a:xfrm>
          <a:prstGeom prst="rect">
            <a:avLst/>
          </a:prstGeom>
          <a:noFill/>
          <a:ln/>
        </p:spPr>
        <p:txBody>
          <a:bodyPr wrap="square" lIns="0" tIns="0" rIns="0" bIns="0" rtlCol="0" anchor="t"/>
          <a:lstStyle/>
          <a:p>
            <a:pPr algn="ctr" indent="0" marL="0">
              <a:buNone/>
            </a:pPr>
            <a:r>
              <a:rPr lang="en-US" sz="1700" dirty="0">
                <a:solidFill>
                  <a:srgbClr val="FFFFFF"/>
                </a:solidFill>
                <a:latin typeface="Arial" pitchFamily="34" charset="0"/>
                <a:ea typeface="Arial" pitchFamily="34" charset="-122"/>
                <a:cs typeface="Arial" pitchFamily="34" charset="-120"/>
              </a:rPr>
              <a:t>Fetches its own live data and does the same calculations in JavaScript. Numbers computed, the model explains.</a:t>
            </a:r>
            <a:endParaRPr lang="en-US" sz="1700" dirty="0"/>
          </a:p>
        </p:txBody>
      </p:sp>
      <p:sp>
        <p:nvSpPr>
          <p:cNvPr id="11"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12" name="Harvard Page Number"/>
          <p:cNvSpPr txBox="1"/>
          <p:nvPr/>
        </p:nvSpPr>
        <p:spPr>
          <a:xfrm>
            <a:off x="11730577" y="6446043"/>
            <a:ext cx="324104" cy="274638"/>
          </a:xfrm>
          <a:prstGeom prst="rect">
            <a:avLst/>
          </a:prstGeom>
          <a:noFill/>
        </p:spPr>
        <p:txBody>
          <a:bodyPr wrap="none" lIns="0" rIns="0" tIns="0" bIns="0">
            <a:noAutofit/>
          </a:bodyPr>
          <a:lstStyle/>
          <a:p>
            <a:pPr algn="r"/>
            <a:fld id="{9E8B8F49-DD04-4176-A844-02D83667BF64}" type="slidenum">
              <a:rPr lang="en-US" sz="1000">
                <a:solidFill>
                  <a:srgbClr val="8996A0"/>
                </a:solidFill>
                <a:latin typeface="Arial"/>
              </a:rPr>
              <a:t>21</a:t>
            </a:fld>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A51C30"/>
        </a:solidFill>
        <a:effectLst/>
      </p:bgPr>
    </p:bg>
    <p:spTree>
      <p:nvGrpSpPr>
        <p:cNvPr id="1" name=""/>
        <p:cNvGrpSpPr/>
        <p:nvPr/>
      </p:nvGrpSpPr>
      <p:grpSpPr>
        <a:xfrm>
          <a:off x="0" y="0"/>
          <a:ext cx="0" cy="0"/>
          <a:chOff x="0" y="0"/>
          <a:chExt cx="0" cy="0"/>
        </a:xfrm>
      </p:grpSpPr>
      <p:sp>
        <p:nvSpPr>
          <p:cNvPr id="2" name="Text 0"/>
          <p:cNvSpPr/>
          <p:nvPr/>
        </p:nvSpPr>
        <p:spPr>
          <a:xfrm>
            <a:off x="731520" y="2011680"/>
            <a:ext cx="10698480" cy="457200"/>
          </a:xfrm>
          <a:prstGeom prst="rect">
            <a:avLst/>
          </a:prstGeom>
          <a:noFill/>
          <a:ln/>
        </p:spPr>
        <p:txBody>
          <a:bodyPr wrap="square" lIns="0" tIns="0" rIns="0" bIns="0" rtlCol="0" anchor="ctr"/>
          <a:lstStyle/>
          <a:p>
            <a:pPr indent="0" marL="0">
              <a:buNone/>
            </a:pPr>
            <a:r>
              <a:rPr lang="en-US" sz="1600" b="1" spc="200" kern="0" dirty="0">
                <a:solidFill>
                  <a:srgbClr val="FFFFFF"/>
                </a:solidFill>
                <a:latin typeface="Arial" pitchFamily="34" charset="0"/>
                <a:ea typeface="Arial" pitchFamily="34" charset="-122"/>
                <a:cs typeface="Arial" pitchFamily="34" charset="-120"/>
              </a:rPr>
              <a:t>HOUR 3  ·  10:00 TO 11:00</a:t>
            </a:r>
            <a:endParaRPr lang="en-US" sz="1600" dirty="0"/>
          </a:p>
        </p:txBody>
      </p:sp>
      <p:sp>
        <p:nvSpPr>
          <p:cNvPr id="3" name="Text 1"/>
          <p:cNvSpPr/>
          <p:nvPr/>
        </p:nvSpPr>
        <p:spPr>
          <a:xfrm>
            <a:off x="731520" y="2468880"/>
            <a:ext cx="10698480" cy="128016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From R to a Running App</a:t>
            </a:r>
            <a:endParaRPr lang="en-US" sz="4000" dirty="0"/>
          </a:p>
        </p:txBody>
      </p:sp>
      <p:sp>
        <p:nvSpPr>
          <p:cNvPr id="4" name="Text 2"/>
          <p:cNvSpPr/>
          <p:nvPr/>
        </p:nvSpPr>
        <p:spPr>
          <a:xfrm>
            <a:off x="731520" y="3749040"/>
            <a:ext cx="10698480" cy="914400"/>
          </a:xfrm>
          <a:prstGeom prst="rect">
            <a:avLst/>
          </a:prstGeom>
          <a:noFill/>
          <a:ln/>
        </p:spPr>
        <p:txBody>
          <a:bodyPr wrap="square" lIns="0" tIns="0" rIns="0" bIns="0" rtlCol="0" anchor="ctr"/>
          <a:lstStyle/>
          <a:p>
            <a:pPr indent="0" marL="0">
              <a:buNone/>
            </a:pPr>
            <a:r>
              <a:rPr lang="en-US" sz="2000" dirty="0">
                <a:solidFill>
                  <a:srgbClr val="FFFFFF"/>
                </a:solidFill>
                <a:latin typeface="Arial" pitchFamily="34" charset="0"/>
                <a:ea typeface="Arial" pitchFamily="34" charset="-122"/>
                <a:cs typeface="Arial" pitchFamily="34" charset="-120"/>
              </a:rPr>
              <a:t>The same analysis, now in the browser, fetching live</a:t>
            </a:r>
            <a:endParaRPr lang="en-US" sz="2000" dirty="0"/>
          </a:p>
        </p:txBody>
      </p:sp>
      <p:sp>
        <p:nvSpPr>
          <p:cNvPr id="5"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F3F3F1"/>
                </a:solidFill>
                <a:latin typeface="Arial"/>
              </a:rPr>
              <a:t>© 2026 Ted Kwartler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THE SPINE OF THE WHOLE BUILD</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The investment thesis</a:t>
            </a:r>
            <a:endParaRPr lang="en-US" sz="2800" dirty="0"/>
          </a:p>
        </p:txBody>
      </p:sp>
      <p:sp>
        <p:nvSpPr>
          <p:cNvPr id="4" name="Shape 2"/>
          <p:cNvSpPr/>
          <p:nvPr/>
        </p:nvSpPr>
        <p:spPr>
          <a:xfrm>
            <a:off x="640080" y="1463040"/>
            <a:ext cx="10881360" cy="1828800"/>
          </a:xfrm>
          <a:prstGeom prst="roundRect">
            <a:avLst>
              <a:gd name="adj" fmla="val 4000"/>
            </a:avLst>
          </a:prstGeom>
          <a:solidFill>
            <a:srgbClr val="293352"/>
          </a:solidFill>
          <a:ln/>
        </p:spPr>
      </p:sp>
      <p:sp>
        <p:nvSpPr>
          <p:cNvPr id="5" name="Text 3"/>
          <p:cNvSpPr/>
          <p:nvPr/>
        </p:nvSpPr>
        <p:spPr>
          <a:xfrm>
            <a:off x="1005840" y="1600200"/>
            <a:ext cx="10149840" cy="1554480"/>
          </a:xfrm>
          <a:prstGeom prst="rect">
            <a:avLst/>
          </a:prstGeom>
          <a:noFill/>
          <a:ln/>
        </p:spPr>
        <p:txBody>
          <a:bodyPr wrap="square" lIns="0" tIns="0" rIns="0" bIns="0" rtlCol="0" anchor="ctr"/>
          <a:lstStyle/>
          <a:p>
            <a:pPr indent="0" marL="0">
              <a:lnSpc>
                <a:spcPct val="110000"/>
              </a:lnSpc>
              <a:buNone/>
            </a:pPr>
            <a:r>
              <a:rPr lang="en-US" sz="2100" i="1" dirty="0">
                <a:solidFill>
                  <a:srgbClr val="FFFFFF"/>
                </a:solidFill>
                <a:latin typeface="Arial" pitchFamily="34" charset="0"/>
                <a:ea typeface="Arial" pitchFamily="34" charset="-122"/>
                <a:cs typeface="Arial" pitchFamily="34" charset="-120"/>
              </a:rPr>
              <a:t>RSI below overbought and a positive MACD represent quality individual stocks that can be optimized as a portfolio with inverse volatility weighting.</a:t>
            </a:r>
            <a:endParaRPr lang="en-US" sz="2100" dirty="0"/>
          </a:p>
        </p:txBody>
      </p:sp>
      <p:sp>
        <p:nvSpPr>
          <p:cNvPr id="6" name="Shape 4"/>
          <p:cNvSpPr/>
          <p:nvPr/>
        </p:nvSpPr>
        <p:spPr>
          <a:xfrm>
            <a:off x="640080" y="3611880"/>
            <a:ext cx="3429000" cy="1371600"/>
          </a:xfrm>
          <a:prstGeom prst="roundRect">
            <a:avLst>
              <a:gd name="adj" fmla="val 5333"/>
            </a:avLst>
          </a:prstGeom>
          <a:solidFill>
            <a:srgbClr val="F3F3F1"/>
          </a:solidFill>
          <a:ln/>
        </p:spPr>
      </p:sp>
      <p:sp>
        <p:nvSpPr>
          <p:cNvPr id="7" name="Text 5"/>
          <p:cNvSpPr/>
          <p:nvPr/>
        </p:nvSpPr>
        <p:spPr>
          <a:xfrm>
            <a:off x="731520" y="3749040"/>
            <a:ext cx="3246120" cy="822960"/>
          </a:xfrm>
          <a:prstGeom prst="rect">
            <a:avLst/>
          </a:prstGeom>
          <a:noFill/>
          <a:ln/>
        </p:spPr>
        <p:txBody>
          <a:bodyPr wrap="square" lIns="0" tIns="0" rIns="0" bIns="0" rtlCol="0" anchor="ctr"/>
          <a:lstStyle/>
          <a:p>
            <a:pPr algn="ctr" indent="0" marL="0">
              <a:buNone/>
            </a:pPr>
            <a:r>
              <a:rPr lang="en-US" sz="4000" b="1" dirty="0">
                <a:solidFill>
                  <a:srgbClr val="A51C30"/>
                </a:solidFill>
                <a:latin typeface="Arial" pitchFamily="34" charset="0"/>
                <a:ea typeface="Arial" pitchFamily="34" charset="-122"/>
                <a:cs typeface="Arial" pitchFamily="34" charset="-120"/>
              </a:rPr>
              <a:t>RSI &lt; 70</a:t>
            </a:r>
            <a:endParaRPr lang="en-US" sz="4000" dirty="0"/>
          </a:p>
        </p:txBody>
      </p:sp>
      <p:sp>
        <p:nvSpPr>
          <p:cNvPr id="8" name="Text 6"/>
          <p:cNvSpPr/>
          <p:nvPr/>
        </p:nvSpPr>
        <p:spPr>
          <a:xfrm>
            <a:off x="777240" y="4544568"/>
            <a:ext cx="3154680" cy="365760"/>
          </a:xfrm>
          <a:prstGeom prst="rect">
            <a:avLst/>
          </a:prstGeom>
          <a:noFill/>
          <a:ln/>
        </p:spPr>
        <p:txBody>
          <a:bodyPr wrap="square" lIns="0" tIns="0" rIns="0" bIns="0" rtlCol="0" anchor="ctr"/>
          <a:lstStyle/>
          <a:p>
            <a:pPr algn="ctr" indent="0" marL="0">
              <a:buNone/>
            </a:pPr>
            <a:r>
              <a:rPr lang="en-US" sz="1250" dirty="0">
                <a:solidFill>
                  <a:srgbClr val="1E1E1E"/>
                </a:solidFill>
                <a:latin typeface="Arial" pitchFamily="34" charset="0"/>
                <a:ea typeface="Arial" pitchFamily="34" charset="-122"/>
                <a:cs typeface="Arial" pitchFamily="34" charset="-120"/>
              </a:rPr>
              <a:t>not overbought</a:t>
            </a:r>
            <a:endParaRPr lang="en-US" sz="1250" dirty="0"/>
          </a:p>
        </p:txBody>
      </p:sp>
      <p:sp>
        <p:nvSpPr>
          <p:cNvPr id="9" name="Shape 7"/>
          <p:cNvSpPr/>
          <p:nvPr/>
        </p:nvSpPr>
        <p:spPr>
          <a:xfrm>
            <a:off x="4343400" y="3611880"/>
            <a:ext cx="3429000" cy="1371600"/>
          </a:xfrm>
          <a:prstGeom prst="roundRect">
            <a:avLst>
              <a:gd name="adj" fmla="val 5333"/>
            </a:avLst>
          </a:prstGeom>
          <a:solidFill>
            <a:srgbClr val="F3F3F1"/>
          </a:solidFill>
          <a:ln/>
        </p:spPr>
      </p:sp>
      <p:sp>
        <p:nvSpPr>
          <p:cNvPr id="10" name="Text 8"/>
          <p:cNvSpPr/>
          <p:nvPr/>
        </p:nvSpPr>
        <p:spPr>
          <a:xfrm>
            <a:off x="4434840" y="3749040"/>
            <a:ext cx="3246120" cy="822960"/>
          </a:xfrm>
          <a:prstGeom prst="rect">
            <a:avLst/>
          </a:prstGeom>
          <a:noFill/>
          <a:ln/>
        </p:spPr>
        <p:txBody>
          <a:bodyPr wrap="square" lIns="0" tIns="0" rIns="0" bIns="0" rtlCol="0" anchor="ctr"/>
          <a:lstStyle/>
          <a:p>
            <a:pPr algn="ctr" indent="0" marL="0">
              <a:buNone/>
            </a:pPr>
            <a:r>
              <a:rPr lang="en-US" sz="4000" b="1" dirty="0">
                <a:solidFill>
                  <a:srgbClr val="A51C30"/>
                </a:solidFill>
                <a:latin typeface="Arial" pitchFamily="34" charset="0"/>
                <a:ea typeface="Arial" pitchFamily="34" charset="-122"/>
                <a:cs typeface="Arial" pitchFamily="34" charset="-120"/>
              </a:rPr>
              <a:t>MACD &gt; 0</a:t>
            </a:r>
            <a:endParaRPr lang="en-US" sz="4000" dirty="0"/>
          </a:p>
        </p:txBody>
      </p:sp>
      <p:sp>
        <p:nvSpPr>
          <p:cNvPr id="11" name="Text 9"/>
          <p:cNvSpPr/>
          <p:nvPr/>
        </p:nvSpPr>
        <p:spPr>
          <a:xfrm>
            <a:off x="4480560" y="4544568"/>
            <a:ext cx="3154680" cy="365760"/>
          </a:xfrm>
          <a:prstGeom prst="rect">
            <a:avLst/>
          </a:prstGeom>
          <a:noFill/>
          <a:ln/>
        </p:spPr>
        <p:txBody>
          <a:bodyPr wrap="square" lIns="0" tIns="0" rIns="0" bIns="0" rtlCol="0" anchor="ctr"/>
          <a:lstStyle/>
          <a:p>
            <a:pPr algn="ctr" indent="0" marL="0">
              <a:buNone/>
            </a:pPr>
            <a:r>
              <a:rPr lang="en-US" sz="1250" dirty="0">
                <a:solidFill>
                  <a:srgbClr val="1E1E1E"/>
                </a:solidFill>
                <a:latin typeface="Arial" pitchFamily="34" charset="0"/>
                <a:ea typeface="Arial" pitchFamily="34" charset="-122"/>
                <a:cs typeface="Arial" pitchFamily="34" charset="-120"/>
              </a:rPr>
              <a:t>positive histogram</a:t>
            </a:r>
            <a:endParaRPr lang="en-US" sz="1250" dirty="0"/>
          </a:p>
        </p:txBody>
      </p:sp>
      <p:sp>
        <p:nvSpPr>
          <p:cNvPr id="12" name="Shape 10"/>
          <p:cNvSpPr/>
          <p:nvPr/>
        </p:nvSpPr>
        <p:spPr>
          <a:xfrm>
            <a:off x="8092440" y="3611880"/>
            <a:ext cx="3429000" cy="1371600"/>
          </a:xfrm>
          <a:prstGeom prst="roundRect">
            <a:avLst>
              <a:gd name="adj" fmla="val 5333"/>
            </a:avLst>
          </a:prstGeom>
          <a:solidFill>
            <a:srgbClr val="F3F3F1"/>
          </a:solidFill>
          <a:ln/>
        </p:spPr>
      </p:sp>
      <p:sp>
        <p:nvSpPr>
          <p:cNvPr id="13" name="Text 11"/>
          <p:cNvSpPr/>
          <p:nvPr/>
        </p:nvSpPr>
        <p:spPr>
          <a:xfrm>
            <a:off x="8183880" y="3749040"/>
            <a:ext cx="3246120" cy="822960"/>
          </a:xfrm>
          <a:prstGeom prst="rect">
            <a:avLst/>
          </a:prstGeom>
          <a:noFill/>
          <a:ln/>
        </p:spPr>
        <p:txBody>
          <a:bodyPr wrap="square" lIns="0" tIns="0" rIns="0" bIns="0" rtlCol="0" anchor="ctr"/>
          <a:lstStyle/>
          <a:p>
            <a:pPr algn="ctr" indent="0" marL="0">
              <a:buNone/>
            </a:pPr>
            <a:r>
              <a:rPr lang="en-US" sz="4000" b="1" dirty="0">
                <a:solidFill>
                  <a:srgbClr val="293352"/>
                </a:solidFill>
                <a:latin typeface="Arial" pitchFamily="34" charset="0"/>
                <a:ea typeface="Arial" pitchFamily="34" charset="-122"/>
                <a:cs typeface="Arial" pitchFamily="34" charset="-120"/>
              </a:rPr>
              <a:t>1 / σ</a:t>
            </a:r>
            <a:endParaRPr lang="en-US" sz="4000" dirty="0"/>
          </a:p>
        </p:txBody>
      </p:sp>
      <p:sp>
        <p:nvSpPr>
          <p:cNvPr id="14" name="Text 12"/>
          <p:cNvSpPr/>
          <p:nvPr/>
        </p:nvSpPr>
        <p:spPr>
          <a:xfrm>
            <a:off x="8229600" y="4544568"/>
            <a:ext cx="3154680" cy="365760"/>
          </a:xfrm>
          <a:prstGeom prst="rect">
            <a:avLst/>
          </a:prstGeom>
          <a:noFill/>
          <a:ln/>
        </p:spPr>
        <p:txBody>
          <a:bodyPr wrap="square" lIns="0" tIns="0" rIns="0" bIns="0" rtlCol="0" anchor="ctr"/>
          <a:lstStyle/>
          <a:p>
            <a:pPr algn="ctr" indent="0" marL="0">
              <a:buNone/>
            </a:pPr>
            <a:r>
              <a:rPr lang="en-US" sz="1250" dirty="0">
                <a:solidFill>
                  <a:srgbClr val="1E1E1E"/>
                </a:solidFill>
                <a:latin typeface="Arial" pitchFamily="34" charset="0"/>
                <a:ea typeface="Arial" pitchFamily="34" charset="-122"/>
                <a:cs typeface="Arial" pitchFamily="34" charset="-120"/>
              </a:rPr>
              <a:t>inverse volatility weight</a:t>
            </a:r>
            <a:endParaRPr lang="en-US" sz="1250" dirty="0"/>
          </a:p>
        </p:txBody>
      </p:sp>
      <p:sp>
        <p:nvSpPr>
          <p:cNvPr id="15" name="Text 13"/>
          <p:cNvSpPr/>
          <p:nvPr/>
        </p:nvSpPr>
        <p:spPr>
          <a:xfrm>
            <a:off x="640080" y="5212080"/>
            <a:ext cx="10881360" cy="457200"/>
          </a:xfrm>
          <a:prstGeom prst="rect">
            <a:avLst/>
          </a:prstGeom>
          <a:noFill/>
          <a:ln/>
        </p:spPr>
        <p:txBody>
          <a:bodyPr wrap="square" lIns="0" tIns="0" rIns="0" bIns="0" rtlCol="0" anchor="ctr"/>
          <a:lstStyle/>
          <a:p>
            <a:pPr algn="ctr" indent="0" marL="0">
              <a:buNone/>
            </a:pPr>
            <a:r>
              <a:rPr lang="en-US" sz="1500" i="1" dirty="0">
                <a:solidFill>
                  <a:srgbClr val="8996A0"/>
                </a:solidFill>
                <a:latin typeface="Arial" pitchFamily="34" charset="0"/>
                <a:ea typeface="Arial" pitchFamily="34" charset="-122"/>
                <a:cs typeface="Arial" pitchFamily="34" charset="-120"/>
              </a:rPr>
              <a:t>Every user story that follows traces back to this one sentence.</a:t>
            </a:r>
            <a:endParaRPr lang="en-US" sz="1500" dirty="0"/>
          </a:p>
        </p:txBody>
      </p:sp>
      <p:sp>
        <p:nvSpPr>
          <p:cNvPr id="16"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17" name="Harvard Page Number"/>
          <p:cNvSpPr txBox="1"/>
          <p:nvPr/>
        </p:nvSpPr>
        <p:spPr>
          <a:xfrm>
            <a:off x="11730577" y="6446043"/>
            <a:ext cx="324104" cy="274638"/>
          </a:xfrm>
          <a:prstGeom prst="rect">
            <a:avLst/>
          </a:prstGeom>
          <a:noFill/>
        </p:spPr>
        <p:txBody>
          <a:bodyPr wrap="none" lIns="0" rIns="0" tIns="0" bIns="0">
            <a:noAutofit/>
          </a:bodyPr>
          <a:lstStyle/>
          <a:p>
            <a:pPr algn="r"/>
            <a:fld id="{CD5CE62D-3309-4C01-BA88-A4B06E00E2F9}" type="slidenum">
              <a:rPr lang="en-US" sz="1000">
                <a:solidFill>
                  <a:srgbClr val="8996A0"/>
                </a:solidFill>
                <a:latin typeface="Arial"/>
              </a:rPr>
              <a:t>23</a:t>
            </a:fld>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WHY THE APP IS TRUSTWORTHY</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The rule for the build</a:t>
            </a:r>
            <a:endParaRPr lang="en-US" sz="2800" dirty="0"/>
          </a:p>
        </p:txBody>
      </p:sp>
      <p:sp>
        <p:nvSpPr>
          <p:cNvPr id="4" name="Shape 2"/>
          <p:cNvSpPr/>
          <p:nvPr/>
        </p:nvSpPr>
        <p:spPr>
          <a:xfrm>
            <a:off x="640080" y="1645920"/>
            <a:ext cx="5257800" cy="3291840"/>
          </a:xfrm>
          <a:prstGeom prst="roundRect">
            <a:avLst>
              <a:gd name="adj" fmla="val 2222"/>
            </a:avLst>
          </a:prstGeom>
          <a:solidFill>
            <a:srgbClr val="A51C30"/>
          </a:solidFill>
          <a:ln/>
        </p:spPr>
      </p:sp>
      <p:sp>
        <p:nvSpPr>
          <p:cNvPr id="5" name="Shape 3"/>
          <p:cNvSpPr/>
          <p:nvPr/>
        </p:nvSpPr>
        <p:spPr>
          <a:xfrm>
            <a:off x="2948940" y="1965960"/>
            <a:ext cx="640080" cy="640080"/>
          </a:xfrm>
          <a:prstGeom prst="roundRect">
            <a:avLst>
              <a:gd name="adj" fmla="val 12857"/>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3092958" y="2109978"/>
            <a:ext cx="352044" cy="352044"/>
          </a:xfrm>
          <a:prstGeom prst="rect">
            <a:avLst/>
          </a:prstGeom>
        </p:spPr>
      </p:pic>
      <p:sp>
        <p:nvSpPr>
          <p:cNvPr id="7" name="Text 4"/>
          <p:cNvSpPr/>
          <p:nvPr/>
        </p:nvSpPr>
        <p:spPr>
          <a:xfrm>
            <a:off x="640080" y="2743200"/>
            <a:ext cx="525780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Calculations</a:t>
            </a:r>
            <a:endParaRPr lang="en-US" sz="2400" dirty="0"/>
          </a:p>
        </p:txBody>
      </p:sp>
      <p:sp>
        <p:nvSpPr>
          <p:cNvPr id="8" name="Text 5"/>
          <p:cNvSpPr/>
          <p:nvPr/>
        </p:nvSpPr>
        <p:spPr>
          <a:xfrm>
            <a:off x="1005840" y="3383280"/>
            <a:ext cx="4572000" cy="1280160"/>
          </a:xfrm>
          <a:prstGeom prst="rect">
            <a:avLst/>
          </a:prstGeom>
          <a:noFill/>
          <a:ln/>
        </p:spPr>
        <p:txBody>
          <a:bodyPr wrap="square" lIns="0" tIns="0" rIns="0" bIns="0" rtlCol="0" anchor="t"/>
          <a:lstStyle/>
          <a:p>
            <a:pPr algn="ctr" indent="0" marL="0">
              <a:buNone/>
            </a:pPr>
            <a:r>
              <a:rPr lang="en-US" sz="1600" dirty="0">
                <a:solidFill>
                  <a:srgbClr val="FFFFFF"/>
                </a:solidFill>
                <a:latin typeface="Arial" pitchFamily="34" charset="0"/>
                <a:ea typeface="Arial" pitchFamily="34" charset="-122"/>
                <a:cs typeface="Arial" pitchFamily="34" charset="-120"/>
              </a:rPr>
              <a:t>RSI, MACD, and the weighting all run in JavaScript.</a:t>
            </a:r>
            <a:endParaRPr lang="en-US" sz="1600" dirty="0"/>
          </a:p>
        </p:txBody>
      </p:sp>
      <p:sp>
        <p:nvSpPr>
          <p:cNvPr id="9" name="Shape 6"/>
          <p:cNvSpPr/>
          <p:nvPr/>
        </p:nvSpPr>
        <p:spPr>
          <a:xfrm>
            <a:off x="6263640" y="1645920"/>
            <a:ext cx="5257800" cy="3291840"/>
          </a:xfrm>
          <a:prstGeom prst="roundRect">
            <a:avLst>
              <a:gd name="adj" fmla="val 2222"/>
            </a:avLst>
          </a:prstGeom>
          <a:solidFill>
            <a:srgbClr val="293352"/>
          </a:solidFill>
          <a:ln/>
        </p:spPr>
      </p:sp>
      <p:sp>
        <p:nvSpPr>
          <p:cNvPr id="10" name="Shape 7"/>
          <p:cNvSpPr/>
          <p:nvPr/>
        </p:nvSpPr>
        <p:spPr>
          <a:xfrm>
            <a:off x="8572500" y="1965960"/>
            <a:ext cx="640080" cy="640080"/>
          </a:xfrm>
          <a:prstGeom prst="roundRect">
            <a:avLst>
              <a:gd name="adj" fmla="val 12857"/>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8716518" y="2109978"/>
            <a:ext cx="352044" cy="352044"/>
          </a:xfrm>
          <a:prstGeom prst="rect">
            <a:avLst/>
          </a:prstGeom>
        </p:spPr>
      </p:pic>
      <p:sp>
        <p:nvSpPr>
          <p:cNvPr id="12" name="Text 8"/>
          <p:cNvSpPr/>
          <p:nvPr/>
        </p:nvSpPr>
        <p:spPr>
          <a:xfrm>
            <a:off x="6263640" y="2743200"/>
            <a:ext cx="525780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Language</a:t>
            </a:r>
            <a:endParaRPr lang="en-US" sz="2400" dirty="0"/>
          </a:p>
        </p:txBody>
      </p:sp>
      <p:sp>
        <p:nvSpPr>
          <p:cNvPr id="13" name="Text 9"/>
          <p:cNvSpPr/>
          <p:nvPr/>
        </p:nvSpPr>
        <p:spPr>
          <a:xfrm>
            <a:off x="6629400" y="3383280"/>
            <a:ext cx="4572000" cy="1280160"/>
          </a:xfrm>
          <a:prstGeom prst="rect">
            <a:avLst/>
          </a:prstGeom>
          <a:noFill/>
          <a:ln/>
        </p:spPr>
        <p:txBody>
          <a:bodyPr wrap="square" lIns="0" tIns="0" rIns="0" bIns="0" rtlCol="0" anchor="t"/>
          <a:lstStyle/>
          <a:p>
            <a:pPr algn="ctr" indent="0" marL="0">
              <a:buNone/>
            </a:pPr>
            <a:r>
              <a:rPr lang="en-US" sz="1600" dirty="0">
                <a:solidFill>
                  <a:srgbClr val="FFFFFF"/>
                </a:solidFill>
                <a:latin typeface="Arial" pitchFamily="34" charset="0"/>
                <a:ea typeface="Arial" pitchFamily="34" charset="-122"/>
                <a:cs typeface="Arial" pitchFamily="34" charset="-120"/>
              </a:rPr>
              <a:t>The LLM only writes the plain English research note.</a:t>
            </a:r>
            <a:endParaRPr lang="en-US" sz="1600" dirty="0"/>
          </a:p>
        </p:txBody>
      </p:sp>
      <p:sp>
        <p:nvSpPr>
          <p:cNvPr id="14" name="Text 10"/>
          <p:cNvSpPr/>
          <p:nvPr/>
        </p:nvSpPr>
        <p:spPr>
          <a:xfrm>
            <a:off x="640080" y="5120640"/>
            <a:ext cx="10881360" cy="457200"/>
          </a:xfrm>
          <a:prstGeom prst="rect">
            <a:avLst/>
          </a:prstGeom>
          <a:noFill/>
          <a:ln/>
        </p:spPr>
        <p:txBody>
          <a:bodyPr wrap="square" lIns="0" tIns="0" rIns="0" bIns="0" rtlCol="0" anchor="ctr"/>
          <a:lstStyle/>
          <a:p>
            <a:pPr algn="ctr" indent="0" marL="0">
              <a:buNone/>
            </a:pPr>
            <a:r>
              <a:rPr lang="en-US" sz="1500" i="1" dirty="0">
                <a:solidFill>
                  <a:srgbClr val="8996A0"/>
                </a:solidFill>
                <a:latin typeface="Arial" pitchFamily="34" charset="0"/>
                <a:ea typeface="Arial" pitchFamily="34" charset="-122"/>
                <a:cs typeface="Arial" pitchFamily="34" charset="-120"/>
              </a:rPr>
              <a:t>Arithmetic from the code, language from the model. That is the whole trust argument.</a:t>
            </a:r>
            <a:endParaRPr lang="en-US" sz="1500" dirty="0"/>
          </a:p>
        </p:txBody>
      </p:sp>
      <p:sp>
        <p:nvSpPr>
          <p:cNvPr id="15"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16" name="Harvard Page Number"/>
          <p:cNvSpPr txBox="1"/>
          <p:nvPr/>
        </p:nvSpPr>
        <p:spPr>
          <a:xfrm>
            <a:off x="11730577" y="6446043"/>
            <a:ext cx="324104" cy="274638"/>
          </a:xfrm>
          <a:prstGeom prst="rect">
            <a:avLst/>
          </a:prstGeom>
          <a:noFill/>
        </p:spPr>
        <p:txBody>
          <a:bodyPr wrap="none" lIns="0" rIns="0" tIns="0" bIns="0">
            <a:noAutofit/>
          </a:bodyPr>
          <a:lstStyle/>
          <a:p>
            <a:pPr algn="r"/>
            <a:fld id="{9D4D4451-5CC0-49F9-802B-82978A3D2185}" type="slidenum">
              <a:rPr lang="en-US" sz="1000">
                <a:solidFill>
                  <a:srgbClr val="8996A0"/>
                </a:solidFill>
                <a:latin typeface="Arial"/>
              </a:rPr>
              <a:t>24</a:t>
            </a:fld>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INSTRUCTOR DEMO, SETS THE GOAL</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Target application</a:t>
            </a:r>
            <a:endParaRPr lang="en-US" sz="2800" dirty="0"/>
          </a:p>
        </p:txBody>
      </p:sp>
      <p:sp>
        <p:nvSpPr>
          <p:cNvPr id="4" name="Shape 2"/>
          <p:cNvSpPr/>
          <p:nvPr/>
        </p:nvSpPr>
        <p:spPr>
          <a:xfrm>
            <a:off x="640080" y="1691640"/>
            <a:ext cx="10881360" cy="868680"/>
          </a:xfrm>
          <a:prstGeom prst="roundRect">
            <a:avLst>
              <a:gd name="adj" fmla="val 6316"/>
            </a:avLst>
          </a:prstGeom>
          <a:solidFill>
            <a:srgbClr val="F3F3F1"/>
          </a:solidFill>
          <a:ln/>
        </p:spPr>
      </p:sp>
      <p:sp>
        <p:nvSpPr>
          <p:cNvPr id="5" name="Shape 3"/>
          <p:cNvSpPr/>
          <p:nvPr/>
        </p:nvSpPr>
        <p:spPr>
          <a:xfrm>
            <a:off x="914400" y="1851660"/>
            <a:ext cx="548640" cy="548640"/>
          </a:xfrm>
          <a:prstGeom prst="ellipse">
            <a:avLst/>
          </a:prstGeom>
          <a:solidFill>
            <a:srgbClr val="A51C30"/>
          </a:solidFill>
          <a:ln/>
        </p:spPr>
      </p:sp>
      <p:sp>
        <p:nvSpPr>
          <p:cNvPr id="6" name="Text 4"/>
          <p:cNvSpPr/>
          <p:nvPr/>
        </p:nvSpPr>
        <p:spPr>
          <a:xfrm>
            <a:off x="914400" y="18516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5"/>
          <p:cNvSpPr/>
          <p:nvPr/>
        </p:nvSpPr>
        <p:spPr>
          <a:xfrm>
            <a:off x="1691640" y="1691640"/>
            <a:ext cx="9601200" cy="868680"/>
          </a:xfrm>
          <a:prstGeom prst="rect">
            <a:avLst/>
          </a:prstGeom>
          <a:noFill/>
          <a:ln/>
        </p:spPr>
        <p:txBody>
          <a:bodyPr wrap="square" lIns="0" tIns="0" rIns="0" bIns="0" rtlCol="0" anchor="ctr"/>
          <a:lstStyle/>
          <a:p>
            <a:pPr indent="0" marL="0">
              <a:buNone/>
            </a:pPr>
            <a:r>
              <a:rPr lang="en-US" sz="1600" dirty="0">
                <a:solidFill>
                  <a:srgbClr val="1E1E1E"/>
                </a:solidFill>
                <a:latin typeface="Arial" pitchFamily="34" charset="0"/>
                <a:ea typeface="Arial" pitchFamily="34" charset="-122"/>
                <a:cs typeface="Arial" pitchFamily="34" charset="-120"/>
              </a:rPr>
              <a:t>Enter several tickers and the indicator settings.</a:t>
            </a:r>
            <a:endParaRPr lang="en-US" sz="1600" dirty="0"/>
          </a:p>
        </p:txBody>
      </p:sp>
      <p:sp>
        <p:nvSpPr>
          <p:cNvPr id="8" name="Shape 6"/>
          <p:cNvSpPr/>
          <p:nvPr/>
        </p:nvSpPr>
        <p:spPr>
          <a:xfrm>
            <a:off x="640080" y="2761488"/>
            <a:ext cx="10881360" cy="868680"/>
          </a:xfrm>
          <a:prstGeom prst="roundRect">
            <a:avLst>
              <a:gd name="adj" fmla="val 6316"/>
            </a:avLst>
          </a:prstGeom>
          <a:solidFill>
            <a:srgbClr val="F3F3F1"/>
          </a:solidFill>
          <a:ln/>
        </p:spPr>
      </p:sp>
      <p:sp>
        <p:nvSpPr>
          <p:cNvPr id="9" name="Shape 7"/>
          <p:cNvSpPr/>
          <p:nvPr/>
        </p:nvSpPr>
        <p:spPr>
          <a:xfrm>
            <a:off x="914400" y="2921508"/>
            <a:ext cx="548640" cy="548640"/>
          </a:xfrm>
          <a:prstGeom prst="ellipse">
            <a:avLst/>
          </a:prstGeom>
          <a:solidFill>
            <a:srgbClr val="A51C30"/>
          </a:solidFill>
          <a:ln/>
        </p:spPr>
      </p:sp>
      <p:sp>
        <p:nvSpPr>
          <p:cNvPr id="10" name="Text 8"/>
          <p:cNvSpPr/>
          <p:nvPr/>
        </p:nvSpPr>
        <p:spPr>
          <a:xfrm>
            <a:off x="914400" y="29215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1" name="Text 9"/>
          <p:cNvSpPr/>
          <p:nvPr/>
        </p:nvSpPr>
        <p:spPr>
          <a:xfrm>
            <a:off x="1691640" y="2761488"/>
            <a:ext cx="9601200" cy="868680"/>
          </a:xfrm>
          <a:prstGeom prst="rect">
            <a:avLst/>
          </a:prstGeom>
          <a:noFill/>
          <a:ln/>
        </p:spPr>
        <p:txBody>
          <a:bodyPr wrap="square" lIns="0" tIns="0" rIns="0" bIns="0" rtlCol="0" anchor="ctr"/>
          <a:lstStyle/>
          <a:p>
            <a:pPr indent="0" marL="0">
              <a:buNone/>
            </a:pPr>
            <a:r>
              <a:rPr lang="en-US" sz="1600" dirty="0">
                <a:solidFill>
                  <a:srgbClr val="1E1E1E"/>
                </a:solidFill>
                <a:latin typeface="Arial" pitchFamily="34" charset="0"/>
                <a:ea typeface="Arial" pitchFamily="34" charset="-122"/>
                <a:cs typeface="Arial" pitchFamily="34" charset="-120"/>
              </a:rPr>
              <a:t>See per ticker RSI and MACD calculated in the browser.</a:t>
            </a:r>
            <a:endParaRPr lang="en-US" sz="1600" dirty="0"/>
          </a:p>
        </p:txBody>
      </p:sp>
      <p:sp>
        <p:nvSpPr>
          <p:cNvPr id="12" name="Shape 10"/>
          <p:cNvSpPr/>
          <p:nvPr/>
        </p:nvSpPr>
        <p:spPr>
          <a:xfrm>
            <a:off x="640080" y="3831336"/>
            <a:ext cx="10881360" cy="868680"/>
          </a:xfrm>
          <a:prstGeom prst="roundRect">
            <a:avLst>
              <a:gd name="adj" fmla="val 6316"/>
            </a:avLst>
          </a:prstGeom>
          <a:solidFill>
            <a:srgbClr val="F3F3F1"/>
          </a:solidFill>
          <a:ln/>
        </p:spPr>
      </p:sp>
      <p:sp>
        <p:nvSpPr>
          <p:cNvPr id="13" name="Shape 11"/>
          <p:cNvSpPr/>
          <p:nvPr/>
        </p:nvSpPr>
        <p:spPr>
          <a:xfrm>
            <a:off x="914400" y="3991356"/>
            <a:ext cx="548640" cy="548640"/>
          </a:xfrm>
          <a:prstGeom prst="ellipse">
            <a:avLst/>
          </a:prstGeom>
          <a:solidFill>
            <a:srgbClr val="A51C30"/>
          </a:solidFill>
          <a:ln/>
        </p:spPr>
      </p:sp>
      <p:sp>
        <p:nvSpPr>
          <p:cNvPr id="14" name="Text 12"/>
          <p:cNvSpPr/>
          <p:nvPr/>
        </p:nvSpPr>
        <p:spPr>
          <a:xfrm>
            <a:off x="914400" y="3991356"/>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5" name="Text 13"/>
          <p:cNvSpPr/>
          <p:nvPr/>
        </p:nvSpPr>
        <p:spPr>
          <a:xfrm>
            <a:off x="1691640" y="3831336"/>
            <a:ext cx="9601200" cy="868680"/>
          </a:xfrm>
          <a:prstGeom prst="rect">
            <a:avLst/>
          </a:prstGeom>
          <a:noFill/>
          <a:ln/>
        </p:spPr>
        <p:txBody>
          <a:bodyPr wrap="square" lIns="0" tIns="0" rIns="0" bIns="0" rtlCol="0" anchor="ctr"/>
          <a:lstStyle/>
          <a:p>
            <a:pPr indent="0" marL="0">
              <a:buNone/>
            </a:pPr>
            <a:r>
              <a:rPr lang="en-US" sz="1600" dirty="0">
                <a:solidFill>
                  <a:srgbClr val="1E1E1E"/>
                </a:solidFill>
                <a:latin typeface="Arial" pitchFamily="34" charset="0"/>
                <a:ea typeface="Arial" pitchFamily="34" charset="-122"/>
                <a:cs typeface="Arial" pitchFamily="34" charset="-120"/>
              </a:rPr>
              <a:t>Watch the app keep only the thesis qualifying names.</a:t>
            </a:r>
            <a:endParaRPr lang="en-US" sz="1600" dirty="0"/>
          </a:p>
        </p:txBody>
      </p:sp>
      <p:sp>
        <p:nvSpPr>
          <p:cNvPr id="16" name="Shape 14"/>
          <p:cNvSpPr/>
          <p:nvPr/>
        </p:nvSpPr>
        <p:spPr>
          <a:xfrm>
            <a:off x="640080" y="4901184"/>
            <a:ext cx="10881360" cy="868680"/>
          </a:xfrm>
          <a:prstGeom prst="roundRect">
            <a:avLst>
              <a:gd name="adj" fmla="val 6316"/>
            </a:avLst>
          </a:prstGeom>
          <a:solidFill>
            <a:srgbClr val="F3F3F1"/>
          </a:solidFill>
          <a:ln/>
        </p:spPr>
      </p:sp>
      <p:sp>
        <p:nvSpPr>
          <p:cNvPr id="17" name="Shape 15"/>
          <p:cNvSpPr/>
          <p:nvPr/>
        </p:nvSpPr>
        <p:spPr>
          <a:xfrm>
            <a:off x="914400" y="5061204"/>
            <a:ext cx="548640" cy="548640"/>
          </a:xfrm>
          <a:prstGeom prst="ellipse">
            <a:avLst/>
          </a:prstGeom>
          <a:solidFill>
            <a:srgbClr val="A51C30"/>
          </a:solidFill>
          <a:ln/>
        </p:spPr>
      </p:sp>
      <p:sp>
        <p:nvSpPr>
          <p:cNvPr id="18" name="Text 16"/>
          <p:cNvSpPr/>
          <p:nvPr/>
        </p:nvSpPr>
        <p:spPr>
          <a:xfrm>
            <a:off x="914400" y="5061204"/>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19" name="Text 17"/>
          <p:cNvSpPr/>
          <p:nvPr/>
        </p:nvSpPr>
        <p:spPr>
          <a:xfrm>
            <a:off x="1691640" y="4901184"/>
            <a:ext cx="9601200" cy="868680"/>
          </a:xfrm>
          <a:prstGeom prst="rect">
            <a:avLst/>
          </a:prstGeom>
          <a:noFill/>
          <a:ln/>
        </p:spPr>
        <p:txBody>
          <a:bodyPr wrap="square" lIns="0" tIns="0" rIns="0" bIns="0" rtlCol="0" anchor="ctr"/>
          <a:lstStyle/>
          <a:p>
            <a:pPr indent="0" marL="0">
              <a:buNone/>
            </a:pPr>
            <a:r>
              <a:rPr lang="en-US" sz="1600" dirty="0">
                <a:solidFill>
                  <a:srgbClr val="1E1E1E"/>
                </a:solidFill>
                <a:latin typeface="Arial" pitchFamily="34" charset="0"/>
                <a:ea typeface="Arial" pitchFamily="34" charset="-122"/>
                <a:cs typeface="Arial" pitchFamily="34" charset="-120"/>
              </a:rPr>
              <a:t>Show inverse volatility weights and an LLM interpretation.</a:t>
            </a:r>
            <a:endParaRPr lang="en-US" sz="1600" dirty="0"/>
          </a:p>
        </p:txBody>
      </p:sp>
      <p:sp>
        <p:nvSpPr>
          <p:cNvPr id="20"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21" name="Harvard Page Number"/>
          <p:cNvSpPr txBox="1"/>
          <p:nvPr/>
        </p:nvSpPr>
        <p:spPr>
          <a:xfrm>
            <a:off x="11730577" y="6446043"/>
            <a:ext cx="324104" cy="274638"/>
          </a:xfrm>
          <a:prstGeom prst="rect">
            <a:avLst/>
          </a:prstGeom>
          <a:noFill/>
        </p:spPr>
        <p:txBody>
          <a:bodyPr wrap="none" lIns="0" rIns="0" tIns="0" bIns="0">
            <a:noAutofit/>
          </a:bodyPr>
          <a:lstStyle/>
          <a:p>
            <a:pPr algn="r"/>
            <a:fld id="{8169A117-BB11-4093-9134-50D9EA403EB3}" type="slidenum">
              <a:rPr lang="en-US" sz="1000">
                <a:solidFill>
                  <a:srgbClr val="8996A0"/>
                </a:solidFill>
                <a:latin typeface="Arial"/>
              </a:rPr>
              <a:t>25</a:t>
            </a:fld>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THE ACCEPTED STAND IN</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Inverse volatility weighting</a:t>
            </a:r>
            <a:endParaRPr lang="en-US" sz="2800" dirty="0"/>
          </a:p>
        </p:txBody>
      </p:sp>
      <p:sp>
        <p:nvSpPr>
          <p:cNvPr id="4" name="Shape 2"/>
          <p:cNvSpPr/>
          <p:nvPr/>
        </p:nvSpPr>
        <p:spPr>
          <a:xfrm>
            <a:off x="640080" y="1600200"/>
            <a:ext cx="3749040" cy="3977640"/>
          </a:xfrm>
          <a:prstGeom prst="roundRect">
            <a:avLst>
              <a:gd name="adj" fmla="val 1951"/>
            </a:avLst>
          </a:prstGeom>
          <a:solidFill>
            <a:srgbClr val="293352"/>
          </a:solidFill>
          <a:ln/>
        </p:spPr>
      </p:sp>
      <p:sp>
        <p:nvSpPr>
          <p:cNvPr id="5" name="Shape 3"/>
          <p:cNvSpPr/>
          <p:nvPr/>
        </p:nvSpPr>
        <p:spPr>
          <a:xfrm>
            <a:off x="914400" y="1874520"/>
            <a:ext cx="640080" cy="640080"/>
          </a:xfrm>
          <a:prstGeom prst="roundRect">
            <a:avLst>
              <a:gd name="adj" fmla="val 12857"/>
            </a:avLst>
          </a:prstGeom>
          <a:solidFill>
            <a:srgbClr val="A51C30"/>
          </a:solidFill>
          <a:ln/>
        </p:spPr>
      </p:sp>
      <p:pic>
        <p:nvPicPr>
          <p:cNvPr id="6" name="Image 0" descr="preencoded.png">    </p:cNvPr>
          <p:cNvPicPr>
            <a:picLocks noChangeAspect="1"/>
          </p:cNvPicPr>
          <p:nvPr/>
        </p:nvPicPr>
        <p:blipFill>
          <a:blip r:embed="rId1"/>
          <a:stretch>
            <a:fillRect/>
          </a:stretch>
        </p:blipFill>
        <p:spPr>
          <a:xfrm>
            <a:off x="1058418" y="2018538"/>
            <a:ext cx="352044" cy="352044"/>
          </a:xfrm>
          <a:prstGeom prst="rect">
            <a:avLst/>
          </a:prstGeom>
        </p:spPr>
      </p:pic>
      <p:sp>
        <p:nvSpPr>
          <p:cNvPr id="7" name="Text 4"/>
          <p:cNvSpPr/>
          <p:nvPr/>
        </p:nvSpPr>
        <p:spPr>
          <a:xfrm>
            <a:off x="914400" y="2697480"/>
            <a:ext cx="3200400" cy="118872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Weight by 1 over volatility</a:t>
            </a:r>
            <a:endParaRPr lang="en-US" sz="2200" dirty="0"/>
          </a:p>
        </p:txBody>
      </p:sp>
      <p:sp>
        <p:nvSpPr>
          <p:cNvPr id="8" name="Text 5"/>
          <p:cNvSpPr/>
          <p:nvPr/>
        </p:nvSpPr>
        <p:spPr>
          <a:xfrm>
            <a:off x="914400" y="3977640"/>
            <a:ext cx="320040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1 / σ</a:t>
            </a:r>
            <a:endParaRPr lang="en-US" sz="3000" dirty="0"/>
          </a:p>
        </p:txBody>
      </p:sp>
      <p:sp>
        <p:nvSpPr>
          <p:cNvPr id="9" name="Text 6"/>
          <p:cNvSpPr/>
          <p:nvPr/>
        </p:nvSpPr>
        <p:spPr>
          <a:xfrm>
            <a:off x="914400" y="4617720"/>
            <a:ext cx="3200400" cy="457200"/>
          </a:xfrm>
          <a:prstGeom prst="rect">
            <a:avLst/>
          </a:prstGeom>
          <a:noFill/>
          <a:ln/>
        </p:spPr>
        <p:txBody>
          <a:bodyPr wrap="square" lIns="0" tIns="0" rIns="0" bIns="0" rtlCol="0" anchor="ctr"/>
          <a:lstStyle/>
          <a:p>
            <a:pPr indent="0" marL="0">
              <a:buNone/>
            </a:pPr>
            <a:r>
              <a:rPr lang="en-US" sz="1200" dirty="0">
                <a:solidFill>
                  <a:srgbClr val="F3F3F1"/>
                </a:solidFill>
                <a:latin typeface="Arial" pitchFamily="34" charset="0"/>
                <a:ea typeface="Arial" pitchFamily="34" charset="-122"/>
                <a:cs typeface="Arial" pitchFamily="34" charset="-120"/>
              </a:rPr>
              <a:t>calmer stocks get more capital, then normalize</a:t>
            </a:r>
            <a:endParaRPr lang="en-US" sz="1200" dirty="0"/>
          </a:p>
        </p:txBody>
      </p:sp>
      <p:sp>
        <p:nvSpPr>
          <p:cNvPr id="10" name="Shape 7"/>
          <p:cNvSpPr/>
          <p:nvPr/>
        </p:nvSpPr>
        <p:spPr>
          <a:xfrm>
            <a:off x="4663440" y="1600200"/>
            <a:ext cx="6858000" cy="1207008"/>
          </a:xfrm>
          <a:prstGeom prst="roundRect">
            <a:avLst>
              <a:gd name="adj" fmla="val 4545"/>
            </a:avLst>
          </a:prstGeom>
          <a:solidFill>
            <a:srgbClr val="F3F3F1"/>
          </a:solidFill>
          <a:ln/>
        </p:spPr>
      </p:sp>
      <p:sp>
        <p:nvSpPr>
          <p:cNvPr id="11" name="Shape 8"/>
          <p:cNvSpPr/>
          <p:nvPr/>
        </p:nvSpPr>
        <p:spPr>
          <a:xfrm>
            <a:off x="4892040" y="1952244"/>
            <a:ext cx="502920" cy="502920"/>
          </a:xfrm>
          <a:prstGeom prst="roundRect">
            <a:avLst>
              <a:gd name="adj" fmla="val 16364"/>
            </a:avLst>
          </a:prstGeom>
          <a:solidFill>
            <a:srgbClr val="A51C30"/>
          </a:solidFill>
          <a:ln/>
        </p:spPr>
      </p:sp>
      <p:pic>
        <p:nvPicPr>
          <p:cNvPr id="12" name="Image 1" descr="preencoded.png">    </p:cNvPr>
          <p:cNvPicPr>
            <a:picLocks noChangeAspect="1"/>
          </p:cNvPicPr>
          <p:nvPr/>
        </p:nvPicPr>
        <p:blipFill>
          <a:blip r:embed="rId2"/>
          <a:stretch>
            <a:fillRect/>
          </a:stretch>
        </p:blipFill>
        <p:spPr>
          <a:xfrm>
            <a:off x="5005197" y="2065401"/>
            <a:ext cx="276606" cy="276606"/>
          </a:xfrm>
          <a:prstGeom prst="rect">
            <a:avLst/>
          </a:prstGeom>
        </p:spPr>
      </p:pic>
      <p:sp>
        <p:nvSpPr>
          <p:cNvPr id="13" name="Text 9"/>
          <p:cNvSpPr/>
          <p:nvPr/>
        </p:nvSpPr>
        <p:spPr>
          <a:xfrm>
            <a:off x="5623560" y="1764792"/>
            <a:ext cx="5669280" cy="932688"/>
          </a:xfrm>
          <a:prstGeom prst="rect">
            <a:avLst/>
          </a:prstGeom>
          <a:noFill/>
          <a:ln/>
        </p:spPr>
        <p:txBody>
          <a:bodyPr wrap="square" lIns="0" tIns="0" rIns="0" bIns="0" rtlCol="0" anchor="ctr"/>
          <a:lstStyle/>
          <a:p>
            <a:pPr indent="0" marL="0">
              <a:lnSpc>
                <a:spcPct val="105000"/>
              </a:lnSpc>
              <a:buNone/>
            </a:pPr>
            <a:r>
              <a:rPr lang="en-US" sz="1500" b="1" dirty="0">
                <a:solidFill>
                  <a:srgbClr val="293352"/>
                </a:solidFill>
                <a:latin typeface="Arial" pitchFamily="34" charset="0"/>
                <a:ea typeface="Arial" pitchFamily="34" charset="-122"/>
                <a:cs typeface="Arial" pitchFamily="34" charset="-120"/>
              </a:rPr>
              <a:t>What it is
</a:t>
            </a:r>
            <a:pPr indent="0" marL="0">
              <a:lnSpc>
                <a:spcPct val="105000"/>
              </a:lnSpc>
              <a:buNone/>
            </a:pPr>
            <a:r>
              <a:rPr lang="en-US" sz="1300" dirty="0">
                <a:solidFill>
                  <a:srgbClr val="1E1E1E"/>
                </a:solidFill>
                <a:latin typeface="Arial" pitchFamily="34" charset="0"/>
                <a:ea typeface="Arial" pitchFamily="34" charset="-122"/>
                <a:cs typeface="Arial" pitchFamily="34" charset="-120"/>
              </a:rPr>
              <a:t>Weight each survivor in proportion to 1 over its volatility, then normalize so weights sum to 1.</a:t>
            </a:r>
            <a:endParaRPr lang="en-US" sz="1500" dirty="0"/>
          </a:p>
        </p:txBody>
      </p:sp>
      <p:sp>
        <p:nvSpPr>
          <p:cNvPr id="14" name="Shape 10"/>
          <p:cNvSpPr/>
          <p:nvPr/>
        </p:nvSpPr>
        <p:spPr>
          <a:xfrm>
            <a:off x="4663440" y="2990088"/>
            <a:ext cx="6858000" cy="1207008"/>
          </a:xfrm>
          <a:prstGeom prst="roundRect">
            <a:avLst>
              <a:gd name="adj" fmla="val 4545"/>
            </a:avLst>
          </a:prstGeom>
          <a:solidFill>
            <a:srgbClr val="F3F3F1"/>
          </a:solidFill>
          <a:ln/>
        </p:spPr>
      </p:sp>
      <p:sp>
        <p:nvSpPr>
          <p:cNvPr id="15" name="Shape 11"/>
          <p:cNvSpPr/>
          <p:nvPr/>
        </p:nvSpPr>
        <p:spPr>
          <a:xfrm>
            <a:off x="4892040" y="3342132"/>
            <a:ext cx="502920" cy="502920"/>
          </a:xfrm>
          <a:prstGeom prst="roundRect">
            <a:avLst>
              <a:gd name="adj" fmla="val 16364"/>
            </a:avLst>
          </a:prstGeom>
          <a:solidFill>
            <a:srgbClr val="A51C30"/>
          </a:solidFill>
          <a:ln/>
        </p:spPr>
      </p:sp>
      <p:pic>
        <p:nvPicPr>
          <p:cNvPr id="16" name="Image 2" descr="preencoded.png">    </p:cNvPr>
          <p:cNvPicPr>
            <a:picLocks noChangeAspect="1"/>
          </p:cNvPicPr>
          <p:nvPr/>
        </p:nvPicPr>
        <p:blipFill>
          <a:blip r:embed="rId3"/>
          <a:stretch>
            <a:fillRect/>
          </a:stretch>
        </p:blipFill>
        <p:spPr>
          <a:xfrm>
            <a:off x="5005197" y="3455289"/>
            <a:ext cx="276606" cy="276606"/>
          </a:xfrm>
          <a:prstGeom prst="rect">
            <a:avLst/>
          </a:prstGeom>
        </p:spPr>
      </p:pic>
      <p:sp>
        <p:nvSpPr>
          <p:cNvPr id="17" name="Text 12"/>
          <p:cNvSpPr/>
          <p:nvPr/>
        </p:nvSpPr>
        <p:spPr>
          <a:xfrm>
            <a:off x="5623560" y="3154680"/>
            <a:ext cx="5669280" cy="932688"/>
          </a:xfrm>
          <a:prstGeom prst="rect">
            <a:avLst/>
          </a:prstGeom>
          <a:noFill/>
          <a:ln/>
        </p:spPr>
        <p:txBody>
          <a:bodyPr wrap="square" lIns="0" tIns="0" rIns="0" bIns="0" rtlCol="0" anchor="ctr"/>
          <a:lstStyle/>
          <a:p>
            <a:pPr indent="0" marL="0">
              <a:lnSpc>
                <a:spcPct val="105000"/>
              </a:lnSpc>
              <a:buNone/>
            </a:pPr>
            <a:r>
              <a:rPr lang="en-US" sz="1500" b="1" dirty="0">
                <a:solidFill>
                  <a:srgbClr val="293352"/>
                </a:solidFill>
                <a:latin typeface="Arial" pitchFamily="34" charset="0"/>
                <a:ea typeface="Arial" pitchFamily="34" charset="-122"/>
                <a:cs typeface="Arial" pitchFamily="34" charset="-120"/>
              </a:rPr>
              <a:t>Why not minimum variance here
</a:t>
            </a:r>
            <a:pPr indent="0" marL="0">
              <a:lnSpc>
                <a:spcPct val="105000"/>
              </a:lnSpc>
              <a:buNone/>
            </a:pPr>
            <a:r>
              <a:rPr lang="en-US" sz="1300" dirty="0">
                <a:solidFill>
                  <a:srgbClr val="1E1E1E"/>
                </a:solidFill>
                <a:latin typeface="Arial" pitchFamily="34" charset="0"/>
                <a:ea typeface="Arial" pitchFamily="34" charset="-122"/>
                <a:cs typeface="Arial" pitchFamily="34" charset="-120"/>
              </a:rPr>
              <a:t>True min variance needs a quadratic program (matrix inverse plus solver), heavy in a browser.</a:t>
            </a:r>
            <a:endParaRPr lang="en-US" sz="1500" dirty="0"/>
          </a:p>
        </p:txBody>
      </p:sp>
      <p:sp>
        <p:nvSpPr>
          <p:cNvPr id="18" name="Shape 13"/>
          <p:cNvSpPr/>
          <p:nvPr/>
        </p:nvSpPr>
        <p:spPr>
          <a:xfrm>
            <a:off x="4663440" y="4379976"/>
            <a:ext cx="6858000" cy="1207008"/>
          </a:xfrm>
          <a:prstGeom prst="roundRect">
            <a:avLst>
              <a:gd name="adj" fmla="val 4545"/>
            </a:avLst>
          </a:prstGeom>
          <a:solidFill>
            <a:srgbClr val="F3F3F1"/>
          </a:solidFill>
          <a:ln/>
        </p:spPr>
      </p:sp>
      <p:sp>
        <p:nvSpPr>
          <p:cNvPr id="19" name="Shape 14"/>
          <p:cNvSpPr/>
          <p:nvPr/>
        </p:nvSpPr>
        <p:spPr>
          <a:xfrm>
            <a:off x="4892040" y="4732020"/>
            <a:ext cx="502920" cy="502920"/>
          </a:xfrm>
          <a:prstGeom prst="roundRect">
            <a:avLst>
              <a:gd name="adj" fmla="val 16364"/>
            </a:avLst>
          </a:prstGeom>
          <a:solidFill>
            <a:srgbClr val="A51C30"/>
          </a:solidFill>
          <a:ln/>
        </p:spPr>
      </p:sp>
      <p:pic>
        <p:nvPicPr>
          <p:cNvPr id="20" name="Image 3" descr="preencoded.png">    </p:cNvPr>
          <p:cNvPicPr>
            <a:picLocks noChangeAspect="1"/>
          </p:cNvPicPr>
          <p:nvPr/>
        </p:nvPicPr>
        <p:blipFill>
          <a:blip r:embed="rId4"/>
          <a:stretch>
            <a:fillRect/>
          </a:stretch>
        </p:blipFill>
        <p:spPr>
          <a:xfrm>
            <a:off x="5005197" y="4845177"/>
            <a:ext cx="276606" cy="276606"/>
          </a:xfrm>
          <a:prstGeom prst="rect">
            <a:avLst/>
          </a:prstGeom>
        </p:spPr>
      </p:pic>
      <p:sp>
        <p:nvSpPr>
          <p:cNvPr id="21" name="Text 15"/>
          <p:cNvSpPr/>
          <p:nvPr/>
        </p:nvSpPr>
        <p:spPr>
          <a:xfrm>
            <a:off x="5623560" y="4544568"/>
            <a:ext cx="5669280" cy="932688"/>
          </a:xfrm>
          <a:prstGeom prst="rect">
            <a:avLst/>
          </a:prstGeom>
          <a:noFill/>
          <a:ln/>
        </p:spPr>
        <p:txBody>
          <a:bodyPr wrap="square" lIns="0" tIns="0" rIns="0" bIns="0" rtlCol="0" anchor="ctr"/>
          <a:lstStyle/>
          <a:p>
            <a:pPr indent="0" marL="0">
              <a:lnSpc>
                <a:spcPct val="105000"/>
              </a:lnSpc>
              <a:buNone/>
            </a:pPr>
            <a:r>
              <a:rPr lang="en-US" sz="1500" b="1" dirty="0">
                <a:solidFill>
                  <a:srgbClr val="293352"/>
                </a:solidFill>
                <a:latin typeface="Arial" pitchFamily="34" charset="0"/>
                <a:ea typeface="Arial" pitchFamily="34" charset="-122"/>
                <a:cs typeface="Arial" pitchFamily="34" charset="-120"/>
              </a:rPr>
              <a:t>Why it is acceptable
</a:t>
            </a:r>
            <a:pPr indent="0" marL="0">
              <a:lnSpc>
                <a:spcPct val="105000"/>
              </a:lnSpc>
              <a:buNone/>
            </a:pPr>
            <a:r>
              <a:rPr lang="en-US" sz="1300" dirty="0">
                <a:solidFill>
                  <a:srgbClr val="1E1E1E"/>
                </a:solidFill>
                <a:latin typeface="Arial" pitchFamily="34" charset="0"/>
                <a:ea typeface="Arial" pitchFamily="34" charset="-122"/>
                <a:cs typeface="Arial" pitchFamily="34" charset="-120"/>
              </a:rPr>
              <a:t>A real, widely used heuristic. Same lean toward lower risk, no solver, all in plain JavaScript.</a:t>
            </a:r>
            <a:endParaRPr lang="en-US" sz="1500" dirty="0"/>
          </a:p>
        </p:txBody>
      </p:sp>
      <p:sp>
        <p:nvSpPr>
          <p:cNvPr id="22"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23" name="Harvard Page Number"/>
          <p:cNvSpPr txBox="1"/>
          <p:nvPr/>
        </p:nvSpPr>
        <p:spPr>
          <a:xfrm>
            <a:off x="11730577" y="6446043"/>
            <a:ext cx="324104" cy="274638"/>
          </a:xfrm>
          <a:prstGeom prst="rect">
            <a:avLst/>
          </a:prstGeom>
          <a:noFill/>
        </p:spPr>
        <p:txBody>
          <a:bodyPr wrap="none" lIns="0" rIns="0" tIns="0" bIns="0">
            <a:noAutofit/>
          </a:bodyPr>
          <a:lstStyle/>
          <a:p>
            <a:pPr algn="r"/>
            <a:fld id="{FFE3DD3C-3519-4864-A927-D385286F66FC}" type="slidenum">
              <a:rPr lang="en-US" sz="1000">
                <a:solidFill>
                  <a:srgbClr val="8996A0"/>
                </a:solidFill>
                <a:latin typeface="Arial"/>
              </a:rPr>
              <a:t>26</a:t>
            </a:fld>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WHAT STUDENTS NEED ACCESS TO</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API tools for the build</a:t>
            </a:r>
            <a:endParaRPr lang="en-US" sz="2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881360" cy="914400"/>
        </p:xfrm>
        <a:graphic>
          <a:graphicData uri="http://schemas.openxmlformats.org/drawingml/2006/table">
            <a:tbl>
              <a:tblPr/>
              <a:tblGrid>
                <a:gridCol w="2377440"/>
                <a:gridCol w="2377440"/>
                <a:gridCol w="4023360"/>
                <a:gridCol w="2103120"/>
              </a:tblGrid>
              <a:tr h="502920">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API</a:t>
                      </a:r>
                      <a:endParaRPr lang="en-US" sz="1400" dirty="0">
                        <a:latin typeface="Arial" charset="0"/>
                        <a:ea typeface="Arial" charset="0"/>
                        <a:cs typeface="Arial" charset="0"/>
                      </a:endParaRPr>
                    </a:p>
                  </a:txBody>
                  <a:tcPr marL="91440" marR="91440" marT="45720" marB="45720"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293352"/>
                    </a:solidFill>
                  </a:tcPr>
                </a:tc>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Auth</a:t>
                      </a:r>
                      <a:endParaRPr lang="en-US" sz="1400" dirty="0">
                        <a:latin typeface="Arial" charset="0"/>
                        <a:ea typeface="Arial" charset="0"/>
                        <a:cs typeface="Arial" charset="0"/>
                      </a:endParaRPr>
                    </a:p>
                  </a:txBody>
                  <a:tcPr marL="91440" marR="91440" marT="45720" marB="45720"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293352"/>
                    </a:solidFill>
                  </a:tcPr>
                </a:tc>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Used for</a:t>
                      </a:r>
                      <a:endParaRPr lang="en-US" sz="1400" dirty="0">
                        <a:latin typeface="Arial" charset="0"/>
                        <a:ea typeface="Arial" charset="0"/>
                        <a:cs typeface="Arial" charset="0"/>
                      </a:endParaRPr>
                    </a:p>
                  </a:txBody>
                  <a:tcPr marL="91440" marR="91440" marT="45720" marB="45720"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293352"/>
                    </a:solidFill>
                  </a:tcPr>
                </a:tc>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Required?</a:t>
                      </a:r>
                      <a:endParaRPr lang="en-US" sz="1400" dirty="0">
                        <a:latin typeface="Arial" charset="0"/>
                        <a:ea typeface="Arial" charset="0"/>
                        <a:cs typeface="Arial" charset="0"/>
                      </a:endParaRPr>
                    </a:p>
                  </a:txBody>
                  <a:tcPr marL="91440" marR="91440" marT="45720" marB="45720"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293352"/>
                    </a:solidFill>
                  </a:tcPr>
                </a:tc>
              </a:tr>
              <a:tr h="640080">
                <a:tc>
                  <a:txBody>
                    <a:bodyPr/>
                    <a:lstStyle/>
                    <a:p>
                      <a:pPr algn="l" indent="0" marL="0">
                        <a:buNone/>
                      </a:pPr>
                      <a:r>
                        <a:rPr lang="en-US" sz="1450" dirty="0">
                          <a:solidFill>
                            <a:srgbClr val="1E1E1E"/>
                          </a:solidFill>
                          <a:latin typeface="Arial" pitchFamily="34" charset="0"/>
                          <a:ea typeface="Arial" pitchFamily="34" charset="-122"/>
                          <a:cs typeface="Arial" pitchFamily="34" charset="-120"/>
                        </a:rPr>
                        <a:t>Yahoo Finance</a:t>
                      </a:r>
                      <a:endParaRPr lang="en-US" sz="1450" dirty="0">
                        <a:latin typeface="Arial" charset="0"/>
                        <a:ea typeface="Arial" charset="0"/>
                        <a:cs typeface="Arial" charset="0"/>
                      </a:endParaRPr>
                    </a:p>
                  </a:txBody>
                  <a:tcPr marL="91440" marR="91440" marT="45720" marB="45720"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F3F3F1"/>
                    </a:solidFill>
                  </a:tcPr>
                </a:tc>
                <a:tc>
                  <a:txBody>
                    <a:bodyPr/>
                    <a:lstStyle/>
                    <a:p>
                      <a:pPr algn="l" indent="0" marL="0">
                        <a:buNone/>
                      </a:pPr>
                      <a:r>
                        <a:rPr lang="en-US" sz="1450" dirty="0">
                          <a:solidFill>
                            <a:srgbClr val="1E1E1E"/>
                          </a:solidFill>
                          <a:latin typeface="Arial" pitchFamily="34" charset="0"/>
                          <a:ea typeface="Arial" pitchFamily="34" charset="-122"/>
                          <a:cs typeface="Arial" pitchFamily="34" charset="-120"/>
                        </a:rPr>
                        <a:t>Unauthenticated</a:t>
                      </a:r>
                      <a:endParaRPr lang="en-US" sz="1450" dirty="0">
                        <a:latin typeface="Arial" charset="0"/>
                        <a:ea typeface="Arial" charset="0"/>
                        <a:cs typeface="Arial" charset="0"/>
                      </a:endParaRPr>
                    </a:p>
                  </a:txBody>
                  <a:tcPr marL="91440" marR="91440" marT="45720" marB="45720"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F3F3F1"/>
                    </a:solidFill>
                  </a:tcPr>
                </a:tc>
                <a:tc>
                  <a:txBody>
                    <a:bodyPr/>
                    <a:lstStyle/>
                    <a:p>
                      <a:pPr algn="l" indent="0" marL="0">
                        <a:buNone/>
                      </a:pPr>
                      <a:r>
                        <a:rPr lang="en-US" sz="1450" dirty="0">
                          <a:solidFill>
                            <a:srgbClr val="1E1E1E"/>
                          </a:solidFill>
                          <a:latin typeface="Arial" pitchFamily="34" charset="0"/>
                          <a:ea typeface="Arial" pitchFamily="34" charset="-122"/>
                          <a:cs typeface="Arial" pitchFamily="34" charset="-120"/>
                        </a:rPr>
                        <a:t>OHLCV feeding RSI, MACD, volatility</a:t>
                      </a:r>
                      <a:endParaRPr lang="en-US" sz="1450" dirty="0">
                        <a:latin typeface="Arial" charset="0"/>
                        <a:ea typeface="Arial" charset="0"/>
                        <a:cs typeface="Arial" charset="0"/>
                      </a:endParaRPr>
                    </a:p>
                  </a:txBody>
                  <a:tcPr marL="91440" marR="91440" marT="45720" marB="45720"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F3F3F1"/>
                    </a:solidFill>
                  </a:tcPr>
                </a:tc>
                <a:tc>
                  <a:txBody>
                    <a:bodyPr/>
                    <a:lstStyle/>
                    <a:p>
                      <a:pPr algn="l" indent="0" marL="0">
                        <a:buNone/>
                      </a:pPr>
                      <a:r>
                        <a:rPr lang="en-US" sz="1450" dirty="0">
                          <a:solidFill>
                            <a:srgbClr val="1E1E1E"/>
                          </a:solidFill>
                          <a:latin typeface="Arial" pitchFamily="34" charset="0"/>
                          <a:ea typeface="Arial" pitchFamily="34" charset="-122"/>
                          <a:cs typeface="Arial" pitchFamily="34" charset="-120"/>
                        </a:rPr>
                        <a:t>Yes, only data source</a:t>
                      </a:r>
                      <a:endParaRPr lang="en-US" sz="1450" dirty="0">
                        <a:latin typeface="Arial" charset="0"/>
                        <a:ea typeface="Arial" charset="0"/>
                        <a:cs typeface="Arial" charset="0"/>
                      </a:endParaRPr>
                    </a:p>
                  </a:txBody>
                  <a:tcPr marL="91440" marR="91440" marT="45720" marB="45720"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F3F3F1"/>
                    </a:solidFill>
                  </a:tcPr>
                </a:tc>
              </a:tr>
              <a:tr h="640080">
                <a:tc>
                  <a:txBody>
                    <a:bodyPr/>
                    <a:lstStyle/>
                    <a:p>
                      <a:pPr algn="l" indent="0" marL="0">
                        <a:buNone/>
                      </a:pPr>
                      <a:r>
                        <a:rPr lang="en-US" sz="1450" dirty="0">
                          <a:solidFill>
                            <a:srgbClr val="1E1E1E"/>
                          </a:solidFill>
                          <a:latin typeface="Arial" pitchFamily="34" charset="0"/>
                          <a:ea typeface="Arial" pitchFamily="34" charset="-122"/>
                          <a:cs typeface="Arial" pitchFamily="34" charset="-120"/>
                        </a:rPr>
                        <a:t>OpenRouter</a:t>
                      </a:r>
                      <a:endParaRPr lang="en-US" sz="1450" dirty="0">
                        <a:latin typeface="Arial" charset="0"/>
                        <a:ea typeface="Arial" charset="0"/>
                        <a:cs typeface="Arial" charset="0"/>
                      </a:endParaRPr>
                    </a:p>
                  </a:txBody>
                  <a:tcPr marL="91440" marR="91440" marT="45720" marB="45720"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F3F3F1"/>
                    </a:solidFill>
                  </a:tcPr>
                </a:tc>
                <a:tc>
                  <a:txBody>
                    <a:bodyPr/>
                    <a:lstStyle/>
                    <a:p>
                      <a:pPr algn="l" indent="0" marL="0">
                        <a:buNone/>
                      </a:pPr>
                      <a:r>
                        <a:rPr lang="en-US" sz="1450" dirty="0">
                          <a:solidFill>
                            <a:srgbClr val="1E1E1E"/>
                          </a:solidFill>
                          <a:latin typeface="Arial" pitchFamily="34" charset="0"/>
                          <a:ea typeface="Arial" pitchFamily="34" charset="-122"/>
                          <a:cs typeface="Arial" pitchFamily="34" charset="-120"/>
                        </a:rPr>
                        <a:t>Shared class key</a:t>
                      </a:r>
                      <a:endParaRPr lang="en-US" sz="1450" dirty="0">
                        <a:latin typeface="Arial" charset="0"/>
                        <a:ea typeface="Arial" charset="0"/>
                        <a:cs typeface="Arial" charset="0"/>
                      </a:endParaRPr>
                    </a:p>
                  </a:txBody>
                  <a:tcPr marL="91440" marR="91440" marT="45720" marB="45720"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F3F3F1"/>
                    </a:solidFill>
                  </a:tcPr>
                </a:tc>
                <a:tc>
                  <a:txBody>
                    <a:bodyPr/>
                    <a:lstStyle/>
                    <a:p>
                      <a:pPr algn="l" indent="0" marL="0">
                        <a:buNone/>
                      </a:pPr>
                      <a:r>
                        <a:rPr lang="en-US" sz="1450" dirty="0">
                          <a:solidFill>
                            <a:srgbClr val="1E1E1E"/>
                          </a:solidFill>
                          <a:latin typeface="Arial" pitchFamily="34" charset="0"/>
                          <a:ea typeface="Arial" pitchFamily="34" charset="-122"/>
                          <a:cs typeface="Arial" pitchFamily="34" charset="-120"/>
                        </a:rPr>
                        <a:t>Plain English research note</a:t>
                      </a:r>
                      <a:endParaRPr lang="en-US" sz="1450" dirty="0">
                        <a:latin typeface="Arial" charset="0"/>
                        <a:ea typeface="Arial" charset="0"/>
                        <a:cs typeface="Arial" charset="0"/>
                      </a:endParaRPr>
                    </a:p>
                  </a:txBody>
                  <a:tcPr marL="91440" marR="91440" marT="45720" marB="45720"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F3F3F1"/>
                    </a:solidFill>
                  </a:tcPr>
                </a:tc>
                <a:tc>
                  <a:txBody>
                    <a:bodyPr/>
                    <a:lstStyle/>
                    <a:p>
                      <a:pPr algn="l" indent="0" marL="0">
                        <a:buNone/>
                      </a:pPr>
                      <a:r>
                        <a:rPr lang="en-US" sz="1450" dirty="0">
                          <a:solidFill>
                            <a:srgbClr val="1E1E1E"/>
                          </a:solidFill>
                          <a:latin typeface="Arial" pitchFamily="34" charset="0"/>
                          <a:ea typeface="Arial" pitchFamily="34" charset="-122"/>
                          <a:cs typeface="Arial" pitchFamily="34" charset="-120"/>
                        </a:rPr>
                        <a:t>Yes, language only</a:t>
                      </a:r>
                      <a:endParaRPr lang="en-US" sz="1450" dirty="0">
                        <a:latin typeface="Arial" charset="0"/>
                        <a:ea typeface="Arial" charset="0"/>
                        <a:cs typeface="Arial" charset="0"/>
                      </a:endParaRPr>
                    </a:p>
                  </a:txBody>
                  <a:tcPr marL="91440" marR="91440" marT="45720" marB="45720"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F3F3F1"/>
                    </a:solidFill>
                  </a:tcPr>
                </a:tc>
              </a:tr>
              <a:tr h="640080">
                <a:tc>
                  <a:txBody>
                    <a:bodyPr/>
                    <a:lstStyle/>
                    <a:p>
                      <a:pPr algn="l" indent="0" marL="0">
                        <a:buNone/>
                      </a:pPr>
                      <a:r>
                        <a:rPr lang="en-US" sz="1450" dirty="0">
                          <a:solidFill>
                            <a:srgbClr val="1E1E1E"/>
                          </a:solidFill>
                          <a:latin typeface="Arial" pitchFamily="34" charset="0"/>
                          <a:ea typeface="Arial" pitchFamily="34" charset="-122"/>
                          <a:cs typeface="Arial" pitchFamily="34" charset="-120"/>
                        </a:rPr>
                        <a:t>Riskline</a:t>
                      </a:r>
                      <a:endParaRPr lang="en-US" sz="1450" dirty="0">
                        <a:latin typeface="Arial" charset="0"/>
                        <a:ea typeface="Arial" charset="0"/>
                        <a:cs typeface="Arial" charset="0"/>
                      </a:endParaRPr>
                    </a:p>
                  </a:txBody>
                  <a:tcPr marL="91440" marR="91440" marT="45720" marB="45720"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F3F3F1"/>
                    </a:solidFill>
                  </a:tcPr>
                </a:tc>
                <a:tc>
                  <a:txBody>
                    <a:bodyPr/>
                    <a:lstStyle/>
                    <a:p>
                      <a:pPr algn="l" indent="0" marL="0">
                        <a:buNone/>
                      </a:pPr>
                      <a:r>
                        <a:rPr lang="en-US" sz="1450" dirty="0">
                          <a:solidFill>
                            <a:srgbClr val="1E1E1E"/>
                          </a:solidFill>
                          <a:latin typeface="Arial" pitchFamily="34" charset="0"/>
                          <a:ea typeface="Arial" pitchFamily="34" charset="-122"/>
                          <a:cs typeface="Arial" pitchFamily="34" charset="-120"/>
                        </a:rPr>
                        <a:t>Unauthenticated</a:t>
                      </a:r>
                      <a:endParaRPr lang="en-US" sz="1450" dirty="0">
                        <a:latin typeface="Arial" charset="0"/>
                        <a:ea typeface="Arial" charset="0"/>
                        <a:cs typeface="Arial" charset="0"/>
                      </a:endParaRPr>
                    </a:p>
                  </a:txBody>
                  <a:tcPr marL="91440" marR="91440" marT="45720" marB="45720"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F3F3F1"/>
                    </a:solidFill>
                  </a:tcPr>
                </a:tc>
                <a:tc>
                  <a:txBody>
                    <a:bodyPr/>
                    <a:lstStyle/>
                    <a:p>
                      <a:pPr algn="l" indent="0" marL="0">
                        <a:buNone/>
                      </a:pPr>
                      <a:r>
                        <a:rPr lang="en-US" sz="1450" dirty="0">
                          <a:solidFill>
                            <a:srgbClr val="1E1E1E"/>
                          </a:solidFill>
                          <a:latin typeface="Arial" pitchFamily="34" charset="0"/>
                          <a:ea typeface="Arial" pitchFamily="34" charset="-122"/>
                          <a:cs typeface="Arial" pitchFamily="34" charset="-120"/>
                        </a:rPr>
                        <a:t>Macro risk alerts (overlay)</a:t>
                      </a:r>
                      <a:endParaRPr lang="en-US" sz="1450" dirty="0">
                        <a:latin typeface="Arial" charset="0"/>
                        <a:ea typeface="Arial" charset="0"/>
                        <a:cs typeface="Arial" charset="0"/>
                      </a:endParaRPr>
                    </a:p>
                  </a:txBody>
                  <a:tcPr marL="91440" marR="91440" marT="45720" marB="45720"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F3F3F1"/>
                    </a:solidFill>
                  </a:tcPr>
                </a:tc>
                <a:tc>
                  <a:txBody>
                    <a:bodyPr/>
                    <a:lstStyle/>
                    <a:p>
                      <a:pPr algn="l" indent="0" marL="0">
                        <a:buNone/>
                      </a:pPr>
                      <a:r>
                        <a:rPr lang="en-US" sz="1450" dirty="0">
                          <a:solidFill>
                            <a:srgbClr val="1E1E1E"/>
                          </a:solidFill>
                          <a:latin typeface="Arial" pitchFamily="34" charset="0"/>
                          <a:ea typeface="Arial" pitchFamily="34" charset="-122"/>
                          <a:cs typeface="Arial" pitchFamily="34" charset="-120"/>
                        </a:rPr>
                        <a:t>Extra credit only</a:t>
                      </a:r>
                      <a:endParaRPr lang="en-US" sz="1450" dirty="0">
                        <a:latin typeface="Arial" charset="0"/>
                        <a:ea typeface="Arial" charset="0"/>
                        <a:cs typeface="Arial" charset="0"/>
                      </a:endParaRPr>
                    </a:p>
                  </a:txBody>
                  <a:tcPr marL="91440" marR="91440" marT="45720" marB="45720" anchor="ctr">
                    <a:lnL w="12700" cap="flat" cmpd="sng" algn="ctr">
                      <a:solidFill>
                        <a:srgbClr val="D8D8D4"/>
                      </a:solidFill>
                      <a:prstDash val="solid"/>
                      <a:round/>
                      <a:headEnd type="none" w="med" len="med"/>
                      <a:tailEnd type="none" w="med" len="med"/>
                    </a:lnL>
                    <a:lnR w="12700" cap="flat" cmpd="sng" algn="ctr">
                      <a:solidFill>
                        <a:srgbClr val="D8D8D4"/>
                      </a:solidFill>
                      <a:prstDash val="solid"/>
                      <a:round/>
                      <a:headEnd type="none" w="med" len="med"/>
                      <a:tailEnd type="none" w="med" len="med"/>
                    </a:lnR>
                    <a:lnT w="12700" cap="flat" cmpd="sng" algn="ctr">
                      <a:solidFill>
                        <a:srgbClr val="D8D8D4"/>
                      </a:solidFill>
                      <a:prstDash val="solid"/>
                      <a:round/>
                      <a:headEnd type="none" w="med" len="med"/>
                      <a:tailEnd type="none" w="med" len="med"/>
                    </a:lnT>
                    <a:lnB w="12700" cap="flat" cmpd="sng" algn="ctr">
                      <a:solidFill>
                        <a:srgbClr val="D8D8D4"/>
                      </a:solidFill>
                      <a:prstDash val="solid"/>
                      <a:round/>
                      <a:headEnd type="none" w="med" len="med"/>
                      <a:tailEnd type="none" w="med" len="med"/>
                    </a:lnB>
                    <a:solidFill>
                      <a:srgbClr val="F3F3F1"/>
                    </a:solidFill>
                  </a:tcPr>
                </a:tc>
              </a:tr>
            </a:tbl>
          </a:graphicData>
        </a:graphic>
      </p:graphicFrame>
      <p:sp>
        <p:nvSpPr>
          <p:cNvPr id="5" name="Text 2"/>
          <p:cNvSpPr/>
          <p:nvPr/>
        </p:nvSpPr>
        <p:spPr>
          <a:xfrm>
            <a:off x="640080" y="4572000"/>
            <a:ext cx="10881360" cy="548640"/>
          </a:xfrm>
          <a:prstGeom prst="rect">
            <a:avLst/>
          </a:prstGeom>
          <a:noFill/>
          <a:ln/>
        </p:spPr>
        <p:txBody>
          <a:bodyPr wrap="square" lIns="0" tIns="0" rIns="0" bIns="0" rtlCol="0" anchor="ctr"/>
          <a:lstStyle/>
          <a:p>
            <a:pPr indent="0" marL="0">
              <a:buNone/>
            </a:pPr>
            <a:r>
              <a:rPr lang="en-US" sz="1450" i="1" dirty="0">
                <a:solidFill>
                  <a:srgbClr val="8996A0"/>
                </a:solidFill>
                <a:latin typeface="Arial" pitchFamily="34" charset="0"/>
                <a:ea typeface="Arial" pitchFamily="34" charset="-122"/>
                <a:cs typeface="Arial" pitchFamily="34" charset="-120"/>
              </a:rPr>
              <a:t>Core build needs just Yahoo plus the OpenRouter key students already have. Riskline is only for the macro overlay.</a:t>
            </a:r>
            <a:endParaRPr lang="en-US" sz="1450" dirty="0"/>
          </a:p>
        </p:txBody>
      </p:sp>
      <p:sp>
        <p:nvSpPr>
          <p:cNvPr id="29"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30" name="Harvard Page Number"/>
          <p:cNvSpPr txBox="1"/>
          <p:nvPr/>
        </p:nvSpPr>
        <p:spPr>
          <a:xfrm>
            <a:off x="11730577" y="6446043"/>
            <a:ext cx="324104" cy="274638"/>
          </a:xfrm>
          <a:prstGeom prst="rect">
            <a:avLst/>
          </a:prstGeom>
          <a:noFill/>
        </p:spPr>
        <p:txBody>
          <a:bodyPr wrap="none" lIns="0" rIns="0" tIns="0" bIns="0">
            <a:noAutofit/>
          </a:bodyPr>
          <a:lstStyle/>
          <a:p>
            <a:pPr algn="r"/>
            <a:fld id="{DBCA88CB-4259-498A-A504-36682D945AAC}" type="slidenum">
              <a:rPr lang="en-US" sz="1000">
                <a:solidFill>
                  <a:srgbClr val="8996A0"/>
                </a:solidFill>
                <a:latin typeface="Arial"/>
              </a:rPr>
              <a:t>27</a:t>
            </a:fld>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THE REPO 2 STARTING POINT</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Clone the template</a:t>
            </a:r>
            <a:endParaRPr lang="en-US" sz="2800" dirty="0"/>
          </a:p>
        </p:txBody>
      </p:sp>
      <p:sp>
        <p:nvSpPr>
          <p:cNvPr id="4" name="Shape 2"/>
          <p:cNvSpPr/>
          <p:nvPr/>
        </p:nvSpPr>
        <p:spPr>
          <a:xfrm>
            <a:off x="640080" y="1691640"/>
            <a:ext cx="10881360" cy="1005840"/>
          </a:xfrm>
          <a:prstGeom prst="roundRect">
            <a:avLst>
              <a:gd name="adj" fmla="val 5455"/>
            </a:avLst>
          </a:prstGeom>
          <a:solidFill>
            <a:srgbClr val="F3F3F1"/>
          </a:solidFill>
          <a:ln/>
        </p:spPr>
      </p:sp>
      <p:sp>
        <p:nvSpPr>
          <p:cNvPr id="5" name="Shape 3"/>
          <p:cNvSpPr/>
          <p:nvPr/>
        </p:nvSpPr>
        <p:spPr>
          <a:xfrm>
            <a:off x="914400" y="1920240"/>
            <a:ext cx="548640" cy="548640"/>
          </a:xfrm>
          <a:prstGeom prst="ellipse">
            <a:avLst/>
          </a:prstGeom>
          <a:solidFill>
            <a:srgbClr val="A51C30"/>
          </a:solidFill>
          <a:ln/>
        </p:spPr>
      </p:sp>
      <p:sp>
        <p:nvSpPr>
          <p:cNvPr id="6" name="Text 4"/>
          <p:cNvSpPr/>
          <p:nvPr/>
        </p:nvSpPr>
        <p:spPr>
          <a:xfrm>
            <a:off x="914400" y="19202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5"/>
          <p:cNvSpPr/>
          <p:nvPr/>
        </p:nvSpPr>
        <p:spPr>
          <a:xfrm>
            <a:off x="1691640" y="1691640"/>
            <a:ext cx="9601200" cy="1005840"/>
          </a:xfrm>
          <a:prstGeom prst="rect">
            <a:avLst/>
          </a:prstGeom>
          <a:noFill/>
          <a:ln/>
        </p:spPr>
        <p:txBody>
          <a:bodyPr wrap="square" lIns="0" tIns="0" rIns="0" bIns="0" rtlCol="0" anchor="ctr"/>
          <a:lstStyle/>
          <a:p>
            <a:pPr indent="0" marL="0">
              <a:buNone/>
            </a:pPr>
            <a:r>
              <a:rPr lang="en-US" sz="1600" dirty="0">
                <a:solidFill>
                  <a:srgbClr val="1E1E1E"/>
                </a:solidFill>
                <a:latin typeface="Arial" pitchFamily="34" charset="0"/>
                <a:ea typeface="Arial" pitchFamily="34" charset="-122"/>
                <a:cs typeface="Arial" pitchFamily="34" charset="-120"/>
              </a:rPr>
              <a:t>Clone the SPA template repo (vienna-genai-spa-template) into a new personal repository.</a:t>
            </a:r>
            <a:endParaRPr lang="en-US" sz="1600" dirty="0"/>
          </a:p>
        </p:txBody>
      </p:sp>
      <p:sp>
        <p:nvSpPr>
          <p:cNvPr id="8" name="Shape 6"/>
          <p:cNvSpPr/>
          <p:nvPr/>
        </p:nvSpPr>
        <p:spPr>
          <a:xfrm>
            <a:off x="640080" y="2898648"/>
            <a:ext cx="10881360" cy="1005840"/>
          </a:xfrm>
          <a:prstGeom prst="roundRect">
            <a:avLst>
              <a:gd name="adj" fmla="val 5455"/>
            </a:avLst>
          </a:prstGeom>
          <a:solidFill>
            <a:srgbClr val="F3F3F1"/>
          </a:solidFill>
          <a:ln/>
        </p:spPr>
      </p:sp>
      <p:sp>
        <p:nvSpPr>
          <p:cNvPr id="9" name="Shape 7"/>
          <p:cNvSpPr/>
          <p:nvPr/>
        </p:nvSpPr>
        <p:spPr>
          <a:xfrm>
            <a:off x="914400" y="3127248"/>
            <a:ext cx="548640" cy="548640"/>
          </a:xfrm>
          <a:prstGeom prst="ellipse">
            <a:avLst/>
          </a:prstGeom>
          <a:solidFill>
            <a:srgbClr val="A51C30"/>
          </a:solidFill>
          <a:ln/>
        </p:spPr>
      </p:sp>
      <p:sp>
        <p:nvSpPr>
          <p:cNvPr id="10" name="Text 8"/>
          <p:cNvSpPr/>
          <p:nvPr/>
        </p:nvSpPr>
        <p:spPr>
          <a:xfrm>
            <a:off x="914400" y="31272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1" name="Text 9"/>
          <p:cNvSpPr/>
          <p:nvPr/>
        </p:nvSpPr>
        <p:spPr>
          <a:xfrm>
            <a:off x="1691640" y="2898648"/>
            <a:ext cx="9601200" cy="1005840"/>
          </a:xfrm>
          <a:prstGeom prst="rect">
            <a:avLst/>
          </a:prstGeom>
          <a:noFill/>
          <a:ln/>
        </p:spPr>
        <p:txBody>
          <a:bodyPr wrap="square" lIns="0" tIns="0" rIns="0" bIns="0" rtlCol="0" anchor="ctr"/>
          <a:lstStyle/>
          <a:p>
            <a:pPr indent="0" marL="0">
              <a:buNone/>
            </a:pPr>
            <a:r>
              <a:rPr lang="en-US" sz="1600" dirty="0">
                <a:solidFill>
                  <a:srgbClr val="1E1E1E"/>
                </a:solidFill>
                <a:latin typeface="Arial" pitchFamily="34" charset="0"/>
                <a:ea typeface="Arial" pitchFamily="34" charset="-122"/>
                <a:cs typeface="Arial" pitchFamily="34" charset="-120"/>
              </a:rPr>
              <a:t>This becomes Repo 2, the build target for this hour.</a:t>
            </a:r>
            <a:endParaRPr lang="en-US" sz="1600" dirty="0"/>
          </a:p>
        </p:txBody>
      </p:sp>
      <p:sp>
        <p:nvSpPr>
          <p:cNvPr id="12" name="Shape 10"/>
          <p:cNvSpPr/>
          <p:nvPr/>
        </p:nvSpPr>
        <p:spPr>
          <a:xfrm>
            <a:off x="640080" y="4105656"/>
            <a:ext cx="10881360" cy="1005840"/>
          </a:xfrm>
          <a:prstGeom prst="roundRect">
            <a:avLst>
              <a:gd name="adj" fmla="val 5455"/>
            </a:avLst>
          </a:prstGeom>
          <a:solidFill>
            <a:srgbClr val="F3F3F1"/>
          </a:solidFill>
          <a:ln/>
        </p:spPr>
      </p:sp>
      <p:sp>
        <p:nvSpPr>
          <p:cNvPr id="13" name="Shape 11"/>
          <p:cNvSpPr/>
          <p:nvPr/>
        </p:nvSpPr>
        <p:spPr>
          <a:xfrm>
            <a:off x="914400" y="4334256"/>
            <a:ext cx="548640" cy="548640"/>
          </a:xfrm>
          <a:prstGeom prst="ellipse">
            <a:avLst/>
          </a:prstGeom>
          <a:solidFill>
            <a:srgbClr val="A51C30"/>
          </a:solidFill>
          <a:ln/>
        </p:spPr>
      </p:sp>
      <p:sp>
        <p:nvSpPr>
          <p:cNvPr id="14" name="Text 12"/>
          <p:cNvSpPr/>
          <p:nvPr/>
        </p:nvSpPr>
        <p:spPr>
          <a:xfrm>
            <a:off x="914400" y="4334256"/>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5" name="Text 13"/>
          <p:cNvSpPr/>
          <p:nvPr/>
        </p:nvSpPr>
        <p:spPr>
          <a:xfrm>
            <a:off x="1691640" y="4105656"/>
            <a:ext cx="9601200" cy="1005840"/>
          </a:xfrm>
          <a:prstGeom prst="rect">
            <a:avLst/>
          </a:prstGeom>
          <a:noFill/>
          <a:ln/>
        </p:spPr>
        <p:txBody>
          <a:bodyPr wrap="square" lIns="0" tIns="0" rIns="0" bIns="0" rtlCol="0" anchor="ctr"/>
          <a:lstStyle/>
          <a:p>
            <a:pPr indent="0" marL="0">
              <a:buNone/>
            </a:pPr>
            <a:r>
              <a:rPr lang="en-US" sz="1600" dirty="0">
                <a:solidFill>
                  <a:srgbClr val="1E1E1E"/>
                </a:solidFill>
                <a:latin typeface="Arial" pitchFamily="34" charset="0"/>
                <a:ea typeface="Arial" pitchFamily="34" charset="-122"/>
                <a:cs typeface="Arial" pitchFamily="34" charset="-120"/>
              </a:rPr>
              <a:t>Confirm npm run dev serves the app locally before building.</a:t>
            </a:r>
            <a:endParaRPr lang="en-US" sz="1600" dirty="0"/>
          </a:p>
        </p:txBody>
      </p:sp>
      <p:sp>
        <p:nvSpPr>
          <p:cNvPr id="16"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17" name="Harvard Page Number"/>
          <p:cNvSpPr txBox="1"/>
          <p:nvPr/>
        </p:nvSpPr>
        <p:spPr>
          <a:xfrm>
            <a:off x="11730577" y="6446043"/>
            <a:ext cx="324104" cy="274638"/>
          </a:xfrm>
          <a:prstGeom prst="rect">
            <a:avLst/>
          </a:prstGeom>
          <a:noFill/>
        </p:spPr>
        <p:txBody>
          <a:bodyPr wrap="none" lIns="0" rIns="0" tIns="0" bIns="0">
            <a:noAutofit/>
          </a:bodyPr>
          <a:lstStyle/>
          <a:p>
            <a:pPr algn="r"/>
            <a:fld id="{806CF0FF-6B68-409F-A33C-C559CDD2B9B3}" type="slidenum">
              <a:rPr lang="en-US" sz="1000">
                <a:solidFill>
                  <a:srgbClr val="8996A0"/>
                </a:solidFill>
                <a:latin typeface="Arial"/>
              </a:rPr>
              <a:t>28</a:t>
            </a:fld>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640080" y="411480"/>
            <a:ext cx="685800" cy="685800"/>
          </a:xfrm>
          <a:prstGeom prst="roundRect">
            <a:avLst>
              <a:gd name="adj" fmla="val 16000"/>
            </a:avLst>
          </a:prstGeom>
          <a:solidFill>
            <a:srgbClr val="A51C30"/>
          </a:solidFill>
          <a:ln/>
        </p:spPr>
      </p:sp>
      <p:sp>
        <p:nvSpPr>
          <p:cNvPr id="3" name="Text 1"/>
          <p:cNvSpPr/>
          <p:nvPr/>
        </p:nvSpPr>
        <p:spPr>
          <a:xfrm>
            <a:off x="640080" y="411480"/>
            <a:ext cx="685800"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4" name="Text 2"/>
          <p:cNvSpPr/>
          <p:nvPr/>
        </p:nvSpPr>
        <p:spPr>
          <a:xfrm>
            <a:off x="1508760" y="411480"/>
            <a:ext cx="10058400" cy="685800"/>
          </a:xfrm>
          <a:prstGeom prst="rect">
            <a:avLst/>
          </a:prstGeom>
          <a:noFill/>
          <a:ln/>
        </p:spPr>
        <p:txBody>
          <a:bodyPr wrap="square" lIns="0" tIns="0" rIns="0" bIns="0" rtlCol="0" anchor="ctr"/>
          <a:lstStyle/>
          <a:p>
            <a:pPr indent="0" marL="0">
              <a:buNone/>
            </a:pPr>
            <a:r>
              <a:rPr lang="en-US" sz="2600" b="1" dirty="0">
                <a:solidFill>
                  <a:srgbClr val="1E1E1E"/>
                </a:solidFill>
                <a:latin typeface="Arial" pitchFamily="34" charset="0"/>
                <a:ea typeface="Arial" pitchFamily="34" charset="-122"/>
                <a:cs typeface="Arial" pitchFamily="34" charset="-120"/>
              </a:rPr>
              <a:t>Enter the candidate universe</a:t>
            </a:r>
            <a:endParaRPr lang="en-US" sz="2600" dirty="0"/>
          </a:p>
        </p:txBody>
      </p:sp>
      <p:sp>
        <p:nvSpPr>
          <p:cNvPr id="5" name="Shape 3"/>
          <p:cNvSpPr/>
          <p:nvPr/>
        </p:nvSpPr>
        <p:spPr>
          <a:xfrm>
            <a:off x="640080" y="1371600"/>
            <a:ext cx="10881360" cy="1143000"/>
          </a:xfrm>
          <a:prstGeom prst="roundRect">
            <a:avLst>
              <a:gd name="adj" fmla="val 6400"/>
            </a:avLst>
          </a:prstGeom>
          <a:solidFill>
            <a:srgbClr val="293352"/>
          </a:solidFill>
          <a:ln/>
        </p:spPr>
      </p:sp>
      <p:sp>
        <p:nvSpPr>
          <p:cNvPr id="6" name="Shape 4"/>
          <p:cNvSpPr/>
          <p:nvPr/>
        </p:nvSpPr>
        <p:spPr>
          <a:xfrm>
            <a:off x="868680" y="1627632"/>
            <a:ext cx="621792" cy="621792"/>
          </a:xfrm>
          <a:prstGeom prst="roundRect">
            <a:avLst>
              <a:gd name="adj" fmla="val 13235"/>
            </a:avLst>
          </a:prstGeom>
          <a:solidFill>
            <a:srgbClr val="A51C30"/>
          </a:solidFill>
          <a:ln/>
        </p:spPr>
      </p:sp>
      <p:pic>
        <p:nvPicPr>
          <p:cNvPr id="7" name="Image 0" descr="preencoded.png">    </p:cNvPr>
          <p:cNvPicPr>
            <a:picLocks noChangeAspect="1"/>
          </p:cNvPicPr>
          <p:nvPr/>
        </p:nvPicPr>
        <p:blipFill>
          <a:blip r:embed="rId1"/>
          <a:stretch>
            <a:fillRect/>
          </a:stretch>
        </p:blipFill>
        <p:spPr>
          <a:xfrm>
            <a:off x="1008583" y="1767535"/>
            <a:ext cx="341986" cy="341986"/>
          </a:xfrm>
          <a:prstGeom prst="rect">
            <a:avLst/>
          </a:prstGeom>
        </p:spPr>
      </p:pic>
      <p:sp>
        <p:nvSpPr>
          <p:cNvPr id="8" name="Text 5"/>
          <p:cNvSpPr/>
          <p:nvPr/>
        </p:nvSpPr>
        <p:spPr>
          <a:xfrm>
            <a:off x="1691640" y="1463040"/>
            <a:ext cx="9601200" cy="960120"/>
          </a:xfrm>
          <a:prstGeom prst="rect">
            <a:avLst/>
          </a:prstGeom>
          <a:noFill/>
          <a:ln/>
        </p:spPr>
        <p:txBody>
          <a:bodyPr wrap="square" lIns="0" tIns="0" rIns="0" bIns="0" rtlCol="0" anchor="ctr"/>
          <a:lstStyle/>
          <a:p>
            <a:pPr indent="0" marL="0">
              <a:lnSpc>
                <a:spcPct val="105000"/>
              </a:lnSpc>
              <a:buNone/>
            </a:pPr>
            <a:r>
              <a:rPr lang="en-US" sz="1100" b="1" spc="200" kern="0" dirty="0">
                <a:solidFill>
                  <a:srgbClr val="8996A0"/>
                </a:solidFill>
                <a:latin typeface="Arial" pitchFamily="34" charset="0"/>
                <a:ea typeface="Arial" pitchFamily="34" charset="-122"/>
                <a:cs typeface="Arial" pitchFamily="34" charset="-120"/>
              </a:rPr>
              <a:t>USER STORY
</a:t>
            </a:r>
            <a:pPr indent="0" marL="0">
              <a:lnSpc>
                <a:spcPct val="105000"/>
              </a:lnSpc>
              <a:buNone/>
            </a:pPr>
            <a:r>
              <a:rPr lang="en-US" sz="1600" i="1" dirty="0">
                <a:solidFill>
                  <a:srgbClr val="FFFFFF"/>
                </a:solidFill>
                <a:latin typeface="Arial" pitchFamily="34" charset="0"/>
                <a:ea typeface="Arial" pitchFamily="34" charset="-122"/>
                <a:cs typeface="Arial" pitchFamily="34" charset="-120"/>
              </a:rPr>
              <a:t>As an investor, I need to enter a set of candidate tickers so I can screen them against my thesis.</a:t>
            </a:r>
            <a:endParaRPr lang="en-US" sz="1100" dirty="0"/>
          </a:p>
        </p:txBody>
      </p:sp>
      <p:sp>
        <p:nvSpPr>
          <p:cNvPr id="9" name="Shape 6"/>
          <p:cNvSpPr/>
          <p:nvPr/>
        </p:nvSpPr>
        <p:spPr>
          <a:xfrm>
            <a:off x="640080" y="2697480"/>
            <a:ext cx="10881360" cy="1325880"/>
          </a:xfrm>
          <a:prstGeom prst="roundRect">
            <a:avLst>
              <a:gd name="adj" fmla="val 5517"/>
            </a:avLst>
          </a:prstGeom>
          <a:solidFill>
            <a:srgbClr val="F3F3F1"/>
          </a:solidFill>
          <a:ln/>
        </p:spPr>
      </p:sp>
      <p:sp>
        <p:nvSpPr>
          <p:cNvPr id="10" name="Shape 7"/>
          <p:cNvSpPr/>
          <p:nvPr/>
        </p:nvSpPr>
        <p:spPr>
          <a:xfrm>
            <a:off x="868680" y="3035808"/>
            <a:ext cx="621792" cy="621792"/>
          </a:xfrm>
          <a:prstGeom prst="roundRect">
            <a:avLst>
              <a:gd name="adj" fmla="val 13235"/>
            </a:avLst>
          </a:prstGeom>
          <a:solidFill>
            <a:srgbClr val="A51C30"/>
          </a:solidFill>
          <a:ln/>
        </p:spPr>
      </p:sp>
      <p:pic>
        <p:nvPicPr>
          <p:cNvPr id="11" name="Image 1" descr="preencoded.png">    </p:cNvPr>
          <p:cNvPicPr>
            <a:picLocks noChangeAspect="1"/>
          </p:cNvPicPr>
          <p:nvPr/>
        </p:nvPicPr>
        <p:blipFill>
          <a:blip r:embed="rId2"/>
          <a:stretch>
            <a:fillRect/>
          </a:stretch>
        </p:blipFill>
        <p:spPr>
          <a:xfrm>
            <a:off x="1008583" y="3175711"/>
            <a:ext cx="341986" cy="341986"/>
          </a:xfrm>
          <a:prstGeom prst="rect">
            <a:avLst/>
          </a:prstGeom>
        </p:spPr>
      </p:pic>
      <p:sp>
        <p:nvSpPr>
          <p:cNvPr id="12" name="Text 8"/>
          <p:cNvSpPr/>
          <p:nvPr/>
        </p:nvSpPr>
        <p:spPr>
          <a:xfrm>
            <a:off x="1691640" y="2788920"/>
            <a:ext cx="9601200" cy="1143000"/>
          </a:xfrm>
          <a:prstGeom prst="rect">
            <a:avLst/>
          </a:prstGeom>
          <a:noFill/>
          <a:ln/>
        </p:spPr>
        <p:txBody>
          <a:bodyPr wrap="square" lIns="0" tIns="0" rIns="0" bIns="0" rtlCol="0" anchor="ctr"/>
          <a:lstStyle/>
          <a:p>
            <a:pPr indent="0" marL="0">
              <a:lnSpc>
                <a:spcPct val="105000"/>
              </a:lnSpc>
              <a:buNone/>
            </a:pPr>
            <a:r>
              <a:rPr lang="en-US" sz="1100" b="1" spc="200" kern="0" dirty="0">
                <a:solidFill>
                  <a:srgbClr val="A51C30"/>
                </a:solidFill>
                <a:latin typeface="Arial" pitchFamily="34" charset="0"/>
                <a:ea typeface="Arial" pitchFamily="34" charset="-122"/>
                <a:cs typeface="Arial" pitchFamily="34" charset="-120"/>
              </a:rPr>
              <a:t>FUNCTIONAL REQUIREMENT
</a:t>
            </a:r>
            <a:pPr indent="0" marL="0">
              <a:lnSpc>
                <a:spcPct val="105000"/>
              </a:lnSpc>
              <a:buNone/>
            </a:pPr>
            <a:r>
              <a:rPr lang="en-US" sz="1600" dirty="0">
                <a:solidFill>
                  <a:srgbClr val="1E1E1E"/>
                </a:solidFill>
                <a:latin typeface="Arial" pitchFamily="34" charset="0"/>
                <a:ea typeface="Arial" pitchFamily="34" charset="-122"/>
                <a:cs typeface="Arial" pitchFamily="34" charset="-120"/>
              </a:rPr>
              <a:t>Build a browser form that accepts a comma separated list of tickers plus indicator settings (RSI period, MACD fast/slow/signal) and an OpenRouter key field.</a:t>
            </a:r>
            <a:endParaRPr lang="en-US" sz="1100" dirty="0"/>
          </a:p>
        </p:txBody>
      </p:sp>
      <p:sp>
        <p:nvSpPr>
          <p:cNvPr id="13" name="Shape 9"/>
          <p:cNvSpPr/>
          <p:nvPr/>
        </p:nvSpPr>
        <p:spPr>
          <a:xfrm>
            <a:off x="640080" y="5852160"/>
            <a:ext cx="2743200" cy="457200"/>
          </a:xfrm>
          <a:prstGeom prst="roundRect">
            <a:avLst>
              <a:gd name="adj" fmla="val 50000"/>
            </a:avLst>
          </a:prstGeom>
          <a:solidFill>
            <a:srgbClr val="293352"/>
          </a:solidFill>
          <a:ln/>
        </p:spPr>
      </p:sp>
      <p:sp>
        <p:nvSpPr>
          <p:cNvPr id="14" name="Text 10"/>
          <p:cNvSpPr/>
          <p:nvPr/>
        </p:nvSpPr>
        <p:spPr>
          <a:xfrm>
            <a:off x="640080" y="5852160"/>
            <a:ext cx="2743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  build 5 minutes</a:t>
            </a:r>
            <a:endParaRPr lang="en-US" sz="1300" dirty="0"/>
          </a:p>
        </p:txBody>
      </p:sp>
      <p:sp>
        <p:nvSpPr>
          <p:cNvPr id="15"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16" name="Harvard Page Number"/>
          <p:cNvSpPr txBox="1"/>
          <p:nvPr/>
        </p:nvSpPr>
        <p:spPr>
          <a:xfrm>
            <a:off x="11730577" y="6446043"/>
            <a:ext cx="324104" cy="274638"/>
          </a:xfrm>
          <a:prstGeom prst="rect">
            <a:avLst/>
          </a:prstGeom>
          <a:noFill/>
        </p:spPr>
        <p:txBody>
          <a:bodyPr wrap="none" lIns="0" rIns="0" tIns="0" bIns="0">
            <a:noAutofit/>
          </a:bodyPr>
          <a:lstStyle/>
          <a:p>
            <a:pPr algn="r"/>
            <a:fld id="{08A3229E-192C-419A-9FCA-8BFD5CA6179A}" type="slidenum">
              <a:rPr lang="en-US" sz="1000">
                <a:solidFill>
                  <a:srgbClr val="8996A0"/>
                </a:solidFill>
                <a:latin typeface="Arial"/>
              </a:rPr>
              <a:t>29</a:t>
            </a:fld>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640080" y="411480"/>
            <a:ext cx="685800" cy="685800"/>
          </a:xfrm>
          <a:prstGeom prst="roundRect">
            <a:avLst>
              <a:gd name="adj" fmla="val 16000"/>
            </a:avLst>
          </a:prstGeom>
          <a:solidFill>
            <a:srgbClr val="A51C30"/>
          </a:solidFill>
          <a:ln/>
        </p:spPr>
      </p:sp>
      <p:sp>
        <p:nvSpPr>
          <p:cNvPr id="3" name="Text 1"/>
          <p:cNvSpPr/>
          <p:nvPr/>
        </p:nvSpPr>
        <p:spPr>
          <a:xfrm>
            <a:off x="640080" y="411480"/>
            <a:ext cx="685800"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4" name="Text 2"/>
          <p:cNvSpPr/>
          <p:nvPr/>
        </p:nvSpPr>
        <p:spPr>
          <a:xfrm>
            <a:off x="1508760" y="411480"/>
            <a:ext cx="10058400" cy="685800"/>
          </a:xfrm>
          <a:prstGeom prst="rect">
            <a:avLst/>
          </a:prstGeom>
          <a:noFill/>
          <a:ln/>
        </p:spPr>
        <p:txBody>
          <a:bodyPr wrap="square" lIns="0" tIns="0" rIns="0" bIns="0" rtlCol="0" anchor="ctr"/>
          <a:lstStyle/>
          <a:p>
            <a:pPr indent="0" marL="0">
              <a:buNone/>
            </a:pPr>
            <a:r>
              <a:rPr lang="en-US" sz="2600" b="1" dirty="0">
                <a:solidFill>
                  <a:srgbClr val="1E1E1E"/>
                </a:solidFill>
                <a:latin typeface="Arial" pitchFamily="34" charset="0"/>
                <a:ea typeface="Arial" pitchFamily="34" charset="-122"/>
                <a:cs typeface="Arial" pitchFamily="34" charset="-120"/>
              </a:rPr>
              <a:t>Get price history</a:t>
            </a:r>
            <a:endParaRPr lang="en-US" sz="2600" dirty="0"/>
          </a:p>
        </p:txBody>
      </p:sp>
      <p:sp>
        <p:nvSpPr>
          <p:cNvPr id="5" name="Shape 3"/>
          <p:cNvSpPr/>
          <p:nvPr/>
        </p:nvSpPr>
        <p:spPr>
          <a:xfrm>
            <a:off x="640080" y="1371600"/>
            <a:ext cx="10881360" cy="1143000"/>
          </a:xfrm>
          <a:prstGeom prst="roundRect">
            <a:avLst>
              <a:gd name="adj" fmla="val 6400"/>
            </a:avLst>
          </a:prstGeom>
          <a:solidFill>
            <a:srgbClr val="293352"/>
          </a:solidFill>
          <a:ln/>
        </p:spPr>
      </p:sp>
      <p:sp>
        <p:nvSpPr>
          <p:cNvPr id="6" name="Shape 4"/>
          <p:cNvSpPr/>
          <p:nvPr/>
        </p:nvSpPr>
        <p:spPr>
          <a:xfrm>
            <a:off x="868680" y="1627632"/>
            <a:ext cx="621792" cy="621792"/>
          </a:xfrm>
          <a:prstGeom prst="roundRect">
            <a:avLst>
              <a:gd name="adj" fmla="val 13235"/>
            </a:avLst>
          </a:prstGeom>
          <a:solidFill>
            <a:srgbClr val="A51C30"/>
          </a:solidFill>
          <a:ln/>
        </p:spPr>
      </p:sp>
      <p:pic>
        <p:nvPicPr>
          <p:cNvPr id="7" name="Image 0" descr="preencoded.png">    </p:cNvPr>
          <p:cNvPicPr>
            <a:picLocks noChangeAspect="1"/>
          </p:cNvPicPr>
          <p:nvPr/>
        </p:nvPicPr>
        <p:blipFill>
          <a:blip r:embed="rId1"/>
          <a:stretch>
            <a:fillRect/>
          </a:stretch>
        </p:blipFill>
        <p:spPr>
          <a:xfrm>
            <a:off x="1008583" y="1767535"/>
            <a:ext cx="341986" cy="341986"/>
          </a:xfrm>
          <a:prstGeom prst="rect">
            <a:avLst/>
          </a:prstGeom>
        </p:spPr>
      </p:pic>
      <p:sp>
        <p:nvSpPr>
          <p:cNvPr id="8" name="Text 5"/>
          <p:cNvSpPr/>
          <p:nvPr/>
        </p:nvSpPr>
        <p:spPr>
          <a:xfrm>
            <a:off x="1691640" y="1463040"/>
            <a:ext cx="9601200" cy="960120"/>
          </a:xfrm>
          <a:prstGeom prst="rect">
            <a:avLst/>
          </a:prstGeom>
          <a:noFill/>
          <a:ln/>
        </p:spPr>
        <p:txBody>
          <a:bodyPr wrap="square" lIns="0" tIns="0" rIns="0" bIns="0" rtlCol="0" anchor="ctr"/>
          <a:lstStyle/>
          <a:p>
            <a:pPr indent="0" marL="0">
              <a:lnSpc>
                <a:spcPct val="105000"/>
              </a:lnSpc>
              <a:buNone/>
            </a:pPr>
            <a:r>
              <a:rPr lang="en-US" sz="1100" b="1" spc="200" kern="0" dirty="0">
                <a:solidFill>
                  <a:srgbClr val="8996A0"/>
                </a:solidFill>
                <a:latin typeface="Arial" pitchFamily="34" charset="0"/>
                <a:ea typeface="Arial" pitchFamily="34" charset="-122"/>
                <a:cs typeface="Arial" pitchFamily="34" charset="-120"/>
              </a:rPr>
              <a:t>USER STORY
</a:t>
            </a:r>
            <a:pPr indent="0" marL="0">
              <a:lnSpc>
                <a:spcPct val="105000"/>
              </a:lnSpc>
              <a:buNone/>
            </a:pPr>
            <a:r>
              <a:rPr lang="en-US" sz="1600" i="1" dirty="0">
                <a:solidFill>
                  <a:srgbClr val="FFFFFF"/>
                </a:solidFill>
                <a:latin typeface="Arial" pitchFamily="34" charset="0"/>
                <a:ea typeface="Arial" pitchFamily="34" charset="-122"/>
                <a:cs typeface="Arial" pitchFamily="34" charset="-120"/>
              </a:rPr>
              <a:t>As an investor, I need recent price history for each ticker so I have something to calculate signals from.</a:t>
            </a:r>
            <a:endParaRPr lang="en-US" sz="1100" dirty="0"/>
          </a:p>
        </p:txBody>
      </p:sp>
      <p:sp>
        <p:nvSpPr>
          <p:cNvPr id="9" name="Shape 6"/>
          <p:cNvSpPr/>
          <p:nvPr/>
        </p:nvSpPr>
        <p:spPr>
          <a:xfrm>
            <a:off x="640080" y="2697480"/>
            <a:ext cx="10881360" cy="1325880"/>
          </a:xfrm>
          <a:prstGeom prst="roundRect">
            <a:avLst>
              <a:gd name="adj" fmla="val 5517"/>
            </a:avLst>
          </a:prstGeom>
          <a:solidFill>
            <a:srgbClr val="F3F3F1"/>
          </a:solidFill>
          <a:ln/>
        </p:spPr>
      </p:sp>
      <p:sp>
        <p:nvSpPr>
          <p:cNvPr id="10" name="Shape 7"/>
          <p:cNvSpPr/>
          <p:nvPr/>
        </p:nvSpPr>
        <p:spPr>
          <a:xfrm>
            <a:off x="868680" y="3035808"/>
            <a:ext cx="621792" cy="621792"/>
          </a:xfrm>
          <a:prstGeom prst="roundRect">
            <a:avLst>
              <a:gd name="adj" fmla="val 13235"/>
            </a:avLst>
          </a:prstGeom>
          <a:solidFill>
            <a:srgbClr val="A51C30"/>
          </a:solidFill>
          <a:ln/>
        </p:spPr>
      </p:sp>
      <p:pic>
        <p:nvPicPr>
          <p:cNvPr id="11" name="Image 1" descr="preencoded.png">    </p:cNvPr>
          <p:cNvPicPr>
            <a:picLocks noChangeAspect="1"/>
          </p:cNvPicPr>
          <p:nvPr/>
        </p:nvPicPr>
        <p:blipFill>
          <a:blip r:embed="rId2"/>
          <a:stretch>
            <a:fillRect/>
          </a:stretch>
        </p:blipFill>
        <p:spPr>
          <a:xfrm>
            <a:off x="1008583" y="3175711"/>
            <a:ext cx="341986" cy="341986"/>
          </a:xfrm>
          <a:prstGeom prst="rect">
            <a:avLst/>
          </a:prstGeom>
        </p:spPr>
      </p:pic>
      <p:sp>
        <p:nvSpPr>
          <p:cNvPr id="12" name="Text 8"/>
          <p:cNvSpPr/>
          <p:nvPr/>
        </p:nvSpPr>
        <p:spPr>
          <a:xfrm>
            <a:off x="1691640" y="2788920"/>
            <a:ext cx="9601200" cy="1143000"/>
          </a:xfrm>
          <a:prstGeom prst="rect">
            <a:avLst/>
          </a:prstGeom>
          <a:noFill/>
          <a:ln/>
        </p:spPr>
        <p:txBody>
          <a:bodyPr wrap="square" lIns="0" tIns="0" rIns="0" bIns="0" rtlCol="0" anchor="ctr"/>
          <a:lstStyle/>
          <a:p>
            <a:pPr indent="0" marL="0">
              <a:lnSpc>
                <a:spcPct val="105000"/>
              </a:lnSpc>
              <a:buNone/>
            </a:pPr>
            <a:r>
              <a:rPr lang="en-US" sz="1100" b="1" spc="200" kern="0" dirty="0">
                <a:solidFill>
                  <a:srgbClr val="A51C30"/>
                </a:solidFill>
                <a:latin typeface="Arial" pitchFamily="34" charset="0"/>
                <a:ea typeface="Arial" pitchFamily="34" charset="-122"/>
                <a:cs typeface="Arial" pitchFamily="34" charset="-120"/>
              </a:rPr>
              <a:t>FUNCTIONAL REQUIREMENT
</a:t>
            </a:r>
            <a:pPr indent="0" marL="0">
              <a:lnSpc>
                <a:spcPct val="105000"/>
              </a:lnSpc>
              <a:buNone/>
            </a:pPr>
            <a:r>
              <a:rPr lang="en-US" sz="1600" dirty="0">
                <a:solidFill>
                  <a:srgbClr val="1E1E1E"/>
                </a:solidFill>
                <a:latin typeface="Arial" pitchFamily="34" charset="0"/>
                <a:ea typeface="Arial" pitchFamily="34" charset="-122"/>
                <a:cs typeface="Arial" pitchFamily="34" charset="-120"/>
              </a:rPr>
              <a:t>Fetch OHLCV per ticker from the Yahoo Finance endpoint through the CORS proxy, handling one failed ticker gracefully.</a:t>
            </a:r>
            <a:endParaRPr lang="en-US" sz="1100" dirty="0"/>
          </a:p>
        </p:txBody>
      </p:sp>
      <p:sp>
        <p:nvSpPr>
          <p:cNvPr id="13" name="Shape 9"/>
          <p:cNvSpPr/>
          <p:nvPr/>
        </p:nvSpPr>
        <p:spPr>
          <a:xfrm>
            <a:off x="640080" y="5852160"/>
            <a:ext cx="2743200" cy="457200"/>
          </a:xfrm>
          <a:prstGeom prst="roundRect">
            <a:avLst>
              <a:gd name="adj" fmla="val 50000"/>
            </a:avLst>
          </a:prstGeom>
          <a:solidFill>
            <a:srgbClr val="293352"/>
          </a:solidFill>
          <a:ln/>
        </p:spPr>
      </p:sp>
      <p:sp>
        <p:nvSpPr>
          <p:cNvPr id="14" name="Text 10"/>
          <p:cNvSpPr/>
          <p:nvPr/>
        </p:nvSpPr>
        <p:spPr>
          <a:xfrm>
            <a:off x="640080" y="5852160"/>
            <a:ext cx="2743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  build 6 minutes</a:t>
            </a:r>
            <a:endParaRPr lang="en-US" sz="1300" dirty="0"/>
          </a:p>
        </p:txBody>
      </p:sp>
      <p:sp>
        <p:nvSpPr>
          <p:cNvPr id="15"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16" name="Harvard Page Number"/>
          <p:cNvSpPr txBox="1"/>
          <p:nvPr/>
        </p:nvSpPr>
        <p:spPr>
          <a:xfrm>
            <a:off x="11730577" y="6446043"/>
            <a:ext cx="324104" cy="274638"/>
          </a:xfrm>
          <a:prstGeom prst="rect">
            <a:avLst/>
          </a:prstGeom>
          <a:noFill/>
        </p:spPr>
        <p:txBody>
          <a:bodyPr wrap="none" lIns="0" rIns="0" tIns="0" bIns="0">
            <a:noAutofit/>
          </a:bodyPr>
          <a:lstStyle/>
          <a:p>
            <a:pPr algn="r"/>
            <a:fld id="{F619E378-C356-4ED0-B307-B91F1F0B546A}" type="slidenum">
              <a:rPr lang="en-US" sz="1000">
                <a:solidFill>
                  <a:srgbClr val="8996A0"/>
                </a:solidFill>
                <a:latin typeface="Arial"/>
              </a:rPr>
              <a:t>30</a:t>
            </a:fld>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640080" y="411480"/>
            <a:ext cx="685800" cy="685800"/>
          </a:xfrm>
          <a:prstGeom prst="roundRect">
            <a:avLst>
              <a:gd name="adj" fmla="val 16000"/>
            </a:avLst>
          </a:prstGeom>
          <a:solidFill>
            <a:srgbClr val="A51C30"/>
          </a:solidFill>
          <a:ln/>
        </p:spPr>
      </p:sp>
      <p:sp>
        <p:nvSpPr>
          <p:cNvPr id="3" name="Text 1"/>
          <p:cNvSpPr/>
          <p:nvPr/>
        </p:nvSpPr>
        <p:spPr>
          <a:xfrm>
            <a:off x="640080" y="411480"/>
            <a:ext cx="685800"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4" name="Text 2"/>
          <p:cNvSpPr/>
          <p:nvPr/>
        </p:nvSpPr>
        <p:spPr>
          <a:xfrm>
            <a:off x="1508760" y="411480"/>
            <a:ext cx="10058400" cy="685800"/>
          </a:xfrm>
          <a:prstGeom prst="rect">
            <a:avLst/>
          </a:prstGeom>
          <a:noFill/>
          <a:ln/>
        </p:spPr>
        <p:txBody>
          <a:bodyPr wrap="square" lIns="0" tIns="0" rIns="0" bIns="0" rtlCol="0" anchor="ctr"/>
          <a:lstStyle/>
          <a:p>
            <a:pPr indent="0" marL="0">
              <a:buNone/>
            </a:pPr>
            <a:r>
              <a:rPr lang="en-US" sz="2600" b="1" dirty="0">
                <a:solidFill>
                  <a:srgbClr val="1E1E1E"/>
                </a:solidFill>
                <a:latin typeface="Arial" pitchFamily="34" charset="0"/>
                <a:ea typeface="Arial" pitchFamily="34" charset="-122"/>
                <a:cs typeface="Arial" pitchFamily="34" charset="-120"/>
              </a:rPr>
              <a:t>Calculate RSI and MACD</a:t>
            </a:r>
            <a:endParaRPr lang="en-US" sz="2600" dirty="0"/>
          </a:p>
        </p:txBody>
      </p:sp>
      <p:sp>
        <p:nvSpPr>
          <p:cNvPr id="5" name="Shape 3"/>
          <p:cNvSpPr/>
          <p:nvPr/>
        </p:nvSpPr>
        <p:spPr>
          <a:xfrm>
            <a:off x="640080" y="1371600"/>
            <a:ext cx="10881360" cy="1143000"/>
          </a:xfrm>
          <a:prstGeom prst="roundRect">
            <a:avLst>
              <a:gd name="adj" fmla="val 6400"/>
            </a:avLst>
          </a:prstGeom>
          <a:solidFill>
            <a:srgbClr val="293352"/>
          </a:solidFill>
          <a:ln/>
        </p:spPr>
      </p:sp>
      <p:sp>
        <p:nvSpPr>
          <p:cNvPr id="6" name="Shape 4"/>
          <p:cNvSpPr/>
          <p:nvPr/>
        </p:nvSpPr>
        <p:spPr>
          <a:xfrm>
            <a:off x="868680" y="1627632"/>
            <a:ext cx="621792" cy="621792"/>
          </a:xfrm>
          <a:prstGeom prst="roundRect">
            <a:avLst>
              <a:gd name="adj" fmla="val 13235"/>
            </a:avLst>
          </a:prstGeom>
          <a:solidFill>
            <a:srgbClr val="A51C30"/>
          </a:solidFill>
          <a:ln/>
        </p:spPr>
      </p:sp>
      <p:pic>
        <p:nvPicPr>
          <p:cNvPr id="7" name="Image 0" descr="preencoded.png">    </p:cNvPr>
          <p:cNvPicPr>
            <a:picLocks noChangeAspect="1"/>
          </p:cNvPicPr>
          <p:nvPr/>
        </p:nvPicPr>
        <p:blipFill>
          <a:blip r:embed="rId1"/>
          <a:stretch>
            <a:fillRect/>
          </a:stretch>
        </p:blipFill>
        <p:spPr>
          <a:xfrm>
            <a:off x="1008583" y="1767535"/>
            <a:ext cx="341986" cy="341986"/>
          </a:xfrm>
          <a:prstGeom prst="rect">
            <a:avLst/>
          </a:prstGeom>
        </p:spPr>
      </p:pic>
      <p:sp>
        <p:nvSpPr>
          <p:cNvPr id="8" name="Text 5"/>
          <p:cNvSpPr/>
          <p:nvPr/>
        </p:nvSpPr>
        <p:spPr>
          <a:xfrm>
            <a:off x="1691640" y="1463040"/>
            <a:ext cx="9601200" cy="960120"/>
          </a:xfrm>
          <a:prstGeom prst="rect">
            <a:avLst/>
          </a:prstGeom>
          <a:noFill/>
          <a:ln/>
        </p:spPr>
        <p:txBody>
          <a:bodyPr wrap="square" lIns="0" tIns="0" rIns="0" bIns="0" rtlCol="0" anchor="ctr"/>
          <a:lstStyle/>
          <a:p>
            <a:pPr indent="0" marL="0">
              <a:lnSpc>
                <a:spcPct val="105000"/>
              </a:lnSpc>
              <a:buNone/>
            </a:pPr>
            <a:r>
              <a:rPr lang="en-US" sz="1100" b="1" spc="200" kern="0" dirty="0">
                <a:solidFill>
                  <a:srgbClr val="8996A0"/>
                </a:solidFill>
                <a:latin typeface="Arial" pitchFamily="34" charset="0"/>
                <a:ea typeface="Arial" pitchFamily="34" charset="-122"/>
                <a:cs typeface="Arial" pitchFamily="34" charset="-120"/>
              </a:rPr>
              <a:t>USER STORY
</a:t>
            </a:r>
            <a:pPr indent="0" marL="0">
              <a:lnSpc>
                <a:spcPct val="105000"/>
              </a:lnSpc>
              <a:buNone/>
            </a:pPr>
            <a:r>
              <a:rPr lang="en-US" sz="1600" i="1" dirty="0">
                <a:solidFill>
                  <a:srgbClr val="FFFFFF"/>
                </a:solidFill>
                <a:latin typeface="Arial" pitchFamily="34" charset="0"/>
                <a:ea typeface="Arial" pitchFamily="34" charset="-122"/>
                <a:cs typeface="Arial" pitchFamily="34" charset="-120"/>
              </a:rPr>
              <a:t>As an investor, I need to calculate RSI to check for overbought conditions and MACD to confirm momentum.</a:t>
            </a:r>
            <a:endParaRPr lang="en-US" sz="1100" dirty="0"/>
          </a:p>
        </p:txBody>
      </p:sp>
      <p:sp>
        <p:nvSpPr>
          <p:cNvPr id="9" name="Shape 6"/>
          <p:cNvSpPr/>
          <p:nvPr/>
        </p:nvSpPr>
        <p:spPr>
          <a:xfrm>
            <a:off x="640080" y="2697480"/>
            <a:ext cx="10881360" cy="1325880"/>
          </a:xfrm>
          <a:prstGeom prst="roundRect">
            <a:avLst>
              <a:gd name="adj" fmla="val 5517"/>
            </a:avLst>
          </a:prstGeom>
          <a:solidFill>
            <a:srgbClr val="F3F3F1"/>
          </a:solidFill>
          <a:ln/>
        </p:spPr>
      </p:sp>
      <p:sp>
        <p:nvSpPr>
          <p:cNvPr id="10" name="Shape 7"/>
          <p:cNvSpPr/>
          <p:nvPr/>
        </p:nvSpPr>
        <p:spPr>
          <a:xfrm>
            <a:off x="868680" y="3035808"/>
            <a:ext cx="621792" cy="621792"/>
          </a:xfrm>
          <a:prstGeom prst="roundRect">
            <a:avLst>
              <a:gd name="adj" fmla="val 13235"/>
            </a:avLst>
          </a:prstGeom>
          <a:solidFill>
            <a:srgbClr val="A51C30"/>
          </a:solidFill>
          <a:ln/>
        </p:spPr>
      </p:sp>
      <p:pic>
        <p:nvPicPr>
          <p:cNvPr id="11" name="Image 1" descr="preencoded.png">    </p:cNvPr>
          <p:cNvPicPr>
            <a:picLocks noChangeAspect="1"/>
          </p:cNvPicPr>
          <p:nvPr/>
        </p:nvPicPr>
        <p:blipFill>
          <a:blip r:embed="rId2"/>
          <a:stretch>
            <a:fillRect/>
          </a:stretch>
        </p:blipFill>
        <p:spPr>
          <a:xfrm>
            <a:off x="1008583" y="3175711"/>
            <a:ext cx="341986" cy="341986"/>
          </a:xfrm>
          <a:prstGeom prst="rect">
            <a:avLst/>
          </a:prstGeom>
        </p:spPr>
      </p:pic>
      <p:sp>
        <p:nvSpPr>
          <p:cNvPr id="12" name="Text 8"/>
          <p:cNvSpPr/>
          <p:nvPr/>
        </p:nvSpPr>
        <p:spPr>
          <a:xfrm>
            <a:off x="1691640" y="2788920"/>
            <a:ext cx="9601200" cy="1143000"/>
          </a:xfrm>
          <a:prstGeom prst="rect">
            <a:avLst/>
          </a:prstGeom>
          <a:noFill/>
          <a:ln/>
        </p:spPr>
        <p:txBody>
          <a:bodyPr wrap="square" lIns="0" tIns="0" rIns="0" bIns="0" rtlCol="0" anchor="ctr"/>
          <a:lstStyle/>
          <a:p>
            <a:pPr indent="0" marL="0">
              <a:lnSpc>
                <a:spcPct val="105000"/>
              </a:lnSpc>
              <a:buNone/>
            </a:pPr>
            <a:r>
              <a:rPr lang="en-US" sz="1100" b="1" spc="200" kern="0" dirty="0">
                <a:solidFill>
                  <a:srgbClr val="A51C30"/>
                </a:solidFill>
                <a:latin typeface="Arial" pitchFamily="34" charset="0"/>
                <a:ea typeface="Arial" pitchFamily="34" charset="-122"/>
                <a:cs typeface="Arial" pitchFamily="34" charset="-120"/>
              </a:rPr>
              <a:t>FUNCTIONAL REQUIREMENT
</a:t>
            </a:r>
            <a:pPr indent="0" marL="0">
              <a:lnSpc>
                <a:spcPct val="105000"/>
              </a:lnSpc>
              <a:buNone/>
            </a:pPr>
            <a:r>
              <a:rPr lang="en-US" sz="1600" dirty="0">
                <a:solidFill>
                  <a:srgbClr val="1E1E1E"/>
                </a:solidFill>
                <a:latin typeface="Arial" pitchFamily="34" charset="0"/>
                <a:ea typeface="Arial" pitchFamily="34" charset="-122"/>
                <a:cs typeface="Arial" pitchFamily="34" charset="-120"/>
              </a:rPr>
              <a:t>Build browser based RSI and MACD calculation from the ticker inputs. Render a per ticker signal summary.</a:t>
            </a:r>
            <a:endParaRPr lang="en-US" sz="1100" dirty="0"/>
          </a:p>
        </p:txBody>
      </p:sp>
      <p:sp>
        <p:nvSpPr>
          <p:cNvPr id="13" name="Text 9"/>
          <p:cNvSpPr/>
          <p:nvPr/>
        </p:nvSpPr>
        <p:spPr>
          <a:xfrm>
            <a:off x="640080" y="4297680"/>
            <a:ext cx="10881360" cy="128016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8996A0"/>
                </a:solidFill>
                <a:latin typeface="Arial" pitchFamily="34" charset="0"/>
                <a:ea typeface="Arial" pitchFamily="34" charset="-122"/>
                <a:cs typeface="Arial" pitchFamily="34" charset="-120"/>
              </a:rPr>
              <a:t>The numbers come from JavaScript, not the model.</a:t>
            </a:r>
            <a:endParaRPr lang="en-US" sz="1350" dirty="0"/>
          </a:p>
        </p:txBody>
      </p:sp>
      <p:sp>
        <p:nvSpPr>
          <p:cNvPr id="14" name="Shape 10"/>
          <p:cNvSpPr/>
          <p:nvPr/>
        </p:nvSpPr>
        <p:spPr>
          <a:xfrm>
            <a:off x="640080" y="5852160"/>
            <a:ext cx="2743200" cy="457200"/>
          </a:xfrm>
          <a:prstGeom prst="roundRect">
            <a:avLst>
              <a:gd name="adj" fmla="val 50000"/>
            </a:avLst>
          </a:prstGeom>
          <a:solidFill>
            <a:srgbClr val="293352"/>
          </a:solidFill>
          <a:ln/>
        </p:spPr>
      </p:sp>
      <p:sp>
        <p:nvSpPr>
          <p:cNvPr id="15" name="Text 11"/>
          <p:cNvSpPr/>
          <p:nvPr/>
        </p:nvSpPr>
        <p:spPr>
          <a:xfrm>
            <a:off x="640080" y="5852160"/>
            <a:ext cx="2743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  build 8 minutes</a:t>
            </a:r>
            <a:endParaRPr lang="en-US" sz="1300" dirty="0"/>
          </a:p>
        </p:txBody>
      </p:sp>
      <p:sp>
        <p:nvSpPr>
          <p:cNvPr id="16"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17" name="Harvard Page Number"/>
          <p:cNvSpPr txBox="1"/>
          <p:nvPr/>
        </p:nvSpPr>
        <p:spPr>
          <a:xfrm>
            <a:off x="11730577" y="6446043"/>
            <a:ext cx="324104" cy="274638"/>
          </a:xfrm>
          <a:prstGeom prst="rect">
            <a:avLst/>
          </a:prstGeom>
          <a:noFill/>
        </p:spPr>
        <p:txBody>
          <a:bodyPr wrap="none" lIns="0" rIns="0" tIns="0" bIns="0">
            <a:noAutofit/>
          </a:bodyPr>
          <a:lstStyle/>
          <a:p>
            <a:pPr algn="r"/>
            <a:fld id="{F287C12E-9E4A-4582-B100-EBAEE79479CF}" type="slidenum">
              <a:rPr lang="en-US" sz="1000">
                <a:solidFill>
                  <a:srgbClr val="8996A0"/>
                </a:solidFill>
                <a:latin typeface="Arial"/>
              </a:rPr>
              <a:t>31</a:t>
            </a:fld>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640080" y="411480"/>
            <a:ext cx="685800" cy="685800"/>
          </a:xfrm>
          <a:prstGeom prst="roundRect">
            <a:avLst>
              <a:gd name="adj" fmla="val 16000"/>
            </a:avLst>
          </a:prstGeom>
          <a:solidFill>
            <a:srgbClr val="A51C30"/>
          </a:solidFill>
          <a:ln/>
        </p:spPr>
      </p:sp>
      <p:sp>
        <p:nvSpPr>
          <p:cNvPr id="3" name="Text 1"/>
          <p:cNvSpPr/>
          <p:nvPr/>
        </p:nvSpPr>
        <p:spPr>
          <a:xfrm>
            <a:off x="640080" y="411480"/>
            <a:ext cx="685800"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4" name="Text 2"/>
          <p:cNvSpPr/>
          <p:nvPr/>
        </p:nvSpPr>
        <p:spPr>
          <a:xfrm>
            <a:off x="1508760" y="411480"/>
            <a:ext cx="10058400" cy="685800"/>
          </a:xfrm>
          <a:prstGeom prst="rect">
            <a:avLst/>
          </a:prstGeom>
          <a:noFill/>
          <a:ln/>
        </p:spPr>
        <p:txBody>
          <a:bodyPr wrap="square" lIns="0" tIns="0" rIns="0" bIns="0" rtlCol="0" anchor="ctr"/>
          <a:lstStyle/>
          <a:p>
            <a:pPr indent="0" marL="0">
              <a:buNone/>
            </a:pPr>
            <a:r>
              <a:rPr lang="en-US" sz="2600" b="1" dirty="0">
                <a:solidFill>
                  <a:srgbClr val="1E1E1E"/>
                </a:solidFill>
                <a:latin typeface="Arial" pitchFamily="34" charset="0"/>
                <a:ea typeface="Arial" pitchFamily="34" charset="-122"/>
                <a:cs typeface="Arial" pitchFamily="34" charset="-120"/>
              </a:rPr>
              <a:t>Keep only the quality names</a:t>
            </a:r>
            <a:endParaRPr lang="en-US" sz="2600" dirty="0"/>
          </a:p>
        </p:txBody>
      </p:sp>
      <p:sp>
        <p:nvSpPr>
          <p:cNvPr id="5" name="Shape 3"/>
          <p:cNvSpPr/>
          <p:nvPr/>
        </p:nvSpPr>
        <p:spPr>
          <a:xfrm>
            <a:off x="640080" y="1371600"/>
            <a:ext cx="10881360" cy="1143000"/>
          </a:xfrm>
          <a:prstGeom prst="roundRect">
            <a:avLst>
              <a:gd name="adj" fmla="val 6400"/>
            </a:avLst>
          </a:prstGeom>
          <a:solidFill>
            <a:srgbClr val="293352"/>
          </a:solidFill>
          <a:ln/>
        </p:spPr>
      </p:sp>
      <p:sp>
        <p:nvSpPr>
          <p:cNvPr id="6" name="Shape 4"/>
          <p:cNvSpPr/>
          <p:nvPr/>
        </p:nvSpPr>
        <p:spPr>
          <a:xfrm>
            <a:off x="868680" y="1627632"/>
            <a:ext cx="621792" cy="621792"/>
          </a:xfrm>
          <a:prstGeom prst="roundRect">
            <a:avLst>
              <a:gd name="adj" fmla="val 13235"/>
            </a:avLst>
          </a:prstGeom>
          <a:solidFill>
            <a:srgbClr val="A51C30"/>
          </a:solidFill>
          <a:ln/>
        </p:spPr>
      </p:sp>
      <p:pic>
        <p:nvPicPr>
          <p:cNvPr id="7" name="Image 0" descr="preencoded.png">    </p:cNvPr>
          <p:cNvPicPr>
            <a:picLocks noChangeAspect="1"/>
          </p:cNvPicPr>
          <p:nvPr/>
        </p:nvPicPr>
        <p:blipFill>
          <a:blip r:embed="rId1"/>
          <a:stretch>
            <a:fillRect/>
          </a:stretch>
        </p:blipFill>
        <p:spPr>
          <a:xfrm>
            <a:off x="1008583" y="1767535"/>
            <a:ext cx="341986" cy="341986"/>
          </a:xfrm>
          <a:prstGeom prst="rect">
            <a:avLst/>
          </a:prstGeom>
        </p:spPr>
      </p:pic>
      <p:sp>
        <p:nvSpPr>
          <p:cNvPr id="8" name="Text 5"/>
          <p:cNvSpPr/>
          <p:nvPr/>
        </p:nvSpPr>
        <p:spPr>
          <a:xfrm>
            <a:off x="1691640" y="1463040"/>
            <a:ext cx="9601200" cy="960120"/>
          </a:xfrm>
          <a:prstGeom prst="rect">
            <a:avLst/>
          </a:prstGeom>
          <a:noFill/>
          <a:ln/>
        </p:spPr>
        <p:txBody>
          <a:bodyPr wrap="square" lIns="0" tIns="0" rIns="0" bIns="0" rtlCol="0" anchor="ctr"/>
          <a:lstStyle/>
          <a:p>
            <a:pPr indent="0" marL="0">
              <a:lnSpc>
                <a:spcPct val="105000"/>
              </a:lnSpc>
              <a:buNone/>
            </a:pPr>
            <a:r>
              <a:rPr lang="en-US" sz="1100" b="1" spc="200" kern="0" dirty="0">
                <a:solidFill>
                  <a:srgbClr val="8996A0"/>
                </a:solidFill>
                <a:latin typeface="Arial" pitchFamily="34" charset="0"/>
                <a:ea typeface="Arial" pitchFamily="34" charset="-122"/>
                <a:cs typeface="Arial" pitchFamily="34" charset="-120"/>
              </a:rPr>
              <a:t>USER STORY
</a:t>
            </a:r>
            <a:pPr indent="0" marL="0">
              <a:lnSpc>
                <a:spcPct val="105000"/>
              </a:lnSpc>
              <a:buNone/>
            </a:pPr>
            <a:r>
              <a:rPr lang="en-US" sz="1600" i="1" dirty="0">
                <a:solidFill>
                  <a:srgbClr val="FFFFFF"/>
                </a:solidFill>
                <a:latin typeface="Arial" pitchFamily="34" charset="0"/>
                <a:ea typeface="Arial" pitchFamily="34" charset="-122"/>
                <a:cs typeface="Arial" pitchFamily="34" charset="-120"/>
              </a:rPr>
              <a:t>As an investor, I need to keep only stocks that fit my thesis so the portfolio reflects the idea.</a:t>
            </a:r>
            <a:endParaRPr lang="en-US" sz="1100" dirty="0"/>
          </a:p>
        </p:txBody>
      </p:sp>
      <p:sp>
        <p:nvSpPr>
          <p:cNvPr id="9" name="Shape 6"/>
          <p:cNvSpPr/>
          <p:nvPr/>
        </p:nvSpPr>
        <p:spPr>
          <a:xfrm>
            <a:off x="640080" y="2697480"/>
            <a:ext cx="10881360" cy="1325880"/>
          </a:xfrm>
          <a:prstGeom prst="roundRect">
            <a:avLst>
              <a:gd name="adj" fmla="val 5517"/>
            </a:avLst>
          </a:prstGeom>
          <a:solidFill>
            <a:srgbClr val="F3F3F1"/>
          </a:solidFill>
          <a:ln/>
        </p:spPr>
      </p:sp>
      <p:sp>
        <p:nvSpPr>
          <p:cNvPr id="10" name="Shape 7"/>
          <p:cNvSpPr/>
          <p:nvPr/>
        </p:nvSpPr>
        <p:spPr>
          <a:xfrm>
            <a:off x="868680" y="3035808"/>
            <a:ext cx="621792" cy="621792"/>
          </a:xfrm>
          <a:prstGeom prst="roundRect">
            <a:avLst>
              <a:gd name="adj" fmla="val 13235"/>
            </a:avLst>
          </a:prstGeom>
          <a:solidFill>
            <a:srgbClr val="A51C30"/>
          </a:solidFill>
          <a:ln/>
        </p:spPr>
      </p:sp>
      <p:pic>
        <p:nvPicPr>
          <p:cNvPr id="11" name="Image 1" descr="preencoded.png">    </p:cNvPr>
          <p:cNvPicPr>
            <a:picLocks noChangeAspect="1"/>
          </p:cNvPicPr>
          <p:nvPr/>
        </p:nvPicPr>
        <p:blipFill>
          <a:blip r:embed="rId2"/>
          <a:stretch>
            <a:fillRect/>
          </a:stretch>
        </p:blipFill>
        <p:spPr>
          <a:xfrm>
            <a:off x="1008583" y="3175711"/>
            <a:ext cx="341986" cy="341986"/>
          </a:xfrm>
          <a:prstGeom prst="rect">
            <a:avLst/>
          </a:prstGeom>
        </p:spPr>
      </p:pic>
      <p:sp>
        <p:nvSpPr>
          <p:cNvPr id="12" name="Text 8"/>
          <p:cNvSpPr/>
          <p:nvPr/>
        </p:nvSpPr>
        <p:spPr>
          <a:xfrm>
            <a:off x="1691640" y="2788920"/>
            <a:ext cx="9601200" cy="1143000"/>
          </a:xfrm>
          <a:prstGeom prst="rect">
            <a:avLst/>
          </a:prstGeom>
          <a:noFill/>
          <a:ln/>
        </p:spPr>
        <p:txBody>
          <a:bodyPr wrap="square" lIns="0" tIns="0" rIns="0" bIns="0" rtlCol="0" anchor="ctr"/>
          <a:lstStyle/>
          <a:p>
            <a:pPr indent="0" marL="0">
              <a:lnSpc>
                <a:spcPct val="105000"/>
              </a:lnSpc>
              <a:buNone/>
            </a:pPr>
            <a:r>
              <a:rPr lang="en-US" sz="1100" b="1" spc="200" kern="0" dirty="0">
                <a:solidFill>
                  <a:srgbClr val="A51C30"/>
                </a:solidFill>
                <a:latin typeface="Arial" pitchFamily="34" charset="0"/>
                <a:ea typeface="Arial" pitchFamily="34" charset="-122"/>
                <a:cs typeface="Arial" pitchFamily="34" charset="-120"/>
              </a:rPr>
              <a:t>FUNCTIONAL REQUIREMENT
</a:t>
            </a:r>
            <a:pPr indent="0" marL="0">
              <a:lnSpc>
                <a:spcPct val="105000"/>
              </a:lnSpc>
              <a:buNone/>
            </a:pPr>
            <a:r>
              <a:rPr lang="en-US" sz="1600" dirty="0">
                <a:solidFill>
                  <a:srgbClr val="1E1E1E"/>
                </a:solidFill>
                <a:latin typeface="Arial" pitchFamily="34" charset="0"/>
                <a:ea typeface="Arial" pitchFamily="34" charset="-122"/>
                <a:cs typeface="Arial" pitchFamily="34" charset="-120"/>
              </a:rPr>
              <a:t>Filter the candidate list to names that pass both conditions: RSI below 70 and MACD histogram above 0. Make the thresholds visible and adjustable.</a:t>
            </a:r>
            <a:endParaRPr lang="en-US" sz="1100" dirty="0"/>
          </a:p>
        </p:txBody>
      </p:sp>
      <p:sp>
        <p:nvSpPr>
          <p:cNvPr id="13" name="Shape 9"/>
          <p:cNvSpPr/>
          <p:nvPr/>
        </p:nvSpPr>
        <p:spPr>
          <a:xfrm>
            <a:off x="640080" y="5852160"/>
            <a:ext cx="2743200" cy="457200"/>
          </a:xfrm>
          <a:prstGeom prst="roundRect">
            <a:avLst>
              <a:gd name="adj" fmla="val 50000"/>
            </a:avLst>
          </a:prstGeom>
          <a:solidFill>
            <a:srgbClr val="293352"/>
          </a:solidFill>
          <a:ln/>
        </p:spPr>
      </p:sp>
      <p:sp>
        <p:nvSpPr>
          <p:cNvPr id="14" name="Text 10"/>
          <p:cNvSpPr/>
          <p:nvPr/>
        </p:nvSpPr>
        <p:spPr>
          <a:xfrm>
            <a:off x="640080" y="5852160"/>
            <a:ext cx="2743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  build 6 minutes</a:t>
            </a:r>
            <a:endParaRPr lang="en-US" sz="1300" dirty="0"/>
          </a:p>
        </p:txBody>
      </p:sp>
      <p:sp>
        <p:nvSpPr>
          <p:cNvPr id="15"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16" name="Harvard Page Number"/>
          <p:cNvSpPr txBox="1"/>
          <p:nvPr/>
        </p:nvSpPr>
        <p:spPr>
          <a:xfrm>
            <a:off x="11730577" y="6446043"/>
            <a:ext cx="324104" cy="274638"/>
          </a:xfrm>
          <a:prstGeom prst="rect">
            <a:avLst/>
          </a:prstGeom>
          <a:noFill/>
        </p:spPr>
        <p:txBody>
          <a:bodyPr wrap="none" lIns="0" rIns="0" tIns="0" bIns="0">
            <a:noAutofit/>
          </a:bodyPr>
          <a:lstStyle/>
          <a:p>
            <a:pPr algn="r"/>
            <a:fld id="{7BAC2112-F0A9-4253-AB02-C70A992B7F31}" type="slidenum">
              <a:rPr lang="en-US" sz="1000">
                <a:solidFill>
                  <a:srgbClr val="8996A0"/>
                </a:solidFill>
                <a:latin typeface="Arial"/>
              </a:rPr>
              <a:t>32</a:t>
            </a:fld>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640080" y="411480"/>
            <a:ext cx="685800" cy="685800"/>
          </a:xfrm>
          <a:prstGeom prst="roundRect">
            <a:avLst>
              <a:gd name="adj" fmla="val 16000"/>
            </a:avLst>
          </a:prstGeom>
          <a:solidFill>
            <a:srgbClr val="A51C30"/>
          </a:solidFill>
          <a:ln/>
        </p:spPr>
      </p:sp>
      <p:sp>
        <p:nvSpPr>
          <p:cNvPr id="3" name="Text 1"/>
          <p:cNvSpPr/>
          <p:nvPr/>
        </p:nvSpPr>
        <p:spPr>
          <a:xfrm>
            <a:off x="640080" y="411480"/>
            <a:ext cx="685800"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4" name="Text 2"/>
          <p:cNvSpPr/>
          <p:nvPr/>
        </p:nvSpPr>
        <p:spPr>
          <a:xfrm>
            <a:off x="1508760" y="411480"/>
            <a:ext cx="10058400" cy="685800"/>
          </a:xfrm>
          <a:prstGeom prst="rect">
            <a:avLst/>
          </a:prstGeom>
          <a:noFill/>
          <a:ln/>
        </p:spPr>
        <p:txBody>
          <a:bodyPr wrap="square" lIns="0" tIns="0" rIns="0" bIns="0" rtlCol="0" anchor="ctr"/>
          <a:lstStyle/>
          <a:p>
            <a:pPr indent="0" marL="0">
              <a:buNone/>
            </a:pPr>
            <a:r>
              <a:rPr lang="en-US" sz="2600" b="1" dirty="0">
                <a:solidFill>
                  <a:srgbClr val="1E1E1E"/>
                </a:solidFill>
                <a:latin typeface="Arial" pitchFamily="34" charset="0"/>
                <a:ea typeface="Arial" pitchFamily="34" charset="-122"/>
                <a:cs typeface="Arial" pitchFamily="34" charset="-120"/>
              </a:rPr>
              <a:t>Weight the survivors by risk</a:t>
            </a:r>
            <a:endParaRPr lang="en-US" sz="2600" dirty="0"/>
          </a:p>
        </p:txBody>
      </p:sp>
      <p:sp>
        <p:nvSpPr>
          <p:cNvPr id="5" name="Shape 3"/>
          <p:cNvSpPr/>
          <p:nvPr/>
        </p:nvSpPr>
        <p:spPr>
          <a:xfrm>
            <a:off x="640080" y="1371600"/>
            <a:ext cx="10881360" cy="1143000"/>
          </a:xfrm>
          <a:prstGeom prst="roundRect">
            <a:avLst>
              <a:gd name="adj" fmla="val 6400"/>
            </a:avLst>
          </a:prstGeom>
          <a:solidFill>
            <a:srgbClr val="293352"/>
          </a:solidFill>
          <a:ln/>
        </p:spPr>
      </p:sp>
      <p:sp>
        <p:nvSpPr>
          <p:cNvPr id="6" name="Shape 4"/>
          <p:cNvSpPr/>
          <p:nvPr/>
        </p:nvSpPr>
        <p:spPr>
          <a:xfrm>
            <a:off x="868680" y="1627632"/>
            <a:ext cx="621792" cy="621792"/>
          </a:xfrm>
          <a:prstGeom prst="roundRect">
            <a:avLst>
              <a:gd name="adj" fmla="val 13235"/>
            </a:avLst>
          </a:prstGeom>
          <a:solidFill>
            <a:srgbClr val="A51C30"/>
          </a:solidFill>
          <a:ln/>
        </p:spPr>
      </p:sp>
      <p:pic>
        <p:nvPicPr>
          <p:cNvPr id="7" name="Image 0" descr="preencoded.png">    </p:cNvPr>
          <p:cNvPicPr>
            <a:picLocks noChangeAspect="1"/>
          </p:cNvPicPr>
          <p:nvPr/>
        </p:nvPicPr>
        <p:blipFill>
          <a:blip r:embed="rId1"/>
          <a:stretch>
            <a:fillRect/>
          </a:stretch>
        </p:blipFill>
        <p:spPr>
          <a:xfrm>
            <a:off x="1008583" y="1767535"/>
            <a:ext cx="341986" cy="341986"/>
          </a:xfrm>
          <a:prstGeom prst="rect">
            <a:avLst/>
          </a:prstGeom>
        </p:spPr>
      </p:pic>
      <p:sp>
        <p:nvSpPr>
          <p:cNvPr id="8" name="Text 5"/>
          <p:cNvSpPr/>
          <p:nvPr/>
        </p:nvSpPr>
        <p:spPr>
          <a:xfrm>
            <a:off x="1691640" y="1463040"/>
            <a:ext cx="9601200" cy="960120"/>
          </a:xfrm>
          <a:prstGeom prst="rect">
            <a:avLst/>
          </a:prstGeom>
          <a:noFill/>
          <a:ln/>
        </p:spPr>
        <p:txBody>
          <a:bodyPr wrap="square" lIns="0" tIns="0" rIns="0" bIns="0" rtlCol="0" anchor="ctr"/>
          <a:lstStyle/>
          <a:p>
            <a:pPr indent="0" marL="0">
              <a:lnSpc>
                <a:spcPct val="105000"/>
              </a:lnSpc>
              <a:buNone/>
            </a:pPr>
            <a:r>
              <a:rPr lang="en-US" sz="1100" b="1" spc="200" kern="0" dirty="0">
                <a:solidFill>
                  <a:srgbClr val="8996A0"/>
                </a:solidFill>
                <a:latin typeface="Arial" pitchFamily="34" charset="0"/>
                <a:ea typeface="Arial" pitchFamily="34" charset="-122"/>
                <a:cs typeface="Arial" pitchFamily="34" charset="-120"/>
              </a:rPr>
              <a:t>USER STORY
</a:t>
            </a:r>
            <a:pPr indent="0" marL="0">
              <a:lnSpc>
                <a:spcPct val="105000"/>
              </a:lnSpc>
              <a:buNone/>
            </a:pPr>
            <a:r>
              <a:rPr lang="en-US" sz="1600" i="1" dirty="0">
                <a:solidFill>
                  <a:srgbClr val="FFFFFF"/>
                </a:solidFill>
                <a:latin typeface="Arial" pitchFamily="34" charset="0"/>
                <a:ea typeface="Arial" pitchFamily="34" charset="-122"/>
                <a:cs typeface="Arial" pitchFamily="34" charset="-120"/>
              </a:rPr>
              <a:t>As an investor, I need to weight the surviving stocks so calmer names carry more of the portfolio.</a:t>
            </a:r>
            <a:endParaRPr lang="en-US" sz="1100" dirty="0"/>
          </a:p>
        </p:txBody>
      </p:sp>
      <p:sp>
        <p:nvSpPr>
          <p:cNvPr id="9" name="Shape 6"/>
          <p:cNvSpPr/>
          <p:nvPr/>
        </p:nvSpPr>
        <p:spPr>
          <a:xfrm>
            <a:off x="640080" y="2697480"/>
            <a:ext cx="10881360" cy="1325880"/>
          </a:xfrm>
          <a:prstGeom prst="roundRect">
            <a:avLst>
              <a:gd name="adj" fmla="val 5517"/>
            </a:avLst>
          </a:prstGeom>
          <a:solidFill>
            <a:srgbClr val="F3F3F1"/>
          </a:solidFill>
          <a:ln/>
        </p:spPr>
      </p:sp>
      <p:sp>
        <p:nvSpPr>
          <p:cNvPr id="10" name="Shape 7"/>
          <p:cNvSpPr/>
          <p:nvPr/>
        </p:nvSpPr>
        <p:spPr>
          <a:xfrm>
            <a:off x="868680" y="3035808"/>
            <a:ext cx="621792" cy="621792"/>
          </a:xfrm>
          <a:prstGeom prst="roundRect">
            <a:avLst>
              <a:gd name="adj" fmla="val 13235"/>
            </a:avLst>
          </a:prstGeom>
          <a:solidFill>
            <a:srgbClr val="A51C30"/>
          </a:solidFill>
          <a:ln/>
        </p:spPr>
      </p:sp>
      <p:pic>
        <p:nvPicPr>
          <p:cNvPr id="11" name="Image 1" descr="preencoded.png">    </p:cNvPr>
          <p:cNvPicPr>
            <a:picLocks noChangeAspect="1"/>
          </p:cNvPicPr>
          <p:nvPr/>
        </p:nvPicPr>
        <p:blipFill>
          <a:blip r:embed="rId2"/>
          <a:stretch>
            <a:fillRect/>
          </a:stretch>
        </p:blipFill>
        <p:spPr>
          <a:xfrm>
            <a:off x="1008583" y="3175711"/>
            <a:ext cx="341986" cy="341986"/>
          </a:xfrm>
          <a:prstGeom prst="rect">
            <a:avLst/>
          </a:prstGeom>
        </p:spPr>
      </p:pic>
      <p:sp>
        <p:nvSpPr>
          <p:cNvPr id="12" name="Text 8"/>
          <p:cNvSpPr/>
          <p:nvPr/>
        </p:nvSpPr>
        <p:spPr>
          <a:xfrm>
            <a:off x="1691640" y="2788920"/>
            <a:ext cx="9601200" cy="1143000"/>
          </a:xfrm>
          <a:prstGeom prst="rect">
            <a:avLst/>
          </a:prstGeom>
          <a:noFill/>
          <a:ln/>
        </p:spPr>
        <p:txBody>
          <a:bodyPr wrap="square" lIns="0" tIns="0" rIns="0" bIns="0" rtlCol="0" anchor="ctr"/>
          <a:lstStyle/>
          <a:p>
            <a:pPr indent="0" marL="0">
              <a:lnSpc>
                <a:spcPct val="105000"/>
              </a:lnSpc>
              <a:buNone/>
            </a:pPr>
            <a:r>
              <a:rPr lang="en-US" sz="1100" b="1" spc="200" kern="0" dirty="0">
                <a:solidFill>
                  <a:srgbClr val="A51C30"/>
                </a:solidFill>
                <a:latin typeface="Arial" pitchFamily="34" charset="0"/>
                <a:ea typeface="Arial" pitchFamily="34" charset="-122"/>
                <a:cs typeface="Arial" pitchFamily="34" charset="-120"/>
              </a:rPr>
              <a:t>FUNCTIONAL REQUIREMENT
</a:t>
            </a:r>
            <a:pPr indent="0" marL="0">
              <a:lnSpc>
                <a:spcPct val="105000"/>
              </a:lnSpc>
              <a:buNone/>
            </a:pPr>
            <a:r>
              <a:rPr lang="en-US" sz="1600" dirty="0">
                <a:solidFill>
                  <a:srgbClr val="1E1E1E"/>
                </a:solidFill>
                <a:latin typeface="Arial" pitchFamily="34" charset="0"/>
                <a:ea typeface="Arial" pitchFamily="34" charset="-122"/>
                <a:cs typeface="Arial" pitchFamily="34" charset="-120"/>
              </a:rPr>
              <a:t>Compute inverse volatility weights across the survivors, entirely in JavaScript, then normalize.</a:t>
            </a:r>
            <a:endParaRPr lang="en-US" sz="1100" dirty="0"/>
          </a:p>
        </p:txBody>
      </p:sp>
      <p:sp>
        <p:nvSpPr>
          <p:cNvPr id="13" name="Text 9"/>
          <p:cNvSpPr/>
          <p:nvPr/>
        </p:nvSpPr>
        <p:spPr>
          <a:xfrm>
            <a:off x="640080" y="4297680"/>
            <a:ext cx="10881360" cy="128016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8996A0"/>
                </a:solidFill>
                <a:latin typeface="Arial" pitchFamily="34" charset="0"/>
                <a:ea typeface="Arial" pitchFamily="34" charset="-122"/>
                <a:cs typeface="Arial" pitchFamily="34" charset="-120"/>
              </a:rPr>
              <a:t>Callback: this is the accepted stand in for minimum variance.</a:t>
            </a:r>
            <a:endParaRPr lang="en-US" sz="1350" dirty="0"/>
          </a:p>
        </p:txBody>
      </p:sp>
      <p:sp>
        <p:nvSpPr>
          <p:cNvPr id="14" name="Shape 10"/>
          <p:cNvSpPr/>
          <p:nvPr/>
        </p:nvSpPr>
        <p:spPr>
          <a:xfrm>
            <a:off x="640080" y="5852160"/>
            <a:ext cx="2743200" cy="457200"/>
          </a:xfrm>
          <a:prstGeom prst="roundRect">
            <a:avLst>
              <a:gd name="adj" fmla="val 50000"/>
            </a:avLst>
          </a:prstGeom>
          <a:solidFill>
            <a:srgbClr val="293352"/>
          </a:solidFill>
          <a:ln/>
        </p:spPr>
      </p:sp>
      <p:sp>
        <p:nvSpPr>
          <p:cNvPr id="15" name="Text 11"/>
          <p:cNvSpPr/>
          <p:nvPr/>
        </p:nvSpPr>
        <p:spPr>
          <a:xfrm>
            <a:off x="640080" y="5852160"/>
            <a:ext cx="2743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  build 7 minutes</a:t>
            </a:r>
            <a:endParaRPr lang="en-US" sz="1300" dirty="0"/>
          </a:p>
        </p:txBody>
      </p:sp>
      <p:sp>
        <p:nvSpPr>
          <p:cNvPr id="16"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17" name="Harvard Page Number"/>
          <p:cNvSpPr txBox="1"/>
          <p:nvPr/>
        </p:nvSpPr>
        <p:spPr>
          <a:xfrm>
            <a:off x="11730577" y="6446043"/>
            <a:ext cx="324104" cy="274638"/>
          </a:xfrm>
          <a:prstGeom prst="rect">
            <a:avLst/>
          </a:prstGeom>
          <a:noFill/>
        </p:spPr>
        <p:txBody>
          <a:bodyPr wrap="none" lIns="0" rIns="0" tIns="0" bIns="0">
            <a:noAutofit/>
          </a:bodyPr>
          <a:lstStyle/>
          <a:p>
            <a:pPr algn="r"/>
            <a:fld id="{C682FB34-498D-409C-81C6-F90D82F3729E}" type="slidenum">
              <a:rPr lang="en-US" sz="1000">
                <a:solidFill>
                  <a:srgbClr val="8996A0"/>
                </a:solidFill>
                <a:latin typeface="Arial"/>
              </a:rPr>
              <a:t>33</a:t>
            </a:fld>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640080" y="411480"/>
            <a:ext cx="685800" cy="685800"/>
          </a:xfrm>
          <a:prstGeom prst="roundRect">
            <a:avLst>
              <a:gd name="adj" fmla="val 16000"/>
            </a:avLst>
          </a:prstGeom>
          <a:solidFill>
            <a:srgbClr val="A51C30"/>
          </a:solidFill>
          <a:ln/>
        </p:spPr>
      </p:sp>
      <p:sp>
        <p:nvSpPr>
          <p:cNvPr id="3" name="Text 1"/>
          <p:cNvSpPr/>
          <p:nvPr/>
        </p:nvSpPr>
        <p:spPr>
          <a:xfrm>
            <a:off x="640080" y="411480"/>
            <a:ext cx="685800"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4" name="Text 2"/>
          <p:cNvSpPr/>
          <p:nvPr/>
        </p:nvSpPr>
        <p:spPr>
          <a:xfrm>
            <a:off x="1508760" y="411480"/>
            <a:ext cx="10058400" cy="685800"/>
          </a:xfrm>
          <a:prstGeom prst="rect">
            <a:avLst/>
          </a:prstGeom>
          <a:noFill/>
          <a:ln/>
        </p:spPr>
        <p:txBody>
          <a:bodyPr wrap="square" lIns="0" tIns="0" rIns="0" bIns="0" rtlCol="0" anchor="ctr"/>
          <a:lstStyle/>
          <a:p>
            <a:pPr indent="0" marL="0">
              <a:buNone/>
            </a:pPr>
            <a:r>
              <a:rPr lang="en-US" sz="2600" b="1" dirty="0">
                <a:solidFill>
                  <a:srgbClr val="1E1E1E"/>
                </a:solidFill>
                <a:latin typeface="Arial" pitchFamily="34" charset="0"/>
                <a:ea typeface="Arial" pitchFamily="34" charset="-122"/>
                <a:cs typeface="Arial" pitchFamily="34" charset="-120"/>
              </a:rPr>
              <a:t>Show the portfolio and explain it</a:t>
            </a:r>
            <a:endParaRPr lang="en-US" sz="2600" dirty="0"/>
          </a:p>
        </p:txBody>
      </p:sp>
      <p:sp>
        <p:nvSpPr>
          <p:cNvPr id="5" name="Shape 3"/>
          <p:cNvSpPr/>
          <p:nvPr/>
        </p:nvSpPr>
        <p:spPr>
          <a:xfrm>
            <a:off x="640080" y="1371600"/>
            <a:ext cx="10881360" cy="1143000"/>
          </a:xfrm>
          <a:prstGeom prst="roundRect">
            <a:avLst>
              <a:gd name="adj" fmla="val 6400"/>
            </a:avLst>
          </a:prstGeom>
          <a:solidFill>
            <a:srgbClr val="293352"/>
          </a:solidFill>
          <a:ln/>
        </p:spPr>
      </p:sp>
      <p:sp>
        <p:nvSpPr>
          <p:cNvPr id="6" name="Shape 4"/>
          <p:cNvSpPr/>
          <p:nvPr/>
        </p:nvSpPr>
        <p:spPr>
          <a:xfrm>
            <a:off x="868680" y="1627632"/>
            <a:ext cx="621792" cy="621792"/>
          </a:xfrm>
          <a:prstGeom prst="roundRect">
            <a:avLst>
              <a:gd name="adj" fmla="val 13235"/>
            </a:avLst>
          </a:prstGeom>
          <a:solidFill>
            <a:srgbClr val="A51C30"/>
          </a:solidFill>
          <a:ln/>
        </p:spPr>
      </p:sp>
      <p:pic>
        <p:nvPicPr>
          <p:cNvPr id="7" name="Image 0" descr="preencoded.png">    </p:cNvPr>
          <p:cNvPicPr>
            <a:picLocks noChangeAspect="1"/>
          </p:cNvPicPr>
          <p:nvPr/>
        </p:nvPicPr>
        <p:blipFill>
          <a:blip r:embed="rId1"/>
          <a:stretch>
            <a:fillRect/>
          </a:stretch>
        </p:blipFill>
        <p:spPr>
          <a:xfrm>
            <a:off x="1008583" y="1767535"/>
            <a:ext cx="341986" cy="341986"/>
          </a:xfrm>
          <a:prstGeom prst="rect">
            <a:avLst/>
          </a:prstGeom>
        </p:spPr>
      </p:pic>
      <p:sp>
        <p:nvSpPr>
          <p:cNvPr id="8" name="Text 5"/>
          <p:cNvSpPr/>
          <p:nvPr/>
        </p:nvSpPr>
        <p:spPr>
          <a:xfrm>
            <a:off x="1691640" y="1463040"/>
            <a:ext cx="9601200" cy="960120"/>
          </a:xfrm>
          <a:prstGeom prst="rect">
            <a:avLst/>
          </a:prstGeom>
          <a:noFill/>
          <a:ln/>
        </p:spPr>
        <p:txBody>
          <a:bodyPr wrap="square" lIns="0" tIns="0" rIns="0" bIns="0" rtlCol="0" anchor="ctr"/>
          <a:lstStyle/>
          <a:p>
            <a:pPr indent="0" marL="0">
              <a:lnSpc>
                <a:spcPct val="105000"/>
              </a:lnSpc>
              <a:buNone/>
            </a:pPr>
            <a:r>
              <a:rPr lang="en-US" sz="1100" b="1" spc="200" kern="0" dirty="0">
                <a:solidFill>
                  <a:srgbClr val="8996A0"/>
                </a:solidFill>
                <a:latin typeface="Arial" pitchFamily="34" charset="0"/>
                <a:ea typeface="Arial" pitchFamily="34" charset="-122"/>
                <a:cs typeface="Arial" pitchFamily="34" charset="-120"/>
              </a:rPr>
              <a:t>USER STORY
</a:t>
            </a:r>
            <a:pPr indent="0" marL="0">
              <a:lnSpc>
                <a:spcPct val="105000"/>
              </a:lnSpc>
              <a:buNone/>
            </a:pPr>
            <a:r>
              <a:rPr lang="en-US" sz="1600" i="1" dirty="0">
                <a:solidFill>
                  <a:srgbClr val="FFFFFF"/>
                </a:solidFill>
                <a:latin typeface="Arial" pitchFamily="34" charset="0"/>
                <a:ea typeface="Arial" pitchFamily="34" charset="-122"/>
                <a:cs typeface="Arial" pitchFamily="34" charset="-120"/>
              </a:rPr>
              <a:t>As an investor, I need a plain English read of the portfolio so I can explain it to an investment committee.</a:t>
            </a:r>
            <a:endParaRPr lang="en-US" sz="1100" dirty="0"/>
          </a:p>
        </p:txBody>
      </p:sp>
      <p:sp>
        <p:nvSpPr>
          <p:cNvPr id="9" name="Shape 6"/>
          <p:cNvSpPr/>
          <p:nvPr/>
        </p:nvSpPr>
        <p:spPr>
          <a:xfrm>
            <a:off x="640080" y="2697480"/>
            <a:ext cx="10881360" cy="1325880"/>
          </a:xfrm>
          <a:prstGeom prst="roundRect">
            <a:avLst>
              <a:gd name="adj" fmla="val 5517"/>
            </a:avLst>
          </a:prstGeom>
          <a:solidFill>
            <a:srgbClr val="F3F3F1"/>
          </a:solidFill>
          <a:ln/>
        </p:spPr>
      </p:sp>
      <p:sp>
        <p:nvSpPr>
          <p:cNvPr id="10" name="Shape 7"/>
          <p:cNvSpPr/>
          <p:nvPr/>
        </p:nvSpPr>
        <p:spPr>
          <a:xfrm>
            <a:off x="868680" y="3035808"/>
            <a:ext cx="621792" cy="621792"/>
          </a:xfrm>
          <a:prstGeom prst="roundRect">
            <a:avLst>
              <a:gd name="adj" fmla="val 13235"/>
            </a:avLst>
          </a:prstGeom>
          <a:solidFill>
            <a:srgbClr val="A51C30"/>
          </a:solidFill>
          <a:ln/>
        </p:spPr>
      </p:sp>
      <p:pic>
        <p:nvPicPr>
          <p:cNvPr id="11" name="Image 1" descr="preencoded.png">    </p:cNvPr>
          <p:cNvPicPr>
            <a:picLocks noChangeAspect="1"/>
          </p:cNvPicPr>
          <p:nvPr/>
        </p:nvPicPr>
        <p:blipFill>
          <a:blip r:embed="rId2"/>
          <a:stretch>
            <a:fillRect/>
          </a:stretch>
        </p:blipFill>
        <p:spPr>
          <a:xfrm>
            <a:off x="1008583" y="3175711"/>
            <a:ext cx="341986" cy="341986"/>
          </a:xfrm>
          <a:prstGeom prst="rect">
            <a:avLst/>
          </a:prstGeom>
        </p:spPr>
      </p:pic>
      <p:sp>
        <p:nvSpPr>
          <p:cNvPr id="12" name="Text 8"/>
          <p:cNvSpPr/>
          <p:nvPr/>
        </p:nvSpPr>
        <p:spPr>
          <a:xfrm>
            <a:off x="1691640" y="2788920"/>
            <a:ext cx="9601200" cy="1143000"/>
          </a:xfrm>
          <a:prstGeom prst="rect">
            <a:avLst/>
          </a:prstGeom>
          <a:noFill/>
          <a:ln/>
        </p:spPr>
        <p:txBody>
          <a:bodyPr wrap="square" lIns="0" tIns="0" rIns="0" bIns="0" rtlCol="0" anchor="ctr"/>
          <a:lstStyle/>
          <a:p>
            <a:pPr indent="0" marL="0">
              <a:lnSpc>
                <a:spcPct val="105000"/>
              </a:lnSpc>
              <a:buNone/>
            </a:pPr>
            <a:r>
              <a:rPr lang="en-US" sz="1100" b="1" spc="200" kern="0" dirty="0">
                <a:solidFill>
                  <a:srgbClr val="A51C30"/>
                </a:solidFill>
                <a:latin typeface="Arial" pitchFamily="34" charset="0"/>
                <a:ea typeface="Arial" pitchFamily="34" charset="-122"/>
                <a:cs typeface="Arial" pitchFamily="34" charset="-120"/>
              </a:rPr>
              <a:t>FUNCTIONAL REQUIREMENT
</a:t>
            </a:r>
            <a:pPr indent="0" marL="0">
              <a:lnSpc>
                <a:spcPct val="105000"/>
              </a:lnSpc>
              <a:buNone/>
            </a:pPr>
            <a:r>
              <a:rPr lang="en-US" sz="1600" dirty="0">
                <a:solidFill>
                  <a:srgbClr val="1E1E1E"/>
                </a:solidFill>
                <a:latin typeface="Arial" pitchFamily="34" charset="0"/>
                <a:ea typeface="Arial" pitchFamily="34" charset="-122"/>
                <a:cs typeface="Arial" pitchFamily="34" charset="-120"/>
              </a:rPr>
              <a:t>Render the weights as a chart, then call OpenRouter to interpret the weights and the screening in plain English.</a:t>
            </a:r>
            <a:endParaRPr lang="en-US" sz="1100" dirty="0"/>
          </a:p>
        </p:txBody>
      </p:sp>
      <p:sp>
        <p:nvSpPr>
          <p:cNvPr id="13" name="Text 9"/>
          <p:cNvSpPr/>
          <p:nvPr/>
        </p:nvSpPr>
        <p:spPr>
          <a:xfrm>
            <a:off x="640080" y="4297680"/>
            <a:ext cx="10881360" cy="128016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8996A0"/>
                </a:solidFill>
                <a:latin typeface="Arial" pitchFamily="34" charset="0"/>
                <a:ea typeface="Arial" pitchFamily="34" charset="-122"/>
                <a:cs typeface="Arial" pitchFamily="34" charset="-120"/>
              </a:rPr>
              <a:t>The model receives finished numbers and explains them, matching D and F.</a:t>
            </a:r>
            <a:endParaRPr lang="en-US" sz="1350" dirty="0"/>
          </a:p>
        </p:txBody>
      </p:sp>
      <p:sp>
        <p:nvSpPr>
          <p:cNvPr id="14" name="Shape 10"/>
          <p:cNvSpPr/>
          <p:nvPr/>
        </p:nvSpPr>
        <p:spPr>
          <a:xfrm>
            <a:off x="640080" y="5852160"/>
            <a:ext cx="2743200" cy="457200"/>
          </a:xfrm>
          <a:prstGeom prst="roundRect">
            <a:avLst>
              <a:gd name="adj" fmla="val 50000"/>
            </a:avLst>
          </a:prstGeom>
          <a:solidFill>
            <a:srgbClr val="293352"/>
          </a:solidFill>
          <a:ln/>
        </p:spPr>
      </p:sp>
      <p:sp>
        <p:nvSpPr>
          <p:cNvPr id="15" name="Text 11"/>
          <p:cNvSpPr/>
          <p:nvPr/>
        </p:nvSpPr>
        <p:spPr>
          <a:xfrm>
            <a:off x="640080" y="5852160"/>
            <a:ext cx="2743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  build 6 minutes</a:t>
            </a:r>
            <a:endParaRPr lang="en-US" sz="1300" dirty="0"/>
          </a:p>
        </p:txBody>
      </p:sp>
      <p:sp>
        <p:nvSpPr>
          <p:cNvPr id="16"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17" name="Harvard Page Number"/>
          <p:cNvSpPr txBox="1"/>
          <p:nvPr/>
        </p:nvSpPr>
        <p:spPr>
          <a:xfrm>
            <a:off x="11730577" y="6446043"/>
            <a:ext cx="324104" cy="274638"/>
          </a:xfrm>
          <a:prstGeom prst="rect">
            <a:avLst/>
          </a:prstGeom>
          <a:noFill/>
        </p:spPr>
        <p:txBody>
          <a:bodyPr wrap="none" lIns="0" rIns="0" tIns="0" bIns="0">
            <a:noAutofit/>
          </a:bodyPr>
          <a:lstStyle/>
          <a:p>
            <a:pPr algn="r"/>
            <a:fld id="{CDF95929-0DD4-4781-84C4-8FAA5723218F}" type="slidenum">
              <a:rPr lang="en-US" sz="1000">
                <a:solidFill>
                  <a:srgbClr val="8996A0"/>
                </a:solidFill>
                <a:latin typeface="Arial"/>
              </a:rPr>
              <a:t>34</a:t>
            </a:fld>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640080" y="384048"/>
            <a:ext cx="10881360" cy="320040"/>
          </a:xfrm>
          <a:prstGeom prst="rect">
            <a:avLst/>
          </a:prstGeom>
          <a:noFill/>
          <a:ln/>
        </p:spPr>
        <p:txBody>
          <a:bodyPr wrap="square" lIns="0" tIns="0" rIns="0" bIns="0" rtlCol="0" anchor="ctr"/>
          <a:lstStyle/>
          <a:p>
            <a:pPr indent="0" marL="0">
              <a:buNone/>
            </a:pPr>
            <a:r>
              <a:rPr lang="en-US" sz="1200" b="1" spc="200" kern="0" dirty="0">
                <a:solidFill>
                  <a:srgbClr val="A51C30"/>
                </a:solidFill>
                <a:latin typeface="Arial" pitchFamily="34" charset="0"/>
                <a:ea typeface="Arial" pitchFamily="34" charset="-122"/>
                <a:cs typeface="Arial" pitchFamily="34" charset="-120"/>
              </a:rPr>
              <a:t>SHIP REPO 2</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Commit, push, and wrap</a:t>
            </a:r>
            <a:endParaRPr lang="en-US" sz="2800" dirty="0"/>
          </a:p>
        </p:txBody>
      </p:sp>
      <p:sp>
        <p:nvSpPr>
          <p:cNvPr id="4" name="Shape 2"/>
          <p:cNvSpPr/>
          <p:nvPr/>
        </p:nvSpPr>
        <p:spPr>
          <a:xfrm>
            <a:off x="640080" y="1691640"/>
            <a:ext cx="10881360" cy="1005840"/>
          </a:xfrm>
          <a:prstGeom prst="roundRect">
            <a:avLst>
              <a:gd name="adj" fmla="val 5455"/>
            </a:avLst>
          </a:prstGeom>
          <a:solidFill>
            <a:srgbClr val="F3F3F1"/>
          </a:solidFill>
          <a:ln/>
        </p:spPr>
      </p:sp>
      <p:sp>
        <p:nvSpPr>
          <p:cNvPr id="5" name="Shape 3"/>
          <p:cNvSpPr/>
          <p:nvPr/>
        </p:nvSpPr>
        <p:spPr>
          <a:xfrm>
            <a:off x="914400" y="1920240"/>
            <a:ext cx="548640" cy="548640"/>
          </a:xfrm>
          <a:prstGeom prst="ellipse">
            <a:avLst/>
          </a:prstGeom>
          <a:solidFill>
            <a:srgbClr val="A51C30"/>
          </a:solidFill>
          <a:ln/>
        </p:spPr>
      </p:sp>
      <p:sp>
        <p:nvSpPr>
          <p:cNvPr id="6" name="Text 4"/>
          <p:cNvSpPr/>
          <p:nvPr/>
        </p:nvSpPr>
        <p:spPr>
          <a:xfrm>
            <a:off x="914400" y="19202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5"/>
          <p:cNvSpPr/>
          <p:nvPr/>
        </p:nvSpPr>
        <p:spPr>
          <a:xfrm>
            <a:off x="1691640" y="1691640"/>
            <a:ext cx="9601200" cy="1005840"/>
          </a:xfrm>
          <a:prstGeom prst="rect">
            <a:avLst/>
          </a:prstGeom>
          <a:noFill/>
          <a:ln/>
        </p:spPr>
        <p:txBody>
          <a:bodyPr wrap="square" lIns="0" tIns="0" rIns="0" bIns="0" rtlCol="0" anchor="ctr"/>
          <a:lstStyle/>
          <a:p>
            <a:pPr indent="0" marL="0">
              <a:buNone/>
            </a:pPr>
            <a:r>
              <a:rPr lang="en-US" sz="1600" dirty="0">
                <a:solidFill>
                  <a:srgbClr val="1E1E1E"/>
                </a:solidFill>
                <a:latin typeface="Arial" pitchFamily="34" charset="0"/>
                <a:ea typeface="Arial" pitchFamily="34" charset="-122"/>
                <a:cs typeface="Arial" pitchFamily="34" charset="-120"/>
              </a:rPr>
              <a:t>Commit and push Repo 2 to GitHub.</a:t>
            </a:r>
            <a:endParaRPr lang="en-US" sz="1600" dirty="0"/>
          </a:p>
        </p:txBody>
      </p:sp>
      <p:sp>
        <p:nvSpPr>
          <p:cNvPr id="8" name="Shape 6"/>
          <p:cNvSpPr/>
          <p:nvPr/>
        </p:nvSpPr>
        <p:spPr>
          <a:xfrm>
            <a:off x="640080" y="2898648"/>
            <a:ext cx="10881360" cy="1005840"/>
          </a:xfrm>
          <a:prstGeom prst="roundRect">
            <a:avLst>
              <a:gd name="adj" fmla="val 5455"/>
            </a:avLst>
          </a:prstGeom>
          <a:solidFill>
            <a:srgbClr val="F3F3F1"/>
          </a:solidFill>
          <a:ln/>
        </p:spPr>
      </p:sp>
      <p:sp>
        <p:nvSpPr>
          <p:cNvPr id="9" name="Shape 7"/>
          <p:cNvSpPr/>
          <p:nvPr/>
        </p:nvSpPr>
        <p:spPr>
          <a:xfrm>
            <a:off x="914400" y="3127248"/>
            <a:ext cx="548640" cy="548640"/>
          </a:xfrm>
          <a:prstGeom prst="ellipse">
            <a:avLst/>
          </a:prstGeom>
          <a:solidFill>
            <a:srgbClr val="A51C30"/>
          </a:solidFill>
          <a:ln/>
        </p:spPr>
      </p:sp>
      <p:sp>
        <p:nvSpPr>
          <p:cNvPr id="10" name="Text 8"/>
          <p:cNvSpPr/>
          <p:nvPr/>
        </p:nvSpPr>
        <p:spPr>
          <a:xfrm>
            <a:off x="914400" y="31272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1" name="Text 9"/>
          <p:cNvSpPr/>
          <p:nvPr/>
        </p:nvSpPr>
        <p:spPr>
          <a:xfrm>
            <a:off x="1691640" y="2898648"/>
            <a:ext cx="9601200" cy="1005840"/>
          </a:xfrm>
          <a:prstGeom prst="rect">
            <a:avLst/>
          </a:prstGeom>
          <a:noFill/>
          <a:ln/>
        </p:spPr>
        <p:txBody>
          <a:bodyPr wrap="square" lIns="0" tIns="0" rIns="0" bIns="0" rtlCol="0" anchor="ctr"/>
          <a:lstStyle/>
          <a:p>
            <a:pPr indent="0" marL="0">
              <a:buNone/>
            </a:pPr>
            <a:r>
              <a:rPr lang="en-US" sz="1600" dirty="0">
                <a:solidFill>
                  <a:srgbClr val="1E1E1E"/>
                </a:solidFill>
                <a:latin typeface="Arial" pitchFamily="34" charset="0"/>
                <a:ea typeface="Arial" pitchFamily="34" charset="-122"/>
                <a:cs typeface="Arial" pitchFamily="34" charset="-120"/>
              </a:rPr>
              <a:t>The app is the same pipeline students stepped through in R this morning, now live and shareable.</a:t>
            </a:r>
            <a:endParaRPr lang="en-US" sz="1600" dirty="0"/>
          </a:p>
        </p:txBody>
      </p:sp>
      <p:sp>
        <p:nvSpPr>
          <p:cNvPr id="12" name="Shape 10"/>
          <p:cNvSpPr/>
          <p:nvPr/>
        </p:nvSpPr>
        <p:spPr>
          <a:xfrm>
            <a:off x="640080" y="4105656"/>
            <a:ext cx="10881360" cy="1005840"/>
          </a:xfrm>
          <a:prstGeom prst="roundRect">
            <a:avLst>
              <a:gd name="adj" fmla="val 5455"/>
            </a:avLst>
          </a:prstGeom>
          <a:solidFill>
            <a:srgbClr val="F3F3F1"/>
          </a:solidFill>
          <a:ln/>
        </p:spPr>
      </p:sp>
      <p:sp>
        <p:nvSpPr>
          <p:cNvPr id="13" name="Shape 11"/>
          <p:cNvSpPr/>
          <p:nvPr/>
        </p:nvSpPr>
        <p:spPr>
          <a:xfrm>
            <a:off x="914400" y="4334256"/>
            <a:ext cx="548640" cy="548640"/>
          </a:xfrm>
          <a:prstGeom prst="ellipse">
            <a:avLst/>
          </a:prstGeom>
          <a:solidFill>
            <a:srgbClr val="A51C30"/>
          </a:solidFill>
          <a:ln/>
        </p:spPr>
      </p:sp>
      <p:sp>
        <p:nvSpPr>
          <p:cNvPr id="14" name="Text 12"/>
          <p:cNvSpPr/>
          <p:nvPr/>
        </p:nvSpPr>
        <p:spPr>
          <a:xfrm>
            <a:off x="914400" y="4334256"/>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5" name="Text 13"/>
          <p:cNvSpPr/>
          <p:nvPr/>
        </p:nvSpPr>
        <p:spPr>
          <a:xfrm>
            <a:off x="1691640" y="4105656"/>
            <a:ext cx="9601200" cy="1005840"/>
          </a:xfrm>
          <a:prstGeom prst="rect">
            <a:avLst/>
          </a:prstGeom>
          <a:noFill/>
          <a:ln/>
        </p:spPr>
        <p:txBody>
          <a:bodyPr wrap="square" lIns="0" tIns="0" rIns="0" bIns="0" rtlCol="0" anchor="ctr"/>
          <a:lstStyle/>
          <a:p>
            <a:pPr indent="0" marL="0">
              <a:buNone/>
            </a:pPr>
            <a:r>
              <a:rPr lang="en-US" sz="1600" dirty="0">
                <a:solidFill>
                  <a:srgbClr val="1E1E1E"/>
                </a:solidFill>
                <a:latin typeface="Arial" pitchFamily="34" charset="0"/>
                <a:ea typeface="Arial" pitchFamily="34" charset="-122"/>
                <a:cs typeface="Arial" pitchFamily="34" charset="-120"/>
              </a:rPr>
              <a:t>The calculation and language split stays intact, and every feature traces back to the thesis.</a:t>
            </a:r>
            <a:endParaRPr lang="en-US" sz="1600" dirty="0"/>
          </a:p>
        </p:txBody>
      </p:sp>
      <p:sp>
        <p:nvSpPr>
          <p:cNvPr id="16"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17" name="Harvard Page Number"/>
          <p:cNvSpPr txBox="1"/>
          <p:nvPr/>
        </p:nvSpPr>
        <p:spPr>
          <a:xfrm>
            <a:off x="11730577" y="6446043"/>
            <a:ext cx="324104" cy="274638"/>
          </a:xfrm>
          <a:prstGeom prst="rect">
            <a:avLst/>
          </a:prstGeom>
          <a:noFill/>
        </p:spPr>
        <p:txBody>
          <a:bodyPr wrap="none" lIns="0" rIns="0" tIns="0" bIns="0">
            <a:noAutofit/>
          </a:bodyPr>
          <a:lstStyle/>
          <a:p>
            <a:pPr algn="r"/>
            <a:fld id="{3832BE6E-62AD-4AA0-A730-322CDC57F001}" type="slidenum">
              <a:rPr lang="en-US" sz="1000">
                <a:solidFill>
                  <a:srgbClr val="8996A0"/>
                </a:solidFill>
                <a:latin typeface="Arial"/>
              </a:rPr>
              <a:t>35</a:t>
            </a:fld>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640080" y="411480"/>
            <a:ext cx="685800" cy="685800"/>
          </a:xfrm>
          <a:prstGeom prst="roundRect">
            <a:avLst>
              <a:gd name="adj" fmla="val 12000"/>
            </a:avLst>
          </a:prstGeom>
          <a:solidFill>
            <a:srgbClr val="A51C30"/>
          </a:solidFill>
          <a:ln/>
        </p:spPr>
      </p:sp>
      <p:pic>
        <p:nvPicPr>
          <p:cNvPr id="3" name="Image 0" descr="preencoded.png">    </p:cNvPr>
          <p:cNvPicPr>
            <a:picLocks noChangeAspect="1"/>
          </p:cNvPicPr>
          <p:nvPr/>
        </p:nvPicPr>
        <p:blipFill>
          <a:blip r:embed="rId1"/>
          <a:stretch>
            <a:fillRect/>
          </a:stretch>
        </p:blipFill>
        <p:spPr>
          <a:xfrm>
            <a:off x="794385" y="565785"/>
            <a:ext cx="377190" cy="377190"/>
          </a:xfrm>
          <a:prstGeom prst="rect">
            <a:avLst/>
          </a:prstGeom>
        </p:spPr>
      </p:pic>
      <p:sp>
        <p:nvSpPr>
          <p:cNvPr id="4" name="Text 1"/>
          <p:cNvSpPr/>
          <p:nvPr/>
        </p:nvSpPr>
        <p:spPr>
          <a:xfrm>
            <a:off x="1508760" y="411480"/>
            <a:ext cx="10058400" cy="685800"/>
          </a:xfrm>
          <a:prstGeom prst="rect">
            <a:avLst/>
          </a:prstGeom>
          <a:noFill/>
          <a:ln/>
        </p:spPr>
        <p:txBody>
          <a:bodyPr wrap="square" lIns="0" tIns="0" rIns="0" bIns="0" rtlCol="0" anchor="ctr"/>
          <a:lstStyle/>
          <a:p>
            <a:pPr indent="0" marL="0">
              <a:buNone/>
            </a:pPr>
            <a:r>
              <a:rPr lang="en-US" sz="2600" b="1" dirty="0">
                <a:solidFill>
                  <a:srgbClr val="1E1E1E"/>
                </a:solidFill>
                <a:latin typeface="Arial" pitchFamily="34" charset="0"/>
                <a:ea typeface="Arial" pitchFamily="34" charset="-122"/>
                <a:cs typeface="Arial" pitchFamily="34" charset="-120"/>
              </a:rPr>
              <a:t>Extra credit: macro risk overlay</a:t>
            </a:r>
            <a:endParaRPr lang="en-US" sz="2600" dirty="0"/>
          </a:p>
        </p:txBody>
      </p:sp>
      <p:sp>
        <p:nvSpPr>
          <p:cNvPr id="5" name="Shape 2"/>
          <p:cNvSpPr/>
          <p:nvPr/>
        </p:nvSpPr>
        <p:spPr>
          <a:xfrm>
            <a:off x="640080" y="1371600"/>
            <a:ext cx="10881360" cy="1143000"/>
          </a:xfrm>
          <a:prstGeom prst="roundRect">
            <a:avLst>
              <a:gd name="adj" fmla="val 6400"/>
            </a:avLst>
          </a:prstGeom>
          <a:solidFill>
            <a:srgbClr val="293352"/>
          </a:solidFill>
          <a:ln/>
        </p:spPr>
      </p:sp>
      <p:sp>
        <p:nvSpPr>
          <p:cNvPr id="6" name="Shape 3"/>
          <p:cNvSpPr/>
          <p:nvPr/>
        </p:nvSpPr>
        <p:spPr>
          <a:xfrm>
            <a:off x="868680" y="1627632"/>
            <a:ext cx="621792" cy="621792"/>
          </a:xfrm>
          <a:prstGeom prst="roundRect">
            <a:avLst>
              <a:gd name="adj" fmla="val 13235"/>
            </a:avLst>
          </a:prstGeom>
          <a:solidFill>
            <a:srgbClr val="A51C30"/>
          </a:solidFill>
          <a:ln/>
        </p:spPr>
      </p:sp>
      <p:pic>
        <p:nvPicPr>
          <p:cNvPr id="7" name="Image 1" descr="preencoded.png">    </p:cNvPr>
          <p:cNvPicPr>
            <a:picLocks noChangeAspect="1"/>
          </p:cNvPicPr>
          <p:nvPr/>
        </p:nvPicPr>
        <p:blipFill>
          <a:blip r:embed="rId2"/>
          <a:stretch>
            <a:fillRect/>
          </a:stretch>
        </p:blipFill>
        <p:spPr>
          <a:xfrm>
            <a:off x="1008583" y="1767535"/>
            <a:ext cx="341986" cy="341986"/>
          </a:xfrm>
          <a:prstGeom prst="rect">
            <a:avLst/>
          </a:prstGeom>
        </p:spPr>
      </p:pic>
      <p:sp>
        <p:nvSpPr>
          <p:cNvPr id="8" name="Text 4"/>
          <p:cNvSpPr/>
          <p:nvPr/>
        </p:nvSpPr>
        <p:spPr>
          <a:xfrm>
            <a:off x="1691640" y="1463040"/>
            <a:ext cx="9601200" cy="960120"/>
          </a:xfrm>
          <a:prstGeom prst="rect">
            <a:avLst/>
          </a:prstGeom>
          <a:noFill/>
          <a:ln/>
        </p:spPr>
        <p:txBody>
          <a:bodyPr wrap="square" lIns="0" tIns="0" rIns="0" bIns="0" rtlCol="0" anchor="ctr"/>
          <a:lstStyle/>
          <a:p>
            <a:pPr indent="0" marL="0">
              <a:lnSpc>
                <a:spcPct val="105000"/>
              </a:lnSpc>
              <a:buNone/>
            </a:pPr>
            <a:r>
              <a:rPr lang="en-US" sz="1100" b="1" spc="200" kern="0" dirty="0">
                <a:solidFill>
                  <a:srgbClr val="8996A0"/>
                </a:solidFill>
                <a:latin typeface="Arial" pitchFamily="34" charset="0"/>
                <a:ea typeface="Arial" pitchFamily="34" charset="-122"/>
                <a:cs typeface="Arial" pitchFamily="34" charset="-120"/>
              </a:rPr>
              <a:t>USER STORY
</a:t>
            </a:r>
            <a:pPr indent="0" marL="0">
              <a:lnSpc>
                <a:spcPct val="105000"/>
              </a:lnSpc>
              <a:buNone/>
            </a:pPr>
            <a:r>
              <a:rPr lang="en-US" sz="1600" i="1" dirty="0">
                <a:solidFill>
                  <a:srgbClr val="FFFFFF"/>
                </a:solidFill>
                <a:latin typeface="Arial" pitchFamily="34" charset="0"/>
                <a:ea typeface="Arial" pitchFamily="34" charset="-122"/>
                <a:cs typeface="Arial" pitchFamily="34" charset="-120"/>
              </a:rPr>
              <a:t>As an investor, I am worried the lagging indicators (RSI and MACD look backward) may miss near term risk to a selected stock.</a:t>
            </a:r>
            <a:endParaRPr lang="en-US" sz="1100" dirty="0"/>
          </a:p>
        </p:txBody>
      </p:sp>
      <p:sp>
        <p:nvSpPr>
          <p:cNvPr id="9" name="Shape 5"/>
          <p:cNvSpPr/>
          <p:nvPr/>
        </p:nvSpPr>
        <p:spPr>
          <a:xfrm>
            <a:off x="640080" y="2697480"/>
            <a:ext cx="10881360" cy="1325880"/>
          </a:xfrm>
          <a:prstGeom prst="roundRect">
            <a:avLst>
              <a:gd name="adj" fmla="val 5517"/>
            </a:avLst>
          </a:prstGeom>
          <a:solidFill>
            <a:srgbClr val="F3F3F1"/>
          </a:solidFill>
          <a:ln/>
        </p:spPr>
      </p:sp>
      <p:sp>
        <p:nvSpPr>
          <p:cNvPr id="10" name="Shape 6"/>
          <p:cNvSpPr/>
          <p:nvPr/>
        </p:nvSpPr>
        <p:spPr>
          <a:xfrm>
            <a:off x="868680" y="3035808"/>
            <a:ext cx="621792" cy="621792"/>
          </a:xfrm>
          <a:prstGeom prst="roundRect">
            <a:avLst>
              <a:gd name="adj" fmla="val 13235"/>
            </a:avLst>
          </a:prstGeom>
          <a:solidFill>
            <a:srgbClr val="A51C30"/>
          </a:solidFill>
          <a:ln/>
        </p:spPr>
      </p:sp>
      <p:pic>
        <p:nvPicPr>
          <p:cNvPr id="11" name="Image 2" descr="preencoded.png">    </p:cNvPr>
          <p:cNvPicPr>
            <a:picLocks noChangeAspect="1"/>
          </p:cNvPicPr>
          <p:nvPr/>
        </p:nvPicPr>
        <p:blipFill>
          <a:blip r:embed="rId3"/>
          <a:stretch>
            <a:fillRect/>
          </a:stretch>
        </p:blipFill>
        <p:spPr>
          <a:xfrm>
            <a:off x="1008583" y="3175711"/>
            <a:ext cx="341986" cy="341986"/>
          </a:xfrm>
          <a:prstGeom prst="rect">
            <a:avLst/>
          </a:prstGeom>
        </p:spPr>
      </p:pic>
      <p:sp>
        <p:nvSpPr>
          <p:cNvPr id="12" name="Text 7"/>
          <p:cNvSpPr/>
          <p:nvPr/>
        </p:nvSpPr>
        <p:spPr>
          <a:xfrm>
            <a:off x="1691640" y="2788920"/>
            <a:ext cx="9601200" cy="1143000"/>
          </a:xfrm>
          <a:prstGeom prst="rect">
            <a:avLst/>
          </a:prstGeom>
          <a:noFill/>
          <a:ln/>
        </p:spPr>
        <p:txBody>
          <a:bodyPr wrap="square" lIns="0" tIns="0" rIns="0" bIns="0" rtlCol="0" anchor="ctr"/>
          <a:lstStyle/>
          <a:p>
            <a:pPr indent="0" marL="0">
              <a:lnSpc>
                <a:spcPct val="105000"/>
              </a:lnSpc>
              <a:buNone/>
            </a:pPr>
            <a:r>
              <a:rPr lang="en-US" sz="1100" b="1" spc="200" kern="0" dirty="0">
                <a:solidFill>
                  <a:srgbClr val="A51C30"/>
                </a:solidFill>
                <a:latin typeface="Arial" pitchFamily="34" charset="0"/>
                <a:ea typeface="Arial" pitchFamily="34" charset="-122"/>
                <a:cs typeface="Arial" pitchFamily="34" charset="-120"/>
              </a:rPr>
              <a:t>FUNCTIONAL REQUIREMENT
</a:t>
            </a:r>
            <a:pPr indent="0" marL="0">
              <a:lnSpc>
                <a:spcPct val="105000"/>
              </a:lnSpc>
              <a:buNone/>
            </a:pPr>
            <a:r>
              <a:rPr lang="en-US" sz="1600" dirty="0">
                <a:solidFill>
                  <a:srgbClr val="1E1E1E"/>
                </a:solidFill>
                <a:latin typeface="Arial" pitchFamily="34" charset="0"/>
                <a:ea typeface="Arial" pitchFamily="34" charset="-122"/>
                <a:cs typeface="Arial" pitchFamily="34" charset="-120"/>
              </a:rPr>
              <a:t>Once the tickers are selected, pull the current macro risk from the Riskline API and use an additional LLM call to determine whether any of it would affect the selected portfolio companies.</a:t>
            </a:r>
            <a:endParaRPr lang="en-US" sz="1100" dirty="0"/>
          </a:p>
        </p:txBody>
      </p:sp>
      <p:sp>
        <p:nvSpPr>
          <p:cNvPr id="13" name="Text 8"/>
          <p:cNvSpPr/>
          <p:nvPr/>
        </p:nvSpPr>
        <p:spPr>
          <a:xfrm>
            <a:off x="640080" y="4297680"/>
            <a:ext cx="10881360" cy="128016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8996A0"/>
                </a:solidFill>
                <a:latin typeface="Arial" pitchFamily="34" charset="0"/>
                <a:ea typeface="Arial" pitchFamily="34" charset="-122"/>
                <a:cs typeface="Arial" pitchFamily="34" charset="-120"/>
              </a:rPr>
              <a:t>Riskline is the unauthenticated macro alerts feed. No key required.</a:t>
            </a:r>
            <a:endParaRPr lang="en-US" sz="1350" dirty="0"/>
          </a:p>
          <a:p>
            <a:pPr marL="203200" indent="-203200">
              <a:spcAft>
                <a:spcPts val="600"/>
              </a:spcAft>
              <a:buSzPct val="100000"/>
              <a:buChar char="•"/>
            </a:pPr>
            <a:r>
              <a:rPr lang="en-US" sz="1350" dirty="0">
                <a:solidFill>
                  <a:srgbClr val="8996A0"/>
                </a:solidFill>
                <a:latin typeface="Arial" pitchFamily="34" charset="0"/>
                <a:ea typeface="Arial" pitchFamily="34" charset="-122"/>
                <a:cs typeface="Arial" pitchFamily="34" charset="-120"/>
              </a:rPr>
              <a:t>The split holds: the app fetches alerts, the LLM only reasons about relevance. It flags exposure, it never changes a weight.</a:t>
            </a:r>
            <a:endParaRPr lang="en-US" sz="1350" dirty="0"/>
          </a:p>
          <a:p>
            <a:pPr marL="203200" indent="-203200">
              <a:spcAft>
                <a:spcPts val="600"/>
              </a:spcAft>
              <a:buSzPct val="100000"/>
              <a:buChar char="•"/>
            </a:pPr>
            <a:r>
              <a:rPr lang="en-US" sz="1350" dirty="0">
                <a:solidFill>
                  <a:srgbClr val="8996A0"/>
                </a:solidFill>
                <a:latin typeface="Arial" pitchFamily="34" charset="0"/>
                <a:ea typeface="Arial" pitchFamily="34" charset="-122"/>
                <a:cs typeface="Arial" pitchFamily="34" charset="-120"/>
              </a:rPr>
              <a:t>An overlay, not a gate: the technical thesis still selects and weights; this is a forward looking sanity check on top.</a:t>
            </a:r>
            <a:endParaRPr lang="en-US" sz="1350" dirty="0"/>
          </a:p>
        </p:txBody>
      </p:sp>
      <p:sp>
        <p:nvSpPr>
          <p:cNvPr id="14" name="Harvard Footer"/>
          <p:cNvSpPr txBox="1"/>
          <p:nvPr/>
        </p:nvSpPr>
        <p:spPr>
          <a:xfrm>
            <a:off x="137319" y="6446043"/>
            <a:ext cx="1326387" cy="274638"/>
          </a:xfrm>
          <a:prstGeom prst="rect">
            <a:avLst/>
          </a:prstGeom>
          <a:noFill/>
        </p:spPr>
        <p:txBody>
          <a:bodyPr wrap="none" lIns="0" rIns="0" tIns="0" bIns="0">
            <a:noAutofit/>
          </a:bodyPr>
          <a:lstStyle/>
          <a:p>
            <a:pPr algn="l"/>
            <a:r>
              <a:rPr sz="1000">
                <a:solidFill>
                  <a:srgbClr val="8996A0"/>
                </a:solidFill>
                <a:latin typeface="Arial"/>
              </a:rPr>
              <a:t>© 2026 Ted Kwartler</a:t>
            </a:r>
          </a:p>
        </p:txBody>
      </p:sp>
      <p:sp>
        <p:nvSpPr>
          <p:cNvPr id="15" name="Harvard Page Number"/>
          <p:cNvSpPr txBox="1"/>
          <p:nvPr/>
        </p:nvSpPr>
        <p:spPr>
          <a:xfrm>
            <a:off x="11730577" y="6446043"/>
            <a:ext cx="324104" cy="274638"/>
          </a:xfrm>
          <a:prstGeom prst="rect">
            <a:avLst/>
          </a:prstGeom>
          <a:noFill/>
        </p:spPr>
        <p:txBody>
          <a:bodyPr wrap="none" lIns="0" rIns="0" tIns="0" bIns="0">
            <a:noAutofit/>
          </a:bodyPr>
          <a:lstStyle/>
          <a:p>
            <a:pPr algn="r"/>
            <a:fld id="{9C5AC9C5-A311-4E9C-A876-77858D372537}" type="slidenum">
              <a:rPr lang="en-US" sz="1000">
                <a:solidFill>
                  <a:srgbClr val="8996A0"/>
                </a:solidFill>
                <a:latin typeface="Arial"/>
              </a:rPr>
              <a:t>36</a:t>
            </a:fld>
          </a:p>
        </p:txBody>
      </p:sp>
    </p:spTree>
  </p:cSld>
  <p:clrMapOvr>
    <a:masterClrMapping/>
  </p:clrMapOvr>
</p:sld>
</file>

<file path=ppt/theme/theme1.xml><?xml version="1.0" encoding="utf-8"?>
<a:theme xmlns:a="http://schemas.openxmlformats.org/drawingml/2006/main" name="Office Theme">
  <a:themeElements>
    <a:clrScheme name="Office">
      <a:dk1>
        <a:srgbClr val="1E1E1E"/>
      </a:dk1>
      <a:lt1>
        <a:srgbClr val="FFFFFF"/>
      </a:lt1>
      <a:dk2>
        <a:srgbClr val="293352"/>
      </a:dk2>
      <a:lt2>
        <a:srgbClr val="F3F3F1"/>
      </a:lt2>
      <a:accent1>
        <a:srgbClr val="A51C30"/>
      </a:accent1>
      <a:accent2>
        <a:srgbClr val="293352"/>
      </a:accent2>
      <a:accent3>
        <a:srgbClr val="4E84C4"/>
      </a:accent3>
      <a:accent4>
        <a:srgbClr val="C4961A"/>
      </a:accent4>
      <a:accent5>
        <a:srgbClr val="8996A0"/>
      </a:accent5>
      <a:accent6>
        <a:srgbClr val="1E1E1E"/>
      </a:accent6>
      <a:hlink>
        <a:srgbClr val="4E84C4"/>
      </a:hlink>
      <a:folHlink>
        <a:srgbClr val="946EB7"/>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2026-07-21T03:24:11Z</dcterms:created>
  <dcterms:modified xsi:type="dcterms:W3CDTF">2026-07-21T03:24:11Z</dcterms:modified>
</cp:coreProperties>
</file>