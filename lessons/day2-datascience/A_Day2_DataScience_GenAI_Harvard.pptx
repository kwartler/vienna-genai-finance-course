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47"/>
  </p:notesMasterIdLst>
  <p:sldIdLst>
    <p:sldId id="256" r:id="rId3"/>
    <p:sldId id="257" r:id="rId4"/>
    <p:sldId id="258" r:id="rId5"/>
    <p:sldId id="259" r:id="rId6"/>
    <p:sldId id="260" r:id="rId7"/>
    <p:sldId id="261" r:id="rId8"/>
    <p:sldId id="300" r:id="rId9"/>
    <p:sldId id="294" r:id="rId10"/>
    <p:sldId id="262" r:id="rId11"/>
    <p:sldId id="298" r:id="rId12"/>
    <p:sldId id="299" r:id="rId13"/>
    <p:sldId id="263" r:id="rId14"/>
    <p:sldId id="264" r:id="rId15"/>
    <p:sldId id="265" r:id="rId16"/>
    <p:sldId id="266" r:id="rId17"/>
    <p:sldId id="281" r:id="rId18"/>
    <p:sldId id="308" r:id="rId19"/>
    <p:sldId id="306" r:id="rId20"/>
    <p:sldId id="267" r:id="rId21"/>
    <p:sldId id="268" r:id="rId22"/>
    <p:sldId id="269" r:id="rId23"/>
    <p:sldId id="301" r:id="rId24"/>
    <p:sldId id="270" r:id="rId25"/>
    <p:sldId id="305" r:id="rId26"/>
    <p:sldId id="271" r:id="rId27"/>
    <p:sldId id="272" r:id="rId28"/>
    <p:sldId id="273" r:id="rId29"/>
    <p:sldId id="274" r:id="rId30"/>
    <p:sldId id="275" r:id="rId31"/>
    <p:sldId id="276" r:id="rId32"/>
    <p:sldId id="277" r:id="rId33"/>
    <p:sldId id="278" r:id="rId34"/>
    <p:sldId id="279" r:id="rId35"/>
    <p:sldId id="282" r:id="rId36"/>
    <p:sldId id="283" r:id="rId37"/>
    <p:sldId id="307" r:id="rId38"/>
    <p:sldId id="284" r:id="rId39"/>
    <p:sldId id="285" r:id="rId40"/>
    <p:sldId id="286" r:id="rId41"/>
    <p:sldId id="287" r:id="rId42"/>
    <p:sldId id="288" r:id="rId43"/>
    <p:sldId id="289" r:id="rId44"/>
    <p:sldId id="290" r:id="rId45"/>
    <p:sldId id="291" r:id="rId4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4" d="100"/>
          <a:sy n="124" d="100"/>
        </p:scale>
        <p:origin x="54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8858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3936548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21991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262895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12296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671137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US"/>
              <a:t>Click to edit Master title style</a:t>
            </a:r>
          </a:p>
        </p:txBody>
      </p:sp>
    </p:spTree>
    <p:extLst>
      <p:ext uri="{BB962C8B-B14F-4D97-AF65-F5344CB8AC3E}">
        <p14:creationId xmlns:p14="http://schemas.microsoft.com/office/powerpoint/2010/main" val="1623699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4981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005840"/>
          </a:xfrm>
        </p:spPr>
        <p:txBody>
          <a:bodyPr anchor="t"/>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8848718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t"/>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914011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08722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1005840"/>
          </a:xfrm>
        </p:spPr>
        <p:txBody>
          <a:bodyPr vert="eaVert" ancho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482378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Arial"/>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Arial"/>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Arial"/>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Arial"/>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Arial"/>
          <a:ea typeface="+mn-ea"/>
          <a:cs typeface="+mn-cs"/>
        </a:defRPr>
      </a:lvl9pPr>
    </p:bodyStyle>
    <p:otherStyle>
      <a:defPPr>
        <a:defRPr lang="en-US"/>
      </a:defPPr>
      <a:lvl1pPr marL="0" algn="l" defTabSz="914400" rtl="0" eaLnBrk="1" latinLnBrk="0" hangingPunct="1">
        <a:defRPr sz="1800" kern="1200">
          <a:solidFill>
            <a:schemeClr val="tx1"/>
          </a:solidFill>
          <a:latin typeface="Arial"/>
          <a:ea typeface="+mn-ea"/>
          <a:cs typeface="+mn-cs"/>
        </a:defRPr>
      </a:lvl1pPr>
      <a:lvl2pPr marL="457200" algn="l" defTabSz="914400" rtl="0" eaLnBrk="1" latinLnBrk="0" hangingPunct="1">
        <a:defRPr sz="1800" kern="1200">
          <a:solidFill>
            <a:schemeClr val="tx1"/>
          </a:solidFill>
          <a:latin typeface="Arial"/>
          <a:ea typeface="+mn-ea"/>
          <a:cs typeface="+mn-cs"/>
        </a:defRPr>
      </a:lvl2pPr>
      <a:lvl3pPr marL="914400" algn="l" defTabSz="914400" rtl="0" eaLnBrk="1" latinLnBrk="0" hangingPunct="1">
        <a:defRPr sz="1800" kern="1200">
          <a:solidFill>
            <a:schemeClr val="tx1"/>
          </a:solidFill>
          <a:latin typeface="Arial"/>
          <a:ea typeface="+mn-ea"/>
          <a:cs typeface="+mn-cs"/>
        </a:defRPr>
      </a:lvl3pPr>
      <a:lvl4pPr marL="1371600" algn="l" defTabSz="914400" rtl="0" eaLnBrk="1" latinLnBrk="0" hangingPunct="1">
        <a:defRPr sz="1800" kern="1200">
          <a:solidFill>
            <a:schemeClr val="tx1"/>
          </a:solidFill>
          <a:latin typeface="Arial"/>
          <a:ea typeface="+mn-ea"/>
          <a:cs typeface="+mn-cs"/>
        </a:defRPr>
      </a:lvl4pPr>
      <a:lvl5pPr marL="1828800" algn="l" defTabSz="914400" rtl="0" eaLnBrk="1" latinLnBrk="0" hangingPunct="1">
        <a:defRPr sz="18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Arial"/>
          <a:ea typeface="+mn-ea"/>
          <a:cs typeface="+mn-cs"/>
        </a:defRPr>
      </a:lvl6pPr>
      <a:lvl7pPr marL="2743200" algn="l" defTabSz="914400" rtl="0" eaLnBrk="1" latinLnBrk="0" hangingPunct="1">
        <a:defRPr sz="1800" kern="1200">
          <a:solidFill>
            <a:schemeClr val="tx1"/>
          </a:solidFill>
          <a:latin typeface="Arial"/>
          <a:ea typeface="+mn-ea"/>
          <a:cs typeface="+mn-cs"/>
        </a:defRPr>
      </a:lvl7pPr>
      <a:lvl8pPr marL="3200400" algn="l" defTabSz="914400" rtl="0" eaLnBrk="1" latinLnBrk="0" hangingPunct="1">
        <a:defRPr sz="1800" kern="1200">
          <a:solidFill>
            <a:schemeClr val="tx1"/>
          </a:solidFill>
          <a:latin typeface="Arial"/>
          <a:ea typeface="+mn-ea"/>
          <a:cs typeface="+mn-cs"/>
        </a:defRPr>
      </a:lvl8pPr>
      <a:lvl9pPr marL="3657600" algn="l" defTabSz="914400" rtl="0" eaLnBrk="1" latinLnBrk="0" hangingPunct="1">
        <a:defRPr sz="1800" kern="1200">
          <a:solidFill>
            <a:schemeClr val="tx1"/>
          </a:solidFill>
          <a:latin typeface="Arial"/>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00584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88312512"/>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ctr" defTabSz="457200" rtl="0" eaLnBrk="1" latinLnBrk="0" hangingPunct="1">
        <a:spcBef>
          <a:spcPct val="0"/>
        </a:spcBef>
        <a:buNone/>
        <a:defRPr sz="4400" kern="1200">
          <a:solidFill>
            <a:schemeClr val="tx1"/>
          </a:solidFill>
          <a:latin typeface="Arial"/>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Arial"/>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Arial"/>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Arial"/>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Arial"/>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Arial"/>
          <a:ea typeface="+mn-ea"/>
          <a:cs typeface="+mn-cs"/>
        </a:defRPr>
      </a:lvl9pPr>
    </p:bodyStyle>
    <p:otherStyle>
      <a:defPPr>
        <a:defRPr lang="en-US"/>
      </a:defPPr>
      <a:lvl1pPr marL="0" algn="l" defTabSz="457200" rtl="0" eaLnBrk="1" latinLnBrk="0" hangingPunct="1">
        <a:defRPr sz="1800" kern="1200">
          <a:solidFill>
            <a:schemeClr val="tx1"/>
          </a:solidFill>
          <a:latin typeface="Arial"/>
          <a:ea typeface="+mn-ea"/>
          <a:cs typeface="+mn-cs"/>
        </a:defRPr>
      </a:lvl1pPr>
      <a:lvl2pPr marL="457200" algn="l" defTabSz="457200" rtl="0" eaLnBrk="1" latinLnBrk="0" hangingPunct="1">
        <a:defRPr sz="1800" kern="1200">
          <a:solidFill>
            <a:schemeClr val="tx1"/>
          </a:solidFill>
          <a:latin typeface="Arial"/>
          <a:ea typeface="+mn-ea"/>
          <a:cs typeface="+mn-cs"/>
        </a:defRPr>
      </a:lvl2pPr>
      <a:lvl3pPr marL="914400" algn="l" defTabSz="457200" rtl="0" eaLnBrk="1" latinLnBrk="0" hangingPunct="1">
        <a:defRPr sz="1800" kern="1200">
          <a:solidFill>
            <a:schemeClr val="tx1"/>
          </a:solidFill>
          <a:latin typeface="Arial"/>
          <a:ea typeface="+mn-ea"/>
          <a:cs typeface="+mn-cs"/>
        </a:defRPr>
      </a:lvl3pPr>
      <a:lvl4pPr marL="1371600" algn="l" defTabSz="457200" rtl="0" eaLnBrk="1" latinLnBrk="0" hangingPunct="1">
        <a:defRPr sz="1800" kern="1200">
          <a:solidFill>
            <a:schemeClr val="tx1"/>
          </a:solidFill>
          <a:latin typeface="Arial"/>
          <a:ea typeface="+mn-ea"/>
          <a:cs typeface="+mn-cs"/>
        </a:defRPr>
      </a:lvl4pPr>
      <a:lvl5pPr marL="1828800" algn="l" defTabSz="457200" rtl="0" eaLnBrk="1" latinLnBrk="0" hangingPunct="1">
        <a:defRPr sz="1800" kern="1200">
          <a:solidFill>
            <a:schemeClr val="tx1"/>
          </a:solidFill>
          <a:latin typeface="Arial"/>
          <a:ea typeface="+mn-ea"/>
          <a:cs typeface="+mn-cs"/>
        </a:defRPr>
      </a:lvl5pPr>
      <a:lvl6pPr marL="2286000" algn="l" defTabSz="457200" rtl="0" eaLnBrk="1" latinLnBrk="0" hangingPunct="1">
        <a:defRPr sz="1800" kern="1200">
          <a:solidFill>
            <a:schemeClr val="tx1"/>
          </a:solidFill>
          <a:latin typeface="Arial"/>
          <a:ea typeface="+mn-ea"/>
          <a:cs typeface="+mn-cs"/>
        </a:defRPr>
      </a:lvl6pPr>
      <a:lvl7pPr marL="2743200" algn="l" defTabSz="457200" rtl="0" eaLnBrk="1" latinLnBrk="0" hangingPunct="1">
        <a:defRPr sz="1800" kern="1200">
          <a:solidFill>
            <a:schemeClr val="tx1"/>
          </a:solidFill>
          <a:latin typeface="Arial"/>
          <a:ea typeface="+mn-ea"/>
          <a:cs typeface="+mn-cs"/>
        </a:defRPr>
      </a:lvl7pPr>
      <a:lvl8pPr marL="3200400" algn="l" defTabSz="457200" rtl="0" eaLnBrk="1" latinLnBrk="0" hangingPunct="1">
        <a:defRPr sz="1800" kern="1200">
          <a:solidFill>
            <a:schemeClr val="tx1"/>
          </a:solidFill>
          <a:latin typeface="Arial"/>
          <a:ea typeface="+mn-ea"/>
          <a:cs typeface="+mn-cs"/>
        </a:defRPr>
      </a:lvl8pPr>
      <a:lvl9pPr marL="3657600" algn="l" defTabSz="457200" rtl="0" eaLnBrk="1" latinLnBrk="0" hangingPunct="1">
        <a:defRPr sz="1800" kern="1200">
          <a:solidFill>
            <a:schemeClr val="tx1"/>
          </a:solidFill>
          <a:latin typeface="Arial"/>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8.pn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30.png"/><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4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A51C30"/>
        </a:solidFill>
        <a:effectLst/>
      </p:bgPr>
    </p:bg>
    <p:spTree>
      <p:nvGrpSpPr>
        <p:cNvPr id="1" name=""/>
        <p:cNvGrpSpPr/>
        <p:nvPr/>
      </p:nvGrpSpPr>
      <p:grpSpPr>
        <a:xfrm>
          <a:off x="0" y="0"/>
          <a:ext cx="0" cy="0"/>
          <a:chOff x="0" y="0"/>
          <a:chExt cx="0" cy="0"/>
        </a:xfrm>
      </p:grpSpPr>
      <p:sp>
        <p:nvSpPr>
          <p:cNvPr id="2" name="Text 0"/>
          <p:cNvSpPr/>
          <p:nvPr/>
        </p:nvSpPr>
        <p:spPr>
          <a:xfrm>
            <a:off x="731520" y="1554480"/>
            <a:ext cx="10698480" cy="548640"/>
          </a:xfrm>
          <a:prstGeom prst="rect">
            <a:avLst/>
          </a:prstGeom>
          <a:noFill/>
          <a:ln/>
        </p:spPr>
        <p:txBody>
          <a:bodyPr wrap="square" lIns="0" tIns="0" rIns="0" bIns="0" rtlCol="0" anchor="ctr"/>
          <a:lstStyle/>
          <a:p>
            <a:pPr marL="0" indent="0">
              <a:buNone/>
            </a:pPr>
            <a:r>
              <a:rPr lang="en-US" sz="2000" kern="0" spc="200" dirty="0">
                <a:solidFill>
                  <a:srgbClr val="FFFFFF"/>
                </a:solidFill>
                <a:latin typeface="Arial" pitchFamily="34" charset="0"/>
                <a:ea typeface="Arial" pitchFamily="34" charset="-122"/>
                <a:cs typeface="Arial" pitchFamily="34" charset="-120"/>
              </a:rPr>
              <a:t>Generative AI in Finance</a:t>
            </a:r>
            <a:endParaRPr lang="en-US" sz="2000" dirty="0"/>
          </a:p>
        </p:txBody>
      </p:sp>
      <p:sp>
        <p:nvSpPr>
          <p:cNvPr id="3" name="Text 1"/>
          <p:cNvSpPr/>
          <p:nvPr/>
        </p:nvSpPr>
        <p:spPr>
          <a:xfrm>
            <a:off x="731520" y="2286000"/>
            <a:ext cx="10698480" cy="109728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Day 2, Data Science Masters Track</a:t>
            </a:r>
            <a:endParaRPr lang="en-US" sz="4000" dirty="0"/>
          </a:p>
        </p:txBody>
      </p:sp>
      <p:sp>
        <p:nvSpPr>
          <p:cNvPr id="4" name="Text 2"/>
          <p:cNvSpPr/>
          <p:nvPr/>
        </p:nvSpPr>
        <p:spPr>
          <a:xfrm>
            <a:off x="731520" y="3474720"/>
            <a:ext cx="10698480" cy="731520"/>
          </a:xfrm>
          <a:prstGeom prst="rect">
            <a:avLst/>
          </a:prstGeom>
          <a:noFill/>
          <a:ln/>
        </p:spPr>
        <p:txBody>
          <a:bodyPr wrap="square" lIns="0" tIns="0" rIns="0" bIns="0" rtlCol="0" anchor="ctr"/>
          <a:lstStyle/>
          <a:p>
            <a:pPr marL="0" indent="0">
              <a:buNone/>
            </a:pPr>
            <a:r>
              <a:rPr lang="en-US" sz="2000" dirty="0">
                <a:solidFill>
                  <a:srgbClr val="FFFFFF"/>
                </a:solidFill>
                <a:latin typeface="Arial" pitchFamily="34" charset="0"/>
                <a:ea typeface="Arial" pitchFamily="34" charset="-122"/>
                <a:cs typeface="Arial" pitchFamily="34" charset="-120"/>
              </a:rPr>
              <a:t>Portfolio optimization, rolling risk metrics, and a live investment thesis app</a:t>
            </a:r>
            <a:endParaRPr lang="en-US" sz="2000" dirty="0"/>
          </a:p>
        </p:txBody>
      </p:sp>
      <p:sp>
        <p:nvSpPr>
          <p:cNvPr id="5"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F3F3F1"/>
                </a:solidFill>
                <a:latin typeface="Arial"/>
              </a:rPr>
              <a:t>© 2026 Ted Kwartler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A51C30"/>
        </a:solidFill>
        <a:effectLst/>
      </p:bgPr>
    </p:bg>
    <p:spTree>
      <p:nvGrpSpPr>
        <p:cNvPr id="1" name=""/>
        <p:cNvGrpSpPr/>
        <p:nvPr/>
      </p:nvGrpSpPr>
      <p:grpSpPr>
        <a:xfrm>
          <a:off x="0" y="0"/>
          <a:ext cx="0" cy="0"/>
          <a:chOff x="0" y="0"/>
          <a:chExt cx="0" cy="0"/>
        </a:xfrm>
      </p:grpSpPr>
      <p:sp>
        <p:nvSpPr>
          <p:cNvPr id="2" name="Text 0"/>
          <p:cNvSpPr/>
          <p:nvPr/>
        </p:nvSpPr>
        <p:spPr>
          <a:xfrm>
            <a:off x="731520" y="2011680"/>
            <a:ext cx="10698480" cy="457200"/>
          </a:xfrm>
          <a:prstGeom prst="rect">
            <a:avLst/>
          </a:prstGeom>
          <a:noFill/>
          <a:ln/>
        </p:spPr>
        <p:txBody>
          <a:bodyPr wrap="square" lIns="0" tIns="0" rIns="0" bIns="0" rtlCol="0" anchor="ctr"/>
          <a:lstStyle/>
          <a:p>
            <a:pPr marL="0" indent="0">
              <a:buNone/>
            </a:pPr>
            <a:r>
              <a:rPr lang="en-US" sz="1600" b="1" kern="0" spc="200" dirty="0">
                <a:solidFill>
                  <a:srgbClr val="FFFFFF"/>
                </a:solidFill>
                <a:latin typeface="Arial" pitchFamily="34" charset="0"/>
                <a:ea typeface="Arial" pitchFamily="34" charset="-122"/>
                <a:cs typeface="Arial" pitchFamily="34" charset="-120"/>
              </a:rPr>
              <a:t>Session 1</a:t>
            </a:r>
            <a:endParaRPr lang="en-US" sz="1600" dirty="0"/>
          </a:p>
        </p:txBody>
      </p:sp>
      <p:sp>
        <p:nvSpPr>
          <p:cNvPr id="3" name="Text 1"/>
          <p:cNvSpPr/>
          <p:nvPr/>
        </p:nvSpPr>
        <p:spPr>
          <a:xfrm>
            <a:off x="731520" y="2468880"/>
            <a:ext cx="10698480" cy="128016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Portfolio Optimization in R</a:t>
            </a:r>
            <a:endParaRPr lang="en-US" sz="4000" dirty="0"/>
          </a:p>
        </p:txBody>
      </p:sp>
      <p:sp>
        <p:nvSpPr>
          <p:cNvPr id="4" name="Text 2"/>
          <p:cNvSpPr/>
          <p:nvPr/>
        </p:nvSpPr>
        <p:spPr>
          <a:xfrm>
            <a:off x="731520" y="3749040"/>
            <a:ext cx="10698480" cy="914400"/>
          </a:xfrm>
          <a:prstGeom prst="rect">
            <a:avLst/>
          </a:prstGeom>
          <a:noFill/>
          <a:ln/>
        </p:spPr>
        <p:txBody>
          <a:bodyPr wrap="square" lIns="0" tIns="0" rIns="0" bIns="0" rtlCol="0" anchor="ctr"/>
          <a:lstStyle/>
          <a:p>
            <a:pPr marL="0" indent="0">
              <a:buNone/>
            </a:pPr>
            <a:r>
              <a:rPr lang="en-US" sz="2000" dirty="0">
                <a:solidFill>
                  <a:srgbClr val="FFFFFF"/>
                </a:solidFill>
                <a:latin typeface="Arial" pitchFamily="34" charset="0"/>
                <a:ea typeface="Arial" pitchFamily="34" charset="-122"/>
                <a:cs typeface="Arial" pitchFamily="34" charset="-120"/>
              </a:rPr>
              <a:t>From raw prices to two optimized portfolios, then a plain English read</a:t>
            </a:r>
            <a:endParaRPr lang="en-US" sz="2000" dirty="0"/>
          </a:p>
        </p:txBody>
      </p:sp>
      <p:sp>
        <p:nvSpPr>
          <p:cNvPr id="5"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F3F3F1"/>
                </a:solidFill>
                <a:latin typeface="Arial"/>
              </a:rPr>
              <a:t>© 2026 Ted Kwartler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marL="0" indent="0">
              <a:buNone/>
            </a:pPr>
            <a:r>
              <a:rPr lang="en-US" sz="1200" b="1" kern="0" spc="200" dirty="0">
                <a:solidFill>
                  <a:srgbClr val="A51C30"/>
                </a:solidFill>
                <a:latin typeface="Arial" pitchFamily="34" charset="0"/>
                <a:ea typeface="Arial" pitchFamily="34" charset="-122"/>
                <a:cs typeface="Arial" pitchFamily="34" charset="-120"/>
              </a:rPr>
              <a:t>SCRIPTS A TO D</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marL="0" indent="0">
              <a:buNone/>
            </a:pPr>
            <a:r>
              <a:rPr lang="en-US" sz="2800" b="1" dirty="0">
                <a:solidFill>
                  <a:srgbClr val="1E1E1E"/>
                </a:solidFill>
                <a:latin typeface="Arial" pitchFamily="34" charset="0"/>
                <a:ea typeface="Arial" pitchFamily="34" charset="-122"/>
                <a:cs typeface="Arial" pitchFamily="34" charset="-120"/>
              </a:rPr>
              <a:t>The session as one pipeline</a:t>
            </a:r>
            <a:endParaRPr lang="en-US" sz="2800" dirty="0"/>
          </a:p>
        </p:txBody>
      </p:sp>
      <p:sp>
        <p:nvSpPr>
          <p:cNvPr id="4" name="Shape 2"/>
          <p:cNvSpPr/>
          <p:nvPr/>
        </p:nvSpPr>
        <p:spPr>
          <a:xfrm>
            <a:off x="640080" y="2148840"/>
            <a:ext cx="2377440" cy="2468880"/>
          </a:xfrm>
          <a:prstGeom prst="roundRect">
            <a:avLst>
              <a:gd name="adj" fmla="val 2692"/>
            </a:avLst>
          </a:prstGeom>
          <a:solidFill>
            <a:srgbClr val="293352"/>
          </a:solidFill>
          <a:ln/>
        </p:spPr>
      </p:sp>
      <p:sp>
        <p:nvSpPr>
          <p:cNvPr id="5" name="Shape 3"/>
          <p:cNvSpPr/>
          <p:nvPr/>
        </p:nvSpPr>
        <p:spPr>
          <a:xfrm>
            <a:off x="1545336" y="2468880"/>
            <a:ext cx="566928" cy="566928"/>
          </a:xfrm>
          <a:prstGeom prst="roundRect">
            <a:avLst>
              <a:gd name="adj" fmla="val 14516"/>
            </a:avLst>
          </a:prstGeom>
          <a:solidFill>
            <a:srgbClr val="A51C30"/>
          </a:solidFill>
          <a:ln/>
        </p:spPr>
      </p:sp>
      <p:pic>
        <p:nvPicPr>
          <p:cNvPr id="6" name="Image 0" descr="preencoded.png"/>
          <p:cNvPicPr>
            <a:picLocks noChangeAspect="1"/>
          </p:cNvPicPr>
          <p:nvPr/>
        </p:nvPicPr>
        <p:blipFill>
          <a:blip r:embed="rId3"/>
          <a:stretch>
            <a:fillRect/>
          </a:stretch>
        </p:blipFill>
        <p:spPr>
          <a:xfrm>
            <a:off x="1672895" y="2596439"/>
            <a:ext cx="311810" cy="311810"/>
          </a:xfrm>
          <a:prstGeom prst="rect">
            <a:avLst/>
          </a:prstGeom>
        </p:spPr>
      </p:pic>
      <p:sp>
        <p:nvSpPr>
          <p:cNvPr id="7" name="Text 4"/>
          <p:cNvSpPr/>
          <p:nvPr/>
        </p:nvSpPr>
        <p:spPr>
          <a:xfrm>
            <a:off x="777240" y="3200400"/>
            <a:ext cx="2103120" cy="548640"/>
          </a:xfrm>
          <a:prstGeom prst="rect">
            <a:avLst/>
          </a:prstGeom>
          <a:noFill/>
          <a:ln/>
        </p:spPr>
        <p:txBody>
          <a:bodyPr wrap="square" lIns="0" tIns="0" rIns="0" bIns="0" rtlCol="0" anchor="t"/>
          <a:lstStyle/>
          <a:p>
            <a:pPr marL="0" indent="0" algn="ctr">
              <a:buNone/>
            </a:pPr>
            <a:r>
              <a:rPr lang="en-US" sz="1500" b="1" dirty="0">
                <a:solidFill>
                  <a:srgbClr val="FFFFFF"/>
                </a:solidFill>
                <a:latin typeface="Arial" pitchFamily="34" charset="0"/>
                <a:ea typeface="Arial" pitchFamily="34" charset="-122"/>
                <a:cs typeface="Arial" pitchFamily="34" charset="-120"/>
              </a:rPr>
              <a:t>A  Prepare</a:t>
            </a:r>
            <a:endParaRPr lang="en-US" sz="1500" dirty="0"/>
          </a:p>
        </p:txBody>
      </p:sp>
      <p:sp>
        <p:nvSpPr>
          <p:cNvPr id="8" name="Text 5"/>
          <p:cNvSpPr/>
          <p:nvPr/>
        </p:nvSpPr>
        <p:spPr>
          <a:xfrm>
            <a:off x="822960" y="3703320"/>
            <a:ext cx="2011680" cy="822960"/>
          </a:xfrm>
          <a:prstGeom prst="rect">
            <a:avLst/>
          </a:prstGeom>
          <a:noFill/>
          <a:ln/>
        </p:spPr>
        <p:txBody>
          <a:bodyPr wrap="square" lIns="0" tIns="0" rIns="0" bIns="0" rtlCol="0" anchor="t"/>
          <a:lstStyle/>
          <a:p>
            <a:pPr marL="0" indent="0" algn="ctr">
              <a:buNone/>
            </a:pPr>
            <a:r>
              <a:rPr lang="en-US" sz="1150" dirty="0">
                <a:solidFill>
                  <a:srgbClr val="F3F3F1"/>
                </a:solidFill>
                <a:latin typeface="Arial" pitchFamily="34" charset="0"/>
                <a:ea typeface="Arial" pitchFamily="34" charset="-122"/>
                <a:cs typeface="Arial" pitchFamily="34" charset="-120"/>
              </a:rPr>
              <a:t>Prices to returns, five stocks plus SPY</a:t>
            </a:r>
            <a:endParaRPr lang="en-US" sz="1150" dirty="0"/>
          </a:p>
        </p:txBody>
      </p:sp>
      <p:sp>
        <p:nvSpPr>
          <p:cNvPr id="9" name="Text 6"/>
          <p:cNvSpPr/>
          <p:nvPr/>
        </p:nvSpPr>
        <p:spPr>
          <a:xfrm>
            <a:off x="3017520" y="3063240"/>
            <a:ext cx="487680" cy="640080"/>
          </a:xfrm>
          <a:prstGeom prst="rect">
            <a:avLst/>
          </a:prstGeom>
          <a:noFill/>
          <a:ln/>
        </p:spPr>
        <p:txBody>
          <a:bodyPr wrap="square" lIns="0" tIns="0" rIns="0" bIns="0" rtlCol="0" anchor="ctr"/>
          <a:lstStyle/>
          <a:p>
            <a:pPr marL="0" indent="0" algn="ctr">
              <a:buNone/>
            </a:pPr>
            <a:r>
              <a:rPr lang="en-US" sz="2600" b="1" dirty="0">
                <a:solidFill>
                  <a:srgbClr val="8996A0"/>
                </a:solidFill>
                <a:latin typeface="Arial" pitchFamily="34" charset="0"/>
                <a:ea typeface="Arial" pitchFamily="34" charset="-122"/>
                <a:cs typeface="Arial" pitchFamily="34" charset="-120"/>
              </a:rPr>
              <a:t>→</a:t>
            </a:r>
            <a:endParaRPr lang="en-US" sz="2600" dirty="0"/>
          </a:p>
        </p:txBody>
      </p:sp>
      <p:sp>
        <p:nvSpPr>
          <p:cNvPr id="10" name="Shape 7"/>
          <p:cNvSpPr/>
          <p:nvPr/>
        </p:nvSpPr>
        <p:spPr>
          <a:xfrm>
            <a:off x="3505200" y="2148840"/>
            <a:ext cx="2377440" cy="2468880"/>
          </a:xfrm>
          <a:prstGeom prst="roundRect">
            <a:avLst>
              <a:gd name="adj" fmla="val 2692"/>
            </a:avLst>
          </a:prstGeom>
          <a:solidFill>
            <a:srgbClr val="F3F3F1"/>
          </a:solidFill>
          <a:ln/>
        </p:spPr>
      </p:sp>
      <p:sp>
        <p:nvSpPr>
          <p:cNvPr id="11" name="Shape 8"/>
          <p:cNvSpPr/>
          <p:nvPr/>
        </p:nvSpPr>
        <p:spPr>
          <a:xfrm>
            <a:off x="4410456" y="2468880"/>
            <a:ext cx="566928" cy="566928"/>
          </a:xfrm>
          <a:prstGeom prst="roundRect">
            <a:avLst>
              <a:gd name="adj" fmla="val 14516"/>
            </a:avLst>
          </a:prstGeom>
          <a:solidFill>
            <a:srgbClr val="293352"/>
          </a:solidFill>
          <a:ln/>
        </p:spPr>
      </p:sp>
      <p:pic>
        <p:nvPicPr>
          <p:cNvPr id="12" name="Image 1" descr="preencoded.png"/>
          <p:cNvPicPr>
            <a:picLocks noChangeAspect="1"/>
          </p:cNvPicPr>
          <p:nvPr/>
        </p:nvPicPr>
        <p:blipFill>
          <a:blip r:embed="rId4"/>
          <a:stretch>
            <a:fillRect/>
          </a:stretch>
        </p:blipFill>
        <p:spPr>
          <a:xfrm>
            <a:off x="4538015" y="2596439"/>
            <a:ext cx="311810" cy="311810"/>
          </a:xfrm>
          <a:prstGeom prst="rect">
            <a:avLst/>
          </a:prstGeom>
        </p:spPr>
      </p:pic>
      <p:sp>
        <p:nvSpPr>
          <p:cNvPr id="13" name="Text 9"/>
          <p:cNvSpPr/>
          <p:nvPr/>
        </p:nvSpPr>
        <p:spPr>
          <a:xfrm>
            <a:off x="3642360" y="3200400"/>
            <a:ext cx="2103120" cy="548640"/>
          </a:xfrm>
          <a:prstGeom prst="rect">
            <a:avLst/>
          </a:prstGeom>
          <a:noFill/>
          <a:ln/>
        </p:spPr>
        <p:txBody>
          <a:bodyPr wrap="square" lIns="0" tIns="0" rIns="0" bIns="0" rtlCol="0" anchor="t"/>
          <a:lstStyle/>
          <a:p>
            <a:pPr marL="0" indent="0" algn="ctr">
              <a:buNone/>
            </a:pPr>
            <a:r>
              <a:rPr lang="en-US" sz="1500" b="1" dirty="0">
                <a:solidFill>
                  <a:srgbClr val="293352"/>
                </a:solidFill>
                <a:latin typeface="Arial" pitchFamily="34" charset="0"/>
                <a:ea typeface="Arial" pitchFamily="34" charset="-122"/>
                <a:cs typeface="Arial" pitchFamily="34" charset="-120"/>
              </a:rPr>
              <a:t>B  Min variance</a:t>
            </a:r>
            <a:endParaRPr lang="en-US" sz="1500" dirty="0"/>
          </a:p>
        </p:txBody>
      </p:sp>
      <p:sp>
        <p:nvSpPr>
          <p:cNvPr id="14" name="Text 10"/>
          <p:cNvSpPr/>
          <p:nvPr/>
        </p:nvSpPr>
        <p:spPr>
          <a:xfrm>
            <a:off x="3688080" y="3703320"/>
            <a:ext cx="2011680" cy="822960"/>
          </a:xfrm>
          <a:prstGeom prst="rect">
            <a:avLst/>
          </a:prstGeom>
          <a:noFill/>
          <a:ln/>
        </p:spPr>
        <p:txBody>
          <a:bodyPr wrap="square" lIns="0" tIns="0" rIns="0" bIns="0" rtlCol="0" anchor="t"/>
          <a:lstStyle/>
          <a:p>
            <a:pPr marL="0" indent="0" algn="ctr">
              <a:buNone/>
            </a:pPr>
            <a:r>
              <a:rPr lang="en-US" sz="1150" dirty="0">
                <a:solidFill>
                  <a:srgbClr val="1E1E1E"/>
                </a:solidFill>
                <a:latin typeface="Arial" pitchFamily="34" charset="0"/>
                <a:ea typeface="Arial" pitchFamily="34" charset="-122"/>
                <a:cs typeface="Arial" pitchFamily="34" charset="-120"/>
              </a:rPr>
              <a:t>The calmest mix of holdings</a:t>
            </a:r>
            <a:endParaRPr lang="en-US" sz="1150" dirty="0"/>
          </a:p>
        </p:txBody>
      </p:sp>
      <p:sp>
        <p:nvSpPr>
          <p:cNvPr id="15" name="Text 11"/>
          <p:cNvSpPr/>
          <p:nvPr/>
        </p:nvSpPr>
        <p:spPr>
          <a:xfrm>
            <a:off x="5882640" y="3063240"/>
            <a:ext cx="487680" cy="640080"/>
          </a:xfrm>
          <a:prstGeom prst="rect">
            <a:avLst/>
          </a:prstGeom>
          <a:noFill/>
          <a:ln/>
        </p:spPr>
        <p:txBody>
          <a:bodyPr wrap="square" lIns="0" tIns="0" rIns="0" bIns="0" rtlCol="0" anchor="ctr"/>
          <a:lstStyle/>
          <a:p>
            <a:pPr marL="0" indent="0" algn="ctr">
              <a:buNone/>
            </a:pPr>
            <a:r>
              <a:rPr lang="en-US" sz="2600" b="1" dirty="0">
                <a:solidFill>
                  <a:srgbClr val="8996A0"/>
                </a:solidFill>
                <a:latin typeface="Arial" pitchFamily="34" charset="0"/>
                <a:ea typeface="Arial" pitchFamily="34" charset="-122"/>
                <a:cs typeface="Arial" pitchFamily="34" charset="-120"/>
              </a:rPr>
              <a:t>→</a:t>
            </a:r>
            <a:endParaRPr lang="en-US" sz="2600" dirty="0"/>
          </a:p>
        </p:txBody>
      </p:sp>
      <p:sp>
        <p:nvSpPr>
          <p:cNvPr id="16" name="Shape 12"/>
          <p:cNvSpPr/>
          <p:nvPr/>
        </p:nvSpPr>
        <p:spPr>
          <a:xfrm>
            <a:off x="6370320" y="2148840"/>
            <a:ext cx="2377440" cy="2468880"/>
          </a:xfrm>
          <a:prstGeom prst="roundRect">
            <a:avLst>
              <a:gd name="adj" fmla="val 2692"/>
            </a:avLst>
          </a:prstGeom>
          <a:solidFill>
            <a:srgbClr val="F3F3F1"/>
          </a:solidFill>
          <a:ln/>
        </p:spPr>
      </p:sp>
      <p:sp>
        <p:nvSpPr>
          <p:cNvPr id="17" name="Shape 13"/>
          <p:cNvSpPr/>
          <p:nvPr/>
        </p:nvSpPr>
        <p:spPr>
          <a:xfrm>
            <a:off x="7275576" y="2468880"/>
            <a:ext cx="566928" cy="566928"/>
          </a:xfrm>
          <a:prstGeom prst="roundRect">
            <a:avLst>
              <a:gd name="adj" fmla="val 14516"/>
            </a:avLst>
          </a:prstGeom>
          <a:solidFill>
            <a:srgbClr val="293352"/>
          </a:solidFill>
          <a:ln/>
        </p:spPr>
      </p:sp>
      <p:pic>
        <p:nvPicPr>
          <p:cNvPr id="18" name="Image 2" descr="preencoded.png"/>
          <p:cNvPicPr>
            <a:picLocks noChangeAspect="1"/>
          </p:cNvPicPr>
          <p:nvPr/>
        </p:nvPicPr>
        <p:blipFill>
          <a:blip r:embed="rId5"/>
          <a:stretch>
            <a:fillRect/>
          </a:stretch>
        </p:blipFill>
        <p:spPr>
          <a:xfrm>
            <a:off x="7403135" y="2596439"/>
            <a:ext cx="311810" cy="311810"/>
          </a:xfrm>
          <a:prstGeom prst="rect">
            <a:avLst/>
          </a:prstGeom>
        </p:spPr>
      </p:pic>
      <p:sp>
        <p:nvSpPr>
          <p:cNvPr id="19" name="Text 14"/>
          <p:cNvSpPr/>
          <p:nvPr/>
        </p:nvSpPr>
        <p:spPr>
          <a:xfrm>
            <a:off x="6507480" y="3200400"/>
            <a:ext cx="2103120" cy="548640"/>
          </a:xfrm>
          <a:prstGeom prst="rect">
            <a:avLst/>
          </a:prstGeom>
          <a:noFill/>
          <a:ln/>
        </p:spPr>
        <p:txBody>
          <a:bodyPr wrap="square" lIns="0" tIns="0" rIns="0" bIns="0" rtlCol="0" anchor="t"/>
          <a:lstStyle/>
          <a:p>
            <a:pPr marL="0" indent="0" algn="ctr">
              <a:buNone/>
            </a:pPr>
            <a:r>
              <a:rPr lang="en-US" sz="1500" b="1" dirty="0">
                <a:solidFill>
                  <a:srgbClr val="293352"/>
                </a:solidFill>
                <a:latin typeface="Arial" pitchFamily="34" charset="0"/>
                <a:ea typeface="Arial" pitchFamily="34" charset="-122"/>
                <a:cs typeface="Arial" pitchFamily="34" charset="-120"/>
              </a:rPr>
              <a:t>C  Max Sharpe</a:t>
            </a:r>
            <a:endParaRPr lang="en-US" sz="1500" dirty="0"/>
          </a:p>
        </p:txBody>
      </p:sp>
      <p:sp>
        <p:nvSpPr>
          <p:cNvPr id="20" name="Text 15"/>
          <p:cNvSpPr/>
          <p:nvPr/>
        </p:nvSpPr>
        <p:spPr>
          <a:xfrm>
            <a:off x="6553200" y="3703320"/>
            <a:ext cx="2011680" cy="822960"/>
          </a:xfrm>
          <a:prstGeom prst="rect">
            <a:avLst/>
          </a:prstGeom>
          <a:noFill/>
          <a:ln/>
        </p:spPr>
        <p:txBody>
          <a:bodyPr wrap="square" lIns="0" tIns="0" rIns="0" bIns="0" rtlCol="0" anchor="t"/>
          <a:lstStyle/>
          <a:p>
            <a:pPr marL="0" indent="0" algn="ctr">
              <a:buNone/>
            </a:pPr>
            <a:r>
              <a:rPr lang="en-US" sz="1150" dirty="0">
                <a:solidFill>
                  <a:srgbClr val="1E1E1E"/>
                </a:solidFill>
                <a:latin typeface="Arial" pitchFamily="34" charset="0"/>
                <a:ea typeface="Arial" pitchFamily="34" charset="-122"/>
                <a:cs typeface="Arial" pitchFamily="34" charset="-120"/>
              </a:rPr>
              <a:t>Best return per unit of risk</a:t>
            </a:r>
            <a:endParaRPr lang="en-US" sz="1150" dirty="0"/>
          </a:p>
        </p:txBody>
      </p:sp>
      <p:sp>
        <p:nvSpPr>
          <p:cNvPr id="21" name="Text 16"/>
          <p:cNvSpPr/>
          <p:nvPr/>
        </p:nvSpPr>
        <p:spPr>
          <a:xfrm>
            <a:off x="8747760" y="3063240"/>
            <a:ext cx="487680" cy="640080"/>
          </a:xfrm>
          <a:prstGeom prst="rect">
            <a:avLst/>
          </a:prstGeom>
          <a:noFill/>
          <a:ln/>
        </p:spPr>
        <p:txBody>
          <a:bodyPr wrap="square" lIns="0" tIns="0" rIns="0" bIns="0" rtlCol="0" anchor="ctr"/>
          <a:lstStyle/>
          <a:p>
            <a:pPr marL="0" indent="0" algn="ctr">
              <a:buNone/>
            </a:pPr>
            <a:r>
              <a:rPr lang="en-US" sz="2600" b="1" dirty="0">
                <a:solidFill>
                  <a:srgbClr val="8996A0"/>
                </a:solidFill>
                <a:latin typeface="Arial" pitchFamily="34" charset="0"/>
                <a:ea typeface="Arial" pitchFamily="34" charset="-122"/>
                <a:cs typeface="Arial" pitchFamily="34" charset="-120"/>
              </a:rPr>
              <a:t>→</a:t>
            </a:r>
            <a:endParaRPr lang="en-US" sz="2600" dirty="0"/>
          </a:p>
        </p:txBody>
      </p:sp>
      <p:sp>
        <p:nvSpPr>
          <p:cNvPr id="22" name="Shape 17"/>
          <p:cNvSpPr/>
          <p:nvPr/>
        </p:nvSpPr>
        <p:spPr>
          <a:xfrm>
            <a:off x="9235440" y="2148840"/>
            <a:ext cx="2377440" cy="2468880"/>
          </a:xfrm>
          <a:prstGeom prst="roundRect">
            <a:avLst>
              <a:gd name="adj" fmla="val 2692"/>
            </a:avLst>
          </a:prstGeom>
          <a:solidFill>
            <a:srgbClr val="F3F3F1"/>
          </a:solidFill>
          <a:ln/>
        </p:spPr>
      </p:sp>
      <p:sp>
        <p:nvSpPr>
          <p:cNvPr id="23" name="Shape 18"/>
          <p:cNvSpPr/>
          <p:nvPr/>
        </p:nvSpPr>
        <p:spPr>
          <a:xfrm>
            <a:off x="10140696" y="2468880"/>
            <a:ext cx="566928" cy="566928"/>
          </a:xfrm>
          <a:prstGeom prst="roundRect">
            <a:avLst>
              <a:gd name="adj" fmla="val 14516"/>
            </a:avLst>
          </a:prstGeom>
          <a:solidFill>
            <a:srgbClr val="293352"/>
          </a:solidFill>
          <a:ln/>
        </p:spPr>
      </p:sp>
      <p:pic>
        <p:nvPicPr>
          <p:cNvPr id="24" name="Image 3" descr="preencoded.png"/>
          <p:cNvPicPr>
            <a:picLocks noChangeAspect="1"/>
          </p:cNvPicPr>
          <p:nvPr/>
        </p:nvPicPr>
        <p:blipFill>
          <a:blip r:embed="rId6"/>
          <a:stretch>
            <a:fillRect/>
          </a:stretch>
        </p:blipFill>
        <p:spPr>
          <a:xfrm>
            <a:off x="10268255" y="2596439"/>
            <a:ext cx="311810" cy="311810"/>
          </a:xfrm>
          <a:prstGeom prst="rect">
            <a:avLst/>
          </a:prstGeom>
        </p:spPr>
      </p:pic>
      <p:sp>
        <p:nvSpPr>
          <p:cNvPr id="25" name="Text 19"/>
          <p:cNvSpPr/>
          <p:nvPr/>
        </p:nvSpPr>
        <p:spPr>
          <a:xfrm>
            <a:off x="9372600" y="3200400"/>
            <a:ext cx="2103120" cy="548640"/>
          </a:xfrm>
          <a:prstGeom prst="rect">
            <a:avLst/>
          </a:prstGeom>
          <a:noFill/>
          <a:ln/>
        </p:spPr>
        <p:txBody>
          <a:bodyPr wrap="square" lIns="0" tIns="0" rIns="0" bIns="0" rtlCol="0" anchor="t"/>
          <a:lstStyle/>
          <a:p>
            <a:pPr marL="0" indent="0" algn="ctr">
              <a:buNone/>
            </a:pPr>
            <a:r>
              <a:rPr lang="en-US" sz="1500" b="1" dirty="0">
                <a:solidFill>
                  <a:srgbClr val="293352"/>
                </a:solidFill>
                <a:latin typeface="Arial" pitchFamily="34" charset="0"/>
                <a:ea typeface="Arial" pitchFamily="34" charset="-122"/>
                <a:cs typeface="Arial" pitchFamily="34" charset="-120"/>
              </a:rPr>
              <a:t>D  Compare</a:t>
            </a:r>
            <a:endParaRPr lang="en-US" sz="1500" dirty="0"/>
          </a:p>
        </p:txBody>
      </p:sp>
      <p:sp>
        <p:nvSpPr>
          <p:cNvPr id="26" name="Text 20"/>
          <p:cNvSpPr/>
          <p:nvPr/>
        </p:nvSpPr>
        <p:spPr>
          <a:xfrm>
            <a:off x="9418320" y="3703320"/>
            <a:ext cx="2011680" cy="822960"/>
          </a:xfrm>
          <a:prstGeom prst="rect">
            <a:avLst/>
          </a:prstGeom>
          <a:noFill/>
          <a:ln/>
        </p:spPr>
        <p:txBody>
          <a:bodyPr wrap="square" lIns="0" tIns="0" rIns="0" bIns="0" rtlCol="0" anchor="t"/>
          <a:lstStyle/>
          <a:p>
            <a:pPr marL="0" indent="0" algn="ctr">
              <a:buNone/>
            </a:pPr>
            <a:r>
              <a:rPr lang="en-US" sz="1150" dirty="0">
                <a:solidFill>
                  <a:srgbClr val="1E1E1E"/>
                </a:solidFill>
                <a:latin typeface="Arial" pitchFamily="34" charset="0"/>
                <a:ea typeface="Arial" pitchFamily="34" charset="-122"/>
                <a:cs typeface="Arial" pitchFamily="34" charset="-120"/>
              </a:rPr>
              <a:t>Benchmark, then export for the LLM</a:t>
            </a:r>
            <a:endParaRPr lang="en-US" sz="1150" dirty="0"/>
          </a:p>
        </p:txBody>
      </p:sp>
      <p:sp>
        <p:nvSpPr>
          <p:cNvPr id="27" name="Text 21"/>
          <p:cNvSpPr/>
          <p:nvPr/>
        </p:nvSpPr>
        <p:spPr>
          <a:xfrm>
            <a:off x="640080" y="5120640"/>
            <a:ext cx="10881360" cy="548640"/>
          </a:xfrm>
          <a:prstGeom prst="rect">
            <a:avLst/>
          </a:prstGeom>
          <a:noFill/>
          <a:ln/>
        </p:spPr>
        <p:txBody>
          <a:bodyPr wrap="square" lIns="0" tIns="0" rIns="0" bIns="0" rtlCol="0" anchor="ctr"/>
          <a:lstStyle/>
          <a:p>
            <a:pPr marL="0" indent="0" algn="ctr">
              <a:buNone/>
            </a:pPr>
            <a:r>
              <a:rPr lang="en-US" sz="1400" i="1" dirty="0">
                <a:solidFill>
                  <a:srgbClr val="8996A0"/>
                </a:solidFill>
                <a:latin typeface="Arial" pitchFamily="34" charset="0"/>
                <a:ea typeface="Arial" pitchFamily="34" charset="-122"/>
                <a:cs typeface="Arial" pitchFamily="34" charset="-120"/>
              </a:rPr>
              <a:t>Course principle throughout: R does the math examples, then SPA uses </a:t>
            </a:r>
            <a:r>
              <a:rPr lang="en-US" sz="1400" i="1" dirty="0" err="1">
                <a:solidFill>
                  <a:srgbClr val="8996A0"/>
                </a:solidFill>
                <a:latin typeface="Arial" pitchFamily="34" charset="0"/>
                <a:ea typeface="Arial" pitchFamily="34" charset="-122"/>
                <a:cs typeface="Arial" pitchFamily="34" charset="-120"/>
              </a:rPr>
              <a:t>javascript</a:t>
            </a:r>
            <a:r>
              <a:rPr lang="en-US" sz="1400" i="1" dirty="0">
                <a:solidFill>
                  <a:srgbClr val="8996A0"/>
                </a:solidFill>
                <a:latin typeface="Arial" pitchFamily="34" charset="0"/>
                <a:ea typeface="Arial" pitchFamily="34" charset="-122"/>
                <a:cs typeface="Arial" pitchFamily="34" charset="-120"/>
              </a:rPr>
              <a:t> to calculate and the LLM only interprets.</a:t>
            </a:r>
            <a:endParaRPr lang="en-US" sz="1400" dirty="0"/>
          </a:p>
        </p:txBody>
      </p:sp>
      <p:sp>
        <p:nvSpPr>
          <p:cNvPr id="28"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29" name="Harvard Page Number"/>
          <p:cNvSpPr txBox="1"/>
          <p:nvPr/>
        </p:nvSpPr>
        <p:spPr>
          <a:xfrm>
            <a:off x="11801189" y="6446043"/>
            <a:ext cx="253492" cy="274638"/>
          </a:xfrm>
          <a:prstGeom prst="rect">
            <a:avLst/>
          </a:prstGeom>
          <a:noFill/>
        </p:spPr>
        <p:txBody>
          <a:bodyPr wrap="none" lIns="0" tIns="0" rIns="0" bIns="0">
            <a:noAutofit/>
          </a:bodyPr>
          <a:lstStyle/>
          <a:p>
            <a:pPr algn="r"/>
            <a:fld id="{C4EF68A7-1299-4021-B74B-E4F4068413EB}" type="slidenum">
              <a:rPr lang="en-US" sz="1000">
                <a:solidFill>
                  <a:srgbClr val="8996A0"/>
                </a:solidFill>
                <a:latin typeface="Arial"/>
              </a:rPr>
              <a:t>3</a:t>
            </a:fld>
            <a:endParaRPr lang="en-US" sz="1000">
              <a:solidFill>
                <a:srgbClr val="8996A0"/>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marL="0" indent="0">
              <a:buNone/>
            </a:pPr>
            <a:r>
              <a:rPr lang="en-US" sz="1200" b="1" kern="0" spc="200" dirty="0">
                <a:solidFill>
                  <a:srgbClr val="A51C30"/>
                </a:solidFill>
                <a:latin typeface="Arial" pitchFamily="34" charset="0"/>
                <a:ea typeface="Arial" pitchFamily="34" charset="-122"/>
                <a:cs typeface="Arial" pitchFamily="34" charset="-120"/>
              </a:rPr>
              <a:t>DATA PREPARATION</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marL="0" indent="0">
              <a:buNone/>
            </a:pPr>
            <a:r>
              <a:rPr lang="en-US" sz="2800" b="1" dirty="0">
                <a:solidFill>
                  <a:srgbClr val="1E1E1E"/>
                </a:solidFill>
                <a:latin typeface="Arial" pitchFamily="34" charset="0"/>
                <a:ea typeface="Arial" pitchFamily="34" charset="-122"/>
                <a:cs typeface="Arial" pitchFamily="34" charset="-120"/>
              </a:rPr>
              <a:t>Script A: from prices to returns</a:t>
            </a:r>
            <a:endParaRPr lang="en-US" sz="2800" dirty="0"/>
          </a:p>
        </p:txBody>
      </p:sp>
      <p:sp>
        <p:nvSpPr>
          <p:cNvPr id="4" name="Shape 2"/>
          <p:cNvSpPr/>
          <p:nvPr/>
        </p:nvSpPr>
        <p:spPr>
          <a:xfrm>
            <a:off x="640080" y="1600200"/>
            <a:ext cx="3749040" cy="3977640"/>
          </a:xfrm>
          <a:prstGeom prst="roundRect">
            <a:avLst>
              <a:gd name="adj" fmla="val 1951"/>
            </a:avLst>
          </a:prstGeom>
          <a:solidFill>
            <a:srgbClr val="293352"/>
          </a:solidFill>
          <a:ln/>
        </p:spPr>
      </p:sp>
      <p:sp>
        <p:nvSpPr>
          <p:cNvPr id="5" name="Shape 3"/>
          <p:cNvSpPr/>
          <p:nvPr/>
        </p:nvSpPr>
        <p:spPr>
          <a:xfrm>
            <a:off x="914400" y="1874520"/>
            <a:ext cx="640080" cy="640080"/>
          </a:xfrm>
          <a:prstGeom prst="roundRect">
            <a:avLst>
              <a:gd name="adj" fmla="val 12857"/>
            </a:avLst>
          </a:prstGeom>
          <a:solidFill>
            <a:srgbClr val="A51C30"/>
          </a:solidFill>
          <a:ln/>
        </p:spPr>
      </p:sp>
      <p:pic>
        <p:nvPicPr>
          <p:cNvPr id="6" name="Image 0" descr="preencoded.png"/>
          <p:cNvPicPr>
            <a:picLocks noChangeAspect="1"/>
          </p:cNvPicPr>
          <p:nvPr/>
        </p:nvPicPr>
        <p:blipFill>
          <a:blip r:embed="rId3"/>
          <a:stretch>
            <a:fillRect/>
          </a:stretch>
        </p:blipFill>
        <p:spPr>
          <a:xfrm>
            <a:off x="1058418" y="2018538"/>
            <a:ext cx="352044" cy="352044"/>
          </a:xfrm>
          <a:prstGeom prst="rect">
            <a:avLst/>
          </a:prstGeom>
        </p:spPr>
      </p:pic>
      <p:sp>
        <p:nvSpPr>
          <p:cNvPr id="7" name="Text 4"/>
          <p:cNvSpPr/>
          <p:nvPr/>
        </p:nvSpPr>
        <p:spPr>
          <a:xfrm>
            <a:off x="914400" y="2697480"/>
            <a:ext cx="3200400" cy="1188720"/>
          </a:xfrm>
          <a:prstGeom prst="rect">
            <a:avLst/>
          </a:prstGeom>
          <a:noFill/>
          <a:ln/>
        </p:spPr>
        <p:txBody>
          <a:bodyPr wrap="square" lIns="0" tIns="0" rIns="0" bIns="0" rtlCol="0" anchor="t"/>
          <a:lstStyle/>
          <a:p>
            <a:pPr marL="0" indent="0">
              <a:buNone/>
            </a:pPr>
            <a:r>
              <a:rPr lang="en-US" sz="2200" b="1" dirty="0">
                <a:solidFill>
                  <a:srgbClr val="FFFFFF"/>
                </a:solidFill>
                <a:latin typeface="Arial" pitchFamily="34" charset="0"/>
                <a:ea typeface="Arial" pitchFamily="34" charset="-122"/>
                <a:cs typeface="Arial" pitchFamily="34" charset="-120"/>
              </a:rPr>
              <a:t>Prices become returns</a:t>
            </a:r>
            <a:endParaRPr lang="en-US" sz="2200" dirty="0"/>
          </a:p>
        </p:txBody>
      </p:sp>
      <p:sp>
        <p:nvSpPr>
          <p:cNvPr id="8" name="Text 5"/>
          <p:cNvSpPr/>
          <p:nvPr/>
        </p:nvSpPr>
        <p:spPr>
          <a:xfrm>
            <a:off x="914400" y="3931920"/>
            <a:ext cx="3200400" cy="1371600"/>
          </a:xfrm>
          <a:prstGeom prst="rect">
            <a:avLst/>
          </a:prstGeom>
          <a:noFill/>
          <a:ln/>
        </p:spPr>
        <p:txBody>
          <a:bodyPr wrap="square" lIns="0" tIns="0" rIns="0" bIns="0" rtlCol="0" anchor="t"/>
          <a:lstStyle/>
          <a:p>
            <a:pPr marL="0" indent="0">
              <a:buNone/>
            </a:pPr>
            <a:r>
              <a:rPr lang="en-US" sz="1350" dirty="0">
                <a:solidFill>
                  <a:srgbClr val="F3F3F1"/>
                </a:solidFill>
                <a:latin typeface="Arial" pitchFamily="34" charset="0"/>
                <a:ea typeface="Arial" pitchFamily="34" charset="-122"/>
                <a:cs typeface="Arial" pitchFamily="34" charset="-120"/>
              </a:rPr>
              <a:t>Returns are comparable across stocks and are exactly what the optimizer needs.</a:t>
            </a:r>
            <a:endParaRPr lang="en-US" sz="1350" dirty="0"/>
          </a:p>
        </p:txBody>
      </p:sp>
      <p:sp>
        <p:nvSpPr>
          <p:cNvPr id="9" name="Shape 6"/>
          <p:cNvSpPr/>
          <p:nvPr/>
        </p:nvSpPr>
        <p:spPr>
          <a:xfrm>
            <a:off x="4663440" y="1600200"/>
            <a:ext cx="6858000" cy="1207008"/>
          </a:xfrm>
          <a:prstGeom prst="roundRect">
            <a:avLst>
              <a:gd name="adj" fmla="val 4545"/>
            </a:avLst>
          </a:prstGeom>
          <a:solidFill>
            <a:srgbClr val="F3F3F1"/>
          </a:solidFill>
          <a:ln/>
        </p:spPr>
      </p:sp>
      <p:sp>
        <p:nvSpPr>
          <p:cNvPr id="10" name="Shape 7"/>
          <p:cNvSpPr/>
          <p:nvPr/>
        </p:nvSpPr>
        <p:spPr>
          <a:xfrm>
            <a:off x="4892040" y="1952244"/>
            <a:ext cx="502920" cy="502920"/>
          </a:xfrm>
          <a:prstGeom prst="roundRect">
            <a:avLst>
              <a:gd name="adj" fmla="val 16364"/>
            </a:avLst>
          </a:prstGeom>
          <a:solidFill>
            <a:srgbClr val="A51C30"/>
          </a:solidFill>
          <a:ln/>
        </p:spPr>
      </p:sp>
      <p:pic>
        <p:nvPicPr>
          <p:cNvPr id="11" name="Image 1" descr="preencoded.png"/>
          <p:cNvPicPr>
            <a:picLocks noChangeAspect="1"/>
          </p:cNvPicPr>
          <p:nvPr/>
        </p:nvPicPr>
        <p:blipFill>
          <a:blip r:embed="rId4"/>
          <a:stretch>
            <a:fillRect/>
          </a:stretch>
        </p:blipFill>
        <p:spPr>
          <a:xfrm>
            <a:off x="5005197" y="2065401"/>
            <a:ext cx="276606" cy="276606"/>
          </a:xfrm>
          <a:prstGeom prst="rect">
            <a:avLst/>
          </a:prstGeom>
        </p:spPr>
      </p:pic>
      <p:sp>
        <p:nvSpPr>
          <p:cNvPr id="12" name="Text 8"/>
          <p:cNvSpPr/>
          <p:nvPr/>
        </p:nvSpPr>
        <p:spPr>
          <a:xfrm>
            <a:off x="5623560" y="1764792"/>
            <a:ext cx="5669280" cy="932688"/>
          </a:xfrm>
          <a:prstGeom prst="rect">
            <a:avLst/>
          </a:prstGeom>
          <a:noFill/>
          <a:ln/>
        </p:spPr>
        <p:txBody>
          <a:bodyPr wrap="square" lIns="0" tIns="0" rIns="0" bIns="0" rtlCol="0" anchor="ctr"/>
          <a:lstStyle/>
          <a:p>
            <a:pPr marL="0" indent="0">
              <a:lnSpc>
                <a:spcPct val="105000"/>
              </a:lnSpc>
              <a:buNone/>
            </a:pPr>
            <a:r>
              <a:rPr lang="en-US" sz="1500" b="1" dirty="0">
                <a:solidFill>
                  <a:srgbClr val="293352"/>
                </a:solidFill>
                <a:latin typeface="Arial" pitchFamily="34" charset="0"/>
                <a:ea typeface="Arial" pitchFamily="34" charset="-122"/>
                <a:cs typeface="Arial" pitchFamily="34" charset="-120"/>
              </a:rPr>
              <a:t>The basket
</a:t>
            </a:r>
            <a:r>
              <a:rPr lang="en-US" sz="1300" dirty="0">
                <a:solidFill>
                  <a:srgbClr val="1E1E1E"/>
                </a:solidFill>
                <a:latin typeface="Arial" pitchFamily="34" charset="0"/>
                <a:ea typeface="Arial" pitchFamily="34" charset="-122"/>
                <a:cs typeface="Arial" pitchFamily="34" charset="-120"/>
              </a:rPr>
              <a:t>AAPL, JPM, JNJ, PG, XOM. Five sectors, so diversification has something real to work with.</a:t>
            </a:r>
            <a:endParaRPr lang="en-US" sz="1500" dirty="0"/>
          </a:p>
        </p:txBody>
      </p:sp>
      <p:sp>
        <p:nvSpPr>
          <p:cNvPr id="13" name="Shape 9"/>
          <p:cNvSpPr/>
          <p:nvPr/>
        </p:nvSpPr>
        <p:spPr>
          <a:xfrm>
            <a:off x="4663440" y="2990088"/>
            <a:ext cx="6858000" cy="1207008"/>
          </a:xfrm>
          <a:prstGeom prst="roundRect">
            <a:avLst>
              <a:gd name="adj" fmla="val 4545"/>
            </a:avLst>
          </a:prstGeom>
          <a:solidFill>
            <a:srgbClr val="F3F3F1"/>
          </a:solidFill>
          <a:ln/>
        </p:spPr>
      </p:sp>
      <p:sp>
        <p:nvSpPr>
          <p:cNvPr id="14" name="Shape 10"/>
          <p:cNvSpPr/>
          <p:nvPr/>
        </p:nvSpPr>
        <p:spPr>
          <a:xfrm>
            <a:off x="4892040" y="3342132"/>
            <a:ext cx="502920" cy="502920"/>
          </a:xfrm>
          <a:prstGeom prst="roundRect">
            <a:avLst>
              <a:gd name="adj" fmla="val 16364"/>
            </a:avLst>
          </a:prstGeom>
          <a:solidFill>
            <a:srgbClr val="A51C30"/>
          </a:solidFill>
          <a:ln/>
        </p:spPr>
      </p:sp>
      <p:pic>
        <p:nvPicPr>
          <p:cNvPr id="15" name="Image 2" descr="preencoded.png"/>
          <p:cNvPicPr>
            <a:picLocks noChangeAspect="1"/>
          </p:cNvPicPr>
          <p:nvPr/>
        </p:nvPicPr>
        <p:blipFill>
          <a:blip r:embed="rId5"/>
          <a:stretch>
            <a:fillRect/>
          </a:stretch>
        </p:blipFill>
        <p:spPr>
          <a:xfrm>
            <a:off x="5005197" y="3455289"/>
            <a:ext cx="276606" cy="276606"/>
          </a:xfrm>
          <a:prstGeom prst="rect">
            <a:avLst/>
          </a:prstGeom>
        </p:spPr>
      </p:pic>
      <p:sp>
        <p:nvSpPr>
          <p:cNvPr id="16" name="Text 11"/>
          <p:cNvSpPr/>
          <p:nvPr/>
        </p:nvSpPr>
        <p:spPr>
          <a:xfrm>
            <a:off x="5623560" y="3154680"/>
            <a:ext cx="5669280" cy="932688"/>
          </a:xfrm>
          <a:prstGeom prst="rect">
            <a:avLst/>
          </a:prstGeom>
          <a:noFill/>
          <a:ln/>
        </p:spPr>
        <p:txBody>
          <a:bodyPr wrap="square" lIns="0" tIns="0" rIns="0" bIns="0" rtlCol="0" anchor="ctr"/>
          <a:lstStyle/>
          <a:p>
            <a:pPr marL="0" indent="0">
              <a:lnSpc>
                <a:spcPct val="105000"/>
              </a:lnSpc>
              <a:buNone/>
            </a:pPr>
            <a:r>
              <a:rPr lang="en-US" sz="1500" b="1" dirty="0">
                <a:solidFill>
                  <a:srgbClr val="293352"/>
                </a:solidFill>
                <a:latin typeface="Arial" pitchFamily="34" charset="0"/>
                <a:ea typeface="Arial" pitchFamily="34" charset="-122"/>
                <a:cs typeface="Arial" pitchFamily="34" charset="-120"/>
              </a:rPr>
              <a:t>SPY benchmark
</a:t>
            </a:r>
            <a:r>
              <a:rPr lang="en-US" sz="1300" dirty="0">
                <a:solidFill>
                  <a:srgbClr val="1E1E1E"/>
                </a:solidFill>
                <a:latin typeface="Arial" pitchFamily="34" charset="0"/>
                <a:ea typeface="Arial" pitchFamily="34" charset="-122"/>
                <a:cs typeface="Arial" pitchFamily="34" charset="-120"/>
              </a:rPr>
              <a:t>Fetched as the market reference for rolling beta in Hour 2, kept out of the optimization.</a:t>
            </a:r>
            <a:endParaRPr lang="en-US" sz="1500" dirty="0"/>
          </a:p>
        </p:txBody>
      </p:sp>
      <p:sp>
        <p:nvSpPr>
          <p:cNvPr id="17" name="Shape 12"/>
          <p:cNvSpPr/>
          <p:nvPr/>
        </p:nvSpPr>
        <p:spPr>
          <a:xfrm>
            <a:off x="4663440" y="4379975"/>
            <a:ext cx="6858000" cy="2340705"/>
          </a:xfrm>
          <a:prstGeom prst="roundRect">
            <a:avLst>
              <a:gd name="adj" fmla="val 4545"/>
            </a:avLst>
          </a:prstGeom>
          <a:solidFill>
            <a:srgbClr val="F3F3F1"/>
          </a:solidFill>
          <a:ln/>
        </p:spPr>
      </p:sp>
      <p:sp>
        <p:nvSpPr>
          <p:cNvPr id="18" name="Shape 13"/>
          <p:cNvSpPr/>
          <p:nvPr/>
        </p:nvSpPr>
        <p:spPr>
          <a:xfrm>
            <a:off x="4892040" y="4732020"/>
            <a:ext cx="502920" cy="502920"/>
          </a:xfrm>
          <a:prstGeom prst="roundRect">
            <a:avLst>
              <a:gd name="adj" fmla="val 16364"/>
            </a:avLst>
          </a:prstGeom>
          <a:solidFill>
            <a:srgbClr val="A51C30"/>
          </a:solidFill>
          <a:ln/>
        </p:spPr>
      </p:sp>
      <p:pic>
        <p:nvPicPr>
          <p:cNvPr id="19" name="Image 3" descr="preencoded.png"/>
          <p:cNvPicPr>
            <a:picLocks noChangeAspect="1"/>
          </p:cNvPicPr>
          <p:nvPr/>
        </p:nvPicPr>
        <p:blipFill>
          <a:blip r:embed="rId6"/>
          <a:stretch>
            <a:fillRect/>
          </a:stretch>
        </p:blipFill>
        <p:spPr>
          <a:xfrm>
            <a:off x="5005197" y="4845177"/>
            <a:ext cx="276606" cy="276606"/>
          </a:xfrm>
          <a:prstGeom prst="rect">
            <a:avLst/>
          </a:prstGeom>
        </p:spPr>
      </p:pic>
      <p:sp>
        <p:nvSpPr>
          <p:cNvPr id="20" name="Text 14"/>
          <p:cNvSpPr/>
          <p:nvPr/>
        </p:nvSpPr>
        <p:spPr>
          <a:xfrm>
            <a:off x="5623560" y="4421071"/>
            <a:ext cx="5669280" cy="2246855"/>
          </a:xfrm>
          <a:prstGeom prst="rect">
            <a:avLst/>
          </a:prstGeom>
          <a:noFill/>
          <a:ln/>
        </p:spPr>
        <p:txBody>
          <a:bodyPr wrap="square" lIns="0" tIns="0" rIns="0" bIns="0" rtlCol="0" anchor="ctr"/>
          <a:lstStyle/>
          <a:p>
            <a:pPr marL="0" indent="0">
              <a:lnSpc>
                <a:spcPct val="105000"/>
              </a:lnSpc>
              <a:buNone/>
            </a:pPr>
            <a:r>
              <a:rPr lang="en-US" sz="1400" b="1" dirty="0">
                <a:solidFill>
                  <a:srgbClr val="293352"/>
                </a:solidFill>
                <a:latin typeface="Arial" pitchFamily="34" charset="0"/>
                <a:ea typeface="Arial" pitchFamily="34" charset="-122"/>
                <a:cs typeface="Arial" pitchFamily="34" charset="-120"/>
              </a:rPr>
              <a:t>Simple returns, saved once
</a:t>
            </a:r>
            <a:r>
              <a:rPr lang="en-US" sz="1200" dirty="0">
                <a:solidFill>
                  <a:srgbClr val="1E1E1E"/>
                </a:solidFill>
                <a:latin typeface="Arial" pitchFamily="34" charset="0"/>
                <a:ea typeface="Arial" pitchFamily="34" charset="-122"/>
                <a:cs typeface="Arial" pitchFamily="34" charset="-120"/>
              </a:rPr>
              <a:t>Weights times returns equals portfolio return. A saves clean data so nothing re-fetches.</a:t>
            </a:r>
          </a:p>
          <a:p>
            <a:pPr marL="0" indent="0">
              <a:lnSpc>
                <a:spcPct val="105000"/>
              </a:lnSpc>
              <a:buNone/>
            </a:pPr>
            <a:endParaRPr lang="en-US" sz="1200" dirty="0">
              <a:solidFill>
                <a:srgbClr val="1E1E1E"/>
              </a:solidFill>
              <a:latin typeface="Arial" pitchFamily="34" charset="0"/>
              <a:ea typeface="Arial" pitchFamily="34" charset="-122"/>
              <a:cs typeface="Arial" pitchFamily="34" charset="-120"/>
            </a:endParaRPr>
          </a:p>
          <a:p>
            <a:pPr>
              <a:lnSpc>
                <a:spcPct val="105000"/>
              </a:lnSpc>
            </a:pPr>
            <a:r>
              <a:rPr lang="en-US" sz="1200" dirty="0">
                <a:solidFill>
                  <a:srgbClr val="1E1E1E"/>
                </a:solidFill>
                <a:latin typeface="Arial" pitchFamily="34" charset="0"/>
                <a:ea typeface="Arial" pitchFamily="34" charset="-122"/>
                <a:cs typeface="Arial" pitchFamily="34" charset="-120"/>
              </a:rPr>
              <a:t>Discrete Returns</a:t>
            </a:r>
            <a:endParaRPr lang="en-US" sz="1200" dirty="0">
              <a:solidFill>
                <a:srgbClr val="1E1E1E"/>
              </a:solidFill>
              <a:latin typeface="Arial" pitchFamily="34" charset="0"/>
              <a:cs typeface="Arial" pitchFamily="34" charset="-120"/>
            </a:endParaRPr>
          </a:p>
          <a:p>
            <a:pPr>
              <a:lnSpc>
                <a:spcPct val="105000"/>
              </a:lnSpc>
            </a:pPr>
            <a:r>
              <a:rPr lang="en-US" sz="1200" dirty="0">
                <a:solidFill>
                  <a:srgbClr val="1E1E1E"/>
                </a:solidFill>
                <a:latin typeface="Arial" pitchFamily="34" charset="0"/>
                <a:cs typeface="Arial" pitchFamily="34" charset="-120"/>
              </a:rPr>
              <a:t>Formula: (Today's Price - Yesterday's Price) / Yesterday's Price</a:t>
            </a:r>
          </a:p>
          <a:p>
            <a:pPr>
              <a:lnSpc>
                <a:spcPct val="105000"/>
              </a:lnSpc>
            </a:pPr>
            <a:r>
              <a:rPr lang="en-US" sz="1200" dirty="0">
                <a:solidFill>
                  <a:srgbClr val="1E1E1E"/>
                </a:solidFill>
                <a:latin typeface="Arial" pitchFamily="34" charset="0"/>
                <a:cs typeface="Arial" pitchFamily="34" charset="-120"/>
              </a:rPr>
              <a:t>Example: Going from $100 to $105 is a 5% simple return.</a:t>
            </a:r>
          </a:p>
          <a:p>
            <a:pPr>
              <a:lnSpc>
                <a:spcPct val="105000"/>
              </a:lnSpc>
            </a:pPr>
            <a:endParaRPr lang="en-US" sz="1200" dirty="0">
              <a:solidFill>
                <a:srgbClr val="1E1E1E"/>
              </a:solidFill>
              <a:latin typeface="Arial" pitchFamily="34" charset="0"/>
              <a:cs typeface="Arial" pitchFamily="34" charset="-120"/>
            </a:endParaRPr>
          </a:p>
          <a:p>
            <a:pPr>
              <a:lnSpc>
                <a:spcPct val="105000"/>
              </a:lnSpc>
            </a:pPr>
            <a:r>
              <a:rPr lang="en-US" sz="1200" dirty="0">
                <a:solidFill>
                  <a:srgbClr val="1E1E1E"/>
                </a:solidFill>
                <a:latin typeface="Arial" pitchFamily="34" charset="0"/>
                <a:cs typeface="Arial" pitchFamily="34" charset="-120"/>
              </a:rPr>
              <a:t>*Another way to calculate is “log” returns which is often used outside of portfolio optimization</a:t>
            </a:r>
            <a:br>
              <a:rPr lang="en-US" sz="1200" dirty="0">
                <a:solidFill>
                  <a:srgbClr val="1E1E1E"/>
                </a:solidFill>
                <a:latin typeface="Arial" pitchFamily="34" charset="0"/>
                <a:cs typeface="Arial" pitchFamily="34" charset="-120"/>
              </a:rPr>
            </a:br>
            <a:r>
              <a:rPr lang="en-US" sz="1200" dirty="0">
                <a:solidFill>
                  <a:srgbClr val="1E1E1E"/>
                </a:solidFill>
                <a:latin typeface="Arial" pitchFamily="34" charset="0"/>
                <a:cs typeface="Arial" pitchFamily="34" charset="-120"/>
              </a:rPr>
              <a:t>log(105/100) = .0488 or 4.88%</a:t>
            </a:r>
          </a:p>
        </p:txBody>
      </p:sp>
      <p:sp>
        <p:nvSpPr>
          <p:cNvPr id="21"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22" name="Harvard Page Number"/>
          <p:cNvSpPr txBox="1"/>
          <p:nvPr/>
        </p:nvSpPr>
        <p:spPr>
          <a:xfrm>
            <a:off x="11801189" y="6446043"/>
            <a:ext cx="253492" cy="274638"/>
          </a:xfrm>
          <a:prstGeom prst="rect">
            <a:avLst/>
          </a:prstGeom>
          <a:noFill/>
        </p:spPr>
        <p:txBody>
          <a:bodyPr wrap="none" lIns="0" tIns="0" rIns="0" bIns="0">
            <a:noAutofit/>
          </a:bodyPr>
          <a:lstStyle/>
          <a:p>
            <a:pPr algn="r"/>
            <a:fld id="{DB0F5BBB-1E90-4364-A91F-BE1F42E435C8}" type="slidenum">
              <a:rPr lang="en-US" sz="1000">
                <a:solidFill>
                  <a:srgbClr val="8996A0"/>
                </a:solidFill>
                <a:latin typeface="Arial"/>
              </a:rPr>
              <a:t>4</a:t>
            </a:fld>
            <a:endParaRPr lang="en-US" sz="1000">
              <a:solidFill>
                <a:srgbClr val="8996A0"/>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marL="0" indent="0">
              <a:buNone/>
            </a:pPr>
            <a:r>
              <a:rPr lang="en-US" sz="1200" b="1" kern="0" spc="200" dirty="0">
                <a:solidFill>
                  <a:srgbClr val="A51C30"/>
                </a:solidFill>
                <a:latin typeface="Arial" pitchFamily="34" charset="0"/>
                <a:ea typeface="Arial" pitchFamily="34" charset="-122"/>
                <a:cs typeface="Arial" pitchFamily="34" charset="-120"/>
              </a:rPr>
              <a:t>LIVE IN RSTUDIO</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marL="0" indent="0">
              <a:buNone/>
            </a:pPr>
            <a:r>
              <a:rPr lang="en-US" sz="2800" b="1" dirty="0">
                <a:solidFill>
                  <a:srgbClr val="1E1E1E"/>
                </a:solidFill>
                <a:latin typeface="Arial" pitchFamily="34" charset="0"/>
                <a:ea typeface="Arial" pitchFamily="34" charset="-122"/>
                <a:cs typeface="Arial" pitchFamily="34" charset="-120"/>
              </a:rPr>
              <a:t>Script A: run it</a:t>
            </a:r>
            <a:endParaRPr lang="en-US" sz="2800" dirty="0"/>
          </a:p>
        </p:txBody>
      </p:sp>
      <p:sp>
        <p:nvSpPr>
          <p:cNvPr id="4" name="Shape 2"/>
          <p:cNvSpPr/>
          <p:nvPr/>
        </p:nvSpPr>
        <p:spPr>
          <a:xfrm>
            <a:off x="640080" y="1600200"/>
            <a:ext cx="10881360" cy="3611880"/>
          </a:xfrm>
          <a:prstGeom prst="roundRect">
            <a:avLst>
              <a:gd name="adj" fmla="val 1519"/>
            </a:avLst>
          </a:prstGeom>
          <a:solidFill>
            <a:srgbClr val="1E1E1E"/>
          </a:solidFill>
          <a:ln/>
        </p:spPr>
      </p:sp>
      <p:sp>
        <p:nvSpPr>
          <p:cNvPr id="5" name="Shape 3"/>
          <p:cNvSpPr/>
          <p:nvPr/>
        </p:nvSpPr>
        <p:spPr>
          <a:xfrm>
            <a:off x="914400" y="1828800"/>
            <a:ext cx="146304" cy="146304"/>
          </a:xfrm>
          <a:prstGeom prst="ellipse">
            <a:avLst/>
          </a:prstGeom>
          <a:solidFill>
            <a:srgbClr val="A51C30"/>
          </a:solidFill>
          <a:ln/>
        </p:spPr>
      </p:sp>
      <p:sp>
        <p:nvSpPr>
          <p:cNvPr id="6" name="Shape 4"/>
          <p:cNvSpPr/>
          <p:nvPr/>
        </p:nvSpPr>
        <p:spPr>
          <a:xfrm>
            <a:off x="1170432" y="1828800"/>
            <a:ext cx="146304" cy="146304"/>
          </a:xfrm>
          <a:prstGeom prst="ellipse">
            <a:avLst/>
          </a:prstGeom>
          <a:solidFill>
            <a:srgbClr val="C4961A"/>
          </a:solidFill>
          <a:ln/>
        </p:spPr>
      </p:sp>
      <p:sp>
        <p:nvSpPr>
          <p:cNvPr id="7" name="Shape 5"/>
          <p:cNvSpPr/>
          <p:nvPr/>
        </p:nvSpPr>
        <p:spPr>
          <a:xfrm>
            <a:off x="1426464" y="1828800"/>
            <a:ext cx="146304" cy="146304"/>
          </a:xfrm>
          <a:prstGeom prst="ellipse">
            <a:avLst/>
          </a:prstGeom>
          <a:solidFill>
            <a:srgbClr val="1D9E75"/>
          </a:solidFill>
          <a:ln/>
        </p:spPr>
      </p:sp>
      <p:sp>
        <p:nvSpPr>
          <p:cNvPr id="8" name="Text 6"/>
          <p:cNvSpPr/>
          <p:nvPr/>
        </p:nvSpPr>
        <p:spPr>
          <a:xfrm>
            <a:off x="2011680" y="1764792"/>
            <a:ext cx="5486400" cy="274320"/>
          </a:xfrm>
          <a:prstGeom prst="rect">
            <a:avLst/>
          </a:prstGeom>
          <a:noFill/>
          <a:ln/>
        </p:spPr>
        <p:txBody>
          <a:bodyPr wrap="square" lIns="0" tIns="0" rIns="0" bIns="0" rtlCol="0" anchor="ctr"/>
          <a:lstStyle/>
          <a:p>
            <a:pPr marL="0" indent="0">
              <a:buNone/>
            </a:pPr>
            <a:r>
              <a:rPr lang="en-US" sz="1100" b="1" kern="0" spc="200" dirty="0">
                <a:solidFill>
                  <a:srgbClr val="8996A0"/>
                </a:solidFill>
                <a:latin typeface="Arial" pitchFamily="34" charset="0"/>
                <a:ea typeface="Arial" pitchFamily="34" charset="-122"/>
                <a:cs typeface="Arial" pitchFamily="34" charset="-120"/>
              </a:rPr>
              <a:t>LIVE CODE STEP THROUGH</a:t>
            </a:r>
            <a:endParaRPr lang="en-US" sz="1100" dirty="0"/>
          </a:p>
        </p:txBody>
      </p:sp>
      <p:sp>
        <p:nvSpPr>
          <p:cNvPr id="9" name="Text 7"/>
          <p:cNvSpPr/>
          <p:nvPr/>
        </p:nvSpPr>
        <p:spPr>
          <a:xfrm>
            <a:off x="914400" y="2331720"/>
            <a:ext cx="10332720" cy="685800"/>
          </a:xfrm>
          <a:prstGeom prst="rect">
            <a:avLst/>
          </a:prstGeom>
          <a:noFill/>
          <a:ln/>
        </p:spPr>
        <p:txBody>
          <a:bodyPr wrap="square" lIns="0" tIns="0" rIns="0" bIns="0" rtlCol="0" anchor="t"/>
          <a:lstStyle/>
          <a:p>
            <a:pPr marL="0" indent="0">
              <a:lnSpc>
                <a:spcPct val="100000"/>
              </a:lnSpc>
              <a:buNone/>
            </a:pPr>
            <a:r>
              <a:rPr lang="en-US" sz="1500" b="1" dirty="0">
                <a:solidFill>
                  <a:srgbClr val="4E84C4"/>
                </a:solidFill>
                <a:latin typeface="Arial" pitchFamily="34" charset="0"/>
                <a:ea typeface="Arial" pitchFamily="34" charset="-122"/>
                <a:cs typeface="Arial" pitchFamily="34" charset="-120"/>
              </a:rPr>
              <a:t>&gt; </a:t>
            </a:r>
            <a:r>
              <a:rPr lang="en-US" sz="1500" dirty="0">
                <a:solidFill>
                  <a:srgbClr val="F3F3F1"/>
                </a:solidFill>
                <a:latin typeface="Arial" pitchFamily="34" charset="0"/>
                <a:ea typeface="Arial" pitchFamily="34" charset="-122"/>
                <a:cs typeface="Arial" pitchFamily="34" charset="-120"/>
              </a:rPr>
              <a:t>Fetch from Yahoo, inspect one raw ticker object, extract adjusted close.</a:t>
            </a:r>
            <a:endParaRPr lang="en-US" sz="1500" dirty="0"/>
          </a:p>
        </p:txBody>
      </p:sp>
      <p:sp>
        <p:nvSpPr>
          <p:cNvPr id="10" name="Text 8"/>
          <p:cNvSpPr/>
          <p:nvPr/>
        </p:nvSpPr>
        <p:spPr>
          <a:xfrm>
            <a:off x="914400" y="3172968"/>
            <a:ext cx="10332720" cy="685800"/>
          </a:xfrm>
          <a:prstGeom prst="rect">
            <a:avLst/>
          </a:prstGeom>
          <a:noFill/>
          <a:ln/>
        </p:spPr>
        <p:txBody>
          <a:bodyPr wrap="square" lIns="0" tIns="0" rIns="0" bIns="0" rtlCol="0" anchor="t"/>
          <a:lstStyle/>
          <a:p>
            <a:pPr marL="0" indent="0">
              <a:lnSpc>
                <a:spcPct val="100000"/>
              </a:lnSpc>
              <a:buNone/>
            </a:pPr>
            <a:r>
              <a:rPr lang="en-US" sz="1500" b="1" dirty="0">
                <a:solidFill>
                  <a:srgbClr val="4E84C4"/>
                </a:solidFill>
                <a:latin typeface="Arial" pitchFamily="34" charset="0"/>
                <a:ea typeface="Arial" pitchFamily="34" charset="-122"/>
                <a:cs typeface="Arial" pitchFamily="34" charset="-120"/>
              </a:rPr>
              <a:t>&gt; </a:t>
            </a:r>
            <a:r>
              <a:rPr lang="en-US" sz="1500" dirty="0">
                <a:solidFill>
                  <a:srgbClr val="F3F3F1"/>
                </a:solidFill>
                <a:latin typeface="Arial" pitchFamily="34" charset="0"/>
                <a:ea typeface="Arial" pitchFamily="34" charset="-122"/>
                <a:cs typeface="Arial" pitchFamily="34" charset="-120"/>
              </a:rPr>
              <a:t>Run the missing data check, build the returns matrix, preview the correlation matrix.</a:t>
            </a:r>
            <a:endParaRPr lang="en-US" sz="1500" dirty="0"/>
          </a:p>
        </p:txBody>
      </p:sp>
      <p:sp>
        <p:nvSpPr>
          <p:cNvPr id="11" name="Text 9"/>
          <p:cNvSpPr/>
          <p:nvPr/>
        </p:nvSpPr>
        <p:spPr>
          <a:xfrm>
            <a:off x="914400" y="4014216"/>
            <a:ext cx="10332720" cy="685800"/>
          </a:xfrm>
          <a:prstGeom prst="rect">
            <a:avLst/>
          </a:prstGeom>
          <a:noFill/>
          <a:ln/>
        </p:spPr>
        <p:txBody>
          <a:bodyPr wrap="square" lIns="0" tIns="0" rIns="0" bIns="0" rtlCol="0" anchor="t"/>
          <a:lstStyle/>
          <a:p>
            <a:pPr marL="0" indent="0">
              <a:lnSpc>
                <a:spcPct val="100000"/>
              </a:lnSpc>
              <a:buNone/>
            </a:pPr>
            <a:r>
              <a:rPr lang="en-US" sz="1500" b="1" dirty="0">
                <a:solidFill>
                  <a:srgbClr val="4E84C4"/>
                </a:solidFill>
                <a:latin typeface="Arial" pitchFamily="34" charset="0"/>
                <a:ea typeface="Arial" pitchFamily="34" charset="-122"/>
                <a:cs typeface="Arial" pitchFamily="34" charset="-120"/>
              </a:rPr>
              <a:t>&gt; </a:t>
            </a:r>
            <a:r>
              <a:rPr lang="en-US" sz="1500" dirty="0">
                <a:solidFill>
                  <a:srgbClr val="F3F3F1"/>
                </a:solidFill>
                <a:latin typeface="Arial" pitchFamily="34" charset="0"/>
                <a:ea typeface="Arial" pitchFamily="34" charset="-122"/>
                <a:cs typeface="Arial" pitchFamily="34" charset="-120"/>
              </a:rPr>
              <a:t>Point out the saved .rds files that every downstream script reads.</a:t>
            </a:r>
            <a:endParaRPr lang="en-US" sz="1500" dirty="0"/>
          </a:p>
        </p:txBody>
      </p:sp>
      <p:sp>
        <p:nvSpPr>
          <p:cNvPr id="14"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5" name="Harvard Page Number"/>
          <p:cNvSpPr txBox="1"/>
          <p:nvPr/>
        </p:nvSpPr>
        <p:spPr>
          <a:xfrm>
            <a:off x="11801189" y="6446043"/>
            <a:ext cx="253492" cy="274638"/>
          </a:xfrm>
          <a:prstGeom prst="rect">
            <a:avLst/>
          </a:prstGeom>
          <a:noFill/>
        </p:spPr>
        <p:txBody>
          <a:bodyPr wrap="none" lIns="0" tIns="0" rIns="0" bIns="0">
            <a:noAutofit/>
          </a:bodyPr>
          <a:lstStyle/>
          <a:p>
            <a:pPr algn="r"/>
            <a:fld id="{22B0C63C-A5EB-4DE5-A91F-697DF62F2DA6}" type="slidenum">
              <a:rPr lang="en-US" sz="1000">
                <a:solidFill>
                  <a:srgbClr val="8996A0"/>
                </a:solidFill>
                <a:latin typeface="Arial"/>
              </a:rPr>
              <a:t>5</a:t>
            </a:fld>
            <a:endParaRPr lang="en-US" sz="1000">
              <a:solidFill>
                <a:srgbClr val="8996A0"/>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marL="0" indent="0">
              <a:buNone/>
            </a:pPr>
            <a:r>
              <a:rPr lang="en-US" sz="1200" b="1" kern="0" spc="200" dirty="0">
                <a:solidFill>
                  <a:srgbClr val="A51C30"/>
                </a:solidFill>
                <a:latin typeface="Arial" pitchFamily="34" charset="0"/>
                <a:ea typeface="Arial" pitchFamily="34" charset="-122"/>
                <a:cs typeface="Arial" pitchFamily="34" charset="-120"/>
              </a:rPr>
              <a:t>THE CALMEST PORTFOLIO</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marL="0" indent="0">
              <a:buNone/>
            </a:pPr>
            <a:r>
              <a:rPr lang="en-US" sz="2800" b="1" dirty="0">
                <a:solidFill>
                  <a:srgbClr val="1E1E1E"/>
                </a:solidFill>
                <a:latin typeface="Arial" pitchFamily="34" charset="0"/>
                <a:ea typeface="Arial" pitchFamily="34" charset="-122"/>
                <a:cs typeface="Arial" pitchFamily="34" charset="-120"/>
              </a:rPr>
              <a:t>Script B: minimum variance</a:t>
            </a:r>
            <a:endParaRPr lang="en-US" sz="2800" dirty="0"/>
          </a:p>
        </p:txBody>
      </p:sp>
      <p:sp>
        <p:nvSpPr>
          <p:cNvPr id="4" name="Shape 2"/>
          <p:cNvSpPr/>
          <p:nvPr/>
        </p:nvSpPr>
        <p:spPr>
          <a:xfrm>
            <a:off x="640080" y="1600200"/>
            <a:ext cx="5257800" cy="1965960"/>
          </a:xfrm>
          <a:prstGeom prst="roundRect">
            <a:avLst>
              <a:gd name="adj" fmla="val 2791"/>
            </a:avLst>
          </a:prstGeom>
          <a:solidFill>
            <a:srgbClr val="F3F3F1"/>
          </a:solidFill>
          <a:ln/>
        </p:spPr>
      </p:sp>
      <p:sp>
        <p:nvSpPr>
          <p:cNvPr id="5" name="Shape 3"/>
          <p:cNvSpPr/>
          <p:nvPr/>
        </p:nvSpPr>
        <p:spPr>
          <a:xfrm>
            <a:off x="914400" y="1874520"/>
            <a:ext cx="548640" cy="548640"/>
          </a:xfrm>
          <a:prstGeom prst="roundRect">
            <a:avLst>
              <a:gd name="adj" fmla="val 15000"/>
            </a:avLst>
          </a:prstGeom>
          <a:solidFill>
            <a:srgbClr val="293352"/>
          </a:solidFill>
          <a:ln/>
        </p:spPr>
      </p:sp>
      <p:pic>
        <p:nvPicPr>
          <p:cNvPr id="6" name="Image 0" descr="preencoded.png"/>
          <p:cNvPicPr>
            <a:picLocks noChangeAspect="1"/>
          </p:cNvPicPr>
          <p:nvPr/>
        </p:nvPicPr>
        <p:blipFill>
          <a:blip r:embed="rId3"/>
          <a:stretch>
            <a:fillRect/>
          </a:stretch>
        </p:blipFill>
        <p:spPr>
          <a:xfrm>
            <a:off x="1037844" y="1997964"/>
            <a:ext cx="301752" cy="301752"/>
          </a:xfrm>
          <a:prstGeom prst="rect">
            <a:avLst/>
          </a:prstGeom>
        </p:spPr>
      </p:pic>
      <p:sp>
        <p:nvSpPr>
          <p:cNvPr id="7" name="Text 4"/>
          <p:cNvSpPr/>
          <p:nvPr/>
        </p:nvSpPr>
        <p:spPr>
          <a:xfrm>
            <a:off x="1645920" y="1856232"/>
            <a:ext cx="4023360" cy="548640"/>
          </a:xfrm>
          <a:prstGeom prst="rect">
            <a:avLst/>
          </a:prstGeom>
          <a:noFill/>
          <a:ln/>
        </p:spPr>
        <p:txBody>
          <a:bodyPr wrap="square" lIns="0" tIns="0" rIns="0" bIns="0" rtlCol="0" anchor="ctr"/>
          <a:lstStyle/>
          <a:p>
            <a:pPr marL="0" indent="0">
              <a:buNone/>
            </a:pPr>
            <a:r>
              <a:rPr lang="en-US" sz="1600" b="1" dirty="0">
                <a:solidFill>
                  <a:srgbClr val="293352"/>
                </a:solidFill>
                <a:latin typeface="Arial" pitchFamily="34" charset="0"/>
                <a:ea typeface="Arial" pitchFamily="34" charset="-122"/>
                <a:cs typeface="Arial" pitchFamily="34" charset="-120"/>
              </a:rPr>
              <a:t>The goal</a:t>
            </a:r>
            <a:endParaRPr lang="en-US" sz="1600" dirty="0"/>
          </a:p>
        </p:txBody>
      </p:sp>
      <p:sp>
        <p:nvSpPr>
          <p:cNvPr id="8" name="Text 5"/>
          <p:cNvSpPr/>
          <p:nvPr/>
        </p:nvSpPr>
        <p:spPr>
          <a:xfrm>
            <a:off x="914400" y="2514600"/>
            <a:ext cx="4709160" cy="914400"/>
          </a:xfrm>
          <a:prstGeom prst="rect">
            <a:avLst/>
          </a:prstGeom>
          <a:noFill/>
          <a:ln/>
        </p:spPr>
        <p:txBody>
          <a:bodyPr wrap="square" lIns="0" tIns="0" rIns="0" bIns="0" rtlCol="0" anchor="t"/>
          <a:lstStyle/>
          <a:p>
            <a:pPr marL="0" indent="0">
              <a:buNone/>
            </a:pPr>
            <a:r>
              <a:rPr lang="en-US" sz="1350" dirty="0">
                <a:solidFill>
                  <a:srgbClr val="1E1E1E"/>
                </a:solidFill>
                <a:latin typeface="Arial" pitchFamily="34" charset="0"/>
                <a:ea typeface="Arial" pitchFamily="34" charset="-122"/>
                <a:cs typeface="Arial" pitchFamily="34" charset="-120"/>
              </a:rPr>
              <a:t>The calmest portfolio, not the highest return. Variance is our stand in for risk.</a:t>
            </a:r>
            <a:endParaRPr lang="en-US" sz="1350" dirty="0"/>
          </a:p>
        </p:txBody>
      </p:sp>
      <p:sp>
        <p:nvSpPr>
          <p:cNvPr id="9" name="Shape 6"/>
          <p:cNvSpPr/>
          <p:nvPr/>
        </p:nvSpPr>
        <p:spPr>
          <a:xfrm>
            <a:off x="6263640" y="1600200"/>
            <a:ext cx="5257800" cy="1965960"/>
          </a:xfrm>
          <a:prstGeom prst="roundRect">
            <a:avLst>
              <a:gd name="adj" fmla="val 2791"/>
            </a:avLst>
          </a:prstGeom>
          <a:solidFill>
            <a:srgbClr val="F3F3F1"/>
          </a:solidFill>
          <a:ln/>
        </p:spPr>
      </p:sp>
      <p:sp>
        <p:nvSpPr>
          <p:cNvPr id="10" name="Shape 7"/>
          <p:cNvSpPr/>
          <p:nvPr/>
        </p:nvSpPr>
        <p:spPr>
          <a:xfrm>
            <a:off x="6537960" y="1874520"/>
            <a:ext cx="548640" cy="548640"/>
          </a:xfrm>
          <a:prstGeom prst="roundRect">
            <a:avLst>
              <a:gd name="adj" fmla="val 15000"/>
            </a:avLst>
          </a:prstGeom>
          <a:solidFill>
            <a:srgbClr val="A51C30"/>
          </a:solidFill>
          <a:ln/>
        </p:spPr>
      </p:sp>
      <p:pic>
        <p:nvPicPr>
          <p:cNvPr id="11" name="Image 1" descr="preencoded.png"/>
          <p:cNvPicPr>
            <a:picLocks noChangeAspect="1"/>
          </p:cNvPicPr>
          <p:nvPr/>
        </p:nvPicPr>
        <p:blipFill>
          <a:blip r:embed="rId4"/>
          <a:stretch>
            <a:fillRect/>
          </a:stretch>
        </p:blipFill>
        <p:spPr>
          <a:xfrm>
            <a:off x="6661404" y="1997964"/>
            <a:ext cx="301752" cy="301752"/>
          </a:xfrm>
          <a:prstGeom prst="rect">
            <a:avLst/>
          </a:prstGeom>
        </p:spPr>
      </p:pic>
      <p:sp>
        <p:nvSpPr>
          <p:cNvPr id="12" name="Text 8"/>
          <p:cNvSpPr/>
          <p:nvPr/>
        </p:nvSpPr>
        <p:spPr>
          <a:xfrm>
            <a:off x="7269480" y="1856232"/>
            <a:ext cx="4023360" cy="548640"/>
          </a:xfrm>
          <a:prstGeom prst="rect">
            <a:avLst/>
          </a:prstGeom>
          <a:noFill/>
          <a:ln/>
        </p:spPr>
        <p:txBody>
          <a:bodyPr wrap="square" lIns="0" tIns="0" rIns="0" bIns="0" rtlCol="0" anchor="ctr"/>
          <a:lstStyle/>
          <a:p>
            <a:pPr marL="0" indent="0">
              <a:buNone/>
            </a:pPr>
            <a:r>
              <a:rPr lang="en-US" sz="1600" b="1" dirty="0">
                <a:solidFill>
                  <a:srgbClr val="293352"/>
                </a:solidFill>
                <a:latin typeface="Arial" pitchFamily="34" charset="0"/>
                <a:ea typeface="Arial" pitchFamily="34" charset="-122"/>
                <a:cs typeface="Arial" pitchFamily="34" charset="-120"/>
              </a:rPr>
              <a:t>Covariance is key</a:t>
            </a:r>
            <a:endParaRPr lang="en-US" sz="1600" dirty="0"/>
          </a:p>
        </p:txBody>
      </p:sp>
      <p:sp>
        <p:nvSpPr>
          <p:cNvPr id="13" name="Text 9"/>
          <p:cNvSpPr/>
          <p:nvPr/>
        </p:nvSpPr>
        <p:spPr>
          <a:xfrm>
            <a:off x="6537960" y="2514600"/>
            <a:ext cx="4709160" cy="914400"/>
          </a:xfrm>
          <a:prstGeom prst="rect">
            <a:avLst/>
          </a:prstGeom>
          <a:noFill/>
          <a:ln/>
        </p:spPr>
        <p:txBody>
          <a:bodyPr wrap="square" lIns="0" tIns="0" rIns="0" bIns="0" rtlCol="0" anchor="t"/>
          <a:lstStyle/>
          <a:p>
            <a:pPr marL="0" indent="0">
              <a:buNone/>
            </a:pPr>
            <a:r>
              <a:rPr lang="en-US" sz="1350" dirty="0">
                <a:solidFill>
                  <a:srgbClr val="1E1E1E"/>
                </a:solidFill>
                <a:latin typeface="Arial" pitchFamily="34" charset="0"/>
                <a:ea typeface="Arial" pitchFamily="34" charset="-122"/>
                <a:cs typeface="Arial" pitchFamily="34" charset="-120"/>
              </a:rPr>
              <a:t>The single most important input. Correlation between holdings matters more than any one stock's own risk.</a:t>
            </a:r>
            <a:endParaRPr lang="en-US" sz="1350" dirty="0"/>
          </a:p>
        </p:txBody>
      </p:sp>
      <p:sp>
        <p:nvSpPr>
          <p:cNvPr id="14" name="Shape 10"/>
          <p:cNvSpPr/>
          <p:nvPr/>
        </p:nvSpPr>
        <p:spPr>
          <a:xfrm>
            <a:off x="640080" y="3886200"/>
            <a:ext cx="5257800" cy="1965960"/>
          </a:xfrm>
          <a:prstGeom prst="roundRect">
            <a:avLst>
              <a:gd name="adj" fmla="val 2791"/>
            </a:avLst>
          </a:prstGeom>
          <a:solidFill>
            <a:srgbClr val="F3F3F1"/>
          </a:solidFill>
          <a:ln/>
        </p:spPr>
      </p:sp>
      <p:sp>
        <p:nvSpPr>
          <p:cNvPr id="15" name="Shape 11"/>
          <p:cNvSpPr/>
          <p:nvPr/>
        </p:nvSpPr>
        <p:spPr>
          <a:xfrm>
            <a:off x="914400" y="4160520"/>
            <a:ext cx="548640" cy="548640"/>
          </a:xfrm>
          <a:prstGeom prst="roundRect">
            <a:avLst>
              <a:gd name="adj" fmla="val 15000"/>
            </a:avLst>
          </a:prstGeom>
          <a:solidFill>
            <a:srgbClr val="293352"/>
          </a:solidFill>
          <a:ln/>
        </p:spPr>
      </p:sp>
      <p:pic>
        <p:nvPicPr>
          <p:cNvPr id="16" name="Image 2" descr="preencoded.png"/>
          <p:cNvPicPr>
            <a:picLocks noChangeAspect="1"/>
          </p:cNvPicPr>
          <p:nvPr/>
        </p:nvPicPr>
        <p:blipFill>
          <a:blip r:embed="rId5"/>
          <a:stretch>
            <a:fillRect/>
          </a:stretch>
        </p:blipFill>
        <p:spPr>
          <a:xfrm>
            <a:off x="1037844" y="4283964"/>
            <a:ext cx="301752" cy="301752"/>
          </a:xfrm>
          <a:prstGeom prst="rect">
            <a:avLst/>
          </a:prstGeom>
        </p:spPr>
      </p:pic>
      <p:sp>
        <p:nvSpPr>
          <p:cNvPr id="17" name="Text 12"/>
          <p:cNvSpPr/>
          <p:nvPr/>
        </p:nvSpPr>
        <p:spPr>
          <a:xfrm>
            <a:off x="1645920" y="4142232"/>
            <a:ext cx="4023360" cy="548640"/>
          </a:xfrm>
          <a:prstGeom prst="rect">
            <a:avLst/>
          </a:prstGeom>
          <a:noFill/>
          <a:ln/>
        </p:spPr>
        <p:txBody>
          <a:bodyPr wrap="square" lIns="0" tIns="0" rIns="0" bIns="0" rtlCol="0" anchor="ctr"/>
          <a:lstStyle/>
          <a:p>
            <a:pPr marL="0" indent="0">
              <a:buNone/>
            </a:pPr>
            <a:r>
              <a:rPr lang="en-US" sz="1600" b="1" dirty="0">
                <a:solidFill>
                  <a:srgbClr val="293352"/>
                </a:solidFill>
                <a:latin typeface="Arial" pitchFamily="34" charset="0"/>
                <a:ea typeface="Arial" pitchFamily="34" charset="-122"/>
                <a:cs typeface="Arial" pitchFamily="34" charset="-120"/>
              </a:rPr>
              <a:t>Two rules</a:t>
            </a:r>
            <a:endParaRPr lang="en-US" sz="1600" dirty="0"/>
          </a:p>
        </p:txBody>
      </p:sp>
      <p:sp>
        <p:nvSpPr>
          <p:cNvPr id="18" name="Text 13"/>
          <p:cNvSpPr/>
          <p:nvPr/>
        </p:nvSpPr>
        <p:spPr>
          <a:xfrm>
            <a:off x="914400" y="4800600"/>
            <a:ext cx="4709160" cy="914400"/>
          </a:xfrm>
          <a:prstGeom prst="rect">
            <a:avLst/>
          </a:prstGeom>
          <a:noFill/>
          <a:ln/>
        </p:spPr>
        <p:txBody>
          <a:bodyPr wrap="square" lIns="0" tIns="0" rIns="0" bIns="0" rtlCol="0" anchor="t"/>
          <a:lstStyle/>
          <a:p>
            <a:pPr marL="0" indent="0">
              <a:buNone/>
            </a:pPr>
            <a:r>
              <a:rPr lang="en-US" sz="1350" dirty="0">
                <a:solidFill>
                  <a:srgbClr val="1E1E1E"/>
                </a:solidFill>
                <a:latin typeface="Arial" pitchFamily="34" charset="0"/>
                <a:ea typeface="Arial" pitchFamily="34" charset="-122"/>
                <a:cs typeface="Arial" pitchFamily="34" charset="-120"/>
              </a:rPr>
              <a:t>Weights sum to 1, and no short selling (every weight at or above zero).</a:t>
            </a:r>
            <a:endParaRPr lang="en-US" sz="1350" dirty="0"/>
          </a:p>
        </p:txBody>
      </p:sp>
      <p:sp>
        <p:nvSpPr>
          <p:cNvPr id="19" name="Shape 14"/>
          <p:cNvSpPr/>
          <p:nvPr/>
        </p:nvSpPr>
        <p:spPr>
          <a:xfrm>
            <a:off x="6263640" y="3886200"/>
            <a:ext cx="5257800" cy="1965960"/>
          </a:xfrm>
          <a:prstGeom prst="roundRect">
            <a:avLst>
              <a:gd name="adj" fmla="val 2791"/>
            </a:avLst>
          </a:prstGeom>
          <a:solidFill>
            <a:srgbClr val="F3F3F1"/>
          </a:solidFill>
          <a:ln/>
        </p:spPr>
      </p:sp>
      <p:sp>
        <p:nvSpPr>
          <p:cNvPr id="20" name="Shape 15"/>
          <p:cNvSpPr/>
          <p:nvPr/>
        </p:nvSpPr>
        <p:spPr>
          <a:xfrm>
            <a:off x="6537960" y="4160520"/>
            <a:ext cx="548640" cy="548640"/>
          </a:xfrm>
          <a:prstGeom prst="roundRect">
            <a:avLst>
              <a:gd name="adj" fmla="val 15000"/>
            </a:avLst>
          </a:prstGeom>
          <a:solidFill>
            <a:srgbClr val="A51C30"/>
          </a:solidFill>
          <a:ln/>
        </p:spPr>
      </p:sp>
      <p:pic>
        <p:nvPicPr>
          <p:cNvPr id="21" name="Image 3" descr="preencoded.png"/>
          <p:cNvPicPr>
            <a:picLocks noChangeAspect="1"/>
          </p:cNvPicPr>
          <p:nvPr/>
        </p:nvPicPr>
        <p:blipFill>
          <a:blip r:embed="rId6"/>
          <a:stretch>
            <a:fillRect/>
          </a:stretch>
        </p:blipFill>
        <p:spPr>
          <a:xfrm>
            <a:off x="6661404" y="4283964"/>
            <a:ext cx="301752" cy="301752"/>
          </a:xfrm>
          <a:prstGeom prst="rect">
            <a:avLst/>
          </a:prstGeom>
        </p:spPr>
      </p:pic>
      <p:sp>
        <p:nvSpPr>
          <p:cNvPr id="22" name="Text 16"/>
          <p:cNvSpPr/>
          <p:nvPr/>
        </p:nvSpPr>
        <p:spPr>
          <a:xfrm>
            <a:off x="7269480" y="4142232"/>
            <a:ext cx="4023360" cy="548640"/>
          </a:xfrm>
          <a:prstGeom prst="rect">
            <a:avLst/>
          </a:prstGeom>
          <a:noFill/>
          <a:ln/>
        </p:spPr>
        <p:txBody>
          <a:bodyPr wrap="square" lIns="0" tIns="0" rIns="0" bIns="0" rtlCol="0" anchor="ctr"/>
          <a:lstStyle/>
          <a:p>
            <a:pPr marL="0" indent="0">
              <a:buNone/>
            </a:pPr>
            <a:r>
              <a:rPr lang="en-US" sz="1600" b="1" dirty="0">
                <a:solidFill>
                  <a:srgbClr val="293352"/>
                </a:solidFill>
                <a:latin typeface="Arial" pitchFamily="34" charset="0"/>
                <a:ea typeface="Arial" pitchFamily="34" charset="-122"/>
                <a:cs typeface="Arial" pitchFamily="34" charset="-120"/>
              </a:rPr>
              <a:t>Solved with quadprog</a:t>
            </a:r>
            <a:endParaRPr lang="en-US" sz="1600" dirty="0"/>
          </a:p>
        </p:txBody>
      </p:sp>
      <p:sp>
        <p:nvSpPr>
          <p:cNvPr id="23" name="Text 17"/>
          <p:cNvSpPr/>
          <p:nvPr/>
        </p:nvSpPr>
        <p:spPr>
          <a:xfrm>
            <a:off x="6537960" y="4800600"/>
            <a:ext cx="4709160" cy="914400"/>
          </a:xfrm>
          <a:prstGeom prst="rect">
            <a:avLst/>
          </a:prstGeom>
          <a:noFill/>
          <a:ln/>
        </p:spPr>
        <p:txBody>
          <a:bodyPr wrap="square" lIns="0" tIns="0" rIns="0" bIns="0" rtlCol="0" anchor="t"/>
          <a:lstStyle/>
          <a:p>
            <a:pPr marL="0" indent="0">
              <a:buNone/>
            </a:pPr>
            <a:r>
              <a:rPr lang="en-US" sz="1350" dirty="0">
                <a:solidFill>
                  <a:srgbClr val="1E1E1E"/>
                </a:solidFill>
                <a:latin typeface="Arial" pitchFamily="34" charset="0"/>
                <a:ea typeface="Arial" pitchFamily="34" charset="-122"/>
                <a:cs typeface="Arial" pitchFamily="34" charset="-120"/>
              </a:rPr>
              <a:t>We hand the solver the covariance matrix and the two constraints.</a:t>
            </a:r>
            <a:endParaRPr lang="en-US" sz="1350" dirty="0"/>
          </a:p>
        </p:txBody>
      </p:sp>
      <p:sp>
        <p:nvSpPr>
          <p:cNvPr id="24"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25" name="Harvard Page Number"/>
          <p:cNvSpPr txBox="1"/>
          <p:nvPr/>
        </p:nvSpPr>
        <p:spPr>
          <a:xfrm>
            <a:off x="11801189" y="6446043"/>
            <a:ext cx="253492" cy="274638"/>
          </a:xfrm>
          <a:prstGeom prst="rect">
            <a:avLst/>
          </a:prstGeom>
          <a:noFill/>
        </p:spPr>
        <p:txBody>
          <a:bodyPr wrap="none" lIns="0" tIns="0" rIns="0" bIns="0">
            <a:noAutofit/>
          </a:bodyPr>
          <a:lstStyle/>
          <a:p>
            <a:pPr algn="r"/>
            <a:fld id="{141130D2-7F3A-48B5-8164-691CE04B2A01}" type="slidenum">
              <a:rPr lang="en-US" sz="1000">
                <a:solidFill>
                  <a:srgbClr val="8996A0"/>
                </a:solidFill>
                <a:latin typeface="Arial"/>
              </a:rPr>
              <a:t>6</a:t>
            </a:fld>
            <a:endParaRPr lang="en-US" sz="1000">
              <a:solidFill>
                <a:srgbClr val="8996A0"/>
              </a:solidFill>
              <a:latin typeface="Arial"/>
            </a:endParaRPr>
          </a:p>
        </p:txBody>
      </p:sp>
      <p:pic>
        <p:nvPicPr>
          <p:cNvPr id="26" name="Picture 25" descr="It's your birthday!! I wish I could figure out how old you are but I hate  long math. Ain't nobody got time for dat! Happy Birthday! | Birthday Ecard">
            <a:extLst>
              <a:ext uri="{FF2B5EF4-FFF2-40B4-BE49-F238E27FC236}">
                <a16:creationId xmlns:a16="http://schemas.microsoft.com/office/drawing/2014/main" id="{AC8F17B1-0139-DB6A-3C02-F8B6BF41A2FA}"/>
              </a:ext>
            </a:extLst>
          </p:cNvPr>
          <p:cNvPicPr>
            <a:picLocks noChangeAspect="1"/>
          </p:cNvPicPr>
          <p:nvPr/>
        </p:nvPicPr>
        <p:blipFill>
          <a:blip r:embed="rId7"/>
          <a:stretch>
            <a:fillRect/>
          </a:stretch>
        </p:blipFill>
        <p:spPr>
          <a:xfrm>
            <a:off x="7774541" y="5010150"/>
            <a:ext cx="2667000" cy="18669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320040"/>
          </a:xfrm>
          <a:prstGeom prst="rect">
            <a:avLst/>
          </a:prstGeom>
          <a:noFill/>
        </p:spPr>
        <p:txBody>
          <a:bodyPr wrap="square" lIns="45720" rIns="4572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A51C30"/>
                </a:solidFill>
                <a:effectLst/>
                <a:uLnTx/>
                <a:uFillTx/>
                <a:latin typeface="Arial"/>
                <a:ea typeface="+mn-ea"/>
                <a:cs typeface="+mn-cs"/>
              </a:rPr>
              <a:t>PORTFOLIO RISK  ·  DAILY TO ANNUAL</a:t>
            </a:r>
          </a:p>
        </p:txBody>
      </p:sp>
      <p:sp>
        <p:nvSpPr>
          <p:cNvPr id="3" name="TextBox 2"/>
          <p:cNvSpPr txBox="1"/>
          <p:nvPr/>
        </p:nvSpPr>
        <p:spPr>
          <a:xfrm>
            <a:off x="548640" y="621792"/>
            <a:ext cx="11064240" cy="822960"/>
          </a:xfrm>
          <a:prstGeom prst="rect">
            <a:avLst/>
          </a:prstGeom>
          <a:noFill/>
        </p:spPr>
        <p:txBody>
          <a:bodyPr wrap="square" lIns="45720" rIns="4572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000" b="1" i="0" u="none" strike="noStrike" kern="1200" cap="none" spc="0" normalizeH="0" baseline="0" noProof="0" dirty="0">
                <a:ln>
                  <a:noFill/>
                </a:ln>
                <a:solidFill>
                  <a:srgbClr val="1E1E1E"/>
                </a:solidFill>
                <a:effectLst/>
                <a:uLnTx/>
                <a:uFillTx/>
                <a:latin typeface="Arial"/>
                <a:ea typeface="+mn-ea"/>
                <a:cs typeface="+mn-cs"/>
              </a:rPr>
              <a:t>Portfolio Volatility: From Daily Variance to Annual Risk</a:t>
            </a:r>
          </a:p>
        </p:txBody>
      </p:sp>
      <p:sp>
        <p:nvSpPr>
          <p:cNvPr id="4" name="TextBox 3"/>
          <p:cNvSpPr txBox="1"/>
          <p:nvPr/>
        </p:nvSpPr>
        <p:spPr>
          <a:xfrm>
            <a:off x="548640" y="1417320"/>
            <a:ext cx="11064240" cy="502920"/>
          </a:xfrm>
          <a:prstGeom prst="rect">
            <a:avLst/>
          </a:prstGeom>
          <a:noFill/>
        </p:spPr>
        <p:txBody>
          <a:bodyPr wrap="square" lIns="45720" rIns="4572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59636B"/>
                </a:solidFill>
                <a:effectLst/>
                <a:uLnTx/>
                <a:uFillTx/>
                <a:latin typeface="Arial"/>
                <a:ea typeface="+mn-ea"/>
                <a:cs typeface="+mn-cs"/>
              </a:rPr>
              <a:t>Three moves turn a covariance matrix into one comparable, annualized volatility number.</a:t>
            </a:r>
          </a:p>
        </p:txBody>
      </p:sp>
      <p:sp>
        <p:nvSpPr>
          <p:cNvPr id="5" name="Rectangle 4"/>
          <p:cNvSpPr/>
          <p:nvPr/>
        </p:nvSpPr>
        <p:spPr>
          <a:xfrm>
            <a:off x="548640" y="2057400"/>
            <a:ext cx="11064240" cy="868680"/>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200" b="0" i="0" u="none" strike="noStrike" kern="1200" cap="none" spc="0" normalizeH="0" baseline="0" noProof="0">
                <a:ln>
                  <a:noFill/>
                </a:ln>
                <a:solidFill>
                  <a:srgbClr val="1E1E1E"/>
                </a:solidFill>
                <a:effectLst/>
                <a:uLnTx/>
                <a:uFillTx/>
                <a:latin typeface="Arial"/>
                <a:ea typeface="+mn-ea"/>
                <a:cs typeface="+mn-cs"/>
              </a:rPr>
              <a:t>annualized volatility   =   </a:t>
            </a:r>
            <a:r>
              <a:rPr kumimoji="0" sz="2400" b="1" i="0" u="none" strike="noStrike" kern="1200" cap="none" spc="0" normalizeH="0" baseline="0" noProof="0">
                <a:ln>
                  <a:noFill/>
                </a:ln>
                <a:solidFill>
                  <a:srgbClr val="A51C30"/>
                </a:solidFill>
                <a:effectLst/>
                <a:uLnTx/>
                <a:uFillTx/>
                <a:latin typeface="Arial"/>
                <a:ea typeface="+mn-ea"/>
                <a:cs typeface="+mn-cs"/>
              </a:rPr>
              <a:t>√( w′ Σ w )  ×  √252</a:t>
            </a:r>
          </a:p>
        </p:txBody>
      </p:sp>
      <p:sp>
        <p:nvSpPr>
          <p:cNvPr id="6" name="TextBox 5"/>
          <p:cNvSpPr txBox="1"/>
          <p:nvPr/>
        </p:nvSpPr>
        <p:spPr>
          <a:xfrm>
            <a:off x="548640" y="3200400"/>
            <a:ext cx="3511296" cy="365760"/>
          </a:xfrm>
          <a:prstGeom prst="rect">
            <a:avLst/>
          </a:prstGeom>
          <a:noFill/>
        </p:spPr>
        <p:txBody>
          <a:bodyPr wrap="square" lIns="45720" rIns="4572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A51C30"/>
                </a:solidFill>
                <a:effectLst/>
                <a:uLnTx/>
                <a:uFillTx/>
                <a:latin typeface="Arial"/>
                <a:ea typeface="+mn-ea"/>
                <a:cs typeface="+mn-cs"/>
              </a:rPr>
              <a:t>1   Collapse the matrix</a:t>
            </a:r>
          </a:p>
        </p:txBody>
      </p:sp>
      <p:sp>
        <p:nvSpPr>
          <p:cNvPr id="7" name="Rounded Rectangle 6"/>
          <p:cNvSpPr/>
          <p:nvPr/>
        </p:nvSpPr>
        <p:spPr>
          <a:xfrm>
            <a:off x="548640" y="3639312"/>
            <a:ext cx="3511296" cy="502920"/>
          </a:xfrm>
          <a:prstGeom prst="round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1E1E1E"/>
                </a:solidFill>
                <a:effectLst/>
                <a:uLnTx/>
                <a:uFillTx/>
                <a:latin typeface="Arial"/>
                <a:ea typeface="+mn-ea"/>
                <a:cs typeface="+mn-cs"/>
              </a:rPr>
              <a:t>t(weights) %*% cov_daily %*% weights</a:t>
            </a:r>
          </a:p>
        </p:txBody>
      </p:sp>
      <p:sp>
        <p:nvSpPr>
          <p:cNvPr id="8" name="TextBox 7"/>
          <p:cNvSpPr txBox="1"/>
          <p:nvPr/>
        </p:nvSpPr>
        <p:spPr>
          <a:xfrm>
            <a:off x="548640" y="4343400"/>
            <a:ext cx="3511296" cy="1554480"/>
          </a:xfrm>
          <a:prstGeom prst="rect">
            <a:avLst/>
          </a:prstGeom>
          <a:noFill/>
        </p:spPr>
        <p:txBody>
          <a:bodyPr wrap="square" lIns="45720" rIns="4572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50" b="0" i="0" u="none" strike="noStrike" kern="1200" cap="none" spc="0" normalizeH="0" baseline="0" noProof="0">
                <a:ln>
                  <a:noFill/>
                </a:ln>
                <a:solidFill>
                  <a:srgbClr val="59636B"/>
                </a:solidFill>
                <a:effectLst/>
                <a:uLnTx/>
                <a:uFillTx/>
                <a:latin typeface="Arial"/>
                <a:ea typeface="+mn-ea"/>
                <a:cs typeface="+mn-cs"/>
              </a:rPr>
              <a:t>Weights times the covariance matrix Σ and back turns the whole multi-asset table into one number: the portfolio's daily variance.</a:t>
            </a:r>
          </a:p>
        </p:txBody>
      </p:sp>
      <p:sp>
        <p:nvSpPr>
          <p:cNvPr id="9" name="TextBox 8"/>
          <p:cNvSpPr txBox="1"/>
          <p:nvPr/>
        </p:nvSpPr>
        <p:spPr>
          <a:xfrm>
            <a:off x="4334256" y="3200400"/>
            <a:ext cx="3511296" cy="365760"/>
          </a:xfrm>
          <a:prstGeom prst="rect">
            <a:avLst/>
          </a:prstGeom>
          <a:noFill/>
        </p:spPr>
        <p:txBody>
          <a:bodyPr wrap="square" lIns="45720" rIns="4572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A51C30"/>
                </a:solidFill>
                <a:effectLst/>
                <a:uLnTx/>
                <a:uFillTx/>
                <a:latin typeface="Arial"/>
                <a:ea typeface="+mn-ea"/>
                <a:cs typeface="+mn-cs"/>
              </a:rPr>
              <a:t>2   Take the square root</a:t>
            </a:r>
          </a:p>
        </p:txBody>
      </p:sp>
      <p:sp>
        <p:nvSpPr>
          <p:cNvPr id="10" name="Rounded Rectangle 9"/>
          <p:cNvSpPr/>
          <p:nvPr/>
        </p:nvSpPr>
        <p:spPr>
          <a:xfrm>
            <a:off x="4334256" y="3639312"/>
            <a:ext cx="3511296" cy="502920"/>
          </a:xfrm>
          <a:prstGeom prst="round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1E1E1E"/>
                </a:solidFill>
                <a:effectLst/>
                <a:uLnTx/>
                <a:uFillTx/>
                <a:latin typeface="Arial"/>
                <a:ea typeface="+mn-ea"/>
                <a:cs typeface="+mn-cs"/>
              </a:rPr>
              <a:t>sqrt( ... )</a:t>
            </a:r>
          </a:p>
        </p:txBody>
      </p:sp>
      <p:sp>
        <p:nvSpPr>
          <p:cNvPr id="11" name="TextBox 10"/>
          <p:cNvSpPr txBox="1"/>
          <p:nvPr/>
        </p:nvSpPr>
        <p:spPr>
          <a:xfrm>
            <a:off x="4334256" y="4343400"/>
            <a:ext cx="3511296" cy="1554480"/>
          </a:xfrm>
          <a:prstGeom prst="rect">
            <a:avLst/>
          </a:prstGeom>
          <a:noFill/>
        </p:spPr>
        <p:txBody>
          <a:bodyPr wrap="square" lIns="45720" rIns="4572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50" b="0" i="0" u="none" strike="noStrike" kern="1200" cap="none" spc="0" normalizeH="0" baseline="0" noProof="0">
                <a:ln>
                  <a:noFill/>
                </a:ln>
                <a:solidFill>
                  <a:srgbClr val="59636B"/>
                </a:solidFill>
                <a:effectLst/>
                <a:uLnTx/>
                <a:uFillTx/>
                <a:latin typeface="Arial"/>
                <a:ea typeface="+mn-ea"/>
                <a:cs typeface="+mn-cs"/>
              </a:rPr>
              <a:t>Variance is in squared units, hard to read. The square root converts it back to a daily standard deviation, which is daily volatility.</a:t>
            </a:r>
          </a:p>
        </p:txBody>
      </p:sp>
      <p:sp>
        <p:nvSpPr>
          <p:cNvPr id="12" name="TextBox 11"/>
          <p:cNvSpPr txBox="1"/>
          <p:nvPr/>
        </p:nvSpPr>
        <p:spPr>
          <a:xfrm>
            <a:off x="8119872" y="3200400"/>
            <a:ext cx="3511296" cy="365760"/>
          </a:xfrm>
          <a:prstGeom prst="rect">
            <a:avLst/>
          </a:prstGeom>
          <a:noFill/>
        </p:spPr>
        <p:txBody>
          <a:bodyPr wrap="square" lIns="45720" rIns="4572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A51C30"/>
                </a:solidFill>
                <a:effectLst/>
                <a:uLnTx/>
                <a:uFillTx/>
                <a:latin typeface="Arial"/>
                <a:ea typeface="+mn-ea"/>
                <a:cs typeface="+mn-cs"/>
              </a:rPr>
              <a:t>3   Scale to a year</a:t>
            </a:r>
          </a:p>
        </p:txBody>
      </p:sp>
      <p:sp>
        <p:nvSpPr>
          <p:cNvPr id="13" name="Rounded Rectangle 12"/>
          <p:cNvSpPr/>
          <p:nvPr/>
        </p:nvSpPr>
        <p:spPr>
          <a:xfrm>
            <a:off x="8119872" y="3639312"/>
            <a:ext cx="3511296" cy="502920"/>
          </a:xfrm>
          <a:prstGeom prst="round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1E1E1E"/>
                </a:solidFill>
                <a:effectLst/>
                <a:uLnTx/>
                <a:uFillTx/>
                <a:latin typeface="Arial"/>
                <a:ea typeface="+mn-ea"/>
                <a:cs typeface="+mn-cs"/>
              </a:rPr>
              <a:t>* sqrt(252)</a:t>
            </a:r>
          </a:p>
        </p:txBody>
      </p:sp>
      <p:sp>
        <p:nvSpPr>
          <p:cNvPr id="14" name="TextBox 13"/>
          <p:cNvSpPr txBox="1"/>
          <p:nvPr/>
        </p:nvSpPr>
        <p:spPr>
          <a:xfrm>
            <a:off x="8119872" y="4343400"/>
            <a:ext cx="3511296" cy="1554480"/>
          </a:xfrm>
          <a:prstGeom prst="rect">
            <a:avLst/>
          </a:prstGeom>
          <a:noFill/>
        </p:spPr>
        <p:txBody>
          <a:bodyPr wrap="square" lIns="45720" rIns="4572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50" b="0" i="0" u="none" strike="noStrike" kern="1200" cap="none" spc="0" normalizeH="0" baseline="0" noProof="0">
                <a:ln>
                  <a:noFill/>
                </a:ln>
                <a:solidFill>
                  <a:srgbClr val="59636B"/>
                </a:solidFill>
                <a:effectLst/>
                <a:uLnTx/>
                <a:uFillTx/>
                <a:latin typeface="Arial"/>
                <a:ea typeface="+mn-ea"/>
                <a:cs typeface="+mn-cs"/>
              </a:rPr>
              <a:t>Markets trade about 252 days a year. Volatility grows with the square root of time (the random-walk rule), so multiply by √252 to annualize.</a:t>
            </a:r>
          </a:p>
        </p:txBody>
      </p:sp>
      <p:sp>
        <p:nvSpPr>
          <p:cNvPr id="15" name="Rectangle 14"/>
          <p:cNvSpPr/>
          <p:nvPr/>
        </p:nvSpPr>
        <p:spPr>
          <a:xfrm>
            <a:off x="548640" y="5630090"/>
            <a:ext cx="11064240" cy="502920"/>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59636B"/>
                </a:solidFill>
                <a:effectLst/>
                <a:uLnTx/>
                <a:uFillTx/>
                <a:latin typeface="Arial"/>
                <a:ea typeface="+mn-ea"/>
                <a:cs typeface="+mn-cs"/>
              </a:rPr>
              <a:t>daily variance</a:t>
            </a:r>
            <a:r>
              <a:rPr kumimoji="0" sz="1400" b="1" i="0" u="none" strike="noStrike" kern="1200" cap="none" spc="0" normalizeH="0" baseline="0" noProof="0">
                <a:ln>
                  <a:noFill/>
                </a:ln>
                <a:solidFill>
                  <a:srgbClr val="A51C30"/>
                </a:solidFill>
                <a:effectLst/>
                <a:uLnTx/>
                <a:uFillTx/>
                <a:latin typeface="Arial"/>
                <a:ea typeface="+mn-ea"/>
                <a:cs typeface="+mn-cs"/>
              </a:rPr>
              <a:t>     →     </a:t>
            </a:r>
            <a:r>
              <a:rPr kumimoji="0" sz="1400" b="1" i="0" u="none" strike="noStrike" kern="1200" cap="none" spc="0" normalizeH="0" baseline="0" noProof="0">
                <a:ln>
                  <a:noFill/>
                </a:ln>
                <a:solidFill>
                  <a:srgbClr val="59636B"/>
                </a:solidFill>
                <a:effectLst/>
                <a:uLnTx/>
                <a:uFillTx/>
                <a:latin typeface="Arial"/>
                <a:ea typeface="+mn-ea"/>
                <a:cs typeface="+mn-cs"/>
              </a:rPr>
              <a:t>daily volatility</a:t>
            </a:r>
            <a:r>
              <a:rPr kumimoji="0" sz="1400" b="1" i="0" u="none" strike="noStrike" kern="1200" cap="none" spc="0" normalizeH="0" baseline="0" noProof="0">
                <a:ln>
                  <a:noFill/>
                </a:ln>
                <a:solidFill>
                  <a:srgbClr val="A51C30"/>
                </a:solidFill>
                <a:effectLst/>
                <a:uLnTx/>
                <a:uFillTx/>
                <a:latin typeface="Arial"/>
                <a:ea typeface="+mn-ea"/>
                <a:cs typeface="+mn-cs"/>
              </a:rPr>
              <a:t>     →     </a:t>
            </a:r>
            <a:r>
              <a:rPr kumimoji="0" sz="1400" b="1" i="0" u="none" strike="noStrike" kern="1200" cap="none" spc="0" normalizeH="0" baseline="0" noProof="0">
                <a:ln>
                  <a:noFill/>
                </a:ln>
                <a:solidFill>
                  <a:srgbClr val="1E1E1E"/>
                </a:solidFill>
                <a:effectLst/>
                <a:uLnTx/>
                <a:uFillTx/>
                <a:latin typeface="Arial"/>
                <a:ea typeface="+mn-ea"/>
                <a:cs typeface="+mn-cs"/>
              </a:rPr>
              <a:t>annualized volatility</a:t>
            </a:r>
          </a:p>
        </p:txBody>
      </p:sp>
      <p:sp>
        <p:nvSpPr>
          <p:cNvPr id="16" name="Harvard Footer"/>
          <p:cNvSpPr txBox="1"/>
          <p:nvPr/>
        </p:nvSpPr>
        <p:spPr>
          <a:xfrm>
            <a:off x="137319" y="6459105"/>
            <a:ext cx="1326387" cy="274638"/>
          </a:xfrm>
          <a:prstGeom prst="rect">
            <a:avLst/>
          </a:prstGeom>
          <a:noFill/>
        </p:spPr>
        <p:txBody>
          <a:bodyPr wrap="non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8996A0"/>
                </a:solidFill>
                <a:effectLst/>
                <a:uLnTx/>
                <a:uFillTx/>
                <a:latin typeface="Arial"/>
                <a:ea typeface="+mn-ea"/>
                <a:cs typeface="+mn-cs"/>
              </a:rPr>
              <a:t>© 2026 Ted Kwartler</a:t>
            </a:r>
          </a:p>
        </p:txBody>
      </p:sp>
      <p:sp>
        <p:nvSpPr>
          <p:cNvPr id="17" name="Harvard Page Number"/>
          <p:cNvSpPr txBox="1"/>
          <p:nvPr/>
        </p:nvSpPr>
        <p:spPr>
          <a:xfrm>
            <a:off x="11800884" y="6413385"/>
            <a:ext cx="253492" cy="274638"/>
          </a:xfrm>
          <a:prstGeom prst="rect">
            <a:avLst/>
          </a:prstGeom>
          <a:noFill/>
        </p:spPr>
        <p:txBody>
          <a:bodyPr wrap="none" lIns="0" tIns="0" rIns="0" bIns="0">
            <a:no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F569954-D543-4AF1-823B-F019EB324870}" type="slidenum">
              <a:rPr kumimoji="0" lang="en-US" sz="1000" b="0" i="0" u="none" strike="noStrike" kern="1200" cap="none" spc="0" normalizeH="0" baseline="0" noProof="0">
                <a:ln>
                  <a:noFill/>
                </a:ln>
                <a:solidFill>
                  <a:srgbClr val="8996A0"/>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000" b="0" i="0" u="none" strike="noStrike" kern="1200" cap="none" spc="0" normalizeH="0" baseline="0" noProof="0">
              <a:ln>
                <a:noFill/>
              </a:ln>
              <a:solidFill>
                <a:srgbClr val="8996A0"/>
              </a:solidFill>
              <a:effectLst/>
              <a:uLnTx/>
              <a:uFillTx/>
              <a:latin typeface="Arial"/>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320040"/>
          </a:xfrm>
          <a:prstGeom prst="rect">
            <a:avLst/>
          </a:prstGeom>
          <a:noFill/>
        </p:spPr>
        <p:txBody>
          <a:bodyPr wrap="square" lIns="45720" rIns="4572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A51C30"/>
                </a:solidFill>
                <a:effectLst/>
                <a:uLnTx/>
                <a:uFillTx/>
                <a:latin typeface="Arial"/>
                <a:ea typeface="+mn-ea"/>
                <a:cs typeface="+mn-cs"/>
              </a:rPr>
              <a:t>MARKOWITZ MEAN-VARIANCE OPTIMIZATION</a:t>
            </a:r>
          </a:p>
        </p:txBody>
      </p:sp>
      <p:sp>
        <p:nvSpPr>
          <p:cNvPr id="3" name="TextBox 2"/>
          <p:cNvSpPr txBox="1"/>
          <p:nvPr/>
        </p:nvSpPr>
        <p:spPr>
          <a:xfrm>
            <a:off x="548640" y="621792"/>
            <a:ext cx="11064240" cy="822960"/>
          </a:xfrm>
          <a:prstGeom prst="rect">
            <a:avLst/>
          </a:prstGeom>
          <a:noFill/>
        </p:spPr>
        <p:txBody>
          <a:bodyPr wrap="square" lIns="45720" rIns="4572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000" b="1" i="0" u="none" strike="noStrike" kern="1200" cap="none" spc="0" normalizeH="0" baseline="0" noProof="0">
                <a:ln>
                  <a:noFill/>
                </a:ln>
                <a:solidFill>
                  <a:srgbClr val="1E1E1E"/>
                </a:solidFill>
                <a:effectLst/>
                <a:uLnTx/>
                <a:uFillTx/>
                <a:latin typeface="Arial"/>
                <a:ea typeface="+mn-ea"/>
                <a:cs typeface="+mn-cs"/>
              </a:rPr>
              <a:t>Minimizing Portfolio Risk as a Quadratic Program</a:t>
            </a:r>
          </a:p>
        </p:txBody>
      </p:sp>
      <p:sp>
        <p:nvSpPr>
          <p:cNvPr id="4" name="TextBox 3"/>
          <p:cNvSpPr txBox="1"/>
          <p:nvPr/>
        </p:nvSpPr>
        <p:spPr>
          <a:xfrm>
            <a:off x="548640" y="1417320"/>
            <a:ext cx="11064240" cy="502920"/>
          </a:xfrm>
          <a:prstGeom prst="rect">
            <a:avLst/>
          </a:prstGeom>
          <a:noFill/>
        </p:spPr>
        <p:txBody>
          <a:bodyPr wrap="square" lIns="45720" rIns="4572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59636B"/>
                </a:solidFill>
                <a:effectLst/>
                <a:uLnTx/>
                <a:uFillTx/>
                <a:latin typeface="Arial"/>
                <a:ea typeface="+mn-ea"/>
                <a:cs typeface="+mn-cs"/>
              </a:rPr>
              <a:t>Find the mix of asset weights that gives the lowest possible variance, then hand that risk formula to a math solver that only speaks matrices.</a:t>
            </a:r>
          </a:p>
        </p:txBody>
      </p:sp>
      <p:sp>
        <p:nvSpPr>
          <p:cNvPr id="5" name="Rectangle 4"/>
          <p:cNvSpPr/>
          <p:nvPr/>
        </p:nvSpPr>
        <p:spPr>
          <a:xfrm>
            <a:off x="548640" y="2057400"/>
            <a:ext cx="11064240" cy="868680"/>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200" b="0" i="0" u="none" strike="noStrike" kern="1200" cap="none" spc="0" normalizeH="0" baseline="0" noProof="0">
                <a:ln>
                  <a:noFill/>
                </a:ln>
                <a:solidFill>
                  <a:srgbClr val="1E1E1E"/>
                </a:solidFill>
                <a:effectLst/>
                <a:uLnTx/>
                <a:uFillTx/>
                <a:latin typeface="Arial"/>
                <a:ea typeface="+mn-ea"/>
                <a:cs typeface="+mn-cs"/>
              </a:rPr>
              <a:t>minimize   </a:t>
            </a:r>
            <a:r>
              <a:rPr kumimoji="0" sz="2400" b="1" i="0" u="none" strike="noStrike" kern="1200" cap="none" spc="0" normalizeH="0" baseline="0" noProof="0">
                <a:ln>
                  <a:noFill/>
                </a:ln>
                <a:solidFill>
                  <a:srgbClr val="A51C30"/>
                </a:solidFill>
                <a:effectLst/>
                <a:uLnTx/>
                <a:uFillTx/>
                <a:latin typeface="Arial"/>
                <a:ea typeface="+mn-ea"/>
                <a:cs typeface="+mn-cs"/>
              </a:rPr>
              <a:t>½ w′ Σ w</a:t>
            </a:r>
            <a:r>
              <a:rPr kumimoji="0" sz="1600" b="0" i="0" u="none" strike="noStrike" kern="1200" cap="none" spc="0" normalizeH="0" baseline="0" noProof="0">
                <a:ln>
                  <a:noFill/>
                </a:ln>
                <a:solidFill>
                  <a:srgbClr val="59636B"/>
                </a:solidFill>
                <a:effectLst/>
                <a:uLnTx/>
                <a:uFillTx/>
                <a:latin typeface="Arial"/>
                <a:ea typeface="+mn-ea"/>
                <a:cs typeface="+mn-cs"/>
              </a:rPr>
              <a:t>      =   total portfolio variance (the number to make as small as possible)</a:t>
            </a:r>
          </a:p>
        </p:txBody>
      </p:sp>
      <p:sp>
        <p:nvSpPr>
          <p:cNvPr id="6" name="TextBox 5"/>
          <p:cNvSpPr txBox="1"/>
          <p:nvPr/>
        </p:nvSpPr>
        <p:spPr>
          <a:xfrm>
            <a:off x="548640" y="3246120"/>
            <a:ext cx="5394960" cy="365760"/>
          </a:xfrm>
          <a:prstGeom prst="rect">
            <a:avLst/>
          </a:prstGeom>
          <a:noFill/>
        </p:spPr>
        <p:txBody>
          <a:bodyPr wrap="square" lIns="45720" rIns="4572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A51C30"/>
                </a:solidFill>
                <a:effectLst/>
                <a:uLnTx/>
                <a:uFillTx/>
                <a:latin typeface="Arial"/>
                <a:ea typeface="+mn-ea"/>
                <a:cs typeface="+mn-cs"/>
              </a:rPr>
              <a:t>The math in plain English</a:t>
            </a:r>
          </a:p>
        </p:txBody>
      </p:sp>
      <p:sp>
        <p:nvSpPr>
          <p:cNvPr id="7" name="TextBox 6"/>
          <p:cNvSpPr txBox="1"/>
          <p:nvPr/>
        </p:nvSpPr>
        <p:spPr>
          <a:xfrm>
            <a:off x="6355080" y="3246120"/>
            <a:ext cx="5257800" cy="365760"/>
          </a:xfrm>
          <a:prstGeom prst="rect">
            <a:avLst/>
          </a:prstGeom>
          <a:noFill/>
        </p:spPr>
        <p:txBody>
          <a:bodyPr wrap="square" lIns="45720" rIns="4572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A51C30"/>
                </a:solidFill>
                <a:effectLst/>
                <a:uLnTx/>
                <a:uFillTx/>
                <a:latin typeface="Arial"/>
                <a:ea typeface="+mn-ea"/>
                <a:cs typeface="+mn-cs"/>
              </a:rPr>
              <a:t>Handing it to R’s quadprog solver</a:t>
            </a:r>
          </a:p>
        </p:txBody>
      </p:sp>
      <p:sp>
        <p:nvSpPr>
          <p:cNvPr id="8" name="TextBox 7"/>
          <p:cNvSpPr txBox="1"/>
          <p:nvPr/>
        </p:nvSpPr>
        <p:spPr>
          <a:xfrm>
            <a:off x="548640" y="3657600"/>
            <a:ext cx="5394960" cy="2743200"/>
          </a:xfrm>
          <a:prstGeom prst="rect">
            <a:avLst/>
          </a:prstGeom>
          <a:noFill/>
        </p:spPr>
        <p:txBody>
          <a:bodyPr wrap="square" lIns="45720" rIns="45720" anchor="t">
            <a:spAutoFit/>
          </a:bodyPr>
          <a:lstStyle/>
          <a:p>
            <a:pPr marL="0" marR="0" lvl="0" indent="0" algn="l" defTabSz="457200" rtl="0" eaLnBrk="1" fontAlgn="auto" latinLnBrk="0" hangingPunct="1">
              <a:lnSpc>
                <a:spcPct val="100000"/>
              </a:lnSpc>
              <a:spcBef>
                <a:spcPts val="0"/>
              </a:spcBef>
              <a:spcAft>
                <a:spcPts val="1000"/>
              </a:spcAft>
              <a:buClrTx/>
              <a:buSzTx/>
              <a:buFontTx/>
              <a:buNone/>
              <a:tabLst/>
              <a:defRPr/>
            </a:pPr>
            <a:r>
              <a:rPr kumimoji="0" sz="1500" b="1" i="0" u="none" strike="noStrike" kern="1200" cap="none" spc="0" normalizeH="0" baseline="0" noProof="0">
                <a:ln>
                  <a:noFill/>
                </a:ln>
                <a:solidFill>
                  <a:srgbClr val="1E1E1E"/>
                </a:solidFill>
                <a:effectLst/>
                <a:uLnTx/>
                <a:uFillTx/>
                <a:latin typeface="Arial"/>
                <a:ea typeface="+mn-ea"/>
                <a:cs typeface="+mn-cs"/>
              </a:rPr>
              <a:t>w  </a:t>
            </a:r>
            <a:r>
              <a:rPr kumimoji="0" sz="1400" b="0" i="0" u="none" strike="noStrike" kern="1200" cap="none" spc="0" normalizeH="0" baseline="0" noProof="0">
                <a:ln>
                  <a:noFill/>
                </a:ln>
                <a:solidFill>
                  <a:srgbClr val="59636B"/>
                </a:solidFill>
                <a:effectLst/>
                <a:uLnTx/>
                <a:uFillTx/>
                <a:latin typeface="Arial"/>
                <a:ea typeface="+mn-ea"/>
                <a:cs typeface="+mn-cs"/>
              </a:rPr>
              <a:t>the weights: what percent of your money goes into each asset</a:t>
            </a:r>
          </a:p>
          <a:p>
            <a:pPr marL="0" marR="0" lvl="0" indent="0" algn="l" defTabSz="457200" rtl="0" eaLnBrk="1" fontAlgn="auto" latinLnBrk="0" hangingPunct="1">
              <a:lnSpc>
                <a:spcPct val="100000"/>
              </a:lnSpc>
              <a:spcBef>
                <a:spcPts val="0"/>
              </a:spcBef>
              <a:spcAft>
                <a:spcPts val="1000"/>
              </a:spcAft>
              <a:buClrTx/>
              <a:buSzTx/>
              <a:buFontTx/>
              <a:buNone/>
              <a:tabLst/>
              <a:defRPr/>
            </a:pPr>
            <a:r>
              <a:rPr kumimoji="0" sz="1500" b="1" i="0" u="none" strike="noStrike" kern="1200" cap="none" spc="0" normalizeH="0" baseline="0" noProof="0">
                <a:ln>
                  <a:noFill/>
                </a:ln>
                <a:solidFill>
                  <a:srgbClr val="1E1E1E"/>
                </a:solidFill>
                <a:effectLst/>
                <a:uLnTx/>
                <a:uFillTx/>
                <a:latin typeface="Arial"/>
                <a:ea typeface="+mn-ea"/>
                <a:cs typeface="+mn-cs"/>
              </a:rPr>
              <a:t>w′  </a:t>
            </a:r>
            <a:r>
              <a:rPr kumimoji="0" sz="1400" b="0" i="0" u="none" strike="noStrike" kern="1200" cap="none" spc="0" normalizeH="0" baseline="0" noProof="0">
                <a:ln>
                  <a:noFill/>
                </a:ln>
                <a:solidFill>
                  <a:srgbClr val="59636B"/>
                </a:solidFill>
                <a:effectLst/>
                <a:uLnTx/>
                <a:uFillTx/>
                <a:latin typeface="Arial"/>
                <a:ea typeface="+mn-ea"/>
                <a:cs typeface="+mn-cs"/>
              </a:rPr>
              <a:t>the transpose of w, lined up for matrix multiplication</a:t>
            </a:r>
          </a:p>
          <a:p>
            <a:pPr marL="0" marR="0" lvl="0" indent="0" algn="l" defTabSz="457200" rtl="0" eaLnBrk="1" fontAlgn="auto" latinLnBrk="0" hangingPunct="1">
              <a:lnSpc>
                <a:spcPct val="100000"/>
              </a:lnSpc>
              <a:spcBef>
                <a:spcPts val="0"/>
              </a:spcBef>
              <a:spcAft>
                <a:spcPts val="1000"/>
              </a:spcAft>
              <a:buClrTx/>
              <a:buSzTx/>
              <a:buFontTx/>
              <a:buNone/>
              <a:tabLst/>
              <a:defRPr/>
            </a:pPr>
            <a:r>
              <a:rPr kumimoji="0" sz="1500" b="1" i="0" u="none" strike="noStrike" kern="1200" cap="none" spc="0" normalizeH="0" baseline="0" noProof="0">
                <a:ln>
                  <a:noFill/>
                </a:ln>
                <a:solidFill>
                  <a:srgbClr val="1E1E1E"/>
                </a:solidFill>
                <a:effectLst/>
                <a:uLnTx/>
                <a:uFillTx/>
                <a:latin typeface="Arial"/>
                <a:ea typeface="+mn-ea"/>
                <a:cs typeface="+mn-cs"/>
              </a:rPr>
              <a:t>Σ  </a:t>
            </a:r>
            <a:r>
              <a:rPr kumimoji="0" sz="1400" b="0" i="0" u="none" strike="noStrike" kern="1200" cap="none" spc="0" normalizeH="0" baseline="0" noProof="0">
                <a:ln>
                  <a:noFill/>
                </a:ln>
                <a:solidFill>
                  <a:srgbClr val="59636B"/>
                </a:solidFill>
                <a:effectLst/>
                <a:uLnTx/>
                <a:uFillTx/>
                <a:latin typeface="Arial"/>
                <a:ea typeface="+mn-ea"/>
                <a:cs typeface="+mn-cs"/>
              </a:rPr>
              <a:t>the covariance matrix: how every asset moves relative to every other</a:t>
            </a:r>
          </a:p>
          <a:p>
            <a:pPr marL="0" marR="0" lvl="0" indent="0" algn="l" defTabSz="457200" rtl="0" eaLnBrk="1" fontAlgn="auto" latinLnBrk="0" hangingPunct="1">
              <a:lnSpc>
                <a:spcPct val="100000"/>
              </a:lnSpc>
              <a:spcBef>
                <a:spcPts val="0"/>
              </a:spcBef>
              <a:spcAft>
                <a:spcPts val="1000"/>
              </a:spcAft>
              <a:buClrTx/>
              <a:buSzTx/>
              <a:buFontTx/>
              <a:buNone/>
              <a:tabLst/>
              <a:defRPr/>
            </a:pPr>
            <a:r>
              <a:rPr kumimoji="0" sz="1500" b="1" i="0" u="none" strike="noStrike" kern="1200" cap="none" spc="0" normalizeH="0" baseline="0" noProof="0">
                <a:ln>
                  <a:noFill/>
                </a:ln>
                <a:solidFill>
                  <a:srgbClr val="1E1E1E"/>
                </a:solidFill>
                <a:effectLst/>
                <a:uLnTx/>
                <a:uFillTx/>
                <a:latin typeface="Arial"/>
                <a:ea typeface="+mn-ea"/>
                <a:cs typeface="+mn-cs"/>
              </a:rPr>
              <a:t>w′ Σ w  </a:t>
            </a:r>
            <a:r>
              <a:rPr kumimoji="0" sz="1400" b="0" i="0" u="none" strike="noStrike" kern="1200" cap="none" spc="0" normalizeH="0" baseline="0" noProof="0">
                <a:ln>
                  <a:noFill/>
                </a:ln>
                <a:solidFill>
                  <a:srgbClr val="59636B"/>
                </a:solidFill>
                <a:effectLst/>
                <a:uLnTx/>
                <a:uFillTx/>
                <a:latin typeface="Arial"/>
                <a:ea typeface="+mn-ea"/>
                <a:cs typeface="+mn-cs"/>
              </a:rPr>
              <a:t>the total portfolio variance the solver drives down</a:t>
            </a:r>
          </a:p>
        </p:txBody>
      </p:sp>
      <p:sp>
        <p:nvSpPr>
          <p:cNvPr id="9" name="TextBox 8"/>
          <p:cNvSpPr txBox="1"/>
          <p:nvPr/>
        </p:nvSpPr>
        <p:spPr>
          <a:xfrm>
            <a:off x="6355080" y="3657600"/>
            <a:ext cx="5257800" cy="2743200"/>
          </a:xfrm>
          <a:prstGeom prst="rect">
            <a:avLst/>
          </a:prstGeom>
          <a:noFill/>
        </p:spPr>
        <p:txBody>
          <a:bodyPr wrap="square" lIns="45720" rIns="45720" anchor="t">
            <a:spAutoFit/>
          </a:bodyPr>
          <a:lstStyle/>
          <a:p>
            <a:pPr marL="0" marR="0" lvl="0" indent="0" algn="l" defTabSz="457200" rtl="0" eaLnBrk="1" fontAlgn="auto" latinLnBrk="0" hangingPunct="1">
              <a:lnSpc>
                <a:spcPct val="100000"/>
              </a:lnSpc>
              <a:spcBef>
                <a:spcPts val="0"/>
              </a:spcBef>
              <a:spcAft>
                <a:spcPts val="1000"/>
              </a:spcAft>
              <a:buClrTx/>
              <a:buSzTx/>
              <a:buFontTx/>
              <a:buNone/>
              <a:tabLst/>
              <a:defRPr/>
            </a:pPr>
            <a:r>
              <a:rPr kumimoji="0" sz="1500" b="1" i="0" u="none" strike="noStrike" kern="1200" cap="none" spc="0" normalizeH="0" baseline="0" noProof="0">
                <a:ln>
                  <a:noFill/>
                </a:ln>
                <a:solidFill>
                  <a:srgbClr val="1E1E1E"/>
                </a:solidFill>
                <a:effectLst/>
                <a:uLnTx/>
                <a:uFillTx/>
                <a:latin typeface="Arial"/>
                <a:ea typeface="+mn-ea"/>
                <a:cs typeface="+mn-cs"/>
              </a:rPr>
              <a:t>Dmat &lt;- cov_matrix</a:t>
            </a:r>
          </a:p>
          <a:p>
            <a:pPr marL="0" marR="0" lvl="0" indent="0" algn="l" defTabSz="457200" rtl="0" eaLnBrk="1" fontAlgn="auto" latinLnBrk="0" hangingPunct="1">
              <a:lnSpc>
                <a:spcPct val="100000"/>
              </a:lnSpc>
              <a:spcBef>
                <a:spcPts val="0"/>
              </a:spcBef>
              <a:spcAft>
                <a:spcPts val="1000"/>
              </a:spcAft>
              <a:buClrTx/>
              <a:buSzTx/>
              <a:buFontTx/>
              <a:buNone/>
              <a:tabLst/>
              <a:defRPr/>
            </a:pPr>
            <a:r>
              <a:rPr kumimoji="0" sz="1400" b="0" i="0" u="none" strike="noStrike" kern="1200" cap="none" spc="0" normalizeH="0" baseline="0" noProof="0">
                <a:ln>
                  <a:noFill/>
                </a:ln>
                <a:solidFill>
                  <a:srgbClr val="59636B"/>
                </a:solidFill>
                <a:effectLst/>
                <a:uLnTx/>
                <a:uFillTx/>
                <a:latin typeface="Arial"/>
                <a:ea typeface="+mn-ea"/>
                <a:cs typeface="+mn-cs"/>
              </a:rPr>
              <a:t>the quadratic matrix is Σ, your risk-and-relationship table</a:t>
            </a:r>
          </a:p>
          <a:p>
            <a:pPr marL="0" marR="0" lvl="0" indent="0" algn="l" defTabSz="457200" rtl="0" eaLnBrk="1" fontAlgn="auto" latinLnBrk="0" hangingPunct="1">
              <a:lnSpc>
                <a:spcPct val="100000"/>
              </a:lnSpc>
              <a:spcBef>
                <a:spcPts val="0"/>
              </a:spcBef>
              <a:spcAft>
                <a:spcPts val="1000"/>
              </a:spcAft>
              <a:buClrTx/>
              <a:buSzTx/>
              <a:buFontTx/>
              <a:buNone/>
              <a:tabLst/>
              <a:defRPr/>
            </a:pPr>
            <a:r>
              <a:rPr kumimoji="0" sz="1500" b="1" i="0" u="none" strike="noStrike" kern="1200" cap="none" spc="0" normalizeH="0" baseline="0" noProof="0">
                <a:ln>
                  <a:noFill/>
                </a:ln>
                <a:solidFill>
                  <a:srgbClr val="1E1E1E"/>
                </a:solidFill>
                <a:effectLst/>
                <a:uLnTx/>
                <a:uFillTx/>
                <a:latin typeface="Arial"/>
                <a:ea typeface="+mn-ea"/>
                <a:cs typeface="+mn-cs"/>
              </a:rPr>
              <a:t>dvec &lt;- rep(0, n_assets)</a:t>
            </a:r>
          </a:p>
          <a:p>
            <a:pPr marL="0" marR="0" lvl="0" indent="0" algn="l" defTabSz="457200" rtl="0" eaLnBrk="1" fontAlgn="auto" latinLnBrk="0" hangingPunct="1">
              <a:lnSpc>
                <a:spcPct val="100000"/>
              </a:lnSpc>
              <a:spcBef>
                <a:spcPts val="0"/>
              </a:spcBef>
              <a:spcAft>
                <a:spcPts val="1000"/>
              </a:spcAft>
              <a:buClrTx/>
              <a:buSzTx/>
              <a:buFontTx/>
              <a:buNone/>
              <a:tabLst/>
              <a:defRPr/>
            </a:pPr>
            <a:r>
              <a:rPr kumimoji="0" sz="1400" b="0" i="0" u="none" strike="noStrike" kern="1200" cap="none" spc="0" normalizeH="0" baseline="0" noProof="0">
                <a:ln>
                  <a:noFill/>
                </a:ln>
                <a:solidFill>
                  <a:srgbClr val="59636B"/>
                </a:solidFill>
                <a:effectLst/>
                <a:uLnTx/>
                <a:uFillTx/>
                <a:latin typeface="Arial"/>
                <a:ea typeface="+mn-ea"/>
                <a:cs typeface="+mn-cs"/>
              </a:rPr>
              <a:t>the linear vector is all zeros, one per asset</a:t>
            </a:r>
          </a:p>
          <a:p>
            <a:pPr marL="0" marR="0" lvl="0" indent="0" algn="l" defTabSz="457200" rtl="0" eaLnBrk="1" fontAlgn="auto" latinLnBrk="0" hangingPunct="1">
              <a:lnSpc>
                <a:spcPct val="100000"/>
              </a:lnSpc>
              <a:spcBef>
                <a:spcPts val="0"/>
              </a:spcBef>
              <a:spcAft>
                <a:spcPts val="1000"/>
              </a:spcAft>
              <a:buClrTx/>
              <a:buSzTx/>
              <a:buFontTx/>
              <a:buNone/>
              <a:tabLst/>
              <a:defRPr/>
            </a:pPr>
            <a:r>
              <a:rPr kumimoji="0" sz="1400" b="0" i="1" u="none" strike="noStrike" kern="1200" cap="none" spc="0" normalizeH="0" baseline="0" noProof="0">
                <a:ln>
                  <a:noFill/>
                </a:ln>
                <a:solidFill>
                  <a:srgbClr val="59636B"/>
                </a:solidFill>
                <a:effectLst/>
                <a:uLnTx/>
                <a:uFillTx/>
                <a:latin typeface="Arial"/>
                <a:ea typeface="+mn-ea"/>
                <a:cs typeface="+mn-cs"/>
              </a:rPr>
              <a:t>Zeros because this step minimizes risk only, with no expected-return term yet</a:t>
            </a:r>
          </a:p>
        </p:txBody>
      </p:sp>
      <p:sp>
        <p:nvSpPr>
          <p:cNvPr id="10" name="Harvard Footer"/>
          <p:cNvSpPr txBox="1"/>
          <p:nvPr/>
        </p:nvSpPr>
        <p:spPr>
          <a:xfrm>
            <a:off x="137319" y="6446043"/>
            <a:ext cx="1326387" cy="274638"/>
          </a:xfrm>
          <a:prstGeom prst="rect">
            <a:avLst/>
          </a:prstGeom>
          <a:noFill/>
        </p:spPr>
        <p:txBody>
          <a:bodyPr wrap="non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8996A0"/>
                </a:solidFill>
                <a:effectLst/>
                <a:uLnTx/>
                <a:uFillTx/>
                <a:latin typeface="Arial"/>
                <a:ea typeface="+mn-ea"/>
                <a:cs typeface="+mn-cs"/>
              </a:rPr>
              <a:t>© 2026 Ted Kwartler</a:t>
            </a:r>
          </a:p>
        </p:txBody>
      </p:sp>
      <p:sp>
        <p:nvSpPr>
          <p:cNvPr id="11" name="Harvard Page Number"/>
          <p:cNvSpPr txBox="1"/>
          <p:nvPr/>
        </p:nvSpPr>
        <p:spPr>
          <a:xfrm>
            <a:off x="11800884" y="6446043"/>
            <a:ext cx="253492" cy="274638"/>
          </a:xfrm>
          <a:prstGeom prst="rect">
            <a:avLst/>
          </a:prstGeom>
          <a:noFill/>
        </p:spPr>
        <p:txBody>
          <a:bodyPr wrap="none" lIns="0" tIns="0" rIns="0" bIns="0">
            <a:no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63747BC-4049-406B-BD00-142113E38703}" type="slidenum">
              <a:rPr kumimoji="0" lang="en-US" sz="1000" b="0" i="0" u="none" strike="noStrike" kern="1200" cap="none" spc="0" normalizeH="0" baseline="0" noProof="0">
                <a:ln>
                  <a:noFill/>
                </a:ln>
                <a:solidFill>
                  <a:srgbClr val="8996A0"/>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000" b="0" i="0" u="none" strike="noStrike" kern="1200" cap="none" spc="0" normalizeH="0" baseline="0" noProof="0">
              <a:ln>
                <a:noFill/>
              </a:ln>
              <a:solidFill>
                <a:srgbClr val="8996A0"/>
              </a:solidFill>
              <a:effectLst/>
              <a:uLnTx/>
              <a:uFillTx/>
              <a:latin typeface="Arial"/>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marL="0" indent="0">
              <a:buNone/>
            </a:pPr>
            <a:r>
              <a:rPr lang="en-US" sz="1200" b="1" kern="0" spc="200" dirty="0">
                <a:solidFill>
                  <a:srgbClr val="A51C30"/>
                </a:solidFill>
                <a:latin typeface="Arial" pitchFamily="34" charset="0"/>
                <a:ea typeface="Arial" pitchFamily="34" charset="-122"/>
                <a:cs typeface="Arial" pitchFamily="34" charset="-120"/>
              </a:rPr>
              <a:t>LIVE IN RSTUDIO</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marL="0" indent="0">
              <a:buNone/>
            </a:pPr>
            <a:r>
              <a:rPr lang="en-US" sz="2800" b="1" dirty="0">
                <a:solidFill>
                  <a:srgbClr val="1E1E1E"/>
                </a:solidFill>
                <a:latin typeface="Arial" pitchFamily="34" charset="0"/>
                <a:ea typeface="Arial" pitchFamily="34" charset="-122"/>
                <a:cs typeface="Arial" pitchFamily="34" charset="-120"/>
              </a:rPr>
              <a:t>Script B: run it</a:t>
            </a:r>
            <a:endParaRPr lang="en-US" sz="2800" dirty="0"/>
          </a:p>
        </p:txBody>
      </p:sp>
      <p:sp>
        <p:nvSpPr>
          <p:cNvPr id="4" name="Shape 2"/>
          <p:cNvSpPr/>
          <p:nvPr/>
        </p:nvSpPr>
        <p:spPr>
          <a:xfrm>
            <a:off x="640080" y="1600200"/>
            <a:ext cx="10881360" cy="3611880"/>
          </a:xfrm>
          <a:prstGeom prst="roundRect">
            <a:avLst>
              <a:gd name="adj" fmla="val 1519"/>
            </a:avLst>
          </a:prstGeom>
          <a:solidFill>
            <a:srgbClr val="1E1E1E"/>
          </a:solidFill>
          <a:ln/>
        </p:spPr>
      </p:sp>
      <p:sp>
        <p:nvSpPr>
          <p:cNvPr id="5" name="Shape 3"/>
          <p:cNvSpPr/>
          <p:nvPr/>
        </p:nvSpPr>
        <p:spPr>
          <a:xfrm>
            <a:off x="914400" y="1828800"/>
            <a:ext cx="146304" cy="146304"/>
          </a:xfrm>
          <a:prstGeom prst="ellipse">
            <a:avLst/>
          </a:prstGeom>
          <a:solidFill>
            <a:srgbClr val="A51C30"/>
          </a:solidFill>
          <a:ln/>
        </p:spPr>
      </p:sp>
      <p:sp>
        <p:nvSpPr>
          <p:cNvPr id="6" name="Shape 4"/>
          <p:cNvSpPr/>
          <p:nvPr/>
        </p:nvSpPr>
        <p:spPr>
          <a:xfrm>
            <a:off x="1170432" y="1828800"/>
            <a:ext cx="146304" cy="146304"/>
          </a:xfrm>
          <a:prstGeom prst="ellipse">
            <a:avLst/>
          </a:prstGeom>
          <a:solidFill>
            <a:srgbClr val="C4961A"/>
          </a:solidFill>
          <a:ln/>
        </p:spPr>
      </p:sp>
      <p:sp>
        <p:nvSpPr>
          <p:cNvPr id="7" name="Shape 5"/>
          <p:cNvSpPr/>
          <p:nvPr/>
        </p:nvSpPr>
        <p:spPr>
          <a:xfrm>
            <a:off x="1426464" y="1828800"/>
            <a:ext cx="146304" cy="146304"/>
          </a:xfrm>
          <a:prstGeom prst="ellipse">
            <a:avLst/>
          </a:prstGeom>
          <a:solidFill>
            <a:srgbClr val="1D9E75"/>
          </a:solidFill>
          <a:ln/>
        </p:spPr>
      </p:sp>
      <p:sp>
        <p:nvSpPr>
          <p:cNvPr id="8" name="Text 6"/>
          <p:cNvSpPr/>
          <p:nvPr/>
        </p:nvSpPr>
        <p:spPr>
          <a:xfrm>
            <a:off x="2011680" y="1764792"/>
            <a:ext cx="5486400" cy="274320"/>
          </a:xfrm>
          <a:prstGeom prst="rect">
            <a:avLst/>
          </a:prstGeom>
          <a:noFill/>
          <a:ln/>
        </p:spPr>
        <p:txBody>
          <a:bodyPr wrap="square" lIns="0" tIns="0" rIns="0" bIns="0" rtlCol="0" anchor="ctr"/>
          <a:lstStyle/>
          <a:p>
            <a:pPr marL="0" indent="0">
              <a:buNone/>
            </a:pPr>
            <a:r>
              <a:rPr lang="en-US" sz="1100" b="1" kern="0" spc="200" dirty="0">
                <a:solidFill>
                  <a:srgbClr val="8996A0"/>
                </a:solidFill>
                <a:latin typeface="Arial" pitchFamily="34" charset="0"/>
                <a:ea typeface="Arial" pitchFamily="34" charset="-122"/>
                <a:cs typeface="Arial" pitchFamily="34" charset="-120"/>
              </a:rPr>
              <a:t>LIVE CODE STEP THROUGH</a:t>
            </a:r>
            <a:endParaRPr lang="en-US" sz="1100" dirty="0"/>
          </a:p>
        </p:txBody>
      </p:sp>
      <p:sp>
        <p:nvSpPr>
          <p:cNvPr id="9" name="Text 7"/>
          <p:cNvSpPr/>
          <p:nvPr/>
        </p:nvSpPr>
        <p:spPr>
          <a:xfrm>
            <a:off x="914400" y="2331720"/>
            <a:ext cx="10332720" cy="685800"/>
          </a:xfrm>
          <a:prstGeom prst="rect">
            <a:avLst/>
          </a:prstGeom>
          <a:noFill/>
          <a:ln/>
        </p:spPr>
        <p:txBody>
          <a:bodyPr wrap="square" lIns="0" tIns="0" rIns="0" bIns="0" rtlCol="0" anchor="t"/>
          <a:lstStyle/>
          <a:p>
            <a:pPr marL="0" indent="0">
              <a:lnSpc>
                <a:spcPct val="100000"/>
              </a:lnSpc>
              <a:buNone/>
            </a:pPr>
            <a:r>
              <a:rPr lang="en-US" sz="1500" b="1" dirty="0">
                <a:solidFill>
                  <a:srgbClr val="4E84C4"/>
                </a:solidFill>
                <a:latin typeface="Arial" pitchFamily="34" charset="0"/>
                <a:ea typeface="Arial" pitchFamily="34" charset="-122"/>
                <a:cs typeface="Arial" pitchFamily="34" charset="-120"/>
              </a:rPr>
              <a:t>&gt; </a:t>
            </a:r>
            <a:r>
              <a:rPr lang="en-US" sz="1500" dirty="0">
                <a:solidFill>
                  <a:srgbClr val="F3F3F1"/>
                </a:solidFill>
                <a:latin typeface="Arial" pitchFamily="34" charset="0"/>
                <a:ea typeface="Arial" pitchFamily="34" charset="-122"/>
                <a:cs typeface="Arial" pitchFamily="34" charset="-120"/>
              </a:rPr>
              <a:t>Build the covariance matrix, set up the quadprog inputs, solve.</a:t>
            </a:r>
            <a:endParaRPr lang="en-US" sz="1500" dirty="0"/>
          </a:p>
        </p:txBody>
      </p:sp>
      <p:sp>
        <p:nvSpPr>
          <p:cNvPr id="10" name="Text 8"/>
          <p:cNvSpPr/>
          <p:nvPr/>
        </p:nvSpPr>
        <p:spPr>
          <a:xfrm>
            <a:off x="914400" y="3172968"/>
            <a:ext cx="10332720" cy="685800"/>
          </a:xfrm>
          <a:prstGeom prst="rect">
            <a:avLst/>
          </a:prstGeom>
          <a:noFill/>
          <a:ln/>
        </p:spPr>
        <p:txBody>
          <a:bodyPr wrap="square" lIns="0" tIns="0" rIns="0" bIns="0" rtlCol="0" anchor="t"/>
          <a:lstStyle/>
          <a:p>
            <a:pPr marL="0" indent="0">
              <a:lnSpc>
                <a:spcPct val="100000"/>
              </a:lnSpc>
              <a:buNone/>
            </a:pPr>
            <a:r>
              <a:rPr lang="en-US" sz="1500" b="1" dirty="0">
                <a:solidFill>
                  <a:srgbClr val="4E84C4"/>
                </a:solidFill>
                <a:latin typeface="Arial" pitchFamily="34" charset="0"/>
                <a:ea typeface="Arial" pitchFamily="34" charset="-122"/>
                <a:cs typeface="Arial" pitchFamily="34" charset="-120"/>
              </a:rPr>
              <a:t>&gt; </a:t>
            </a:r>
            <a:r>
              <a:rPr lang="en-US" sz="1500" dirty="0">
                <a:solidFill>
                  <a:srgbClr val="F3F3F1"/>
                </a:solidFill>
                <a:latin typeface="Arial" pitchFamily="34" charset="0"/>
                <a:ea typeface="Arial" pitchFamily="34" charset="-122"/>
                <a:cs typeface="Arial" pitchFamily="34" charset="-120"/>
              </a:rPr>
              <a:t>Read out the weights, run the sanity check that they sum to 1.</a:t>
            </a:r>
            <a:endParaRPr lang="en-US" sz="1500" dirty="0"/>
          </a:p>
        </p:txBody>
      </p:sp>
      <p:sp>
        <p:nvSpPr>
          <p:cNvPr id="11" name="Text 9"/>
          <p:cNvSpPr/>
          <p:nvPr/>
        </p:nvSpPr>
        <p:spPr>
          <a:xfrm>
            <a:off x="914400" y="4014216"/>
            <a:ext cx="10332720" cy="685800"/>
          </a:xfrm>
          <a:prstGeom prst="rect">
            <a:avLst/>
          </a:prstGeom>
          <a:noFill/>
          <a:ln/>
        </p:spPr>
        <p:txBody>
          <a:bodyPr wrap="square" lIns="0" tIns="0" rIns="0" bIns="0" rtlCol="0" anchor="t"/>
          <a:lstStyle/>
          <a:p>
            <a:pPr marL="0" indent="0">
              <a:lnSpc>
                <a:spcPct val="100000"/>
              </a:lnSpc>
              <a:buNone/>
            </a:pPr>
            <a:r>
              <a:rPr lang="en-US" sz="1500" b="1" dirty="0">
                <a:solidFill>
                  <a:srgbClr val="4E84C4"/>
                </a:solidFill>
                <a:latin typeface="Arial" pitchFamily="34" charset="0"/>
                <a:ea typeface="Arial" pitchFamily="34" charset="-122"/>
                <a:cs typeface="Arial" pitchFamily="34" charset="-120"/>
              </a:rPr>
              <a:t>&gt; </a:t>
            </a:r>
            <a:r>
              <a:rPr lang="en-US" sz="1500" dirty="0">
                <a:solidFill>
                  <a:srgbClr val="F3F3F1"/>
                </a:solidFill>
                <a:latin typeface="Arial" pitchFamily="34" charset="0"/>
                <a:ea typeface="Arial" pitchFamily="34" charset="-122"/>
                <a:cs typeface="Arial" pitchFamily="34" charset="-120"/>
              </a:rPr>
              <a:t>Compare portfolio volatility to each stock alone: the diversification payoff.</a:t>
            </a:r>
            <a:endParaRPr lang="en-US" sz="1500" dirty="0"/>
          </a:p>
        </p:txBody>
      </p:sp>
      <p:sp>
        <p:nvSpPr>
          <p:cNvPr id="14"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5" name="Harvard Page Number"/>
          <p:cNvSpPr txBox="1"/>
          <p:nvPr/>
        </p:nvSpPr>
        <p:spPr>
          <a:xfrm>
            <a:off x="11801189" y="6446043"/>
            <a:ext cx="253492" cy="274638"/>
          </a:xfrm>
          <a:prstGeom prst="rect">
            <a:avLst/>
          </a:prstGeom>
          <a:noFill/>
        </p:spPr>
        <p:txBody>
          <a:bodyPr wrap="none" lIns="0" tIns="0" rIns="0" bIns="0">
            <a:noAutofit/>
          </a:bodyPr>
          <a:lstStyle/>
          <a:p>
            <a:pPr algn="r"/>
            <a:fld id="{219BAF68-B0CD-4F4A-AD81-195395746964}" type="slidenum">
              <a:rPr lang="en-US" sz="1000">
                <a:solidFill>
                  <a:srgbClr val="8996A0"/>
                </a:solidFill>
                <a:latin typeface="Arial"/>
              </a:rPr>
              <a:t>9</a:t>
            </a:fld>
            <a:endParaRPr lang="en-US" sz="1000">
              <a:solidFill>
                <a:srgbClr val="8996A0"/>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320040"/>
          </a:xfrm>
          <a:prstGeom prst="rect">
            <a:avLst/>
          </a:prstGeom>
          <a:noFill/>
        </p:spPr>
        <p:txBody>
          <a:bodyPr wrap="square" lIns="45720" rIns="4572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A51C30"/>
                </a:solidFill>
                <a:effectLst/>
                <a:uLnTx/>
                <a:uFillTx/>
                <a:latin typeface="Arial"/>
                <a:ea typeface="+mn-ea"/>
                <a:cs typeface="+mn-cs"/>
              </a:rPr>
              <a:t>RISK-ADJUSTED RETURN</a:t>
            </a:r>
          </a:p>
        </p:txBody>
      </p:sp>
      <p:sp>
        <p:nvSpPr>
          <p:cNvPr id="3" name="TextBox 2"/>
          <p:cNvSpPr txBox="1"/>
          <p:nvPr/>
        </p:nvSpPr>
        <p:spPr>
          <a:xfrm>
            <a:off x="548640" y="621792"/>
            <a:ext cx="11064240" cy="822960"/>
          </a:xfrm>
          <a:prstGeom prst="rect">
            <a:avLst/>
          </a:prstGeom>
          <a:noFill/>
        </p:spPr>
        <p:txBody>
          <a:bodyPr wrap="square" lIns="45720" rIns="4572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000" b="1" i="0" u="none" strike="noStrike" kern="1200" cap="none" spc="0" normalizeH="0" baseline="0" noProof="0">
                <a:ln>
                  <a:noFill/>
                </a:ln>
                <a:solidFill>
                  <a:srgbClr val="1E1E1E"/>
                </a:solidFill>
                <a:effectLst/>
                <a:uLnTx/>
                <a:uFillTx/>
                <a:latin typeface="Arial"/>
                <a:ea typeface="+mn-ea"/>
                <a:cs typeface="+mn-cs"/>
              </a:rPr>
              <a:t>The Sharpe Ratio: Return per Unit of Risk</a:t>
            </a:r>
          </a:p>
        </p:txBody>
      </p:sp>
      <p:sp>
        <p:nvSpPr>
          <p:cNvPr id="4" name="TextBox 3"/>
          <p:cNvSpPr txBox="1"/>
          <p:nvPr/>
        </p:nvSpPr>
        <p:spPr>
          <a:xfrm>
            <a:off x="548640" y="1417320"/>
            <a:ext cx="11064240" cy="502920"/>
          </a:xfrm>
          <a:prstGeom prst="rect">
            <a:avLst/>
          </a:prstGeom>
          <a:noFill/>
        </p:spPr>
        <p:txBody>
          <a:bodyPr wrap="square" lIns="45720" rIns="4572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59636B"/>
                </a:solidFill>
                <a:effectLst/>
                <a:uLnTx/>
                <a:uFillTx/>
                <a:latin typeface="Arial"/>
                <a:ea typeface="+mn-ea"/>
                <a:cs typeface="+mn-cs"/>
              </a:rPr>
              <a:t>One number that says how much reward a portfolio earned for the amount of risk it took, so you can compare very different portfolios fairly.</a:t>
            </a:r>
          </a:p>
        </p:txBody>
      </p:sp>
      <p:sp>
        <p:nvSpPr>
          <p:cNvPr id="5" name="Rectangle 4"/>
          <p:cNvSpPr/>
          <p:nvPr/>
        </p:nvSpPr>
        <p:spPr>
          <a:xfrm>
            <a:off x="548640" y="2057400"/>
            <a:ext cx="11064240" cy="868680"/>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200" b="0" i="0" u="none" strike="noStrike" kern="1200" cap="none" spc="0" normalizeH="0" baseline="0" noProof="0">
                <a:ln>
                  <a:noFill/>
                </a:ln>
                <a:solidFill>
                  <a:srgbClr val="1E1E1E"/>
                </a:solidFill>
                <a:effectLst/>
                <a:uLnTx/>
                <a:uFillTx/>
                <a:latin typeface="Arial"/>
                <a:ea typeface="+mn-ea"/>
                <a:cs typeface="+mn-cs"/>
              </a:rPr>
              <a:t>Sharpe ratio  =  </a:t>
            </a:r>
            <a:r>
              <a:rPr kumimoji="0" sz="2400" b="1" i="0" u="none" strike="noStrike" kern="1200" cap="none" spc="0" normalizeH="0" baseline="0" noProof="0">
                <a:ln>
                  <a:noFill/>
                </a:ln>
                <a:solidFill>
                  <a:srgbClr val="A51C30"/>
                </a:solidFill>
                <a:effectLst/>
                <a:uLnTx/>
                <a:uFillTx/>
                <a:latin typeface="Arial"/>
                <a:ea typeface="+mn-ea"/>
                <a:cs typeface="+mn-cs"/>
              </a:rPr>
              <a:t>(Rp - Rf) / σp</a:t>
            </a:r>
            <a:r>
              <a:rPr kumimoji="0" sz="1600" b="0" i="0" u="none" strike="noStrike" kern="1200" cap="none" spc="0" normalizeH="0" baseline="0" noProof="0">
                <a:ln>
                  <a:noFill/>
                </a:ln>
                <a:solidFill>
                  <a:srgbClr val="59636B"/>
                </a:solidFill>
                <a:effectLst/>
                <a:uLnTx/>
                <a:uFillTx/>
                <a:latin typeface="Arial"/>
                <a:ea typeface="+mn-ea"/>
                <a:cs typeface="+mn-cs"/>
              </a:rPr>
              <a:t>      =   excess return ÷ volatility</a:t>
            </a:r>
          </a:p>
        </p:txBody>
      </p:sp>
      <p:sp>
        <p:nvSpPr>
          <p:cNvPr id="6" name="TextBox 5"/>
          <p:cNvSpPr txBox="1"/>
          <p:nvPr/>
        </p:nvSpPr>
        <p:spPr>
          <a:xfrm>
            <a:off x="548640" y="3246120"/>
            <a:ext cx="5394960" cy="365760"/>
          </a:xfrm>
          <a:prstGeom prst="rect">
            <a:avLst/>
          </a:prstGeom>
          <a:noFill/>
        </p:spPr>
        <p:txBody>
          <a:bodyPr wrap="square" lIns="45720" rIns="4572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A51C30"/>
                </a:solidFill>
                <a:effectLst/>
                <a:uLnTx/>
                <a:uFillTx/>
                <a:latin typeface="Arial"/>
                <a:ea typeface="+mn-ea"/>
                <a:cs typeface="+mn-cs"/>
              </a:rPr>
              <a:t>The pieces in plain English</a:t>
            </a:r>
          </a:p>
        </p:txBody>
      </p:sp>
      <p:sp>
        <p:nvSpPr>
          <p:cNvPr id="7" name="TextBox 6"/>
          <p:cNvSpPr txBox="1"/>
          <p:nvPr/>
        </p:nvSpPr>
        <p:spPr>
          <a:xfrm>
            <a:off x="548640" y="3657600"/>
            <a:ext cx="5394960" cy="2743200"/>
          </a:xfrm>
          <a:prstGeom prst="rect">
            <a:avLst/>
          </a:prstGeom>
          <a:noFill/>
        </p:spPr>
        <p:txBody>
          <a:bodyPr wrap="square" lIns="45720" rIns="45720" anchor="t">
            <a:spAutoFit/>
          </a:bodyPr>
          <a:lstStyle/>
          <a:p>
            <a:pPr marL="0" marR="0" lvl="0" indent="0" algn="l" defTabSz="457200" rtl="0" eaLnBrk="1" fontAlgn="auto" latinLnBrk="0" hangingPunct="1">
              <a:lnSpc>
                <a:spcPct val="100000"/>
              </a:lnSpc>
              <a:spcBef>
                <a:spcPts val="0"/>
              </a:spcBef>
              <a:spcAft>
                <a:spcPts val="1000"/>
              </a:spcAft>
              <a:buClrTx/>
              <a:buSzTx/>
              <a:buFontTx/>
              <a:buNone/>
              <a:tabLst/>
              <a:defRPr/>
            </a:pPr>
            <a:r>
              <a:rPr kumimoji="0" sz="1500" b="1" i="0" u="none" strike="noStrike" kern="1200" cap="none" spc="0" normalizeH="0" baseline="0" noProof="0">
                <a:ln>
                  <a:noFill/>
                </a:ln>
                <a:solidFill>
                  <a:srgbClr val="1E1E1E"/>
                </a:solidFill>
                <a:effectLst/>
                <a:uLnTx/>
                <a:uFillTx/>
                <a:latin typeface="Arial"/>
                <a:ea typeface="+mn-ea"/>
                <a:cs typeface="+mn-cs"/>
              </a:rPr>
              <a:t>Rp   </a:t>
            </a:r>
            <a:r>
              <a:rPr kumimoji="0" sz="1400" b="0" i="0" u="none" strike="noStrike" kern="1200" cap="none" spc="0" normalizeH="0" baseline="0" noProof="0">
                <a:ln>
                  <a:noFill/>
                </a:ln>
                <a:solidFill>
                  <a:srgbClr val="59636B"/>
                </a:solidFill>
                <a:effectLst/>
                <a:uLnTx/>
                <a:uFillTx/>
                <a:latin typeface="Arial"/>
                <a:ea typeface="+mn-ea"/>
                <a:cs typeface="+mn-cs"/>
              </a:rPr>
              <a:t>the portfolio's return, what you actually earned</a:t>
            </a:r>
          </a:p>
          <a:p>
            <a:pPr marL="0" marR="0" lvl="0" indent="0" algn="l" defTabSz="457200" rtl="0" eaLnBrk="1" fontAlgn="auto" latinLnBrk="0" hangingPunct="1">
              <a:lnSpc>
                <a:spcPct val="100000"/>
              </a:lnSpc>
              <a:spcBef>
                <a:spcPts val="0"/>
              </a:spcBef>
              <a:spcAft>
                <a:spcPts val="1000"/>
              </a:spcAft>
              <a:buClrTx/>
              <a:buSzTx/>
              <a:buFontTx/>
              <a:buNone/>
              <a:tabLst/>
              <a:defRPr/>
            </a:pPr>
            <a:r>
              <a:rPr kumimoji="0" sz="1500" b="1" i="0" u="none" strike="noStrike" kern="1200" cap="none" spc="0" normalizeH="0" baseline="0" noProof="0">
                <a:ln>
                  <a:noFill/>
                </a:ln>
                <a:solidFill>
                  <a:srgbClr val="1E1E1E"/>
                </a:solidFill>
                <a:effectLst/>
                <a:uLnTx/>
                <a:uFillTx/>
                <a:latin typeface="Arial"/>
                <a:ea typeface="+mn-ea"/>
                <a:cs typeface="+mn-cs"/>
              </a:rPr>
              <a:t>Rf   </a:t>
            </a:r>
            <a:r>
              <a:rPr kumimoji="0" sz="1400" b="0" i="0" u="none" strike="noStrike" kern="1200" cap="none" spc="0" normalizeH="0" baseline="0" noProof="0">
                <a:ln>
                  <a:noFill/>
                </a:ln>
                <a:solidFill>
                  <a:srgbClr val="59636B"/>
                </a:solidFill>
                <a:effectLst/>
                <a:uLnTx/>
                <a:uFillTx/>
                <a:latin typeface="Arial"/>
                <a:ea typeface="+mn-ea"/>
                <a:cs typeface="+mn-cs"/>
              </a:rPr>
              <a:t>the risk-free rate, what a no-risk T-bill would pay</a:t>
            </a:r>
          </a:p>
          <a:p>
            <a:pPr marL="0" marR="0" lvl="0" indent="0" algn="l" defTabSz="457200" rtl="0" eaLnBrk="1" fontAlgn="auto" latinLnBrk="0" hangingPunct="1">
              <a:lnSpc>
                <a:spcPct val="100000"/>
              </a:lnSpc>
              <a:spcBef>
                <a:spcPts val="0"/>
              </a:spcBef>
              <a:spcAft>
                <a:spcPts val="1000"/>
              </a:spcAft>
              <a:buClrTx/>
              <a:buSzTx/>
              <a:buFontTx/>
              <a:buNone/>
              <a:tabLst/>
              <a:defRPr/>
            </a:pPr>
            <a:r>
              <a:rPr kumimoji="0" sz="1500" b="1" i="0" u="none" strike="noStrike" kern="1200" cap="none" spc="0" normalizeH="0" baseline="0" noProof="0">
                <a:ln>
                  <a:noFill/>
                </a:ln>
                <a:solidFill>
                  <a:srgbClr val="1E1E1E"/>
                </a:solidFill>
                <a:effectLst/>
                <a:uLnTx/>
                <a:uFillTx/>
                <a:latin typeface="Arial"/>
                <a:ea typeface="+mn-ea"/>
                <a:cs typeface="+mn-cs"/>
              </a:rPr>
              <a:t>Rp - Rf   </a:t>
            </a:r>
            <a:r>
              <a:rPr kumimoji="0" sz="1400" b="0" i="0" u="none" strike="noStrike" kern="1200" cap="none" spc="0" normalizeH="0" baseline="0" noProof="0">
                <a:ln>
                  <a:noFill/>
                </a:ln>
                <a:solidFill>
                  <a:srgbClr val="59636B"/>
                </a:solidFill>
                <a:effectLst/>
                <a:uLnTx/>
                <a:uFillTx/>
                <a:latin typeface="Arial"/>
                <a:ea typeface="+mn-ea"/>
                <a:cs typeface="+mn-cs"/>
              </a:rPr>
              <a:t>excess return: the reward for taking any risk at all</a:t>
            </a:r>
          </a:p>
          <a:p>
            <a:pPr marL="0" marR="0" lvl="0" indent="0" algn="l" defTabSz="457200" rtl="0" eaLnBrk="1" fontAlgn="auto" latinLnBrk="0" hangingPunct="1">
              <a:lnSpc>
                <a:spcPct val="100000"/>
              </a:lnSpc>
              <a:spcBef>
                <a:spcPts val="0"/>
              </a:spcBef>
              <a:spcAft>
                <a:spcPts val="1000"/>
              </a:spcAft>
              <a:buClrTx/>
              <a:buSzTx/>
              <a:buFontTx/>
              <a:buNone/>
              <a:tabLst/>
              <a:defRPr/>
            </a:pPr>
            <a:r>
              <a:rPr kumimoji="0" sz="1500" b="1" i="0" u="none" strike="noStrike" kern="1200" cap="none" spc="0" normalizeH="0" baseline="0" noProof="0">
                <a:ln>
                  <a:noFill/>
                </a:ln>
                <a:solidFill>
                  <a:srgbClr val="1E1E1E"/>
                </a:solidFill>
                <a:effectLst/>
                <a:uLnTx/>
                <a:uFillTx/>
                <a:latin typeface="Arial"/>
                <a:ea typeface="+mn-ea"/>
                <a:cs typeface="+mn-cs"/>
              </a:rPr>
              <a:t>σp   </a:t>
            </a:r>
            <a:r>
              <a:rPr kumimoji="0" sz="1400" b="0" i="0" u="none" strike="noStrike" kern="1200" cap="none" spc="0" normalizeH="0" baseline="0" noProof="0">
                <a:ln>
                  <a:noFill/>
                </a:ln>
                <a:solidFill>
                  <a:srgbClr val="59636B"/>
                </a:solidFill>
                <a:effectLst/>
                <a:uLnTx/>
                <a:uFillTx/>
                <a:latin typeface="Arial"/>
                <a:ea typeface="+mn-ea"/>
                <a:cs typeface="+mn-cs"/>
              </a:rPr>
              <a:t>volatility (standard deviation): how bumpy the ride was</a:t>
            </a:r>
          </a:p>
        </p:txBody>
      </p:sp>
      <p:sp>
        <p:nvSpPr>
          <p:cNvPr id="8" name="TextBox 7"/>
          <p:cNvSpPr txBox="1"/>
          <p:nvPr/>
        </p:nvSpPr>
        <p:spPr>
          <a:xfrm>
            <a:off x="6355080" y="3246120"/>
            <a:ext cx="5257800" cy="365760"/>
          </a:xfrm>
          <a:prstGeom prst="rect">
            <a:avLst/>
          </a:prstGeom>
          <a:noFill/>
        </p:spPr>
        <p:txBody>
          <a:bodyPr wrap="square" lIns="45720" rIns="4572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A51C30"/>
                </a:solidFill>
                <a:effectLst/>
                <a:uLnTx/>
                <a:uFillTx/>
                <a:latin typeface="Arial"/>
                <a:ea typeface="+mn-ea"/>
                <a:cs typeface="+mn-cs"/>
              </a:rPr>
              <a:t>Why it matters</a:t>
            </a:r>
          </a:p>
        </p:txBody>
      </p:sp>
      <p:sp>
        <p:nvSpPr>
          <p:cNvPr id="9" name="TextBox 8"/>
          <p:cNvSpPr txBox="1"/>
          <p:nvPr/>
        </p:nvSpPr>
        <p:spPr>
          <a:xfrm>
            <a:off x="6355080" y="3657600"/>
            <a:ext cx="5257800" cy="2743200"/>
          </a:xfrm>
          <a:prstGeom prst="rect">
            <a:avLst/>
          </a:prstGeom>
          <a:noFill/>
        </p:spPr>
        <p:txBody>
          <a:bodyPr wrap="square" lIns="45720" rIns="45720" anchor="t">
            <a:spAutoFit/>
          </a:bodyPr>
          <a:lstStyle/>
          <a:p>
            <a:pPr marL="0" marR="0" lvl="0" indent="0" algn="l" defTabSz="457200" rtl="0" eaLnBrk="1" fontAlgn="auto" latinLnBrk="0" hangingPunct="1">
              <a:lnSpc>
                <a:spcPct val="100000"/>
              </a:lnSpc>
              <a:spcBef>
                <a:spcPts val="0"/>
              </a:spcBef>
              <a:spcAft>
                <a:spcPts val="1000"/>
              </a:spcAft>
              <a:buClrTx/>
              <a:buSzTx/>
              <a:buFontTx/>
              <a:buNone/>
              <a:tabLst/>
              <a:defRPr/>
            </a:pPr>
            <a:r>
              <a:rPr kumimoji="0" sz="1400" b="1" i="0" u="none" strike="noStrike" kern="1200" cap="none" spc="0" normalizeH="0" baseline="0" noProof="0">
                <a:ln>
                  <a:noFill/>
                </a:ln>
                <a:solidFill>
                  <a:srgbClr val="A51C30"/>
                </a:solidFill>
                <a:effectLst/>
                <a:uLnTx/>
                <a:uFillTx/>
                <a:latin typeface="Arial"/>
                <a:ea typeface="+mn-ea"/>
                <a:cs typeface="+mn-cs"/>
              </a:rPr>
              <a:t>•  </a:t>
            </a:r>
            <a:r>
              <a:rPr kumimoji="0" sz="1400" b="0" i="0" u="none" strike="noStrike" kern="1200" cap="none" spc="0" normalizeH="0" baseline="0" noProof="0">
                <a:ln>
                  <a:noFill/>
                </a:ln>
                <a:solidFill>
                  <a:srgbClr val="59636B"/>
                </a:solidFill>
                <a:effectLst/>
                <a:uLnTx/>
                <a:uFillTx/>
                <a:latin typeface="Arial"/>
                <a:ea typeface="+mn-ea"/>
                <a:cs typeface="+mn-cs"/>
              </a:rPr>
              <a:t>Higher Sharpe means more return for each unit of risk taken.</a:t>
            </a:r>
          </a:p>
          <a:p>
            <a:pPr marL="0" marR="0" lvl="0" indent="0" algn="l" defTabSz="457200" rtl="0" eaLnBrk="1" fontAlgn="auto" latinLnBrk="0" hangingPunct="1">
              <a:lnSpc>
                <a:spcPct val="100000"/>
              </a:lnSpc>
              <a:spcBef>
                <a:spcPts val="0"/>
              </a:spcBef>
              <a:spcAft>
                <a:spcPts val="1000"/>
              </a:spcAft>
              <a:buClrTx/>
              <a:buSzTx/>
              <a:buFontTx/>
              <a:buNone/>
              <a:tabLst/>
              <a:defRPr/>
            </a:pPr>
            <a:r>
              <a:rPr kumimoji="0" sz="1400" b="1" i="0" u="none" strike="noStrike" kern="1200" cap="none" spc="0" normalizeH="0" baseline="0" noProof="0">
                <a:ln>
                  <a:noFill/>
                </a:ln>
                <a:solidFill>
                  <a:srgbClr val="A51C30"/>
                </a:solidFill>
                <a:effectLst/>
                <a:uLnTx/>
                <a:uFillTx/>
                <a:latin typeface="Arial"/>
                <a:ea typeface="+mn-ea"/>
                <a:cs typeface="+mn-cs"/>
              </a:rPr>
              <a:t>•  </a:t>
            </a:r>
            <a:r>
              <a:rPr kumimoji="0" sz="1400" b="0" i="0" u="none" strike="noStrike" kern="1200" cap="none" spc="0" normalizeH="0" baseline="0" noProof="0">
                <a:ln>
                  <a:noFill/>
                </a:ln>
                <a:solidFill>
                  <a:srgbClr val="59636B"/>
                </a:solidFill>
                <a:effectLst/>
                <a:uLnTx/>
                <a:uFillTx/>
                <a:latin typeface="Arial"/>
                <a:ea typeface="+mn-ea"/>
                <a:cs typeface="+mn-cs"/>
              </a:rPr>
              <a:t>It puts risky and safe portfolios on the same level playing field.</a:t>
            </a:r>
          </a:p>
          <a:p>
            <a:pPr marL="0" marR="0" lvl="0" indent="0" algn="l" defTabSz="457200" rtl="0" eaLnBrk="1" fontAlgn="auto" latinLnBrk="0" hangingPunct="1">
              <a:lnSpc>
                <a:spcPct val="100000"/>
              </a:lnSpc>
              <a:spcBef>
                <a:spcPts val="0"/>
              </a:spcBef>
              <a:spcAft>
                <a:spcPts val="1000"/>
              </a:spcAft>
              <a:buClrTx/>
              <a:buSzTx/>
              <a:buFontTx/>
              <a:buNone/>
              <a:tabLst/>
              <a:defRPr/>
            </a:pPr>
            <a:r>
              <a:rPr kumimoji="0" sz="1400" b="1" i="0" u="none" strike="noStrike" kern="1200" cap="none" spc="0" normalizeH="0" baseline="0" noProof="0">
                <a:ln>
                  <a:noFill/>
                </a:ln>
                <a:solidFill>
                  <a:srgbClr val="A51C30"/>
                </a:solidFill>
                <a:effectLst/>
                <a:uLnTx/>
                <a:uFillTx/>
                <a:latin typeface="Arial"/>
                <a:ea typeface="+mn-ea"/>
                <a:cs typeface="+mn-cs"/>
              </a:rPr>
              <a:t>•  </a:t>
            </a:r>
            <a:r>
              <a:rPr kumimoji="0" sz="1400" b="0" i="0" u="none" strike="noStrike" kern="1200" cap="none" spc="0" normalizeH="0" baseline="0" noProof="0">
                <a:ln>
                  <a:noFill/>
                </a:ln>
                <a:solidFill>
                  <a:srgbClr val="59636B"/>
                </a:solidFill>
                <a:effectLst/>
                <a:uLnTx/>
                <a:uFillTx/>
                <a:latin typeface="Arial"/>
                <a:ea typeface="+mn-ea"/>
                <a:cs typeface="+mn-cs"/>
              </a:rPr>
              <a:t>Maximizing it seeks the best return-for-risk trade-off, not just the biggest raw return.</a:t>
            </a:r>
          </a:p>
          <a:p>
            <a:pPr marL="0" marR="0" lvl="0" indent="0" algn="l" defTabSz="457200" rtl="0" eaLnBrk="1" fontAlgn="auto" latinLnBrk="0" hangingPunct="1">
              <a:lnSpc>
                <a:spcPct val="100000"/>
              </a:lnSpc>
              <a:spcBef>
                <a:spcPts val="0"/>
              </a:spcBef>
              <a:spcAft>
                <a:spcPts val="1000"/>
              </a:spcAft>
              <a:buClrTx/>
              <a:buSzTx/>
              <a:buFontTx/>
              <a:buNone/>
              <a:tabLst/>
              <a:defRPr/>
            </a:pPr>
            <a:r>
              <a:rPr kumimoji="0" sz="1400" b="1" i="0" u="none" strike="noStrike" kern="1200" cap="none" spc="0" normalizeH="0" baseline="0" noProof="0">
                <a:ln>
                  <a:noFill/>
                </a:ln>
                <a:solidFill>
                  <a:srgbClr val="A51C30"/>
                </a:solidFill>
                <a:effectLst/>
                <a:uLnTx/>
                <a:uFillTx/>
                <a:latin typeface="Arial"/>
                <a:ea typeface="+mn-ea"/>
                <a:cs typeface="+mn-cs"/>
              </a:rPr>
              <a:t>•  </a:t>
            </a:r>
            <a:r>
              <a:rPr kumimoji="0" sz="1400" b="0" i="0" u="none" strike="noStrike" kern="1200" cap="none" spc="0" normalizeH="0" baseline="0" noProof="0">
                <a:ln>
                  <a:noFill/>
                </a:ln>
                <a:solidFill>
                  <a:srgbClr val="59636B"/>
                </a:solidFill>
                <a:effectLst/>
                <a:uLnTx/>
                <a:uFillTx/>
                <a:latin typeface="Arial"/>
                <a:ea typeface="+mn-ea"/>
                <a:cs typeface="+mn-cs"/>
              </a:rPr>
              <a:t>A negative Sharpe means you would have done better holding the risk-free asset.</a:t>
            </a:r>
          </a:p>
        </p:txBody>
      </p:sp>
      <p:sp>
        <p:nvSpPr>
          <p:cNvPr id="10" name="Harvard Footer"/>
          <p:cNvSpPr txBox="1"/>
          <p:nvPr/>
        </p:nvSpPr>
        <p:spPr>
          <a:xfrm>
            <a:off x="137319" y="6446043"/>
            <a:ext cx="1326387" cy="274638"/>
          </a:xfrm>
          <a:prstGeom prst="rect">
            <a:avLst/>
          </a:prstGeom>
          <a:noFill/>
        </p:spPr>
        <p:txBody>
          <a:bodyPr wrap="non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8996A0"/>
                </a:solidFill>
                <a:effectLst/>
                <a:uLnTx/>
                <a:uFillTx/>
                <a:latin typeface="Arial"/>
                <a:ea typeface="+mn-ea"/>
                <a:cs typeface="+mn-cs"/>
              </a:rPr>
              <a:t>© 2026 Ted Kwartler</a:t>
            </a:r>
          </a:p>
        </p:txBody>
      </p:sp>
      <p:sp>
        <p:nvSpPr>
          <p:cNvPr id="11" name="Harvard Page Number"/>
          <p:cNvSpPr txBox="1"/>
          <p:nvPr/>
        </p:nvSpPr>
        <p:spPr>
          <a:xfrm>
            <a:off x="11800884" y="6446043"/>
            <a:ext cx="253492" cy="274638"/>
          </a:xfrm>
          <a:prstGeom prst="rect">
            <a:avLst/>
          </a:prstGeom>
          <a:noFill/>
        </p:spPr>
        <p:txBody>
          <a:bodyPr wrap="none" lIns="0" tIns="0" rIns="0" bIns="0">
            <a:no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41BFFA8-E290-44B7-8D8D-0624F3A95C9C}" type="slidenum">
              <a:rPr kumimoji="0" lang="en-US" sz="1000" b="0" i="0" u="none" strike="noStrike" kern="1200" cap="none" spc="0" normalizeH="0" baseline="0" noProof="0">
                <a:ln>
                  <a:noFill/>
                </a:ln>
                <a:solidFill>
                  <a:srgbClr val="8996A0"/>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000" b="0" i="0" u="none" strike="noStrike" kern="1200" cap="none" spc="0" normalizeH="0" baseline="0" noProof="0">
              <a:ln>
                <a:noFill/>
              </a:ln>
              <a:solidFill>
                <a:srgbClr val="8996A0"/>
              </a:solidFill>
              <a:effectLst/>
              <a:uLnTx/>
              <a:uFillTx/>
              <a:latin typeface="Arial"/>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320040"/>
          </a:xfrm>
          <a:prstGeom prst="rect">
            <a:avLst/>
          </a:prstGeom>
          <a:noFill/>
        </p:spPr>
        <p:txBody>
          <a:bodyPr wrap="square" lIns="45720" rIns="4572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A51C30"/>
                </a:solidFill>
                <a:effectLst/>
                <a:uLnTx/>
                <a:uFillTx/>
                <a:latin typeface="Arial"/>
                <a:ea typeface="+mn-ea"/>
                <a:cs typeface="+mn-cs"/>
              </a:rPr>
              <a:t>PORTFOLIOANALYTICS  ·  MAX SHARPE VIA ROI</a:t>
            </a:r>
          </a:p>
        </p:txBody>
      </p:sp>
      <p:sp>
        <p:nvSpPr>
          <p:cNvPr id="3" name="TextBox 2"/>
          <p:cNvSpPr txBox="1"/>
          <p:nvPr/>
        </p:nvSpPr>
        <p:spPr>
          <a:xfrm>
            <a:off x="548640" y="621792"/>
            <a:ext cx="11064240" cy="822960"/>
          </a:xfrm>
          <a:prstGeom prst="rect">
            <a:avLst/>
          </a:prstGeom>
          <a:noFill/>
        </p:spPr>
        <p:txBody>
          <a:bodyPr wrap="square" lIns="45720" rIns="4572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000" b="1" i="0" u="none" strike="noStrike" kern="1200" cap="none" spc="0" normalizeH="0" baseline="0" noProof="0">
                <a:ln>
                  <a:noFill/>
                </a:ln>
                <a:solidFill>
                  <a:srgbClr val="1E1E1E"/>
                </a:solidFill>
                <a:effectLst/>
                <a:uLnTx/>
                <a:uFillTx/>
                <a:latin typeface="Arial"/>
                <a:ea typeface="+mn-ea"/>
                <a:cs typeface="+mn-cs"/>
              </a:rPr>
              <a:t>Building the Max-Sharpe Portfolio, Step by Step</a:t>
            </a:r>
          </a:p>
        </p:txBody>
      </p:sp>
      <p:sp>
        <p:nvSpPr>
          <p:cNvPr id="4" name="TextBox 3"/>
          <p:cNvSpPr txBox="1"/>
          <p:nvPr/>
        </p:nvSpPr>
        <p:spPr>
          <a:xfrm>
            <a:off x="548640" y="1417320"/>
            <a:ext cx="11064240" cy="502920"/>
          </a:xfrm>
          <a:prstGeom prst="rect">
            <a:avLst/>
          </a:prstGeom>
          <a:noFill/>
        </p:spPr>
        <p:txBody>
          <a:bodyPr wrap="square" lIns="45720" rIns="4572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59636B"/>
                </a:solidFill>
                <a:effectLst/>
                <a:uLnTx/>
                <a:uFillTx/>
                <a:latin typeface="Arial"/>
                <a:ea typeface="+mn-ea"/>
                <a:cs typeface="+mn-cs"/>
              </a:rPr>
              <a:t>What the R script does, without the matrix math: describe the goal, let the solver find the mix, then check its work.</a:t>
            </a:r>
          </a:p>
        </p:txBody>
      </p:sp>
      <p:sp>
        <p:nvSpPr>
          <p:cNvPr id="5" name="Rectangle 4"/>
          <p:cNvSpPr/>
          <p:nvPr/>
        </p:nvSpPr>
        <p:spPr>
          <a:xfrm>
            <a:off x="548640" y="1965960"/>
            <a:ext cx="11064240" cy="685800"/>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a:ln>
                  <a:noFill/>
                </a:ln>
                <a:solidFill>
                  <a:srgbClr val="1E1E1E"/>
                </a:solidFill>
                <a:effectLst/>
                <a:uLnTx/>
                <a:uFillTx/>
                <a:latin typeface="Arial"/>
                <a:ea typeface="+mn-ea"/>
                <a:cs typeface="+mn-cs"/>
              </a:rPr>
              <a:t>Goal:  </a:t>
            </a:r>
            <a:r>
              <a:rPr kumimoji="0" sz="2200" b="1" i="0" u="none" strike="noStrike" kern="1200" cap="none" spc="0" normalizeH="0" baseline="0" noProof="0">
                <a:ln>
                  <a:noFill/>
                </a:ln>
                <a:solidFill>
                  <a:srgbClr val="A51C30"/>
                </a:solidFill>
                <a:effectLst/>
                <a:uLnTx/>
                <a:uFillTx/>
                <a:latin typeface="Arial"/>
                <a:ea typeface="+mn-ea"/>
                <a:cs typeface="+mn-cs"/>
              </a:rPr>
              <a:t>the maximum-Sharpe portfolio</a:t>
            </a:r>
            <a:r>
              <a:rPr kumimoji="0" sz="1500" b="0" i="0" u="none" strike="noStrike" kern="1200" cap="none" spc="0" normalizeH="0" baseline="0" noProof="0">
                <a:ln>
                  <a:noFill/>
                </a:ln>
                <a:solidFill>
                  <a:srgbClr val="59636B"/>
                </a:solidFill>
                <a:effectLst/>
                <a:uLnTx/>
                <a:uFillTx/>
                <a:latin typeface="Arial"/>
                <a:ea typeface="+mn-ea"/>
                <a:cs typeface="+mn-cs"/>
              </a:rPr>
              <a:t>   (the mix with the most return for the risk it takes)</a:t>
            </a:r>
          </a:p>
        </p:txBody>
      </p:sp>
      <p:sp>
        <p:nvSpPr>
          <p:cNvPr id="6" name="TextBox 5"/>
          <p:cNvSpPr txBox="1"/>
          <p:nvPr/>
        </p:nvSpPr>
        <p:spPr>
          <a:xfrm>
            <a:off x="548640" y="2834640"/>
            <a:ext cx="5394960" cy="365760"/>
          </a:xfrm>
          <a:prstGeom prst="rect">
            <a:avLst/>
          </a:prstGeom>
          <a:noFill/>
        </p:spPr>
        <p:txBody>
          <a:bodyPr wrap="square" lIns="45720" rIns="4572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A51C30"/>
                </a:solidFill>
                <a:effectLst/>
                <a:uLnTx/>
                <a:uFillTx/>
                <a:latin typeface="Arial"/>
                <a:ea typeface="+mn-ea"/>
                <a:cs typeface="+mn-cs"/>
              </a:rPr>
              <a:t>Set up the problem</a:t>
            </a:r>
          </a:p>
        </p:txBody>
      </p:sp>
      <p:sp>
        <p:nvSpPr>
          <p:cNvPr id="7" name="TextBox 6"/>
          <p:cNvSpPr txBox="1"/>
          <p:nvPr/>
        </p:nvSpPr>
        <p:spPr>
          <a:xfrm>
            <a:off x="6355080" y="2834640"/>
            <a:ext cx="5257800" cy="365760"/>
          </a:xfrm>
          <a:prstGeom prst="rect">
            <a:avLst/>
          </a:prstGeom>
          <a:noFill/>
        </p:spPr>
        <p:txBody>
          <a:bodyPr wrap="square" lIns="45720" rIns="4572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A51C30"/>
                </a:solidFill>
                <a:effectLst/>
                <a:uLnTx/>
                <a:uFillTx/>
                <a:latin typeface="Arial"/>
                <a:ea typeface="+mn-ea"/>
                <a:cs typeface="+mn-cs"/>
              </a:rPr>
              <a:t>Solve, verify, report</a:t>
            </a:r>
          </a:p>
        </p:txBody>
      </p:sp>
      <p:sp>
        <p:nvSpPr>
          <p:cNvPr id="8" name="TextBox 7"/>
          <p:cNvSpPr txBox="1"/>
          <p:nvPr/>
        </p:nvSpPr>
        <p:spPr>
          <a:xfrm>
            <a:off x="548640" y="3291840"/>
            <a:ext cx="5394960" cy="3291840"/>
          </a:xfrm>
          <a:prstGeom prst="rect">
            <a:avLst/>
          </a:prstGeom>
          <a:noFill/>
        </p:spPr>
        <p:txBody>
          <a:bodyPr wrap="square" lIns="45720" rIns="45720" anchor="t">
            <a:spAutoFit/>
          </a:bodyPr>
          <a:lstStyle/>
          <a:p>
            <a:pPr marL="0" marR="0" lvl="0" indent="0" algn="l" defTabSz="457200" rtl="0" eaLnBrk="1" fontAlgn="auto" latinLnBrk="0" hangingPunct="1">
              <a:lnSpc>
                <a:spcPct val="100000"/>
              </a:lnSpc>
              <a:spcBef>
                <a:spcPts val="0"/>
              </a:spcBef>
              <a:spcAft>
                <a:spcPts val="200"/>
              </a:spcAft>
              <a:buClrTx/>
              <a:buSzTx/>
              <a:buFontTx/>
              <a:buNone/>
              <a:tabLst/>
              <a:defRPr/>
            </a:pPr>
            <a:r>
              <a:rPr kumimoji="0" sz="1350" b="1" i="0" u="none" strike="noStrike" kern="1200" cap="none" spc="0" normalizeH="0" baseline="0" noProof="0">
                <a:ln>
                  <a:noFill/>
                </a:ln>
                <a:solidFill>
                  <a:srgbClr val="A51C30"/>
                </a:solidFill>
                <a:effectLst/>
                <a:uLnTx/>
                <a:uFillTx/>
                <a:latin typeface="Arial"/>
                <a:ea typeface="+mn-ea"/>
                <a:cs typeface="+mn-cs"/>
              </a:rPr>
              <a:t>1.  </a:t>
            </a:r>
            <a:r>
              <a:rPr kumimoji="0" sz="1350" b="1" i="0" u="none" strike="noStrike" kern="1200" cap="none" spc="0" normalizeH="0" baseline="0" noProof="0">
                <a:ln>
                  <a:noFill/>
                </a:ln>
                <a:solidFill>
                  <a:srgbClr val="1E1E1E"/>
                </a:solidFill>
                <a:effectLst/>
                <a:uLnTx/>
                <a:uFillTx/>
                <a:latin typeface="Arial"/>
                <a:ea typeface="+mn-ea"/>
                <a:cs typeface="+mn-cs"/>
              </a:rPr>
              <a:t>Pick a risk-free rate.</a:t>
            </a:r>
          </a:p>
          <a:p>
            <a:pPr marL="0" marR="0" lvl="0" indent="0" algn="l" defTabSz="457200" rtl="0" eaLnBrk="1" fontAlgn="auto" latinLnBrk="0" hangingPunct="1">
              <a:lnSpc>
                <a:spcPct val="100000"/>
              </a:lnSpc>
              <a:spcBef>
                <a:spcPts val="0"/>
              </a:spcBef>
              <a:spcAft>
                <a:spcPts val="800"/>
              </a:spcAft>
              <a:buClrTx/>
              <a:buSzTx/>
              <a:buFontTx/>
              <a:buNone/>
              <a:tabLst/>
              <a:defRPr/>
            </a:pPr>
            <a:r>
              <a:rPr kumimoji="0" sz="1250" b="0" i="0" u="none" strike="noStrike" kern="1200" cap="none" spc="0" normalizeH="0" baseline="0" noProof="0">
                <a:ln>
                  <a:noFill/>
                </a:ln>
                <a:solidFill>
                  <a:srgbClr val="59636B"/>
                </a:solidFill>
                <a:effectLst/>
                <a:uLnTx/>
                <a:uFillTx/>
                <a:latin typeface="Arial"/>
                <a:ea typeface="+mn-ea"/>
                <a:cs typeface="+mn-cs"/>
              </a:rPr>
              <a:t>     3.5% a year, divided by 252 trading days for a daily figure. The no-risk benchmark (a 3-month T-bill).</a:t>
            </a:r>
          </a:p>
          <a:p>
            <a:pPr marL="0" marR="0" lvl="0" indent="0" algn="l" defTabSz="457200" rtl="0" eaLnBrk="1" fontAlgn="auto" latinLnBrk="0" hangingPunct="1">
              <a:lnSpc>
                <a:spcPct val="100000"/>
              </a:lnSpc>
              <a:spcBef>
                <a:spcPts val="0"/>
              </a:spcBef>
              <a:spcAft>
                <a:spcPts val="200"/>
              </a:spcAft>
              <a:buClrTx/>
              <a:buSzTx/>
              <a:buFontTx/>
              <a:buNone/>
              <a:tabLst/>
              <a:defRPr/>
            </a:pPr>
            <a:r>
              <a:rPr kumimoji="0" sz="1350" b="1" i="0" u="none" strike="noStrike" kern="1200" cap="none" spc="0" normalizeH="0" baseline="0" noProof="0">
                <a:ln>
                  <a:noFill/>
                </a:ln>
                <a:solidFill>
                  <a:srgbClr val="A51C30"/>
                </a:solidFill>
                <a:effectLst/>
                <a:uLnTx/>
                <a:uFillTx/>
                <a:latin typeface="Arial"/>
                <a:ea typeface="+mn-ea"/>
                <a:cs typeface="+mn-cs"/>
              </a:rPr>
              <a:t>2.  </a:t>
            </a:r>
            <a:r>
              <a:rPr kumimoji="0" sz="1350" b="1" i="0" u="none" strike="noStrike" kern="1200" cap="none" spc="0" normalizeH="0" baseline="0" noProof="0">
                <a:ln>
                  <a:noFill/>
                </a:ln>
                <a:solidFill>
                  <a:srgbClr val="1E1E1E"/>
                </a:solidFill>
                <a:effectLst/>
                <a:uLnTx/>
                <a:uFillTx/>
                <a:latin typeface="Arial"/>
                <a:ea typeface="+mn-ea"/>
                <a:cs typeface="+mn-cs"/>
              </a:rPr>
              <a:t>Switch to excess returns.</a:t>
            </a:r>
          </a:p>
          <a:p>
            <a:pPr marL="0" marR="0" lvl="0" indent="0" algn="l" defTabSz="457200" rtl="0" eaLnBrk="1" fontAlgn="auto" latinLnBrk="0" hangingPunct="1">
              <a:lnSpc>
                <a:spcPct val="100000"/>
              </a:lnSpc>
              <a:spcBef>
                <a:spcPts val="0"/>
              </a:spcBef>
              <a:spcAft>
                <a:spcPts val="800"/>
              </a:spcAft>
              <a:buClrTx/>
              <a:buSzTx/>
              <a:buFontTx/>
              <a:buNone/>
              <a:tabLst/>
              <a:defRPr/>
            </a:pPr>
            <a:r>
              <a:rPr kumimoji="0" sz="1250" b="0" i="0" u="none" strike="noStrike" kern="1200" cap="none" spc="0" normalizeH="0" baseline="0" noProof="0">
                <a:ln>
                  <a:noFill/>
                </a:ln>
                <a:solidFill>
                  <a:srgbClr val="59636B"/>
                </a:solidFill>
                <a:effectLst/>
                <a:uLnTx/>
                <a:uFillTx/>
                <a:latin typeface="Arial"/>
                <a:ea typeface="+mn-ea"/>
                <a:cs typeface="+mn-cs"/>
              </a:rPr>
              <a:t>     Subtract that daily rate from every return. The max-Sharpe shortcut assumes a zero rate, so this bakes in your 3.5%.</a:t>
            </a:r>
          </a:p>
          <a:p>
            <a:pPr marL="0" marR="0" lvl="0" indent="0" algn="l" defTabSz="457200" rtl="0" eaLnBrk="1" fontAlgn="auto" latinLnBrk="0" hangingPunct="1">
              <a:lnSpc>
                <a:spcPct val="100000"/>
              </a:lnSpc>
              <a:spcBef>
                <a:spcPts val="0"/>
              </a:spcBef>
              <a:spcAft>
                <a:spcPts val="200"/>
              </a:spcAft>
              <a:buClrTx/>
              <a:buSzTx/>
              <a:buFontTx/>
              <a:buNone/>
              <a:tabLst/>
              <a:defRPr/>
            </a:pPr>
            <a:r>
              <a:rPr kumimoji="0" sz="1350" b="1" i="0" u="none" strike="noStrike" kern="1200" cap="none" spc="0" normalizeH="0" baseline="0" noProof="0">
                <a:ln>
                  <a:noFill/>
                </a:ln>
                <a:solidFill>
                  <a:srgbClr val="A51C30"/>
                </a:solidFill>
                <a:effectLst/>
                <a:uLnTx/>
                <a:uFillTx/>
                <a:latin typeface="Arial"/>
                <a:ea typeface="+mn-ea"/>
                <a:cs typeface="+mn-cs"/>
              </a:rPr>
              <a:t>3.  </a:t>
            </a:r>
            <a:r>
              <a:rPr kumimoji="0" sz="1350" b="1" i="0" u="none" strike="noStrike" kern="1200" cap="none" spc="0" normalizeH="0" baseline="0" noProof="0">
                <a:ln>
                  <a:noFill/>
                </a:ln>
                <a:solidFill>
                  <a:srgbClr val="1E1E1E"/>
                </a:solidFill>
                <a:effectLst/>
                <a:uLnTx/>
                <a:uFillTx/>
                <a:latin typeface="Arial"/>
                <a:ea typeface="+mn-ea"/>
                <a:cs typeface="+mn-cs"/>
              </a:rPr>
              <a:t>Refuse pointless cases.</a:t>
            </a:r>
          </a:p>
          <a:p>
            <a:pPr marL="0" marR="0" lvl="0" indent="0" algn="l" defTabSz="457200" rtl="0" eaLnBrk="1" fontAlgn="auto" latinLnBrk="0" hangingPunct="1">
              <a:lnSpc>
                <a:spcPct val="100000"/>
              </a:lnSpc>
              <a:spcBef>
                <a:spcPts val="0"/>
              </a:spcBef>
              <a:spcAft>
                <a:spcPts val="800"/>
              </a:spcAft>
              <a:buClrTx/>
              <a:buSzTx/>
              <a:buFontTx/>
              <a:buNone/>
              <a:tabLst/>
              <a:defRPr/>
            </a:pPr>
            <a:r>
              <a:rPr kumimoji="0" sz="1250" b="0" i="0" u="none" strike="noStrike" kern="1200" cap="none" spc="0" normalizeH="0" baseline="0" noProof="0">
                <a:ln>
                  <a:noFill/>
                </a:ln>
                <a:solidFill>
                  <a:srgbClr val="59636B"/>
                </a:solidFill>
                <a:effectLst/>
                <a:uLnTx/>
                <a:uFillTx/>
                <a:latin typeface="Arial"/>
                <a:ea typeface="+mn-ea"/>
                <a:cs typeface="+mn-cs"/>
              </a:rPr>
              <a:t>     If not one asset beats the risk-free rate, stop: a best-Sharpe mix would not be meaningful.</a:t>
            </a:r>
          </a:p>
          <a:p>
            <a:pPr marL="0" marR="0" lvl="0" indent="0" algn="l" defTabSz="457200" rtl="0" eaLnBrk="1" fontAlgn="auto" latinLnBrk="0" hangingPunct="1">
              <a:lnSpc>
                <a:spcPct val="100000"/>
              </a:lnSpc>
              <a:spcBef>
                <a:spcPts val="0"/>
              </a:spcBef>
              <a:spcAft>
                <a:spcPts val="200"/>
              </a:spcAft>
              <a:buClrTx/>
              <a:buSzTx/>
              <a:buFontTx/>
              <a:buNone/>
              <a:tabLst/>
              <a:defRPr/>
            </a:pPr>
            <a:r>
              <a:rPr kumimoji="0" sz="1350" b="1" i="0" u="none" strike="noStrike" kern="1200" cap="none" spc="0" normalizeH="0" baseline="0" noProof="0">
                <a:ln>
                  <a:noFill/>
                </a:ln>
                <a:solidFill>
                  <a:srgbClr val="A51C30"/>
                </a:solidFill>
                <a:effectLst/>
                <a:uLnTx/>
                <a:uFillTx/>
                <a:latin typeface="Arial"/>
                <a:ea typeface="+mn-ea"/>
                <a:cs typeface="+mn-cs"/>
              </a:rPr>
              <a:t>4.  </a:t>
            </a:r>
            <a:r>
              <a:rPr kumimoji="0" sz="1350" b="1" i="0" u="none" strike="noStrike" kern="1200" cap="none" spc="0" normalizeH="0" baseline="0" noProof="0">
                <a:ln>
                  <a:noFill/>
                </a:ln>
                <a:solidFill>
                  <a:srgbClr val="1E1E1E"/>
                </a:solidFill>
                <a:effectLst/>
                <a:uLnTx/>
                <a:uFillTx/>
                <a:latin typeface="Arial"/>
                <a:ea typeface="+mn-ea"/>
                <a:cs typeface="+mn-cs"/>
              </a:rPr>
              <a:t>Describe the goal, not the math.</a:t>
            </a:r>
          </a:p>
          <a:p>
            <a:pPr marL="0" marR="0" lvl="0" indent="0" algn="l" defTabSz="457200" rtl="0" eaLnBrk="1" fontAlgn="auto" latinLnBrk="0" hangingPunct="1">
              <a:lnSpc>
                <a:spcPct val="100000"/>
              </a:lnSpc>
              <a:spcBef>
                <a:spcPts val="0"/>
              </a:spcBef>
              <a:spcAft>
                <a:spcPts val="800"/>
              </a:spcAft>
              <a:buClrTx/>
              <a:buSzTx/>
              <a:buFontTx/>
              <a:buNone/>
              <a:tabLst/>
              <a:defRPr/>
            </a:pPr>
            <a:r>
              <a:rPr kumimoji="0" sz="1250" b="0" i="0" u="none" strike="noStrike" kern="1200" cap="none" spc="0" normalizeH="0" baseline="0" noProof="0">
                <a:ln>
                  <a:noFill/>
                </a:ln>
                <a:solidFill>
                  <a:srgbClr val="59636B"/>
                </a:solidFill>
                <a:effectLst/>
                <a:uLnTx/>
                <a:uFillTx/>
                <a:latin typeface="Arial"/>
                <a:ea typeface="+mn-ea"/>
                <a:cs typeface="+mn-cs"/>
              </a:rPr>
              <a:t>     Tell the wrapper the rules: deploy all capital (weights sum to 1), no short selling (weights not negative), and chase return and low risk together, which is the Sharpe trade-off.</a:t>
            </a:r>
          </a:p>
        </p:txBody>
      </p:sp>
      <p:sp>
        <p:nvSpPr>
          <p:cNvPr id="9" name="TextBox 8"/>
          <p:cNvSpPr txBox="1"/>
          <p:nvPr/>
        </p:nvSpPr>
        <p:spPr>
          <a:xfrm>
            <a:off x="6355080" y="3291840"/>
            <a:ext cx="5257800" cy="3291840"/>
          </a:xfrm>
          <a:prstGeom prst="rect">
            <a:avLst/>
          </a:prstGeom>
          <a:noFill/>
        </p:spPr>
        <p:txBody>
          <a:bodyPr wrap="square" lIns="45720" rIns="45720" anchor="t">
            <a:spAutoFit/>
          </a:bodyPr>
          <a:lstStyle/>
          <a:p>
            <a:pPr marL="0" marR="0" lvl="0" indent="0" algn="l" defTabSz="457200" rtl="0" eaLnBrk="1" fontAlgn="auto" latinLnBrk="0" hangingPunct="1">
              <a:lnSpc>
                <a:spcPct val="100000"/>
              </a:lnSpc>
              <a:spcBef>
                <a:spcPts val="0"/>
              </a:spcBef>
              <a:spcAft>
                <a:spcPts val="200"/>
              </a:spcAft>
              <a:buClrTx/>
              <a:buSzTx/>
              <a:buFontTx/>
              <a:buNone/>
              <a:tabLst/>
              <a:defRPr/>
            </a:pPr>
            <a:r>
              <a:rPr kumimoji="0" sz="1350" b="1" i="0" u="none" strike="noStrike" kern="1200" cap="none" spc="0" normalizeH="0" baseline="0" noProof="0">
                <a:ln>
                  <a:noFill/>
                </a:ln>
                <a:solidFill>
                  <a:srgbClr val="A51C30"/>
                </a:solidFill>
                <a:effectLst/>
                <a:uLnTx/>
                <a:uFillTx/>
                <a:latin typeface="Arial"/>
                <a:ea typeface="+mn-ea"/>
                <a:cs typeface="+mn-cs"/>
              </a:rPr>
              <a:t>5.  </a:t>
            </a:r>
            <a:r>
              <a:rPr kumimoji="0" sz="1350" b="1" i="0" u="none" strike="noStrike" kern="1200" cap="none" spc="0" normalizeH="0" baseline="0" noProof="0">
                <a:ln>
                  <a:noFill/>
                </a:ln>
                <a:solidFill>
                  <a:srgbClr val="1E1E1E"/>
                </a:solidFill>
                <a:effectLst/>
                <a:uLnTx/>
                <a:uFillTx/>
                <a:latin typeface="Arial"/>
                <a:ea typeface="+mn-ea"/>
                <a:cs typeface="+mn-cs"/>
              </a:rPr>
              <a:t>Solve and read the weights.</a:t>
            </a:r>
          </a:p>
          <a:p>
            <a:pPr marL="0" marR="0" lvl="0" indent="0" algn="l" defTabSz="457200" rtl="0" eaLnBrk="1" fontAlgn="auto" latinLnBrk="0" hangingPunct="1">
              <a:lnSpc>
                <a:spcPct val="100000"/>
              </a:lnSpc>
              <a:spcBef>
                <a:spcPts val="0"/>
              </a:spcBef>
              <a:spcAft>
                <a:spcPts val="800"/>
              </a:spcAft>
              <a:buClrTx/>
              <a:buSzTx/>
              <a:buFontTx/>
              <a:buNone/>
              <a:tabLst/>
              <a:defRPr/>
            </a:pPr>
            <a:r>
              <a:rPr kumimoji="0" sz="1250" b="0" i="0" u="none" strike="noStrike" kern="1200" cap="none" spc="0" normalizeH="0" baseline="0" noProof="0">
                <a:ln>
                  <a:noFill/>
                </a:ln>
                <a:solidFill>
                  <a:srgbClr val="59636B"/>
                </a:solidFill>
                <a:effectLst/>
                <a:uLnTx/>
                <a:uFillTx/>
                <a:latin typeface="Arial"/>
                <a:ea typeface="+mn-ea"/>
                <a:cs typeface="+mn-cs"/>
              </a:rPr>
              <a:t>     The optimizer returns how much to hold in each asset; round the percentages.</a:t>
            </a:r>
          </a:p>
          <a:p>
            <a:pPr marL="0" marR="0" lvl="0" indent="0" algn="l" defTabSz="457200" rtl="0" eaLnBrk="1" fontAlgn="auto" latinLnBrk="0" hangingPunct="1">
              <a:lnSpc>
                <a:spcPct val="100000"/>
              </a:lnSpc>
              <a:spcBef>
                <a:spcPts val="0"/>
              </a:spcBef>
              <a:spcAft>
                <a:spcPts val="200"/>
              </a:spcAft>
              <a:buClrTx/>
              <a:buSzTx/>
              <a:buFontTx/>
              <a:buNone/>
              <a:tabLst/>
              <a:defRPr/>
            </a:pPr>
            <a:r>
              <a:rPr kumimoji="0" sz="1350" b="1" i="0" u="none" strike="noStrike" kern="1200" cap="none" spc="0" normalizeH="0" baseline="0" noProof="0">
                <a:ln>
                  <a:noFill/>
                </a:ln>
                <a:solidFill>
                  <a:srgbClr val="A51C30"/>
                </a:solidFill>
                <a:effectLst/>
                <a:uLnTx/>
                <a:uFillTx/>
                <a:latin typeface="Arial"/>
                <a:ea typeface="+mn-ea"/>
                <a:cs typeface="+mn-cs"/>
              </a:rPr>
              <a:t>6.  </a:t>
            </a:r>
            <a:r>
              <a:rPr kumimoji="0" sz="1350" b="1" i="0" u="none" strike="noStrike" kern="1200" cap="none" spc="0" normalizeH="0" baseline="0" noProof="0">
                <a:ln>
                  <a:noFill/>
                </a:ln>
                <a:solidFill>
                  <a:srgbClr val="1E1E1E"/>
                </a:solidFill>
                <a:effectLst/>
                <a:uLnTx/>
                <a:uFillTx/>
                <a:latin typeface="Arial"/>
                <a:ea typeface="+mn-ea"/>
                <a:cs typeface="+mn-cs"/>
              </a:rPr>
              <a:t>Never trust it blindly.</a:t>
            </a:r>
          </a:p>
          <a:p>
            <a:pPr marL="0" marR="0" lvl="0" indent="0" algn="l" defTabSz="457200" rtl="0" eaLnBrk="1" fontAlgn="auto" latinLnBrk="0" hangingPunct="1">
              <a:lnSpc>
                <a:spcPct val="100000"/>
              </a:lnSpc>
              <a:spcBef>
                <a:spcPts val="0"/>
              </a:spcBef>
              <a:spcAft>
                <a:spcPts val="800"/>
              </a:spcAft>
              <a:buClrTx/>
              <a:buSzTx/>
              <a:buFontTx/>
              <a:buNone/>
              <a:tabLst/>
              <a:defRPr/>
            </a:pPr>
            <a:r>
              <a:rPr kumimoji="0" sz="1250" b="0" i="0" u="none" strike="noStrike" kern="1200" cap="none" spc="0" normalizeH="0" baseline="0" noProof="0">
                <a:ln>
                  <a:noFill/>
                </a:ln>
                <a:solidFill>
                  <a:srgbClr val="59636B"/>
                </a:solidFill>
                <a:effectLst/>
                <a:uLnTx/>
                <a:uFillTx/>
                <a:latin typeface="Arial"/>
                <a:ea typeface="+mn-ea"/>
                <a:cs typeface="+mn-cs"/>
              </a:rPr>
              <a:t>     Check the weights add to 100% and none came back negative before using them.</a:t>
            </a:r>
          </a:p>
          <a:p>
            <a:pPr marL="0" marR="0" lvl="0" indent="0" algn="l" defTabSz="457200" rtl="0" eaLnBrk="1" fontAlgn="auto" latinLnBrk="0" hangingPunct="1">
              <a:lnSpc>
                <a:spcPct val="100000"/>
              </a:lnSpc>
              <a:spcBef>
                <a:spcPts val="0"/>
              </a:spcBef>
              <a:spcAft>
                <a:spcPts val="200"/>
              </a:spcAft>
              <a:buClrTx/>
              <a:buSzTx/>
              <a:buFontTx/>
              <a:buNone/>
              <a:tabLst/>
              <a:defRPr/>
            </a:pPr>
            <a:r>
              <a:rPr kumimoji="0" sz="1350" b="1" i="0" u="none" strike="noStrike" kern="1200" cap="none" spc="0" normalizeH="0" baseline="0" noProof="0">
                <a:ln>
                  <a:noFill/>
                </a:ln>
                <a:solidFill>
                  <a:srgbClr val="A51C30"/>
                </a:solidFill>
                <a:effectLst/>
                <a:uLnTx/>
                <a:uFillTx/>
                <a:latin typeface="Arial"/>
                <a:ea typeface="+mn-ea"/>
                <a:cs typeface="+mn-cs"/>
              </a:rPr>
              <a:t>7.  </a:t>
            </a:r>
            <a:r>
              <a:rPr kumimoji="0" sz="1350" b="1" i="0" u="none" strike="noStrike" kern="1200" cap="none" spc="0" normalizeH="0" baseline="0" noProof="0">
                <a:ln>
                  <a:noFill/>
                </a:ln>
                <a:solidFill>
                  <a:srgbClr val="1E1E1E"/>
                </a:solidFill>
                <a:effectLst/>
                <a:uLnTx/>
                <a:uFillTx/>
                <a:latin typeface="Arial"/>
                <a:ea typeface="+mn-ea"/>
                <a:cs typeface="+mn-cs"/>
              </a:rPr>
              <a:t>Report the scorecard.</a:t>
            </a:r>
          </a:p>
          <a:p>
            <a:pPr marL="0" marR="0" lvl="0" indent="0" algn="l" defTabSz="457200" rtl="0" eaLnBrk="1" fontAlgn="auto" latinLnBrk="0" hangingPunct="1">
              <a:lnSpc>
                <a:spcPct val="100000"/>
              </a:lnSpc>
              <a:spcBef>
                <a:spcPts val="0"/>
              </a:spcBef>
              <a:spcAft>
                <a:spcPts val="800"/>
              </a:spcAft>
              <a:buClrTx/>
              <a:buSzTx/>
              <a:buFontTx/>
              <a:buNone/>
              <a:tabLst/>
              <a:defRPr/>
            </a:pPr>
            <a:r>
              <a:rPr kumimoji="0" sz="1250" b="0" i="0" u="none" strike="noStrike" kern="1200" cap="none" spc="0" normalizeH="0" baseline="0" noProof="0">
                <a:ln>
                  <a:noFill/>
                </a:ln>
                <a:solidFill>
                  <a:srgbClr val="59636B"/>
                </a:solidFill>
                <a:effectLst/>
                <a:uLnTx/>
                <a:uFillTx/>
                <a:latin typeface="Arial"/>
                <a:ea typeface="+mn-ea"/>
                <a:cs typeface="+mn-cs"/>
              </a:rPr>
              <a:t>     On the real (not excess) returns, show the annualized return, the volatility, and the Sharpe ratio.</a:t>
            </a:r>
          </a:p>
        </p:txBody>
      </p:sp>
      <p:sp>
        <p:nvSpPr>
          <p:cNvPr id="10" name="Harvard Footer"/>
          <p:cNvSpPr txBox="1"/>
          <p:nvPr/>
        </p:nvSpPr>
        <p:spPr>
          <a:xfrm>
            <a:off x="137319" y="6583203"/>
            <a:ext cx="1326387" cy="274638"/>
          </a:xfrm>
          <a:prstGeom prst="rect">
            <a:avLst/>
          </a:prstGeom>
          <a:noFill/>
        </p:spPr>
        <p:txBody>
          <a:bodyPr wrap="non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8996A0"/>
                </a:solidFill>
                <a:effectLst/>
                <a:uLnTx/>
                <a:uFillTx/>
                <a:latin typeface="Arial"/>
                <a:ea typeface="+mn-ea"/>
                <a:cs typeface="+mn-cs"/>
              </a:rPr>
              <a:t>© 2026 Ted Kwartler</a:t>
            </a:r>
          </a:p>
        </p:txBody>
      </p:sp>
      <p:sp>
        <p:nvSpPr>
          <p:cNvPr id="11" name="Harvard Page Number"/>
          <p:cNvSpPr txBox="1"/>
          <p:nvPr/>
        </p:nvSpPr>
        <p:spPr>
          <a:xfrm>
            <a:off x="11800884" y="6446043"/>
            <a:ext cx="253492" cy="274638"/>
          </a:xfrm>
          <a:prstGeom prst="rect">
            <a:avLst/>
          </a:prstGeom>
          <a:noFill/>
        </p:spPr>
        <p:txBody>
          <a:bodyPr wrap="none" lIns="0" tIns="0" rIns="0" bIns="0">
            <a:no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7A25A04-B3B4-4514-99F9-54E05323CD54}" type="slidenum">
              <a:rPr kumimoji="0" lang="en-US" sz="1000" b="0" i="0" u="none" strike="noStrike" kern="1200" cap="none" spc="0" normalizeH="0" baseline="0" noProof="0">
                <a:ln>
                  <a:noFill/>
                </a:ln>
                <a:solidFill>
                  <a:srgbClr val="8996A0"/>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000" b="0" i="0" u="none" strike="noStrike" kern="1200" cap="none" spc="0" normalizeH="0" baseline="0" noProof="0">
              <a:ln>
                <a:noFill/>
              </a:ln>
              <a:solidFill>
                <a:srgbClr val="8996A0"/>
              </a:solidFill>
              <a:effectLst/>
              <a:uLnTx/>
              <a:uFillTx/>
              <a:latin typeface="Arial"/>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marL="0" indent="0">
              <a:buNone/>
            </a:pPr>
            <a:r>
              <a:rPr lang="en-US" sz="1200" b="1" kern="0" spc="200" dirty="0">
                <a:solidFill>
                  <a:srgbClr val="A51C30"/>
                </a:solidFill>
                <a:latin typeface="Arial" pitchFamily="34" charset="0"/>
                <a:ea typeface="Arial" pitchFamily="34" charset="-122"/>
                <a:cs typeface="Arial" pitchFamily="34" charset="-120"/>
              </a:rPr>
              <a:t>RETURN PER UNIT OF RISK</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marL="0" indent="0">
              <a:buNone/>
            </a:pPr>
            <a:r>
              <a:rPr lang="en-US" sz="2800" b="1" dirty="0">
                <a:solidFill>
                  <a:srgbClr val="1E1E1E"/>
                </a:solidFill>
                <a:latin typeface="Arial" pitchFamily="34" charset="0"/>
                <a:ea typeface="Arial" pitchFamily="34" charset="-122"/>
                <a:cs typeface="Arial" pitchFamily="34" charset="-120"/>
              </a:rPr>
              <a:t>Script C: maximum Sharpe</a:t>
            </a:r>
            <a:endParaRPr lang="en-US" sz="2800" dirty="0"/>
          </a:p>
        </p:txBody>
      </p:sp>
      <p:sp>
        <p:nvSpPr>
          <p:cNvPr id="4" name="Shape 2"/>
          <p:cNvSpPr/>
          <p:nvPr/>
        </p:nvSpPr>
        <p:spPr>
          <a:xfrm>
            <a:off x="640080" y="1600200"/>
            <a:ext cx="5257800" cy="1965960"/>
          </a:xfrm>
          <a:prstGeom prst="roundRect">
            <a:avLst>
              <a:gd name="adj" fmla="val 2791"/>
            </a:avLst>
          </a:prstGeom>
          <a:solidFill>
            <a:srgbClr val="F3F3F1"/>
          </a:solidFill>
          <a:ln/>
        </p:spPr>
      </p:sp>
      <p:sp>
        <p:nvSpPr>
          <p:cNvPr id="5" name="Shape 3"/>
          <p:cNvSpPr/>
          <p:nvPr/>
        </p:nvSpPr>
        <p:spPr>
          <a:xfrm>
            <a:off x="914400" y="1874520"/>
            <a:ext cx="548640" cy="548640"/>
          </a:xfrm>
          <a:prstGeom prst="roundRect">
            <a:avLst>
              <a:gd name="adj" fmla="val 15000"/>
            </a:avLst>
          </a:prstGeom>
          <a:solidFill>
            <a:srgbClr val="293352"/>
          </a:solidFill>
          <a:ln/>
        </p:spPr>
      </p:sp>
      <p:pic>
        <p:nvPicPr>
          <p:cNvPr id="6" name="Image 0" descr="preencoded.png"/>
          <p:cNvPicPr>
            <a:picLocks noChangeAspect="1"/>
          </p:cNvPicPr>
          <p:nvPr/>
        </p:nvPicPr>
        <p:blipFill>
          <a:blip r:embed="rId3"/>
          <a:stretch>
            <a:fillRect/>
          </a:stretch>
        </p:blipFill>
        <p:spPr>
          <a:xfrm>
            <a:off x="1037844" y="1997964"/>
            <a:ext cx="301752" cy="301752"/>
          </a:xfrm>
          <a:prstGeom prst="rect">
            <a:avLst/>
          </a:prstGeom>
        </p:spPr>
      </p:pic>
      <p:sp>
        <p:nvSpPr>
          <p:cNvPr id="7" name="Text 4"/>
          <p:cNvSpPr/>
          <p:nvPr/>
        </p:nvSpPr>
        <p:spPr>
          <a:xfrm>
            <a:off x="1645920" y="1856232"/>
            <a:ext cx="4023360" cy="548640"/>
          </a:xfrm>
          <a:prstGeom prst="rect">
            <a:avLst/>
          </a:prstGeom>
          <a:noFill/>
          <a:ln/>
        </p:spPr>
        <p:txBody>
          <a:bodyPr wrap="square" lIns="0" tIns="0" rIns="0" bIns="0" rtlCol="0" anchor="ctr"/>
          <a:lstStyle/>
          <a:p>
            <a:pPr marL="0" indent="0">
              <a:buNone/>
            </a:pPr>
            <a:r>
              <a:rPr lang="en-US" sz="1600" b="1" dirty="0">
                <a:solidFill>
                  <a:srgbClr val="293352"/>
                </a:solidFill>
                <a:latin typeface="Arial" pitchFamily="34" charset="0"/>
                <a:ea typeface="Arial" pitchFamily="34" charset="-122"/>
                <a:cs typeface="Arial" pitchFamily="34" charset="-120"/>
              </a:rPr>
              <a:t>The tangency portfolio</a:t>
            </a:r>
            <a:endParaRPr lang="en-US" sz="1600" dirty="0"/>
          </a:p>
        </p:txBody>
      </p:sp>
      <p:sp>
        <p:nvSpPr>
          <p:cNvPr id="8" name="Text 5"/>
          <p:cNvSpPr/>
          <p:nvPr/>
        </p:nvSpPr>
        <p:spPr>
          <a:xfrm>
            <a:off x="914400" y="2514600"/>
            <a:ext cx="4709160" cy="914400"/>
          </a:xfrm>
          <a:prstGeom prst="rect">
            <a:avLst/>
          </a:prstGeom>
          <a:noFill/>
          <a:ln/>
        </p:spPr>
        <p:txBody>
          <a:bodyPr wrap="square" lIns="0" tIns="0" rIns="0" bIns="0" rtlCol="0" anchor="t"/>
          <a:lstStyle/>
          <a:p>
            <a:pPr marL="0" indent="0">
              <a:buNone/>
            </a:pPr>
            <a:r>
              <a:rPr lang="en-US" sz="1350" dirty="0">
                <a:solidFill>
                  <a:srgbClr val="1E1E1E"/>
                </a:solidFill>
                <a:latin typeface="Arial" pitchFamily="34" charset="0"/>
                <a:ea typeface="Arial" pitchFamily="34" charset="-122"/>
                <a:cs typeface="Arial" pitchFamily="34" charset="-120"/>
              </a:rPr>
              <a:t>Best return per unit of risk, not lowest risk. The contrast with B.</a:t>
            </a:r>
            <a:endParaRPr lang="en-US" sz="1350" dirty="0"/>
          </a:p>
        </p:txBody>
      </p:sp>
      <p:sp>
        <p:nvSpPr>
          <p:cNvPr id="9" name="Shape 6"/>
          <p:cNvSpPr/>
          <p:nvPr/>
        </p:nvSpPr>
        <p:spPr>
          <a:xfrm>
            <a:off x="6263640" y="1600200"/>
            <a:ext cx="5257800" cy="1965960"/>
          </a:xfrm>
          <a:prstGeom prst="roundRect">
            <a:avLst>
              <a:gd name="adj" fmla="val 2791"/>
            </a:avLst>
          </a:prstGeom>
          <a:solidFill>
            <a:srgbClr val="F3F3F1"/>
          </a:solidFill>
          <a:ln/>
        </p:spPr>
      </p:sp>
      <p:sp>
        <p:nvSpPr>
          <p:cNvPr id="10" name="Shape 7"/>
          <p:cNvSpPr/>
          <p:nvPr/>
        </p:nvSpPr>
        <p:spPr>
          <a:xfrm>
            <a:off x="6537960" y="1874520"/>
            <a:ext cx="548640" cy="548640"/>
          </a:xfrm>
          <a:prstGeom prst="roundRect">
            <a:avLst>
              <a:gd name="adj" fmla="val 15000"/>
            </a:avLst>
          </a:prstGeom>
          <a:solidFill>
            <a:srgbClr val="A51C30"/>
          </a:solidFill>
          <a:ln/>
        </p:spPr>
      </p:sp>
      <p:pic>
        <p:nvPicPr>
          <p:cNvPr id="11" name="Image 1" descr="preencoded.png"/>
          <p:cNvPicPr>
            <a:picLocks noChangeAspect="1"/>
          </p:cNvPicPr>
          <p:nvPr/>
        </p:nvPicPr>
        <p:blipFill>
          <a:blip r:embed="rId4"/>
          <a:stretch>
            <a:fillRect/>
          </a:stretch>
        </p:blipFill>
        <p:spPr>
          <a:xfrm>
            <a:off x="6661404" y="1997964"/>
            <a:ext cx="301752" cy="301752"/>
          </a:xfrm>
          <a:prstGeom prst="rect">
            <a:avLst/>
          </a:prstGeom>
        </p:spPr>
      </p:pic>
      <p:sp>
        <p:nvSpPr>
          <p:cNvPr id="12" name="Text 8"/>
          <p:cNvSpPr/>
          <p:nvPr/>
        </p:nvSpPr>
        <p:spPr>
          <a:xfrm>
            <a:off x="7269480" y="1856232"/>
            <a:ext cx="4023360" cy="548640"/>
          </a:xfrm>
          <a:prstGeom prst="rect">
            <a:avLst/>
          </a:prstGeom>
          <a:noFill/>
          <a:ln/>
        </p:spPr>
        <p:txBody>
          <a:bodyPr wrap="square" lIns="0" tIns="0" rIns="0" bIns="0" rtlCol="0" anchor="ctr"/>
          <a:lstStyle/>
          <a:p>
            <a:pPr marL="0" indent="0">
              <a:buNone/>
            </a:pPr>
            <a:r>
              <a:rPr lang="en-US" sz="1600" b="1" dirty="0">
                <a:solidFill>
                  <a:srgbClr val="293352"/>
                </a:solidFill>
                <a:latin typeface="Arial" pitchFamily="34" charset="0"/>
                <a:ea typeface="Arial" pitchFamily="34" charset="-122"/>
                <a:cs typeface="Arial" pitchFamily="34" charset="-120"/>
              </a:rPr>
              <a:t>PortfolioAnalytics wrapper</a:t>
            </a:r>
            <a:endParaRPr lang="en-US" sz="1600" dirty="0"/>
          </a:p>
        </p:txBody>
      </p:sp>
      <p:sp>
        <p:nvSpPr>
          <p:cNvPr id="13" name="Text 9"/>
          <p:cNvSpPr/>
          <p:nvPr/>
        </p:nvSpPr>
        <p:spPr>
          <a:xfrm>
            <a:off x="6537960" y="2514600"/>
            <a:ext cx="4709160" cy="914400"/>
          </a:xfrm>
          <a:prstGeom prst="rect">
            <a:avLst/>
          </a:prstGeom>
          <a:noFill/>
          <a:ln/>
        </p:spPr>
        <p:txBody>
          <a:bodyPr wrap="square" lIns="0" tIns="0" rIns="0" bIns="0" rtlCol="0" anchor="t"/>
          <a:lstStyle/>
          <a:p>
            <a:pPr marL="0" indent="0">
              <a:buNone/>
            </a:pPr>
            <a:r>
              <a:rPr lang="en-US" sz="1350" dirty="0">
                <a:solidFill>
                  <a:srgbClr val="1E1E1E"/>
                </a:solidFill>
                <a:latin typeface="Arial" pitchFamily="34" charset="0"/>
                <a:ea typeface="Arial" pitchFamily="34" charset="-122"/>
                <a:cs typeface="Arial" pitchFamily="34" charset="-120"/>
              </a:rPr>
              <a:t>Describe the portfolio, let it solve. The quadprog reformulation is optional depth.</a:t>
            </a:r>
            <a:endParaRPr lang="en-US" sz="1350" dirty="0"/>
          </a:p>
        </p:txBody>
      </p:sp>
      <p:sp>
        <p:nvSpPr>
          <p:cNvPr id="14" name="Shape 10"/>
          <p:cNvSpPr/>
          <p:nvPr/>
        </p:nvSpPr>
        <p:spPr>
          <a:xfrm>
            <a:off x="640080" y="3886200"/>
            <a:ext cx="5257800" cy="1965960"/>
          </a:xfrm>
          <a:prstGeom prst="roundRect">
            <a:avLst>
              <a:gd name="adj" fmla="val 2791"/>
            </a:avLst>
          </a:prstGeom>
          <a:solidFill>
            <a:srgbClr val="F3F3F1"/>
          </a:solidFill>
          <a:ln/>
        </p:spPr>
      </p:sp>
      <p:sp>
        <p:nvSpPr>
          <p:cNvPr id="15" name="Shape 11"/>
          <p:cNvSpPr/>
          <p:nvPr/>
        </p:nvSpPr>
        <p:spPr>
          <a:xfrm>
            <a:off x="914400" y="4160520"/>
            <a:ext cx="548640" cy="548640"/>
          </a:xfrm>
          <a:prstGeom prst="roundRect">
            <a:avLst>
              <a:gd name="adj" fmla="val 15000"/>
            </a:avLst>
          </a:prstGeom>
          <a:solidFill>
            <a:srgbClr val="293352"/>
          </a:solidFill>
          <a:ln/>
        </p:spPr>
      </p:sp>
      <p:pic>
        <p:nvPicPr>
          <p:cNvPr id="16" name="Image 2" descr="preencoded.png"/>
          <p:cNvPicPr>
            <a:picLocks noChangeAspect="1"/>
          </p:cNvPicPr>
          <p:nvPr/>
        </p:nvPicPr>
        <p:blipFill>
          <a:blip r:embed="rId5"/>
          <a:stretch>
            <a:fillRect/>
          </a:stretch>
        </p:blipFill>
        <p:spPr>
          <a:xfrm>
            <a:off x="1037844" y="4283964"/>
            <a:ext cx="301752" cy="301752"/>
          </a:xfrm>
          <a:prstGeom prst="rect">
            <a:avLst/>
          </a:prstGeom>
        </p:spPr>
      </p:pic>
      <p:sp>
        <p:nvSpPr>
          <p:cNvPr id="17" name="Text 12"/>
          <p:cNvSpPr/>
          <p:nvPr/>
        </p:nvSpPr>
        <p:spPr>
          <a:xfrm>
            <a:off x="1645920" y="4142232"/>
            <a:ext cx="4023360" cy="548640"/>
          </a:xfrm>
          <a:prstGeom prst="rect">
            <a:avLst/>
          </a:prstGeom>
          <a:noFill/>
          <a:ln/>
        </p:spPr>
        <p:txBody>
          <a:bodyPr wrap="square" lIns="0" tIns="0" rIns="0" bIns="0" rtlCol="0" anchor="ctr"/>
          <a:lstStyle/>
          <a:p>
            <a:pPr marL="0" indent="0">
              <a:buNone/>
            </a:pPr>
            <a:r>
              <a:rPr lang="en-US" sz="1600" b="1" dirty="0">
                <a:solidFill>
                  <a:srgbClr val="293352"/>
                </a:solidFill>
                <a:latin typeface="Arial" pitchFamily="34" charset="0"/>
                <a:ea typeface="Arial" pitchFamily="34" charset="-122"/>
                <a:cs typeface="Arial" pitchFamily="34" charset="-120"/>
              </a:rPr>
              <a:t>Why not maximize directly</a:t>
            </a:r>
            <a:endParaRPr lang="en-US" sz="1600" dirty="0"/>
          </a:p>
        </p:txBody>
      </p:sp>
      <p:sp>
        <p:nvSpPr>
          <p:cNvPr id="18" name="Text 13"/>
          <p:cNvSpPr/>
          <p:nvPr/>
        </p:nvSpPr>
        <p:spPr>
          <a:xfrm>
            <a:off x="914400" y="4800600"/>
            <a:ext cx="4709160" cy="914400"/>
          </a:xfrm>
          <a:prstGeom prst="rect">
            <a:avLst/>
          </a:prstGeom>
          <a:noFill/>
          <a:ln/>
        </p:spPr>
        <p:txBody>
          <a:bodyPr wrap="square" lIns="0" tIns="0" rIns="0" bIns="0" rtlCol="0" anchor="t"/>
          <a:lstStyle/>
          <a:p>
            <a:pPr marL="0" indent="0">
              <a:buNone/>
            </a:pPr>
            <a:r>
              <a:rPr lang="en-US" sz="1350" dirty="0">
                <a:solidFill>
                  <a:srgbClr val="1E1E1E"/>
                </a:solidFill>
                <a:latin typeface="Arial" pitchFamily="34" charset="0"/>
                <a:ea typeface="Arial" pitchFamily="34" charset="-122"/>
                <a:cs typeface="Arial" pitchFamily="34" charset="-120"/>
              </a:rPr>
              <a:t>Sharpe is a ratio of two functions of the weights, which the solver cannot take head on.</a:t>
            </a:r>
            <a:endParaRPr lang="en-US" sz="1350" dirty="0"/>
          </a:p>
        </p:txBody>
      </p:sp>
      <p:sp>
        <p:nvSpPr>
          <p:cNvPr id="19" name="Shape 14"/>
          <p:cNvSpPr/>
          <p:nvPr/>
        </p:nvSpPr>
        <p:spPr>
          <a:xfrm>
            <a:off x="6263640" y="3886200"/>
            <a:ext cx="5257800" cy="1965960"/>
          </a:xfrm>
          <a:prstGeom prst="roundRect">
            <a:avLst>
              <a:gd name="adj" fmla="val 2791"/>
            </a:avLst>
          </a:prstGeom>
          <a:solidFill>
            <a:srgbClr val="F3F3F1"/>
          </a:solidFill>
          <a:ln/>
        </p:spPr>
      </p:sp>
      <p:sp>
        <p:nvSpPr>
          <p:cNvPr id="20" name="Shape 15"/>
          <p:cNvSpPr/>
          <p:nvPr/>
        </p:nvSpPr>
        <p:spPr>
          <a:xfrm>
            <a:off x="6537960" y="4160520"/>
            <a:ext cx="548640" cy="548640"/>
          </a:xfrm>
          <a:prstGeom prst="roundRect">
            <a:avLst>
              <a:gd name="adj" fmla="val 15000"/>
            </a:avLst>
          </a:prstGeom>
          <a:solidFill>
            <a:srgbClr val="A51C30"/>
          </a:solidFill>
          <a:ln/>
        </p:spPr>
      </p:sp>
      <p:pic>
        <p:nvPicPr>
          <p:cNvPr id="21" name="Image 3" descr="preencoded.png"/>
          <p:cNvPicPr>
            <a:picLocks noChangeAspect="1"/>
          </p:cNvPicPr>
          <p:nvPr/>
        </p:nvPicPr>
        <p:blipFill>
          <a:blip r:embed="rId6"/>
          <a:stretch>
            <a:fillRect/>
          </a:stretch>
        </p:blipFill>
        <p:spPr>
          <a:xfrm>
            <a:off x="6661404" y="4283964"/>
            <a:ext cx="301752" cy="301752"/>
          </a:xfrm>
          <a:prstGeom prst="rect">
            <a:avLst/>
          </a:prstGeom>
        </p:spPr>
      </p:pic>
      <p:sp>
        <p:nvSpPr>
          <p:cNvPr id="22" name="Text 16"/>
          <p:cNvSpPr/>
          <p:nvPr/>
        </p:nvSpPr>
        <p:spPr>
          <a:xfrm>
            <a:off x="7269480" y="4142232"/>
            <a:ext cx="4023360" cy="548640"/>
          </a:xfrm>
          <a:prstGeom prst="rect">
            <a:avLst/>
          </a:prstGeom>
          <a:noFill/>
          <a:ln/>
        </p:spPr>
        <p:txBody>
          <a:bodyPr wrap="square" lIns="0" tIns="0" rIns="0" bIns="0" rtlCol="0" anchor="ctr"/>
          <a:lstStyle/>
          <a:p>
            <a:pPr marL="0" indent="0">
              <a:buNone/>
            </a:pPr>
            <a:r>
              <a:rPr lang="en-US" sz="1600" b="1" dirty="0">
                <a:solidFill>
                  <a:srgbClr val="293352"/>
                </a:solidFill>
                <a:latin typeface="Arial" pitchFamily="34" charset="0"/>
                <a:ea typeface="Arial" pitchFamily="34" charset="-122"/>
                <a:cs typeface="Arial" pitchFamily="34" charset="-120"/>
              </a:rPr>
              <a:t>Risk free rate: 3.5%</a:t>
            </a:r>
            <a:endParaRPr lang="en-US" sz="1600" dirty="0"/>
          </a:p>
        </p:txBody>
      </p:sp>
      <p:sp>
        <p:nvSpPr>
          <p:cNvPr id="23" name="Text 17"/>
          <p:cNvSpPr/>
          <p:nvPr/>
        </p:nvSpPr>
        <p:spPr>
          <a:xfrm>
            <a:off x="6537960" y="4800600"/>
            <a:ext cx="4709160" cy="914400"/>
          </a:xfrm>
          <a:prstGeom prst="rect">
            <a:avLst/>
          </a:prstGeom>
          <a:noFill/>
          <a:ln/>
        </p:spPr>
        <p:txBody>
          <a:bodyPr wrap="square" lIns="0" tIns="0" rIns="0" bIns="0" rtlCol="0" anchor="t"/>
          <a:lstStyle/>
          <a:p>
            <a:pPr marL="0" indent="0">
              <a:buNone/>
            </a:pPr>
            <a:r>
              <a:rPr lang="en-US" sz="1350" dirty="0">
                <a:solidFill>
                  <a:srgbClr val="1E1E1E"/>
                </a:solidFill>
                <a:latin typeface="Arial" pitchFamily="34" charset="0"/>
                <a:ea typeface="Arial" pitchFamily="34" charset="-122"/>
                <a:cs typeface="Arial" pitchFamily="34" charset="-120"/>
              </a:rPr>
              <a:t>A single input. Real value: the 3 month T bill (FRED series DTB3).</a:t>
            </a:r>
            <a:endParaRPr lang="en-US" sz="1350" dirty="0"/>
          </a:p>
        </p:txBody>
      </p:sp>
      <p:sp>
        <p:nvSpPr>
          <p:cNvPr id="24"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25" name="Harvard Page Number"/>
          <p:cNvSpPr txBox="1"/>
          <p:nvPr/>
        </p:nvSpPr>
        <p:spPr>
          <a:xfrm>
            <a:off x="11801189" y="6446043"/>
            <a:ext cx="253492" cy="274638"/>
          </a:xfrm>
          <a:prstGeom prst="rect">
            <a:avLst/>
          </a:prstGeom>
          <a:noFill/>
        </p:spPr>
        <p:txBody>
          <a:bodyPr wrap="none" lIns="0" tIns="0" rIns="0" bIns="0">
            <a:noAutofit/>
          </a:bodyPr>
          <a:lstStyle/>
          <a:p>
            <a:pPr algn="r"/>
            <a:fld id="{3798E1B0-FD5A-4F46-8394-4E492859EA7E}" type="slidenum">
              <a:rPr lang="en-US" sz="1000">
                <a:solidFill>
                  <a:srgbClr val="8996A0"/>
                </a:solidFill>
                <a:latin typeface="Arial"/>
              </a:rPr>
              <a:t>12</a:t>
            </a:fld>
            <a:endParaRPr lang="en-US" sz="1000">
              <a:solidFill>
                <a:srgbClr val="8996A0"/>
              </a:solidFill>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marL="0" indent="0">
              <a:buNone/>
            </a:pPr>
            <a:r>
              <a:rPr lang="en-US" sz="1200" b="1" kern="0" spc="200" dirty="0">
                <a:solidFill>
                  <a:srgbClr val="A51C30"/>
                </a:solidFill>
                <a:latin typeface="Arial" pitchFamily="34" charset="0"/>
                <a:ea typeface="Arial" pitchFamily="34" charset="-122"/>
                <a:cs typeface="Arial" pitchFamily="34" charset="-120"/>
              </a:rPr>
              <a:t>LIVE IN RSTUDIO</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marL="0" indent="0">
              <a:buNone/>
            </a:pPr>
            <a:r>
              <a:rPr lang="en-US" sz="2800" b="1" dirty="0">
                <a:solidFill>
                  <a:srgbClr val="1E1E1E"/>
                </a:solidFill>
                <a:latin typeface="Arial" pitchFamily="34" charset="0"/>
                <a:ea typeface="Arial" pitchFamily="34" charset="-122"/>
                <a:cs typeface="Arial" pitchFamily="34" charset="-120"/>
              </a:rPr>
              <a:t>Script C: run it</a:t>
            </a:r>
            <a:endParaRPr lang="en-US" sz="2800" dirty="0"/>
          </a:p>
        </p:txBody>
      </p:sp>
      <p:sp>
        <p:nvSpPr>
          <p:cNvPr id="4" name="Shape 2"/>
          <p:cNvSpPr/>
          <p:nvPr/>
        </p:nvSpPr>
        <p:spPr>
          <a:xfrm>
            <a:off x="640080" y="1600200"/>
            <a:ext cx="10881360" cy="3611880"/>
          </a:xfrm>
          <a:prstGeom prst="roundRect">
            <a:avLst>
              <a:gd name="adj" fmla="val 1519"/>
            </a:avLst>
          </a:prstGeom>
          <a:solidFill>
            <a:srgbClr val="1E1E1E"/>
          </a:solidFill>
          <a:ln/>
        </p:spPr>
      </p:sp>
      <p:sp>
        <p:nvSpPr>
          <p:cNvPr id="5" name="Shape 3"/>
          <p:cNvSpPr/>
          <p:nvPr/>
        </p:nvSpPr>
        <p:spPr>
          <a:xfrm>
            <a:off x="914400" y="1828800"/>
            <a:ext cx="146304" cy="146304"/>
          </a:xfrm>
          <a:prstGeom prst="ellipse">
            <a:avLst/>
          </a:prstGeom>
          <a:solidFill>
            <a:srgbClr val="A51C30"/>
          </a:solidFill>
          <a:ln/>
        </p:spPr>
      </p:sp>
      <p:sp>
        <p:nvSpPr>
          <p:cNvPr id="6" name="Shape 4"/>
          <p:cNvSpPr/>
          <p:nvPr/>
        </p:nvSpPr>
        <p:spPr>
          <a:xfrm>
            <a:off x="1170432" y="1828800"/>
            <a:ext cx="146304" cy="146304"/>
          </a:xfrm>
          <a:prstGeom prst="ellipse">
            <a:avLst/>
          </a:prstGeom>
          <a:solidFill>
            <a:srgbClr val="C4961A"/>
          </a:solidFill>
          <a:ln/>
        </p:spPr>
      </p:sp>
      <p:sp>
        <p:nvSpPr>
          <p:cNvPr id="7" name="Shape 5"/>
          <p:cNvSpPr/>
          <p:nvPr/>
        </p:nvSpPr>
        <p:spPr>
          <a:xfrm>
            <a:off x="1426464" y="1828800"/>
            <a:ext cx="146304" cy="146304"/>
          </a:xfrm>
          <a:prstGeom prst="ellipse">
            <a:avLst/>
          </a:prstGeom>
          <a:solidFill>
            <a:srgbClr val="1D9E75"/>
          </a:solidFill>
          <a:ln/>
        </p:spPr>
      </p:sp>
      <p:sp>
        <p:nvSpPr>
          <p:cNvPr id="8" name="Text 6"/>
          <p:cNvSpPr/>
          <p:nvPr/>
        </p:nvSpPr>
        <p:spPr>
          <a:xfrm>
            <a:off x="2011680" y="1764792"/>
            <a:ext cx="5486400" cy="274320"/>
          </a:xfrm>
          <a:prstGeom prst="rect">
            <a:avLst/>
          </a:prstGeom>
          <a:noFill/>
          <a:ln/>
        </p:spPr>
        <p:txBody>
          <a:bodyPr wrap="square" lIns="0" tIns="0" rIns="0" bIns="0" rtlCol="0" anchor="ctr"/>
          <a:lstStyle/>
          <a:p>
            <a:pPr marL="0" indent="0">
              <a:buNone/>
            </a:pPr>
            <a:r>
              <a:rPr lang="en-US" sz="1100" b="1" kern="0" spc="200" dirty="0">
                <a:solidFill>
                  <a:srgbClr val="8996A0"/>
                </a:solidFill>
                <a:latin typeface="Arial" pitchFamily="34" charset="0"/>
                <a:ea typeface="Arial" pitchFamily="34" charset="-122"/>
                <a:cs typeface="Arial" pitchFamily="34" charset="-120"/>
              </a:rPr>
              <a:t>LIVE CODE STEP THROUGH</a:t>
            </a:r>
            <a:endParaRPr lang="en-US" sz="1100" dirty="0"/>
          </a:p>
        </p:txBody>
      </p:sp>
      <p:sp>
        <p:nvSpPr>
          <p:cNvPr id="9" name="Text 7"/>
          <p:cNvSpPr/>
          <p:nvPr/>
        </p:nvSpPr>
        <p:spPr>
          <a:xfrm>
            <a:off x="914400" y="2331720"/>
            <a:ext cx="10332720" cy="685800"/>
          </a:xfrm>
          <a:prstGeom prst="rect">
            <a:avLst/>
          </a:prstGeom>
          <a:noFill/>
          <a:ln/>
        </p:spPr>
        <p:txBody>
          <a:bodyPr wrap="square" lIns="0" tIns="0" rIns="0" bIns="0" rtlCol="0" anchor="t"/>
          <a:lstStyle/>
          <a:p>
            <a:pPr marL="0" indent="0">
              <a:lnSpc>
                <a:spcPct val="100000"/>
              </a:lnSpc>
              <a:buNone/>
            </a:pPr>
            <a:r>
              <a:rPr lang="en-US" sz="1500" b="1" dirty="0">
                <a:solidFill>
                  <a:srgbClr val="4E84C4"/>
                </a:solidFill>
                <a:latin typeface="Arial" pitchFamily="34" charset="0"/>
                <a:ea typeface="Arial" pitchFamily="34" charset="-122"/>
                <a:cs typeface="Arial" pitchFamily="34" charset="-120"/>
              </a:rPr>
              <a:t>&gt; </a:t>
            </a:r>
            <a:r>
              <a:rPr lang="en-US" sz="1500" dirty="0">
                <a:solidFill>
                  <a:srgbClr val="F3F3F1"/>
                </a:solidFill>
                <a:latin typeface="Arial" pitchFamily="34" charset="0"/>
                <a:ea typeface="Arial" pitchFamily="34" charset="-122"/>
                <a:cs typeface="Arial" pitchFamily="34" charset="-120"/>
              </a:rPr>
              <a:t>Set the rate, build the portfolio spec, run optimize.portfolio.</a:t>
            </a:r>
            <a:endParaRPr lang="en-US" sz="1500" dirty="0"/>
          </a:p>
        </p:txBody>
      </p:sp>
      <p:sp>
        <p:nvSpPr>
          <p:cNvPr id="10" name="Text 8"/>
          <p:cNvSpPr/>
          <p:nvPr/>
        </p:nvSpPr>
        <p:spPr>
          <a:xfrm>
            <a:off x="914400" y="3172968"/>
            <a:ext cx="10332720" cy="685800"/>
          </a:xfrm>
          <a:prstGeom prst="rect">
            <a:avLst/>
          </a:prstGeom>
          <a:noFill/>
          <a:ln/>
        </p:spPr>
        <p:txBody>
          <a:bodyPr wrap="square" lIns="0" tIns="0" rIns="0" bIns="0" rtlCol="0" anchor="t"/>
          <a:lstStyle/>
          <a:p>
            <a:pPr marL="0" indent="0">
              <a:lnSpc>
                <a:spcPct val="100000"/>
              </a:lnSpc>
              <a:buNone/>
            </a:pPr>
            <a:r>
              <a:rPr lang="en-US" sz="1500" b="1" dirty="0">
                <a:solidFill>
                  <a:srgbClr val="4E84C4"/>
                </a:solidFill>
                <a:latin typeface="Arial" pitchFamily="34" charset="0"/>
                <a:ea typeface="Arial" pitchFamily="34" charset="-122"/>
                <a:cs typeface="Arial" pitchFamily="34" charset="-120"/>
              </a:rPr>
              <a:t>&gt; </a:t>
            </a:r>
            <a:r>
              <a:rPr lang="en-US" sz="1500" dirty="0">
                <a:solidFill>
                  <a:srgbClr val="F3F3F1"/>
                </a:solidFill>
                <a:latin typeface="Arial" pitchFamily="34" charset="0"/>
                <a:ea typeface="Arial" pitchFamily="34" charset="-122"/>
                <a:cs typeface="Arial" pitchFamily="34" charset="-120"/>
              </a:rPr>
              <a:t>Read out weights and the annualized return, volatility, and Sharpe.</a:t>
            </a:r>
            <a:endParaRPr lang="en-US" sz="1500" dirty="0"/>
          </a:p>
        </p:txBody>
      </p:sp>
      <p:sp>
        <p:nvSpPr>
          <p:cNvPr id="11" name="Text 9"/>
          <p:cNvSpPr/>
          <p:nvPr/>
        </p:nvSpPr>
        <p:spPr>
          <a:xfrm>
            <a:off x="914400" y="4014216"/>
            <a:ext cx="10332720" cy="685800"/>
          </a:xfrm>
          <a:prstGeom prst="rect">
            <a:avLst/>
          </a:prstGeom>
          <a:noFill/>
          <a:ln/>
        </p:spPr>
        <p:txBody>
          <a:bodyPr wrap="square" lIns="0" tIns="0" rIns="0" bIns="0" rtlCol="0" anchor="t"/>
          <a:lstStyle/>
          <a:p>
            <a:pPr marL="0" indent="0">
              <a:lnSpc>
                <a:spcPct val="100000"/>
              </a:lnSpc>
              <a:buNone/>
            </a:pPr>
            <a:r>
              <a:rPr lang="en-US" sz="1500" b="1" dirty="0">
                <a:solidFill>
                  <a:srgbClr val="4E84C4"/>
                </a:solidFill>
                <a:latin typeface="Arial" pitchFamily="34" charset="0"/>
                <a:ea typeface="Arial" pitchFamily="34" charset="-122"/>
                <a:cs typeface="Arial" pitchFamily="34" charset="-120"/>
              </a:rPr>
              <a:t>&gt; </a:t>
            </a:r>
            <a:r>
              <a:rPr lang="en-US" sz="1500" dirty="0">
                <a:solidFill>
                  <a:srgbClr val="F3F3F1"/>
                </a:solidFill>
                <a:latin typeface="Arial" pitchFamily="34" charset="0"/>
                <a:ea typeface="Arial" pitchFamily="34" charset="-122"/>
                <a:cs typeface="Arial" pitchFamily="34" charset="-120"/>
              </a:rPr>
              <a:t>Note the concentration into a few names, which sets up the comparison in D.</a:t>
            </a:r>
            <a:endParaRPr lang="en-US" sz="1500" dirty="0"/>
          </a:p>
        </p:txBody>
      </p:sp>
      <p:sp>
        <p:nvSpPr>
          <p:cNvPr id="12" name="Shape 10"/>
          <p:cNvSpPr/>
          <p:nvPr/>
        </p:nvSpPr>
        <p:spPr>
          <a:xfrm>
            <a:off x="640080" y="5440680"/>
            <a:ext cx="2377440" cy="457200"/>
          </a:xfrm>
          <a:prstGeom prst="roundRect">
            <a:avLst>
              <a:gd name="adj" fmla="val 50000"/>
            </a:avLst>
          </a:prstGeom>
          <a:solidFill>
            <a:srgbClr val="F3F3F1"/>
          </a:solidFill>
          <a:ln/>
        </p:spPr>
      </p:sp>
      <p:sp>
        <p:nvSpPr>
          <p:cNvPr id="13" name="Text 11"/>
          <p:cNvSpPr/>
          <p:nvPr/>
        </p:nvSpPr>
        <p:spPr>
          <a:xfrm>
            <a:off x="640080" y="5440680"/>
            <a:ext cx="2377440" cy="457200"/>
          </a:xfrm>
          <a:prstGeom prst="rect">
            <a:avLst/>
          </a:prstGeom>
          <a:noFill/>
          <a:ln/>
        </p:spPr>
        <p:txBody>
          <a:bodyPr wrap="square" lIns="0" tIns="0" rIns="0" bIns="0" rtlCol="0" anchor="ctr"/>
          <a:lstStyle/>
          <a:p>
            <a:pPr marL="0" indent="0" algn="ctr">
              <a:buNone/>
            </a:pPr>
            <a:r>
              <a:rPr lang="en-US" sz="1300" b="1" dirty="0">
                <a:solidFill>
                  <a:srgbClr val="293352"/>
                </a:solidFill>
                <a:latin typeface="Arial" pitchFamily="34" charset="0"/>
                <a:ea typeface="Arial" pitchFamily="34" charset="-122"/>
                <a:cs typeface="Arial" pitchFamily="34" charset="-120"/>
              </a:rPr>
              <a:t>⏱  about 8 minutes</a:t>
            </a:r>
            <a:endParaRPr lang="en-US" sz="1300" dirty="0"/>
          </a:p>
        </p:txBody>
      </p:sp>
      <p:sp>
        <p:nvSpPr>
          <p:cNvPr id="14"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5" name="Harvard Page Number"/>
          <p:cNvSpPr txBox="1"/>
          <p:nvPr/>
        </p:nvSpPr>
        <p:spPr>
          <a:xfrm>
            <a:off x="11801189" y="6446043"/>
            <a:ext cx="253492" cy="274638"/>
          </a:xfrm>
          <a:prstGeom prst="rect">
            <a:avLst/>
          </a:prstGeom>
          <a:noFill/>
        </p:spPr>
        <p:txBody>
          <a:bodyPr wrap="none" lIns="0" tIns="0" rIns="0" bIns="0">
            <a:noAutofit/>
          </a:bodyPr>
          <a:lstStyle/>
          <a:p>
            <a:pPr algn="r"/>
            <a:fld id="{FCF4546C-2EE0-4745-BF71-CAAD020C98AC}" type="slidenum">
              <a:rPr lang="en-US" sz="1000">
                <a:solidFill>
                  <a:srgbClr val="8996A0"/>
                </a:solidFill>
                <a:latin typeface="Arial"/>
              </a:rPr>
              <a:t>13</a:t>
            </a:fld>
            <a:endParaRPr lang="en-US" sz="1000">
              <a:solidFill>
                <a:srgbClr val="8996A0"/>
              </a:solidFill>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marL="0" indent="0">
              <a:buNone/>
            </a:pPr>
            <a:r>
              <a:rPr lang="en-US" sz="1200" b="1" kern="0" spc="200" dirty="0">
                <a:solidFill>
                  <a:srgbClr val="A51C30"/>
                </a:solidFill>
                <a:latin typeface="Arial" pitchFamily="34" charset="0"/>
                <a:ea typeface="Arial" pitchFamily="34" charset="-122"/>
                <a:cs typeface="Arial" pitchFamily="34" charset="-120"/>
              </a:rPr>
              <a:t>THREE PORTFOLIOS, ONE READ</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marL="0" indent="0">
              <a:buNone/>
            </a:pPr>
            <a:r>
              <a:rPr lang="en-US" sz="2800" b="1" dirty="0">
                <a:solidFill>
                  <a:srgbClr val="1E1E1E"/>
                </a:solidFill>
                <a:latin typeface="Arial" pitchFamily="34" charset="0"/>
                <a:ea typeface="Arial" pitchFamily="34" charset="-122"/>
                <a:cs typeface="Arial" pitchFamily="34" charset="-120"/>
              </a:rPr>
              <a:t>Script D: compare and export</a:t>
            </a:r>
            <a:endParaRPr lang="en-US" sz="2800" dirty="0"/>
          </a:p>
        </p:txBody>
      </p:sp>
      <p:sp>
        <p:nvSpPr>
          <p:cNvPr id="4" name="Shape 2"/>
          <p:cNvSpPr/>
          <p:nvPr/>
        </p:nvSpPr>
        <p:spPr>
          <a:xfrm>
            <a:off x="640080" y="1600200"/>
            <a:ext cx="5257800" cy="1965960"/>
          </a:xfrm>
          <a:prstGeom prst="roundRect">
            <a:avLst>
              <a:gd name="adj" fmla="val 2791"/>
            </a:avLst>
          </a:prstGeom>
          <a:solidFill>
            <a:srgbClr val="F3F3F1"/>
          </a:solidFill>
          <a:ln/>
        </p:spPr>
      </p:sp>
      <p:sp>
        <p:nvSpPr>
          <p:cNvPr id="5" name="Shape 3"/>
          <p:cNvSpPr/>
          <p:nvPr/>
        </p:nvSpPr>
        <p:spPr>
          <a:xfrm>
            <a:off x="914400" y="1874520"/>
            <a:ext cx="548640" cy="548640"/>
          </a:xfrm>
          <a:prstGeom prst="roundRect">
            <a:avLst>
              <a:gd name="adj" fmla="val 15000"/>
            </a:avLst>
          </a:prstGeom>
          <a:solidFill>
            <a:srgbClr val="293352"/>
          </a:solidFill>
          <a:ln/>
        </p:spPr>
      </p:sp>
      <p:pic>
        <p:nvPicPr>
          <p:cNvPr id="6" name="Image 0" descr="preencoded.png"/>
          <p:cNvPicPr>
            <a:picLocks noChangeAspect="1"/>
          </p:cNvPicPr>
          <p:nvPr/>
        </p:nvPicPr>
        <p:blipFill>
          <a:blip r:embed="rId3"/>
          <a:stretch>
            <a:fillRect/>
          </a:stretch>
        </p:blipFill>
        <p:spPr>
          <a:xfrm>
            <a:off x="1037844" y="1997964"/>
            <a:ext cx="301752" cy="301752"/>
          </a:xfrm>
          <a:prstGeom prst="rect">
            <a:avLst/>
          </a:prstGeom>
        </p:spPr>
      </p:pic>
      <p:sp>
        <p:nvSpPr>
          <p:cNvPr id="7" name="Text 4"/>
          <p:cNvSpPr/>
          <p:nvPr/>
        </p:nvSpPr>
        <p:spPr>
          <a:xfrm>
            <a:off x="1645920" y="1856232"/>
            <a:ext cx="4023360" cy="548640"/>
          </a:xfrm>
          <a:prstGeom prst="rect">
            <a:avLst/>
          </a:prstGeom>
          <a:noFill/>
          <a:ln/>
        </p:spPr>
        <p:txBody>
          <a:bodyPr wrap="square" lIns="0" tIns="0" rIns="0" bIns="0" rtlCol="0" anchor="ctr"/>
          <a:lstStyle/>
          <a:p>
            <a:pPr marL="0" indent="0">
              <a:buNone/>
            </a:pPr>
            <a:r>
              <a:rPr lang="en-US" sz="1600" b="1" dirty="0">
                <a:solidFill>
                  <a:srgbClr val="293352"/>
                </a:solidFill>
                <a:latin typeface="Arial" pitchFamily="34" charset="0"/>
                <a:ea typeface="Arial" pitchFamily="34" charset="-122"/>
                <a:cs typeface="Arial" pitchFamily="34" charset="-120"/>
              </a:rPr>
              <a:t>Three way comparison</a:t>
            </a:r>
            <a:endParaRPr lang="en-US" sz="1600" dirty="0"/>
          </a:p>
        </p:txBody>
      </p:sp>
      <p:sp>
        <p:nvSpPr>
          <p:cNvPr id="8" name="Text 5"/>
          <p:cNvSpPr/>
          <p:nvPr/>
        </p:nvSpPr>
        <p:spPr>
          <a:xfrm>
            <a:off x="914400" y="2514600"/>
            <a:ext cx="4709160" cy="914400"/>
          </a:xfrm>
          <a:prstGeom prst="rect">
            <a:avLst/>
          </a:prstGeom>
          <a:noFill/>
          <a:ln/>
        </p:spPr>
        <p:txBody>
          <a:bodyPr wrap="square" lIns="0" tIns="0" rIns="0" bIns="0" rtlCol="0" anchor="t"/>
          <a:lstStyle/>
          <a:p>
            <a:pPr marL="0" indent="0">
              <a:buNone/>
            </a:pPr>
            <a:r>
              <a:rPr lang="en-US" sz="1350" dirty="0">
                <a:solidFill>
                  <a:srgbClr val="1E1E1E"/>
                </a:solidFill>
                <a:latin typeface="Arial" pitchFamily="34" charset="0"/>
                <a:ea typeface="Arial" pitchFamily="34" charset="-122"/>
                <a:cs typeface="Arial" pitchFamily="34" charset="-120"/>
              </a:rPr>
              <a:t>Equal weight (1/N) as an honest benchmark alongside minimum variance and maximum Sharpe.</a:t>
            </a:r>
            <a:endParaRPr lang="en-US" sz="1350" dirty="0"/>
          </a:p>
        </p:txBody>
      </p:sp>
      <p:sp>
        <p:nvSpPr>
          <p:cNvPr id="9" name="Shape 6"/>
          <p:cNvSpPr/>
          <p:nvPr/>
        </p:nvSpPr>
        <p:spPr>
          <a:xfrm>
            <a:off x="6263640" y="1600200"/>
            <a:ext cx="5257800" cy="1965960"/>
          </a:xfrm>
          <a:prstGeom prst="roundRect">
            <a:avLst>
              <a:gd name="adj" fmla="val 2791"/>
            </a:avLst>
          </a:prstGeom>
          <a:solidFill>
            <a:srgbClr val="F3F3F1"/>
          </a:solidFill>
          <a:ln/>
        </p:spPr>
      </p:sp>
      <p:sp>
        <p:nvSpPr>
          <p:cNvPr id="10" name="Shape 7"/>
          <p:cNvSpPr/>
          <p:nvPr/>
        </p:nvSpPr>
        <p:spPr>
          <a:xfrm>
            <a:off x="6537960" y="1874520"/>
            <a:ext cx="548640" cy="548640"/>
          </a:xfrm>
          <a:prstGeom prst="roundRect">
            <a:avLst>
              <a:gd name="adj" fmla="val 15000"/>
            </a:avLst>
          </a:prstGeom>
          <a:solidFill>
            <a:srgbClr val="A51C30"/>
          </a:solidFill>
          <a:ln/>
        </p:spPr>
      </p:sp>
      <p:pic>
        <p:nvPicPr>
          <p:cNvPr id="11" name="Image 1" descr="preencoded.png"/>
          <p:cNvPicPr>
            <a:picLocks noChangeAspect="1"/>
          </p:cNvPicPr>
          <p:nvPr/>
        </p:nvPicPr>
        <p:blipFill>
          <a:blip r:embed="rId4"/>
          <a:stretch>
            <a:fillRect/>
          </a:stretch>
        </p:blipFill>
        <p:spPr>
          <a:xfrm>
            <a:off x="6661404" y="1997964"/>
            <a:ext cx="301752" cy="301752"/>
          </a:xfrm>
          <a:prstGeom prst="rect">
            <a:avLst/>
          </a:prstGeom>
        </p:spPr>
      </p:pic>
      <p:sp>
        <p:nvSpPr>
          <p:cNvPr id="12" name="Text 8"/>
          <p:cNvSpPr/>
          <p:nvPr/>
        </p:nvSpPr>
        <p:spPr>
          <a:xfrm>
            <a:off x="7269480" y="1856232"/>
            <a:ext cx="4023360" cy="548640"/>
          </a:xfrm>
          <a:prstGeom prst="rect">
            <a:avLst/>
          </a:prstGeom>
          <a:noFill/>
          <a:ln/>
        </p:spPr>
        <p:txBody>
          <a:bodyPr wrap="square" lIns="0" tIns="0" rIns="0" bIns="0" rtlCol="0" anchor="ctr"/>
          <a:lstStyle/>
          <a:p>
            <a:pPr marL="0" indent="0">
              <a:buNone/>
            </a:pPr>
            <a:r>
              <a:rPr lang="en-US" sz="1600" b="1" dirty="0">
                <a:solidFill>
                  <a:srgbClr val="293352"/>
                </a:solidFill>
                <a:latin typeface="Arial" pitchFamily="34" charset="0"/>
                <a:ea typeface="Arial" pitchFamily="34" charset="-122"/>
                <a:cs typeface="Arial" pitchFamily="34" charset="-120"/>
              </a:rPr>
              <a:t>What to expect</a:t>
            </a:r>
            <a:endParaRPr lang="en-US" sz="1600" dirty="0"/>
          </a:p>
        </p:txBody>
      </p:sp>
      <p:sp>
        <p:nvSpPr>
          <p:cNvPr id="13" name="Text 9"/>
          <p:cNvSpPr/>
          <p:nvPr/>
        </p:nvSpPr>
        <p:spPr>
          <a:xfrm>
            <a:off x="6537960" y="2514600"/>
            <a:ext cx="4709160" cy="914400"/>
          </a:xfrm>
          <a:prstGeom prst="rect">
            <a:avLst/>
          </a:prstGeom>
          <a:noFill/>
          <a:ln/>
        </p:spPr>
        <p:txBody>
          <a:bodyPr wrap="square" lIns="0" tIns="0" rIns="0" bIns="0" rtlCol="0" anchor="t"/>
          <a:lstStyle/>
          <a:p>
            <a:pPr marL="0" indent="0">
              <a:buNone/>
            </a:pPr>
            <a:r>
              <a:rPr lang="en-US" sz="1350" dirty="0">
                <a:solidFill>
                  <a:srgbClr val="1E1E1E"/>
                </a:solidFill>
                <a:latin typeface="Arial" pitchFamily="34" charset="0"/>
                <a:ea typeface="Arial" pitchFamily="34" charset="-122"/>
                <a:cs typeface="Arial" pitchFamily="34" charset="-120"/>
              </a:rPr>
              <a:t>Min variance wins volatility, max Sharpe wins Sharpe, equal weight lands in the middle.</a:t>
            </a:r>
            <a:endParaRPr lang="en-US" sz="1350" dirty="0"/>
          </a:p>
        </p:txBody>
      </p:sp>
      <p:sp>
        <p:nvSpPr>
          <p:cNvPr id="14" name="Shape 10"/>
          <p:cNvSpPr/>
          <p:nvPr/>
        </p:nvSpPr>
        <p:spPr>
          <a:xfrm>
            <a:off x="640080" y="3886200"/>
            <a:ext cx="5257800" cy="1965960"/>
          </a:xfrm>
          <a:prstGeom prst="roundRect">
            <a:avLst>
              <a:gd name="adj" fmla="val 2791"/>
            </a:avLst>
          </a:prstGeom>
          <a:solidFill>
            <a:srgbClr val="F3F3F1"/>
          </a:solidFill>
          <a:ln/>
        </p:spPr>
      </p:sp>
      <p:sp>
        <p:nvSpPr>
          <p:cNvPr id="15" name="Shape 11"/>
          <p:cNvSpPr/>
          <p:nvPr/>
        </p:nvSpPr>
        <p:spPr>
          <a:xfrm>
            <a:off x="914400" y="4160520"/>
            <a:ext cx="548640" cy="548640"/>
          </a:xfrm>
          <a:prstGeom prst="roundRect">
            <a:avLst>
              <a:gd name="adj" fmla="val 15000"/>
            </a:avLst>
          </a:prstGeom>
          <a:solidFill>
            <a:srgbClr val="293352"/>
          </a:solidFill>
          <a:ln/>
        </p:spPr>
      </p:sp>
      <p:pic>
        <p:nvPicPr>
          <p:cNvPr id="16" name="Image 2" descr="preencoded.png"/>
          <p:cNvPicPr>
            <a:picLocks noChangeAspect="1"/>
          </p:cNvPicPr>
          <p:nvPr/>
        </p:nvPicPr>
        <p:blipFill>
          <a:blip r:embed="rId5"/>
          <a:stretch>
            <a:fillRect/>
          </a:stretch>
        </p:blipFill>
        <p:spPr>
          <a:xfrm>
            <a:off x="1037844" y="4283964"/>
            <a:ext cx="301752" cy="301752"/>
          </a:xfrm>
          <a:prstGeom prst="rect">
            <a:avLst/>
          </a:prstGeom>
        </p:spPr>
      </p:pic>
      <p:sp>
        <p:nvSpPr>
          <p:cNvPr id="17" name="Text 12"/>
          <p:cNvSpPr/>
          <p:nvPr/>
        </p:nvSpPr>
        <p:spPr>
          <a:xfrm>
            <a:off x="1645920" y="4142232"/>
            <a:ext cx="4023360" cy="548640"/>
          </a:xfrm>
          <a:prstGeom prst="rect">
            <a:avLst/>
          </a:prstGeom>
          <a:noFill/>
          <a:ln/>
        </p:spPr>
        <p:txBody>
          <a:bodyPr wrap="square" lIns="0" tIns="0" rIns="0" bIns="0" rtlCol="0" anchor="ctr"/>
          <a:lstStyle/>
          <a:p>
            <a:pPr marL="0" indent="0">
              <a:buNone/>
            </a:pPr>
            <a:r>
              <a:rPr lang="en-US" sz="1600" b="1" dirty="0">
                <a:solidFill>
                  <a:srgbClr val="293352"/>
                </a:solidFill>
                <a:latin typeface="Arial" pitchFamily="34" charset="0"/>
                <a:ea typeface="Arial" pitchFamily="34" charset="-122"/>
                <a:cs typeface="Arial" pitchFamily="34" charset="-120"/>
              </a:rPr>
              <a:t>JSON export</a:t>
            </a:r>
            <a:endParaRPr lang="en-US" sz="1600" dirty="0"/>
          </a:p>
        </p:txBody>
      </p:sp>
      <p:sp>
        <p:nvSpPr>
          <p:cNvPr id="18" name="Text 13"/>
          <p:cNvSpPr/>
          <p:nvPr/>
        </p:nvSpPr>
        <p:spPr>
          <a:xfrm>
            <a:off x="914400" y="4800600"/>
            <a:ext cx="4709160" cy="914400"/>
          </a:xfrm>
          <a:prstGeom prst="rect">
            <a:avLst/>
          </a:prstGeom>
          <a:noFill/>
          <a:ln/>
        </p:spPr>
        <p:txBody>
          <a:bodyPr wrap="square" lIns="0" tIns="0" rIns="0" bIns="0" rtlCol="0" anchor="t"/>
          <a:lstStyle/>
          <a:p>
            <a:pPr marL="0" indent="0">
              <a:buNone/>
            </a:pPr>
            <a:r>
              <a:rPr lang="en-US" sz="1350" dirty="0">
                <a:solidFill>
                  <a:srgbClr val="1E1E1E"/>
                </a:solidFill>
                <a:latin typeface="Arial" pitchFamily="34" charset="0"/>
                <a:ea typeface="Arial" pitchFamily="34" charset="-122"/>
                <a:cs typeface="Arial" pitchFamily="34" charset="-120"/>
              </a:rPr>
              <a:t>R produced the numbers. The export is the interpretation step for an LLM.</a:t>
            </a:r>
            <a:endParaRPr lang="en-US" sz="1350" dirty="0"/>
          </a:p>
        </p:txBody>
      </p:sp>
      <p:sp>
        <p:nvSpPr>
          <p:cNvPr id="19" name="Shape 14"/>
          <p:cNvSpPr/>
          <p:nvPr/>
        </p:nvSpPr>
        <p:spPr>
          <a:xfrm>
            <a:off x="6263640" y="3886200"/>
            <a:ext cx="5257800" cy="1965960"/>
          </a:xfrm>
          <a:prstGeom prst="roundRect">
            <a:avLst>
              <a:gd name="adj" fmla="val 2791"/>
            </a:avLst>
          </a:prstGeom>
          <a:solidFill>
            <a:srgbClr val="F3F3F1"/>
          </a:solidFill>
          <a:ln/>
        </p:spPr>
      </p:sp>
      <p:sp>
        <p:nvSpPr>
          <p:cNvPr id="20" name="Shape 15"/>
          <p:cNvSpPr/>
          <p:nvPr/>
        </p:nvSpPr>
        <p:spPr>
          <a:xfrm>
            <a:off x="6537960" y="4160520"/>
            <a:ext cx="548640" cy="548640"/>
          </a:xfrm>
          <a:prstGeom prst="roundRect">
            <a:avLst>
              <a:gd name="adj" fmla="val 15000"/>
            </a:avLst>
          </a:prstGeom>
          <a:solidFill>
            <a:srgbClr val="A51C30"/>
          </a:solidFill>
          <a:ln/>
        </p:spPr>
      </p:sp>
      <p:pic>
        <p:nvPicPr>
          <p:cNvPr id="21" name="Image 3" descr="preencoded.png"/>
          <p:cNvPicPr>
            <a:picLocks noChangeAspect="1"/>
          </p:cNvPicPr>
          <p:nvPr/>
        </p:nvPicPr>
        <p:blipFill>
          <a:blip r:embed="rId6"/>
          <a:stretch>
            <a:fillRect/>
          </a:stretch>
        </p:blipFill>
        <p:spPr>
          <a:xfrm>
            <a:off x="6661404" y="4283964"/>
            <a:ext cx="301752" cy="301752"/>
          </a:xfrm>
          <a:prstGeom prst="rect">
            <a:avLst/>
          </a:prstGeom>
        </p:spPr>
      </p:pic>
      <p:sp>
        <p:nvSpPr>
          <p:cNvPr id="22" name="Text 16"/>
          <p:cNvSpPr/>
          <p:nvPr/>
        </p:nvSpPr>
        <p:spPr>
          <a:xfrm>
            <a:off x="7269480" y="4142232"/>
            <a:ext cx="4023360" cy="548640"/>
          </a:xfrm>
          <a:prstGeom prst="rect">
            <a:avLst/>
          </a:prstGeom>
          <a:noFill/>
          <a:ln/>
        </p:spPr>
        <p:txBody>
          <a:bodyPr wrap="square" lIns="0" tIns="0" rIns="0" bIns="0" rtlCol="0" anchor="ctr"/>
          <a:lstStyle/>
          <a:p>
            <a:pPr marL="0" indent="0">
              <a:buNone/>
            </a:pPr>
            <a:r>
              <a:rPr lang="en-US" sz="1600" b="1" dirty="0">
                <a:solidFill>
                  <a:srgbClr val="293352"/>
                </a:solidFill>
                <a:latin typeface="Arial" pitchFamily="34" charset="0"/>
                <a:ea typeface="Arial" pitchFamily="34" charset="-122"/>
                <a:cs typeface="Arial" pitchFamily="34" charset="-120"/>
              </a:rPr>
              <a:t>Interpret, not recalculate</a:t>
            </a:r>
            <a:endParaRPr lang="en-US" sz="1600" dirty="0"/>
          </a:p>
        </p:txBody>
      </p:sp>
      <p:sp>
        <p:nvSpPr>
          <p:cNvPr id="23" name="Text 17"/>
          <p:cNvSpPr/>
          <p:nvPr/>
        </p:nvSpPr>
        <p:spPr>
          <a:xfrm>
            <a:off x="6537960" y="4800600"/>
            <a:ext cx="4709160" cy="914400"/>
          </a:xfrm>
          <a:prstGeom prst="rect">
            <a:avLst/>
          </a:prstGeom>
          <a:noFill/>
          <a:ln/>
        </p:spPr>
        <p:txBody>
          <a:bodyPr wrap="square" lIns="0" tIns="0" rIns="0" bIns="0" rtlCol="0" anchor="t"/>
          <a:lstStyle/>
          <a:p>
            <a:pPr marL="0" indent="0">
              <a:buNone/>
            </a:pPr>
            <a:r>
              <a:rPr lang="en-US" sz="1350" dirty="0">
                <a:solidFill>
                  <a:srgbClr val="1E1E1E"/>
                </a:solidFill>
                <a:latin typeface="Arial" pitchFamily="34" charset="0"/>
                <a:ea typeface="Arial" pitchFamily="34" charset="-122"/>
                <a:cs typeface="Arial" pitchFamily="34" charset="-120"/>
              </a:rPr>
              <a:t>The chatbot prompt says it plainly: read the numbers, do not recompute them.</a:t>
            </a:r>
            <a:endParaRPr lang="en-US" sz="1350" dirty="0"/>
          </a:p>
        </p:txBody>
      </p:sp>
      <p:sp>
        <p:nvSpPr>
          <p:cNvPr id="24"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25" name="Harvard Page Number"/>
          <p:cNvSpPr txBox="1"/>
          <p:nvPr/>
        </p:nvSpPr>
        <p:spPr>
          <a:xfrm>
            <a:off x="11730577" y="6446043"/>
            <a:ext cx="324104" cy="274638"/>
          </a:xfrm>
          <a:prstGeom prst="rect">
            <a:avLst/>
          </a:prstGeom>
          <a:noFill/>
        </p:spPr>
        <p:txBody>
          <a:bodyPr wrap="none" lIns="0" tIns="0" rIns="0" bIns="0">
            <a:noAutofit/>
          </a:bodyPr>
          <a:lstStyle/>
          <a:p>
            <a:pPr algn="r"/>
            <a:fld id="{A5A64AEE-DF37-48C7-89E1-DDF968451F2D}" type="slidenum">
              <a:rPr lang="en-US" sz="1000">
                <a:solidFill>
                  <a:srgbClr val="8996A0"/>
                </a:solidFill>
                <a:latin typeface="Arial"/>
              </a:rPr>
              <a:t>14</a:t>
            </a:fld>
            <a:endParaRPr lang="en-US" sz="1000">
              <a:solidFill>
                <a:srgbClr val="8996A0"/>
              </a:solidFill>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marL="0" indent="0">
              <a:buNone/>
            </a:pPr>
            <a:r>
              <a:rPr lang="en-US" sz="1200" b="1" kern="0" spc="200" dirty="0">
                <a:solidFill>
                  <a:srgbClr val="A51C30"/>
                </a:solidFill>
                <a:latin typeface="Arial" pitchFamily="34" charset="0"/>
                <a:ea typeface="Arial" pitchFamily="34" charset="-122"/>
                <a:cs typeface="Arial" pitchFamily="34" charset="-120"/>
              </a:rPr>
              <a:t>LIVE IN RSTUDIO</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marL="0" indent="0">
              <a:buNone/>
            </a:pPr>
            <a:r>
              <a:rPr lang="en-US" sz="2800" b="1" dirty="0">
                <a:solidFill>
                  <a:srgbClr val="1E1E1E"/>
                </a:solidFill>
                <a:latin typeface="Arial" pitchFamily="34" charset="0"/>
                <a:ea typeface="Arial" pitchFamily="34" charset="-122"/>
                <a:cs typeface="Arial" pitchFamily="34" charset="-120"/>
              </a:rPr>
              <a:t>Script D: run it</a:t>
            </a:r>
            <a:endParaRPr lang="en-US" sz="2800" dirty="0"/>
          </a:p>
        </p:txBody>
      </p:sp>
      <p:sp>
        <p:nvSpPr>
          <p:cNvPr id="4" name="Shape 2"/>
          <p:cNvSpPr/>
          <p:nvPr/>
        </p:nvSpPr>
        <p:spPr>
          <a:xfrm>
            <a:off x="640080" y="1600200"/>
            <a:ext cx="10881360" cy="3611880"/>
          </a:xfrm>
          <a:prstGeom prst="roundRect">
            <a:avLst>
              <a:gd name="adj" fmla="val 1519"/>
            </a:avLst>
          </a:prstGeom>
          <a:solidFill>
            <a:srgbClr val="1E1E1E"/>
          </a:solidFill>
          <a:ln/>
        </p:spPr>
      </p:sp>
      <p:sp>
        <p:nvSpPr>
          <p:cNvPr id="5" name="Shape 3"/>
          <p:cNvSpPr/>
          <p:nvPr/>
        </p:nvSpPr>
        <p:spPr>
          <a:xfrm>
            <a:off x="914400" y="1828800"/>
            <a:ext cx="146304" cy="146304"/>
          </a:xfrm>
          <a:prstGeom prst="ellipse">
            <a:avLst/>
          </a:prstGeom>
          <a:solidFill>
            <a:srgbClr val="A51C30"/>
          </a:solidFill>
          <a:ln/>
        </p:spPr>
      </p:sp>
      <p:sp>
        <p:nvSpPr>
          <p:cNvPr id="6" name="Shape 4"/>
          <p:cNvSpPr/>
          <p:nvPr/>
        </p:nvSpPr>
        <p:spPr>
          <a:xfrm>
            <a:off x="1170432" y="1828800"/>
            <a:ext cx="146304" cy="146304"/>
          </a:xfrm>
          <a:prstGeom prst="ellipse">
            <a:avLst/>
          </a:prstGeom>
          <a:solidFill>
            <a:srgbClr val="C4961A"/>
          </a:solidFill>
          <a:ln/>
        </p:spPr>
      </p:sp>
      <p:sp>
        <p:nvSpPr>
          <p:cNvPr id="7" name="Shape 5"/>
          <p:cNvSpPr/>
          <p:nvPr/>
        </p:nvSpPr>
        <p:spPr>
          <a:xfrm>
            <a:off x="1426464" y="1828800"/>
            <a:ext cx="146304" cy="146304"/>
          </a:xfrm>
          <a:prstGeom prst="ellipse">
            <a:avLst/>
          </a:prstGeom>
          <a:solidFill>
            <a:srgbClr val="1D9E75"/>
          </a:solidFill>
          <a:ln/>
        </p:spPr>
      </p:sp>
      <p:sp>
        <p:nvSpPr>
          <p:cNvPr id="8" name="Text 6"/>
          <p:cNvSpPr/>
          <p:nvPr/>
        </p:nvSpPr>
        <p:spPr>
          <a:xfrm>
            <a:off x="2011680" y="1764792"/>
            <a:ext cx="5486400" cy="274320"/>
          </a:xfrm>
          <a:prstGeom prst="rect">
            <a:avLst/>
          </a:prstGeom>
          <a:noFill/>
          <a:ln/>
        </p:spPr>
        <p:txBody>
          <a:bodyPr wrap="square" lIns="0" tIns="0" rIns="0" bIns="0" rtlCol="0" anchor="ctr"/>
          <a:lstStyle/>
          <a:p>
            <a:pPr marL="0" indent="0">
              <a:buNone/>
            </a:pPr>
            <a:r>
              <a:rPr lang="en-US" sz="1100" b="1" kern="0" spc="200" dirty="0">
                <a:solidFill>
                  <a:srgbClr val="8996A0"/>
                </a:solidFill>
                <a:latin typeface="Arial" pitchFamily="34" charset="0"/>
                <a:ea typeface="Arial" pitchFamily="34" charset="-122"/>
                <a:cs typeface="Arial" pitchFamily="34" charset="-120"/>
              </a:rPr>
              <a:t>LIVE CODE STEP THROUGH</a:t>
            </a:r>
            <a:endParaRPr lang="en-US" sz="1100" dirty="0"/>
          </a:p>
        </p:txBody>
      </p:sp>
      <p:sp>
        <p:nvSpPr>
          <p:cNvPr id="9" name="Text 7"/>
          <p:cNvSpPr/>
          <p:nvPr/>
        </p:nvSpPr>
        <p:spPr>
          <a:xfrm>
            <a:off x="914400" y="2331720"/>
            <a:ext cx="10332720" cy="685800"/>
          </a:xfrm>
          <a:prstGeom prst="rect">
            <a:avLst/>
          </a:prstGeom>
          <a:noFill/>
          <a:ln/>
        </p:spPr>
        <p:txBody>
          <a:bodyPr wrap="square" lIns="0" tIns="0" rIns="0" bIns="0" rtlCol="0" anchor="t"/>
          <a:lstStyle/>
          <a:p>
            <a:pPr marL="0" indent="0">
              <a:lnSpc>
                <a:spcPct val="100000"/>
              </a:lnSpc>
              <a:buNone/>
            </a:pPr>
            <a:r>
              <a:rPr lang="en-US" sz="1500" b="1" dirty="0">
                <a:solidFill>
                  <a:srgbClr val="4E84C4"/>
                </a:solidFill>
                <a:latin typeface="Arial" pitchFamily="34" charset="0"/>
                <a:ea typeface="Arial" pitchFamily="34" charset="-122"/>
                <a:cs typeface="Arial" pitchFamily="34" charset="-120"/>
              </a:rPr>
              <a:t>&gt; </a:t>
            </a:r>
            <a:r>
              <a:rPr lang="en-US" sz="1500" dirty="0">
                <a:solidFill>
                  <a:srgbClr val="F3F3F1"/>
                </a:solidFill>
                <a:latin typeface="Arial" pitchFamily="34" charset="0"/>
                <a:ea typeface="Arial" pitchFamily="34" charset="-122"/>
                <a:cs typeface="Arial" pitchFamily="34" charset="-120"/>
              </a:rPr>
              <a:t>Run the comparison table and the side by side weights barplot.</a:t>
            </a:r>
            <a:endParaRPr lang="en-US" sz="1500" dirty="0"/>
          </a:p>
        </p:txBody>
      </p:sp>
      <p:sp>
        <p:nvSpPr>
          <p:cNvPr id="10" name="Text 8"/>
          <p:cNvSpPr/>
          <p:nvPr/>
        </p:nvSpPr>
        <p:spPr>
          <a:xfrm>
            <a:off x="914400" y="3172968"/>
            <a:ext cx="10332720" cy="685800"/>
          </a:xfrm>
          <a:prstGeom prst="rect">
            <a:avLst/>
          </a:prstGeom>
          <a:noFill/>
          <a:ln/>
        </p:spPr>
        <p:txBody>
          <a:bodyPr wrap="square" lIns="0" tIns="0" rIns="0" bIns="0" rtlCol="0" anchor="t"/>
          <a:lstStyle/>
          <a:p>
            <a:pPr marL="0" indent="0">
              <a:lnSpc>
                <a:spcPct val="100000"/>
              </a:lnSpc>
              <a:buNone/>
            </a:pPr>
            <a:r>
              <a:rPr lang="en-US" sz="1500" b="1" dirty="0">
                <a:solidFill>
                  <a:srgbClr val="4E84C4"/>
                </a:solidFill>
                <a:latin typeface="Arial" pitchFamily="34" charset="0"/>
                <a:ea typeface="Arial" pitchFamily="34" charset="-122"/>
                <a:cs typeface="Arial" pitchFamily="34" charset="-120"/>
              </a:rPr>
              <a:t>&gt; </a:t>
            </a:r>
            <a:r>
              <a:rPr lang="en-US" sz="1500" dirty="0">
                <a:solidFill>
                  <a:srgbClr val="F3F3F1"/>
                </a:solidFill>
                <a:latin typeface="Arial" pitchFamily="34" charset="0"/>
                <a:ea typeface="Arial" pitchFamily="34" charset="-122"/>
                <a:cs typeface="Arial" pitchFamily="34" charset="-120"/>
              </a:rPr>
              <a:t>Write portfolio_summary.json, open it, walk the structure.</a:t>
            </a:r>
            <a:endParaRPr lang="en-US" sz="1500" dirty="0"/>
          </a:p>
        </p:txBody>
      </p:sp>
      <p:sp>
        <p:nvSpPr>
          <p:cNvPr id="11" name="Text 9"/>
          <p:cNvSpPr/>
          <p:nvPr/>
        </p:nvSpPr>
        <p:spPr>
          <a:xfrm>
            <a:off x="914400" y="4014216"/>
            <a:ext cx="10332720" cy="685800"/>
          </a:xfrm>
          <a:prstGeom prst="rect">
            <a:avLst/>
          </a:prstGeom>
          <a:noFill/>
          <a:ln/>
        </p:spPr>
        <p:txBody>
          <a:bodyPr wrap="square" lIns="0" tIns="0" rIns="0" bIns="0" rtlCol="0" anchor="t"/>
          <a:lstStyle/>
          <a:p>
            <a:pPr marL="0" indent="0">
              <a:lnSpc>
                <a:spcPct val="100000"/>
              </a:lnSpc>
              <a:buNone/>
            </a:pPr>
            <a:r>
              <a:rPr lang="en-US" sz="1500" b="1" dirty="0">
                <a:solidFill>
                  <a:srgbClr val="4E84C4"/>
                </a:solidFill>
                <a:latin typeface="Arial" pitchFamily="34" charset="0"/>
                <a:ea typeface="Arial" pitchFamily="34" charset="-122"/>
                <a:cs typeface="Arial" pitchFamily="34" charset="-120"/>
              </a:rPr>
              <a:t>&gt; </a:t>
            </a:r>
            <a:r>
              <a:rPr lang="en-US" sz="1500" dirty="0">
                <a:solidFill>
                  <a:srgbClr val="F3F3F1"/>
                </a:solidFill>
                <a:latin typeface="Arial" pitchFamily="34" charset="0"/>
                <a:ea typeface="Arial" pitchFamily="34" charset="-122"/>
                <a:cs typeface="Arial" pitchFamily="34" charset="-120"/>
              </a:rPr>
              <a:t>Live: paste the JSON into a chatbot and read the plain English response aloud.</a:t>
            </a:r>
            <a:endParaRPr lang="en-US" sz="1500" dirty="0"/>
          </a:p>
        </p:txBody>
      </p:sp>
      <p:sp>
        <p:nvSpPr>
          <p:cNvPr id="14"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5" name="Harvard Page Number"/>
          <p:cNvSpPr txBox="1"/>
          <p:nvPr/>
        </p:nvSpPr>
        <p:spPr>
          <a:xfrm>
            <a:off x="11730577" y="6446043"/>
            <a:ext cx="324104" cy="274638"/>
          </a:xfrm>
          <a:prstGeom prst="rect">
            <a:avLst/>
          </a:prstGeom>
          <a:noFill/>
        </p:spPr>
        <p:txBody>
          <a:bodyPr wrap="none" lIns="0" tIns="0" rIns="0" bIns="0">
            <a:noAutofit/>
          </a:bodyPr>
          <a:lstStyle/>
          <a:p>
            <a:pPr algn="r"/>
            <a:fld id="{6E8658AA-C763-4372-8FB8-BCA0EC6ADE6C}" type="slidenum">
              <a:rPr lang="en-US" sz="1000">
                <a:solidFill>
                  <a:srgbClr val="8996A0"/>
                </a:solidFill>
                <a:latin typeface="Arial"/>
              </a:rPr>
              <a:t>15</a:t>
            </a:fld>
            <a:endParaRPr lang="en-US" sz="1000">
              <a:solidFill>
                <a:srgbClr val="8996A0"/>
              </a:solidFill>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marL="0" indent="0">
              <a:buNone/>
            </a:pPr>
            <a:r>
              <a:rPr lang="en-US" sz="1200" b="1" kern="0" spc="200" dirty="0">
                <a:solidFill>
                  <a:srgbClr val="A51C30"/>
                </a:solidFill>
                <a:latin typeface="Arial" pitchFamily="34" charset="0"/>
                <a:ea typeface="Arial" pitchFamily="34" charset="-122"/>
                <a:cs typeface="Arial" pitchFamily="34" charset="-120"/>
              </a:rPr>
              <a:t>THE ACCEPTED STAND IN [easier to vibe code but you can do more later]</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marL="0" indent="0">
              <a:buNone/>
            </a:pPr>
            <a:r>
              <a:rPr lang="en-US" sz="2800" b="1" dirty="0">
                <a:solidFill>
                  <a:srgbClr val="1E1E1E"/>
                </a:solidFill>
                <a:latin typeface="Arial" pitchFamily="34" charset="0"/>
                <a:ea typeface="Arial" pitchFamily="34" charset="-122"/>
                <a:cs typeface="Arial" pitchFamily="34" charset="-120"/>
              </a:rPr>
              <a:t>Inverse volatility weighting</a:t>
            </a:r>
            <a:endParaRPr lang="en-US" sz="2800" dirty="0"/>
          </a:p>
        </p:txBody>
      </p:sp>
      <p:sp>
        <p:nvSpPr>
          <p:cNvPr id="4" name="Shape 2"/>
          <p:cNvSpPr/>
          <p:nvPr/>
        </p:nvSpPr>
        <p:spPr>
          <a:xfrm>
            <a:off x="640080" y="1600200"/>
            <a:ext cx="3749040" cy="3977640"/>
          </a:xfrm>
          <a:prstGeom prst="roundRect">
            <a:avLst>
              <a:gd name="adj" fmla="val 1951"/>
            </a:avLst>
          </a:prstGeom>
          <a:solidFill>
            <a:srgbClr val="293352"/>
          </a:solidFill>
          <a:ln/>
        </p:spPr>
      </p:sp>
      <p:sp>
        <p:nvSpPr>
          <p:cNvPr id="5" name="Shape 3"/>
          <p:cNvSpPr/>
          <p:nvPr/>
        </p:nvSpPr>
        <p:spPr>
          <a:xfrm>
            <a:off x="914400" y="1874520"/>
            <a:ext cx="640080" cy="640080"/>
          </a:xfrm>
          <a:prstGeom prst="roundRect">
            <a:avLst>
              <a:gd name="adj" fmla="val 12857"/>
            </a:avLst>
          </a:prstGeom>
          <a:solidFill>
            <a:srgbClr val="A51C30"/>
          </a:solidFill>
          <a:ln/>
        </p:spPr>
      </p:sp>
      <p:pic>
        <p:nvPicPr>
          <p:cNvPr id="6" name="Image 0" descr="preencoded.png"/>
          <p:cNvPicPr>
            <a:picLocks noChangeAspect="1"/>
          </p:cNvPicPr>
          <p:nvPr/>
        </p:nvPicPr>
        <p:blipFill>
          <a:blip r:embed="rId3"/>
          <a:stretch>
            <a:fillRect/>
          </a:stretch>
        </p:blipFill>
        <p:spPr>
          <a:xfrm>
            <a:off x="1058418" y="2018538"/>
            <a:ext cx="352044" cy="352044"/>
          </a:xfrm>
          <a:prstGeom prst="rect">
            <a:avLst/>
          </a:prstGeom>
        </p:spPr>
      </p:pic>
      <p:sp>
        <p:nvSpPr>
          <p:cNvPr id="7" name="Text 4"/>
          <p:cNvSpPr/>
          <p:nvPr/>
        </p:nvSpPr>
        <p:spPr>
          <a:xfrm>
            <a:off x="914400" y="2697480"/>
            <a:ext cx="3200400" cy="1188720"/>
          </a:xfrm>
          <a:prstGeom prst="rect">
            <a:avLst/>
          </a:prstGeom>
          <a:noFill/>
          <a:ln/>
        </p:spPr>
        <p:txBody>
          <a:bodyPr wrap="square" lIns="0" tIns="0" rIns="0" bIns="0" rtlCol="0" anchor="t"/>
          <a:lstStyle/>
          <a:p>
            <a:pPr marL="0" indent="0">
              <a:buNone/>
            </a:pPr>
            <a:r>
              <a:rPr lang="en-US" sz="2200" b="1" dirty="0">
                <a:solidFill>
                  <a:srgbClr val="FFFFFF"/>
                </a:solidFill>
                <a:latin typeface="Arial" pitchFamily="34" charset="0"/>
                <a:ea typeface="Arial" pitchFamily="34" charset="-122"/>
                <a:cs typeface="Arial" pitchFamily="34" charset="-120"/>
              </a:rPr>
              <a:t>Weight by 1 over volatility</a:t>
            </a:r>
            <a:endParaRPr lang="en-US" sz="2200" dirty="0"/>
          </a:p>
        </p:txBody>
      </p:sp>
      <p:sp>
        <p:nvSpPr>
          <p:cNvPr id="8" name="Text 5"/>
          <p:cNvSpPr/>
          <p:nvPr/>
        </p:nvSpPr>
        <p:spPr>
          <a:xfrm>
            <a:off x="914400" y="3977640"/>
            <a:ext cx="3200400" cy="640080"/>
          </a:xfrm>
          <a:prstGeom prst="rect">
            <a:avLst/>
          </a:prstGeom>
          <a:noFill/>
          <a:ln/>
        </p:spPr>
        <p:txBody>
          <a:bodyPr wrap="square" lIns="0" tIns="0" rIns="0" bIns="0" rtlCol="0" anchor="ctr"/>
          <a:lstStyle/>
          <a:p>
            <a:pPr marL="0" indent="0">
              <a:buNone/>
            </a:pPr>
            <a:r>
              <a:rPr lang="en-US" sz="3000" b="1" dirty="0">
                <a:solidFill>
                  <a:srgbClr val="FFFFFF"/>
                </a:solidFill>
                <a:latin typeface="Arial" pitchFamily="34" charset="0"/>
                <a:ea typeface="Arial" pitchFamily="34" charset="-122"/>
                <a:cs typeface="Arial" pitchFamily="34" charset="-120"/>
              </a:rPr>
              <a:t>1 / σ</a:t>
            </a:r>
            <a:endParaRPr lang="en-US" sz="3000" dirty="0"/>
          </a:p>
        </p:txBody>
      </p:sp>
      <p:sp>
        <p:nvSpPr>
          <p:cNvPr id="9" name="Text 6"/>
          <p:cNvSpPr/>
          <p:nvPr/>
        </p:nvSpPr>
        <p:spPr>
          <a:xfrm>
            <a:off x="914400" y="4617720"/>
            <a:ext cx="3200400" cy="457200"/>
          </a:xfrm>
          <a:prstGeom prst="rect">
            <a:avLst/>
          </a:prstGeom>
          <a:noFill/>
          <a:ln/>
        </p:spPr>
        <p:txBody>
          <a:bodyPr wrap="square" lIns="0" tIns="0" rIns="0" bIns="0" rtlCol="0" anchor="ctr"/>
          <a:lstStyle/>
          <a:p>
            <a:pPr marL="0" indent="0">
              <a:buNone/>
            </a:pPr>
            <a:r>
              <a:rPr lang="en-US" sz="1200" dirty="0">
                <a:solidFill>
                  <a:srgbClr val="F3F3F1"/>
                </a:solidFill>
                <a:latin typeface="Arial" pitchFamily="34" charset="0"/>
                <a:ea typeface="Arial" pitchFamily="34" charset="-122"/>
                <a:cs typeface="Arial" pitchFamily="34" charset="-120"/>
              </a:rPr>
              <a:t>calmer stocks get more capital, then normalize</a:t>
            </a:r>
            <a:endParaRPr lang="en-US" sz="1200" dirty="0"/>
          </a:p>
        </p:txBody>
      </p:sp>
      <p:sp>
        <p:nvSpPr>
          <p:cNvPr id="10" name="Shape 7"/>
          <p:cNvSpPr/>
          <p:nvPr/>
        </p:nvSpPr>
        <p:spPr>
          <a:xfrm>
            <a:off x="4663440" y="1600200"/>
            <a:ext cx="6858000" cy="1207008"/>
          </a:xfrm>
          <a:prstGeom prst="roundRect">
            <a:avLst>
              <a:gd name="adj" fmla="val 4545"/>
            </a:avLst>
          </a:prstGeom>
          <a:solidFill>
            <a:srgbClr val="F3F3F1"/>
          </a:solidFill>
          <a:ln/>
        </p:spPr>
      </p:sp>
      <p:sp>
        <p:nvSpPr>
          <p:cNvPr id="11" name="Shape 8"/>
          <p:cNvSpPr/>
          <p:nvPr/>
        </p:nvSpPr>
        <p:spPr>
          <a:xfrm>
            <a:off x="4892040" y="1952244"/>
            <a:ext cx="502920" cy="502920"/>
          </a:xfrm>
          <a:prstGeom prst="roundRect">
            <a:avLst>
              <a:gd name="adj" fmla="val 16364"/>
            </a:avLst>
          </a:prstGeom>
          <a:solidFill>
            <a:srgbClr val="A51C30"/>
          </a:solidFill>
          <a:ln/>
        </p:spPr>
      </p:sp>
      <p:pic>
        <p:nvPicPr>
          <p:cNvPr id="12" name="Image 1" descr="preencoded.png"/>
          <p:cNvPicPr>
            <a:picLocks noChangeAspect="1"/>
          </p:cNvPicPr>
          <p:nvPr/>
        </p:nvPicPr>
        <p:blipFill>
          <a:blip r:embed="rId4"/>
          <a:stretch>
            <a:fillRect/>
          </a:stretch>
        </p:blipFill>
        <p:spPr>
          <a:xfrm>
            <a:off x="5005197" y="2065401"/>
            <a:ext cx="276606" cy="276606"/>
          </a:xfrm>
          <a:prstGeom prst="rect">
            <a:avLst/>
          </a:prstGeom>
        </p:spPr>
      </p:pic>
      <p:sp>
        <p:nvSpPr>
          <p:cNvPr id="13" name="Text 9"/>
          <p:cNvSpPr/>
          <p:nvPr/>
        </p:nvSpPr>
        <p:spPr>
          <a:xfrm>
            <a:off x="5623560" y="1764792"/>
            <a:ext cx="5669280" cy="932688"/>
          </a:xfrm>
          <a:prstGeom prst="rect">
            <a:avLst/>
          </a:prstGeom>
          <a:noFill/>
          <a:ln/>
        </p:spPr>
        <p:txBody>
          <a:bodyPr wrap="square" lIns="0" tIns="0" rIns="0" bIns="0" rtlCol="0" anchor="ctr"/>
          <a:lstStyle/>
          <a:p>
            <a:pPr marL="0" indent="0">
              <a:lnSpc>
                <a:spcPct val="105000"/>
              </a:lnSpc>
              <a:buNone/>
            </a:pPr>
            <a:r>
              <a:rPr lang="en-US" sz="1500" b="1" dirty="0">
                <a:solidFill>
                  <a:srgbClr val="293352"/>
                </a:solidFill>
                <a:latin typeface="Arial" pitchFamily="34" charset="0"/>
                <a:ea typeface="Arial" pitchFamily="34" charset="-122"/>
                <a:cs typeface="Arial" pitchFamily="34" charset="-120"/>
              </a:rPr>
              <a:t>What it is
</a:t>
            </a:r>
            <a:r>
              <a:rPr lang="en-US" sz="1300" dirty="0">
                <a:solidFill>
                  <a:srgbClr val="1E1E1E"/>
                </a:solidFill>
                <a:latin typeface="Arial" pitchFamily="34" charset="0"/>
                <a:ea typeface="Arial" pitchFamily="34" charset="-122"/>
                <a:cs typeface="Arial" pitchFamily="34" charset="-120"/>
              </a:rPr>
              <a:t>Weight each survivor in proportion to 1 over its volatility, then normalize so weights sum to 1.</a:t>
            </a:r>
            <a:endParaRPr lang="en-US" sz="1500" dirty="0"/>
          </a:p>
        </p:txBody>
      </p:sp>
      <p:sp>
        <p:nvSpPr>
          <p:cNvPr id="14" name="Shape 10"/>
          <p:cNvSpPr/>
          <p:nvPr/>
        </p:nvSpPr>
        <p:spPr>
          <a:xfrm>
            <a:off x="4663440" y="2990088"/>
            <a:ext cx="6858000" cy="1207008"/>
          </a:xfrm>
          <a:prstGeom prst="roundRect">
            <a:avLst>
              <a:gd name="adj" fmla="val 4545"/>
            </a:avLst>
          </a:prstGeom>
          <a:solidFill>
            <a:srgbClr val="F3F3F1"/>
          </a:solidFill>
          <a:ln/>
        </p:spPr>
      </p:sp>
      <p:sp>
        <p:nvSpPr>
          <p:cNvPr id="15" name="Shape 11"/>
          <p:cNvSpPr/>
          <p:nvPr/>
        </p:nvSpPr>
        <p:spPr>
          <a:xfrm>
            <a:off x="4892040" y="3342132"/>
            <a:ext cx="502920" cy="502920"/>
          </a:xfrm>
          <a:prstGeom prst="roundRect">
            <a:avLst>
              <a:gd name="adj" fmla="val 16364"/>
            </a:avLst>
          </a:prstGeom>
          <a:solidFill>
            <a:srgbClr val="A51C30"/>
          </a:solidFill>
          <a:ln/>
        </p:spPr>
      </p:sp>
      <p:pic>
        <p:nvPicPr>
          <p:cNvPr id="16" name="Image 2" descr="preencoded.png"/>
          <p:cNvPicPr>
            <a:picLocks noChangeAspect="1"/>
          </p:cNvPicPr>
          <p:nvPr/>
        </p:nvPicPr>
        <p:blipFill>
          <a:blip r:embed="rId5"/>
          <a:stretch>
            <a:fillRect/>
          </a:stretch>
        </p:blipFill>
        <p:spPr>
          <a:xfrm>
            <a:off x="5005197" y="3455289"/>
            <a:ext cx="276606" cy="276606"/>
          </a:xfrm>
          <a:prstGeom prst="rect">
            <a:avLst/>
          </a:prstGeom>
        </p:spPr>
      </p:pic>
      <p:sp>
        <p:nvSpPr>
          <p:cNvPr id="17" name="Text 12"/>
          <p:cNvSpPr/>
          <p:nvPr/>
        </p:nvSpPr>
        <p:spPr>
          <a:xfrm>
            <a:off x="5623560" y="3154680"/>
            <a:ext cx="5669280" cy="932688"/>
          </a:xfrm>
          <a:prstGeom prst="rect">
            <a:avLst/>
          </a:prstGeom>
          <a:noFill/>
          <a:ln/>
        </p:spPr>
        <p:txBody>
          <a:bodyPr wrap="square" lIns="0" tIns="0" rIns="0" bIns="0" rtlCol="0" anchor="ctr"/>
          <a:lstStyle/>
          <a:p>
            <a:pPr marL="0" indent="0">
              <a:lnSpc>
                <a:spcPct val="105000"/>
              </a:lnSpc>
              <a:buNone/>
            </a:pPr>
            <a:r>
              <a:rPr lang="en-US" sz="1500" b="1" dirty="0">
                <a:solidFill>
                  <a:srgbClr val="293352"/>
                </a:solidFill>
                <a:latin typeface="Arial" pitchFamily="34" charset="0"/>
                <a:ea typeface="Arial" pitchFamily="34" charset="-122"/>
                <a:cs typeface="Arial" pitchFamily="34" charset="-120"/>
              </a:rPr>
              <a:t>Why not minimum variance here
</a:t>
            </a:r>
            <a:r>
              <a:rPr lang="en-US" sz="1300" dirty="0">
                <a:solidFill>
                  <a:srgbClr val="1E1E1E"/>
                </a:solidFill>
                <a:latin typeface="Arial" pitchFamily="34" charset="0"/>
                <a:ea typeface="Arial" pitchFamily="34" charset="-122"/>
                <a:cs typeface="Arial" pitchFamily="34" charset="-120"/>
              </a:rPr>
              <a:t>True min variance needs a quadratic program (matrix inverse plus solver), heavy in a browser (but possible).  </a:t>
            </a:r>
            <a:r>
              <a:rPr lang="en-US" sz="1300" dirty="0">
                <a:solidFill>
                  <a:srgbClr val="FF0000"/>
                </a:solidFill>
                <a:latin typeface="Arial" pitchFamily="34" charset="0"/>
                <a:ea typeface="Arial" pitchFamily="34" charset="-122"/>
                <a:cs typeface="Arial" pitchFamily="34" charset="-120"/>
              </a:rPr>
              <a:t>As you learn more intensive optimization you will need to build a proper back end.</a:t>
            </a:r>
            <a:endParaRPr lang="en-US" sz="1500" dirty="0">
              <a:solidFill>
                <a:srgbClr val="FF0000"/>
              </a:solidFill>
            </a:endParaRPr>
          </a:p>
        </p:txBody>
      </p:sp>
      <p:sp>
        <p:nvSpPr>
          <p:cNvPr id="18" name="Shape 13"/>
          <p:cNvSpPr/>
          <p:nvPr/>
        </p:nvSpPr>
        <p:spPr>
          <a:xfrm>
            <a:off x="4663440" y="4379976"/>
            <a:ext cx="6858000" cy="1207008"/>
          </a:xfrm>
          <a:prstGeom prst="roundRect">
            <a:avLst>
              <a:gd name="adj" fmla="val 4545"/>
            </a:avLst>
          </a:prstGeom>
          <a:solidFill>
            <a:srgbClr val="F3F3F1"/>
          </a:solidFill>
          <a:ln/>
        </p:spPr>
      </p:sp>
      <p:sp>
        <p:nvSpPr>
          <p:cNvPr id="19" name="Shape 14"/>
          <p:cNvSpPr/>
          <p:nvPr/>
        </p:nvSpPr>
        <p:spPr>
          <a:xfrm>
            <a:off x="4892040" y="4732020"/>
            <a:ext cx="502920" cy="502920"/>
          </a:xfrm>
          <a:prstGeom prst="roundRect">
            <a:avLst>
              <a:gd name="adj" fmla="val 16364"/>
            </a:avLst>
          </a:prstGeom>
          <a:solidFill>
            <a:srgbClr val="A51C30"/>
          </a:solidFill>
          <a:ln/>
        </p:spPr>
      </p:sp>
      <p:pic>
        <p:nvPicPr>
          <p:cNvPr id="20" name="Image 3" descr="preencoded.png"/>
          <p:cNvPicPr>
            <a:picLocks noChangeAspect="1"/>
          </p:cNvPicPr>
          <p:nvPr/>
        </p:nvPicPr>
        <p:blipFill>
          <a:blip r:embed="rId6"/>
          <a:stretch>
            <a:fillRect/>
          </a:stretch>
        </p:blipFill>
        <p:spPr>
          <a:xfrm>
            <a:off x="5005197" y="4845177"/>
            <a:ext cx="276606" cy="276606"/>
          </a:xfrm>
          <a:prstGeom prst="rect">
            <a:avLst/>
          </a:prstGeom>
        </p:spPr>
      </p:pic>
      <p:sp>
        <p:nvSpPr>
          <p:cNvPr id="21" name="Text 15"/>
          <p:cNvSpPr/>
          <p:nvPr/>
        </p:nvSpPr>
        <p:spPr>
          <a:xfrm>
            <a:off x="5623560" y="4544568"/>
            <a:ext cx="5669280" cy="932688"/>
          </a:xfrm>
          <a:prstGeom prst="rect">
            <a:avLst/>
          </a:prstGeom>
          <a:noFill/>
          <a:ln/>
        </p:spPr>
        <p:txBody>
          <a:bodyPr wrap="square" lIns="0" tIns="0" rIns="0" bIns="0" rtlCol="0" anchor="ctr"/>
          <a:lstStyle/>
          <a:p>
            <a:pPr marL="0" indent="0">
              <a:lnSpc>
                <a:spcPct val="105000"/>
              </a:lnSpc>
              <a:buNone/>
            </a:pPr>
            <a:r>
              <a:rPr lang="en-US" sz="1500" b="1" dirty="0">
                <a:solidFill>
                  <a:srgbClr val="293352"/>
                </a:solidFill>
                <a:latin typeface="Arial" pitchFamily="34" charset="0"/>
                <a:ea typeface="Arial" pitchFamily="34" charset="-122"/>
                <a:cs typeface="Arial" pitchFamily="34" charset="-120"/>
              </a:rPr>
              <a:t>Why it is acceptable
</a:t>
            </a:r>
            <a:r>
              <a:rPr lang="en-US" sz="1300" dirty="0">
                <a:solidFill>
                  <a:srgbClr val="1E1E1E"/>
                </a:solidFill>
                <a:latin typeface="Arial" pitchFamily="34" charset="0"/>
                <a:ea typeface="Arial" pitchFamily="34" charset="-122"/>
                <a:cs typeface="Arial" pitchFamily="34" charset="-120"/>
              </a:rPr>
              <a:t>A real, widely used heuristic. Same lean toward lower risk, no solver, all in plain JavaScript.</a:t>
            </a:r>
            <a:endParaRPr lang="en-US" sz="1500" dirty="0"/>
          </a:p>
        </p:txBody>
      </p:sp>
      <p:sp>
        <p:nvSpPr>
          <p:cNvPr id="22"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23" name="Harvard Page Number"/>
          <p:cNvSpPr txBox="1"/>
          <p:nvPr/>
        </p:nvSpPr>
        <p:spPr>
          <a:xfrm>
            <a:off x="11730577" y="6446043"/>
            <a:ext cx="324104" cy="274638"/>
          </a:xfrm>
          <a:prstGeom prst="rect">
            <a:avLst/>
          </a:prstGeom>
          <a:noFill/>
        </p:spPr>
        <p:txBody>
          <a:bodyPr wrap="none" lIns="0" tIns="0" rIns="0" bIns="0">
            <a:noAutofit/>
          </a:bodyPr>
          <a:lstStyle/>
          <a:p>
            <a:pPr algn="r"/>
            <a:fld id="{FFE3DD3C-3519-4864-A927-D385286F66FC}" type="slidenum">
              <a:rPr lang="en-US" sz="1000">
                <a:solidFill>
                  <a:srgbClr val="8996A0"/>
                </a:solidFill>
                <a:latin typeface="Arial"/>
              </a:rPr>
              <a:t>16</a:t>
            </a:fld>
            <a:endParaRPr lang="en-US" sz="1000">
              <a:solidFill>
                <a:srgbClr val="8996A0"/>
              </a:solidFill>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61825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62B886A9-D603-3BA9-37C6-5E8D9BE6D931}"/>
              </a:ext>
            </a:extLst>
          </p:cNvPr>
          <p:cNvSpPr/>
          <p:nvPr/>
        </p:nvSpPr>
        <p:spPr>
          <a:xfrm>
            <a:off x="640080" y="676656"/>
            <a:ext cx="10881360" cy="685800"/>
          </a:xfrm>
          <a:prstGeom prst="rect">
            <a:avLst/>
          </a:prstGeom>
          <a:noFill/>
          <a:ln/>
        </p:spPr>
        <p:txBody>
          <a:bodyPr wrap="square" lIns="0" tIns="0" rIns="0" bIns="0" rtlCol="0" anchor="ctr"/>
          <a:lstStyle/>
          <a:p>
            <a:pPr marL="0" indent="0">
              <a:buNone/>
            </a:pPr>
            <a:r>
              <a:rPr lang="en-US" sz="2800" b="1" dirty="0">
                <a:solidFill>
                  <a:srgbClr val="1E1E1E"/>
                </a:solidFill>
                <a:latin typeface="Arial" pitchFamily="34" charset="0"/>
                <a:ea typeface="Arial" pitchFamily="34" charset="-122"/>
                <a:cs typeface="Arial" pitchFamily="34" charset="-120"/>
              </a:rPr>
              <a:t>Script D Part 2: run it</a:t>
            </a:r>
            <a:endParaRPr lang="en-US" sz="2800" dirty="0"/>
          </a:p>
        </p:txBody>
      </p:sp>
      <p:sp>
        <p:nvSpPr>
          <p:cNvPr id="3" name="Shape 2">
            <a:extLst>
              <a:ext uri="{FF2B5EF4-FFF2-40B4-BE49-F238E27FC236}">
                <a16:creationId xmlns:a16="http://schemas.microsoft.com/office/drawing/2014/main" id="{23BAFE4E-9AFD-2050-A0AE-56F04F34CFAD}"/>
              </a:ext>
            </a:extLst>
          </p:cNvPr>
          <p:cNvSpPr/>
          <p:nvPr/>
        </p:nvSpPr>
        <p:spPr>
          <a:xfrm>
            <a:off x="640080" y="1600200"/>
            <a:ext cx="10881360" cy="3611880"/>
          </a:xfrm>
          <a:prstGeom prst="roundRect">
            <a:avLst>
              <a:gd name="adj" fmla="val 1519"/>
            </a:avLst>
          </a:prstGeom>
          <a:solidFill>
            <a:srgbClr val="1E1E1E"/>
          </a:solidFill>
          <a:ln/>
        </p:spPr>
      </p:sp>
      <p:sp>
        <p:nvSpPr>
          <p:cNvPr id="4" name="Shape 3">
            <a:extLst>
              <a:ext uri="{FF2B5EF4-FFF2-40B4-BE49-F238E27FC236}">
                <a16:creationId xmlns:a16="http://schemas.microsoft.com/office/drawing/2014/main" id="{D27FBC7F-5E10-0E1E-E43B-CED59CD9A6B0}"/>
              </a:ext>
            </a:extLst>
          </p:cNvPr>
          <p:cNvSpPr/>
          <p:nvPr/>
        </p:nvSpPr>
        <p:spPr>
          <a:xfrm>
            <a:off x="914400" y="1828800"/>
            <a:ext cx="146304" cy="146304"/>
          </a:xfrm>
          <a:prstGeom prst="ellipse">
            <a:avLst/>
          </a:prstGeom>
          <a:solidFill>
            <a:srgbClr val="A51C30"/>
          </a:solidFill>
          <a:ln/>
        </p:spPr>
      </p:sp>
      <p:sp>
        <p:nvSpPr>
          <p:cNvPr id="5" name="Shape 4">
            <a:extLst>
              <a:ext uri="{FF2B5EF4-FFF2-40B4-BE49-F238E27FC236}">
                <a16:creationId xmlns:a16="http://schemas.microsoft.com/office/drawing/2014/main" id="{B8D20266-7D2B-0AB3-CFC2-C6F45699930E}"/>
              </a:ext>
            </a:extLst>
          </p:cNvPr>
          <p:cNvSpPr/>
          <p:nvPr/>
        </p:nvSpPr>
        <p:spPr>
          <a:xfrm>
            <a:off x="1170432" y="1828800"/>
            <a:ext cx="146304" cy="146304"/>
          </a:xfrm>
          <a:prstGeom prst="ellipse">
            <a:avLst/>
          </a:prstGeom>
          <a:solidFill>
            <a:srgbClr val="C4961A"/>
          </a:solidFill>
          <a:ln/>
        </p:spPr>
      </p:sp>
      <p:sp>
        <p:nvSpPr>
          <p:cNvPr id="6" name="Shape 5">
            <a:extLst>
              <a:ext uri="{FF2B5EF4-FFF2-40B4-BE49-F238E27FC236}">
                <a16:creationId xmlns:a16="http://schemas.microsoft.com/office/drawing/2014/main" id="{1A3CB6CB-16A3-A26B-AB63-E38B099DBF47}"/>
              </a:ext>
            </a:extLst>
          </p:cNvPr>
          <p:cNvSpPr/>
          <p:nvPr/>
        </p:nvSpPr>
        <p:spPr>
          <a:xfrm>
            <a:off x="1426464" y="1828800"/>
            <a:ext cx="146304" cy="146304"/>
          </a:xfrm>
          <a:prstGeom prst="ellipse">
            <a:avLst/>
          </a:prstGeom>
          <a:solidFill>
            <a:srgbClr val="1D9E75"/>
          </a:solidFill>
          <a:ln/>
        </p:spPr>
      </p:sp>
      <p:sp>
        <p:nvSpPr>
          <p:cNvPr id="7" name="Text 6">
            <a:extLst>
              <a:ext uri="{FF2B5EF4-FFF2-40B4-BE49-F238E27FC236}">
                <a16:creationId xmlns:a16="http://schemas.microsoft.com/office/drawing/2014/main" id="{1D01BABB-C927-E5C2-72C0-997C47017632}"/>
              </a:ext>
            </a:extLst>
          </p:cNvPr>
          <p:cNvSpPr/>
          <p:nvPr/>
        </p:nvSpPr>
        <p:spPr>
          <a:xfrm>
            <a:off x="2011680" y="1764792"/>
            <a:ext cx="5486400" cy="274320"/>
          </a:xfrm>
          <a:prstGeom prst="rect">
            <a:avLst/>
          </a:prstGeom>
          <a:noFill/>
          <a:ln/>
        </p:spPr>
        <p:txBody>
          <a:bodyPr wrap="square" lIns="0" tIns="0" rIns="0" bIns="0" rtlCol="0" anchor="ctr"/>
          <a:lstStyle/>
          <a:p>
            <a:pPr marL="0" indent="0">
              <a:buNone/>
            </a:pPr>
            <a:r>
              <a:rPr lang="en-US" sz="1100" b="1" kern="0" spc="200" dirty="0">
                <a:solidFill>
                  <a:srgbClr val="8996A0"/>
                </a:solidFill>
                <a:latin typeface="Arial" pitchFamily="34" charset="0"/>
                <a:ea typeface="Arial" pitchFamily="34" charset="-122"/>
                <a:cs typeface="Arial" pitchFamily="34" charset="-120"/>
              </a:rPr>
              <a:t>LIVE CODE STEP THROUGH</a:t>
            </a:r>
            <a:endParaRPr lang="en-US" sz="1100" dirty="0"/>
          </a:p>
        </p:txBody>
      </p:sp>
      <p:sp>
        <p:nvSpPr>
          <p:cNvPr id="8" name="Text 7">
            <a:extLst>
              <a:ext uri="{FF2B5EF4-FFF2-40B4-BE49-F238E27FC236}">
                <a16:creationId xmlns:a16="http://schemas.microsoft.com/office/drawing/2014/main" id="{41242BCD-EE73-26E2-2983-FE2C28722B94}"/>
              </a:ext>
            </a:extLst>
          </p:cNvPr>
          <p:cNvSpPr/>
          <p:nvPr/>
        </p:nvSpPr>
        <p:spPr>
          <a:xfrm>
            <a:off x="914400" y="2331720"/>
            <a:ext cx="10332720" cy="685800"/>
          </a:xfrm>
          <a:prstGeom prst="rect">
            <a:avLst/>
          </a:prstGeom>
          <a:noFill/>
          <a:ln/>
        </p:spPr>
        <p:txBody>
          <a:bodyPr wrap="square" lIns="0" tIns="0" rIns="0" bIns="0" rtlCol="0" anchor="t"/>
          <a:lstStyle/>
          <a:p>
            <a:pPr marL="0" indent="0">
              <a:lnSpc>
                <a:spcPct val="100000"/>
              </a:lnSpc>
              <a:buNone/>
            </a:pPr>
            <a:r>
              <a:rPr lang="en-US" sz="1500" b="1" dirty="0">
                <a:solidFill>
                  <a:srgbClr val="4E84C4"/>
                </a:solidFill>
                <a:latin typeface="Arial" pitchFamily="34" charset="0"/>
                <a:ea typeface="Arial" pitchFamily="34" charset="-122"/>
                <a:cs typeface="Arial" pitchFamily="34" charset="-120"/>
              </a:rPr>
              <a:t>&gt; </a:t>
            </a:r>
            <a:r>
              <a:rPr lang="en-US" sz="1500" dirty="0">
                <a:solidFill>
                  <a:srgbClr val="F3F3F1"/>
                </a:solidFill>
                <a:latin typeface="Arial" pitchFamily="34" charset="0"/>
                <a:ea typeface="Arial" pitchFamily="34" charset="-122"/>
                <a:cs typeface="Arial" pitchFamily="34" charset="-120"/>
              </a:rPr>
              <a:t>Run the comparison table and the side by side weights barplot.</a:t>
            </a:r>
            <a:endParaRPr lang="en-US" sz="1500" dirty="0"/>
          </a:p>
        </p:txBody>
      </p:sp>
      <p:sp>
        <p:nvSpPr>
          <p:cNvPr id="9" name="Text 8">
            <a:extLst>
              <a:ext uri="{FF2B5EF4-FFF2-40B4-BE49-F238E27FC236}">
                <a16:creationId xmlns:a16="http://schemas.microsoft.com/office/drawing/2014/main" id="{53EE60D0-2577-7986-F4E7-59C6AFF211F0}"/>
              </a:ext>
            </a:extLst>
          </p:cNvPr>
          <p:cNvSpPr/>
          <p:nvPr/>
        </p:nvSpPr>
        <p:spPr>
          <a:xfrm>
            <a:off x="914400" y="3172968"/>
            <a:ext cx="10332720" cy="685800"/>
          </a:xfrm>
          <a:prstGeom prst="rect">
            <a:avLst/>
          </a:prstGeom>
          <a:noFill/>
          <a:ln/>
        </p:spPr>
        <p:txBody>
          <a:bodyPr wrap="square" lIns="0" tIns="0" rIns="0" bIns="0" rtlCol="0" anchor="t"/>
          <a:lstStyle/>
          <a:p>
            <a:pPr marL="0" indent="0">
              <a:lnSpc>
                <a:spcPct val="100000"/>
              </a:lnSpc>
              <a:buNone/>
            </a:pPr>
            <a:r>
              <a:rPr lang="en-US" sz="1500" b="1" dirty="0">
                <a:solidFill>
                  <a:srgbClr val="4E84C4"/>
                </a:solidFill>
                <a:latin typeface="Arial" pitchFamily="34" charset="0"/>
                <a:ea typeface="Arial" pitchFamily="34" charset="-122"/>
                <a:cs typeface="Arial" pitchFamily="34" charset="-120"/>
              </a:rPr>
              <a:t>&gt; </a:t>
            </a:r>
            <a:r>
              <a:rPr lang="en-US" sz="1500" dirty="0">
                <a:solidFill>
                  <a:srgbClr val="F3F3F1"/>
                </a:solidFill>
                <a:latin typeface="Arial" pitchFamily="34" charset="0"/>
                <a:ea typeface="Arial" pitchFamily="34" charset="-122"/>
                <a:cs typeface="Arial" pitchFamily="34" charset="-120"/>
              </a:rPr>
              <a:t>Write portfolio_summary.json, open it, walk the structure.</a:t>
            </a:r>
            <a:endParaRPr lang="en-US" sz="1500" dirty="0"/>
          </a:p>
        </p:txBody>
      </p:sp>
      <p:sp>
        <p:nvSpPr>
          <p:cNvPr id="10" name="Text 9">
            <a:extLst>
              <a:ext uri="{FF2B5EF4-FFF2-40B4-BE49-F238E27FC236}">
                <a16:creationId xmlns:a16="http://schemas.microsoft.com/office/drawing/2014/main" id="{A455E52F-8114-E3B6-829C-58874BF4DB7F}"/>
              </a:ext>
            </a:extLst>
          </p:cNvPr>
          <p:cNvSpPr/>
          <p:nvPr/>
        </p:nvSpPr>
        <p:spPr>
          <a:xfrm>
            <a:off x="914400" y="4014216"/>
            <a:ext cx="10332720" cy="685800"/>
          </a:xfrm>
          <a:prstGeom prst="rect">
            <a:avLst/>
          </a:prstGeom>
          <a:noFill/>
          <a:ln/>
        </p:spPr>
        <p:txBody>
          <a:bodyPr wrap="square" lIns="0" tIns="0" rIns="0" bIns="0" rtlCol="0" anchor="t"/>
          <a:lstStyle/>
          <a:p>
            <a:pPr marL="0" indent="0">
              <a:lnSpc>
                <a:spcPct val="100000"/>
              </a:lnSpc>
              <a:buNone/>
            </a:pPr>
            <a:r>
              <a:rPr lang="en-US" sz="1500" b="1" dirty="0">
                <a:solidFill>
                  <a:srgbClr val="4E84C4"/>
                </a:solidFill>
                <a:latin typeface="Arial" pitchFamily="34" charset="0"/>
                <a:ea typeface="Arial" pitchFamily="34" charset="-122"/>
                <a:cs typeface="Arial" pitchFamily="34" charset="-120"/>
              </a:rPr>
              <a:t>&gt; </a:t>
            </a:r>
            <a:r>
              <a:rPr lang="en-US" sz="1500" dirty="0">
                <a:solidFill>
                  <a:srgbClr val="F3F3F1"/>
                </a:solidFill>
                <a:latin typeface="Arial" pitchFamily="34" charset="0"/>
                <a:ea typeface="Arial" pitchFamily="34" charset="-122"/>
                <a:cs typeface="Arial" pitchFamily="34" charset="-120"/>
              </a:rPr>
              <a:t>Live: paste the JSON into a chatbot and read the plain English response aloud.</a:t>
            </a:r>
            <a:endParaRPr lang="en-US" sz="1500" dirty="0"/>
          </a:p>
        </p:txBody>
      </p:sp>
      <p:sp>
        <p:nvSpPr>
          <p:cNvPr id="11" name="Text 0">
            <a:extLst>
              <a:ext uri="{FF2B5EF4-FFF2-40B4-BE49-F238E27FC236}">
                <a16:creationId xmlns:a16="http://schemas.microsoft.com/office/drawing/2014/main" id="{FF67E229-3943-BA2D-0865-8B1E9EBCAB3D}"/>
              </a:ext>
            </a:extLst>
          </p:cNvPr>
          <p:cNvSpPr/>
          <p:nvPr/>
        </p:nvSpPr>
        <p:spPr>
          <a:xfrm>
            <a:off x="640080" y="384048"/>
            <a:ext cx="10881360" cy="320040"/>
          </a:xfrm>
          <a:prstGeom prst="rect">
            <a:avLst/>
          </a:prstGeom>
          <a:noFill/>
          <a:ln/>
        </p:spPr>
        <p:txBody>
          <a:bodyPr wrap="square" lIns="0" tIns="0" rIns="0" bIns="0" rtlCol="0" anchor="ctr"/>
          <a:lstStyle/>
          <a:p>
            <a:pPr marL="0" indent="0">
              <a:buNone/>
            </a:pPr>
            <a:r>
              <a:rPr lang="en-US" sz="1200" b="1" kern="0" spc="200" dirty="0">
                <a:solidFill>
                  <a:srgbClr val="A51C30"/>
                </a:solidFill>
                <a:latin typeface="Arial" pitchFamily="34" charset="0"/>
                <a:ea typeface="Arial" pitchFamily="34" charset="-122"/>
                <a:cs typeface="Arial" pitchFamily="34" charset="-120"/>
              </a:rPr>
              <a:t>LIVE IN RSTUDIO</a:t>
            </a:r>
            <a:endParaRPr lang="en-US" sz="1200" dirty="0"/>
          </a:p>
        </p:txBody>
      </p:sp>
    </p:spTree>
    <p:extLst>
      <p:ext uri="{BB962C8B-B14F-4D97-AF65-F5344CB8AC3E}">
        <p14:creationId xmlns:p14="http://schemas.microsoft.com/office/powerpoint/2010/main" val="1472100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marL="0" indent="0">
              <a:buNone/>
            </a:pPr>
            <a:r>
              <a:rPr lang="en-US" sz="1200" b="1" kern="0" spc="200" dirty="0">
                <a:solidFill>
                  <a:srgbClr val="A51C30"/>
                </a:solidFill>
                <a:latin typeface="Arial" pitchFamily="34" charset="0"/>
                <a:ea typeface="Arial" pitchFamily="34" charset="-122"/>
                <a:cs typeface="Arial" pitchFamily="34" charset="-120"/>
              </a:rPr>
              <a:t>WHY ANY OF THIS MATTERS</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marL="0" indent="0">
              <a:buNone/>
            </a:pPr>
            <a:r>
              <a:rPr lang="en-US" sz="2800" b="1" dirty="0">
                <a:solidFill>
                  <a:srgbClr val="1E1E1E"/>
                </a:solidFill>
                <a:latin typeface="Arial" pitchFamily="34" charset="0"/>
                <a:ea typeface="Arial" pitchFamily="34" charset="-122"/>
                <a:cs typeface="Arial" pitchFamily="34" charset="-120"/>
              </a:rPr>
              <a:t>The human review surface</a:t>
            </a:r>
            <a:endParaRPr lang="en-US" sz="2800" dirty="0"/>
          </a:p>
        </p:txBody>
      </p:sp>
      <p:sp>
        <p:nvSpPr>
          <p:cNvPr id="4" name="Shape 2"/>
          <p:cNvSpPr/>
          <p:nvPr/>
        </p:nvSpPr>
        <p:spPr>
          <a:xfrm>
            <a:off x="640080" y="1554480"/>
            <a:ext cx="6949440" cy="3474720"/>
          </a:xfrm>
          <a:prstGeom prst="roundRect">
            <a:avLst>
              <a:gd name="adj" fmla="val 2105"/>
            </a:avLst>
          </a:prstGeom>
          <a:solidFill>
            <a:srgbClr val="F3F3F1"/>
          </a:solidFill>
          <a:ln/>
        </p:spPr>
      </p:sp>
      <p:sp>
        <p:nvSpPr>
          <p:cNvPr id="5" name="Text 3"/>
          <p:cNvSpPr/>
          <p:nvPr/>
        </p:nvSpPr>
        <p:spPr>
          <a:xfrm>
            <a:off x="960120" y="1828800"/>
            <a:ext cx="6309360" cy="2926080"/>
          </a:xfrm>
          <a:prstGeom prst="rect">
            <a:avLst/>
          </a:prstGeom>
          <a:noFill/>
          <a:ln/>
        </p:spPr>
        <p:txBody>
          <a:bodyPr wrap="square" lIns="0" tIns="0" rIns="0" bIns="0" rtlCol="0" anchor="t"/>
          <a:lstStyle/>
          <a:p>
            <a:pPr marL="0" indent="0">
              <a:lnSpc>
                <a:spcPct val="110000"/>
              </a:lnSpc>
              <a:buNone/>
            </a:pPr>
            <a:r>
              <a:rPr lang="en-US" sz="1800" dirty="0">
                <a:solidFill>
                  <a:srgbClr val="1E1E1E"/>
                </a:solidFill>
                <a:latin typeface="Arial" pitchFamily="34" charset="0"/>
                <a:ea typeface="Arial" pitchFamily="34" charset="-122"/>
                <a:cs typeface="Arial" pitchFamily="34" charset="-120"/>
              </a:rPr>
              <a:t>All three portfolios are drafts, built from two years of history.
Before any of them touches real capital, a human reviews the weights, questions the inputs, and makes the call.
</a:t>
            </a:r>
            <a:r>
              <a:rPr lang="en-US" sz="1800" b="1" dirty="0">
                <a:solidFill>
                  <a:srgbClr val="293352"/>
                </a:solidFill>
                <a:latin typeface="Arial" pitchFamily="34" charset="0"/>
                <a:ea typeface="Arial" pitchFamily="34" charset="-122"/>
                <a:cs typeface="Arial" pitchFamily="34" charset="-120"/>
              </a:rPr>
              <a:t>The JSON export is exactly where that review happens.</a:t>
            </a:r>
            <a:endParaRPr lang="en-US" sz="1800" dirty="0"/>
          </a:p>
        </p:txBody>
      </p:sp>
      <p:sp>
        <p:nvSpPr>
          <p:cNvPr id="6" name="Shape 4"/>
          <p:cNvSpPr/>
          <p:nvPr/>
        </p:nvSpPr>
        <p:spPr>
          <a:xfrm>
            <a:off x="7863840" y="1554480"/>
            <a:ext cx="3657600" cy="3474720"/>
          </a:xfrm>
          <a:prstGeom prst="roundRect">
            <a:avLst>
              <a:gd name="adj" fmla="val 2105"/>
            </a:avLst>
          </a:prstGeom>
          <a:solidFill>
            <a:srgbClr val="A51C30"/>
          </a:solidFill>
          <a:ln/>
        </p:spPr>
      </p:sp>
      <p:sp>
        <p:nvSpPr>
          <p:cNvPr id="7" name="Text 5"/>
          <p:cNvSpPr/>
          <p:nvPr/>
        </p:nvSpPr>
        <p:spPr>
          <a:xfrm>
            <a:off x="7863840" y="2286000"/>
            <a:ext cx="3657600" cy="914400"/>
          </a:xfrm>
          <a:prstGeom prst="rect">
            <a:avLst/>
          </a:prstGeom>
          <a:noFill/>
          <a:ln/>
        </p:spPr>
        <p:txBody>
          <a:bodyPr wrap="square" lIns="0" tIns="0" rIns="0" bIns="0" rtlCol="0" anchor="ctr"/>
          <a:lstStyle/>
          <a:p>
            <a:pPr marL="0" indent="0" algn="ctr">
              <a:buNone/>
            </a:pPr>
            <a:r>
              <a:rPr lang="en-US" sz="5200" b="1" dirty="0">
                <a:solidFill>
                  <a:srgbClr val="FFFFFF"/>
                </a:solidFill>
                <a:latin typeface="Arial" pitchFamily="34" charset="0"/>
                <a:ea typeface="Arial" pitchFamily="34" charset="-122"/>
                <a:cs typeface="Arial" pitchFamily="34" charset="-120"/>
              </a:rPr>
              <a:t>45 min</a:t>
            </a:r>
            <a:endParaRPr lang="en-US" sz="5200" dirty="0"/>
          </a:p>
        </p:txBody>
      </p:sp>
      <p:sp>
        <p:nvSpPr>
          <p:cNvPr id="8" name="Text 6"/>
          <p:cNvSpPr/>
          <p:nvPr/>
        </p:nvSpPr>
        <p:spPr>
          <a:xfrm>
            <a:off x="8138160" y="3291840"/>
            <a:ext cx="3108960" cy="1463040"/>
          </a:xfrm>
          <a:prstGeom prst="rect">
            <a:avLst/>
          </a:prstGeom>
          <a:noFill/>
          <a:ln/>
        </p:spPr>
        <p:txBody>
          <a:bodyPr wrap="square" lIns="0" tIns="0" rIns="0" bIns="0" rtlCol="0" anchor="t"/>
          <a:lstStyle/>
          <a:p>
            <a:pPr marL="0" indent="0" algn="ctr">
              <a:buNone/>
            </a:pPr>
            <a:r>
              <a:rPr lang="en-US" sz="1500" dirty="0">
                <a:solidFill>
                  <a:srgbClr val="FFFFFF"/>
                </a:solidFill>
                <a:latin typeface="Arial" pitchFamily="34" charset="0"/>
                <a:ea typeface="Arial" pitchFamily="34" charset="-122"/>
                <a:cs typeface="Arial" pitchFamily="34" charset="-120"/>
              </a:rPr>
              <a:t>is how long Knight Capital's automated logic ran without a human, before it cost them the firm.</a:t>
            </a:r>
            <a:endParaRPr lang="en-US" sz="1500" dirty="0"/>
          </a:p>
        </p:txBody>
      </p:sp>
      <p:sp>
        <p:nvSpPr>
          <p:cNvPr id="9"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0" name="Harvard Page Number"/>
          <p:cNvSpPr txBox="1"/>
          <p:nvPr/>
        </p:nvSpPr>
        <p:spPr>
          <a:xfrm>
            <a:off x="11730577" y="6446043"/>
            <a:ext cx="324104" cy="274638"/>
          </a:xfrm>
          <a:prstGeom prst="rect">
            <a:avLst/>
          </a:prstGeom>
          <a:noFill/>
        </p:spPr>
        <p:txBody>
          <a:bodyPr wrap="none" lIns="0" tIns="0" rIns="0" bIns="0">
            <a:noAutofit/>
          </a:bodyPr>
          <a:lstStyle/>
          <a:p>
            <a:pPr algn="r"/>
            <a:fld id="{5014FA07-C91C-4691-A49E-EE34D31F7245}" type="slidenum">
              <a:rPr lang="en-US" sz="1000">
                <a:solidFill>
                  <a:srgbClr val="8996A0"/>
                </a:solidFill>
                <a:latin typeface="Arial"/>
              </a:rPr>
              <a:t>19</a:t>
            </a:fld>
            <a:endParaRPr lang="en-US" sz="1000">
              <a:solidFill>
                <a:srgbClr val="8996A0"/>
              </a:solidFill>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bg>
      <p:bgPr>
        <a:solidFill>
          <a:srgbClr val="A51C30"/>
        </a:solidFill>
        <a:effectLst/>
      </p:bgPr>
    </p:bg>
    <p:spTree>
      <p:nvGrpSpPr>
        <p:cNvPr id="1" name=""/>
        <p:cNvGrpSpPr/>
        <p:nvPr/>
      </p:nvGrpSpPr>
      <p:grpSpPr>
        <a:xfrm>
          <a:off x="0" y="0"/>
          <a:ext cx="0" cy="0"/>
          <a:chOff x="0" y="0"/>
          <a:chExt cx="0" cy="0"/>
        </a:xfrm>
      </p:grpSpPr>
      <p:sp>
        <p:nvSpPr>
          <p:cNvPr id="2" name="Text 0"/>
          <p:cNvSpPr/>
          <p:nvPr/>
        </p:nvSpPr>
        <p:spPr>
          <a:xfrm>
            <a:off x="731520" y="2011680"/>
            <a:ext cx="10698480" cy="457200"/>
          </a:xfrm>
          <a:prstGeom prst="rect">
            <a:avLst/>
          </a:prstGeom>
          <a:noFill/>
          <a:ln/>
        </p:spPr>
        <p:txBody>
          <a:bodyPr wrap="square" lIns="0" tIns="0" rIns="0" bIns="0" rtlCol="0" anchor="ctr"/>
          <a:lstStyle/>
          <a:p>
            <a:pPr marL="0" indent="0">
              <a:buNone/>
            </a:pPr>
            <a:r>
              <a:rPr lang="en-US" sz="1600" b="1" kern="0" spc="200" dirty="0">
                <a:solidFill>
                  <a:srgbClr val="FFFFFF"/>
                </a:solidFill>
                <a:latin typeface="Arial" pitchFamily="34" charset="0"/>
                <a:ea typeface="Arial" pitchFamily="34" charset="-122"/>
                <a:cs typeface="Arial" pitchFamily="34" charset="-120"/>
              </a:rPr>
              <a:t>Session 2  </a:t>
            </a:r>
            <a:endParaRPr lang="en-US" sz="1600" dirty="0"/>
          </a:p>
        </p:txBody>
      </p:sp>
      <p:sp>
        <p:nvSpPr>
          <p:cNvPr id="3" name="Text 1"/>
          <p:cNvSpPr/>
          <p:nvPr/>
        </p:nvSpPr>
        <p:spPr>
          <a:xfrm>
            <a:off x="731520" y="2468880"/>
            <a:ext cx="10698480" cy="128016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How Relationships Change Over Time</a:t>
            </a:r>
            <a:endParaRPr lang="en-US" sz="4000" dirty="0"/>
          </a:p>
        </p:txBody>
      </p:sp>
      <p:sp>
        <p:nvSpPr>
          <p:cNvPr id="4" name="Text 2"/>
          <p:cNvSpPr/>
          <p:nvPr/>
        </p:nvSpPr>
        <p:spPr>
          <a:xfrm>
            <a:off x="731520" y="3749040"/>
            <a:ext cx="10698480" cy="914400"/>
          </a:xfrm>
          <a:prstGeom prst="rect">
            <a:avLst/>
          </a:prstGeom>
          <a:noFill/>
          <a:ln/>
        </p:spPr>
        <p:txBody>
          <a:bodyPr wrap="square" lIns="0" tIns="0" rIns="0" bIns="0" rtlCol="0" anchor="ctr"/>
          <a:lstStyle/>
          <a:p>
            <a:pPr marL="0" indent="0">
              <a:buNone/>
            </a:pPr>
            <a:r>
              <a:rPr lang="en-US" sz="2000" dirty="0">
                <a:solidFill>
                  <a:srgbClr val="FFFFFF"/>
                </a:solidFill>
                <a:latin typeface="Arial" pitchFamily="34" charset="0"/>
                <a:ea typeface="Arial" pitchFamily="34" charset="-122"/>
                <a:cs typeface="Arial" pitchFamily="34" charset="-120"/>
              </a:rPr>
              <a:t>The optimizer used one average correlation. What did that single number hide?</a:t>
            </a:r>
            <a:endParaRPr lang="en-US" sz="2000" dirty="0"/>
          </a:p>
        </p:txBody>
      </p:sp>
      <p:sp>
        <p:nvSpPr>
          <p:cNvPr id="5"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F3F3F1"/>
                </a:solidFill>
                <a:latin typeface="Arial"/>
              </a:rPr>
              <a:t>© 2026 Ted Kwartler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marL="0" indent="0">
              <a:buNone/>
            </a:pPr>
            <a:r>
              <a:rPr lang="en-US" sz="1200" b="1" kern="0" spc="200" dirty="0">
                <a:solidFill>
                  <a:srgbClr val="A51C30"/>
                </a:solidFill>
                <a:latin typeface="Arial" pitchFamily="34" charset="0"/>
                <a:ea typeface="Arial" pitchFamily="34" charset="-122"/>
                <a:cs typeface="Arial" pitchFamily="34" charset="-120"/>
              </a:rPr>
              <a:t>SCRIPTS E AND F</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marL="0" indent="0">
              <a:buNone/>
            </a:pPr>
            <a:r>
              <a:rPr lang="en-US" sz="2800" b="1" dirty="0">
                <a:solidFill>
                  <a:srgbClr val="1E1E1E"/>
                </a:solidFill>
                <a:latin typeface="Arial" pitchFamily="34" charset="0"/>
                <a:ea typeface="Arial" pitchFamily="34" charset="-122"/>
                <a:cs typeface="Arial" pitchFamily="34" charset="-120"/>
              </a:rPr>
              <a:t>The session as one pipeline</a:t>
            </a:r>
            <a:endParaRPr lang="en-US" sz="2800" dirty="0"/>
          </a:p>
        </p:txBody>
      </p:sp>
      <p:sp>
        <p:nvSpPr>
          <p:cNvPr id="4" name="Shape 2"/>
          <p:cNvSpPr/>
          <p:nvPr/>
        </p:nvSpPr>
        <p:spPr>
          <a:xfrm>
            <a:off x="640080" y="2148840"/>
            <a:ext cx="3108960" cy="2468880"/>
          </a:xfrm>
          <a:prstGeom prst="roundRect">
            <a:avLst>
              <a:gd name="adj" fmla="val 2593"/>
            </a:avLst>
          </a:prstGeom>
          <a:solidFill>
            <a:srgbClr val="293352"/>
          </a:solidFill>
          <a:ln/>
        </p:spPr>
      </p:sp>
      <p:sp>
        <p:nvSpPr>
          <p:cNvPr id="5" name="Shape 3"/>
          <p:cNvSpPr/>
          <p:nvPr/>
        </p:nvSpPr>
        <p:spPr>
          <a:xfrm>
            <a:off x="1911096" y="2468880"/>
            <a:ext cx="566928" cy="566928"/>
          </a:xfrm>
          <a:prstGeom prst="roundRect">
            <a:avLst>
              <a:gd name="adj" fmla="val 14516"/>
            </a:avLst>
          </a:prstGeom>
          <a:solidFill>
            <a:srgbClr val="A51C30"/>
          </a:solidFill>
          <a:ln/>
        </p:spPr>
      </p:sp>
      <p:pic>
        <p:nvPicPr>
          <p:cNvPr id="6" name="Image 0" descr="preencoded.png"/>
          <p:cNvPicPr>
            <a:picLocks noChangeAspect="1"/>
          </p:cNvPicPr>
          <p:nvPr/>
        </p:nvPicPr>
        <p:blipFill>
          <a:blip r:embed="rId3"/>
          <a:stretch>
            <a:fillRect/>
          </a:stretch>
        </p:blipFill>
        <p:spPr>
          <a:xfrm>
            <a:off x="2038655" y="2596439"/>
            <a:ext cx="311810" cy="311810"/>
          </a:xfrm>
          <a:prstGeom prst="rect">
            <a:avLst/>
          </a:prstGeom>
        </p:spPr>
      </p:pic>
      <p:sp>
        <p:nvSpPr>
          <p:cNvPr id="7" name="Text 4"/>
          <p:cNvSpPr/>
          <p:nvPr/>
        </p:nvSpPr>
        <p:spPr>
          <a:xfrm>
            <a:off x="777240" y="3200400"/>
            <a:ext cx="2834640" cy="548640"/>
          </a:xfrm>
          <a:prstGeom prst="rect">
            <a:avLst/>
          </a:prstGeom>
          <a:noFill/>
          <a:ln/>
        </p:spPr>
        <p:txBody>
          <a:bodyPr wrap="square" lIns="0" tIns="0" rIns="0" bIns="0" rtlCol="0" anchor="t"/>
          <a:lstStyle/>
          <a:p>
            <a:pPr marL="0" indent="0" algn="ctr">
              <a:buNone/>
            </a:pPr>
            <a:r>
              <a:rPr lang="en-US" sz="1500" b="1" dirty="0">
                <a:solidFill>
                  <a:srgbClr val="FFFFFF"/>
                </a:solidFill>
                <a:latin typeface="Arial" pitchFamily="34" charset="0"/>
                <a:ea typeface="Arial" pitchFamily="34" charset="-122"/>
                <a:cs typeface="Arial" pitchFamily="34" charset="-120"/>
              </a:rPr>
              <a:t>E  Rolling correlation</a:t>
            </a:r>
            <a:endParaRPr lang="en-US" sz="1500" dirty="0"/>
          </a:p>
        </p:txBody>
      </p:sp>
      <p:sp>
        <p:nvSpPr>
          <p:cNvPr id="8" name="Text 5"/>
          <p:cNvSpPr/>
          <p:nvPr/>
        </p:nvSpPr>
        <p:spPr>
          <a:xfrm>
            <a:off x="822960" y="3703320"/>
            <a:ext cx="2743200" cy="822960"/>
          </a:xfrm>
          <a:prstGeom prst="rect">
            <a:avLst/>
          </a:prstGeom>
          <a:noFill/>
          <a:ln/>
        </p:spPr>
        <p:txBody>
          <a:bodyPr wrap="square" lIns="0" tIns="0" rIns="0" bIns="0" rtlCol="0" anchor="t"/>
          <a:lstStyle/>
          <a:p>
            <a:pPr marL="0" indent="0" algn="ctr">
              <a:buNone/>
            </a:pPr>
            <a:r>
              <a:rPr lang="en-US" sz="1150" dirty="0">
                <a:solidFill>
                  <a:srgbClr val="F3F3F1"/>
                </a:solidFill>
                <a:latin typeface="Arial" pitchFamily="34" charset="0"/>
                <a:ea typeface="Arial" pitchFamily="34" charset="-122"/>
                <a:cs typeface="Arial" pitchFamily="34" charset="-120"/>
              </a:rPr>
              <a:t>Every pair, at two window lengths</a:t>
            </a:r>
            <a:endParaRPr lang="en-US" sz="1150" dirty="0"/>
          </a:p>
        </p:txBody>
      </p:sp>
      <p:sp>
        <p:nvSpPr>
          <p:cNvPr id="9" name="Text 6"/>
          <p:cNvSpPr/>
          <p:nvPr/>
        </p:nvSpPr>
        <p:spPr>
          <a:xfrm>
            <a:off x="3749040" y="3063240"/>
            <a:ext cx="822960" cy="640080"/>
          </a:xfrm>
          <a:prstGeom prst="rect">
            <a:avLst/>
          </a:prstGeom>
          <a:noFill/>
          <a:ln/>
        </p:spPr>
        <p:txBody>
          <a:bodyPr wrap="square" lIns="0" tIns="0" rIns="0" bIns="0" rtlCol="0" anchor="ctr"/>
          <a:lstStyle/>
          <a:p>
            <a:pPr marL="0" indent="0" algn="ctr">
              <a:buNone/>
            </a:pPr>
            <a:r>
              <a:rPr lang="en-US" sz="2600" b="1" dirty="0">
                <a:solidFill>
                  <a:srgbClr val="8996A0"/>
                </a:solidFill>
                <a:latin typeface="Arial" pitchFamily="34" charset="0"/>
                <a:ea typeface="Arial" pitchFamily="34" charset="-122"/>
                <a:cs typeface="Arial" pitchFamily="34" charset="-120"/>
              </a:rPr>
              <a:t>→</a:t>
            </a:r>
            <a:endParaRPr lang="en-US" sz="2600" dirty="0"/>
          </a:p>
        </p:txBody>
      </p:sp>
      <p:sp>
        <p:nvSpPr>
          <p:cNvPr id="10" name="Shape 7"/>
          <p:cNvSpPr/>
          <p:nvPr/>
        </p:nvSpPr>
        <p:spPr>
          <a:xfrm>
            <a:off x="4572000" y="2148840"/>
            <a:ext cx="3108960" cy="2468880"/>
          </a:xfrm>
          <a:prstGeom prst="roundRect">
            <a:avLst>
              <a:gd name="adj" fmla="val 2593"/>
            </a:avLst>
          </a:prstGeom>
          <a:solidFill>
            <a:srgbClr val="F3F3F1"/>
          </a:solidFill>
          <a:ln/>
        </p:spPr>
      </p:sp>
      <p:sp>
        <p:nvSpPr>
          <p:cNvPr id="11" name="Shape 8"/>
          <p:cNvSpPr/>
          <p:nvPr/>
        </p:nvSpPr>
        <p:spPr>
          <a:xfrm>
            <a:off x="5843016" y="2468880"/>
            <a:ext cx="566928" cy="566928"/>
          </a:xfrm>
          <a:prstGeom prst="roundRect">
            <a:avLst>
              <a:gd name="adj" fmla="val 14516"/>
            </a:avLst>
          </a:prstGeom>
          <a:solidFill>
            <a:srgbClr val="293352"/>
          </a:solidFill>
          <a:ln/>
        </p:spPr>
      </p:sp>
      <p:pic>
        <p:nvPicPr>
          <p:cNvPr id="12" name="Image 1" descr="preencoded.png"/>
          <p:cNvPicPr>
            <a:picLocks noChangeAspect="1"/>
          </p:cNvPicPr>
          <p:nvPr/>
        </p:nvPicPr>
        <p:blipFill>
          <a:blip r:embed="rId4"/>
          <a:stretch>
            <a:fillRect/>
          </a:stretch>
        </p:blipFill>
        <p:spPr>
          <a:xfrm>
            <a:off x="5970575" y="2596439"/>
            <a:ext cx="311810" cy="311810"/>
          </a:xfrm>
          <a:prstGeom prst="rect">
            <a:avLst/>
          </a:prstGeom>
        </p:spPr>
      </p:pic>
      <p:sp>
        <p:nvSpPr>
          <p:cNvPr id="13" name="Text 9"/>
          <p:cNvSpPr/>
          <p:nvPr/>
        </p:nvSpPr>
        <p:spPr>
          <a:xfrm>
            <a:off x="4709160" y="3200400"/>
            <a:ext cx="2834640" cy="548640"/>
          </a:xfrm>
          <a:prstGeom prst="rect">
            <a:avLst/>
          </a:prstGeom>
          <a:noFill/>
          <a:ln/>
        </p:spPr>
        <p:txBody>
          <a:bodyPr wrap="square" lIns="0" tIns="0" rIns="0" bIns="0" rtlCol="0" anchor="t"/>
          <a:lstStyle/>
          <a:p>
            <a:pPr marL="0" indent="0" algn="ctr">
              <a:buNone/>
            </a:pPr>
            <a:r>
              <a:rPr lang="en-US" sz="1500" b="1" dirty="0">
                <a:solidFill>
                  <a:srgbClr val="293352"/>
                </a:solidFill>
                <a:latin typeface="Arial" pitchFamily="34" charset="0"/>
                <a:ea typeface="Arial" pitchFamily="34" charset="-122"/>
                <a:cs typeface="Arial" pitchFamily="34" charset="-120"/>
              </a:rPr>
              <a:t>F  Rolling diagnostics</a:t>
            </a:r>
            <a:endParaRPr lang="en-US" sz="1500" dirty="0"/>
          </a:p>
        </p:txBody>
      </p:sp>
      <p:sp>
        <p:nvSpPr>
          <p:cNvPr id="14" name="Text 10"/>
          <p:cNvSpPr/>
          <p:nvPr/>
        </p:nvSpPr>
        <p:spPr>
          <a:xfrm>
            <a:off x="4754880" y="3703320"/>
            <a:ext cx="2743200" cy="822960"/>
          </a:xfrm>
          <a:prstGeom prst="rect">
            <a:avLst/>
          </a:prstGeom>
          <a:noFill/>
          <a:ln/>
        </p:spPr>
        <p:txBody>
          <a:bodyPr wrap="square" lIns="0" tIns="0" rIns="0" bIns="0" rtlCol="0" anchor="t"/>
          <a:lstStyle/>
          <a:p>
            <a:pPr marL="0" indent="0" algn="ctr">
              <a:buNone/>
            </a:pPr>
            <a:r>
              <a:rPr lang="en-US" sz="1150" dirty="0">
                <a:solidFill>
                  <a:srgbClr val="1E1E1E"/>
                </a:solidFill>
                <a:latin typeface="Arial" pitchFamily="34" charset="0"/>
                <a:ea typeface="Arial" pitchFamily="34" charset="-122"/>
                <a:cs typeface="Arial" pitchFamily="34" charset="-120"/>
              </a:rPr>
              <a:t>Rolling Sharpe and rolling beta</a:t>
            </a:r>
            <a:endParaRPr lang="en-US" sz="1150" dirty="0"/>
          </a:p>
        </p:txBody>
      </p:sp>
      <p:sp>
        <p:nvSpPr>
          <p:cNvPr id="15" name="Text 11"/>
          <p:cNvSpPr/>
          <p:nvPr/>
        </p:nvSpPr>
        <p:spPr>
          <a:xfrm>
            <a:off x="7680960" y="3063240"/>
            <a:ext cx="822960" cy="640080"/>
          </a:xfrm>
          <a:prstGeom prst="rect">
            <a:avLst/>
          </a:prstGeom>
          <a:noFill/>
          <a:ln/>
        </p:spPr>
        <p:txBody>
          <a:bodyPr wrap="square" lIns="0" tIns="0" rIns="0" bIns="0" rtlCol="0" anchor="ctr"/>
          <a:lstStyle/>
          <a:p>
            <a:pPr marL="0" indent="0" algn="ctr">
              <a:buNone/>
            </a:pPr>
            <a:r>
              <a:rPr lang="en-US" sz="2600" b="1" dirty="0">
                <a:solidFill>
                  <a:srgbClr val="8996A0"/>
                </a:solidFill>
                <a:latin typeface="Arial" pitchFamily="34" charset="0"/>
                <a:ea typeface="Arial" pitchFamily="34" charset="-122"/>
                <a:cs typeface="Arial" pitchFamily="34" charset="-120"/>
              </a:rPr>
              <a:t>→</a:t>
            </a:r>
            <a:endParaRPr lang="en-US" sz="2600" dirty="0"/>
          </a:p>
        </p:txBody>
      </p:sp>
      <p:sp>
        <p:nvSpPr>
          <p:cNvPr id="16" name="Shape 12"/>
          <p:cNvSpPr/>
          <p:nvPr/>
        </p:nvSpPr>
        <p:spPr>
          <a:xfrm>
            <a:off x="8503920" y="2148840"/>
            <a:ext cx="3108960" cy="2468880"/>
          </a:xfrm>
          <a:prstGeom prst="roundRect">
            <a:avLst>
              <a:gd name="adj" fmla="val 2593"/>
            </a:avLst>
          </a:prstGeom>
          <a:solidFill>
            <a:srgbClr val="F3F3F1"/>
          </a:solidFill>
          <a:ln/>
        </p:spPr>
      </p:sp>
      <p:sp>
        <p:nvSpPr>
          <p:cNvPr id="17" name="Shape 13"/>
          <p:cNvSpPr/>
          <p:nvPr/>
        </p:nvSpPr>
        <p:spPr>
          <a:xfrm>
            <a:off x="9774936" y="2468880"/>
            <a:ext cx="566928" cy="566928"/>
          </a:xfrm>
          <a:prstGeom prst="roundRect">
            <a:avLst>
              <a:gd name="adj" fmla="val 14516"/>
            </a:avLst>
          </a:prstGeom>
          <a:solidFill>
            <a:srgbClr val="293352"/>
          </a:solidFill>
          <a:ln/>
        </p:spPr>
      </p:sp>
      <p:pic>
        <p:nvPicPr>
          <p:cNvPr id="18" name="Image 2" descr="preencoded.png"/>
          <p:cNvPicPr>
            <a:picLocks noChangeAspect="1"/>
          </p:cNvPicPr>
          <p:nvPr/>
        </p:nvPicPr>
        <p:blipFill>
          <a:blip r:embed="rId5"/>
          <a:stretch>
            <a:fillRect/>
          </a:stretch>
        </p:blipFill>
        <p:spPr>
          <a:xfrm>
            <a:off x="9902495" y="2596439"/>
            <a:ext cx="311810" cy="311810"/>
          </a:xfrm>
          <a:prstGeom prst="rect">
            <a:avLst/>
          </a:prstGeom>
        </p:spPr>
      </p:pic>
      <p:sp>
        <p:nvSpPr>
          <p:cNvPr id="19" name="Text 14"/>
          <p:cNvSpPr/>
          <p:nvPr/>
        </p:nvSpPr>
        <p:spPr>
          <a:xfrm>
            <a:off x="8641080" y="3200400"/>
            <a:ext cx="2834640" cy="548640"/>
          </a:xfrm>
          <a:prstGeom prst="rect">
            <a:avLst/>
          </a:prstGeom>
          <a:noFill/>
          <a:ln/>
        </p:spPr>
        <p:txBody>
          <a:bodyPr wrap="square" lIns="0" tIns="0" rIns="0" bIns="0" rtlCol="0" anchor="t"/>
          <a:lstStyle/>
          <a:p>
            <a:pPr marL="0" indent="0" algn="ctr">
              <a:buNone/>
            </a:pPr>
            <a:r>
              <a:rPr lang="en-US" sz="1500" b="1" dirty="0">
                <a:solidFill>
                  <a:srgbClr val="293352"/>
                </a:solidFill>
                <a:latin typeface="Arial" pitchFamily="34" charset="0"/>
                <a:ea typeface="Arial" pitchFamily="34" charset="-122"/>
                <a:cs typeface="Arial" pitchFamily="34" charset="-120"/>
              </a:rPr>
              <a:t>Export</a:t>
            </a:r>
            <a:endParaRPr lang="en-US" sz="1500" dirty="0"/>
          </a:p>
        </p:txBody>
      </p:sp>
      <p:sp>
        <p:nvSpPr>
          <p:cNvPr id="20" name="Text 15"/>
          <p:cNvSpPr/>
          <p:nvPr/>
        </p:nvSpPr>
        <p:spPr>
          <a:xfrm>
            <a:off x="8686800" y="3703320"/>
            <a:ext cx="2743200" cy="822960"/>
          </a:xfrm>
          <a:prstGeom prst="rect">
            <a:avLst/>
          </a:prstGeom>
          <a:noFill/>
          <a:ln/>
        </p:spPr>
        <p:txBody>
          <a:bodyPr wrap="square" lIns="0" tIns="0" rIns="0" bIns="0" rtlCol="0" anchor="t"/>
          <a:lstStyle/>
          <a:p>
            <a:pPr marL="0" indent="0" algn="ctr">
              <a:buNone/>
            </a:pPr>
            <a:r>
              <a:rPr lang="en-US" sz="1150" dirty="0">
                <a:solidFill>
                  <a:srgbClr val="1E1E1E"/>
                </a:solidFill>
                <a:latin typeface="Arial" pitchFamily="34" charset="0"/>
                <a:ea typeface="Arial" pitchFamily="34" charset="-122"/>
                <a:cs typeface="Arial" pitchFamily="34" charset="-120"/>
              </a:rPr>
              <a:t>The monitoring surface, for a person or an LLM</a:t>
            </a:r>
            <a:endParaRPr lang="en-US" sz="1150" dirty="0"/>
          </a:p>
        </p:txBody>
      </p:sp>
      <p:sp>
        <p:nvSpPr>
          <p:cNvPr id="21" name="Text 16"/>
          <p:cNvSpPr/>
          <p:nvPr/>
        </p:nvSpPr>
        <p:spPr>
          <a:xfrm>
            <a:off x="640080" y="5120640"/>
            <a:ext cx="10881360" cy="548640"/>
          </a:xfrm>
          <a:prstGeom prst="rect">
            <a:avLst/>
          </a:prstGeom>
          <a:noFill/>
          <a:ln/>
        </p:spPr>
        <p:txBody>
          <a:bodyPr wrap="square" lIns="0" tIns="0" rIns="0" bIns="0" rtlCol="0" anchor="ctr"/>
          <a:lstStyle/>
          <a:p>
            <a:pPr marL="0" indent="0" algn="ctr">
              <a:buNone/>
            </a:pPr>
            <a:r>
              <a:rPr lang="en-US" sz="1400" i="1" dirty="0">
                <a:solidFill>
                  <a:srgbClr val="8996A0"/>
                </a:solidFill>
                <a:latin typeface="Arial" pitchFamily="34" charset="0"/>
                <a:ea typeface="Arial" pitchFamily="34" charset="-122"/>
                <a:cs typeface="Arial" pitchFamily="34" charset="-120"/>
              </a:rPr>
              <a:t>The same split as Session 1, and the bridge to the live SPA app</a:t>
            </a:r>
            <a:endParaRPr lang="en-US" sz="1400" dirty="0"/>
          </a:p>
        </p:txBody>
      </p:sp>
      <p:sp>
        <p:nvSpPr>
          <p:cNvPr id="22"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23" name="Harvard Page Number"/>
          <p:cNvSpPr txBox="1"/>
          <p:nvPr/>
        </p:nvSpPr>
        <p:spPr>
          <a:xfrm>
            <a:off x="11730577" y="6446043"/>
            <a:ext cx="324104" cy="274638"/>
          </a:xfrm>
          <a:prstGeom prst="rect">
            <a:avLst/>
          </a:prstGeom>
          <a:noFill/>
        </p:spPr>
        <p:txBody>
          <a:bodyPr wrap="none" lIns="0" tIns="0" rIns="0" bIns="0">
            <a:noAutofit/>
          </a:bodyPr>
          <a:lstStyle/>
          <a:p>
            <a:pPr algn="r"/>
            <a:fld id="{46B8D4D7-3B4C-4EF4-97FF-33FD8B65CF53}" type="slidenum">
              <a:rPr lang="en-US" sz="1000">
                <a:solidFill>
                  <a:srgbClr val="8996A0"/>
                </a:solidFill>
                <a:latin typeface="Arial"/>
              </a:rPr>
              <a:t>21</a:t>
            </a:fld>
            <a:endParaRPr lang="en-US" sz="1000">
              <a:solidFill>
                <a:srgbClr val="8996A0"/>
              </a:solidFill>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A51C30"/>
                </a:solidFill>
                <a:effectLst/>
                <a:uLnTx/>
                <a:uFillTx/>
                <a:latin typeface="Arial" pitchFamily="34" charset="0"/>
                <a:ea typeface="Arial" pitchFamily="34" charset="-122"/>
                <a:cs typeface="Arial" pitchFamily="34" charset="-120"/>
              </a:rPr>
              <a:t>CO-MOVEMENT, OVER TIME</a:t>
            </a:r>
            <a:endParaRPr kumimoji="0" lang="en-US" sz="1200" b="0" i="0" u="none" strike="noStrike" kern="1200" cap="none" spc="0" normalizeH="0" baseline="0" noProof="0" dirty="0">
              <a:ln>
                <a:noFill/>
              </a:ln>
              <a:solidFill>
                <a:srgbClr val="1E1E1E"/>
              </a:solidFill>
              <a:effectLst/>
              <a:uLnTx/>
              <a:uFillTx/>
              <a:latin typeface="Arial" panose="020F0502020204030204"/>
              <a:ea typeface="+mn-ea"/>
              <a:cs typeface="+mn-cs"/>
            </a:endParaRPr>
          </a:p>
        </p:txBody>
      </p:sp>
      <p:sp>
        <p:nvSpPr>
          <p:cNvPr id="3" name="Text 1"/>
          <p:cNvSpPr/>
          <p:nvPr/>
        </p:nvSpPr>
        <p:spPr>
          <a:xfrm>
            <a:off x="640080" y="676656"/>
            <a:ext cx="1088136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E1E1E"/>
                </a:solidFill>
                <a:effectLst/>
                <a:uLnTx/>
                <a:uFillTx/>
                <a:latin typeface="Arial" pitchFamily="34" charset="0"/>
                <a:ea typeface="Arial" pitchFamily="34" charset="-122"/>
                <a:cs typeface="Arial" pitchFamily="34" charset="-120"/>
              </a:rPr>
              <a:t>Script E: rolling correlation</a:t>
            </a:r>
            <a:endParaRPr kumimoji="0" lang="en-US" sz="2800" b="0" i="0" u="none" strike="noStrike" kern="1200" cap="none" spc="0" normalizeH="0" baseline="0" noProof="0" dirty="0">
              <a:ln>
                <a:noFill/>
              </a:ln>
              <a:solidFill>
                <a:srgbClr val="1E1E1E"/>
              </a:solidFill>
              <a:effectLst/>
              <a:uLnTx/>
              <a:uFillTx/>
              <a:latin typeface="Arial" panose="020F0502020204030204"/>
              <a:ea typeface="+mn-ea"/>
              <a:cs typeface="+mn-cs"/>
            </a:endParaRPr>
          </a:p>
        </p:txBody>
      </p:sp>
      <p:sp>
        <p:nvSpPr>
          <p:cNvPr id="4" name="Shape 2"/>
          <p:cNvSpPr/>
          <p:nvPr/>
        </p:nvSpPr>
        <p:spPr>
          <a:xfrm>
            <a:off x="640080" y="1600200"/>
            <a:ext cx="3749040" cy="3977640"/>
          </a:xfrm>
          <a:prstGeom prst="roundRect">
            <a:avLst>
              <a:gd name="adj" fmla="val 1951"/>
            </a:avLst>
          </a:prstGeom>
          <a:solidFill>
            <a:srgbClr val="293352"/>
          </a:solidFill>
          <a:ln/>
        </p:spPr>
      </p:sp>
      <p:sp>
        <p:nvSpPr>
          <p:cNvPr id="5" name="Shape 3"/>
          <p:cNvSpPr/>
          <p:nvPr/>
        </p:nvSpPr>
        <p:spPr>
          <a:xfrm>
            <a:off x="914400" y="1874520"/>
            <a:ext cx="640080" cy="640080"/>
          </a:xfrm>
          <a:prstGeom prst="roundRect">
            <a:avLst>
              <a:gd name="adj" fmla="val 12857"/>
            </a:avLst>
          </a:prstGeom>
          <a:solidFill>
            <a:srgbClr val="A51C30"/>
          </a:solidFill>
          <a:ln/>
        </p:spPr>
      </p:sp>
      <p:pic>
        <p:nvPicPr>
          <p:cNvPr id="6" name="Image 0" descr="preencoded.png"/>
          <p:cNvPicPr>
            <a:picLocks noChangeAspect="1"/>
          </p:cNvPicPr>
          <p:nvPr/>
        </p:nvPicPr>
        <p:blipFill>
          <a:blip r:embed="rId3"/>
          <a:stretch>
            <a:fillRect/>
          </a:stretch>
        </p:blipFill>
        <p:spPr>
          <a:xfrm>
            <a:off x="1058418" y="2018538"/>
            <a:ext cx="352044" cy="352044"/>
          </a:xfrm>
          <a:prstGeom prst="rect">
            <a:avLst/>
          </a:prstGeom>
        </p:spPr>
      </p:pic>
      <p:sp>
        <p:nvSpPr>
          <p:cNvPr id="7" name="Text 4"/>
          <p:cNvSpPr/>
          <p:nvPr/>
        </p:nvSpPr>
        <p:spPr>
          <a:xfrm>
            <a:off x="914400" y="2697480"/>
            <a:ext cx="3200400" cy="11887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The same idea, now moving</a:t>
            </a:r>
            <a:endParaRPr kumimoji="0" lang="en-US" sz="2200" b="0" i="0" u="none" strike="noStrike" kern="1200" cap="none" spc="0" normalizeH="0" baseline="0" noProof="0" dirty="0">
              <a:ln>
                <a:noFill/>
              </a:ln>
              <a:solidFill>
                <a:srgbClr val="1E1E1E"/>
              </a:solidFill>
              <a:effectLst/>
              <a:uLnTx/>
              <a:uFillTx/>
              <a:latin typeface="Arial" panose="020F0502020204030204"/>
              <a:ea typeface="+mn-ea"/>
              <a:cs typeface="+mn-cs"/>
            </a:endParaRPr>
          </a:p>
        </p:txBody>
      </p:sp>
      <p:sp>
        <p:nvSpPr>
          <p:cNvPr id="8" name="Text 5"/>
          <p:cNvSpPr/>
          <p:nvPr/>
        </p:nvSpPr>
        <p:spPr>
          <a:xfrm>
            <a:off x="914400" y="3931920"/>
            <a:ext cx="320040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F3F3F1"/>
                </a:solidFill>
                <a:effectLst/>
                <a:uLnTx/>
                <a:uFillTx/>
                <a:latin typeface="Arial" pitchFamily="34" charset="0"/>
                <a:ea typeface="Arial" pitchFamily="34" charset="-122"/>
                <a:cs typeface="Arial" pitchFamily="34" charset="-120"/>
              </a:rPr>
              <a:t>Correlation between holdings, the key input to Script B, now tracked through time instead of as one static number.</a:t>
            </a:r>
            <a:endParaRPr kumimoji="0" lang="en-US" sz="1350" b="0" i="0" u="none" strike="noStrike" kern="1200" cap="none" spc="0" normalizeH="0" baseline="0" noProof="0" dirty="0">
              <a:ln>
                <a:noFill/>
              </a:ln>
              <a:solidFill>
                <a:srgbClr val="1E1E1E"/>
              </a:solidFill>
              <a:effectLst/>
              <a:uLnTx/>
              <a:uFillTx/>
              <a:latin typeface="Arial" panose="020F0502020204030204"/>
              <a:ea typeface="+mn-ea"/>
              <a:cs typeface="+mn-cs"/>
            </a:endParaRPr>
          </a:p>
        </p:txBody>
      </p:sp>
      <p:sp>
        <p:nvSpPr>
          <p:cNvPr id="9" name="Shape 6"/>
          <p:cNvSpPr/>
          <p:nvPr/>
        </p:nvSpPr>
        <p:spPr>
          <a:xfrm>
            <a:off x="4663440" y="1600200"/>
            <a:ext cx="6858000" cy="1207008"/>
          </a:xfrm>
          <a:prstGeom prst="roundRect">
            <a:avLst>
              <a:gd name="adj" fmla="val 4545"/>
            </a:avLst>
          </a:prstGeom>
          <a:solidFill>
            <a:srgbClr val="F3F3F1"/>
          </a:solidFill>
          <a:ln/>
        </p:spPr>
      </p:sp>
      <p:sp>
        <p:nvSpPr>
          <p:cNvPr id="10" name="Shape 7"/>
          <p:cNvSpPr/>
          <p:nvPr/>
        </p:nvSpPr>
        <p:spPr>
          <a:xfrm>
            <a:off x="4892040" y="1952244"/>
            <a:ext cx="502920" cy="502920"/>
          </a:xfrm>
          <a:prstGeom prst="roundRect">
            <a:avLst>
              <a:gd name="adj" fmla="val 16364"/>
            </a:avLst>
          </a:prstGeom>
          <a:solidFill>
            <a:srgbClr val="A51C30"/>
          </a:solidFill>
          <a:ln/>
        </p:spPr>
      </p:sp>
      <p:pic>
        <p:nvPicPr>
          <p:cNvPr id="11" name="Image 1" descr="preencoded.png"/>
          <p:cNvPicPr>
            <a:picLocks noChangeAspect="1"/>
          </p:cNvPicPr>
          <p:nvPr/>
        </p:nvPicPr>
        <p:blipFill>
          <a:blip r:embed="rId4"/>
          <a:stretch>
            <a:fillRect/>
          </a:stretch>
        </p:blipFill>
        <p:spPr>
          <a:xfrm>
            <a:off x="5005197" y="2065401"/>
            <a:ext cx="276606" cy="276606"/>
          </a:xfrm>
          <a:prstGeom prst="rect">
            <a:avLst/>
          </a:prstGeom>
        </p:spPr>
      </p:pic>
      <p:sp>
        <p:nvSpPr>
          <p:cNvPr id="12" name="Text 8"/>
          <p:cNvSpPr/>
          <p:nvPr/>
        </p:nvSpPr>
        <p:spPr>
          <a:xfrm>
            <a:off x="5623560" y="1764792"/>
            <a:ext cx="5669280" cy="932688"/>
          </a:xfrm>
          <a:prstGeom prst="rect">
            <a:avLst/>
          </a:prstGeom>
          <a:noFill/>
          <a:ln/>
        </p:spPr>
        <p:txBody>
          <a:bodyPr wrap="square" lIns="0" tIns="0" rIns="0" bIns="0" rtlCol="0" anchor="ct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293352"/>
                </a:solidFill>
                <a:effectLst/>
                <a:uLnTx/>
                <a:uFillTx/>
                <a:latin typeface="Arial" pitchFamily="34" charset="0"/>
                <a:ea typeface="Arial" pitchFamily="34" charset="-122"/>
                <a:cs typeface="Arial" pitchFamily="34" charset="-120"/>
              </a:rPr>
              <a:t>Watch the stress point
</a:t>
            </a:r>
            <a:r>
              <a:rPr kumimoji="0" lang="en-US" sz="1300" b="0" i="0" u="none" strike="noStrike" kern="1200" cap="none" spc="0" normalizeH="0" baseline="0" noProof="0" dirty="0">
                <a:ln>
                  <a:noFill/>
                </a:ln>
                <a:solidFill>
                  <a:srgbClr val="1E1E1E"/>
                </a:solidFill>
                <a:effectLst/>
                <a:uLnTx/>
                <a:uFillTx/>
                <a:latin typeface="Arial" pitchFamily="34" charset="0"/>
                <a:ea typeface="Arial" pitchFamily="34" charset="-122"/>
                <a:cs typeface="Arial" pitchFamily="34" charset="-120"/>
              </a:rPr>
              <a:t>Correlations drift toward 1 in a sell-off, the failure mode a single average number cannot show.</a:t>
            </a:r>
            <a:endParaRPr kumimoji="0" lang="en-US" sz="1500" b="0" i="0" u="none" strike="noStrike" kern="1200" cap="none" spc="0" normalizeH="0" baseline="0" noProof="0" dirty="0">
              <a:ln>
                <a:noFill/>
              </a:ln>
              <a:solidFill>
                <a:srgbClr val="1E1E1E"/>
              </a:solidFill>
              <a:effectLst/>
              <a:uLnTx/>
              <a:uFillTx/>
              <a:latin typeface="Arial" panose="020F0502020204030204"/>
              <a:ea typeface="+mn-ea"/>
              <a:cs typeface="+mn-cs"/>
            </a:endParaRPr>
          </a:p>
        </p:txBody>
      </p:sp>
      <p:sp>
        <p:nvSpPr>
          <p:cNvPr id="13" name="Shape 9"/>
          <p:cNvSpPr/>
          <p:nvPr/>
        </p:nvSpPr>
        <p:spPr>
          <a:xfrm>
            <a:off x="4663440" y="2990088"/>
            <a:ext cx="6858000" cy="1207008"/>
          </a:xfrm>
          <a:prstGeom prst="roundRect">
            <a:avLst>
              <a:gd name="adj" fmla="val 4545"/>
            </a:avLst>
          </a:prstGeom>
          <a:solidFill>
            <a:srgbClr val="F3F3F1"/>
          </a:solidFill>
          <a:ln/>
        </p:spPr>
      </p:sp>
      <p:sp>
        <p:nvSpPr>
          <p:cNvPr id="14" name="Shape 10"/>
          <p:cNvSpPr/>
          <p:nvPr/>
        </p:nvSpPr>
        <p:spPr>
          <a:xfrm>
            <a:off x="4892040" y="3342132"/>
            <a:ext cx="502920" cy="502920"/>
          </a:xfrm>
          <a:prstGeom prst="roundRect">
            <a:avLst>
              <a:gd name="adj" fmla="val 16364"/>
            </a:avLst>
          </a:prstGeom>
          <a:solidFill>
            <a:srgbClr val="A51C30"/>
          </a:solidFill>
          <a:ln/>
        </p:spPr>
      </p:sp>
      <p:pic>
        <p:nvPicPr>
          <p:cNvPr id="15" name="Image 2" descr="preencoded.png"/>
          <p:cNvPicPr>
            <a:picLocks noChangeAspect="1"/>
          </p:cNvPicPr>
          <p:nvPr/>
        </p:nvPicPr>
        <p:blipFill>
          <a:blip r:embed="rId5"/>
          <a:stretch>
            <a:fillRect/>
          </a:stretch>
        </p:blipFill>
        <p:spPr>
          <a:xfrm>
            <a:off x="5005197" y="3455289"/>
            <a:ext cx="276606" cy="276606"/>
          </a:xfrm>
          <a:prstGeom prst="rect">
            <a:avLst/>
          </a:prstGeom>
        </p:spPr>
      </p:pic>
      <p:sp>
        <p:nvSpPr>
          <p:cNvPr id="16" name="Text 11"/>
          <p:cNvSpPr/>
          <p:nvPr/>
        </p:nvSpPr>
        <p:spPr>
          <a:xfrm>
            <a:off x="5623560" y="3154680"/>
            <a:ext cx="5669280" cy="932688"/>
          </a:xfrm>
          <a:prstGeom prst="rect">
            <a:avLst/>
          </a:prstGeom>
          <a:noFill/>
          <a:ln/>
        </p:spPr>
        <p:txBody>
          <a:bodyPr wrap="square" lIns="0" tIns="0" rIns="0" bIns="0" rtlCol="0" anchor="ct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293352"/>
                </a:solidFill>
                <a:effectLst/>
                <a:uLnTx/>
                <a:uFillTx/>
                <a:latin typeface="Arial" pitchFamily="34" charset="0"/>
                <a:ea typeface="Arial" pitchFamily="34" charset="-122"/>
                <a:cs typeface="Arial" pitchFamily="34" charset="-120"/>
              </a:rPr>
              <a:t>Two windows
</a:t>
            </a:r>
            <a:r>
              <a:rPr kumimoji="0" lang="en-US" sz="1300" b="0" i="0" u="none" strike="noStrike" kern="1200" cap="none" spc="0" normalizeH="0" baseline="0" noProof="0" dirty="0">
                <a:ln>
                  <a:noFill/>
                </a:ln>
                <a:solidFill>
                  <a:srgbClr val="1E1E1E"/>
                </a:solidFill>
                <a:effectLst/>
                <a:uLnTx/>
                <a:uFillTx/>
                <a:latin typeface="Arial" pitchFamily="34" charset="0"/>
                <a:ea typeface="Arial" pitchFamily="34" charset="-122"/>
                <a:cs typeface="Arial" pitchFamily="34" charset="-120"/>
              </a:rPr>
              <a:t>30 day is reactive but noisy; 90 day is smooth but slow to reveal a real change. Compare both.</a:t>
            </a:r>
            <a:endParaRPr kumimoji="0" lang="en-US" sz="1500" b="0" i="0" u="none" strike="noStrike" kern="1200" cap="none" spc="0" normalizeH="0" baseline="0" noProof="0" dirty="0">
              <a:ln>
                <a:noFill/>
              </a:ln>
              <a:solidFill>
                <a:srgbClr val="1E1E1E"/>
              </a:solidFill>
              <a:effectLst/>
              <a:uLnTx/>
              <a:uFillTx/>
              <a:latin typeface="Arial" panose="020F0502020204030204"/>
              <a:ea typeface="+mn-ea"/>
              <a:cs typeface="+mn-cs"/>
            </a:endParaRPr>
          </a:p>
        </p:txBody>
      </p:sp>
      <p:sp>
        <p:nvSpPr>
          <p:cNvPr id="17" name="Shape 12"/>
          <p:cNvSpPr/>
          <p:nvPr/>
        </p:nvSpPr>
        <p:spPr>
          <a:xfrm>
            <a:off x="4663440" y="4379976"/>
            <a:ext cx="6858000" cy="1207008"/>
          </a:xfrm>
          <a:prstGeom prst="roundRect">
            <a:avLst>
              <a:gd name="adj" fmla="val 4545"/>
            </a:avLst>
          </a:prstGeom>
          <a:solidFill>
            <a:srgbClr val="F3F3F1"/>
          </a:solidFill>
          <a:ln/>
        </p:spPr>
      </p:sp>
      <p:sp>
        <p:nvSpPr>
          <p:cNvPr id="18" name="Shape 13"/>
          <p:cNvSpPr/>
          <p:nvPr/>
        </p:nvSpPr>
        <p:spPr>
          <a:xfrm>
            <a:off x="4892040" y="4732020"/>
            <a:ext cx="502920" cy="502920"/>
          </a:xfrm>
          <a:prstGeom prst="roundRect">
            <a:avLst>
              <a:gd name="adj" fmla="val 16364"/>
            </a:avLst>
          </a:prstGeom>
          <a:solidFill>
            <a:srgbClr val="A51C30"/>
          </a:solidFill>
          <a:ln/>
        </p:spPr>
      </p:sp>
      <p:pic>
        <p:nvPicPr>
          <p:cNvPr id="19" name="Image 3" descr="preencoded.png"/>
          <p:cNvPicPr>
            <a:picLocks noChangeAspect="1"/>
          </p:cNvPicPr>
          <p:nvPr/>
        </p:nvPicPr>
        <p:blipFill>
          <a:blip r:embed="rId6"/>
          <a:stretch>
            <a:fillRect/>
          </a:stretch>
        </p:blipFill>
        <p:spPr>
          <a:xfrm>
            <a:off x="5005197" y="4845177"/>
            <a:ext cx="276606" cy="276606"/>
          </a:xfrm>
          <a:prstGeom prst="rect">
            <a:avLst/>
          </a:prstGeom>
        </p:spPr>
      </p:pic>
      <p:sp>
        <p:nvSpPr>
          <p:cNvPr id="20" name="Text 14"/>
          <p:cNvSpPr/>
          <p:nvPr/>
        </p:nvSpPr>
        <p:spPr>
          <a:xfrm>
            <a:off x="5623560" y="4544568"/>
            <a:ext cx="5669280" cy="932688"/>
          </a:xfrm>
          <a:prstGeom prst="rect">
            <a:avLst/>
          </a:prstGeom>
          <a:noFill/>
          <a:ln/>
        </p:spPr>
        <p:txBody>
          <a:bodyPr wrap="square" lIns="0" tIns="0" rIns="0" bIns="0" rtlCol="0" anchor="ct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293352"/>
                </a:solidFill>
                <a:effectLst/>
                <a:uLnTx/>
                <a:uFillTx/>
                <a:latin typeface="Arial" pitchFamily="34" charset="0"/>
                <a:ea typeface="Arial" pitchFamily="34" charset="-122"/>
                <a:cs typeface="Arial" pitchFamily="34" charset="-120"/>
              </a:rPr>
              <a:t>All pairs at once
</a:t>
            </a:r>
            <a:r>
              <a:rPr kumimoji="0" lang="en-US" sz="1300" b="0" i="0" u="none" strike="noStrike" kern="1200" cap="none" spc="0" normalizeH="0" baseline="0" noProof="0" dirty="0">
                <a:ln>
                  <a:noFill/>
                </a:ln>
                <a:solidFill>
                  <a:srgbClr val="1E1E1E"/>
                </a:solidFill>
                <a:effectLst/>
                <a:uLnTx/>
                <a:uFillTx/>
                <a:latin typeface="Arial" pitchFamily="34" charset="0"/>
                <a:ea typeface="Arial" pitchFamily="34" charset="-122"/>
                <a:cs typeface="Arial" pitchFamily="34" charset="-120"/>
              </a:rPr>
              <a:t>Five stocks make ten pairs. When the whole band rises together, diversification is weak.</a:t>
            </a:r>
            <a:endParaRPr kumimoji="0" lang="en-US" sz="1500" b="0" i="0" u="none" strike="noStrike" kern="1200" cap="none" spc="0" normalizeH="0" baseline="0" noProof="0" dirty="0">
              <a:ln>
                <a:noFill/>
              </a:ln>
              <a:solidFill>
                <a:srgbClr val="1E1E1E"/>
              </a:solidFill>
              <a:effectLst/>
              <a:uLnTx/>
              <a:uFillTx/>
              <a:latin typeface="Arial" panose="020F0502020204030204"/>
              <a:ea typeface="+mn-ea"/>
              <a:cs typeface="+mn-cs"/>
            </a:endParaRPr>
          </a:p>
        </p:txBody>
      </p:sp>
      <p:sp>
        <p:nvSpPr>
          <p:cNvPr id="21" name="Harvard Footer"/>
          <p:cNvSpPr txBox="1"/>
          <p:nvPr/>
        </p:nvSpPr>
        <p:spPr>
          <a:xfrm>
            <a:off x="137319" y="6446043"/>
            <a:ext cx="1326387" cy="274638"/>
          </a:xfrm>
          <a:prstGeom prst="rect">
            <a:avLst/>
          </a:prstGeom>
          <a:noFill/>
        </p:spPr>
        <p:txBody>
          <a:bodyPr wrap="non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8996A0"/>
                </a:solidFill>
                <a:effectLst/>
                <a:uLnTx/>
                <a:uFillTx/>
                <a:latin typeface="Arial"/>
                <a:ea typeface="+mn-ea"/>
                <a:cs typeface="+mn-cs"/>
              </a:rPr>
              <a:t>© 2026 Ted Kwartler</a:t>
            </a:r>
          </a:p>
        </p:txBody>
      </p:sp>
      <p:sp>
        <p:nvSpPr>
          <p:cNvPr id="22" name="Harvard Page Number"/>
          <p:cNvSpPr txBox="1"/>
          <p:nvPr/>
        </p:nvSpPr>
        <p:spPr>
          <a:xfrm>
            <a:off x="11730577" y="6446043"/>
            <a:ext cx="324104" cy="274638"/>
          </a:xfrm>
          <a:prstGeom prst="rect">
            <a:avLst/>
          </a:prstGeom>
          <a:noFill/>
        </p:spPr>
        <p:txBody>
          <a:bodyPr wrap="none" lIns="0" tIns="0" rIns="0" bIns="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24E4C4-EE1F-4DB8-BB34-C965E70D00DA}" type="slidenum">
              <a:rPr kumimoji="0" lang="en-US" sz="1000" b="0" i="0" u="none" strike="noStrike" kern="1200" cap="none" spc="0" normalizeH="0" baseline="0" noProof="0">
                <a:ln>
                  <a:noFill/>
                </a:ln>
                <a:solidFill>
                  <a:srgbClr val="8996A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000" b="0" i="0" u="none" strike="noStrike" kern="1200" cap="none" spc="0" normalizeH="0" baseline="0" noProof="0">
              <a:ln>
                <a:noFill/>
              </a:ln>
              <a:solidFill>
                <a:srgbClr val="8996A0"/>
              </a:solidFill>
              <a:effectLst/>
              <a:uLnTx/>
              <a:uFillTx/>
              <a:latin typeface="Arial"/>
              <a:ea typeface="+mn-ea"/>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marL="0" indent="0">
              <a:buNone/>
            </a:pPr>
            <a:r>
              <a:rPr lang="en-US" sz="1200" b="1" kern="0" spc="200" dirty="0">
                <a:solidFill>
                  <a:srgbClr val="A51C30"/>
                </a:solidFill>
                <a:latin typeface="Arial" pitchFamily="34" charset="0"/>
                <a:ea typeface="Arial" pitchFamily="34" charset="-122"/>
                <a:cs typeface="Arial" pitchFamily="34" charset="-120"/>
              </a:rPr>
              <a:t>TWO WINDOWS, TEN PAIRS</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marL="0" indent="0">
              <a:buNone/>
            </a:pPr>
            <a:r>
              <a:rPr lang="en-US" sz="2800" b="1" dirty="0">
                <a:solidFill>
                  <a:srgbClr val="1E1E1E"/>
                </a:solidFill>
                <a:latin typeface="Arial" pitchFamily="34" charset="0"/>
                <a:ea typeface="Arial" pitchFamily="34" charset="-122"/>
                <a:cs typeface="Arial" pitchFamily="34" charset="-120"/>
              </a:rPr>
              <a:t>Script E: rolling correlation</a:t>
            </a:r>
            <a:endParaRPr lang="en-US" sz="2800" dirty="0"/>
          </a:p>
        </p:txBody>
      </p:sp>
      <p:sp>
        <p:nvSpPr>
          <p:cNvPr id="4" name="Shape 2"/>
          <p:cNvSpPr/>
          <p:nvPr/>
        </p:nvSpPr>
        <p:spPr>
          <a:xfrm>
            <a:off x="640080" y="1600200"/>
            <a:ext cx="5257800" cy="1965960"/>
          </a:xfrm>
          <a:prstGeom prst="roundRect">
            <a:avLst>
              <a:gd name="adj" fmla="val 2791"/>
            </a:avLst>
          </a:prstGeom>
          <a:solidFill>
            <a:srgbClr val="F3F3F1"/>
          </a:solidFill>
          <a:ln/>
        </p:spPr>
      </p:sp>
      <p:sp>
        <p:nvSpPr>
          <p:cNvPr id="5" name="Shape 3"/>
          <p:cNvSpPr/>
          <p:nvPr/>
        </p:nvSpPr>
        <p:spPr>
          <a:xfrm>
            <a:off x="914400" y="1874520"/>
            <a:ext cx="548640" cy="548640"/>
          </a:xfrm>
          <a:prstGeom prst="roundRect">
            <a:avLst>
              <a:gd name="adj" fmla="val 15000"/>
            </a:avLst>
          </a:prstGeom>
          <a:solidFill>
            <a:srgbClr val="293352"/>
          </a:solidFill>
          <a:ln/>
        </p:spPr>
      </p:sp>
      <p:pic>
        <p:nvPicPr>
          <p:cNvPr id="6" name="Image 0" descr="preencoded.png"/>
          <p:cNvPicPr>
            <a:picLocks noChangeAspect="1"/>
          </p:cNvPicPr>
          <p:nvPr/>
        </p:nvPicPr>
        <p:blipFill>
          <a:blip r:embed="rId3"/>
          <a:stretch>
            <a:fillRect/>
          </a:stretch>
        </p:blipFill>
        <p:spPr>
          <a:xfrm>
            <a:off x="1037844" y="1997964"/>
            <a:ext cx="301752" cy="301752"/>
          </a:xfrm>
          <a:prstGeom prst="rect">
            <a:avLst/>
          </a:prstGeom>
        </p:spPr>
      </p:pic>
      <p:sp>
        <p:nvSpPr>
          <p:cNvPr id="7" name="Text 4"/>
          <p:cNvSpPr/>
          <p:nvPr/>
        </p:nvSpPr>
        <p:spPr>
          <a:xfrm>
            <a:off x="1645920" y="1856232"/>
            <a:ext cx="4023360" cy="548640"/>
          </a:xfrm>
          <a:prstGeom prst="rect">
            <a:avLst/>
          </a:prstGeom>
          <a:noFill/>
          <a:ln/>
        </p:spPr>
        <p:txBody>
          <a:bodyPr wrap="square" lIns="0" tIns="0" rIns="0" bIns="0" rtlCol="0" anchor="ctr"/>
          <a:lstStyle/>
          <a:p>
            <a:pPr marL="0" indent="0">
              <a:buNone/>
            </a:pPr>
            <a:r>
              <a:rPr lang="en-US" sz="1600" b="1" dirty="0">
                <a:solidFill>
                  <a:srgbClr val="293352"/>
                </a:solidFill>
                <a:latin typeface="Arial" pitchFamily="34" charset="0"/>
                <a:ea typeface="Arial" pitchFamily="34" charset="-122"/>
                <a:cs typeface="Arial" pitchFamily="34" charset="-120"/>
              </a:rPr>
              <a:t>30 day vs 90 day</a:t>
            </a:r>
            <a:endParaRPr lang="en-US" sz="1600" dirty="0"/>
          </a:p>
        </p:txBody>
      </p:sp>
      <p:sp>
        <p:nvSpPr>
          <p:cNvPr id="8" name="Text 5"/>
          <p:cNvSpPr/>
          <p:nvPr/>
        </p:nvSpPr>
        <p:spPr>
          <a:xfrm>
            <a:off x="914400" y="2514600"/>
            <a:ext cx="4709160" cy="914400"/>
          </a:xfrm>
          <a:prstGeom prst="rect">
            <a:avLst/>
          </a:prstGeom>
          <a:noFill/>
          <a:ln/>
        </p:spPr>
        <p:txBody>
          <a:bodyPr wrap="square" lIns="0" tIns="0" rIns="0" bIns="0" rtlCol="0" anchor="t"/>
          <a:lstStyle/>
          <a:p>
            <a:pPr marL="0" indent="0">
              <a:buNone/>
            </a:pPr>
            <a:r>
              <a:rPr lang="en-US" sz="1350" dirty="0">
                <a:solidFill>
                  <a:srgbClr val="1E1E1E"/>
                </a:solidFill>
                <a:latin typeface="Arial" pitchFamily="34" charset="0"/>
                <a:ea typeface="Arial" pitchFamily="34" charset="-122"/>
                <a:cs typeface="Arial" pitchFamily="34" charset="-120"/>
              </a:rPr>
              <a:t>Short is reactive but noisy. Long is smooth but slow to reveal a real change.</a:t>
            </a:r>
            <a:endParaRPr lang="en-US" sz="1350" dirty="0"/>
          </a:p>
        </p:txBody>
      </p:sp>
      <p:sp>
        <p:nvSpPr>
          <p:cNvPr id="9" name="Shape 6"/>
          <p:cNvSpPr/>
          <p:nvPr/>
        </p:nvSpPr>
        <p:spPr>
          <a:xfrm>
            <a:off x="6263640" y="1600200"/>
            <a:ext cx="5257800" cy="1965960"/>
          </a:xfrm>
          <a:prstGeom prst="roundRect">
            <a:avLst>
              <a:gd name="adj" fmla="val 2791"/>
            </a:avLst>
          </a:prstGeom>
          <a:solidFill>
            <a:srgbClr val="F3F3F1"/>
          </a:solidFill>
          <a:ln/>
        </p:spPr>
      </p:sp>
      <p:sp>
        <p:nvSpPr>
          <p:cNvPr id="10" name="Shape 7"/>
          <p:cNvSpPr/>
          <p:nvPr/>
        </p:nvSpPr>
        <p:spPr>
          <a:xfrm>
            <a:off x="6537960" y="1874520"/>
            <a:ext cx="548640" cy="548640"/>
          </a:xfrm>
          <a:prstGeom prst="roundRect">
            <a:avLst>
              <a:gd name="adj" fmla="val 15000"/>
            </a:avLst>
          </a:prstGeom>
          <a:solidFill>
            <a:srgbClr val="A51C30"/>
          </a:solidFill>
          <a:ln/>
        </p:spPr>
      </p:sp>
      <p:pic>
        <p:nvPicPr>
          <p:cNvPr id="11" name="Image 1" descr="preencoded.png"/>
          <p:cNvPicPr>
            <a:picLocks noChangeAspect="1"/>
          </p:cNvPicPr>
          <p:nvPr/>
        </p:nvPicPr>
        <p:blipFill>
          <a:blip r:embed="rId4"/>
          <a:stretch>
            <a:fillRect/>
          </a:stretch>
        </p:blipFill>
        <p:spPr>
          <a:xfrm>
            <a:off x="6661404" y="1997964"/>
            <a:ext cx="301752" cy="301752"/>
          </a:xfrm>
          <a:prstGeom prst="rect">
            <a:avLst/>
          </a:prstGeom>
        </p:spPr>
      </p:pic>
      <p:sp>
        <p:nvSpPr>
          <p:cNvPr id="12" name="Text 8"/>
          <p:cNvSpPr/>
          <p:nvPr/>
        </p:nvSpPr>
        <p:spPr>
          <a:xfrm>
            <a:off x="7269480" y="1856232"/>
            <a:ext cx="4023360" cy="548640"/>
          </a:xfrm>
          <a:prstGeom prst="rect">
            <a:avLst/>
          </a:prstGeom>
          <a:noFill/>
          <a:ln/>
        </p:spPr>
        <p:txBody>
          <a:bodyPr wrap="square" lIns="0" tIns="0" rIns="0" bIns="0" rtlCol="0" anchor="ctr"/>
          <a:lstStyle/>
          <a:p>
            <a:pPr marL="0" indent="0">
              <a:buNone/>
            </a:pPr>
            <a:r>
              <a:rPr lang="en-US" sz="1600" b="1" dirty="0">
                <a:solidFill>
                  <a:srgbClr val="293352"/>
                </a:solidFill>
                <a:latin typeface="Arial" pitchFamily="34" charset="0"/>
                <a:ea typeface="Arial" pitchFamily="34" charset="-122"/>
                <a:cs typeface="Arial" pitchFamily="34" charset="-120"/>
              </a:rPr>
              <a:t>Metrics start late</a:t>
            </a:r>
            <a:endParaRPr lang="en-US" sz="1600" dirty="0"/>
          </a:p>
        </p:txBody>
      </p:sp>
      <p:sp>
        <p:nvSpPr>
          <p:cNvPr id="13" name="Text 9"/>
          <p:cNvSpPr/>
          <p:nvPr/>
        </p:nvSpPr>
        <p:spPr>
          <a:xfrm>
            <a:off x="6537960" y="2514600"/>
            <a:ext cx="4709160" cy="914400"/>
          </a:xfrm>
          <a:prstGeom prst="rect">
            <a:avLst/>
          </a:prstGeom>
          <a:noFill/>
          <a:ln/>
        </p:spPr>
        <p:txBody>
          <a:bodyPr wrap="square" lIns="0" tIns="0" rIns="0" bIns="0" rtlCol="0" anchor="t"/>
          <a:lstStyle/>
          <a:p>
            <a:pPr marL="0" indent="0">
              <a:buNone/>
            </a:pPr>
            <a:r>
              <a:rPr lang="en-US" sz="1350" dirty="0">
                <a:solidFill>
                  <a:srgbClr val="1E1E1E"/>
                </a:solidFill>
                <a:latin typeface="Arial" pitchFamily="34" charset="0"/>
                <a:ea typeface="Arial" pitchFamily="34" charset="-122"/>
                <a:cs typeface="Arial" pitchFamily="34" charset="-120"/>
              </a:rPr>
              <a:t>A rolling window needs a full window of data before its first value. Expected, not a bug.</a:t>
            </a:r>
            <a:endParaRPr lang="en-US" sz="1350" dirty="0"/>
          </a:p>
        </p:txBody>
      </p:sp>
      <p:sp>
        <p:nvSpPr>
          <p:cNvPr id="14" name="Shape 10"/>
          <p:cNvSpPr/>
          <p:nvPr/>
        </p:nvSpPr>
        <p:spPr>
          <a:xfrm>
            <a:off x="640080" y="3886200"/>
            <a:ext cx="5257800" cy="1965960"/>
          </a:xfrm>
          <a:prstGeom prst="roundRect">
            <a:avLst>
              <a:gd name="adj" fmla="val 2791"/>
            </a:avLst>
          </a:prstGeom>
          <a:solidFill>
            <a:srgbClr val="F3F3F1"/>
          </a:solidFill>
          <a:ln/>
        </p:spPr>
      </p:sp>
      <p:sp>
        <p:nvSpPr>
          <p:cNvPr id="15" name="Shape 11"/>
          <p:cNvSpPr/>
          <p:nvPr/>
        </p:nvSpPr>
        <p:spPr>
          <a:xfrm>
            <a:off x="914400" y="4160520"/>
            <a:ext cx="548640" cy="548640"/>
          </a:xfrm>
          <a:prstGeom prst="roundRect">
            <a:avLst>
              <a:gd name="adj" fmla="val 15000"/>
            </a:avLst>
          </a:prstGeom>
          <a:solidFill>
            <a:srgbClr val="293352"/>
          </a:solidFill>
          <a:ln/>
        </p:spPr>
      </p:sp>
      <p:pic>
        <p:nvPicPr>
          <p:cNvPr id="16" name="Image 2" descr="preencoded.png"/>
          <p:cNvPicPr>
            <a:picLocks noChangeAspect="1"/>
          </p:cNvPicPr>
          <p:nvPr/>
        </p:nvPicPr>
        <p:blipFill>
          <a:blip r:embed="rId5"/>
          <a:stretch>
            <a:fillRect/>
          </a:stretch>
        </p:blipFill>
        <p:spPr>
          <a:xfrm>
            <a:off x="1037844" y="4283964"/>
            <a:ext cx="301752" cy="301752"/>
          </a:xfrm>
          <a:prstGeom prst="rect">
            <a:avLst/>
          </a:prstGeom>
        </p:spPr>
      </p:pic>
      <p:sp>
        <p:nvSpPr>
          <p:cNvPr id="17" name="Text 12"/>
          <p:cNvSpPr/>
          <p:nvPr/>
        </p:nvSpPr>
        <p:spPr>
          <a:xfrm>
            <a:off x="1645920" y="4142232"/>
            <a:ext cx="4023360" cy="548640"/>
          </a:xfrm>
          <a:prstGeom prst="rect">
            <a:avLst/>
          </a:prstGeom>
          <a:noFill/>
          <a:ln/>
        </p:spPr>
        <p:txBody>
          <a:bodyPr wrap="square" lIns="0" tIns="0" rIns="0" bIns="0" rtlCol="0" anchor="ctr"/>
          <a:lstStyle/>
          <a:p>
            <a:pPr marL="0" indent="0">
              <a:buNone/>
            </a:pPr>
            <a:r>
              <a:rPr lang="en-US" sz="1600" b="1" dirty="0">
                <a:solidFill>
                  <a:srgbClr val="293352"/>
                </a:solidFill>
                <a:latin typeface="Arial" pitchFamily="34" charset="0"/>
                <a:ea typeface="Arial" pitchFamily="34" charset="-122"/>
                <a:cs typeface="Arial" pitchFamily="34" charset="-120"/>
              </a:rPr>
              <a:t>All pairs at once</a:t>
            </a:r>
            <a:endParaRPr lang="en-US" sz="1600" dirty="0"/>
          </a:p>
        </p:txBody>
      </p:sp>
      <p:sp>
        <p:nvSpPr>
          <p:cNvPr id="18" name="Text 13"/>
          <p:cNvSpPr/>
          <p:nvPr/>
        </p:nvSpPr>
        <p:spPr>
          <a:xfrm>
            <a:off x="914400" y="4800600"/>
            <a:ext cx="4709160" cy="914400"/>
          </a:xfrm>
          <a:prstGeom prst="rect">
            <a:avLst/>
          </a:prstGeom>
          <a:noFill/>
          <a:ln/>
        </p:spPr>
        <p:txBody>
          <a:bodyPr wrap="square" lIns="0" tIns="0" rIns="0" bIns="0" rtlCol="0" anchor="t"/>
          <a:lstStyle/>
          <a:p>
            <a:pPr marL="0" indent="0">
              <a:buNone/>
            </a:pPr>
            <a:r>
              <a:rPr lang="en-US" sz="1350" dirty="0">
                <a:solidFill>
                  <a:srgbClr val="1E1E1E"/>
                </a:solidFill>
                <a:latin typeface="Arial" pitchFamily="34" charset="0"/>
                <a:ea typeface="Arial" pitchFamily="34" charset="-122"/>
                <a:cs typeface="Arial" pitchFamily="34" charset="-120"/>
              </a:rPr>
              <a:t>Five stocks make ten pairs. When the whole band rises together, diversification is weak.</a:t>
            </a:r>
            <a:endParaRPr lang="en-US" sz="1350" dirty="0"/>
          </a:p>
        </p:txBody>
      </p:sp>
      <p:sp>
        <p:nvSpPr>
          <p:cNvPr id="19" name="Shape 14"/>
          <p:cNvSpPr/>
          <p:nvPr/>
        </p:nvSpPr>
        <p:spPr>
          <a:xfrm>
            <a:off x="6263640" y="3886200"/>
            <a:ext cx="5257800" cy="1965960"/>
          </a:xfrm>
          <a:prstGeom prst="roundRect">
            <a:avLst>
              <a:gd name="adj" fmla="val 2791"/>
            </a:avLst>
          </a:prstGeom>
          <a:solidFill>
            <a:srgbClr val="F3F3F1"/>
          </a:solidFill>
          <a:ln/>
        </p:spPr>
      </p:sp>
      <p:sp>
        <p:nvSpPr>
          <p:cNvPr id="20" name="Shape 15"/>
          <p:cNvSpPr/>
          <p:nvPr/>
        </p:nvSpPr>
        <p:spPr>
          <a:xfrm>
            <a:off x="6537960" y="4160520"/>
            <a:ext cx="548640" cy="548640"/>
          </a:xfrm>
          <a:prstGeom prst="roundRect">
            <a:avLst>
              <a:gd name="adj" fmla="val 15000"/>
            </a:avLst>
          </a:prstGeom>
          <a:solidFill>
            <a:srgbClr val="A51C30"/>
          </a:solidFill>
          <a:ln/>
        </p:spPr>
      </p:sp>
      <p:pic>
        <p:nvPicPr>
          <p:cNvPr id="21" name="Image 3" descr="preencoded.png"/>
          <p:cNvPicPr>
            <a:picLocks noChangeAspect="1"/>
          </p:cNvPicPr>
          <p:nvPr/>
        </p:nvPicPr>
        <p:blipFill>
          <a:blip r:embed="rId6"/>
          <a:stretch>
            <a:fillRect/>
          </a:stretch>
        </p:blipFill>
        <p:spPr>
          <a:xfrm>
            <a:off x="6661404" y="4283964"/>
            <a:ext cx="301752" cy="301752"/>
          </a:xfrm>
          <a:prstGeom prst="rect">
            <a:avLst/>
          </a:prstGeom>
        </p:spPr>
      </p:pic>
      <p:sp>
        <p:nvSpPr>
          <p:cNvPr id="22" name="Text 16"/>
          <p:cNvSpPr/>
          <p:nvPr/>
        </p:nvSpPr>
        <p:spPr>
          <a:xfrm>
            <a:off x="7269480" y="4142232"/>
            <a:ext cx="4023360" cy="548640"/>
          </a:xfrm>
          <a:prstGeom prst="rect">
            <a:avLst/>
          </a:prstGeom>
          <a:noFill/>
          <a:ln/>
        </p:spPr>
        <p:txBody>
          <a:bodyPr wrap="square" lIns="0" tIns="0" rIns="0" bIns="0" rtlCol="0" anchor="ctr"/>
          <a:lstStyle/>
          <a:p>
            <a:pPr marL="0" indent="0">
              <a:buNone/>
            </a:pPr>
            <a:r>
              <a:rPr lang="en-US" sz="1600" b="1" dirty="0">
                <a:solidFill>
                  <a:srgbClr val="293352"/>
                </a:solidFill>
                <a:latin typeface="Arial" pitchFamily="34" charset="0"/>
                <a:ea typeface="Arial" pitchFamily="34" charset="-122"/>
                <a:cs typeface="Arial" pitchFamily="34" charset="-120"/>
              </a:rPr>
              <a:t>The stress point</a:t>
            </a:r>
            <a:endParaRPr lang="en-US" sz="1600" dirty="0"/>
          </a:p>
        </p:txBody>
      </p:sp>
      <p:sp>
        <p:nvSpPr>
          <p:cNvPr id="23" name="Text 17"/>
          <p:cNvSpPr/>
          <p:nvPr/>
        </p:nvSpPr>
        <p:spPr>
          <a:xfrm>
            <a:off x="6537960" y="4800600"/>
            <a:ext cx="4709160" cy="914400"/>
          </a:xfrm>
          <a:prstGeom prst="rect">
            <a:avLst/>
          </a:prstGeom>
          <a:noFill/>
          <a:ln/>
        </p:spPr>
        <p:txBody>
          <a:bodyPr wrap="square" lIns="0" tIns="0" rIns="0" bIns="0" rtlCol="0" anchor="t"/>
          <a:lstStyle/>
          <a:p>
            <a:pPr marL="0" indent="0">
              <a:buNone/>
            </a:pPr>
            <a:r>
              <a:rPr lang="en-US" sz="1350" dirty="0">
                <a:solidFill>
                  <a:srgbClr val="1E1E1E"/>
                </a:solidFill>
                <a:latin typeface="Arial" pitchFamily="34" charset="0"/>
                <a:ea typeface="Arial" pitchFamily="34" charset="-122"/>
                <a:cs typeface="Arial" pitchFamily="34" charset="-120"/>
              </a:rPr>
              <a:t>Correlations drift toward 1 in stress, the failure mode a single number cannot show.</a:t>
            </a:r>
            <a:endParaRPr lang="en-US" sz="1350" dirty="0"/>
          </a:p>
        </p:txBody>
      </p:sp>
      <p:sp>
        <p:nvSpPr>
          <p:cNvPr id="24"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25" name="Harvard Page Number"/>
          <p:cNvSpPr txBox="1"/>
          <p:nvPr/>
        </p:nvSpPr>
        <p:spPr>
          <a:xfrm>
            <a:off x="11730577" y="6446043"/>
            <a:ext cx="324104" cy="274638"/>
          </a:xfrm>
          <a:prstGeom prst="rect">
            <a:avLst/>
          </a:prstGeom>
          <a:noFill/>
        </p:spPr>
        <p:txBody>
          <a:bodyPr wrap="none" lIns="0" tIns="0" rIns="0" bIns="0">
            <a:noAutofit/>
          </a:bodyPr>
          <a:lstStyle/>
          <a:p>
            <a:pPr algn="r"/>
            <a:fld id="{60524444-EECC-4375-AFCA-ECAA4BB91B86}" type="slidenum">
              <a:rPr lang="en-US" sz="1000">
                <a:solidFill>
                  <a:srgbClr val="8996A0"/>
                </a:solidFill>
                <a:latin typeface="Arial"/>
              </a:rPr>
              <a:t>23</a:t>
            </a:fld>
            <a:endParaRPr lang="en-US" sz="1000">
              <a:solidFill>
                <a:srgbClr val="8996A0"/>
              </a:solidFill>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320040"/>
          </a:xfrm>
          <a:prstGeom prst="rect">
            <a:avLst/>
          </a:prstGeom>
          <a:noFill/>
        </p:spPr>
        <p:txBody>
          <a:bodyPr wrap="square" lIns="45720" rIns="4572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A51C30"/>
                </a:solidFill>
                <a:effectLst/>
                <a:uLnTx/>
                <a:uFillTx/>
                <a:latin typeface="Arial"/>
                <a:ea typeface="+mn-ea"/>
                <a:cs typeface="+mn-cs"/>
              </a:rPr>
              <a:t>ONE PAIR, TWO WINDOWS</a:t>
            </a:r>
          </a:p>
        </p:txBody>
      </p:sp>
      <p:sp>
        <p:nvSpPr>
          <p:cNvPr id="3" name="TextBox 2"/>
          <p:cNvSpPr txBox="1"/>
          <p:nvPr/>
        </p:nvSpPr>
        <p:spPr>
          <a:xfrm>
            <a:off x="548640" y="621792"/>
            <a:ext cx="11064240" cy="731520"/>
          </a:xfrm>
          <a:prstGeom prst="rect">
            <a:avLst/>
          </a:prstGeom>
          <a:noFill/>
        </p:spPr>
        <p:txBody>
          <a:bodyPr wrap="square" lIns="45720" rIns="4572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a:ln>
                  <a:noFill/>
                </a:ln>
                <a:solidFill>
                  <a:srgbClr val="1E1E1E"/>
                </a:solidFill>
                <a:effectLst/>
                <a:uLnTx/>
                <a:uFillTx/>
                <a:latin typeface="Arial"/>
                <a:ea typeface="+mn-ea"/>
                <a:cs typeface="+mn-cs"/>
              </a:rPr>
              <a:t>Reading a Rolling Correlation: AAPL vs JPM</a:t>
            </a:r>
          </a:p>
        </p:txBody>
      </p:sp>
      <p:pic>
        <p:nvPicPr>
          <p:cNvPr id="4" name="Picture 3" descr="aapl_jpm.png"/>
          <p:cNvPicPr>
            <a:picLocks noChangeAspect="1"/>
          </p:cNvPicPr>
          <p:nvPr/>
        </p:nvPicPr>
        <p:blipFill>
          <a:blip r:embed="rId2"/>
          <a:stretch>
            <a:fillRect/>
          </a:stretch>
        </p:blipFill>
        <p:spPr>
          <a:xfrm>
            <a:off x="502920" y="1600200"/>
            <a:ext cx="5074920" cy="4905756"/>
          </a:xfrm>
          <a:prstGeom prst="rect">
            <a:avLst/>
          </a:prstGeom>
        </p:spPr>
      </p:pic>
      <p:sp>
        <p:nvSpPr>
          <p:cNvPr id="5" name="TextBox 4"/>
          <p:cNvSpPr txBox="1"/>
          <p:nvPr/>
        </p:nvSpPr>
        <p:spPr>
          <a:xfrm>
            <a:off x="5943600" y="1600200"/>
            <a:ext cx="5760720" cy="365760"/>
          </a:xfrm>
          <a:prstGeom prst="rect">
            <a:avLst/>
          </a:prstGeom>
          <a:noFill/>
        </p:spPr>
        <p:txBody>
          <a:bodyPr wrap="square" lIns="45720" rIns="4572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700" b="1" i="0" u="none" strike="noStrike" kern="1200" cap="none" spc="0" normalizeH="0" baseline="0" noProof="0">
                <a:ln>
                  <a:noFill/>
                </a:ln>
                <a:solidFill>
                  <a:srgbClr val="A51C30"/>
                </a:solidFill>
                <a:effectLst/>
                <a:uLnTx/>
                <a:uFillTx/>
                <a:latin typeface="Arial"/>
                <a:ea typeface="+mn-ea"/>
                <a:cs typeface="+mn-cs"/>
              </a:rPr>
              <a:t>How to read it</a:t>
            </a:r>
          </a:p>
        </p:txBody>
      </p:sp>
      <p:sp>
        <p:nvSpPr>
          <p:cNvPr id="6" name="TextBox 5"/>
          <p:cNvSpPr txBox="1"/>
          <p:nvPr/>
        </p:nvSpPr>
        <p:spPr>
          <a:xfrm>
            <a:off x="5943600" y="2011680"/>
            <a:ext cx="5760720" cy="3657600"/>
          </a:xfrm>
          <a:prstGeom prst="rect">
            <a:avLst/>
          </a:prstGeom>
          <a:noFill/>
        </p:spPr>
        <p:txBody>
          <a:bodyPr wrap="square" lIns="45720" rIns="45720" anchor="t">
            <a:spAutoFit/>
          </a:bodyPr>
          <a:lstStyle/>
          <a:p>
            <a:pPr marL="0" marR="0" lvl="0" indent="0" algn="l" defTabSz="457200" rtl="0" eaLnBrk="1" fontAlgn="auto" latinLnBrk="0" hangingPunct="1">
              <a:lnSpc>
                <a:spcPct val="100000"/>
              </a:lnSpc>
              <a:spcBef>
                <a:spcPts val="0"/>
              </a:spcBef>
              <a:spcAft>
                <a:spcPts val="200"/>
              </a:spcAft>
              <a:buClrTx/>
              <a:buSzTx/>
              <a:buFontTx/>
              <a:buNone/>
              <a:tabLst/>
              <a:defRPr/>
            </a:pPr>
            <a:r>
              <a:rPr kumimoji="0" sz="1400" b="1" i="0" u="none" strike="noStrike" kern="1200" cap="none" spc="0" normalizeH="0" baseline="0" noProof="0">
                <a:ln>
                  <a:noFill/>
                </a:ln>
                <a:solidFill>
                  <a:srgbClr val="A51C30"/>
                </a:solidFill>
                <a:effectLst/>
                <a:uLnTx/>
                <a:uFillTx/>
                <a:latin typeface="Arial"/>
                <a:ea typeface="+mn-ea"/>
                <a:cs typeface="+mn-cs"/>
              </a:rPr>
              <a:t>•  </a:t>
            </a:r>
            <a:r>
              <a:rPr kumimoji="0" sz="1400" b="1" i="0" u="none" strike="noStrike" kern="1200" cap="none" spc="0" normalizeH="0" baseline="0" noProof="0">
                <a:ln>
                  <a:noFill/>
                </a:ln>
                <a:solidFill>
                  <a:srgbClr val="1E1E1E"/>
                </a:solidFill>
                <a:effectLst/>
                <a:uLnTx/>
                <a:uFillTx/>
                <a:latin typeface="Arial"/>
                <a:ea typeface="+mn-ea"/>
                <a:cs typeface="+mn-cs"/>
              </a:rPr>
              <a:t>Two lines, two speeds. </a:t>
            </a:r>
            <a:r>
              <a:rPr kumimoji="0" sz="1350" b="0" i="0" u="none" strike="noStrike" kern="1200" cap="none" spc="0" normalizeH="0" baseline="0" noProof="0">
                <a:ln>
                  <a:noFill/>
                </a:ln>
                <a:solidFill>
                  <a:srgbClr val="59636B"/>
                </a:solidFill>
                <a:effectLst/>
                <a:uLnTx/>
                <a:uFillTx/>
                <a:latin typeface="Arial"/>
                <a:ea typeface="+mn-ea"/>
                <a:cs typeface="+mn-cs"/>
              </a:rPr>
              <a:t>The thin blue line is the 30-day correlation (fast and reactive, but noisy); the thick orange line is the 90-day (smooth, slower to turn).</a:t>
            </a:r>
          </a:p>
          <a:p>
            <a:pPr marL="0" marR="0" lvl="0" indent="0" algn="l" defTabSz="457200" rtl="0" eaLnBrk="1" fontAlgn="auto" latinLnBrk="0" hangingPunct="1">
              <a:lnSpc>
                <a:spcPct val="100000"/>
              </a:lnSpc>
              <a:spcBef>
                <a:spcPts val="0"/>
              </a:spcBef>
              <a:spcAft>
                <a:spcPts val="200"/>
              </a:spcAft>
              <a:buClrTx/>
              <a:buSzTx/>
              <a:buFontTx/>
              <a:buNone/>
              <a:tabLst/>
              <a:defRPr/>
            </a:pPr>
            <a:r>
              <a:rPr kumimoji="0" sz="1400" b="1" i="0" u="none" strike="noStrike" kern="1200" cap="none" spc="0" normalizeH="0" baseline="0" noProof="0">
                <a:ln>
                  <a:noFill/>
                </a:ln>
                <a:solidFill>
                  <a:srgbClr val="A51C30"/>
                </a:solidFill>
                <a:effectLst/>
                <a:uLnTx/>
                <a:uFillTx/>
                <a:latin typeface="Arial"/>
                <a:ea typeface="+mn-ea"/>
                <a:cs typeface="+mn-cs"/>
              </a:rPr>
              <a:t>•  </a:t>
            </a:r>
            <a:r>
              <a:rPr kumimoji="0" sz="1400" b="1" i="0" u="none" strike="noStrike" kern="1200" cap="none" spc="0" normalizeH="0" baseline="0" noProof="0">
                <a:ln>
                  <a:noFill/>
                </a:ln>
                <a:solidFill>
                  <a:srgbClr val="1E1E1E"/>
                </a:solidFill>
                <a:effectLst/>
                <a:uLnTx/>
                <a:uFillTx/>
                <a:latin typeface="Arial"/>
                <a:ea typeface="+mn-ea"/>
                <a:cs typeface="+mn-cs"/>
              </a:rPr>
              <a:t>It is never one number. </a:t>
            </a:r>
            <a:r>
              <a:rPr kumimoji="0" sz="1350" b="0" i="0" u="none" strike="noStrike" kern="1200" cap="none" spc="0" normalizeH="0" baseline="0" noProof="0">
                <a:ln>
                  <a:noFill/>
                </a:ln>
                <a:solidFill>
                  <a:srgbClr val="59636B"/>
                </a:solidFill>
                <a:effectLst/>
                <a:uLnTx/>
                <a:uFillTx/>
                <a:latin typeface="Arial"/>
                <a:ea typeface="+mn-ea"/>
                <a:cs typeface="+mn-cs"/>
              </a:rPr>
              <a:t>Over two years the pair swings from about -0.2 to +0.85. A single average correlation would hide all of this.</a:t>
            </a:r>
          </a:p>
          <a:p>
            <a:pPr marL="0" marR="0" lvl="0" indent="0" algn="l" defTabSz="457200" rtl="0" eaLnBrk="1" fontAlgn="auto" latinLnBrk="0" hangingPunct="1">
              <a:lnSpc>
                <a:spcPct val="100000"/>
              </a:lnSpc>
              <a:spcBef>
                <a:spcPts val="0"/>
              </a:spcBef>
              <a:spcAft>
                <a:spcPts val="200"/>
              </a:spcAft>
              <a:buClrTx/>
              <a:buSzTx/>
              <a:buFontTx/>
              <a:buNone/>
              <a:tabLst/>
              <a:defRPr/>
            </a:pPr>
            <a:r>
              <a:rPr kumimoji="0" sz="1400" b="1" i="0" u="none" strike="noStrike" kern="1200" cap="none" spc="0" normalizeH="0" baseline="0" noProof="0">
                <a:ln>
                  <a:noFill/>
                </a:ln>
                <a:solidFill>
                  <a:srgbClr val="A51C30"/>
                </a:solidFill>
                <a:effectLst/>
                <a:uLnTx/>
                <a:uFillTx/>
                <a:latin typeface="Arial"/>
                <a:ea typeface="+mn-ea"/>
                <a:cs typeface="+mn-cs"/>
              </a:rPr>
              <a:t>•  </a:t>
            </a:r>
            <a:r>
              <a:rPr kumimoji="0" sz="1400" b="1" i="0" u="none" strike="noStrike" kern="1200" cap="none" spc="0" normalizeH="0" baseline="0" noProof="0">
                <a:ln>
                  <a:noFill/>
                </a:ln>
                <a:solidFill>
                  <a:srgbClr val="1E1E1E"/>
                </a:solidFill>
                <a:effectLst/>
                <a:uLnTx/>
                <a:uFillTx/>
                <a:latin typeface="Arial"/>
                <a:ea typeface="+mn-ea"/>
                <a:cs typeface="+mn-cs"/>
              </a:rPr>
              <a:t>Watch the peaks. </a:t>
            </a:r>
            <a:r>
              <a:rPr kumimoji="0" sz="1350" b="0" i="0" u="none" strike="noStrike" kern="1200" cap="none" spc="0" normalizeH="0" baseline="0" noProof="0">
                <a:ln>
                  <a:noFill/>
                </a:ln>
                <a:solidFill>
                  <a:srgbClr val="59636B"/>
                </a:solidFill>
                <a:effectLst/>
                <a:uLnTx/>
                <a:uFillTx/>
                <a:latin typeface="Arial"/>
                <a:ea typeface="+mn-ea"/>
                <a:cs typeface="+mn-cs"/>
              </a:rPr>
              <a:t>Around mid-2025 both lines climb together toward 0.8: AAPL and JPM move almost as one, so holding both adds little diversification just then.</a:t>
            </a:r>
          </a:p>
          <a:p>
            <a:pPr marL="0" marR="0" lvl="0" indent="0" algn="l" defTabSz="457200" rtl="0" eaLnBrk="1" fontAlgn="auto" latinLnBrk="0" hangingPunct="1">
              <a:lnSpc>
                <a:spcPct val="100000"/>
              </a:lnSpc>
              <a:spcBef>
                <a:spcPts val="0"/>
              </a:spcBef>
              <a:spcAft>
                <a:spcPts val="200"/>
              </a:spcAft>
              <a:buClrTx/>
              <a:buSzTx/>
              <a:buFontTx/>
              <a:buNone/>
              <a:tabLst/>
              <a:defRPr/>
            </a:pPr>
            <a:r>
              <a:rPr kumimoji="0" sz="1400" b="1" i="0" u="none" strike="noStrike" kern="1200" cap="none" spc="0" normalizeH="0" baseline="0" noProof="0">
                <a:ln>
                  <a:noFill/>
                </a:ln>
                <a:solidFill>
                  <a:srgbClr val="A51C30"/>
                </a:solidFill>
                <a:effectLst/>
                <a:uLnTx/>
                <a:uFillTx/>
                <a:latin typeface="Arial"/>
                <a:ea typeface="+mn-ea"/>
                <a:cs typeface="+mn-cs"/>
              </a:rPr>
              <a:t>•  </a:t>
            </a:r>
            <a:r>
              <a:rPr kumimoji="0" sz="1400" b="1" i="0" u="none" strike="noStrike" kern="1200" cap="none" spc="0" normalizeH="0" baseline="0" noProof="0">
                <a:ln>
                  <a:noFill/>
                </a:ln>
                <a:solidFill>
                  <a:srgbClr val="1E1E1E"/>
                </a:solidFill>
                <a:effectLst/>
                <a:uLnTx/>
                <a:uFillTx/>
                <a:latin typeface="Arial"/>
                <a:ea typeface="+mn-ea"/>
                <a:cs typeface="+mn-cs"/>
              </a:rPr>
              <a:t>Blue warns, orange confirms. </a:t>
            </a:r>
            <a:r>
              <a:rPr kumimoji="0" sz="1350" b="0" i="0" u="none" strike="noStrike" kern="1200" cap="none" spc="0" normalizeH="0" baseline="0" noProof="0">
                <a:ln>
                  <a:noFill/>
                </a:ln>
                <a:solidFill>
                  <a:srgbClr val="59636B"/>
                </a:solidFill>
                <a:effectLst/>
                <a:uLnTx/>
                <a:uFillTx/>
                <a:latin typeface="Arial"/>
                <a:ea typeface="+mn-ea"/>
                <a:cs typeface="+mn-cs"/>
              </a:rPr>
              <a:t>The blue line spikes early; the orange only shifts once a move persists, so it carries the calmer underlying story.</a:t>
            </a:r>
          </a:p>
          <a:p>
            <a:pPr marL="0" marR="0" lvl="0" indent="0" algn="l" defTabSz="457200" rtl="0" eaLnBrk="1" fontAlgn="auto" latinLnBrk="0" hangingPunct="1">
              <a:lnSpc>
                <a:spcPct val="100000"/>
              </a:lnSpc>
              <a:spcBef>
                <a:spcPts val="0"/>
              </a:spcBef>
              <a:spcAft>
                <a:spcPts val="200"/>
              </a:spcAft>
              <a:buClrTx/>
              <a:buSzTx/>
              <a:buFontTx/>
              <a:buNone/>
              <a:tabLst/>
              <a:defRPr/>
            </a:pPr>
            <a:r>
              <a:rPr kumimoji="0" sz="1400" b="1" i="0" u="none" strike="noStrike" kern="1200" cap="none" spc="0" normalizeH="0" baseline="0" noProof="0">
                <a:ln>
                  <a:noFill/>
                </a:ln>
                <a:solidFill>
                  <a:srgbClr val="A51C30"/>
                </a:solidFill>
                <a:effectLst/>
                <a:uLnTx/>
                <a:uFillTx/>
                <a:latin typeface="Arial"/>
                <a:ea typeface="+mn-ea"/>
                <a:cs typeface="+mn-cs"/>
              </a:rPr>
              <a:t>•  </a:t>
            </a:r>
            <a:r>
              <a:rPr kumimoji="0" sz="1400" b="1" i="0" u="none" strike="noStrike" kern="1200" cap="none" spc="0" normalizeH="0" baseline="0" noProof="0">
                <a:ln>
                  <a:noFill/>
                </a:ln>
                <a:solidFill>
                  <a:srgbClr val="1E1E1E"/>
                </a:solidFill>
                <a:effectLst/>
                <a:uLnTx/>
                <a:uFillTx/>
                <a:latin typeface="Arial"/>
                <a:ea typeface="+mn-ea"/>
                <a:cs typeface="+mn-cs"/>
              </a:rPr>
              <a:t>Orange starts late. </a:t>
            </a:r>
            <a:r>
              <a:rPr kumimoji="0" sz="1350" b="0" i="0" u="none" strike="noStrike" kern="1200" cap="none" spc="0" normalizeH="0" baseline="0" noProof="0">
                <a:ln>
                  <a:noFill/>
                </a:ln>
                <a:solidFill>
                  <a:srgbClr val="59636B"/>
                </a:solidFill>
                <a:effectLst/>
                <a:uLnTx/>
                <a:uFillTx/>
                <a:latin typeface="Arial"/>
                <a:ea typeface="+mn-ea"/>
                <a:cs typeface="+mn-cs"/>
              </a:rPr>
              <a:t>The 90-day line begins about three months after the blue: a 90-day window needs 90 days of data before its first value.</a:t>
            </a:r>
          </a:p>
        </p:txBody>
      </p:sp>
      <p:sp>
        <p:nvSpPr>
          <p:cNvPr id="7" name="Rectangle 6"/>
          <p:cNvSpPr/>
          <p:nvPr/>
        </p:nvSpPr>
        <p:spPr>
          <a:xfrm>
            <a:off x="502920" y="5989320"/>
            <a:ext cx="11201400" cy="566928"/>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lIns="18288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A51C30"/>
                </a:solidFill>
                <a:effectLst/>
                <a:uLnTx/>
                <a:uFillTx/>
                <a:latin typeface="Arial"/>
                <a:ea typeface="+mn-ea"/>
                <a:cs typeface="+mn-cs"/>
              </a:rPr>
              <a:t>Neither window is right: </a:t>
            </a:r>
            <a:r>
              <a:rPr kumimoji="0" sz="1400" b="0" i="0" u="none" strike="noStrike" kern="1200" cap="none" spc="0" normalizeH="0" baseline="0" noProof="0">
                <a:ln>
                  <a:noFill/>
                </a:ln>
                <a:solidFill>
                  <a:srgbClr val="1E1E1E"/>
                </a:solidFill>
                <a:effectLst/>
                <a:uLnTx/>
                <a:uFillTx/>
                <a:latin typeface="Arial"/>
                <a:ea typeface="+mn-ea"/>
                <a:cs typeface="+mn-cs"/>
              </a:rPr>
              <a:t>watch the short one for early warnings, the long one to avoid overreacting to noise.</a:t>
            </a:r>
          </a:p>
        </p:txBody>
      </p:sp>
      <p:sp>
        <p:nvSpPr>
          <p:cNvPr id="8" name="Harvard Footer"/>
          <p:cNvSpPr txBox="1"/>
          <p:nvPr/>
        </p:nvSpPr>
        <p:spPr>
          <a:xfrm>
            <a:off x="137319" y="6583203"/>
            <a:ext cx="1326387" cy="274638"/>
          </a:xfrm>
          <a:prstGeom prst="rect">
            <a:avLst/>
          </a:prstGeom>
          <a:noFill/>
        </p:spPr>
        <p:txBody>
          <a:bodyPr wrap="non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8996A0"/>
                </a:solidFill>
                <a:effectLst/>
                <a:uLnTx/>
                <a:uFillTx/>
                <a:latin typeface="Arial"/>
                <a:ea typeface="+mn-ea"/>
                <a:cs typeface="+mn-cs"/>
              </a:rPr>
              <a:t>© 2026 Ted Kwartler</a:t>
            </a:r>
          </a:p>
        </p:txBody>
      </p:sp>
      <p:sp>
        <p:nvSpPr>
          <p:cNvPr id="9" name="Harvard Page Number"/>
          <p:cNvSpPr txBox="1"/>
          <p:nvPr/>
        </p:nvSpPr>
        <p:spPr>
          <a:xfrm>
            <a:off x="11800884" y="6446043"/>
            <a:ext cx="253492" cy="274638"/>
          </a:xfrm>
          <a:prstGeom prst="rect">
            <a:avLst/>
          </a:prstGeom>
          <a:noFill/>
        </p:spPr>
        <p:txBody>
          <a:bodyPr wrap="none" lIns="0" tIns="0" rIns="0" bIns="0">
            <a:no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E9A900-4829-4ED0-A72F-6B0202DAC587}" type="slidenum">
              <a:rPr kumimoji="0" lang="en-US" sz="1000" b="0" i="0" u="none" strike="noStrike" kern="1200" cap="none" spc="0" normalizeH="0" baseline="0" noProof="0">
                <a:ln>
                  <a:noFill/>
                </a:ln>
                <a:solidFill>
                  <a:srgbClr val="8996A0"/>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US" sz="1000" b="0" i="0" u="none" strike="noStrike" kern="1200" cap="none" spc="0" normalizeH="0" baseline="0" noProof="0">
              <a:ln>
                <a:noFill/>
              </a:ln>
              <a:solidFill>
                <a:srgbClr val="8996A0"/>
              </a:solidFill>
              <a:effectLst/>
              <a:uLnTx/>
              <a:uFillTx/>
              <a:latin typeface="Arial"/>
              <a:ea typeface="+mn-ea"/>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marL="0" indent="0">
              <a:buNone/>
            </a:pPr>
            <a:r>
              <a:rPr lang="en-US" sz="1200" b="1" kern="0" spc="200" dirty="0">
                <a:solidFill>
                  <a:srgbClr val="A51C30"/>
                </a:solidFill>
                <a:latin typeface="Arial" pitchFamily="34" charset="0"/>
                <a:ea typeface="Arial" pitchFamily="34" charset="-122"/>
                <a:cs typeface="Arial" pitchFamily="34" charset="-120"/>
              </a:rPr>
              <a:t>LIVE IN RSTUDIO</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marL="0" indent="0">
              <a:buNone/>
            </a:pPr>
            <a:r>
              <a:rPr lang="en-US" sz="2800" b="1" dirty="0">
                <a:solidFill>
                  <a:srgbClr val="1E1E1E"/>
                </a:solidFill>
                <a:latin typeface="Arial" pitchFamily="34" charset="0"/>
                <a:ea typeface="Arial" pitchFamily="34" charset="-122"/>
                <a:cs typeface="Arial" pitchFamily="34" charset="-120"/>
              </a:rPr>
              <a:t>Script E: run it</a:t>
            </a:r>
            <a:endParaRPr lang="en-US" sz="2800" dirty="0"/>
          </a:p>
        </p:txBody>
      </p:sp>
      <p:sp>
        <p:nvSpPr>
          <p:cNvPr id="4" name="Shape 2"/>
          <p:cNvSpPr/>
          <p:nvPr/>
        </p:nvSpPr>
        <p:spPr>
          <a:xfrm>
            <a:off x="640080" y="1600200"/>
            <a:ext cx="10881360" cy="3611880"/>
          </a:xfrm>
          <a:prstGeom prst="roundRect">
            <a:avLst>
              <a:gd name="adj" fmla="val 1519"/>
            </a:avLst>
          </a:prstGeom>
          <a:solidFill>
            <a:srgbClr val="1E1E1E"/>
          </a:solidFill>
          <a:ln/>
        </p:spPr>
      </p:sp>
      <p:sp>
        <p:nvSpPr>
          <p:cNvPr id="5" name="Shape 3"/>
          <p:cNvSpPr/>
          <p:nvPr/>
        </p:nvSpPr>
        <p:spPr>
          <a:xfrm>
            <a:off x="914400" y="1828800"/>
            <a:ext cx="146304" cy="146304"/>
          </a:xfrm>
          <a:prstGeom prst="ellipse">
            <a:avLst/>
          </a:prstGeom>
          <a:solidFill>
            <a:srgbClr val="A51C30"/>
          </a:solidFill>
          <a:ln/>
        </p:spPr>
      </p:sp>
      <p:sp>
        <p:nvSpPr>
          <p:cNvPr id="6" name="Shape 4"/>
          <p:cNvSpPr/>
          <p:nvPr/>
        </p:nvSpPr>
        <p:spPr>
          <a:xfrm>
            <a:off x="1170432" y="1828800"/>
            <a:ext cx="146304" cy="146304"/>
          </a:xfrm>
          <a:prstGeom prst="ellipse">
            <a:avLst/>
          </a:prstGeom>
          <a:solidFill>
            <a:srgbClr val="C4961A"/>
          </a:solidFill>
          <a:ln/>
        </p:spPr>
      </p:sp>
      <p:sp>
        <p:nvSpPr>
          <p:cNvPr id="7" name="Shape 5"/>
          <p:cNvSpPr/>
          <p:nvPr/>
        </p:nvSpPr>
        <p:spPr>
          <a:xfrm>
            <a:off x="1426464" y="1828800"/>
            <a:ext cx="146304" cy="146304"/>
          </a:xfrm>
          <a:prstGeom prst="ellipse">
            <a:avLst/>
          </a:prstGeom>
          <a:solidFill>
            <a:srgbClr val="1D9E75"/>
          </a:solidFill>
          <a:ln/>
        </p:spPr>
      </p:sp>
      <p:sp>
        <p:nvSpPr>
          <p:cNvPr id="8" name="Text 6"/>
          <p:cNvSpPr/>
          <p:nvPr/>
        </p:nvSpPr>
        <p:spPr>
          <a:xfrm>
            <a:off x="2011680" y="1764792"/>
            <a:ext cx="5486400" cy="274320"/>
          </a:xfrm>
          <a:prstGeom prst="rect">
            <a:avLst/>
          </a:prstGeom>
          <a:noFill/>
          <a:ln/>
        </p:spPr>
        <p:txBody>
          <a:bodyPr wrap="square" lIns="0" tIns="0" rIns="0" bIns="0" rtlCol="0" anchor="ctr"/>
          <a:lstStyle/>
          <a:p>
            <a:pPr marL="0" indent="0">
              <a:buNone/>
            </a:pPr>
            <a:r>
              <a:rPr lang="en-US" sz="1100" b="1" kern="0" spc="200" dirty="0">
                <a:solidFill>
                  <a:srgbClr val="8996A0"/>
                </a:solidFill>
                <a:latin typeface="Arial" pitchFamily="34" charset="0"/>
                <a:ea typeface="Arial" pitchFamily="34" charset="-122"/>
                <a:cs typeface="Arial" pitchFamily="34" charset="-120"/>
              </a:rPr>
              <a:t>LIVE CODE STEP THROUGH</a:t>
            </a:r>
            <a:endParaRPr lang="en-US" sz="1100" dirty="0"/>
          </a:p>
        </p:txBody>
      </p:sp>
      <p:sp>
        <p:nvSpPr>
          <p:cNvPr id="9" name="Text 7"/>
          <p:cNvSpPr/>
          <p:nvPr/>
        </p:nvSpPr>
        <p:spPr>
          <a:xfrm>
            <a:off x="914400" y="2331720"/>
            <a:ext cx="10332720" cy="685800"/>
          </a:xfrm>
          <a:prstGeom prst="rect">
            <a:avLst/>
          </a:prstGeom>
          <a:noFill/>
          <a:ln/>
        </p:spPr>
        <p:txBody>
          <a:bodyPr wrap="square" lIns="0" tIns="0" rIns="0" bIns="0" rtlCol="0" anchor="t"/>
          <a:lstStyle/>
          <a:p>
            <a:pPr marL="0" indent="0">
              <a:lnSpc>
                <a:spcPct val="100000"/>
              </a:lnSpc>
              <a:buNone/>
            </a:pPr>
            <a:r>
              <a:rPr lang="en-US" sz="1500" b="1" dirty="0">
                <a:solidFill>
                  <a:srgbClr val="4E84C4"/>
                </a:solidFill>
                <a:latin typeface="Arial" pitchFamily="34" charset="0"/>
                <a:ea typeface="Arial" pitchFamily="34" charset="-122"/>
                <a:cs typeface="Arial" pitchFamily="34" charset="-120"/>
              </a:rPr>
              <a:t>&gt; </a:t>
            </a:r>
            <a:r>
              <a:rPr lang="en-US" sz="1500" dirty="0">
                <a:solidFill>
                  <a:srgbClr val="F3F3F1"/>
                </a:solidFill>
                <a:latin typeface="Arial" pitchFamily="34" charset="0"/>
                <a:ea typeface="Arial" pitchFamily="34" charset="-122"/>
                <a:cs typeface="Arial" pitchFamily="34" charset="-120"/>
              </a:rPr>
              <a:t>Build all ten pairs, compute both windows in the loop.</a:t>
            </a:r>
            <a:endParaRPr lang="en-US" sz="1500" dirty="0"/>
          </a:p>
        </p:txBody>
      </p:sp>
      <p:sp>
        <p:nvSpPr>
          <p:cNvPr id="10" name="Text 8"/>
          <p:cNvSpPr/>
          <p:nvPr/>
        </p:nvSpPr>
        <p:spPr>
          <a:xfrm>
            <a:off x="914400" y="3172968"/>
            <a:ext cx="10332720" cy="685800"/>
          </a:xfrm>
          <a:prstGeom prst="rect">
            <a:avLst/>
          </a:prstGeom>
          <a:noFill/>
          <a:ln/>
        </p:spPr>
        <p:txBody>
          <a:bodyPr wrap="square" lIns="0" tIns="0" rIns="0" bIns="0" rtlCol="0" anchor="t"/>
          <a:lstStyle/>
          <a:p>
            <a:pPr marL="0" indent="0">
              <a:lnSpc>
                <a:spcPct val="100000"/>
              </a:lnSpc>
              <a:buNone/>
            </a:pPr>
            <a:r>
              <a:rPr lang="en-US" sz="1500" b="1" dirty="0">
                <a:solidFill>
                  <a:srgbClr val="4E84C4"/>
                </a:solidFill>
                <a:latin typeface="Arial" pitchFamily="34" charset="0"/>
                <a:ea typeface="Arial" pitchFamily="34" charset="-122"/>
                <a:cs typeface="Arial" pitchFamily="34" charset="-120"/>
              </a:rPr>
              <a:t>&gt; </a:t>
            </a:r>
            <a:r>
              <a:rPr lang="en-US" sz="1500" dirty="0">
                <a:solidFill>
                  <a:srgbClr val="F3F3F1"/>
                </a:solidFill>
                <a:latin typeface="Arial" pitchFamily="34" charset="0"/>
                <a:ea typeface="Arial" pitchFamily="34" charset="-122"/>
                <a:cs typeface="Arial" pitchFamily="34" charset="-120"/>
              </a:rPr>
              <a:t>Plot 1: all pairs at the short window, read the moving band.</a:t>
            </a:r>
            <a:endParaRPr lang="en-US" sz="1500" dirty="0"/>
          </a:p>
        </p:txBody>
      </p:sp>
      <p:sp>
        <p:nvSpPr>
          <p:cNvPr id="11" name="Text 9"/>
          <p:cNvSpPr/>
          <p:nvPr/>
        </p:nvSpPr>
        <p:spPr>
          <a:xfrm>
            <a:off x="914400" y="4014216"/>
            <a:ext cx="10332720" cy="685800"/>
          </a:xfrm>
          <a:prstGeom prst="rect">
            <a:avLst/>
          </a:prstGeom>
          <a:noFill/>
          <a:ln/>
        </p:spPr>
        <p:txBody>
          <a:bodyPr wrap="square" lIns="0" tIns="0" rIns="0" bIns="0" rtlCol="0" anchor="t"/>
          <a:lstStyle/>
          <a:p>
            <a:pPr marL="0" indent="0">
              <a:lnSpc>
                <a:spcPct val="100000"/>
              </a:lnSpc>
              <a:buNone/>
            </a:pPr>
            <a:r>
              <a:rPr lang="en-US" sz="1500" b="1" dirty="0">
                <a:solidFill>
                  <a:srgbClr val="4E84C4"/>
                </a:solidFill>
                <a:latin typeface="Arial" pitchFamily="34" charset="0"/>
                <a:ea typeface="Arial" pitchFamily="34" charset="-122"/>
                <a:cs typeface="Arial" pitchFamily="34" charset="-120"/>
              </a:rPr>
              <a:t>&gt; </a:t>
            </a:r>
            <a:r>
              <a:rPr lang="en-US" sz="1500" dirty="0">
                <a:solidFill>
                  <a:srgbClr val="F3F3F1"/>
                </a:solidFill>
                <a:latin typeface="Arial" pitchFamily="34" charset="0"/>
                <a:ea typeface="Arial" pitchFamily="34" charset="-122"/>
                <a:cs typeface="Arial" pitchFamily="34" charset="-120"/>
              </a:rPr>
              <a:t>Plot 2: one pair at both windows, the reactive versus smooth tradeoff.</a:t>
            </a:r>
            <a:endParaRPr lang="en-US" sz="1500" dirty="0"/>
          </a:p>
        </p:txBody>
      </p:sp>
      <p:sp>
        <p:nvSpPr>
          <p:cNvPr id="14"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5" name="Harvard Page Number"/>
          <p:cNvSpPr txBox="1"/>
          <p:nvPr/>
        </p:nvSpPr>
        <p:spPr>
          <a:xfrm>
            <a:off x="11730577" y="6446043"/>
            <a:ext cx="324104" cy="274638"/>
          </a:xfrm>
          <a:prstGeom prst="rect">
            <a:avLst/>
          </a:prstGeom>
          <a:noFill/>
        </p:spPr>
        <p:txBody>
          <a:bodyPr wrap="none" lIns="0" tIns="0" rIns="0" bIns="0">
            <a:noAutofit/>
          </a:bodyPr>
          <a:lstStyle/>
          <a:p>
            <a:pPr algn="r"/>
            <a:fld id="{E3FFD6A9-1386-4E19-B456-D58F84B642CF}" type="slidenum">
              <a:rPr lang="en-US" sz="1000">
                <a:solidFill>
                  <a:srgbClr val="8996A0"/>
                </a:solidFill>
                <a:latin typeface="Arial"/>
              </a:rPr>
              <a:t>25</a:t>
            </a:fld>
            <a:endParaRPr lang="en-US" sz="1000">
              <a:solidFill>
                <a:srgbClr val="8996A0"/>
              </a:solidFill>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marL="0" indent="0">
              <a:buNone/>
            </a:pPr>
            <a:r>
              <a:rPr lang="en-US" sz="1200" b="1" kern="0" spc="200" dirty="0">
                <a:solidFill>
                  <a:srgbClr val="A51C30"/>
                </a:solidFill>
                <a:latin typeface="Arial" pitchFamily="34" charset="0"/>
                <a:ea typeface="Arial" pitchFamily="34" charset="-122"/>
                <a:cs typeface="Arial" pitchFamily="34" charset="-120"/>
              </a:rPr>
              <a:t>RETURN PER RISK, OVER TIME</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marL="0" indent="0">
              <a:buNone/>
            </a:pPr>
            <a:r>
              <a:rPr lang="en-US" sz="2800" b="1" dirty="0">
                <a:solidFill>
                  <a:srgbClr val="1E1E1E"/>
                </a:solidFill>
                <a:latin typeface="Arial" pitchFamily="34" charset="0"/>
                <a:ea typeface="Arial" pitchFamily="34" charset="-122"/>
                <a:cs typeface="Arial" pitchFamily="34" charset="-120"/>
              </a:rPr>
              <a:t>Script F: rolling Sharpe</a:t>
            </a:r>
            <a:endParaRPr lang="en-US" sz="2800" dirty="0"/>
          </a:p>
        </p:txBody>
      </p:sp>
      <p:sp>
        <p:nvSpPr>
          <p:cNvPr id="4" name="Shape 2"/>
          <p:cNvSpPr/>
          <p:nvPr/>
        </p:nvSpPr>
        <p:spPr>
          <a:xfrm>
            <a:off x="640080" y="1600200"/>
            <a:ext cx="3749040" cy="3977640"/>
          </a:xfrm>
          <a:prstGeom prst="roundRect">
            <a:avLst>
              <a:gd name="adj" fmla="val 1951"/>
            </a:avLst>
          </a:prstGeom>
          <a:solidFill>
            <a:srgbClr val="293352"/>
          </a:solidFill>
          <a:ln/>
        </p:spPr>
      </p:sp>
      <p:sp>
        <p:nvSpPr>
          <p:cNvPr id="5" name="Shape 3"/>
          <p:cNvSpPr/>
          <p:nvPr/>
        </p:nvSpPr>
        <p:spPr>
          <a:xfrm>
            <a:off x="914400" y="1874520"/>
            <a:ext cx="640080" cy="640080"/>
          </a:xfrm>
          <a:prstGeom prst="roundRect">
            <a:avLst>
              <a:gd name="adj" fmla="val 12857"/>
            </a:avLst>
          </a:prstGeom>
          <a:solidFill>
            <a:srgbClr val="A51C30"/>
          </a:solidFill>
          <a:ln/>
        </p:spPr>
      </p:sp>
      <p:pic>
        <p:nvPicPr>
          <p:cNvPr id="6" name="Image 0" descr="preencoded.png"/>
          <p:cNvPicPr>
            <a:picLocks noChangeAspect="1"/>
          </p:cNvPicPr>
          <p:nvPr/>
        </p:nvPicPr>
        <p:blipFill>
          <a:blip r:embed="rId3"/>
          <a:stretch>
            <a:fillRect/>
          </a:stretch>
        </p:blipFill>
        <p:spPr>
          <a:xfrm>
            <a:off x="1058418" y="2018538"/>
            <a:ext cx="352044" cy="352044"/>
          </a:xfrm>
          <a:prstGeom prst="rect">
            <a:avLst/>
          </a:prstGeom>
        </p:spPr>
      </p:pic>
      <p:sp>
        <p:nvSpPr>
          <p:cNvPr id="7" name="Text 4"/>
          <p:cNvSpPr/>
          <p:nvPr/>
        </p:nvSpPr>
        <p:spPr>
          <a:xfrm>
            <a:off x="914400" y="2697480"/>
            <a:ext cx="3200400" cy="1188720"/>
          </a:xfrm>
          <a:prstGeom prst="rect">
            <a:avLst/>
          </a:prstGeom>
          <a:noFill/>
          <a:ln/>
        </p:spPr>
        <p:txBody>
          <a:bodyPr wrap="square" lIns="0" tIns="0" rIns="0" bIns="0" rtlCol="0" anchor="t"/>
          <a:lstStyle/>
          <a:p>
            <a:pPr marL="0" indent="0">
              <a:buNone/>
            </a:pPr>
            <a:r>
              <a:rPr lang="en-US" sz="2200" b="1" dirty="0">
                <a:solidFill>
                  <a:srgbClr val="FFFFFF"/>
                </a:solidFill>
                <a:latin typeface="Arial" pitchFamily="34" charset="0"/>
                <a:ea typeface="Arial" pitchFamily="34" charset="-122"/>
                <a:cs typeface="Arial" pitchFamily="34" charset="-120"/>
              </a:rPr>
              <a:t>The same idea, </a:t>
            </a:r>
            <a:r>
              <a:rPr lang="en-US" sz="2200" b="1" strike="sngStrike" dirty="0">
                <a:solidFill>
                  <a:srgbClr val="FFFFFF"/>
                </a:solidFill>
                <a:latin typeface="Arial" pitchFamily="34" charset="0"/>
                <a:ea typeface="Arial" pitchFamily="34" charset="-122"/>
                <a:cs typeface="Arial" pitchFamily="34" charset="-120"/>
              </a:rPr>
              <a:t>now moving </a:t>
            </a:r>
            <a:r>
              <a:rPr lang="en-US" sz="2200" b="1" dirty="0">
                <a:solidFill>
                  <a:srgbClr val="FFFFFF"/>
                </a:solidFill>
                <a:latin typeface="Arial" pitchFamily="34" charset="0"/>
                <a:ea typeface="Arial" pitchFamily="34" charset="-122"/>
                <a:cs typeface="Arial" pitchFamily="34" charset="-120"/>
              </a:rPr>
              <a:t>still moving!</a:t>
            </a:r>
            <a:endParaRPr lang="en-US" sz="2200" dirty="0"/>
          </a:p>
        </p:txBody>
      </p:sp>
      <p:sp>
        <p:nvSpPr>
          <p:cNvPr id="8" name="Text 5"/>
          <p:cNvSpPr/>
          <p:nvPr/>
        </p:nvSpPr>
        <p:spPr>
          <a:xfrm>
            <a:off x="914400" y="3931920"/>
            <a:ext cx="3200400" cy="1371600"/>
          </a:xfrm>
          <a:prstGeom prst="rect">
            <a:avLst/>
          </a:prstGeom>
          <a:noFill/>
          <a:ln/>
        </p:spPr>
        <p:txBody>
          <a:bodyPr wrap="square" lIns="0" tIns="0" rIns="0" bIns="0" rtlCol="0" anchor="t"/>
          <a:lstStyle/>
          <a:p>
            <a:pPr marL="0" indent="0">
              <a:buNone/>
            </a:pPr>
            <a:r>
              <a:rPr lang="en-US" sz="1350" dirty="0">
                <a:solidFill>
                  <a:srgbClr val="F3F3F1"/>
                </a:solidFill>
                <a:latin typeface="Arial" pitchFamily="34" charset="0"/>
                <a:ea typeface="Arial" pitchFamily="34" charset="-122"/>
                <a:cs typeface="Arial" pitchFamily="34" charset="-120"/>
              </a:rPr>
              <a:t>The return per risk measure from Session 1, tracked through time instead of as one number.</a:t>
            </a:r>
            <a:endParaRPr lang="en-US" sz="1350" dirty="0"/>
          </a:p>
        </p:txBody>
      </p:sp>
      <p:sp>
        <p:nvSpPr>
          <p:cNvPr id="9" name="Shape 6"/>
          <p:cNvSpPr/>
          <p:nvPr/>
        </p:nvSpPr>
        <p:spPr>
          <a:xfrm>
            <a:off x="4663440" y="1600200"/>
            <a:ext cx="6858000" cy="1207008"/>
          </a:xfrm>
          <a:prstGeom prst="roundRect">
            <a:avLst>
              <a:gd name="adj" fmla="val 4545"/>
            </a:avLst>
          </a:prstGeom>
          <a:solidFill>
            <a:srgbClr val="F3F3F1"/>
          </a:solidFill>
          <a:ln/>
        </p:spPr>
      </p:sp>
      <p:sp>
        <p:nvSpPr>
          <p:cNvPr id="10" name="Shape 7"/>
          <p:cNvSpPr/>
          <p:nvPr/>
        </p:nvSpPr>
        <p:spPr>
          <a:xfrm>
            <a:off x="4892040" y="1952244"/>
            <a:ext cx="502920" cy="502920"/>
          </a:xfrm>
          <a:prstGeom prst="roundRect">
            <a:avLst>
              <a:gd name="adj" fmla="val 16364"/>
            </a:avLst>
          </a:prstGeom>
          <a:solidFill>
            <a:srgbClr val="A51C30"/>
          </a:solidFill>
          <a:ln/>
        </p:spPr>
      </p:sp>
      <p:pic>
        <p:nvPicPr>
          <p:cNvPr id="11" name="Image 1" descr="preencoded.png"/>
          <p:cNvPicPr>
            <a:picLocks noChangeAspect="1"/>
          </p:cNvPicPr>
          <p:nvPr/>
        </p:nvPicPr>
        <p:blipFill>
          <a:blip r:embed="rId4"/>
          <a:stretch>
            <a:fillRect/>
          </a:stretch>
        </p:blipFill>
        <p:spPr>
          <a:xfrm>
            <a:off x="5005197" y="2065401"/>
            <a:ext cx="276606" cy="276606"/>
          </a:xfrm>
          <a:prstGeom prst="rect">
            <a:avLst/>
          </a:prstGeom>
        </p:spPr>
      </p:pic>
      <p:sp>
        <p:nvSpPr>
          <p:cNvPr id="12" name="Text 8"/>
          <p:cNvSpPr/>
          <p:nvPr/>
        </p:nvSpPr>
        <p:spPr>
          <a:xfrm>
            <a:off x="5623560" y="1764792"/>
            <a:ext cx="5669280" cy="932688"/>
          </a:xfrm>
          <a:prstGeom prst="rect">
            <a:avLst/>
          </a:prstGeom>
          <a:noFill/>
          <a:ln/>
        </p:spPr>
        <p:txBody>
          <a:bodyPr wrap="square" lIns="0" tIns="0" rIns="0" bIns="0" rtlCol="0" anchor="ctr"/>
          <a:lstStyle/>
          <a:p>
            <a:pPr marL="0" indent="0">
              <a:lnSpc>
                <a:spcPct val="105000"/>
              </a:lnSpc>
              <a:buNone/>
            </a:pPr>
            <a:r>
              <a:rPr lang="en-US" sz="1500" b="1" dirty="0">
                <a:solidFill>
                  <a:srgbClr val="293352"/>
                </a:solidFill>
                <a:latin typeface="Arial" pitchFamily="34" charset="0"/>
                <a:ea typeface="Arial" pitchFamily="34" charset="-122"/>
                <a:cs typeface="Arial" pitchFamily="34" charset="-120"/>
              </a:rPr>
              <a:t>Watch for the dip
</a:t>
            </a:r>
            <a:r>
              <a:rPr lang="en-US" sz="1300" dirty="0">
                <a:solidFill>
                  <a:srgbClr val="1E1E1E"/>
                </a:solidFill>
                <a:latin typeface="Arial" pitchFamily="34" charset="0"/>
                <a:ea typeface="Arial" pitchFamily="34" charset="-122"/>
                <a:cs typeface="Arial" pitchFamily="34" charset="-120"/>
              </a:rPr>
              <a:t>A rolling Sharpe near zero means the portfolio stopped paying for the risk it carried.</a:t>
            </a:r>
            <a:endParaRPr lang="en-US" sz="1500" dirty="0"/>
          </a:p>
        </p:txBody>
      </p:sp>
      <p:sp>
        <p:nvSpPr>
          <p:cNvPr id="13" name="Shape 9"/>
          <p:cNvSpPr/>
          <p:nvPr/>
        </p:nvSpPr>
        <p:spPr>
          <a:xfrm>
            <a:off x="4663440" y="2990088"/>
            <a:ext cx="6858000" cy="1207008"/>
          </a:xfrm>
          <a:prstGeom prst="roundRect">
            <a:avLst>
              <a:gd name="adj" fmla="val 4545"/>
            </a:avLst>
          </a:prstGeom>
          <a:solidFill>
            <a:srgbClr val="F3F3F1"/>
          </a:solidFill>
          <a:ln/>
        </p:spPr>
      </p:sp>
      <p:sp>
        <p:nvSpPr>
          <p:cNvPr id="14" name="Shape 10"/>
          <p:cNvSpPr/>
          <p:nvPr/>
        </p:nvSpPr>
        <p:spPr>
          <a:xfrm>
            <a:off x="4892040" y="3342132"/>
            <a:ext cx="502920" cy="502920"/>
          </a:xfrm>
          <a:prstGeom prst="roundRect">
            <a:avLst>
              <a:gd name="adj" fmla="val 16364"/>
            </a:avLst>
          </a:prstGeom>
          <a:solidFill>
            <a:srgbClr val="A51C30"/>
          </a:solidFill>
          <a:ln/>
        </p:spPr>
      </p:sp>
      <p:pic>
        <p:nvPicPr>
          <p:cNvPr id="15" name="Image 2" descr="preencoded.png"/>
          <p:cNvPicPr>
            <a:picLocks noChangeAspect="1"/>
          </p:cNvPicPr>
          <p:nvPr/>
        </p:nvPicPr>
        <p:blipFill>
          <a:blip r:embed="rId5"/>
          <a:stretch>
            <a:fillRect/>
          </a:stretch>
        </p:blipFill>
        <p:spPr>
          <a:xfrm>
            <a:off x="5005197" y="3455289"/>
            <a:ext cx="276606" cy="276606"/>
          </a:xfrm>
          <a:prstGeom prst="rect">
            <a:avLst/>
          </a:prstGeom>
        </p:spPr>
      </p:pic>
      <p:sp>
        <p:nvSpPr>
          <p:cNvPr id="16" name="Text 11"/>
          <p:cNvSpPr/>
          <p:nvPr/>
        </p:nvSpPr>
        <p:spPr>
          <a:xfrm>
            <a:off x="5623560" y="3154680"/>
            <a:ext cx="5669280" cy="932688"/>
          </a:xfrm>
          <a:prstGeom prst="rect">
            <a:avLst/>
          </a:prstGeom>
          <a:noFill/>
          <a:ln/>
        </p:spPr>
        <p:txBody>
          <a:bodyPr wrap="square" lIns="0" tIns="0" rIns="0" bIns="0" rtlCol="0" anchor="ctr"/>
          <a:lstStyle/>
          <a:p>
            <a:pPr marL="0" indent="0">
              <a:lnSpc>
                <a:spcPct val="105000"/>
              </a:lnSpc>
              <a:buNone/>
            </a:pPr>
            <a:r>
              <a:rPr lang="en-US" sz="1500" b="1" dirty="0">
                <a:solidFill>
                  <a:srgbClr val="293352"/>
                </a:solidFill>
                <a:latin typeface="Arial" pitchFamily="34" charset="0"/>
                <a:ea typeface="Arial" pitchFamily="34" charset="-122"/>
                <a:cs typeface="Arial" pitchFamily="34" charset="-120"/>
              </a:rPr>
              <a:t>Built from parts
</a:t>
            </a:r>
            <a:r>
              <a:rPr lang="en-US" sz="1300" dirty="0">
                <a:solidFill>
                  <a:srgbClr val="1E1E1E"/>
                </a:solidFill>
                <a:latin typeface="Arial" pitchFamily="34" charset="0"/>
                <a:ea typeface="Arial" pitchFamily="34" charset="-122"/>
                <a:cs typeface="Arial" pitchFamily="34" charset="-120"/>
              </a:rPr>
              <a:t>A rolling mean, a rolling standard deviation, then annualized. Each piece stays visible.</a:t>
            </a:r>
            <a:endParaRPr lang="en-US" sz="1500" dirty="0"/>
          </a:p>
        </p:txBody>
      </p:sp>
      <p:sp>
        <p:nvSpPr>
          <p:cNvPr id="17" name="Shape 12"/>
          <p:cNvSpPr/>
          <p:nvPr/>
        </p:nvSpPr>
        <p:spPr>
          <a:xfrm>
            <a:off x="4663440" y="4379976"/>
            <a:ext cx="6858000" cy="1207008"/>
          </a:xfrm>
          <a:prstGeom prst="roundRect">
            <a:avLst>
              <a:gd name="adj" fmla="val 4545"/>
            </a:avLst>
          </a:prstGeom>
          <a:solidFill>
            <a:srgbClr val="F3F3F1"/>
          </a:solidFill>
          <a:ln/>
        </p:spPr>
      </p:sp>
      <p:sp>
        <p:nvSpPr>
          <p:cNvPr id="18" name="Shape 13"/>
          <p:cNvSpPr/>
          <p:nvPr/>
        </p:nvSpPr>
        <p:spPr>
          <a:xfrm>
            <a:off x="4892040" y="4732020"/>
            <a:ext cx="502920" cy="502920"/>
          </a:xfrm>
          <a:prstGeom prst="roundRect">
            <a:avLst>
              <a:gd name="adj" fmla="val 16364"/>
            </a:avLst>
          </a:prstGeom>
          <a:solidFill>
            <a:srgbClr val="A51C30"/>
          </a:solidFill>
          <a:ln/>
        </p:spPr>
      </p:sp>
      <p:pic>
        <p:nvPicPr>
          <p:cNvPr id="19" name="Image 3" descr="preencoded.png"/>
          <p:cNvPicPr>
            <a:picLocks noChangeAspect="1"/>
          </p:cNvPicPr>
          <p:nvPr/>
        </p:nvPicPr>
        <p:blipFill>
          <a:blip r:embed="rId6"/>
          <a:stretch>
            <a:fillRect/>
          </a:stretch>
        </p:blipFill>
        <p:spPr>
          <a:xfrm>
            <a:off x="5005197" y="4845177"/>
            <a:ext cx="276606" cy="276606"/>
          </a:xfrm>
          <a:prstGeom prst="rect">
            <a:avLst/>
          </a:prstGeom>
        </p:spPr>
      </p:pic>
      <p:sp>
        <p:nvSpPr>
          <p:cNvPr id="20" name="Text 14"/>
          <p:cNvSpPr/>
          <p:nvPr/>
        </p:nvSpPr>
        <p:spPr>
          <a:xfrm>
            <a:off x="5623560" y="4544568"/>
            <a:ext cx="5669280" cy="932688"/>
          </a:xfrm>
          <a:prstGeom prst="rect">
            <a:avLst/>
          </a:prstGeom>
          <a:noFill/>
          <a:ln/>
        </p:spPr>
        <p:txBody>
          <a:bodyPr wrap="square" lIns="0" tIns="0" rIns="0" bIns="0" rtlCol="0" anchor="ctr"/>
          <a:lstStyle/>
          <a:p>
            <a:pPr marL="0" indent="0">
              <a:lnSpc>
                <a:spcPct val="105000"/>
              </a:lnSpc>
              <a:buNone/>
            </a:pPr>
            <a:r>
              <a:rPr lang="en-US" sz="1500" b="1" dirty="0">
                <a:solidFill>
                  <a:srgbClr val="293352"/>
                </a:solidFill>
                <a:latin typeface="Arial" pitchFamily="34" charset="0"/>
                <a:ea typeface="Arial" pitchFamily="34" charset="-122"/>
                <a:cs typeface="Arial" pitchFamily="34" charset="-120"/>
              </a:rPr>
              <a:t>Movement over a single figure
</a:t>
            </a:r>
            <a:r>
              <a:rPr lang="en-US" sz="1300" dirty="0">
                <a:solidFill>
                  <a:srgbClr val="1E1E1E"/>
                </a:solidFill>
                <a:latin typeface="Arial" pitchFamily="34" charset="0"/>
                <a:ea typeface="Arial" pitchFamily="34" charset="-122"/>
                <a:cs typeface="Arial" pitchFamily="34" charset="-120"/>
              </a:rPr>
              <a:t>We watch it change rather than trust one all in Sharpe number.</a:t>
            </a:r>
            <a:endParaRPr lang="en-US" sz="1500" dirty="0"/>
          </a:p>
        </p:txBody>
      </p:sp>
      <p:sp>
        <p:nvSpPr>
          <p:cNvPr id="21"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22" name="Harvard Page Number"/>
          <p:cNvSpPr txBox="1"/>
          <p:nvPr/>
        </p:nvSpPr>
        <p:spPr>
          <a:xfrm>
            <a:off x="11730577" y="6446043"/>
            <a:ext cx="324104" cy="274638"/>
          </a:xfrm>
          <a:prstGeom prst="rect">
            <a:avLst/>
          </a:prstGeom>
          <a:noFill/>
        </p:spPr>
        <p:txBody>
          <a:bodyPr wrap="none" lIns="0" tIns="0" rIns="0" bIns="0">
            <a:noAutofit/>
          </a:bodyPr>
          <a:lstStyle/>
          <a:p>
            <a:pPr algn="r"/>
            <a:fld id="{5724E4C4-EE1F-4DB8-BB34-C965E70D00DA}" type="slidenum">
              <a:rPr lang="en-US" sz="1000">
                <a:solidFill>
                  <a:srgbClr val="8996A0"/>
                </a:solidFill>
                <a:latin typeface="Arial"/>
              </a:rPr>
              <a:t>26</a:t>
            </a:fld>
            <a:endParaRPr lang="en-US" sz="1000">
              <a:solidFill>
                <a:srgbClr val="8996A0"/>
              </a:solidFill>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marL="0" indent="0">
              <a:buNone/>
            </a:pPr>
            <a:r>
              <a:rPr lang="en-US" sz="1200" b="1" kern="0" spc="200" dirty="0">
                <a:solidFill>
                  <a:srgbClr val="A51C30"/>
                </a:solidFill>
                <a:latin typeface="Arial" pitchFamily="34" charset="0"/>
                <a:ea typeface="Arial" pitchFamily="34" charset="-122"/>
                <a:cs typeface="Arial" pitchFamily="34" charset="-120"/>
              </a:rPr>
              <a:t>MARKET SENSITIVITY</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marL="0" indent="0">
              <a:buNone/>
            </a:pPr>
            <a:r>
              <a:rPr lang="en-US" sz="2800" b="1" dirty="0">
                <a:solidFill>
                  <a:srgbClr val="1E1E1E"/>
                </a:solidFill>
                <a:latin typeface="Arial" pitchFamily="34" charset="0"/>
                <a:ea typeface="Arial" pitchFamily="34" charset="-122"/>
                <a:cs typeface="Arial" pitchFamily="34" charset="-120"/>
              </a:rPr>
              <a:t>Script F: rolling beta versus SPY</a:t>
            </a:r>
            <a:endParaRPr lang="en-US" sz="2800" dirty="0"/>
          </a:p>
        </p:txBody>
      </p:sp>
      <p:sp>
        <p:nvSpPr>
          <p:cNvPr id="4" name="Shape 2"/>
          <p:cNvSpPr/>
          <p:nvPr/>
        </p:nvSpPr>
        <p:spPr>
          <a:xfrm>
            <a:off x="640080" y="1600200"/>
            <a:ext cx="3749040" cy="3977640"/>
          </a:xfrm>
          <a:prstGeom prst="roundRect">
            <a:avLst>
              <a:gd name="adj" fmla="val 1951"/>
            </a:avLst>
          </a:prstGeom>
          <a:solidFill>
            <a:srgbClr val="293352"/>
          </a:solidFill>
          <a:ln/>
        </p:spPr>
      </p:sp>
      <p:sp>
        <p:nvSpPr>
          <p:cNvPr id="5" name="Shape 3"/>
          <p:cNvSpPr/>
          <p:nvPr/>
        </p:nvSpPr>
        <p:spPr>
          <a:xfrm>
            <a:off x="914400" y="1874520"/>
            <a:ext cx="640080" cy="640080"/>
          </a:xfrm>
          <a:prstGeom prst="roundRect">
            <a:avLst>
              <a:gd name="adj" fmla="val 12857"/>
            </a:avLst>
          </a:prstGeom>
          <a:solidFill>
            <a:srgbClr val="A51C30"/>
          </a:solidFill>
          <a:ln/>
        </p:spPr>
      </p:sp>
      <p:pic>
        <p:nvPicPr>
          <p:cNvPr id="6" name="Image 0" descr="preencoded.png"/>
          <p:cNvPicPr>
            <a:picLocks noChangeAspect="1"/>
          </p:cNvPicPr>
          <p:nvPr/>
        </p:nvPicPr>
        <p:blipFill>
          <a:blip r:embed="rId3"/>
          <a:stretch>
            <a:fillRect/>
          </a:stretch>
        </p:blipFill>
        <p:spPr>
          <a:xfrm>
            <a:off x="1058418" y="2018538"/>
            <a:ext cx="352044" cy="352044"/>
          </a:xfrm>
          <a:prstGeom prst="rect">
            <a:avLst/>
          </a:prstGeom>
        </p:spPr>
      </p:pic>
      <p:sp>
        <p:nvSpPr>
          <p:cNvPr id="7" name="Text 4"/>
          <p:cNvSpPr/>
          <p:nvPr/>
        </p:nvSpPr>
        <p:spPr>
          <a:xfrm>
            <a:off x="914400" y="2697480"/>
            <a:ext cx="3200400" cy="1188720"/>
          </a:xfrm>
          <a:prstGeom prst="rect">
            <a:avLst/>
          </a:prstGeom>
          <a:noFill/>
          <a:ln/>
        </p:spPr>
        <p:txBody>
          <a:bodyPr wrap="square" lIns="0" tIns="0" rIns="0" bIns="0" rtlCol="0" anchor="t"/>
          <a:lstStyle/>
          <a:p>
            <a:pPr marL="0" indent="0">
              <a:buNone/>
            </a:pPr>
            <a:r>
              <a:rPr lang="en-US" sz="2200" b="1" dirty="0">
                <a:solidFill>
                  <a:srgbClr val="FFFFFF"/>
                </a:solidFill>
                <a:latin typeface="Arial" pitchFamily="34" charset="0"/>
                <a:ea typeface="Arial" pitchFamily="34" charset="-122"/>
                <a:cs typeface="Arial" pitchFamily="34" charset="-120"/>
              </a:rPr>
              <a:t>Beta = market sensitivity</a:t>
            </a:r>
            <a:endParaRPr lang="en-US" sz="2200" dirty="0"/>
          </a:p>
        </p:txBody>
      </p:sp>
      <p:sp>
        <p:nvSpPr>
          <p:cNvPr id="8" name="Text 5"/>
          <p:cNvSpPr/>
          <p:nvPr/>
        </p:nvSpPr>
        <p:spPr>
          <a:xfrm>
            <a:off x="914400" y="3977640"/>
            <a:ext cx="3200400" cy="640080"/>
          </a:xfrm>
          <a:prstGeom prst="rect">
            <a:avLst/>
          </a:prstGeom>
          <a:noFill/>
          <a:ln/>
        </p:spPr>
        <p:txBody>
          <a:bodyPr wrap="square" lIns="0" tIns="0" rIns="0" bIns="0" rtlCol="0" anchor="ctr"/>
          <a:lstStyle/>
          <a:p>
            <a:pPr marL="0" indent="0">
              <a:buNone/>
            </a:pPr>
            <a:r>
              <a:rPr lang="en-US" sz="3000" b="1" dirty="0">
                <a:solidFill>
                  <a:srgbClr val="FFFFFF"/>
                </a:solidFill>
                <a:latin typeface="Arial" pitchFamily="34" charset="0"/>
                <a:ea typeface="Arial" pitchFamily="34" charset="-122"/>
                <a:cs typeface="Arial" pitchFamily="34" charset="-120"/>
              </a:rPr>
              <a:t>1.0</a:t>
            </a:r>
            <a:endParaRPr lang="en-US" sz="3000" dirty="0"/>
          </a:p>
        </p:txBody>
      </p:sp>
      <p:sp>
        <p:nvSpPr>
          <p:cNvPr id="9" name="Text 6"/>
          <p:cNvSpPr/>
          <p:nvPr/>
        </p:nvSpPr>
        <p:spPr>
          <a:xfrm>
            <a:off x="914400" y="4617720"/>
            <a:ext cx="3200400" cy="457200"/>
          </a:xfrm>
          <a:prstGeom prst="rect">
            <a:avLst/>
          </a:prstGeom>
          <a:noFill/>
          <a:ln/>
        </p:spPr>
        <p:txBody>
          <a:bodyPr wrap="square" lIns="0" tIns="0" rIns="0" bIns="0" rtlCol="0" anchor="ctr"/>
          <a:lstStyle/>
          <a:p>
            <a:pPr marL="0" indent="0">
              <a:buNone/>
            </a:pPr>
            <a:r>
              <a:rPr lang="en-US" sz="1200" dirty="0">
                <a:solidFill>
                  <a:srgbClr val="F3F3F1"/>
                </a:solidFill>
                <a:latin typeface="Arial" pitchFamily="34" charset="0"/>
                <a:ea typeface="Arial" pitchFamily="34" charset="-122"/>
                <a:cs typeface="Arial" pitchFamily="34" charset="-120"/>
              </a:rPr>
              <a:t>moves with the market  ·  &gt;1 more volatile  ·  &lt;1 calmer</a:t>
            </a:r>
            <a:endParaRPr lang="en-US" sz="1200" dirty="0"/>
          </a:p>
        </p:txBody>
      </p:sp>
      <p:sp>
        <p:nvSpPr>
          <p:cNvPr id="10" name="Shape 7"/>
          <p:cNvSpPr/>
          <p:nvPr/>
        </p:nvSpPr>
        <p:spPr>
          <a:xfrm>
            <a:off x="4663440" y="1600200"/>
            <a:ext cx="6858000" cy="1207008"/>
          </a:xfrm>
          <a:prstGeom prst="roundRect">
            <a:avLst>
              <a:gd name="adj" fmla="val 4545"/>
            </a:avLst>
          </a:prstGeom>
          <a:solidFill>
            <a:srgbClr val="F3F3F1"/>
          </a:solidFill>
          <a:ln/>
        </p:spPr>
      </p:sp>
      <p:sp>
        <p:nvSpPr>
          <p:cNvPr id="11" name="Shape 8"/>
          <p:cNvSpPr/>
          <p:nvPr/>
        </p:nvSpPr>
        <p:spPr>
          <a:xfrm>
            <a:off x="4892040" y="1952244"/>
            <a:ext cx="502920" cy="502920"/>
          </a:xfrm>
          <a:prstGeom prst="roundRect">
            <a:avLst>
              <a:gd name="adj" fmla="val 16364"/>
            </a:avLst>
          </a:prstGeom>
          <a:solidFill>
            <a:srgbClr val="A51C30"/>
          </a:solidFill>
          <a:ln/>
        </p:spPr>
      </p:sp>
      <p:pic>
        <p:nvPicPr>
          <p:cNvPr id="12" name="Image 1" descr="preencoded.png"/>
          <p:cNvPicPr>
            <a:picLocks noChangeAspect="1"/>
          </p:cNvPicPr>
          <p:nvPr/>
        </p:nvPicPr>
        <p:blipFill>
          <a:blip r:embed="rId3"/>
          <a:stretch>
            <a:fillRect/>
          </a:stretch>
        </p:blipFill>
        <p:spPr>
          <a:xfrm>
            <a:off x="5005197" y="2065401"/>
            <a:ext cx="276606" cy="276606"/>
          </a:xfrm>
          <a:prstGeom prst="rect">
            <a:avLst/>
          </a:prstGeom>
        </p:spPr>
      </p:pic>
      <p:sp>
        <p:nvSpPr>
          <p:cNvPr id="13" name="Text 9"/>
          <p:cNvSpPr/>
          <p:nvPr/>
        </p:nvSpPr>
        <p:spPr>
          <a:xfrm>
            <a:off x="5623560" y="1764792"/>
            <a:ext cx="5669280" cy="932688"/>
          </a:xfrm>
          <a:prstGeom prst="rect">
            <a:avLst/>
          </a:prstGeom>
          <a:noFill/>
          <a:ln/>
        </p:spPr>
        <p:txBody>
          <a:bodyPr wrap="square" lIns="0" tIns="0" rIns="0" bIns="0" rtlCol="0" anchor="ctr"/>
          <a:lstStyle/>
          <a:p>
            <a:pPr marL="0" indent="0">
              <a:lnSpc>
                <a:spcPct val="105000"/>
              </a:lnSpc>
              <a:buNone/>
            </a:pPr>
            <a:r>
              <a:rPr lang="en-US" sz="1500" b="1" dirty="0">
                <a:solidFill>
                  <a:srgbClr val="293352"/>
                </a:solidFill>
                <a:latin typeface="Arial" pitchFamily="34" charset="0"/>
                <a:ea typeface="Arial" pitchFamily="34" charset="-122"/>
                <a:cs typeface="Arial" pitchFamily="34" charset="-120"/>
              </a:rPr>
              <a:t>SPY stands in for the market
</a:t>
            </a:r>
            <a:r>
              <a:rPr lang="en-US" sz="1300" dirty="0">
                <a:solidFill>
                  <a:srgbClr val="1E1E1E"/>
                </a:solidFill>
                <a:latin typeface="Arial" pitchFamily="34" charset="0"/>
                <a:ea typeface="Arial" pitchFamily="34" charset="-122"/>
                <a:cs typeface="Arial" pitchFamily="34" charset="-120"/>
              </a:rPr>
              <a:t>An S&amp;P 500 ETF used only as a reference series, never inside the optimization.</a:t>
            </a:r>
            <a:endParaRPr lang="en-US" sz="1500" dirty="0"/>
          </a:p>
        </p:txBody>
      </p:sp>
      <p:sp>
        <p:nvSpPr>
          <p:cNvPr id="14" name="Shape 10"/>
          <p:cNvSpPr/>
          <p:nvPr/>
        </p:nvSpPr>
        <p:spPr>
          <a:xfrm>
            <a:off x="4663440" y="2990088"/>
            <a:ext cx="6858000" cy="1207008"/>
          </a:xfrm>
          <a:prstGeom prst="roundRect">
            <a:avLst>
              <a:gd name="adj" fmla="val 4545"/>
            </a:avLst>
          </a:prstGeom>
          <a:solidFill>
            <a:srgbClr val="F3F3F1"/>
          </a:solidFill>
          <a:ln/>
        </p:spPr>
      </p:sp>
      <p:sp>
        <p:nvSpPr>
          <p:cNvPr id="15" name="Shape 11"/>
          <p:cNvSpPr/>
          <p:nvPr/>
        </p:nvSpPr>
        <p:spPr>
          <a:xfrm>
            <a:off x="4892040" y="3342132"/>
            <a:ext cx="502920" cy="502920"/>
          </a:xfrm>
          <a:prstGeom prst="roundRect">
            <a:avLst>
              <a:gd name="adj" fmla="val 16364"/>
            </a:avLst>
          </a:prstGeom>
          <a:solidFill>
            <a:srgbClr val="A51C30"/>
          </a:solidFill>
          <a:ln/>
        </p:spPr>
      </p:sp>
      <p:pic>
        <p:nvPicPr>
          <p:cNvPr id="16" name="Image 2" descr="preencoded.png"/>
          <p:cNvPicPr>
            <a:picLocks noChangeAspect="1"/>
          </p:cNvPicPr>
          <p:nvPr/>
        </p:nvPicPr>
        <p:blipFill>
          <a:blip r:embed="rId4"/>
          <a:stretch>
            <a:fillRect/>
          </a:stretch>
        </p:blipFill>
        <p:spPr>
          <a:xfrm>
            <a:off x="5005197" y="3455289"/>
            <a:ext cx="276606" cy="276606"/>
          </a:xfrm>
          <a:prstGeom prst="rect">
            <a:avLst/>
          </a:prstGeom>
        </p:spPr>
      </p:pic>
      <p:sp>
        <p:nvSpPr>
          <p:cNvPr id="17" name="Text 12"/>
          <p:cNvSpPr/>
          <p:nvPr/>
        </p:nvSpPr>
        <p:spPr>
          <a:xfrm>
            <a:off x="5623560" y="3154680"/>
            <a:ext cx="5669280" cy="932688"/>
          </a:xfrm>
          <a:prstGeom prst="rect">
            <a:avLst/>
          </a:prstGeom>
          <a:noFill/>
          <a:ln/>
        </p:spPr>
        <p:txBody>
          <a:bodyPr wrap="square" lIns="0" tIns="0" rIns="0" bIns="0" rtlCol="0" anchor="ctr"/>
          <a:lstStyle/>
          <a:p>
            <a:pPr marL="0" indent="0">
              <a:lnSpc>
                <a:spcPct val="105000"/>
              </a:lnSpc>
              <a:buNone/>
            </a:pPr>
            <a:r>
              <a:rPr lang="en-US" sz="1500" b="1" dirty="0">
                <a:solidFill>
                  <a:srgbClr val="293352"/>
                </a:solidFill>
                <a:latin typeface="Arial" pitchFamily="34" charset="0"/>
                <a:ea typeface="Arial" pitchFamily="34" charset="-122"/>
                <a:cs typeface="Arial" pitchFamily="34" charset="-120"/>
              </a:rPr>
              <a:t>Why it matters
</a:t>
            </a:r>
            <a:r>
              <a:rPr lang="en-US" sz="1300" dirty="0">
                <a:solidFill>
                  <a:srgbClr val="1E1E1E"/>
                </a:solidFill>
                <a:latin typeface="Arial" pitchFamily="34" charset="0"/>
                <a:ea typeface="Arial" pitchFamily="34" charset="-122"/>
                <a:cs typeface="Arial" pitchFamily="34" charset="-120"/>
              </a:rPr>
              <a:t>Your risk profile can drift even when your holdings do not change.</a:t>
            </a:r>
            <a:endParaRPr lang="en-US" sz="1500" dirty="0"/>
          </a:p>
        </p:txBody>
      </p:sp>
      <p:sp>
        <p:nvSpPr>
          <p:cNvPr id="18" name="Shape 13"/>
          <p:cNvSpPr/>
          <p:nvPr/>
        </p:nvSpPr>
        <p:spPr>
          <a:xfrm>
            <a:off x="4663440" y="4379976"/>
            <a:ext cx="6858000" cy="1207008"/>
          </a:xfrm>
          <a:prstGeom prst="roundRect">
            <a:avLst>
              <a:gd name="adj" fmla="val 4545"/>
            </a:avLst>
          </a:prstGeom>
          <a:solidFill>
            <a:srgbClr val="F3F3F1"/>
          </a:solidFill>
          <a:ln/>
        </p:spPr>
      </p:sp>
      <p:sp>
        <p:nvSpPr>
          <p:cNvPr id="19" name="Shape 14"/>
          <p:cNvSpPr/>
          <p:nvPr/>
        </p:nvSpPr>
        <p:spPr>
          <a:xfrm>
            <a:off x="4892040" y="4732020"/>
            <a:ext cx="502920" cy="502920"/>
          </a:xfrm>
          <a:prstGeom prst="roundRect">
            <a:avLst>
              <a:gd name="adj" fmla="val 16364"/>
            </a:avLst>
          </a:prstGeom>
          <a:solidFill>
            <a:srgbClr val="A51C30"/>
          </a:solidFill>
          <a:ln/>
        </p:spPr>
      </p:sp>
      <p:pic>
        <p:nvPicPr>
          <p:cNvPr id="20" name="Image 3" descr="preencoded.png"/>
          <p:cNvPicPr>
            <a:picLocks noChangeAspect="1"/>
          </p:cNvPicPr>
          <p:nvPr/>
        </p:nvPicPr>
        <p:blipFill>
          <a:blip r:embed="rId5"/>
          <a:stretch>
            <a:fillRect/>
          </a:stretch>
        </p:blipFill>
        <p:spPr>
          <a:xfrm>
            <a:off x="5005197" y="4845177"/>
            <a:ext cx="276606" cy="276606"/>
          </a:xfrm>
          <a:prstGeom prst="rect">
            <a:avLst/>
          </a:prstGeom>
        </p:spPr>
      </p:pic>
      <p:sp>
        <p:nvSpPr>
          <p:cNvPr id="21" name="Text 15"/>
          <p:cNvSpPr/>
          <p:nvPr/>
        </p:nvSpPr>
        <p:spPr>
          <a:xfrm>
            <a:off x="5623560" y="4544568"/>
            <a:ext cx="5669280" cy="932688"/>
          </a:xfrm>
          <a:prstGeom prst="rect">
            <a:avLst/>
          </a:prstGeom>
          <a:noFill/>
          <a:ln/>
        </p:spPr>
        <p:txBody>
          <a:bodyPr wrap="square" lIns="0" tIns="0" rIns="0" bIns="0" rtlCol="0" anchor="ctr"/>
          <a:lstStyle/>
          <a:p>
            <a:pPr marL="0" indent="0">
              <a:lnSpc>
                <a:spcPct val="105000"/>
              </a:lnSpc>
              <a:buNone/>
            </a:pPr>
            <a:r>
              <a:rPr lang="en-US" sz="1500" b="1" dirty="0">
                <a:solidFill>
                  <a:srgbClr val="293352"/>
                </a:solidFill>
                <a:latin typeface="Arial" pitchFamily="34" charset="0"/>
                <a:ea typeface="Arial" pitchFamily="34" charset="-122"/>
                <a:cs typeface="Arial" pitchFamily="34" charset="-120"/>
              </a:rPr>
              <a:t>How it is computed
</a:t>
            </a:r>
            <a:r>
              <a:rPr lang="en-US" sz="1300" dirty="0">
                <a:solidFill>
                  <a:srgbClr val="1E1E1E"/>
                </a:solidFill>
                <a:latin typeface="Arial" pitchFamily="34" charset="0"/>
                <a:ea typeface="Arial" pitchFamily="34" charset="-122"/>
                <a:cs typeface="Arial" pitchFamily="34" charset="-120"/>
              </a:rPr>
              <a:t>A small regression style function inside a moving window.</a:t>
            </a:r>
            <a:endParaRPr lang="en-US" sz="1500" dirty="0"/>
          </a:p>
        </p:txBody>
      </p:sp>
      <p:sp>
        <p:nvSpPr>
          <p:cNvPr id="22"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23" name="Harvard Page Number"/>
          <p:cNvSpPr txBox="1"/>
          <p:nvPr/>
        </p:nvSpPr>
        <p:spPr>
          <a:xfrm>
            <a:off x="11730577" y="6446043"/>
            <a:ext cx="324104" cy="274638"/>
          </a:xfrm>
          <a:prstGeom prst="rect">
            <a:avLst/>
          </a:prstGeom>
          <a:noFill/>
        </p:spPr>
        <p:txBody>
          <a:bodyPr wrap="none" lIns="0" tIns="0" rIns="0" bIns="0">
            <a:noAutofit/>
          </a:bodyPr>
          <a:lstStyle/>
          <a:p>
            <a:pPr algn="r"/>
            <a:fld id="{CF3B2B8C-E72D-4CD5-98ED-5B418C871939}" type="slidenum">
              <a:rPr lang="en-US" sz="1000">
                <a:solidFill>
                  <a:srgbClr val="8996A0"/>
                </a:solidFill>
                <a:latin typeface="Arial"/>
              </a:rPr>
              <a:t>27</a:t>
            </a:fld>
            <a:endParaRPr lang="en-US" sz="1000">
              <a:solidFill>
                <a:srgbClr val="8996A0"/>
              </a:solidFill>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marL="0" indent="0">
              <a:buNone/>
            </a:pPr>
            <a:r>
              <a:rPr lang="en-US" sz="1200" b="1" kern="0" spc="200" dirty="0">
                <a:solidFill>
                  <a:srgbClr val="A51C30"/>
                </a:solidFill>
                <a:latin typeface="Arial" pitchFamily="34" charset="0"/>
                <a:ea typeface="Arial" pitchFamily="34" charset="-122"/>
                <a:cs typeface="Arial" pitchFamily="34" charset="-120"/>
              </a:rPr>
              <a:t>LIVE IN RSTUDIO</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marL="0" indent="0">
              <a:buNone/>
            </a:pPr>
            <a:r>
              <a:rPr lang="en-US" sz="2800" b="1" dirty="0">
                <a:solidFill>
                  <a:srgbClr val="1E1E1E"/>
                </a:solidFill>
                <a:latin typeface="Arial" pitchFamily="34" charset="0"/>
                <a:ea typeface="Arial" pitchFamily="34" charset="-122"/>
                <a:cs typeface="Arial" pitchFamily="34" charset="-120"/>
              </a:rPr>
              <a:t>Script F: run it</a:t>
            </a:r>
            <a:endParaRPr lang="en-US" sz="2800" dirty="0"/>
          </a:p>
        </p:txBody>
      </p:sp>
      <p:sp>
        <p:nvSpPr>
          <p:cNvPr id="4" name="Shape 2"/>
          <p:cNvSpPr/>
          <p:nvPr/>
        </p:nvSpPr>
        <p:spPr>
          <a:xfrm>
            <a:off x="640080" y="1600200"/>
            <a:ext cx="10881360" cy="3611880"/>
          </a:xfrm>
          <a:prstGeom prst="roundRect">
            <a:avLst>
              <a:gd name="adj" fmla="val 1519"/>
            </a:avLst>
          </a:prstGeom>
          <a:solidFill>
            <a:srgbClr val="1E1E1E"/>
          </a:solidFill>
          <a:ln/>
        </p:spPr>
      </p:sp>
      <p:sp>
        <p:nvSpPr>
          <p:cNvPr id="5" name="Shape 3"/>
          <p:cNvSpPr/>
          <p:nvPr/>
        </p:nvSpPr>
        <p:spPr>
          <a:xfrm>
            <a:off x="914400" y="1828800"/>
            <a:ext cx="146304" cy="146304"/>
          </a:xfrm>
          <a:prstGeom prst="ellipse">
            <a:avLst/>
          </a:prstGeom>
          <a:solidFill>
            <a:srgbClr val="A51C30"/>
          </a:solidFill>
          <a:ln/>
        </p:spPr>
      </p:sp>
      <p:sp>
        <p:nvSpPr>
          <p:cNvPr id="6" name="Shape 4"/>
          <p:cNvSpPr/>
          <p:nvPr/>
        </p:nvSpPr>
        <p:spPr>
          <a:xfrm>
            <a:off x="1170432" y="1828800"/>
            <a:ext cx="146304" cy="146304"/>
          </a:xfrm>
          <a:prstGeom prst="ellipse">
            <a:avLst/>
          </a:prstGeom>
          <a:solidFill>
            <a:srgbClr val="C4961A"/>
          </a:solidFill>
          <a:ln/>
        </p:spPr>
      </p:sp>
      <p:sp>
        <p:nvSpPr>
          <p:cNvPr id="7" name="Shape 5"/>
          <p:cNvSpPr/>
          <p:nvPr/>
        </p:nvSpPr>
        <p:spPr>
          <a:xfrm>
            <a:off x="1426464" y="1828800"/>
            <a:ext cx="146304" cy="146304"/>
          </a:xfrm>
          <a:prstGeom prst="ellipse">
            <a:avLst/>
          </a:prstGeom>
          <a:solidFill>
            <a:srgbClr val="1D9E75"/>
          </a:solidFill>
          <a:ln/>
        </p:spPr>
      </p:sp>
      <p:sp>
        <p:nvSpPr>
          <p:cNvPr id="8" name="Text 6"/>
          <p:cNvSpPr/>
          <p:nvPr/>
        </p:nvSpPr>
        <p:spPr>
          <a:xfrm>
            <a:off x="2011680" y="1764792"/>
            <a:ext cx="5486400" cy="274320"/>
          </a:xfrm>
          <a:prstGeom prst="rect">
            <a:avLst/>
          </a:prstGeom>
          <a:noFill/>
          <a:ln/>
        </p:spPr>
        <p:txBody>
          <a:bodyPr wrap="square" lIns="0" tIns="0" rIns="0" bIns="0" rtlCol="0" anchor="ctr"/>
          <a:lstStyle/>
          <a:p>
            <a:pPr marL="0" indent="0">
              <a:buNone/>
            </a:pPr>
            <a:r>
              <a:rPr lang="en-US" sz="1100" b="1" kern="0" spc="200" dirty="0">
                <a:solidFill>
                  <a:srgbClr val="8996A0"/>
                </a:solidFill>
                <a:latin typeface="Arial" pitchFamily="34" charset="0"/>
                <a:ea typeface="Arial" pitchFamily="34" charset="-122"/>
                <a:cs typeface="Arial" pitchFamily="34" charset="-120"/>
              </a:rPr>
              <a:t>LIVE CODE STEP THROUGH</a:t>
            </a:r>
            <a:endParaRPr lang="en-US" sz="1100" dirty="0"/>
          </a:p>
        </p:txBody>
      </p:sp>
      <p:sp>
        <p:nvSpPr>
          <p:cNvPr id="9" name="Text 7"/>
          <p:cNvSpPr/>
          <p:nvPr/>
        </p:nvSpPr>
        <p:spPr>
          <a:xfrm>
            <a:off x="914400" y="2331720"/>
            <a:ext cx="10332720" cy="685800"/>
          </a:xfrm>
          <a:prstGeom prst="rect">
            <a:avLst/>
          </a:prstGeom>
          <a:noFill/>
          <a:ln/>
        </p:spPr>
        <p:txBody>
          <a:bodyPr wrap="square" lIns="0" tIns="0" rIns="0" bIns="0" rtlCol="0" anchor="t"/>
          <a:lstStyle/>
          <a:p>
            <a:pPr marL="0" indent="0">
              <a:lnSpc>
                <a:spcPct val="100000"/>
              </a:lnSpc>
              <a:buNone/>
            </a:pPr>
            <a:r>
              <a:rPr lang="en-US" sz="1500" b="1" dirty="0">
                <a:solidFill>
                  <a:srgbClr val="4E84C4"/>
                </a:solidFill>
                <a:latin typeface="Arial" pitchFamily="34" charset="0"/>
                <a:ea typeface="Arial" pitchFamily="34" charset="-122"/>
                <a:cs typeface="Arial" pitchFamily="34" charset="-120"/>
              </a:rPr>
              <a:t>&gt; </a:t>
            </a:r>
            <a:r>
              <a:rPr lang="en-US" sz="1500" dirty="0">
                <a:solidFill>
                  <a:srgbClr val="F3F3F1"/>
                </a:solidFill>
                <a:latin typeface="Arial" pitchFamily="34" charset="0"/>
                <a:ea typeface="Arial" pitchFamily="34" charset="-122"/>
                <a:cs typeface="Arial" pitchFamily="34" charset="-120"/>
              </a:rPr>
              <a:t>Build the equal weight portfolio return series.</a:t>
            </a:r>
            <a:endParaRPr lang="en-US" sz="1500" dirty="0"/>
          </a:p>
        </p:txBody>
      </p:sp>
      <p:sp>
        <p:nvSpPr>
          <p:cNvPr id="10" name="Text 8"/>
          <p:cNvSpPr/>
          <p:nvPr/>
        </p:nvSpPr>
        <p:spPr>
          <a:xfrm>
            <a:off x="914400" y="3172968"/>
            <a:ext cx="10332720" cy="685800"/>
          </a:xfrm>
          <a:prstGeom prst="rect">
            <a:avLst/>
          </a:prstGeom>
          <a:noFill/>
          <a:ln/>
        </p:spPr>
        <p:txBody>
          <a:bodyPr wrap="square" lIns="0" tIns="0" rIns="0" bIns="0" rtlCol="0" anchor="t"/>
          <a:lstStyle/>
          <a:p>
            <a:pPr marL="0" indent="0">
              <a:lnSpc>
                <a:spcPct val="100000"/>
              </a:lnSpc>
              <a:buNone/>
            </a:pPr>
            <a:r>
              <a:rPr lang="en-US" sz="1500" b="1" dirty="0">
                <a:solidFill>
                  <a:srgbClr val="4E84C4"/>
                </a:solidFill>
                <a:latin typeface="Arial" pitchFamily="34" charset="0"/>
                <a:ea typeface="Arial" pitchFamily="34" charset="-122"/>
                <a:cs typeface="Arial" pitchFamily="34" charset="-120"/>
              </a:rPr>
              <a:t>&gt; </a:t>
            </a:r>
            <a:r>
              <a:rPr lang="en-US" sz="1500" dirty="0">
                <a:solidFill>
                  <a:srgbClr val="F3F3F1"/>
                </a:solidFill>
                <a:latin typeface="Arial" pitchFamily="34" charset="0"/>
                <a:ea typeface="Arial" pitchFamily="34" charset="-122"/>
                <a:cs typeface="Arial" pitchFamily="34" charset="-120"/>
              </a:rPr>
              <a:t>Compute rolling Sharpe from parts, then rolling beta with the small regression function.</a:t>
            </a:r>
            <a:endParaRPr lang="en-US" sz="1500" dirty="0"/>
          </a:p>
        </p:txBody>
      </p:sp>
      <p:sp>
        <p:nvSpPr>
          <p:cNvPr id="11" name="Text 9"/>
          <p:cNvSpPr/>
          <p:nvPr/>
        </p:nvSpPr>
        <p:spPr>
          <a:xfrm>
            <a:off x="914400" y="4014216"/>
            <a:ext cx="10332720" cy="685800"/>
          </a:xfrm>
          <a:prstGeom prst="rect">
            <a:avLst/>
          </a:prstGeom>
          <a:noFill/>
          <a:ln/>
        </p:spPr>
        <p:txBody>
          <a:bodyPr wrap="square" lIns="0" tIns="0" rIns="0" bIns="0" rtlCol="0" anchor="t"/>
          <a:lstStyle/>
          <a:p>
            <a:pPr marL="0" indent="0">
              <a:lnSpc>
                <a:spcPct val="100000"/>
              </a:lnSpc>
              <a:buNone/>
            </a:pPr>
            <a:r>
              <a:rPr lang="en-US" sz="1500" b="1" dirty="0">
                <a:solidFill>
                  <a:srgbClr val="4E84C4"/>
                </a:solidFill>
                <a:latin typeface="Arial" pitchFamily="34" charset="0"/>
                <a:ea typeface="Arial" pitchFamily="34" charset="-122"/>
                <a:cs typeface="Arial" pitchFamily="34" charset="-120"/>
              </a:rPr>
              <a:t>&gt; </a:t>
            </a:r>
            <a:r>
              <a:rPr lang="en-US" sz="1500" dirty="0">
                <a:solidFill>
                  <a:srgbClr val="F3F3F1"/>
                </a:solidFill>
                <a:latin typeface="Arial" pitchFamily="34" charset="0"/>
                <a:ea typeface="Arial" pitchFamily="34" charset="-122"/>
                <a:cs typeface="Arial" pitchFamily="34" charset="-120"/>
              </a:rPr>
              <a:t>Plot both, read the story in each.</a:t>
            </a:r>
            <a:endParaRPr lang="en-US" sz="1500" dirty="0"/>
          </a:p>
        </p:txBody>
      </p:sp>
      <p:sp>
        <p:nvSpPr>
          <p:cNvPr id="14"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5" name="Harvard Page Number"/>
          <p:cNvSpPr txBox="1"/>
          <p:nvPr/>
        </p:nvSpPr>
        <p:spPr>
          <a:xfrm>
            <a:off x="11730577" y="6446043"/>
            <a:ext cx="324104" cy="274638"/>
          </a:xfrm>
          <a:prstGeom prst="rect">
            <a:avLst/>
          </a:prstGeom>
          <a:noFill/>
        </p:spPr>
        <p:txBody>
          <a:bodyPr wrap="none" lIns="0" tIns="0" rIns="0" bIns="0">
            <a:noAutofit/>
          </a:bodyPr>
          <a:lstStyle/>
          <a:p>
            <a:pPr algn="r"/>
            <a:fld id="{EB42DDD1-8F36-4E4D-ACAB-379353ACD5BA}" type="slidenum">
              <a:rPr lang="en-US" sz="1000">
                <a:solidFill>
                  <a:srgbClr val="8996A0"/>
                </a:solidFill>
                <a:latin typeface="Arial"/>
              </a:rPr>
              <a:t>28</a:t>
            </a:fld>
            <a:endParaRPr lang="en-US" sz="1000">
              <a:solidFill>
                <a:srgbClr val="8996A0"/>
              </a:solidFill>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marL="0" indent="0">
              <a:buNone/>
            </a:pPr>
            <a:r>
              <a:rPr lang="en-US" sz="1200" b="1" kern="0" spc="200" dirty="0">
                <a:solidFill>
                  <a:srgbClr val="A51C30"/>
                </a:solidFill>
                <a:latin typeface="Arial" pitchFamily="34" charset="0"/>
                <a:ea typeface="Arial" pitchFamily="34" charset="-122"/>
                <a:cs typeface="Arial" pitchFamily="34" charset="-120"/>
              </a:rPr>
              <a:t>THE MONITORING SURFACE</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marL="0" indent="0">
              <a:buNone/>
            </a:pPr>
            <a:r>
              <a:rPr lang="en-US" sz="2800" b="1" dirty="0">
                <a:solidFill>
                  <a:srgbClr val="1E1E1E"/>
                </a:solidFill>
                <a:latin typeface="Arial" pitchFamily="34" charset="0"/>
                <a:ea typeface="Arial" pitchFamily="34" charset="-122"/>
                <a:cs typeface="Arial" pitchFamily="34" charset="-120"/>
              </a:rPr>
              <a:t>Export and the live chatbot read</a:t>
            </a:r>
            <a:endParaRPr lang="en-US" sz="2800" dirty="0"/>
          </a:p>
        </p:txBody>
      </p:sp>
      <p:sp>
        <p:nvSpPr>
          <p:cNvPr id="4" name="Shape 2"/>
          <p:cNvSpPr/>
          <p:nvPr/>
        </p:nvSpPr>
        <p:spPr>
          <a:xfrm>
            <a:off x="640080" y="1600200"/>
            <a:ext cx="5257800" cy="1965960"/>
          </a:xfrm>
          <a:prstGeom prst="roundRect">
            <a:avLst>
              <a:gd name="adj" fmla="val 2791"/>
            </a:avLst>
          </a:prstGeom>
          <a:solidFill>
            <a:srgbClr val="F3F3F1"/>
          </a:solidFill>
          <a:ln/>
        </p:spPr>
      </p:sp>
      <p:sp>
        <p:nvSpPr>
          <p:cNvPr id="5" name="Shape 3"/>
          <p:cNvSpPr/>
          <p:nvPr/>
        </p:nvSpPr>
        <p:spPr>
          <a:xfrm>
            <a:off x="914400" y="1874520"/>
            <a:ext cx="548640" cy="548640"/>
          </a:xfrm>
          <a:prstGeom prst="roundRect">
            <a:avLst>
              <a:gd name="adj" fmla="val 15000"/>
            </a:avLst>
          </a:prstGeom>
          <a:solidFill>
            <a:srgbClr val="293352"/>
          </a:solidFill>
          <a:ln/>
        </p:spPr>
      </p:sp>
      <p:pic>
        <p:nvPicPr>
          <p:cNvPr id="6" name="Image 0" descr="preencoded.png"/>
          <p:cNvPicPr>
            <a:picLocks noChangeAspect="1"/>
          </p:cNvPicPr>
          <p:nvPr/>
        </p:nvPicPr>
        <p:blipFill>
          <a:blip r:embed="rId3"/>
          <a:stretch>
            <a:fillRect/>
          </a:stretch>
        </p:blipFill>
        <p:spPr>
          <a:xfrm>
            <a:off x="1037844" y="1997964"/>
            <a:ext cx="301752" cy="301752"/>
          </a:xfrm>
          <a:prstGeom prst="rect">
            <a:avLst/>
          </a:prstGeom>
        </p:spPr>
      </p:pic>
      <p:sp>
        <p:nvSpPr>
          <p:cNvPr id="7" name="Text 4"/>
          <p:cNvSpPr/>
          <p:nvPr/>
        </p:nvSpPr>
        <p:spPr>
          <a:xfrm>
            <a:off x="1645920" y="1856232"/>
            <a:ext cx="4023360" cy="548640"/>
          </a:xfrm>
          <a:prstGeom prst="rect">
            <a:avLst/>
          </a:prstGeom>
          <a:noFill/>
          <a:ln/>
        </p:spPr>
        <p:txBody>
          <a:bodyPr wrap="square" lIns="0" tIns="0" rIns="0" bIns="0" rtlCol="0" anchor="ctr"/>
          <a:lstStyle/>
          <a:p>
            <a:pPr marL="0" indent="0">
              <a:buNone/>
            </a:pPr>
            <a:r>
              <a:rPr lang="en-US" sz="1600" b="1" dirty="0">
                <a:solidFill>
                  <a:srgbClr val="293352"/>
                </a:solidFill>
                <a:latin typeface="Arial" pitchFamily="34" charset="0"/>
                <a:ea typeface="Arial" pitchFamily="34" charset="-122"/>
                <a:cs typeface="Arial" pitchFamily="34" charset="-120"/>
              </a:rPr>
              <a:t>rolling_metrics.json</a:t>
            </a:r>
            <a:endParaRPr lang="en-US" sz="1600" dirty="0"/>
          </a:p>
        </p:txBody>
      </p:sp>
      <p:sp>
        <p:nvSpPr>
          <p:cNvPr id="8" name="Text 5"/>
          <p:cNvSpPr/>
          <p:nvPr/>
        </p:nvSpPr>
        <p:spPr>
          <a:xfrm>
            <a:off x="914400" y="2514600"/>
            <a:ext cx="4709160" cy="914400"/>
          </a:xfrm>
          <a:prstGeom prst="rect">
            <a:avLst/>
          </a:prstGeom>
          <a:noFill/>
          <a:ln/>
        </p:spPr>
        <p:txBody>
          <a:bodyPr wrap="square" lIns="0" tIns="0" rIns="0" bIns="0" rtlCol="0" anchor="t"/>
          <a:lstStyle/>
          <a:p>
            <a:pPr marL="0" indent="0">
              <a:buNone/>
            </a:pPr>
            <a:r>
              <a:rPr lang="en-US" sz="1350" dirty="0">
                <a:solidFill>
                  <a:srgbClr val="1E1E1E"/>
                </a:solidFill>
                <a:latin typeface="Arial" pitchFamily="34" charset="0"/>
                <a:ea typeface="Arial" pitchFamily="34" charset="-122"/>
                <a:cs typeface="Arial" pitchFamily="34" charset="-120"/>
              </a:rPr>
              <a:t>Latest Sharpe, latest beta, latest pairwise correlations, in one readable file.</a:t>
            </a:r>
            <a:endParaRPr lang="en-US" sz="1350" dirty="0"/>
          </a:p>
        </p:txBody>
      </p:sp>
      <p:sp>
        <p:nvSpPr>
          <p:cNvPr id="9" name="Shape 6"/>
          <p:cNvSpPr/>
          <p:nvPr/>
        </p:nvSpPr>
        <p:spPr>
          <a:xfrm>
            <a:off x="6263640" y="1600200"/>
            <a:ext cx="5257800" cy="1965960"/>
          </a:xfrm>
          <a:prstGeom prst="roundRect">
            <a:avLst>
              <a:gd name="adj" fmla="val 2791"/>
            </a:avLst>
          </a:prstGeom>
          <a:solidFill>
            <a:srgbClr val="F3F3F1"/>
          </a:solidFill>
          <a:ln/>
        </p:spPr>
      </p:sp>
      <p:sp>
        <p:nvSpPr>
          <p:cNvPr id="10" name="Shape 7"/>
          <p:cNvSpPr/>
          <p:nvPr/>
        </p:nvSpPr>
        <p:spPr>
          <a:xfrm>
            <a:off x="6537960" y="1874520"/>
            <a:ext cx="548640" cy="548640"/>
          </a:xfrm>
          <a:prstGeom prst="roundRect">
            <a:avLst>
              <a:gd name="adj" fmla="val 15000"/>
            </a:avLst>
          </a:prstGeom>
          <a:solidFill>
            <a:srgbClr val="A51C30"/>
          </a:solidFill>
          <a:ln/>
        </p:spPr>
      </p:sp>
      <p:pic>
        <p:nvPicPr>
          <p:cNvPr id="11" name="Image 1" descr="preencoded.png"/>
          <p:cNvPicPr>
            <a:picLocks noChangeAspect="1"/>
          </p:cNvPicPr>
          <p:nvPr/>
        </p:nvPicPr>
        <p:blipFill>
          <a:blip r:embed="rId4"/>
          <a:stretch>
            <a:fillRect/>
          </a:stretch>
        </p:blipFill>
        <p:spPr>
          <a:xfrm>
            <a:off x="6661404" y="1997964"/>
            <a:ext cx="301752" cy="301752"/>
          </a:xfrm>
          <a:prstGeom prst="rect">
            <a:avLst/>
          </a:prstGeom>
        </p:spPr>
      </p:pic>
      <p:sp>
        <p:nvSpPr>
          <p:cNvPr id="12" name="Text 8"/>
          <p:cNvSpPr/>
          <p:nvPr/>
        </p:nvSpPr>
        <p:spPr>
          <a:xfrm>
            <a:off x="7269480" y="1856232"/>
            <a:ext cx="4023360" cy="548640"/>
          </a:xfrm>
          <a:prstGeom prst="rect">
            <a:avLst/>
          </a:prstGeom>
          <a:noFill/>
          <a:ln/>
        </p:spPr>
        <p:txBody>
          <a:bodyPr wrap="square" lIns="0" tIns="0" rIns="0" bIns="0" rtlCol="0" anchor="ctr"/>
          <a:lstStyle/>
          <a:p>
            <a:pPr marL="0" indent="0">
              <a:buNone/>
            </a:pPr>
            <a:r>
              <a:rPr lang="en-US" sz="1600" b="1" dirty="0">
                <a:solidFill>
                  <a:srgbClr val="293352"/>
                </a:solidFill>
                <a:latin typeface="Arial" pitchFamily="34" charset="0"/>
                <a:ea typeface="Arial" pitchFamily="34" charset="-122"/>
                <a:cs typeface="Arial" pitchFamily="34" charset="-120"/>
              </a:rPr>
              <a:t>Live chatbot interpretation</a:t>
            </a:r>
            <a:endParaRPr lang="en-US" sz="1600" dirty="0"/>
          </a:p>
        </p:txBody>
      </p:sp>
      <p:sp>
        <p:nvSpPr>
          <p:cNvPr id="13" name="Text 9"/>
          <p:cNvSpPr/>
          <p:nvPr/>
        </p:nvSpPr>
        <p:spPr>
          <a:xfrm>
            <a:off x="6537960" y="2514600"/>
            <a:ext cx="4709160" cy="914400"/>
          </a:xfrm>
          <a:prstGeom prst="rect">
            <a:avLst/>
          </a:prstGeom>
          <a:noFill/>
          <a:ln/>
        </p:spPr>
        <p:txBody>
          <a:bodyPr wrap="square" lIns="0" tIns="0" rIns="0" bIns="0" rtlCol="0" anchor="t"/>
          <a:lstStyle/>
          <a:p>
            <a:pPr marL="0" indent="0">
              <a:buNone/>
            </a:pPr>
            <a:r>
              <a:rPr lang="en-US" sz="1350" dirty="0">
                <a:solidFill>
                  <a:srgbClr val="1E1E1E"/>
                </a:solidFill>
                <a:latin typeface="Arial" pitchFamily="34" charset="0"/>
                <a:ea typeface="Arial" pitchFamily="34" charset="-122"/>
                <a:cs typeface="Arial" pitchFamily="34" charset="-120"/>
              </a:rPr>
              <a:t>Paste the JSON and show the plain English response. A live demo, not just the prompt.</a:t>
            </a:r>
            <a:endParaRPr lang="en-US" sz="1350" dirty="0"/>
          </a:p>
        </p:txBody>
      </p:sp>
      <p:sp>
        <p:nvSpPr>
          <p:cNvPr id="14" name="Shape 10"/>
          <p:cNvSpPr/>
          <p:nvPr/>
        </p:nvSpPr>
        <p:spPr>
          <a:xfrm>
            <a:off x="640080" y="3886200"/>
            <a:ext cx="5257800" cy="1965960"/>
          </a:xfrm>
          <a:prstGeom prst="roundRect">
            <a:avLst>
              <a:gd name="adj" fmla="val 2791"/>
            </a:avLst>
          </a:prstGeom>
          <a:solidFill>
            <a:srgbClr val="F3F3F1"/>
          </a:solidFill>
          <a:ln/>
        </p:spPr>
      </p:sp>
      <p:sp>
        <p:nvSpPr>
          <p:cNvPr id="15" name="Shape 11"/>
          <p:cNvSpPr/>
          <p:nvPr/>
        </p:nvSpPr>
        <p:spPr>
          <a:xfrm>
            <a:off x="914400" y="4160520"/>
            <a:ext cx="548640" cy="548640"/>
          </a:xfrm>
          <a:prstGeom prst="roundRect">
            <a:avLst>
              <a:gd name="adj" fmla="val 15000"/>
            </a:avLst>
          </a:prstGeom>
          <a:solidFill>
            <a:srgbClr val="293352"/>
          </a:solidFill>
          <a:ln/>
        </p:spPr>
      </p:sp>
      <p:pic>
        <p:nvPicPr>
          <p:cNvPr id="16" name="Image 2" descr="preencoded.png"/>
          <p:cNvPicPr>
            <a:picLocks noChangeAspect="1"/>
          </p:cNvPicPr>
          <p:nvPr/>
        </p:nvPicPr>
        <p:blipFill>
          <a:blip r:embed="rId5"/>
          <a:stretch>
            <a:fillRect/>
          </a:stretch>
        </p:blipFill>
        <p:spPr>
          <a:xfrm>
            <a:off x="1037844" y="4283964"/>
            <a:ext cx="301752" cy="301752"/>
          </a:xfrm>
          <a:prstGeom prst="rect">
            <a:avLst/>
          </a:prstGeom>
        </p:spPr>
      </p:pic>
      <p:sp>
        <p:nvSpPr>
          <p:cNvPr id="17" name="Text 12"/>
          <p:cNvSpPr/>
          <p:nvPr/>
        </p:nvSpPr>
        <p:spPr>
          <a:xfrm>
            <a:off x="1645920" y="4142232"/>
            <a:ext cx="4023360" cy="548640"/>
          </a:xfrm>
          <a:prstGeom prst="rect">
            <a:avLst/>
          </a:prstGeom>
          <a:noFill/>
          <a:ln/>
        </p:spPr>
        <p:txBody>
          <a:bodyPr wrap="square" lIns="0" tIns="0" rIns="0" bIns="0" rtlCol="0" anchor="ctr"/>
          <a:lstStyle/>
          <a:p>
            <a:pPr marL="0" indent="0">
              <a:buNone/>
            </a:pPr>
            <a:r>
              <a:rPr lang="en-US" sz="1600" b="1" dirty="0">
                <a:solidFill>
                  <a:srgbClr val="293352"/>
                </a:solidFill>
                <a:latin typeface="Arial" pitchFamily="34" charset="0"/>
                <a:ea typeface="Arial" pitchFamily="34" charset="-122"/>
                <a:cs typeface="Arial" pitchFamily="34" charset="-120"/>
              </a:rPr>
              <a:t>Could feed a dashboard</a:t>
            </a:r>
            <a:endParaRPr lang="en-US" sz="1600" dirty="0"/>
          </a:p>
        </p:txBody>
      </p:sp>
      <p:sp>
        <p:nvSpPr>
          <p:cNvPr id="18" name="Text 13"/>
          <p:cNvSpPr/>
          <p:nvPr/>
        </p:nvSpPr>
        <p:spPr>
          <a:xfrm>
            <a:off x="914400" y="4800600"/>
            <a:ext cx="4709160" cy="914400"/>
          </a:xfrm>
          <a:prstGeom prst="rect">
            <a:avLst/>
          </a:prstGeom>
          <a:noFill/>
          <a:ln/>
        </p:spPr>
        <p:txBody>
          <a:bodyPr wrap="square" lIns="0" tIns="0" rIns="0" bIns="0" rtlCol="0" anchor="t"/>
          <a:lstStyle/>
          <a:p>
            <a:pPr marL="0" indent="0">
              <a:buNone/>
            </a:pPr>
            <a:r>
              <a:rPr lang="en-US" sz="1350" dirty="0">
                <a:solidFill>
                  <a:srgbClr val="1E1E1E"/>
                </a:solidFill>
                <a:latin typeface="Arial" pitchFamily="34" charset="0"/>
                <a:ea typeface="Arial" pitchFamily="34" charset="-122"/>
                <a:cs typeface="Arial" pitchFamily="34" charset="-120"/>
              </a:rPr>
              <a:t>Think about the calculations and descriptions needed to create the JSON for your upcoming vibe-coded application.</a:t>
            </a:r>
            <a:endParaRPr lang="en-US" sz="1350" dirty="0"/>
          </a:p>
        </p:txBody>
      </p:sp>
      <p:sp>
        <p:nvSpPr>
          <p:cNvPr id="19" name="Shape 14"/>
          <p:cNvSpPr/>
          <p:nvPr/>
        </p:nvSpPr>
        <p:spPr>
          <a:xfrm>
            <a:off x="6263640" y="3886200"/>
            <a:ext cx="5257800" cy="1965960"/>
          </a:xfrm>
          <a:prstGeom prst="roundRect">
            <a:avLst>
              <a:gd name="adj" fmla="val 2791"/>
            </a:avLst>
          </a:prstGeom>
          <a:solidFill>
            <a:srgbClr val="F3F3F1"/>
          </a:solidFill>
          <a:ln/>
        </p:spPr>
      </p:sp>
      <p:sp>
        <p:nvSpPr>
          <p:cNvPr id="20" name="Shape 15"/>
          <p:cNvSpPr/>
          <p:nvPr/>
        </p:nvSpPr>
        <p:spPr>
          <a:xfrm>
            <a:off x="6537960" y="4160520"/>
            <a:ext cx="548640" cy="548640"/>
          </a:xfrm>
          <a:prstGeom prst="roundRect">
            <a:avLst>
              <a:gd name="adj" fmla="val 15000"/>
            </a:avLst>
          </a:prstGeom>
          <a:solidFill>
            <a:srgbClr val="A51C30"/>
          </a:solidFill>
          <a:ln/>
        </p:spPr>
      </p:sp>
      <p:pic>
        <p:nvPicPr>
          <p:cNvPr id="21" name="Image 3" descr="preencoded.png"/>
          <p:cNvPicPr>
            <a:picLocks noChangeAspect="1"/>
          </p:cNvPicPr>
          <p:nvPr/>
        </p:nvPicPr>
        <p:blipFill>
          <a:blip r:embed="rId6"/>
          <a:stretch>
            <a:fillRect/>
          </a:stretch>
        </p:blipFill>
        <p:spPr>
          <a:xfrm>
            <a:off x="6661404" y="4283964"/>
            <a:ext cx="301752" cy="301752"/>
          </a:xfrm>
          <a:prstGeom prst="rect">
            <a:avLst/>
          </a:prstGeom>
        </p:spPr>
      </p:pic>
      <p:sp>
        <p:nvSpPr>
          <p:cNvPr id="22" name="Text 16"/>
          <p:cNvSpPr/>
          <p:nvPr/>
        </p:nvSpPr>
        <p:spPr>
          <a:xfrm>
            <a:off x="7269480" y="4142232"/>
            <a:ext cx="4023360" cy="548640"/>
          </a:xfrm>
          <a:prstGeom prst="rect">
            <a:avLst/>
          </a:prstGeom>
          <a:noFill/>
          <a:ln/>
        </p:spPr>
        <p:txBody>
          <a:bodyPr wrap="square" lIns="0" tIns="0" rIns="0" bIns="0" rtlCol="0" anchor="ctr"/>
          <a:lstStyle/>
          <a:p>
            <a:pPr marL="0" indent="0">
              <a:buNone/>
            </a:pPr>
            <a:r>
              <a:rPr lang="en-US" sz="1600" b="1" dirty="0">
                <a:solidFill>
                  <a:srgbClr val="293352"/>
                </a:solidFill>
                <a:latin typeface="Arial" pitchFamily="34" charset="0"/>
                <a:ea typeface="Arial" pitchFamily="34" charset="-122"/>
                <a:cs typeface="Arial" pitchFamily="34" charset="-120"/>
              </a:rPr>
              <a:t>The surface Knight lacked</a:t>
            </a:r>
            <a:endParaRPr lang="en-US" sz="1600" dirty="0"/>
          </a:p>
        </p:txBody>
      </p:sp>
      <p:sp>
        <p:nvSpPr>
          <p:cNvPr id="23" name="Text 17"/>
          <p:cNvSpPr/>
          <p:nvPr/>
        </p:nvSpPr>
        <p:spPr>
          <a:xfrm>
            <a:off x="6537960" y="4800600"/>
            <a:ext cx="4709160" cy="914400"/>
          </a:xfrm>
          <a:prstGeom prst="rect">
            <a:avLst/>
          </a:prstGeom>
          <a:noFill/>
          <a:ln/>
        </p:spPr>
        <p:txBody>
          <a:bodyPr wrap="square" lIns="0" tIns="0" rIns="0" bIns="0" rtlCol="0" anchor="t"/>
          <a:lstStyle/>
          <a:p>
            <a:pPr marL="0" indent="0">
              <a:buNone/>
            </a:pPr>
            <a:r>
              <a:rPr lang="en-US" sz="1350" dirty="0">
                <a:solidFill>
                  <a:srgbClr val="1E1E1E"/>
                </a:solidFill>
                <a:latin typeface="Arial" pitchFamily="34" charset="0"/>
                <a:ea typeface="Arial" pitchFamily="34" charset="-122"/>
                <a:cs typeface="Arial" pitchFamily="34" charset="-120"/>
              </a:rPr>
              <a:t>Metrics exist so a person can see trouble &amp; step in before it compounds.  Don’t fully automate everything without careful understanding of the code’s actions.</a:t>
            </a:r>
            <a:endParaRPr lang="en-US" sz="1350" dirty="0"/>
          </a:p>
        </p:txBody>
      </p:sp>
      <p:sp>
        <p:nvSpPr>
          <p:cNvPr id="24"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25" name="Harvard Page Number"/>
          <p:cNvSpPr txBox="1"/>
          <p:nvPr/>
        </p:nvSpPr>
        <p:spPr>
          <a:xfrm>
            <a:off x="11730577" y="6446043"/>
            <a:ext cx="324104" cy="274638"/>
          </a:xfrm>
          <a:prstGeom prst="rect">
            <a:avLst/>
          </a:prstGeom>
          <a:noFill/>
        </p:spPr>
        <p:txBody>
          <a:bodyPr wrap="none" lIns="0" tIns="0" rIns="0" bIns="0">
            <a:noAutofit/>
          </a:bodyPr>
          <a:lstStyle/>
          <a:p>
            <a:pPr algn="r"/>
            <a:fld id="{1E4D7FED-BD1C-41B9-81DA-862C8A25BCE4}" type="slidenum">
              <a:rPr lang="en-US" sz="1000">
                <a:solidFill>
                  <a:srgbClr val="8996A0"/>
                </a:solidFill>
                <a:latin typeface="Arial"/>
              </a:rPr>
              <a:t>29</a:t>
            </a:fld>
            <a:endParaRPr lang="en-US" sz="1000">
              <a:solidFill>
                <a:srgbClr val="8996A0"/>
              </a:solidFill>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marL="0" indent="0">
              <a:buNone/>
            </a:pPr>
            <a:r>
              <a:rPr lang="en-US" sz="1200" b="1" kern="0" spc="200" dirty="0">
                <a:solidFill>
                  <a:srgbClr val="A51C30"/>
                </a:solidFill>
                <a:latin typeface="Arial" pitchFamily="34" charset="0"/>
                <a:ea typeface="Arial" pitchFamily="34" charset="-122"/>
                <a:cs typeface="Arial" pitchFamily="34" charset="-120"/>
              </a:rPr>
              <a:t>FROM R TO THE BROWSER</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marL="0" indent="0">
              <a:buNone/>
            </a:pPr>
            <a:r>
              <a:rPr lang="en-US" sz="2800" b="1" dirty="0">
                <a:solidFill>
                  <a:srgbClr val="1E1E1E"/>
                </a:solidFill>
                <a:latin typeface="Arial" pitchFamily="34" charset="0"/>
                <a:ea typeface="Arial" pitchFamily="34" charset="-122"/>
                <a:cs typeface="Arial" pitchFamily="34" charset="-120"/>
              </a:rPr>
              <a:t>Bridge to the app</a:t>
            </a:r>
            <a:endParaRPr lang="en-US" sz="2800" dirty="0"/>
          </a:p>
        </p:txBody>
      </p:sp>
      <p:sp>
        <p:nvSpPr>
          <p:cNvPr id="4" name="Shape 2"/>
          <p:cNvSpPr/>
          <p:nvPr/>
        </p:nvSpPr>
        <p:spPr>
          <a:xfrm>
            <a:off x="640080" y="1737360"/>
            <a:ext cx="5257800" cy="3108960"/>
          </a:xfrm>
          <a:prstGeom prst="roundRect">
            <a:avLst>
              <a:gd name="adj" fmla="val 2353"/>
            </a:avLst>
          </a:prstGeom>
          <a:solidFill>
            <a:srgbClr val="293352"/>
          </a:solidFill>
          <a:ln/>
        </p:spPr>
      </p:sp>
      <p:sp>
        <p:nvSpPr>
          <p:cNvPr id="5" name="Text 3"/>
          <p:cNvSpPr/>
          <p:nvPr/>
        </p:nvSpPr>
        <p:spPr>
          <a:xfrm>
            <a:off x="640080" y="2011680"/>
            <a:ext cx="5257800" cy="914400"/>
          </a:xfrm>
          <a:prstGeom prst="rect">
            <a:avLst/>
          </a:prstGeom>
          <a:noFill/>
          <a:ln/>
        </p:spPr>
        <p:txBody>
          <a:bodyPr wrap="square" lIns="0" tIns="0" rIns="0" bIns="0" rtlCol="0" anchor="ctr"/>
          <a:lstStyle/>
          <a:p>
            <a:pPr marL="0" indent="0" algn="ctr">
              <a:buNone/>
            </a:pPr>
            <a:r>
              <a:rPr lang="en-US" sz="4600" b="1" dirty="0">
                <a:solidFill>
                  <a:srgbClr val="FFFFFF"/>
                </a:solidFill>
                <a:latin typeface="Arial" pitchFamily="34" charset="0"/>
                <a:ea typeface="Arial" pitchFamily="34" charset="-122"/>
                <a:cs typeface="Arial" pitchFamily="34" charset="-120"/>
              </a:rPr>
              <a:t>R</a:t>
            </a:r>
            <a:endParaRPr lang="en-US" sz="4600" dirty="0"/>
          </a:p>
        </p:txBody>
      </p:sp>
      <p:sp>
        <p:nvSpPr>
          <p:cNvPr id="6" name="Text 4"/>
          <p:cNvSpPr/>
          <p:nvPr/>
        </p:nvSpPr>
        <p:spPr>
          <a:xfrm>
            <a:off x="1005840" y="3108960"/>
            <a:ext cx="4572000" cy="1371600"/>
          </a:xfrm>
          <a:prstGeom prst="rect">
            <a:avLst/>
          </a:prstGeom>
          <a:noFill/>
          <a:ln/>
        </p:spPr>
        <p:txBody>
          <a:bodyPr wrap="square" lIns="0" tIns="0" rIns="0" bIns="0" rtlCol="0" anchor="t"/>
          <a:lstStyle/>
          <a:p>
            <a:pPr marL="0" indent="0" algn="ctr">
              <a:buNone/>
            </a:pPr>
            <a:r>
              <a:rPr lang="en-US" sz="1700" dirty="0">
                <a:solidFill>
                  <a:srgbClr val="F3F3F1"/>
                </a:solidFill>
                <a:latin typeface="Arial" pitchFamily="34" charset="0"/>
                <a:ea typeface="Arial" pitchFamily="34" charset="-122"/>
                <a:cs typeface="Arial" pitchFamily="34" charset="-120"/>
              </a:rPr>
              <a:t>Taught us the math and gave us a live fetchable abstraction.</a:t>
            </a:r>
            <a:endParaRPr lang="en-US" sz="1700" dirty="0"/>
          </a:p>
        </p:txBody>
      </p:sp>
      <p:sp>
        <p:nvSpPr>
          <p:cNvPr id="7" name="Text 5"/>
          <p:cNvSpPr/>
          <p:nvPr/>
        </p:nvSpPr>
        <p:spPr>
          <a:xfrm>
            <a:off x="5897880" y="2926080"/>
            <a:ext cx="822960" cy="731520"/>
          </a:xfrm>
          <a:prstGeom prst="rect">
            <a:avLst/>
          </a:prstGeom>
          <a:noFill/>
          <a:ln/>
        </p:spPr>
        <p:txBody>
          <a:bodyPr wrap="square" lIns="0" tIns="0" rIns="0" bIns="0" rtlCol="0" anchor="ctr"/>
          <a:lstStyle/>
          <a:p>
            <a:pPr marL="0" indent="0" algn="ctr">
              <a:buNone/>
            </a:pPr>
            <a:r>
              <a:rPr lang="en-US" sz="3400" b="1" dirty="0">
                <a:solidFill>
                  <a:srgbClr val="8996A0"/>
                </a:solidFill>
                <a:latin typeface="Arial" pitchFamily="34" charset="0"/>
                <a:ea typeface="Arial" pitchFamily="34" charset="-122"/>
                <a:cs typeface="Arial" pitchFamily="34" charset="-120"/>
              </a:rPr>
              <a:t>→</a:t>
            </a:r>
            <a:endParaRPr lang="en-US" sz="3400" dirty="0"/>
          </a:p>
        </p:txBody>
      </p:sp>
      <p:sp>
        <p:nvSpPr>
          <p:cNvPr id="8" name="Shape 6"/>
          <p:cNvSpPr/>
          <p:nvPr/>
        </p:nvSpPr>
        <p:spPr>
          <a:xfrm>
            <a:off x="6675120" y="1737360"/>
            <a:ext cx="4846320" cy="3108960"/>
          </a:xfrm>
          <a:prstGeom prst="roundRect">
            <a:avLst>
              <a:gd name="adj" fmla="val 2353"/>
            </a:avLst>
          </a:prstGeom>
          <a:solidFill>
            <a:srgbClr val="A51C30"/>
          </a:solidFill>
          <a:ln/>
        </p:spPr>
      </p:sp>
      <p:sp>
        <p:nvSpPr>
          <p:cNvPr id="9" name="Text 7"/>
          <p:cNvSpPr/>
          <p:nvPr/>
        </p:nvSpPr>
        <p:spPr>
          <a:xfrm>
            <a:off x="6675120" y="2011680"/>
            <a:ext cx="4846320" cy="914400"/>
          </a:xfrm>
          <a:prstGeom prst="rect">
            <a:avLst/>
          </a:prstGeom>
          <a:noFill/>
          <a:ln/>
        </p:spPr>
        <p:txBody>
          <a:bodyPr wrap="square" lIns="0" tIns="0" rIns="0" bIns="0" rtlCol="0" anchor="ctr"/>
          <a:lstStyle/>
          <a:p>
            <a:pPr marL="0" indent="0" algn="ctr">
              <a:buNone/>
            </a:pPr>
            <a:r>
              <a:rPr lang="en-US" sz="4600" b="1" dirty="0">
                <a:solidFill>
                  <a:srgbClr val="FFFFFF"/>
                </a:solidFill>
                <a:latin typeface="Arial" pitchFamily="34" charset="0"/>
                <a:ea typeface="Arial" pitchFamily="34" charset="-122"/>
                <a:cs typeface="Arial" pitchFamily="34" charset="-120"/>
              </a:rPr>
              <a:t>SPA</a:t>
            </a:r>
            <a:endParaRPr lang="en-US" sz="4600" dirty="0"/>
          </a:p>
        </p:txBody>
      </p:sp>
      <p:sp>
        <p:nvSpPr>
          <p:cNvPr id="10" name="Text 8"/>
          <p:cNvSpPr/>
          <p:nvPr/>
        </p:nvSpPr>
        <p:spPr>
          <a:xfrm>
            <a:off x="7040880" y="3108960"/>
            <a:ext cx="4114800" cy="1463040"/>
          </a:xfrm>
          <a:prstGeom prst="rect">
            <a:avLst/>
          </a:prstGeom>
          <a:noFill/>
          <a:ln/>
        </p:spPr>
        <p:txBody>
          <a:bodyPr wrap="square" lIns="0" tIns="0" rIns="0" bIns="0" rtlCol="0" anchor="t"/>
          <a:lstStyle/>
          <a:p>
            <a:pPr marL="0" indent="0" algn="ctr">
              <a:buNone/>
            </a:pPr>
            <a:r>
              <a:rPr lang="en-US" sz="1700" dirty="0">
                <a:solidFill>
                  <a:srgbClr val="FFFFFF"/>
                </a:solidFill>
                <a:latin typeface="Arial" pitchFamily="34" charset="0"/>
                <a:ea typeface="Arial" pitchFamily="34" charset="-122"/>
                <a:cs typeface="Arial" pitchFamily="34" charset="-120"/>
              </a:rPr>
              <a:t>Fetches its own live data and does the same calculations in JavaScript. Numbers computed, the model explains.</a:t>
            </a:r>
            <a:endParaRPr lang="en-US" sz="1700" dirty="0"/>
          </a:p>
        </p:txBody>
      </p:sp>
      <p:sp>
        <p:nvSpPr>
          <p:cNvPr id="11"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2" name="Harvard Page Number"/>
          <p:cNvSpPr txBox="1"/>
          <p:nvPr/>
        </p:nvSpPr>
        <p:spPr>
          <a:xfrm>
            <a:off x="11730577" y="6446043"/>
            <a:ext cx="324104" cy="274638"/>
          </a:xfrm>
          <a:prstGeom prst="rect">
            <a:avLst/>
          </a:prstGeom>
          <a:noFill/>
        </p:spPr>
        <p:txBody>
          <a:bodyPr wrap="none" lIns="0" tIns="0" rIns="0" bIns="0">
            <a:noAutofit/>
          </a:bodyPr>
          <a:lstStyle/>
          <a:p>
            <a:pPr algn="r"/>
            <a:fld id="{9E8B8F49-DD04-4176-A844-02D83667BF64}" type="slidenum">
              <a:rPr lang="en-US" sz="1000">
                <a:solidFill>
                  <a:srgbClr val="8996A0"/>
                </a:solidFill>
                <a:latin typeface="Arial"/>
              </a:rPr>
              <a:t>30</a:t>
            </a:fld>
            <a:endParaRPr lang="en-US" sz="1000">
              <a:solidFill>
                <a:srgbClr val="8996A0"/>
              </a:solidFill>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2">
    <p:bg>
      <p:bgPr>
        <a:solidFill>
          <a:srgbClr val="A51C30"/>
        </a:solidFill>
        <a:effectLst/>
      </p:bgPr>
    </p:bg>
    <p:spTree>
      <p:nvGrpSpPr>
        <p:cNvPr id="1" name=""/>
        <p:cNvGrpSpPr/>
        <p:nvPr/>
      </p:nvGrpSpPr>
      <p:grpSpPr>
        <a:xfrm>
          <a:off x="0" y="0"/>
          <a:ext cx="0" cy="0"/>
          <a:chOff x="0" y="0"/>
          <a:chExt cx="0" cy="0"/>
        </a:xfrm>
      </p:grpSpPr>
      <p:sp>
        <p:nvSpPr>
          <p:cNvPr id="2" name="Text 0"/>
          <p:cNvSpPr/>
          <p:nvPr/>
        </p:nvSpPr>
        <p:spPr>
          <a:xfrm>
            <a:off x="731520" y="2011680"/>
            <a:ext cx="10698480" cy="457200"/>
          </a:xfrm>
          <a:prstGeom prst="rect">
            <a:avLst/>
          </a:prstGeom>
          <a:noFill/>
          <a:ln/>
        </p:spPr>
        <p:txBody>
          <a:bodyPr wrap="square" lIns="0" tIns="0" rIns="0" bIns="0" rtlCol="0" anchor="ctr"/>
          <a:lstStyle/>
          <a:p>
            <a:pPr marL="0" indent="0">
              <a:buNone/>
            </a:pPr>
            <a:r>
              <a:rPr lang="en-US" sz="1600" b="1" kern="0" spc="200" dirty="0">
                <a:solidFill>
                  <a:srgbClr val="FFFFFF"/>
                </a:solidFill>
                <a:latin typeface="Arial" pitchFamily="34" charset="0"/>
                <a:ea typeface="Arial" pitchFamily="34" charset="-122"/>
                <a:cs typeface="Arial" pitchFamily="34" charset="-120"/>
              </a:rPr>
              <a:t>Session 3</a:t>
            </a:r>
            <a:endParaRPr lang="en-US" sz="1600" dirty="0"/>
          </a:p>
        </p:txBody>
      </p:sp>
      <p:sp>
        <p:nvSpPr>
          <p:cNvPr id="3" name="Text 1"/>
          <p:cNvSpPr/>
          <p:nvPr/>
        </p:nvSpPr>
        <p:spPr>
          <a:xfrm>
            <a:off x="731520" y="2468880"/>
            <a:ext cx="10698480" cy="128016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From R to a Running App</a:t>
            </a:r>
            <a:endParaRPr lang="en-US" sz="4000" dirty="0"/>
          </a:p>
        </p:txBody>
      </p:sp>
      <p:sp>
        <p:nvSpPr>
          <p:cNvPr id="4" name="Text 2"/>
          <p:cNvSpPr/>
          <p:nvPr/>
        </p:nvSpPr>
        <p:spPr>
          <a:xfrm>
            <a:off x="731520" y="3749040"/>
            <a:ext cx="10698480" cy="914400"/>
          </a:xfrm>
          <a:prstGeom prst="rect">
            <a:avLst/>
          </a:prstGeom>
          <a:noFill/>
          <a:ln/>
        </p:spPr>
        <p:txBody>
          <a:bodyPr wrap="square" lIns="0" tIns="0" rIns="0" bIns="0" rtlCol="0" anchor="ctr"/>
          <a:lstStyle/>
          <a:p>
            <a:pPr marL="0" indent="0">
              <a:buNone/>
            </a:pPr>
            <a:r>
              <a:rPr lang="en-US" sz="2000" dirty="0">
                <a:solidFill>
                  <a:srgbClr val="FFFFFF"/>
                </a:solidFill>
                <a:latin typeface="Arial" pitchFamily="34" charset="0"/>
                <a:ea typeface="Arial" pitchFamily="34" charset="-122"/>
                <a:cs typeface="Arial" pitchFamily="34" charset="-120"/>
              </a:rPr>
              <a:t>The same analysis, now in the browser, fetching live</a:t>
            </a:r>
            <a:endParaRPr lang="en-US" sz="2000" dirty="0"/>
          </a:p>
        </p:txBody>
      </p:sp>
      <p:sp>
        <p:nvSpPr>
          <p:cNvPr id="5"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F3F3F1"/>
                </a:solidFill>
                <a:latin typeface="Arial"/>
              </a:rPr>
              <a:t>© 2026 Ted Kwartler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marL="0" indent="0">
              <a:buNone/>
            </a:pPr>
            <a:r>
              <a:rPr lang="en-US" sz="1200" b="1" kern="0" spc="200" dirty="0">
                <a:solidFill>
                  <a:srgbClr val="A51C30"/>
                </a:solidFill>
                <a:latin typeface="Arial" pitchFamily="34" charset="0"/>
                <a:ea typeface="Arial" pitchFamily="34" charset="-122"/>
                <a:cs typeface="Arial" pitchFamily="34" charset="-120"/>
              </a:rPr>
              <a:t>THE SPINE OF THE WHOLE BUILD</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marL="0" indent="0">
              <a:buNone/>
            </a:pPr>
            <a:r>
              <a:rPr lang="en-US" sz="2800" b="1" dirty="0">
                <a:solidFill>
                  <a:srgbClr val="1E1E1E"/>
                </a:solidFill>
                <a:latin typeface="Arial" pitchFamily="34" charset="0"/>
                <a:ea typeface="Arial" pitchFamily="34" charset="-122"/>
                <a:cs typeface="Arial" pitchFamily="34" charset="-120"/>
              </a:rPr>
              <a:t>The investment thesis</a:t>
            </a:r>
            <a:endParaRPr lang="en-US" sz="2800" dirty="0"/>
          </a:p>
        </p:txBody>
      </p:sp>
      <p:sp>
        <p:nvSpPr>
          <p:cNvPr id="4" name="Shape 2"/>
          <p:cNvSpPr/>
          <p:nvPr/>
        </p:nvSpPr>
        <p:spPr>
          <a:xfrm>
            <a:off x="640080" y="1463040"/>
            <a:ext cx="10881360" cy="1828800"/>
          </a:xfrm>
          <a:prstGeom prst="roundRect">
            <a:avLst>
              <a:gd name="adj" fmla="val 4000"/>
            </a:avLst>
          </a:prstGeom>
          <a:solidFill>
            <a:srgbClr val="293352"/>
          </a:solidFill>
          <a:ln/>
        </p:spPr>
      </p:sp>
      <p:sp>
        <p:nvSpPr>
          <p:cNvPr id="5" name="Text 3"/>
          <p:cNvSpPr/>
          <p:nvPr/>
        </p:nvSpPr>
        <p:spPr>
          <a:xfrm>
            <a:off x="1005840" y="1600200"/>
            <a:ext cx="10149840" cy="1554480"/>
          </a:xfrm>
          <a:prstGeom prst="rect">
            <a:avLst/>
          </a:prstGeom>
          <a:noFill/>
          <a:ln/>
        </p:spPr>
        <p:txBody>
          <a:bodyPr wrap="square" lIns="0" tIns="0" rIns="0" bIns="0" rtlCol="0" anchor="ctr"/>
          <a:lstStyle/>
          <a:p>
            <a:pPr marL="0" indent="0">
              <a:lnSpc>
                <a:spcPct val="110000"/>
              </a:lnSpc>
              <a:buNone/>
            </a:pPr>
            <a:r>
              <a:rPr lang="en-US" sz="2100" i="1" dirty="0">
                <a:solidFill>
                  <a:srgbClr val="FFFFFF"/>
                </a:solidFill>
                <a:latin typeface="Arial" pitchFamily="34" charset="0"/>
                <a:ea typeface="Arial" pitchFamily="34" charset="-122"/>
                <a:cs typeface="Arial" pitchFamily="34" charset="-120"/>
              </a:rPr>
              <a:t>RSI below overbought and a positive MACD represent quality individual stocks that can be optimized as a portfolio with inverse volatility weighting.</a:t>
            </a:r>
            <a:endParaRPr lang="en-US" sz="2100" dirty="0"/>
          </a:p>
        </p:txBody>
      </p:sp>
      <p:sp>
        <p:nvSpPr>
          <p:cNvPr id="6" name="Shape 4"/>
          <p:cNvSpPr/>
          <p:nvPr/>
        </p:nvSpPr>
        <p:spPr>
          <a:xfrm>
            <a:off x="640080" y="3611880"/>
            <a:ext cx="3429000" cy="1371600"/>
          </a:xfrm>
          <a:prstGeom prst="roundRect">
            <a:avLst>
              <a:gd name="adj" fmla="val 5333"/>
            </a:avLst>
          </a:prstGeom>
          <a:solidFill>
            <a:srgbClr val="F3F3F1"/>
          </a:solidFill>
          <a:ln/>
        </p:spPr>
      </p:sp>
      <p:sp>
        <p:nvSpPr>
          <p:cNvPr id="7" name="Text 5"/>
          <p:cNvSpPr/>
          <p:nvPr/>
        </p:nvSpPr>
        <p:spPr>
          <a:xfrm>
            <a:off x="731520" y="3749040"/>
            <a:ext cx="3246120" cy="822960"/>
          </a:xfrm>
          <a:prstGeom prst="rect">
            <a:avLst/>
          </a:prstGeom>
          <a:noFill/>
          <a:ln/>
        </p:spPr>
        <p:txBody>
          <a:bodyPr wrap="square" lIns="0" tIns="0" rIns="0" bIns="0" rtlCol="0" anchor="ctr"/>
          <a:lstStyle/>
          <a:p>
            <a:pPr marL="0" indent="0" algn="ctr">
              <a:buNone/>
            </a:pPr>
            <a:r>
              <a:rPr lang="en-US" sz="4000" b="1" dirty="0">
                <a:solidFill>
                  <a:srgbClr val="A51C30"/>
                </a:solidFill>
                <a:latin typeface="Arial" pitchFamily="34" charset="0"/>
                <a:ea typeface="Arial" pitchFamily="34" charset="-122"/>
                <a:cs typeface="Arial" pitchFamily="34" charset="-120"/>
              </a:rPr>
              <a:t>RSI &lt; 70</a:t>
            </a:r>
            <a:endParaRPr lang="en-US" sz="4000" dirty="0"/>
          </a:p>
        </p:txBody>
      </p:sp>
      <p:sp>
        <p:nvSpPr>
          <p:cNvPr id="8" name="Text 6"/>
          <p:cNvSpPr/>
          <p:nvPr/>
        </p:nvSpPr>
        <p:spPr>
          <a:xfrm>
            <a:off x="777240" y="4544568"/>
            <a:ext cx="3154680" cy="365760"/>
          </a:xfrm>
          <a:prstGeom prst="rect">
            <a:avLst/>
          </a:prstGeom>
          <a:noFill/>
          <a:ln/>
        </p:spPr>
        <p:txBody>
          <a:bodyPr wrap="square" lIns="0" tIns="0" rIns="0" bIns="0" rtlCol="0" anchor="ctr"/>
          <a:lstStyle/>
          <a:p>
            <a:pPr marL="0" indent="0" algn="ctr">
              <a:buNone/>
            </a:pPr>
            <a:r>
              <a:rPr lang="en-US" sz="1250" dirty="0">
                <a:solidFill>
                  <a:srgbClr val="1E1E1E"/>
                </a:solidFill>
                <a:latin typeface="Arial" pitchFamily="34" charset="0"/>
                <a:ea typeface="Arial" pitchFamily="34" charset="-122"/>
                <a:cs typeface="Arial" pitchFamily="34" charset="-120"/>
              </a:rPr>
              <a:t>not overbought</a:t>
            </a:r>
            <a:endParaRPr lang="en-US" sz="1250" dirty="0"/>
          </a:p>
        </p:txBody>
      </p:sp>
      <p:sp>
        <p:nvSpPr>
          <p:cNvPr id="9" name="Shape 7"/>
          <p:cNvSpPr/>
          <p:nvPr/>
        </p:nvSpPr>
        <p:spPr>
          <a:xfrm>
            <a:off x="4343400" y="3611880"/>
            <a:ext cx="3429000" cy="1371600"/>
          </a:xfrm>
          <a:prstGeom prst="roundRect">
            <a:avLst>
              <a:gd name="adj" fmla="val 5333"/>
            </a:avLst>
          </a:prstGeom>
          <a:solidFill>
            <a:srgbClr val="F3F3F1"/>
          </a:solidFill>
          <a:ln/>
        </p:spPr>
      </p:sp>
      <p:sp>
        <p:nvSpPr>
          <p:cNvPr id="10" name="Text 8"/>
          <p:cNvSpPr/>
          <p:nvPr/>
        </p:nvSpPr>
        <p:spPr>
          <a:xfrm>
            <a:off x="4434840" y="3749040"/>
            <a:ext cx="3246120" cy="822960"/>
          </a:xfrm>
          <a:prstGeom prst="rect">
            <a:avLst/>
          </a:prstGeom>
          <a:noFill/>
          <a:ln/>
        </p:spPr>
        <p:txBody>
          <a:bodyPr wrap="square" lIns="0" tIns="0" rIns="0" bIns="0" rtlCol="0" anchor="ctr"/>
          <a:lstStyle/>
          <a:p>
            <a:pPr marL="0" indent="0" algn="ctr">
              <a:buNone/>
            </a:pPr>
            <a:r>
              <a:rPr lang="en-US" sz="4000" b="1" dirty="0">
                <a:solidFill>
                  <a:srgbClr val="A51C30"/>
                </a:solidFill>
                <a:latin typeface="Arial" pitchFamily="34" charset="0"/>
                <a:ea typeface="Arial" pitchFamily="34" charset="-122"/>
                <a:cs typeface="Arial" pitchFamily="34" charset="-120"/>
              </a:rPr>
              <a:t>MACD &gt; 0</a:t>
            </a:r>
            <a:endParaRPr lang="en-US" sz="4000" dirty="0"/>
          </a:p>
        </p:txBody>
      </p:sp>
      <p:sp>
        <p:nvSpPr>
          <p:cNvPr id="11" name="Text 9"/>
          <p:cNvSpPr/>
          <p:nvPr/>
        </p:nvSpPr>
        <p:spPr>
          <a:xfrm>
            <a:off x="4480560" y="4544568"/>
            <a:ext cx="3154680" cy="365760"/>
          </a:xfrm>
          <a:prstGeom prst="rect">
            <a:avLst/>
          </a:prstGeom>
          <a:noFill/>
          <a:ln/>
        </p:spPr>
        <p:txBody>
          <a:bodyPr wrap="square" lIns="0" tIns="0" rIns="0" bIns="0" rtlCol="0" anchor="ctr"/>
          <a:lstStyle/>
          <a:p>
            <a:pPr marL="0" indent="0" algn="ctr">
              <a:buNone/>
            </a:pPr>
            <a:r>
              <a:rPr lang="en-US" sz="1250" dirty="0">
                <a:solidFill>
                  <a:srgbClr val="1E1E1E"/>
                </a:solidFill>
                <a:latin typeface="Arial" pitchFamily="34" charset="0"/>
                <a:ea typeface="Arial" pitchFamily="34" charset="-122"/>
                <a:cs typeface="Arial" pitchFamily="34" charset="-120"/>
              </a:rPr>
              <a:t>positive histogram</a:t>
            </a:r>
            <a:endParaRPr lang="en-US" sz="1250" dirty="0"/>
          </a:p>
        </p:txBody>
      </p:sp>
      <p:sp>
        <p:nvSpPr>
          <p:cNvPr id="12" name="Shape 10"/>
          <p:cNvSpPr/>
          <p:nvPr/>
        </p:nvSpPr>
        <p:spPr>
          <a:xfrm>
            <a:off x="8092440" y="3611880"/>
            <a:ext cx="3429000" cy="1371600"/>
          </a:xfrm>
          <a:prstGeom prst="roundRect">
            <a:avLst>
              <a:gd name="adj" fmla="val 5333"/>
            </a:avLst>
          </a:prstGeom>
          <a:solidFill>
            <a:srgbClr val="F3F3F1"/>
          </a:solidFill>
          <a:ln/>
        </p:spPr>
      </p:sp>
      <p:sp>
        <p:nvSpPr>
          <p:cNvPr id="13" name="Text 11"/>
          <p:cNvSpPr/>
          <p:nvPr/>
        </p:nvSpPr>
        <p:spPr>
          <a:xfrm>
            <a:off x="8183880" y="3749040"/>
            <a:ext cx="3246120" cy="822960"/>
          </a:xfrm>
          <a:prstGeom prst="rect">
            <a:avLst/>
          </a:prstGeom>
          <a:noFill/>
          <a:ln/>
        </p:spPr>
        <p:txBody>
          <a:bodyPr wrap="square" lIns="0" tIns="0" rIns="0" bIns="0" rtlCol="0" anchor="ctr"/>
          <a:lstStyle/>
          <a:p>
            <a:pPr marL="0" indent="0" algn="ctr">
              <a:buNone/>
            </a:pPr>
            <a:r>
              <a:rPr lang="en-US" sz="4000" b="1" dirty="0">
                <a:solidFill>
                  <a:srgbClr val="293352"/>
                </a:solidFill>
                <a:latin typeface="Arial" pitchFamily="34" charset="0"/>
                <a:cs typeface="Arial" pitchFamily="34" charset="-120"/>
              </a:rPr>
              <a:t>Optimization</a:t>
            </a:r>
            <a:endParaRPr lang="en-US" sz="4000" dirty="0"/>
          </a:p>
        </p:txBody>
      </p:sp>
      <p:sp>
        <p:nvSpPr>
          <p:cNvPr id="14" name="Text 12"/>
          <p:cNvSpPr/>
          <p:nvPr/>
        </p:nvSpPr>
        <p:spPr>
          <a:xfrm>
            <a:off x="8229600" y="4544568"/>
            <a:ext cx="3154680" cy="365760"/>
          </a:xfrm>
          <a:prstGeom prst="rect">
            <a:avLst/>
          </a:prstGeom>
          <a:noFill/>
          <a:ln/>
        </p:spPr>
        <p:txBody>
          <a:bodyPr wrap="square" lIns="0" tIns="0" rIns="0" bIns="0" rtlCol="0" anchor="ctr"/>
          <a:lstStyle/>
          <a:p>
            <a:pPr marL="0" indent="0" algn="ctr">
              <a:buNone/>
            </a:pPr>
            <a:r>
              <a:rPr lang="en-US" sz="1250" dirty="0">
                <a:solidFill>
                  <a:srgbClr val="1E1E1E"/>
                </a:solidFill>
                <a:latin typeface="Arial" pitchFamily="34" charset="0"/>
                <a:ea typeface="Arial" pitchFamily="34" charset="-122"/>
                <a:cs typeface="Arial" pitchFamily="34" charset="-120"/>
              </a:rPr>
              <a:t>Pick a portfolio optimization technique</a:t>
            </a:r>
            <a:endParaRPr lang="en-US" sz="1250" dirty="0"/>
          </a:p>
        </p:txBody>
      </p:sp>
      <p:sp>
        <p:nvSpPr>
          <p:cNvPr id="15" name="Text 13"/>
          <p:cNvSpPr/>
          <p:nvPr/>
        </p:nvSpPr>
        <p:spPr>
          <a:xfrm>
            <a:off x="640080" y="5212080"/>
            <a:ext cx="10881360" cy="457200"/>
          </a:xfrm>
          <a:prstGeom prst="rect">
            <a:avLst/>
          </a:prstGeom>
          <a:noFill/>
          <a:ln/>
        </p:spPr>
        <p:txBody>
          <a:bodyPr wrap="square" lIns="0" tIns="0" rIns="0" bIns="0" rtlCol="0" anchor="ctr"/>
          <a:lstStyle/>
          <a:p>
            <a:pPr marL="0" indent="0" algn="ctr">
              <a:buNone/>
            </a:pPr>
            <a:r>
              <a:rPr lang="en-US" sz="1500" i="1" dirty="0">
                <a:solidFill>
                  <a:srgbClr val="8996A0"/>
                </a:solidFill>
                <a:latin typeface="Arial" pitchFamily="34" charset="0"/>
                <a:ea typeface="Arial" pitchFamily="34" charset="-122"/>
                <a:cs typeface="Arial" pitchFamily="34" charset="-120"/>
              </a:rPr>
              <a:t>Every user story that follows traces back to this one sentence.</a:t>
            </a:r>
            <a:endParaRPr lang="en-US" sz="1500" dirty="0"/>
          </a:p>
        </p:txBody>
      </p:sp>
      <p:sp>
        <p:nvSpPr>
          <p:cNvPr id="16"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7" name="Harvard Page Number"/>
          <p:cNvSpPr txBox="1"/>
          <p:nvPr/>
        </p:nvSpPr>
        <p:spPr>
          <a:xfrm>
            <a:off x="11730577" y="6446043"/>
            <a:ext cx="324104" cy="274638"/>
          </a:xfrm>
          <a:prstGeom prst="rect">
            <a:avLst/>
          </a:prstGeom>
          <a:noFill/>
        </p:spPr>
        <p:txBody>
          <a:bodyPr wrap="none" lIns="0" tIns="0" rIns="0" bIns="0">
            <a:noAutofit/>
          </a:bodyPr>
          <a:lstStyle/>
          <a:p>
            <a:pPr algn="r"/>
            <a:fld id="{CD5CE62D-3309-4C01-BA88-A4B06E00E2F9}" type="slidenum">
              <a:rPr lang="en-US" sz="1000">
                <a:solidFill>
                  <a:srgbClr val="8996A0"/>
                </a:solidFill>
                <a:latin typeface="Arial"/>
              </a:rPr>
              <a:t>32</a:t>
            </a:fld>
            <a:endParaRPr lang="en-US" sz="1000">
              <a:solidFill>
                <a:srgbClr val="8996A0"/>
              </a:solidFill>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marL="0" indent="0">
              <a:buNone/>
            </a:pPr>
            <a:r>
              <a:rPr lang="en-US" sz="1200" b="1" kern="0" spc="200" dirty="0">
                <a:solidFill>
                  <a:srgbClr val="A51C30"/>
                </a:solidFill>
                <a:latin typeface="Arial" pitchFamily="34" charset="0"/>
                <a:ea typeface="Arial" pitchFamily="34" charset="-122"/>
                <a:cs typeface="Arial" pitchFamily="34" charset="-120"/>
              </a:rPr>
              <a:t>WHY THE APP IS TRUSTWORTHY</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marL="0" indent="0">
              <a:buNone/>
            </a:pPr>
            <a:r>
              <a:rPr lang="en-US" sz="2800" b="1" dirty="0">
                <a:solidFill>
                  <a:srgbClr val="1E1E1E"/>
                </a:solidFill>
                <a:latin typeface="Arial" pitchFamily="34" charset="0"/>
                <a:ea typeface="Arial" pitchFamily="34" charset="-122"/>
                <a:cs typeface="Arial" pitchFamily="34" charset="-120"/>
              </a:rPr>
              <a:t>The rule for the build</a:t>
            </a:r>
            <a:endParaRPr lang="en-US" sz="2800" dirty="0"/>
          </a:p>
        </p:txBody>
      </p:sp>
      <p:sp>
        <p:nvSpPr>
          <p:cNvPr id="4" name="Shape 2"/>
          <p:cNvSpPr/>
          <p:nvPr/>
        </p:nvSpPr>
        <p:spPr>
          <a:xfrm>
            <a:off x="640080" y="1645920"/>
            <a:ext cx="5257800" cy="3291840"/>
          </a:xfrm>
          <a:prstGeom prst="roundRect">
            <a:avLst>
              <a:gd name="adj" fmla="val 2222"/>
            </a:avLst>
          </a:prstGeom>
          <a:solidFill>
            <a:srgbClr val="A51C30"/>
          </a:solidFill>
          <a:ln/>
        </p:spPr>
      </p:sp>
      <p:sp>
        <p:nvSpPr>
          <p:cNvPr id="5" name="Shape 3"/>
          <p:cNvSpPr/>
          <p:nvPr/>
        </p:nvSpPr>
        <p:spPr>
          <a:xfrm>
            <a:off x="2948940" y="1965960"/>
            <a:ext cx="640080" cy="640080"/>
          </a:xfrm>
          <a:prstGeom prst="roundRect">
            <a:avLst>
              <a:gd name="adj" fmla="val 12857"/>
            </a:avLst>
          </a:prstGeom>
          <a:solidFill>
            <a:srgbClr val="FFFFFF"/>
          </a:solidFill>
          <a:ln/>
        </p:spPr>
      </p:sp>
      <p:pic>
        <p:nvPicPr>
          <p:cNvPr id="6" name="Image 0" descr="preencoded.png"/>
          <p:cNvPicPr>
            <a:picLocks noChangeAspect="1"/>
          </p:cNvPicPr>
          <p:nvPr/>
        </p:nvPicPr>
        <p:blipFill>
          <a:blip r:embed="rId3"/>
          <a:stretch>
            <a:fillRect/>
          </a:stretch>
        </p:blipFill>
        <p:spPr>
          <a:xfrm>
            <a:off x="3092958" y="2109978"/>
            <a:ext cx="352044" cy="352044"/>
          </a:xfrm>
          <a:prstGeom prst="rect">
            <a:avLst/>
          </a:prstGeom>
        </p:spPr>
      </p:pic>
      <p:sp>
        <p:nvSpPr>
          <p:cNvPr id="7" name="Text 4"/>
          <p:cNvSpPr/>
          <p:nvPr/>
        </p:nvSpPr>
        <p:spPr>
          <a:xfrm>
            <a:off x="640080" y="2743200"/>
            <a:ext cx="525780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Calculations</a:t>
            </a:r>
            <a:endParaRPr lang="en-US" sz="2400" dirty="0"/>
          </a:p>
        </p:txBody>
      </p:sp>
      <p:sp>
        <p:nvSpPr>
          <p:cNvPr id="8" name="Text 5"/>
          <p:cNvSpPr/>
          <p:nvPr/>
        </p:nvSpPr>
        <p:spPr>
          <a:xfrm>
            <a:off x="1005840" y="3383280"/>
            <a:ext cx="4572000" cy="1280160"/>
          </a:xfrm>
          <a:prstGeom prst="rect">
            <a:avLst/>
          </a:prstGeom>
          <a:noFill/>
          <a:ln/>
        </p:spPr>
        <p:txBody>
          <a:bodyPr wrap="square" lIns="0" tIns="0" rIns="0" bIns="0" rtlCol="0" anchor="t"/>
          <a:lstStyle/>
          <a:p>
            <a:pPr marL="0" indent="0" algn="ctr">
              <a:buNone/>
            </a:pPr>
            <a:r>
              <a:rPr lang="en-US" sz="1600" dirty="0">
                <a:solidFill>
                  <a:srgbClr val="FFFFFF"/>
                </a:solidFill>
                <a:latin typeface="Arial" pitchFamily="34" charset="0"/>
                <a:ea typeface="Arial" pitchFamily="34" charset="-122"/>
                <a:cs typeface="Arial" pitchFamily="34" charset="-120"/>
              </a:rPr>
              <a:t>RSI, MACD, and the weighting all run in JavaScript.</a:t>
            </a:r>
            <a:endParaRPr lang="en-US" sz="1600" dirty="0"/>
          </a:p>
        </p:txBody>
      </p:sp>
      <p:sp>
        <p:nvSpPr>
          <p:cNvPr id="9" name="Shape 6"/>
          <p:cNvSpPr/>
          <p:nvPr/>
        </p:nvSpPr>
        <p:spPr>
          <a:xfrm>
            <a:off x="6263640" y="1645920"/>
            <a:ext cx="5257800" cy="3291840"/>
          </a:xfrm>
          <a:prstGeom prst="roundRect">
            <a:avLst>
              <a:gd name="adj" fmla="val 2222"/>
            </a:avLst>
          </a:prstGeom>
          <a:solidFill>
            <a:srgbClr val="293352"/>
          </a:solidFill>
          <a:ln/>
        </p:spPr>
      </p:sp>
      <p:sp>
        <p:nvSpPr>
          <p:cNvPr id="10" name="Shape 7"/>
          <p:cNvSpPr/>
          <p:nvPr/>
        </p:nvSpPr>
        <p:spPr>
          <a:xfrm>
            <a:off x="8572500" y="1965960"/>
            <a:ext cx="640080" cy="640080"/>
          </a:xfrm>
          <a:prstGeom prst="roundRect">
            <a:avLst>
              <a:gd name="adj" fmla="val 12857"/>
            </a:avLst>
          </a:prstGeom>
          <a:solidFill>
            <a:srgbClr val="FFFFFF"/>
          </a:solidFill>
          <a:ln/>
        </p:spPr>
      </p:sp>
      <p:pic>
        <p:nvPicPr>
          <p:cNvPr id="11" name="Image 1" descr="preencoded.png"/>
          <p:cNvPicPr>
            <a:picLocks noChangeAspect="1"/>
          </p:cNvPicPr>
          <p:nvPr/>
        </p:nvPicPr>
        <p:blipFill>
          <a:blip r:embed="rId4"/>
          <a:stretch>
            <a:fillRect/>
          </a:stretch>
        </p:blipFill>
        <p:spPr>
          <a:xfrm>
            <a:off x="8716518" y="2109978"/>
            <a:ext cx="352044" cy="352044"/>
          </a:xfrm>
          <a:prstGeom prst="rect">
            <a:avLst/>
          </a:prstGeom>
        </p:spPr>
      </p:pic>
      <p:sp>
        <p:nvSpPr>
          <p:cNvPr id="12" name="Text 8"/>
          <p:cNvSpPr/>
          <p:nvPr/>
        </p:nvSpPr>
        <p:spPr>
          <a:xfrm>
            <a:off x="6263640" y="2743200"/>
            <a:ext cx="525780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Language</a:t>
            </a:r>
            <a:endParaRPr lang="en-US" sz="2400" dirty="0"/>
          </a:p>
        </p:txBody>
      </p:sp>
      <p:sp>
        <p:nvSpPr>
          <p:cNvPr id="13" name="Text 9"/>
          <p:cNvSpPr/>
          <p:nvPr/>
        </p:nvSpPr>
        <p:spPr>
          <a:xfrm>
            <a:off x="6629400" y="3383280"/>
            <a:ext cx="4572000" cy="1280160"/>
          </a:xfrm>
          <a:prstGeom prst="rect">
            <a:avLst/>
          </a:prstGeom>
          <a:noFill/>
          <a:ln/>
        </p:spPr>
        <p:txBody>
          <a:bodyPr wrap="square" lIns="0" tIns="0" rIns="0" bIns="0" rtlCol="0" anchor="t"/>
          <a:lstStyle/>
          <a:p>
            <a:pPr marL="0" indent="0" algn="ctr">
              <a:buNone/>
            </a:pPr>
            <a:r>
              <a:rPr lang="en-US" sz="1600" dirty="0">
                <a:solidFill>
                  <a:srgbClr val="FFFFFF"/>
                </a:solidFill>
                <a:latin typeface="Arial" pitchFamily="34" charset="0"/>
                <a:ea typeface="Arial" pitchFamily="34" charset="-122"/>
                <a:cs typeface="Arial" pitchFamily="34" charset="-120"/>
              </a:rPr>
              <a:t>The LLM only writes the plain English research note.</a:t>
            </a:r>
            <a:endParaRPr lang="en-US" sz="1600" dirty="0"/>
          </a:p>
        </p:txBody>
      </p:sp>
      <p:sp>
        <p:nvSpPr>
          <p:cNvPr id="14" name="Text 10"/>
          <p:cNvSpPr/>
          <p:nvPr/>
        </p:nvSpPr>
        <p:spPr>
          <a:xfrm>
            <a:off x="640080" y="5120640"/>
            <a:ext cx="10881360" cy="457200"/>
          </a:xfrm>
          <a:prstGeom prst="rect">
            <a:avLst/>
          </a:prstGeom>
          <a:noFill/>
          <a:ln/>
        </p:spPr>
        <p:txBody>
          <a:bodyPr wrap="square" lIns="0" tIns="0" rIns="0" bIns="0" rtlCol="0" anchor="ctr"/>
          <a:lstStyle/>
          <a:p>
            <a:pPr marL="0" indent="0" algn="ctr">
              <a:buNone/>
            </a:pPr>
            <a:r>
              <a:rPr lang="en-US" sz="1500" i="1" dirty="0">
                <a:solidFill>
                  <a:srgbClr val="8996A0"/>
                </a:solidFill>
                <a:latin typeface="Arial" pitchFamily="34" charset="0"/>
                <a:ea typeface="Arial" pitchFamily="34" charset="-122"/>
                <a:cs typeface="Arial" pitchFamily="34" charset="-120"/>
              </a:rPr>
              <a:t>Arithmetic from the code, language from the model. That is the whole trust argument.</a:t>
            </a:r>
            <a:endParaRPr lang="en-US" sz="1500" dirty="0"/>
          </a:p>
        </p:txBody>
      </p:sp>
      <p:sp>
        <p:nvSpPr>
          <p:cNvPr id="15"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6" name="Harvard Page Number"/>
          <p:cNvSpPr txBox="1"/>
          <p:nvPr/>
        </p:nvSpPr>
        <p:spPr>
          <a:xfrm>
            <a:off x="11730577" y="6446043"/>
            <a:ext cx="324104" cy="274638"/>
          </a:xfrm>
          <a:prstGeom prst="rect">
            <a:avLst/>
          </a:prstGeom>
          <a:noFill/>
        </p:spPr>
        <p:txBody>
          <a:bodyPr wrap="none" lIns="0" tIns="0" rIns="0" bIns="0">
            <a:noAutofit/>
          </a:bodyPr>
          <a:lstStyle/>
          <a:p>
            <a:pPr algn="r"/>
            <a:fld id="{9D4D4451-5CC0-49F9-802B-82978A3D2185}" type="slidenum">
              <a:rPr lang="en-US" sz="1000">
                <a:solidFill>
                  <a:srgbClr val="8996A0"/>
                </a:solidFill>
                <a:latin typeface="Arial"/>
              </a:rPr>
              <a:t>33</a:t>
            </a:fld>
            <a:endParaRPr lang="en-US" sz="1000">
              <a:solidFill>
                <a:srgbClr val="8996A0"/>
              </a:solidFill>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marL="0" indent="0">
              <a:buNone/>
            </a:pPr>
            <a:r>
              <a:rPr lang="en-US" sz="1200" b="1" kern="0" spc="200" dirty="0">
                <a:solidFill>
                  <a:srgbClr val="A51C30"/>
                </a:solidFill>
                <a:latin typeface="Arial" pitchFamily="34" charset="0"/>
                <a:ea typeface="Arial" pitchFamily="34" charset="-122"/>
                <a:cs typeface="Arial" pitchFamily="34" charset="-120"/>
              </a:rPr>
              <a:t>WHAT STUDENTS NEED ACCESS TO</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marL="0" indent="0">
              <a:buNone/>
            </a:pPr>
            <a:r>
              <a:rPr lang="en-US" sz="2800" b="1" dirty="0">
                <a:solidFill>
                  <a:srgbClr val="1E1E1E"/>
                </a:solidFill>
                <a:latin typeface="Arial" pitchFamily="34" charset="0"/>
                <a:ea typeface="Arial" pitchFamily="34" charset="-122"/>
                <a:cs typeface="Arial" pitchFamily="34" charset="-120"/>
              </a:rPr>
              <a:t>API tools for the build</a:t>
            </a:r>
            <a:endParaRPr lang="en-US" sz="2800" dirty="0"/>
          </a:p>
        </p:txBody>
      </p:sp>
      <p:graphicFrame>
        <p:nvGraphicFramePr>
          <p:cNvPr id="28" name="Table 0"/>
          <p:cNvGraphicFramePr>
            <a:graphicFrameLocks noGrp="1"/>
          </p:cNvGraphicFramePr>
          <p:nvPr>
            <p:extLst>
              <p:ext uri="{D42A27DB-BD31-4B8C-83A1-F6EECF244321}">
                <p14:modId xmlns:p14="http://schemas.microsoft.com/office/powerpoint/2010/main" val="2169573036"/>
              </p:ext>
            </p:extLst>
          </p:nvPr>
        </p:nvGraphicFramePr>
        <p:xfrm>
          <a:off x="640080" y="1737360"/>
          <a:ext cx="10881360" cy="1783080"/>
        </p:xfrm>
        <a:graphic>
          <a:graphicData uri="http://schemas.openxmlformats.org/drawingml/2006/table">
            <a:tbl>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502920">
                <a:tc>
                  <a:txBody>
                    <a:bodyPr/>
                    <a:lstStyle/>
                    <a:p>
                      <a:pPr marL="0" indent="0" algn="l">
                        <a:buNone/>
                      </a:pPr>
                      <a:r>
                        <a:rPr lang="en-US" sz="1400" b="1" dirty="0">
                          <a:solidFill>
                            <a:srgbClr val="FFFFFF"/>
                          </a:solidFill>
                          <a:latin typeface="Arial" pitchFamily="34" charset="0"/>
                          <a:ea typeface="Arial" pitchFamily="34" charset="-122"/>
                          <a:cs typeface="Arial" pitchFamily="34" charset="-120"/>
                        </a:rPr>
                        <a:t>API</a:t>
                      </a:r>
                      <a:endParaRPr lang="en-US" sz="1400" dirty="0">
                        <a:latin typeface="Arial" charset="0"/>
                        <a:ea typeface="Arial" charset="0"/>
                        <a:cs typeface="Arial" charset="0"/>
                      </a:endParaRPr>
                    </a:p>
                  </a:txBody>
                  <a:tcPr anchor="ctr">
                    <a:lnL w="12700" cap="flat" cmpd="sng" algn="ctr">
                      <a:solidFill>
                        <a:srgbClr val="D8D8D4"/>
                      </a:solidFill>
                      <a:prstDash val="solid"/>
                      <a:round/>
                      <a:headEnd type="none" w="med" len="med"/>
                      <a:tailEnd type="none" w="med" len="med"/>
                    </a:lnL>
                    <a:lnR w="12700" cap="flat" cmpd="sng" algn="ctr">
                      <a:solidFill>
                        <a:srgbClr val="D8D8D4"/>
                      </a:solidFill>
                      <a:prstDash val="solid"/>
                      <a:round/>
                      <a:headEnd type="none" w="med" len="med"/>
                      <a:tailEnd type="none" w="med" len="med"/>
                    </a:lnR>
                    <a:lnT w="12700" cap="flat" cmpd="sng" algn="ctr">
                      <a:solidFill>
                        <a:srgbClr val="D8D8D4"/>
                      </a:solidFill>
                      <a:prstDash val="solid"/>
                      <a:round/>
                      <a:headEnd type="none" w="med" len="med"/>
                      <a:tailEnd type="none" w="med" len="med"/>
                    </a:lnT>
                    <a:lnB w="12700" cap="flat" cmpd="sng" algn="ctr">
                      <a:solidFill>
                        <a:srgbClr val="D8D8D4"/>
                      </a:solidFill>
                      <a:prstDash val="solid"/>
                      <a:round/>
                      <a:headEnd type="none" w="med" len="med"/>
                      <a:tailEnd type="none" w="med" len="med"/>
                    </a:lnB>
                    <a:solidFill>
                      <a:srgbClr val="293352"/>
                    </a:solidFill>
                  </a:tcPr>
                </a:tc>
                <a:tc>
                  <a:txBody>
                    <a:bodyPr/>
                    <a:lstStyle/>
                    <a:p>
                      <a:pPr marL="0" indent="0" algn="l">
                        <a:buNone/>
                      </a:pPr>
                      <a:r>
                        <a:rPr lang="en-US" sz="1400" b="1" dirty="0">
                          <a:solidFill>
                            <a:srgbClr val="FFFFFF"/>
                          </a:solidFill>
                          <a:latin typeface="Arial" pitchFamily="34" charset="0"/>
                          <a:ea typeface="Arial" pitchFamily="34" charset="-122"/>
                          <a:cs typeface="Arial" pitchFamily="34" charset="-120"/>
                        </a:rPr>
                        <a:t>Auth</a:t>
                      </a:r>
                      <a:endParaRPr lang="en-US" sz="1400" dirty="0">
                        <a:latin typeface="Arial" charset="0"/>
                        <a:ea typeface="Arial" charset="0"/>
                        <a:cs typeface="Arial" charset="0"/>
                      </a:endParaRPr>
                    </a:p>
                  </a:txBody>
                  <a:tcPr anchor="ctr">
                    <a:lnL w="12700" cap="flat" cmpd="sng" algn="ctr">
                      <a:solidFill>
                        <a:srgbClr val="D8D8D4"/>
                      </a:solidFill>
                      <a:prstDash val="solid"/>
                      <a:round/>
                      <a:headEnd type="none" w="med" len="med"/>
                      <a:tailEnd type="none" w="med" len="med"/>
                    </a:lnL>
                    <a:lnR w="12700" cap="flat" cmpd="sng" algn="ctr">
                      <a:solidFill>
                        <a:srgbClr val="D8D8D4"/>
                      </a:solidFill>
                      <a:prstDash val="solid"/>
                      <a:round/>
                      <a:headEnd type="none" w="med" len="med"/>
                      <a:tailEnd type="none" w="med" len="med"/>
                    </a:lnR>
                    <a:lnT w="12700" cap="flat" cmpd="sng" algn="ctr">
                      <a:solidFill>
                        <a:srgbClr val="D8D8D4"/>
                      </a:solidFill>
                      <a:prstDash val="solid"/>
                      <a:round/>
                      <a:headEnd type="none" w="med" len="med"/>
                      <a:tailEnd type="none" w="med" len="med"/>
                    </a:lnT>
                    <a:lnB w="12700" cap="flat" cmpd="sng" algn="ctr">
                      <a:solidFill>
                        <a:srgbClr val="D8D8D4"/>
                      </a:solidFill>
                      <a:prstDash val="solid"/>
                      <a:round/>
                      <a:headEnd type="none" w="med" len="med"/>
                      <a:tailEnd type="none" w="med" len="med"/>
                    </a:lnB>
                    <a:solidFill>
                      <a:srgbClr val="293352"/>
                    </a:solidFill>
                  </a:tcPr>
                </a:tc>
                <a:tc>
                  <a:txBody>
                    <a:bodyPr/>
                    <a:lstStyle/>
                    <a:p>
                      <a:pPr marL="0" indent="0" algn="l">
                        <a:buNone/>
                      </a:pPr>
                      <a:r>
                        <a:rPr lang="en-US" sz="1400" b="1" dirty="0">
                          <a:solidFill>
                            <a:srgbClr val="FFFFFF"/>
                          </a:solidFill>
                          <a:latin typeface="Arial" pitchFamily="34" charset="0"/>
                          <a:ea typeface="Arial" pitchFamily="34" charset="-122"/>
                          <a:cs typeface="Arial" pitchFamily="34" charset="-120"/>
                        </a:rPr>
                        <a:t>Used for</a:t>
                      </a:r>
                      <a:endParaRPr lang="en-US" sz="1400" dirty="0">
                        <a:latin typeface="Arial" charset="0"/>
                        <a:ea typeface="Arial" charset="0"/>
                        <a:cs typeface="Arial" charset="0"/>
                      </a:endParaRPr>
                    </a:p>
                  </a:txBody>
                  <a:tcPr anchor="ctr">
                    <a:lnL w="12700" cap="flat" cmpd="sng" algn="ctr">
                      <a:solidFill>
                        <a:srgbClr val="D8D8D4"/>
                      </a:solidFill>
                      <a:prstDash val="solid"/>
                      <a:round/>
                      <a:headEnd type="none" w="med" len="med"/>
                      <a:tailEnd type="none" w="med" len="med"/>
                    </a:lnL>
                    <a:lnR w="12700" cap="flat" cmpd="sng" algn="ctr">
                      <a:solidFill>
                        <a:srgbClr val="D8D8D4"/>
                      </a:solidFill>
                      <a:prstDash val="solid"/>
                      <a:round/>
                      <a:headEnd type="none" w="med" len="med"/>
                      <a:tailEnd type="none" w="med" len="med"/>
                    </a:lnR>
                    <a:lnT w="12700" cap="flat" cmpd="sng" algn="ctr">
                      <a:solidFill>
                        <a:srgbClr val="D8D8D4"/>
                      </a:solidFill>
                      <a:prstDash val="solid"/>
                      <a:round/>
                      <a:headEnd type="none" w="med" len="med"/>
                      <a:tailEnd type="none" w="med" len="med"/>
                    </a:lnT>
                    <a:lnB w="12700" cap="flat" cmpd="sng" algn="ctr">
                      <a:solidFill>
                        <a:srgbClr val="D8D8D4"/>
                      </a:solidFill>
                      <a:prstDash val="solid"/>
                      <a:round/>
                      <a:headEnd type="none" w="med" len="med"/>
                      <a:tailEnd type="none" w="med" len="med"/>
                    </a:lnB>
                    <a:solidFill>
                      <a:srgbClr val="293352"/>
                    </a:solidFill>
                  </a:tcPr>
                </a:tc>
                <a:tc>
                  <a:txBody>
                    <a:bodyPr/>
                    <a:lstStyle/>
                    <a:p>
                      <a:pPr marL="0" indent="0" algn="l">
                        <a:buNone/>
                      </a:pPr>
                      <a:r>
                        <a:rPr lang="en-US" sz="1400" b="1" dirty="0">
                          <a:solidFill>
                            <a:srgbClr val="FFFFFF"/>
                          </a:solidFill>
                          <a:latin typeface="Arial" pitchFamily="34" charset="0"/>
                          <a:ea typeface="Arial" pitchFamily="34" charset="-122"/>
                          <a:cs typeface="Arial" pitchFamily="34" charset="-120"/>
                        </a:rPr>
                        <a:t>Required?</a:t>
                      </a:r>
                      <a:endParaRPr lang="en-US" sz="1400" dirty="0">
                        <a:latin typeface="Arial" charset="0"/>
                        <a:ea typeface="Arial" charset="0"/>
                        <a:cs typeface="Arial" charset="0"/>
                      </a:endParaRPr>
                    </a:p>
                  </a:txBody>
                  <a:tcPr anchor="ctr">
                    <a:lnL w="12700" cap="flat" cmpd="sng" algn="ctr">
                      <a:solidFill>
                        <a:srgbClr val="D8D8D4"/>
                      </a:solidFill>
                      <a:prstDash val="solid"/>
                      <a:round/>
                      <a:headEnd type="none" w="med" len="med"/>
                      <a:tailEnd type="none" w="med" len="med"/>
                    </a:lnL>
                    <a:lnR w="12700" cap="flat" cmpd="sng" algn="ctr">
                      <a:solidFill>
                        <a:srgbClr val="D8D8D4"/>
                      </a:solidFill>
                      <a:prstDash val="solid"/>
                      <a:round/>
                      <a:headEnd type="none" w="med" len="med"/>
                      <a:tailEnd type="none" w="med" len="med"/>
                    </a:lnR>
                    <a:lnT w="12700" cap="flat" cmpd="sng" algn="ctr">
                      <a:solidFill>
                        <a:srgbClr val="D8D8D4"/>
                      </a:solidFill>
                      <a:prstDash val="solid"/>
                      <a:round/>
                      <a:headEnd type="none" w="med" len="med"/>
                      <a:tailEnd type="none" w="med" len="med"/>
                    </a:lnT>
                    <a:lnB w="12700" cap="flat" cmpd="sng" algn="ctr">
                      <a:solidFill>
                        <a:srgbClr val="D8D8D4"/>
                      </a:solidFill>
                      <a:prstDash val="solid"/>
                      <a:round/>
                      <a:headEnd type="none" w="med" len="med"/>
                      <a:tailEnd type="none" w="med" len="med"/>
                    </a:lnB>
                    <a:solidFill>
                      <a:srgbClr val="293352"/>
                    </a:solidFill>
                  </a:tcPr>
                </a:tc>
                <a:extLst>
                  <a:ext uri="{0D108BD9-81ED-4DB2-BD59-A6C34878D82A}">
                    <a16:rowId xmlns:a16="http://schemas.microsoft.com/office/drawing/2014/main" val="10000"/>
                  </a:ext>
                </a:extLst>
              </a:tr>
              <a:tr h="640080">
                <a:tc>
                  <a:txBody>
                    <a:bodyPr/>
                    <a:lstStyle/>
                    <a:p>
                      <a:pPr marL="0" indent="0" algn="l">
                        <a:buNone/>
                      </a:pPr>
                      <a:r>
                        <a:rPr lang="en-US" sz="1450" dirty="0">
                          <a:solidFill>
                            <a:srgbClr val="1E1E1E"/>
                          </a:solidFill>
                          <a:latin typeface="Arial" pitchFamily="34" charset="0"/>
                          <a:ea typeface="Arial" charset="0"/>
                          <a:cs typeface="Arial" pitchFamily="34" charset="-120"/>
                        </a:rPr>
                        <a:t>Twelve Data</a:t>
                      </a:r>
                      <a:endParaRPr lang="en-US" sz="1450" dirty="0">
                        <a:latin typeface="Arial" charset="0"/>
                        <a:ea typeface="Arial" charset="0"/>
                        <a:cs typeface="Arial" charset="0"/>
                      </a:endParaRPr>
                    </a:p>
                  </a:txBody>
                  <a:tcPr anchor="ctr">
                    <a:lnL w="12700" cap="flat" cmpd="sng" algn="ctr">
                      <a:solidFill>
                        <a:srgbClr val="D8D8D4"/>
                      </a:solidFill>
                      <a:prstDash val="solid"/>
                      <a:round/>
                      <a:headEnd type="none" w="med" len="med"/>
                      <a:tailEnd type="none" w="med" len="med"/>
                    </a:lnL>
                    <a:lnR w="12700" cap="flat" cmpd="sng" algn="ctr">
                      <a:solidFill>
                        <a:srgbClr val="D8D8D4"/>
                      </a:solidFill>
                      <a:prstDash val="solid"/>
                      <a:round/>
                      <a:headEnd type="none" w="med" len="med"/>
                      <a:tailEnd type="none" w="med" len="med"/>
                    </a:lnR>
                    <a:lnT w="12700" cap="flat" cmpd="sng" algn="ctr">
                      <a:solidFill>
                        <a:srgbClr val="D8D8D4"/>
                      </a:solidFill>
                      <a:prstDash val="solid"/>
                      <a:round/>
                      <a:headEnd type="none" w="med" len="med"/>
                      <a:tailEnd type="none" w="med" len="med"/>
                    </a:lnT>
                    <a:lnB w="12700" cap="flat" cmpd="sng" algn="ctr">
                      <a:solidFill>
                        <a:srgbClr val="D8D8D4"/>
                      </a:solidFill>
                      <a:prstDash val="solid"/>
                      <a:round/>
                      <a:headEnd type="none" w="med" len="med"/>
                      <a:tailEnd type="none" w="med" len="med"/>
                    </a:lnB>
                    <a:solidFill>
                      <a:srgbClr val="F3F3F1"/>
                    </a:solidFill>
                  </a:tcPr>
                </a:tc>
                <a:tc>
                  <a:txBody>
                    <a:bodyPr/>
                    <a:lstStyle/>
                    <a:p>
                      <a:pPr marL="0" indent="0" algn="l">
                        <a:buNone/>
                      </a:pPr>
                      <a:r>
                        <a:rPr lang="en-US" sz="1450" dirty="0">
                          <a:solidFill>
                            <a:srgbClr val="1E1E1E"/>
                          </a:solidFill>
                          <a:latin typeface="Arial" pitchFamily="34" charset="0"/>
                          <a:ea typeface="Arial" pitchFamily="34" charset="-122"/>
                          <a:cs typeface="Arial" pitchFamily="34" charset="-120"/>
                        </a:rPr>
                        <a:t>Your key</a:t>
                      </a:r>
                      <a:endParaRPr lang="en-US" sz="1450" dirty="0">
                        <a:latin typeface="Arial" charset="0"/>
                        <a:ea typeface="Arial" charset="0"/>
                        <a:cs typeface="Arial" charset="0"/>
                      </a:endParaRPr>
                    </a:p>
                  </a:txBody>
                  <a:tcPr anchor="ctr">
                    <a:lnL w="12700" cap="flat" cmpd="sng" algn="ctr">
                      <a:solidFill>
                        <a:srgbClr val="D8D8D4"/>
                      </a:solidFill>
                      <a:prstDash val="solid"/>
                      <a:round/>
                      <a:headEnd type="none" w="med" len="med"/>
                      <a:tailEnd type="none" w="med" len="med"/>
                    </a:lnL>
                    <a:lnR w="12700" cap="flat" cmpd="sng" algn="ctr">
                      <a:solidFill>
                        <a:srgbClr val="D8D8D4"/>
                      </a:solidFill>
                      <a:prstDash val="solid"/>
                      <a:round/>
                      <a:headEnd type="none" w="med" len="med"/>
                      <a:tailEnd type="none" w="med" len="med"/>
                    </a:lnR>
                    <a:lnT w="12700" cap="flat" cmpd="sng" algn="ctr">
                      <a:solidFill>
                        <a:srgbClr val="D8D8D4"/>
                      </a:solidFill>
                      <a:prstDash val="solid"/>
                      <a:round/>
                      <a:headEnd type="none" w="med" len="med"/>
                      <a:tailEnd type="none" w="med" len="med"/>
                    </a:lnT>
                    <a:lnB w="12700" cap="flat" cmpd="sng" algn="ctr">
                      <a:solidFill>
                        <a:srgbClr val="D8D8D4"/>
                      </a:solidFill>
                      <a:prstDash val="solid"/>
                      <a:round/>
                      <a:headEnd type="none" w="med" len="med"/>
                      <a:tailEnd type="none" w="med" len="med"/>
                    </a:lnB>
                    <a:solidFill>
                      <a:srgbClr val="F3F3F1"/>
                    </a:solidFill>
                  </a:tcPr>
                </a:tc>
                <a:tc>
                  <a:txBody>
                    <a:bodyPr/>
                    <a:lstStyle/>
                    <a:p>
                      <a:pPr marL="0" indent="0" algn="l">
                        <a:buNone/>
                      </a:pPr>
                      <a:r>
                        <a:rPr lang="en-US" sz="1450" dirty="0">
                          <a:solidFill>
                            <a:srgbClr val="1E1E1E"/>
                          </a:solidFill>
                          <a:latin typeface="Arial" pitchFamily="34" charset="0"/>
                          <a:ea typeface="Arial" pitchFamily="34" charset="-122"/>
                          <a:cs typeface="Arial" pitchFamily="34" charset="-120"/>
                        </a:rPr>
                        <a:t>OHLCV feeding RSI, MACD, volatility</a:t>
                      </a:r>
                      <a:endParaRPr lang="en-US" sz="1450" dirty="0">
                        <a:latin typeface="Arial" charset="0"/>
                        <a:ea typeface="Arial" charset="0"/>
                        <a:cs typeface="Arial" charset="0"/>
                      </a:endParaRPr>
                    </a:p>
                  </a:txBody>
                  <a:tcPr anchor="ctr">
                    <a:lnL w="12700" cap="flat" cmpd="sng" algn="ctr">
                      <a:solidFill>
                        <a:srgbClr val="D8D8D4"/>
                      </a:solidFill>
                      <a:prstDash val="solid"/>
                      <a:round/>
                      <a:headEnd type="none" w="med" len="med"/>
                      <a:tailEnd type="none" w="med" len="med"/>
                    </a:lnL>
                    <a:lnR w="12700" cap="flat" cmpd="sng" algn="ctr">
                      <a:solidFill>
                        <a:srgbClr val="D8D8D4"/>
                      </a:solidFill>
                      <a:prstDash val="solid"/>
                      <a:round/>
                      <a:headEnd type="none" w="med" len="med"/>
                      <a:tailEnd type="none" w="med" len="med"/>
                    </a:lnR>
                    <a:lnT w="12700" cap="flat" cmpd="sng" algn="ctr">
                      <a:solidFill>
                        <a:srgbClr val="D8D8D4"/>
                      </a:solidFill>
                      <a:prstDash val="solid"/>
                      <a:round/>
                      <a:headEnd type="none" w="med" len="med"/>
                      <a:tailEnd type="none" w="med" len="med"/>
                    </a:lnT>
                    <a:lnB w="12700" cap="flat" cmpd="sng" algn="ctr">
                      <a:solidFill>
                        <a:srgbClr val="D8D8D4"/>
                      </a:solidFill>
                      <a:prstDash val="solid"/>
                      <a:round/>
                      <a:headEnd type="none" w="med" len="med"/>
                      <a:tailEnd type="none" w="med" len="med"/>
                    </a:lnB>
                    <a:solidFill>
                      <a:srgbClr val="F3F3F1"/>
                    </a:solidFill>
                  </a:tcPr>
                </a:tc>
                <a:tc>
                  <a:txBody>
                    <a:bodyPr/>
                    <a:lstStyle/>
                    <a:p>
                      <a:pPr marL="0" indent="0" algn="l">
                        <a:buNone/>
                      </a:pPr>
                      <a:r>
                        <a:rPr lang="en-US" sz="1450" dirty="0">
                          <a:solidFill>
                            <a:srgbClr val="1E1E1E"/>
                          </a:solidFill>
                          <a:latin typeface="Arial" pitchFamily="34" charset="0"/>
                          <a:ea typeface="Arial" pitchFamily="34" charset="-122"/>
                          <a:cs typeface="Arial" pitchFamily="34" charset="-120"/>
                        </a:rPr>
                        <a:t>Yes, only data source</a:t>
                      </a:r>
                      <a:endParaRPr lang="en-US" sz="1450" dirty="0">
                        <a:latin typeface="Arial" charset="0"/>
                        <a:ea typeface="Arial" charset="0"/>
                        <a:cs typeface="Arial" charset="0"/>
                      </a:endParaRPr>
                    </a:p>
                  </a:txBody>
                  <a:tcPr anchor="ctr">
                    <a:lnL w="12700" cap="flat" cmpd="sng" algn="ctr">
                      <a:solidFill>
                        <a:srgbClr val="D8D8D4"/>
                      </a:solidFill>
                      <a:prstDash val="solid"/>
                      <a:round/>
                      <a:headEnd type="none" w="med" len="med"/>
                      <a:tailEnd type="none" w="med" len="med"/>
                    </a:lnL>
                    <a:lnR w="12700" cap="flat" cmpd="sng" algn="ctr">
                      <a:solidFill>
                        <a:srgbClr val="D8D8D4"/>
                      </a:solidFill>
                      <a:prstDash val="solid"/>
                      <a:round/>
                      <a:headEnd type="none" w="med" len="med"/>
                      <a:tailEnd type="none" w="med" len="med"/>
                    </a:lnR>
                    <a:lnT w="12700" cap="flat" cmpd="sng" algn="ctr">
                      <a:solidFill>
                        <a:srgbClr val="D8D8D4"/>
                      </a:solidFill>
                      <a:prstDash val="solid"/>
                      <a:round/>
                      <a:headEnd type="none" w="med" len="med"/>
                      <a:tailEnd type="none" w="med" len="med"/>
                    </a:lnT>
                    <a:lnB w="12700" cap="flat" cmpd="sng" algn="ctr">
                      <a:solidFill>
                        <a:srgbClr val="D8D8D4"/>
                      </a:solidFill>
                      <a:prstDash val="solid"/>
                      <a:round/>
                      <a:headEnd type="none" w="med" len="med"/>
                      <a:tailEnd type="none" w="med" len="med"/>
                    </a:lnB>
                    <a:solidFill>
                      <a:srgbClr val="F3F3F1"/>
                    </a:solidFill>
                  </a:tcPr>
                </a:tc>
                <a:extLst>
                  <a:ext uri="{0D108BD9-81ED-4DB2-BD59-A6C34878D82A}">
                    <a16:rowId xmlns:a16="http://schemas.microsoft.com/office/drawing/2014/main" val="10001"/>
                  </a:ext>
                </a:extLst>
              </a:tr>
              <a:tr h="640080">
                <a:tc>
                  <a:txBody>
                    <a:bodyPr/>
                    <a:lstStyle/>
                    <a:p>
                      <a:pPr marL="0" indent="0" algn="l">
                        <a:buNone/>
                      </a:pPr>
                      <a:r>
                        <a:rPr lang="en-US" sz="1450" dirty="0">
                          <a:solidFill>
                            <a:srgbClr val="1E1E1E"/>
                          </a:solidFill>
                          <a:latin typeface="Arial" pitchFamily="34" charset="0"/>
                          <a:ea typeface="Arial" pitchFamily="34" charset="-122"/>
                          <a:cs typeface="Arial" pitchFamily="34" charset="-120"/>
                        </a:rPr>
                        <a:t>OpenRouter</a:t>
                      </a:r>
                      <a:endParaRPr lang="en-US" sz="1450" dirty="0">
                        <a:latin typeface="Arial" charset="0"/>
                        <a:ea typeface="Arial" charset="0"/>
                        <a:cs typeface="Arial" charset="0"/>
                      </a:endParaRPr>
                    </a:p>
                  </a:txBody>
                  <a:tcPr anchor="ctr">
                    <a:lnL w="12700" cap="flat" cmpd="sng" algn="ctr">
                      <a:solidFill>
                        <a:srgbClr val="D8D8D4"/>
                      </a:solidFill>
                      <a:prstDash val="solid"/>
                      <a:round/>
                      <a:headEnd type="none" w="med" len="med"/>
                      <a:tailEnd type="none" w="med" len="med"/>
                    </a:lnL>
                    <a:lnR w="12700" cap="flat" cmpd="sng" algn="ctr">
                      <a:solidFill>
                        <a:srgbClr val="D8D8D4"/>
                      </a:solidFill>
                      <a:prstDash val="solid"/>
                      <a:round/>
                      <a:headEnd type="none" w="med" len="med"/>
                      <a:tailEnd type="none" w="med" len="med"/>
                    </a:lnR>
                    <a:lnT w="12700" cap="flat" cmpd="sng" algn="ctr">
                      <a:solidFill>
                        <a:srgbClr val="D8D8D4"/>
                      </a:solidFill>
                      <a:prstDash val="solid"/>
                      <a:round/>
                      <a:headEnd type="none" w="med" len="med"/>
                      <a:tailEnd type="none" w="med" len="med"/>
                    </a:lnT>
                    <a:lnB w="12700" cap="flat" cmpd="sng" algn="ctr">
                      <a:solidFill>
                        <a:srgbClr val="D8D8D4"/>
                      </a:solidFill>
                      <a:prstDash val="solid"/>
                      <a:round/>
                      <a:headEnd type="none" w="med" len="med"/>
                      <a:tailEnd type="none" w="med" len="med"/>
                    </a:lnB>
                    <a:solidFill>
                      <a:srgbClr val="F3F3F1"/>
                    </a:solidFill>
                  </a:tcPr>
                </a:tc>
                <a:tc>
                  <a:txBody>
                    <a:bodyPr/>
                    <a:lstStyle/>
                    <a:p>
                      <a:pPr marL="0" indent="0" algn="l">
                        <a:buNone/>
                      </a:pPr>
                      <a:r>
                        <a:rPr lang="en-US" sz="1450" dirty="0">
                          <a:solidFill>
                            <a:srgbClr val="1E1E1E"/>
                          </a:solidFill>
                          <a:latin typeface="Arial" pitchFamily="34" charset="0"/>
                          <a:ea typeface="Arial" pitchFamily="34" charset="-122"/>
                          <a:cs typeface="Arial" pitchFamily="34" charset="-120"/>
                        </a:rPr>
                        <a:t>Shared class key</a:t>
                      </a:r>
                      <a:endParaRPr lang="en-US" sz="1450" dirty="0">
                        <a:latin typeface="Arial" charset="0"/>
                        <a:ea typeface="Arial" charset="0"/>
                        <a:cs typeface="Arial" charset="0"/>
                      </a:endParaRPr>
                    </a:p>
                  </a:txBody>
                  <a:tcPr anchor="ctr">
                    <a:lnL w="12700" cap="flat" cmpd="sng" algn="ctr">
                      <a:solidFill>
                        <a:srgbClr val="D8D8D4"/>
                      </a:solidFill>
                      <a:prstDash val="solid"/>
                      <a:round/>
                      <a:headEnd type="none" w="med" len="med"/>
                      <a:tailEnd type="none" w="med" len="med"/>
                    </a:lnL>
                    <a:lnR w="12700" cap="flat" cmpd="sng" algn="ctr">
                      <a:solidFill>
                        <a:srgbClr val="D8D8D4"/>
                      </a:solidFill>
                      <a:prstDash val="solid"/>
                      <a:round/>
                      <a:headEnd type="none" w="med" len="med"/>
                      <a:tailEnd type="none" w="med" len="med"/>
                    </a:lnR>
                    <a:lnT w="12700" cap="flat" cmpd="sng" algn="ctr">
                      <a:solidFill>
                        <a:srgbClr val="D8D8D4"/>
                      </a:solidFill>
                      <a:prstDash val="solid"/>
                      <a:round/>
                      <a:headEnd type="none" w="med" len="med"/>
                      <a:tailEnd type="none" w="med" len="med"/>
                    </a:lnT>
                    <a:lnB w="12700" cap="flat" cmpd="sng" algn="ctr">
                      <a:solidFill>
                        <a:srgbClr val="D8D8D4"/>
                      </a:solidFill>
                      <a:prstDash val="solid"/>
                      <a:round/>
                      <a:headEnd type="none" w="med" len="med"/>
                      <a:tailEnd type="none" w="med" len="med"/>
                    </a:lnB>
                    <a:solidFill>
                      <a:srgbClr val="F3F3F1"/>
                    </a:solidFill>
                  </a:tcPr>
                </a:tc>
                <a:tc>
                  <a:txBody>
                    <a:bodyPr/>
                    <a:lstStyle/>
                    <a:p>
                      <a:pPr marL="0" indent="0" algn="l">
                        <a:buNone/>
                      </a:pPr>
                      <a:r>
                        <a:rPr lang="en-US" sz="1450" dirty="0">
                          <a:solidFill>
                            <a:srgbClr val="1E1E1E"/>
                          </a:solidFill>
                          <a:latin typeface="Arial" pitchFamily="34" charset="0"/>
                          <a:ea typeface="Arial" pitchFamily="34" charset="-122"/>
                          <a:cs typeface="Arial" pitchFamily="34" charset="-120"/>
                        </a:rPr>
                        <a:t>Plain English research note</a:t>
                      </a:r>
                      <a:endParaRPr lang="en-US" sz="1450" dirty="0">
                        <a:latin typeface="Arial" charset="0"/>
                        <a:ea typeface="Arial" charset="0"/>
                        <a:cs typeface="Arial" charset="0"/>
                      </a:endParaRPr>
                    </a:p>
                  </a:txBody>
                  <a:tcPr anchor="ctr">
                    <a:lnL w="12700" cap="flat" cmpd="sng" algn="ctr">
                      <a:solidFill>
                        <a:srgbClr val="D8D8D4"/>
                      </a:solidFill>
                      <a:prstDash val="solid"/>
                      <a:round/>
                      <a:headEnd type="none" w="med" len="med"/>
                      <a:tailEnd type="none" w="med" len="med"/>
                    </a:lnL>
                    <a:lnR w="12700" cap="flat" cmpd="sng" algn="ctr">
                      <a:solidFill>
                        <a:srgbClr val="D8D8D4"/>
                      </a:solidFill>
                      <a:prstDash val="solid"/>
                      <a:round/>
                      <a:headEnd type="none" w="med" len="med"/>
                      <a:tailEnd type="none" w="med" len="med"/>
                    </a:lnR>
                    <a:lnT w="12700" cap="flat" cmpd="sng" algn="ctr">
                      <a:solidFill>
                        <a:srgbClr val="D8D8D4"/>
                      </a:solidFill>
                      <a:prstDash val="solid"/>
                      <a:round/>
                      <a:headEnd type="none" w="med" len="med"/>
                      <a:tailEnd type="none" w="med" len="med"/>
                    </a:lnT>
                    <a:lnB w="12700" cap="flat" cmpd="sng" algn="ctr">
                      <a:solidFill>
                        <a:srgbClr val="D8D8D4"/>
                      </a:solidFill>
                      <a:prstDash val="solid"/>
                      <a:round/>
                      <a:headEnd type="none" w="med" len="med"/>
                      <a:tailEnd type="none" w="med" len="med"/>
                    </a:lnB>
                    <a:solidFill>
                      <a:srgbClr val="F3F3F1"/>
                    </a:solidFill>
                  </a:tcPr>
                </a:tc>
                <a:tc>
                  <a:txBody>
                    <a:bodyPr/>
                    <a:lstStyle/>
                    <a:p>
                      <a:pPr marL="0" indent="0" algn="l">
                        <a:buNone/>
                      </a:pPr>
                      <a:r>
                        <a:rPr lang="en-US" sz="1450" dirty="0">
                          <a:solidFill>
                            <a:srgbClr val="1E1E1E"/>
                          </a:solidFill>
                          <a:latin typeface="Arial" pitchFamily="34" charset="0"/>
                          <a:ea typeface="Arial" pitchFamily="34" charset="-122"/>
                          <a:cs typeface="Arial" pitchFamily="34" charset="-120"/>
                        </a:rPr>
                        <a:t>Yes, language only</a:t>
                      </a:r>
                      <a:endParaRPr lang="en-US" sz="1450" dirty="0">
                        <a:latin typeface="Arial" charset="0"/>
                        <a:ea typeface="Arial" charset="0"/>
                        <a:cs typeface="Arial" charset="0"/>
                      </a:endParaRPr>
                    </a:p>
                  </a:txBody>
                  <a:tcPr anchor="ctr">
                    <a:lnL w="12700" cap="flat" cmpd="sng" algn="ctr">
                      <a:solidFill>
                        <a:srgbClr val="D8D8D4"/>
                      </a:solidFill>
                      <a:prstDash val="solid"/>
                      <a:round/>
                      <a:headEnd type="none" w="med" len="med"/>
                      <a:tailEnd type="none" w="med" len="med"/>
                    </a:lnL>
                    <a:lnR w="12700" cap="flat" cmpd="sng" algn="ctr">
                      <a:solidFill>
                        <a:srgbClr val="D8D8D4"/>
                      </a:solidFill>
                      <a:prstDash val="solid"/>
                      <a:round/>
                      <a:headEnd type="none" w="med" len="med"/>
                      <a:tailEnd type="none" w="med" len="med"/>
                    </a:lnR>
                    <a:lnT w="12700" cap="flat" cmpd="sng" algn="ctr">
                      <a:solidFill>
                        <a:srgbClr val="D8D8D4"/>
                      </a:solidFill>
                      <a:prstDash val="solid"/>
                      <a:round/>
                      <a:headEnd type="none" w="med" len="med"/>
                      <a:tailEnd type="none" w="med" len="med"/>
                    </a:lnT>
                    <a:lnB w="12700" cap="flat" cmpd="sng" algn="ctr">
                      <a:solidFill>
                        <a:srgbClr val="D8D8D4"/>
                      </a:solidFill>
                      <a:prstDash val="solid"/>
                      <a:round/>
                      <a:headEnd type="none" w="med" len="med"/>
                      <a:tailEnd type="none" w="med" len="med"/>
                    </a:lnB>
                    <a:solidFill>
                      <a:srgbClr val="F3F3F1"/>
                    </a:solidFill>
                  </a:tcPr>
                </a:tc>
                <a:extLst>
                  <a:ext uri="{0D108BD9-81ED-4DB2-BD59-A6C34878D82A}">
                    <a16:rowId xmlns:a16="http://schemas.microsoft.com/office/drawing/2014/main" val="10002"/>
                  </a:ext>
                </a:extLst>
              </a:tr>
            </a:tbl>
          </a:graphicData>
        </a:graphic>
      </p:graphicFrame>
      <p:sp>
        <p:nvSpPr>
          <p:cNvPr id="5" name="Text 2"/>
          <p:cNvSpPr/>
          <p:nvPr/>
        </p:nvSpPr>
        <p:spPr>
          <a:xfrm>
            <a:off x="640080" y="4572000"/>
            <a:ext cx="10881360" cy="548640"/>
          </a:xfrm>
          <a:prstGeom prst="rect">
            <a:avLst/>
          </a:prstGeom>
          <a:noFill/>
          <a:ln/>
        </p:spPr>
        <p:txBody>
          <a:bodyPr wrap="square" lIns="0" tIns="0" rIns="0" bIns="0" rtlCol="0" anchor="ctr"/>
          <a:lstStyle/>
          <a:p>
            <a:pPr marL="0" indent="0">
              <a:buNone/>
            </a:pPr>
            <a:r>
              <a:rPr lang="en-US" sz="1450" i="1" dirty="0">
                <a:solidFill>
                  <a:srgbClr val="8996A0"/>
                </a:solidFill>
                <a:latin typeface="Arial" pitchFamily="34" charset="0"/>
                <a:ea typeface="Arial" pitchFamily="34" charset="-122"/>
                <a:cs typeface="Arial" pitchFamily="34" charset="-120"/>
              </a:rPr>
              <a:t>Core build needs just Twelve Data plus the OpenRouter key you should already have. </a:t>
            </a:r>
            <a:endParaRPr lang="en-US" sz="1450" dirty="0"/>
          </a:p>
        </p:txBody>
      </p:sp>
      <p:sp>
        <p:nvSpPr>
          <p:cNvPr id="29"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30" name="Harvard Page Number"/>
          <p:cNvSpPr txBox="1"/>
          <p:nvPr/>
        </p:nvSpPr>
        <p:spPr>
          <a:xfrm>
            <a:off x="11730577" y="6446043"/>
            <a:ext cx="324104" cy="274638"/>
          </a:xfrm>
          <a:prstGeom prst="rect">
            <a:avLst/>
          </a:prstGeom>
          <a:noFill/>
        </p:spPr>
        <p:txBody>
          <a:bodyPr wrap="none" lIns="0" tIns="0" rIns="0" bIns="0">
            <a:noAutofit/>
          </a:bodyPr>
          <a:lstStyle/>
          <a:p>
            <a:pPr algn="r"/>
            <a:fld id="{DBCA88CB-4259-498A-A504-36682D945AAC}" type="slidenum">
              <a:rPr lang="en-US" sz="1000">
                <a:solidFill>
                  <a:srgbClr val="8996A0"/>
                </a:solidFill>
                <a:latin typeface="Arial"/>
              </a:rPr>
              <a:t>34</a:t>
            </a:fld>
            <a:endParaRPr lang="en-US" sz="1000">
              <a:solidFill>
                <a:srgbClr val="8996A0"/>
              </a:solidFill>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marL="0" indent="0">
              <a:buNone/>
            </a:pPr>
            <a:r>
              <a:rPr lang="en-US" sz="1200" b="1" kern="0" spc="200" dirty="0">
                <a:solidFill>
                  <a:srgbClr val="A51C30"/>
                </a:solidFill>
                <a:latin typeface="Arial" pitchFamily="34" charset="0"/>
                <a:ea typeface="Arial" pitchFamily="34" charset="-122"/>
                <a:cs typeface="Arial" pitchFamily="34" charset="-120"/>
              </a:rPr>
              <a:t>THE REPO 2 STARTING POINT</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marL="0" indent="0">
              <a:buNone/>
            </a:pPr>
            <a:r>
              <a:rPr lang="en-US" sz="2800" b="1" dirty="0">
                <a:solidFill>
                  <a:srgbClr val="1E1E1E"/>
                </a:solidFill>
                <a:latin typeface="Arial" pitchFamily="34" charset="0"/>
                <a:ea typeface="Arial" pitchFamily="34" charset="-122"/>
                <a:cs typeface="Arial" pitchFamily="34" charset="-120"/>
              </a:rPr>
              <a:t>Clone the template</a:t>
            </a:r>
            <a:endParaRPr lang="en-US" sz="2800" dirty="0"/>
          </a:p>
        </p:txBody>
      </p:sp>
      <p:sp>
        <p:nvSpPr>
          <p:cNvPr id="4" name="Shape 2"/>
          <p:cNvSpPr/>
          <p:nvPr/>
        </p:nvSpPr>
        <p:spPr>
          <a:xfrm>
            <a:off x="640080" y="1691640"/>
            <a:ext cx="10881360" cy="1005840"/>
          </a:xfrm>
          <a:prstGeom prst="roundRect">
            <a:avLst>
              <a:gd name="adj" fmla="val 5455"/>
            </a:avLst>
          </a:prstGeom>
          <a:solidFill>
            <a:srgbClr val="F3F3F1"/>
          </a:solidFill>
          <a:ln/>
        </p:spPr>
      </p:sp>
      <p:sp>
        <p:nvSpPr>
          <p:cNvPr id="5" name="Shape 3"/>
          <p:cNvSpPr/>
          <p:nvPr/>
        </p:nvSpPr>
        <p:spPr>
          <a:xfrm>
            <a:off x="914400" y="1920240"/>
            <a:ext cx="548640" cy="548640"/>
          </a:xfrm>
          <a:prstGeom prst="ellipse">
            <a:avLst/>
          </a:prstGeom>
          <a:solidFill>
            <a:srgbClr val="A51C30"/>
          </a:solidFill>
          <a:ln/>
        </p:spPr>
      </p:sp>
      <p:sp>
        <p:nvSpPr>
          <p:cNvPr id="6" name="Text 4"/>
          <p:cNvSpPr/>
          <p:nvPr/>
        </p:nvSpPr>
        <p:spPr>
          <a:xfrm>
            <a:off x="914400" y="19202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7" name="Text 5"/>
          <p:cNvSpPr/>
          <p:nvPr/>
        </p:nvSpPr>
        <p:spPr>
          <a:xfrm>
            <a:off x="1691640" y="1691640"/>
            <a:ext cx="9601200" cy="1005840"/>
          </a:xfrm>
          <a:prstGeom prst="rect">
            <a:avLst/>
          </a:prstGeom>
          <a:noFill/>
          <a:ln/>
        </p:spPr>
        <p:txBody>
          <a:bodyPr wrap="square" lIns="0" tIns="0" rIns="0" bIns="0" rtlCol="0" anchor="ctr"/>
          <a:lstStyle/>
          <a:p>
            <a:pPr marL="0" indent="0">
              <a:buNone/>
            </a:pPr>
            <a:r>
              <a:rPr lang="en-US" sz="1600" dirty="0">
                <a:solidFill>
                  <a:srgbClr val="1E1E1E"/>
                </a:solidFill>
                <a:latin typeface="Arial" pitchFamily="34" charset="0"/>
                <a:ea typeface="Arial" pitchFamily="34" charset="-122"/>
                <a:cs typeface="Arial" pitchFamily="34" charset="-120"/>
              </a:rPr>
              <a:t>Clone the SPA template repo (vienna-genai-spa-template) into a new personal repository.</a:t>
            </a:r>
            <a:endParaRPr lang="en-US" sz="1600" dirty="0"/>
          </a:p>
        </p:txBody>
      </p:sp>
      <p:sp>
        <p:nvSpPr>
          <p:cNvPr id="8" name="Shape 6"/>
          <p:cNvSpPr/>
          <p:nvPr/>
        </p:nvSpPr>
        <p:spPr>
          <a:xfrm>
            <a:off x="640080" y="2898648"/>
            <a:ext cx="10881360" cy="1005840"/>
          </a:xfrm>
          <a:prstGeom prst="roundRect">
            <a:avLst>
              <a:gd name="adj" fmla="val 5455"/>
            </a:avLst>
          </a:prstGeom>
          <a:solidFill>
            <a:srgbClr val="F3F3F1"/>
          </a:solidFill>
          <a:ln/>
        </p:spPr>
      </p:sp>
      <p:sp>
        <p:nvSpPr>
          <p:cNvPr id="9" name="Shape 7"/>
          <p:cNvSpPr/>
          <p:nvPr/>
        </p:nvSpPr>
        <p:spPr>
          <a:xfrm>
            <a:off x="914400" y="3127248"/>
            <a:ext cx="548640" cy="548640"/>
          </a:xfrm>
          <a:prstGeom prst="ellipse">
            <a:avLst/>
          </a:prstGeom>
          <a:solidFill>
            <a:srgbClr val="A51C30"/>
          </a:solidFill>
          <a:ln/>
        </p:spPr>
      </p:sp>
      <p:sp>
        <p:nvSpPr>
          <p:cNvPr id="10" name="Text 8"/>
          <p:cNvSpPr/>
          <p:nvPr/>
        </p:nvSpPr>
        <p:spPr>
          <a:xfrm>
            <a:off x="914400" y="3127248"/>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1" name="Text 9"/>
          <p:cNvSpPr/>
          <p:nvPr/>
        </p:nvSpPr>
        <p:spPr>
          <a:xfrm>
            <a:off x="1691640" y="2898648"/>
            <a:ext cx="9601200" cy="1005840"/>
          </a:xfrm>
          <a:prstGeom prst="rect">
            <a:avLst/>
          </a:prstGeom>
          <a:noFill/>
          <a:ln/>
        </p:spPr>
        <p:txBody>
          <a:bodyPr wrap="square" lIns="0" tIns="0" rIns="0" bIns="0" rtlCol="0" anchor="ctr"/>
          <a:lstStyle/>
          <a:p>
            <a:pPr marL="0" indent="0">
              <a:buNone/>
            </a:pPr>
            <a:r>
              <a:rPr lang="en-US" sz="1600" dirty="0">
                <a:solidFill>
                  <a:srgbClr val="1E1E1E"/>
                </a:solidFill>
                <a:latin typeface="Arial" pitchFamily="34" charset="0"/>
                <a:ea typeface="Arial" pitchFamily="34" charset="-122"/>
                <a:cs typeface="Arial" pitchFamily="34" charset="-120"/>
              </a:rPr>
              <a:t>This becomes Repo 2, the build target for this session.</a:t>
            </a:r>
            <a:endParaRPr lang="en-US" sz="1600" dirty="0"/>
          </a:p>
        </p:txBody>
      </p:sp>
      <p:sp>
        <p:nvSpPr>
          <p:cNvPr id="12" name="Shape 10"/>
          <p:cNvSpPr/>
          <p:nvPr/>
        </p:nvSpPr>
        <p:spPr>
          <a:xfrm>
            <a:off x="640080" y="4105656"/>
            <a:ext cx="10881360" cy="1005840"/>
          </a:xfrm>
          <a:prstGeom prst="roundRect">
            <a:avLst>
              <a:gd name="adj" fmla="val 5455"/>
            </a:avLst>
          </a:prstGeom>
          <a:solidFill>
            <a:srgbClr val="F3F3F1"/>
          </a:solidFill>
          <a:ln/>
        </p:spPr>
      </p:sp>
      <p:sp>
        <p:nvSpPr>
          <p:cNvPr id="13" name="Shape 11"/>
          <p:cNvSpPr/>
          <p:nvPr/>
        </p:nvSpPr>
        <p:spPr>
          <a:xfrm>
            <a:off x="914400" y="4334256"/>
            <a:ext cx="548640" cy="548640"/>
          </a:xfrm>
          <a:prstGeom prst="ellipse">
            <a:avLst/>
          </a:prstGeom>
          <a:solidFill>
            <a:srgbClr val="A51C30"/>
          </a:solidFill>
          <a:ln/>
        </p:spPr>
      </p:sp>
      <p:sp>
        <p:nvSpPr>
          <p:cNvPr id="14" name="Text 12"/>
          <p:cNvSpPr/>
          <p:nvPr/>
        </p:nvSpPr>
        <p:spPr>
          <a:xfrm>
            <a:off x="914400" y="4334256"/>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5" name="Text 13"/>
          <p:cNvSpPr/>
          <p:nvPr/>
        </p:nvSpPr>
        <p:spPr>
          <a:xfrm>
            <a:off x="1691640" y="4105656"/>
            <a:ext cx="9601200" cy="1005840"/>
          </a:xfrm>
          <a:prstGeom prst="rect">
            <a:avLst/>
          </a:prstGeom>
          <a:noFill/>
          <a:ln/>
        </p:spPr>
        <p:txBody>
          <a:bodyPr wrap="square" lIns="0" tIns="0" rIns="0" bIns="0" rtlCol="0" anchor="ctr"/>
          <a:lstStyle/>
          <a:p>
            <a:pPr marL="0" indent="0">
              <a:buNone/>
            </a:pPr>
            <a:r>
              <a:rPr lang="en-US" sz="1600" dirty="0">
                <a:solidFill>
                  <a:srgbClr val="1E1E1E"/>
                </a:solidFill>
                <a:latin typeface="Arial" pitchFamily="34" charset="0"/>
                <a:ea typeface="Arial" pitchFamily="34" charset="-122"/>
                <a:cs typeface="Arial" pitchFamily="34" charset="-120"/>
              </a:rPr>
              <a:t>Confirm npm run dev serves the app locally before building.</a:t>
            </a:r>
            <a:endParaRPr lang="en-US" sz="1600" dirty="0"/>
          </a:p>
        </p:txBody>
      </p:sp>
      <p:sp>
        <p:nvSpPr>
          <p:cNvPr id="16"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7" name="Harvard Page Number"/>
          <p:cNvSpPr txBox="1"/>
          <p:nvPr/>
        </p:nvSpPr>
        <p:spPr>
          <a:xfrm>
            <a:off x="11730577" y="6446043"/>
            <a:ext cx="324104" cy="274638"/>
          </a:xfrm>
          <a:prstGeom prst="rect">
            <a:avLst/>
          </a:prstGeom>
          <a:noFill/>
        </p:spPr>
        <p:txBody>
          <a:bodyPr wrap="none" lIns="0" tIns="0" rIns="0" bIns="0">
            <a:noAutofit/>
          </a:bodyPr>
          <a:lstStyle/>
          <a:p>
            <a:pPr algn="r"/>
            <a:fld id="{806CF0FF-6B68-409F-A33C-C559CDD2B9B3}" type="slidenum">
              <a:rPr lang="en-US" sz="1000">
                <a:solidFill>
                  <a:srgbClr val="8996A0"/>
                </a:solidFill>
                <a:latin typeface="Arial"/>
              </a:rPr>
              <a:t>35</a:t>
            </a:fld>
            <a:endParaRPr lang="en-US" sz="1000">
              <a:solidFill>
                <a:srgbClr val="8996A0"/>
              </a:solidFill>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A51C30"/>
                </a:solidFill>
                <a:effectLst/>
                <a:uLnTx/>
                <a:uFillTx/>
                <a:latin typeface="Arial" pitchFamily="34" charset="0"/>
                <a:ea typeface="Arial" pitchFamily="34" charset="-122"/>
                <a:cs typeface="Arial" pitchFamily="34" charset="-120"/>
              </a:rPr>
              <a:t>INSTRUCTOR DEMO, SETS THE GOAL</a:t>
            </a:r>
            <a:endParaRPr kumimoji="0" lang="en-US" sz="1200" b="0" i="0" u="none" strike="noStrike" kern="1200" cap="none" spc="0" normalizeH="0" baseline="0" noProof="0" dirty="0">
              <a:ln>
                <a:noFill/>
              </a:ln>
              <a:solidFill>
                <a:srgbClr val="1E1E1E"/>
              </a:solidFill>
              <a:effectLst/>
              <a:uLnTx/>
              <a:uFillTx/>
              <a:latin typeface="Arial" panose="020F0502020204030204"/>
              <a:ea typeface="+mn-ea"/>
              <a:cs typeface="+mn-cs"/>
            </a:endParaRPr>
          </a:p>
        </p:txBody>
      </p:sp>
      <p:sp>
        <p:nvSpPr>
          <p:cNvPr id="3" name="Text 1"/>
          <p:cNvSpPr/>
          <p:nvPr/>
        </p:nvSpPr>
        <p:spPr>
          <a:xfrm>
            <a:off x="640080" y="676656"/>
            <a:ext cx="1088136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E1E1E"/>
                </a:solidFill>
                <a:effectLst/>
                <a:uLnTx/>
                <a:uFillTx/>
                <a:latin typeface="Arial" pitchFamily="34" charset="0"/>
                <a:ea typeface="Arial" pitchFamily="34" charset="-122"/>
                <a:cs typeface="Arial" pitchFamily="34" charset="-120"/>
              </a:rPr>
              <a:t>Target application</a:t>
            </a:r>
            <a:endParaRPr kumimoji="0" lang="en-US" sz="2800" b="0" i="0" u="none" strike="noStrike" kern="1200" cap="none" spc="0" normalizeH="0" baseline="0" noProof="0" dirty="0">
              <a:ln>
                <a:noFill/>
              </a:ln>
              <a:solidFill>
                <a:srgbClr val="1E1E1E"/>
              </a:solidFill>
              <a:effectLst/>
              <a:uLnTx/>
              <a:uFillTx/>
              <a:latin typeface="Arial" panose="020F0502020204030204"/>
              <a:ea typeface="+mn-ea"/>
              <a:cs typeface="+mn-cs"/>
            </a:endParaRPr>
          </a:p>
        </p:txBody>
      </p:sp>
      <p:sp>
        <p:nvSpPr>
          <p:cNvPr id="4" name="Shape 2"/>
          <p:cNvSpPr/>
          <p:nvPr/>
        </p:nvSpPr>
        <p:spPr>
          <a:xfrm>
            <a:off x="640080" y="1691640"/>
            <a:ext cx="10881360" cy="868680"/>
          </a:xfrm>
          <a:prstGeom prst="roundRect">
            <a:avLst>
              <a:gd name="adj" fmla="val 6316"/>
            </a:avLst>
          </a:prstGeom>
          <a:solidFill>
            <a:srgbClr val="F3F3F1"/>
          </a:solidFill>
          <a:ln/>
        </p:spPr>
      </p:sp>
      <p:sp>
        <p:nvSpPr>
          <p:cNvPr id="5" name="Shape 3"/>
          <p:cNvSpPr/>
          <p:nvPr/>
        </p:nvSpPr>
        <p:spPr>
          <a:xfrm>
            <a:off x="914400" y="1851660"/>
            <a:ext cx="548640" cy="548640"/>
          </a:xfrm>
          <a:prstGeom prst="ellipse">
            <a:avLst/>
          </a:prstGeom>
          <a:solidFill>
            <a:srgbClr val="A51C30"/>
          </a:solidFill>
          <a:ln/>
        </p:spPr>
      </p:sp>
      <p:sp>
        <p:nvSpPr>
          <p:cNvPr id="6" name="Text 4"/>
          <p:cNvSpPr/>
          <p:nvPr/>
        </p:nvSpPr>
        <p:spPr>
          <a:xfrm>
            <a:off x="914400" y="1851660"/>
            <a:ext cx="54864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1</a:t>
            </a:r>
            <a:endParaRPr kumimoji="0" lang="en-US" sz="2000" b="0" i="0" u="none" strike="noStrike" kern="1200" cap="none" spc="0" normalizeH="0" baseline="0" noProof="0" dirty="0">
              <a:ln>
                <a:noFill/>
              </a:ln>
              <a:solidFill>
                <a:srgbClr val="1E1E1E"/>
              </a:solidFill>
              <a:effectLst/>
              <a:uLnTx/>
              <a:uFillTx/>
              <a:latin typeface="Arial" panose="020F0502020204030204"/>
              <a:ea typeface="+mn-ea"/>
              <a:cs typeface="+mn-cs"/>
            </a:endParaRPr>
          </a:p>
        </p:txBody>
      </p:sp>
      <p:sp>
        <p:nvSpPr>
          <p:cNvPr id="7" name="Text 5"/>
          <p:cNvSpPr/>
          <p:nvPr/>
        </p:nvSpPr>
        <p:spPr>
          <a:xfrm>
            <a:off x="1691640" y="1691640"/>
            <a:ext cx="9601200" cy="8686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E1E1E"/>
                </a:solidFill>
                <a:effectLst/>
                <a:uLnTx/>
                <a:uFillTx/>
                <a:latin typeface="Arial" pitchFamily="34" charset="0"/>
                <a:ea typeface="Arial" pitchFamily="34" charset="-122"/>
                <a:cs typeface="Arial" pitchFamily="34" charset="-120"/>
              </a:rPr>
              <a:t>Enter several tickers and the indicator settings.</a:t>
            </a:r>
            <a:endParaRPr kumimoji="0" lang="en-US" sz="1600" b="0" i="0" u="none" strike="noStrike" kern="1200" cap="none" spc="0" normalizeH="0" baseline="0" noProof="0" dirty="0">
              <a:ln>
                <a:noFill/>
              </a:ln>
              <a:solidFill>
                <a:srgbClr val="1E1E1E"/>
              </a:solidFill>
              <a:effectLst/>
              <a:uLnTx/>
              <a:uFillTx/>
              <a:latin typeface="Arial" panose="020F0502020204030204"/>
              <a:ea typeface="+mn-ea"/>
              <a:cs typeface="+mn-cs"/>
            </a:endParaRPr>
          </a:p>
        </p:txBody>
      </p:sp>
      <p:sp>
        <p:nvSpPr>
          <p:cNvPr id="8" name="Shape 6"/>
          <p:cNvSpPr/>
          <p:nvPr/>
        </p:nvSpPr>
        <p:spPr>
          <a:xfrm>
            <a:off x="640080" y="2761488"/>
            <a:ext cx="10881360" cy="868680"/>
          </a:xfrm>
          <a:prstGeom prst="roundRect">
            <a:avLst>
              <a:gd name="adj" fmla="val 6316"/>
            </a:avLst>
          </a:prstGeom>
          <a:solidFill>
            <a:srgbClr val="F3F3F1"/>
          </a:solidFill>
          <a:ln/>
        </p:spPr>
      </p:sp>
      <p:sp>
        <p:nvSpPr>
          <p:cNvPr id="9" name="Shape 7"/>
          <p:cNvSpPr/>
          <p:nvPr/>
        </p:nvSpPr>
        <p:spPr>
          <a:xfrm>
            <a:off x="914400" y="2921508"/>
            <a:ext cx="548640" cy="548640"/>
          </a:xfrm>
          <a:prstGeom prst="ellipse">
            <a:avLst/>
          </a:prstGeom>
          <a:solidFill>
            <a:srgbClr val="A51C30"/>
          </a:solidFill>
          <a:ln/>
        </p:spPr>
      </p:sp>
      <p:sp>
        <p:nvSpPr>
          <p:cNvPr id="10" name="Text 8"/>
          <p:cNvSpPr/>
          <p:nvPr/>
        </p:nvSpPr>
        <p:spPr>
          <a:xfrm>
            <a:off x="914400" y="2921508"/>
            <a:ext cx="54864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2</a:t>
            </a:r>
            <a:endParaRPr kumimoji="0" lang="en-US" sz="2000" b="0" i="0" u="none" strike="noStrike" kern="1200" cap="none" spc="0" normalizeH="0" baseline="0" noProof="0" dirty="0">
              <a:ln>
                <a:noFill/>
              </a:ln>
              <a:solidFill>
                <a:srgbClr val="1E1E1E"/>
              </a:solidFill>
              <a:effectLst/>
              <a:uLnTx/>
              <a:uFillTx/>
              <a:latin typeface="Arial" panose="020F0502020204030204"/>
              <a:ea typeface="+mn-ea"/>
              <a:cs typeface="+mn-cs"/>
            </a:endParaRPr>
          </a:p>
        </p:txBody>
      </p:sp>
      <p:sp>
        <p:nvSpPr>
          <p:cNvPr id="11" name="Text 9"/>
          <p:cNvSpPr/>
          <p:nvPr/>
        </p:nvSpPr>
        <p:spPr>
          <a:xfrm>
            <a:off x="1691640" y="2761488"/>
            <a:ext cx="9601200" cy="8686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E1E1E"/>
                </a:solidFill>
                <a:effectLst/>
                <a:uLnTx/>
                <a:uFillTx/>
                <a:latin typeface="Arial" pitchFamily="34" charset="0"/>
                <a:ea typeface="Arial" pitchFamily="34" charset="-122"/>
                <a:cs typeface="Arial" pitchFamily="34" charset="-120"/>
              </a:rPr>
              <a:t>See per ticker RSI and MACD calculated in the browser.</a:t>
            </a:r>
            <a:endParaRPr kumimoji="0" lang="en-US" sz="1600" b="0" i="0" u="none" strike="noStrike" kern="1200" cap="none" spc="0" normalizeH="0" baseline="0" noProof="0" dirty="0">
              <a:ln>
                <a:noFill/>
              </a:ln>
              <a:solidFill>
                <a:srgbClr val="1E1E1E"/>
              </a:solidFill>
              <a:effectLst/>
              <a:uLnTx/>
              <a:uFillTx/>
              <a:latin typeface="Arial" panose="020F0502020204030204"/>
              <a:ea typeface="+mn-ea"/>
              <a:cs typeface="+mn-cs"/>
            </a:endParaRPr>
          </a:p>
        </p:txBody>
      </p:sp>
      <p:sp>
        <p:nvSpPr>
          <p:cNvPr id="12" name="Shape 10"/>
          <p:cNvSpPr/>
          <p:nvPr/>
        </p:nvSpPr>
        <p:spPr>
          <a:xfrm>
            <a:off x="640080" y="3831336"/>
            <a:ext cx="10881360" cy="868680"/>
          </a:xfrm>
          <a:prstGeom prst="roundRect">
            <a:avLst>
              <a:gd name="adj" fmla="val 6316"/>
            </a:avLst>
          </a:prstGeom>
          <a:solidFill>
            <a:srgbClr val="F3F3F1"/>
          </a:solidFill>
          <a:ln/>
        </p:spPr>
      </p:sp>
      <p:sp>
        <p:nvSpPr>
          <p:cNvPr id="13" name="Shape 11"/>
          <p:cNvSpPr/>
          <p:nvPr/>
        </p:nvSpPr>
        <p:spPr>
          <a:xfrm>
            <a:off x="914400" y="3991356"/>
            <a:ext cx="548640" cy="548640"/>
          </a:xfrm>
          <a:prstGeom prst="ellipse">
            <a:avLst/>
          </a:prstGeom>
          <a:solidFill>
            <a:srgbClr val="A51C30"/>
          </a:solidFill>
          <a:ln/>
        </p:spPr>
      </p:sp>
      <p:sp>
        <p:nvSpPr>
          <p:cNvPr id="14" name="Text 12"/>
          <p:cNvSpPr/>
          <p:nvPr/>
        </p:nvSpPr>
        <p:spPr>
          <a:xfrm>
            <a:off x="914400" y="3991356"/>
            <a:ext cx="54864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3</a:t>
            </a:r>
            <a:endParaRPr kumimoji="0" lang="en-US" sz="2000" b="0" i="0" u="none" strike="noStrike" kern="1200" cap="none" spc="0" normalizeH="0" baseline="0" noProof="0" dirty="0">
              <a:ln>
                <a:noFill/>
              </a:ln>
              <a:solidFill>
                <a:srgbClr val="1E1E1E"/>
              </a:solidFill>
              <a:effectLst/>
              <a:uLnTx/>
              <a:uFillTx/>
              <a:latin typeface="Arial" panose="020F0502020204030204"/>
              <a:ea typeface="+mn-ea"/>
              <a:cs typeface="+mn-cs"/>
            </a:endParaRPr>
          </a:p>
        </p:txBody>
      </p:sp>
      <p:sp>
        <p:nvSpPr>
          <p:cNvPr id="15" name="Text 13"/>
          <p:cNvSpPr/>
          <p:nvPr/>
        </p:nvSpPr>
        <p:spPr>
          <a:xfrm>
            <a:off x="1691640" y="3831336"/>
            <a:ext cx="9601200" cy="8686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E1E1E"/>
                </a:solidFill>
                <a:effectLst/>
                <a:uLnTx/>
                <a:uFillTx/>
                <a:latin typeface="Arial" pitchFamily="34" charset="0"/>
                <a:ea typeface="Arial" pitchFamily="34" charset="-122"/>
                <a:cs typeface="Arial" pitchFamily="34" charset="-120"/>
              </a:rPr>
              <a:t>Watch the app keep only the thesis qualifying names.</a:t>
            </a:r>
            <a:endParaRPr kumimoji="0" lang="en-US" sz="1600" b="0" i="0" u="none" strike="noStrike" kern="1200" cap="none" spc="0" normalizeH="0" baseline="0" noProof="0" dirty="0">
              <a:ln>
                <a:noFill/>
              </a:ln>
              <a:solidFill>
                <a:srgbClr val="1E1E1E"/>
              </a:solidFill>
              <a:effectLst/>
              <a:uLnTx/>
              <a:uFillTx/>
              <a:latin typeface="Arial" panose="020F0502020204030204"/>
              <a:ea typeface="+mn-ea"/>
              <a:cs typeface="+mn-cs"/>
            </a:endParaRPr>
          </a:p>
        </p:txBody>
      </p:sp>
      <p:sp>
        <p:nvSpPr>
          <p:cNvPr id="16" name="Shape 14"/>
          <p:cNvSpPr/>
          <p:nvPr/>
        </p:nvSpPr>
        <p:spPr>
          <a:xfrm>
            <a:off x="640080" y="4901184"/>
            <a:ext cx="10881360" cy="868680"/>
          </a:xfrm>
          <a:prstGeom prst="roundRect">
            <a:avLst>
              <a:gd name="adj" fmla="val 6316"/>
            </a:avLst>
          </a:prstGeom>
          <a:solidFill>
            <a:srgbClr val="F3F3F1"/>
          </a:solidFill>
          <a:ln/>
        </p:spPr>
      </p:sp>
      <p:sp>
        <p:nvSpPr>
          <p:cNvPr id="17" name="Shape 15"/>
          <p:cNvSpPr/>
          <p:nvPr/>
        </p:nvSpPr>
        <p:spPr>
          <a:xfrm>
            <a:off x="914400" y="5061204"/>
            <a:ext cx="548640" cy="548640"/>
          </a:xfrm>
          <a:prstGeom prst="ellipse">
            <a:avLst/>
          </a:prstGeom>
          <a:solidFill>
            <a:srgbClr val="A51C30"/>
          </a:solidFill>
          <a:ln/>
        </p:spPr>
      </p:sp>
      <p:sp>
        <p:nvSpPr>
          <p:cNvPr id="18" name="Text 16"/>
          <p:cNvSpPr/>
          <p:nvPr/>
        </p:nvSpPr>
        <p:spPr>
          <a:xfrm>
            <a:off x="914400" y="5061204"/>
            <a:ext cx="54864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4</a:t>
            </a:r>
            <a:endParaRPr kumimoji="0" lang="en-US" sz="2000" b="0" i="0" u="none" strike="noStrike" kern="1200" cap="none" spc="0" normalizeH="0" baseline="0" noProof="0" dirty="0">
              <a:ln>
                <a:noFill/>
              </a:ln>
              <a:solidFill>
                <a:srgbClr val="1E1E1E"/>
              </a:solidFill>
              <a:effectLst/>
              <a:uLnTx/>
              <a:uFillTx/>
              <a:latin typeface="Arial" panose="020F0502020204030204"/>
              <a:ea typeface="+mn-ea"/>
              <a:cs typeface="+mn-cs"/>
            </a:endParaRPr>
          </a:p>
        </p:txBody>
      </p:sp>
      <p:sp>
        <p:nvSpPr>
          <p:cNvPr id="19" name="Text 17"/>
          <p:cNvSpPr/>
          <p:nvPr/>
        </p:nvSpPr>
        <p:spPr>
          <a:xfrm>
            <a:off x="1691640" y="4901184"/>
            <a:ext cx="9601200" cy="8686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E1E1E"/>
                </a:solidFill>
                <a:effectLst/>
                <a:uLnTx/>
                <a:uFillTx/>
                <a:latin typeface="Arial" pitchFamily="34" charset="0"/>
                <a:ea typeface="Arial" pitchFamily="34" charset="-122"/>
                <a:cs typeface="Arial" pitchFamily="34" charset="-120"/>
              </a:rPr>
              <a:t>Show inverse volatility weights and an LLM interpretation.</a:t>
            </a:r>
            <a:endParaRPr kumimoji="0" lang="en-US" sz="1600" b="0" i="0" u="none" strike="noStrike" kern="1200" cap="none" spc="0" normalizeH="0" baseline="0" noProof="0" dirty="0">
              <a:ln>
                <a:noFill/>
              </a:ln>
              <a:solidFill>
                <a:srgbClr val="1E1E1E"/>
              </a:solidFill>
              <a:effectLst/>
              <a:uLnTx/>
              <a:uFillTx/>
              <a:latin typeface="Arial" panose="020F0502020204030204"/>
              <a:ea typeface="+mn-ea"/>
              <a:cs typeface="+mn-cs"/>
            </a:endParaRPr>
          </a:p>
        </p:txBody>
      </p:sp>
      <p:sp>
        <p:nvSpPr>
          <p:cNvPr id="20" name="Harvard Footer"/>
          <p:cNvSpPr txBox="1"/>
          <p:nvPr/>
        </p:nvSpPr>
        <p:spPr>
          <a:xfrm>
            <a:off x="137319" y="6446043"/>
            <a:ext cx="1326387" cy="274638"/>
          </a:xfrm>
          <a:prstGeom prst="rect">
            <a:avLst/>
          </a:prstGeom>
          <a:noFill/>
        </p:spPr>
        <p:txBody>
          <a:bodyPr wrap="non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8996A0"/>
                </a:solidFill>
                <a:effectLst/>
                <a:uLnTx/>
                <a:uFillTx/>
                <a:latin typeface="Arial"/>
                <a:ea typeface="+mn-ea"/>
                <a:cs typeface="+mn-cs"/>
              </a:rPr>
              <a:t>© 2026 Ted Kwartler</a:t>
            </a:r>
          </a:p>
        </p:txBody>
      </p:sp>
      <p:sp>
        <p:nvSpPr>
          <p:cNvPr id="21" name="Harvard Page Number"/>
          <p:cNvSpPr txBox="1"/>
          <p:nvPr/>
        </p:nvSpPr>
        <p:spPr>
          <a:xfrm>
            <a:off x="11730577" y="6446043"/>
            <a:ext cx="324104" cy="274638"/>
          </a:xfrm>
          <a:prstGeom prst="rect">
            <a:avLst/>
          </a:prstGeom>
          <a:noFill/>
        </p:spPr>
        <p:txBody>
          <a:bodyPr wrap="none" lIns="0" tIns="0" rIns="0" bIns="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169A117-BB11-4093-9134-50D9EA403EB3}" type="slidenum">
              <a:rPr kumimoji="0" lang="en-US" sz="1000" b="0" i="0" u="none" strike="noStrike" kern="1200" cap="none" spc="0" normalizeH="0" baseline="0" noProof="0">
                <a:ln>
                  <a:noFill/>
                </a:ln>
                <a:solidFill>
                  <a:srgbClr val="8996A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000" b="0" i="0" u="none" strike="noStrike" kern="1200" cap="none" spc="0" normalizeH="0" baseline="0" noProof="0">
              <a:ln>
                <a:noFill/>
              </a:ln>
              <a:solidFill>
                <a:srgbClr val="8996A0"/>
              </a:solidFill>
              <a:effectLst/>
              <a:uLnTx/>
              <a:uFillTx/>
              <a:latin typeface="Arial"/>
              <a:ea typeface="+mn-ea"/>
              <a:cs typeface="+mn-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640080" y="411480"/>
            <a:ext cx="685800" cy="685800"/>
          </a:xfrm>
          <a:prstGeom prst="roundRect">
            <a:avLst>
              <a:gd name="adj" fmla="val 16000"/>
            </a:avLst>
          </a:prstGeom>
          <a:solidFill>
            <a:srgbClr val="A51C30"/>
          </a:solidFill>
          <a:ln/>
        </p:spPr>
      </p:sp>
      <p:sp>
        <p:nvSpPr>
          <p:cNvPr id="3" name="Text 1"/>
          <p:cNvSpPr/>
          <p:nvPr/>
        </p:nvSpPr>
        <p:spPr>
          <a:xfrm>
            <a:off x="640080" y="411480"/>
            <a:ext cx="685800" cy="685800"/>
          </a:xfrm>
          <a:prstGeom prst="rect">
            <a:avLst/>
          </a:prstGeom>
          <a:noFill/>
          <a:ln/>
        </p:spPr>
        <p:txBody>
          <a:bodyPr wrap="square" lIns="0" tIns="0" rIns="0" bIns="0"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1</a:t>
            </a:r>
            <a:endParaRPr lang="en-US" sz="3000" dirty="0"/>
          </a:p>
        </p:txBody>
      </p:sp>
      <p:sp>
        <p:nvSpPr>
          <p:cNvPr id="4" name="Text 2"/>
          <p:cNvSpPr/>
          <p:nvPr/>
        </p:nvSpPr>
        <p:spPr>
          <a:xfrm>
            <a:off x="1508760" y="411480"/>
            <a:ext cx="10058400" cy="685800"/>
          </a:xfrm>
          <a:prstGeom prst="rect">
            <a:avLst/>
          </a:prstGeom>
          <a:noFill/>
          <a:ln/>
        </p:spPr>
        <p:txBody>
          <a:bodyPr wrap="square" lIns="0" tIns="0" rIns="0" bIns="0" rtlCol="0" anchor="ctr"/>
          <a:lstStyle/>
          <a:p>
            <a:pPr marL="0" indent="0">
              <a:buNone/>
            </a:pPr>
            <a:r>
              <a:rPr lang="en-US" sz="2600" b="1" dirty="0">
                <a:solidFill>
                  <a:srgbClr val="1E1E1E"/>
                </a:solidFill>
                <a:latin typeface="Arial" pitchFamily="34" charset="0"/>
                <a:ea typeface="Arial" pitchFamily="34" charset="-122"/>
                <a:cs typeface="Arial" pitchFamily="34" charset="-120"/>
              </a:rPr>
              <a:t>Enter the candidate universe</a:t>
            </a:r>
            <a:endParaRPr lang="en-US" sz="2600" dirty="0"/>
          </a:p>
        </p:txBody>
      </p:sp>
      <p:sp>
        <p:nvSpPr>
          <p:cNvPr id="5" name="Shape 3"/>
          <p:cNvSpPr/>
          <p:nvPr/>
        </p:nvSpPr>
        <p:spPr>
          <a:xfrm>
            <a:off x="640080" y="1371600"/>
            <a:ext cx="10881360" cy="1143000"/>
          </a:xfrm>
          <a:prstGeom prst="roundRect">
            <a:avLst>
              <a:gd name="adj" fmla="val 6400"/>
            </a:avLst>
          </a:prstGeom>
          <a:solidFill>
            <a:srgbClr val="293352"/>
          </a:solidFill>
          <a:ln/>
        </p:spPr>
      </p:sp>
      <p:sp>
        <p:nvSpPr>
          <p:cNvPr id="6" name="Shape 4"/>
          <p:cNvSpPr/>
          <p:nvPr/>
        </p:nvSpPr>
        <p:spPr>
          <a:xfrm>
            <a:off x="868680" y="1627632"/>
            <a:ext cx="621792" cy="621792"/>
          </a:xfrm>
          <a:prstGeom prst="roundRect">
            <a:avLst>
              <a:gd name="adj" fmla="val 13235"/>
            </a:avLst>
          </a:prstGeom>
          <a:solidFill>
            <a:srgbClr val="A51C30"/>
          </a:solidFill>
          <a:ln/>
        </p:spPr>
      </p:sp>
      <p:pic>
        <p:nvPicPr>
          <p:cNvPr id="7" name="Image 0" descr="preencoded.png"/>
          <p:cNvPicPr>
            <a:picLocks noChangeAspect="1"/>
          </p:cNvPicPr>
          <p:nvPr/>
        </p:nvPicPr>
        <p:blipFill>
          <a:blip r:embed="rId3"/>
          <a:stretch>
            <a:fillRect/>
          </a:stretch>
        </p:blipFill>
        <p:spPr>
          <a:xfrm>
            <a:off x="1008583" y="1767535"/>
            <a:ext cx="341986" cy="341986"/>
          </a:xfrm>
          <a:prstGeom prst="rect">
            <a:avLst/>
          </a:prstGeom>
        </p:spPr>
      </p:pic>
      <p:sp>
        <p:nvSpPr>
          <p:cNvPr id="8" name="Text 5"/>
          <p:cNvSpPr/>
          <p:nvPr/>
        </p:nvSpPr>
        <p:spPr>
          <a:xfrm>
            <a:off x="1691640" y="1463040"/>
            <a:ext cx="9601200" cy="960120"/>
          </a:xfrm>
          <a:prstGeom prst="rect">
            <a:avLst/>
          </a:prstGeom>
          <a:noFill/>
          <a:ln/>
        </p:spPr>
        <p:txBody>
          <a:bodyPr wrap="square" lIns="0" tIns="0" rIns="0" bIns="0" rtlCol="0" anchor="ctr"/>
          <a:lstStyle/>
          <a:p>
            <a:pPr marL="0" indent="0">
              <a:lnSpc>
                <a:spcPct val="105000"/>
              </a:lnSpc>
              <a:buNone/>
            </a:pPr>
            <a:r>
              <a:rPr lang="en-US" sz="1100" b="1" kern="0" spc="200" dirty="0">
                <a:solidFill>
                  <a:srgbClr val="8996A0"/>
                </a:solidFill>
                <a:latin typeface="Arial" pitchFamily="34" charset="0"/>
                <a:ea typeface="Arial" pitchFamily="34" charset="-122"/>
                <a:cs typeface="Arial" pitchFamily="34" charset="-120"/>
              </a:rPr>
              <a:t>USER STORY
</a:t>
            </a:r>
            <a:r>
              <a:rPr lang="en-US" sz="1600" i="1" dirty="0">
                <a:solidFill>
                  <a:srgbClr val="FFFFFF"/>
                </a:solidFill>
                <a:latin typeface="Arial" pitchFamily="34" charset="0"/>
                <a:ea typeface="Arial" pitchFamily="34" charset="-122"/>
                <a:cs typeface="Arial" pitchFamily="34" charset="-120"/>
              </a:rPr>
              <a:t>As an investor, I need to enter a set of candidate tickers so I can screen them against my thesis.</a:t>
            </a:r>
            <a:endParaRPr lang="en-US" sz="1100" dirty="0"/>
          </a:p>
        </p:txBody>
      </p:sp>
      <p:sp>
        <p:nvSpPr>
          <p:cNvPr id="9" name="Shape 6"/>
          <p:cNvSpPr/>
          <p:nvPr/>
        </p:nvSpPr>
        <p:spPr>
          <a:xfrm>
            <a:off x="640080" y="2697480"/>
            <a:ext cx="10881360" cy="1325880"/>
          </a:xfrm>
          <a:prstGeom prst="roundRect">
            <a:avLst>
              <a:gd name="adj" fmla="val 5517"/>
            </a:avLst>
          </a:prstGeom>
          <a:solidFill>
            <a:srgbClr val="F3F3F1"/>
          </a:solidFill>
          <a:ln/>
        </p:spPr>
      </p:sp>
      <p:sp>
        <p:nvSpPr>
          <p:cNvPr id="10" name="Shape 7"/>
          <p:cNvSpPr/>
          <p:nvPr/>
        </p:nvSpPr>
        <p:spPr>
          <a:xfrm>
            <a:off x="868680" y="3035808"/>
            <a:ext cx="621792" cy="621792"/>
          </a:xfrm>
          <a:prstGeom prst="roundRect">
            <a:avLst>
              <a:gd name="adj" fmla="val 13235"/>
            </a:avLst>
          </a:prstGeom>
          <a:solidFill>
            <a:srgbClr val="A51C30"/>
          </a:solidFill>
          <a:ln/>
        </p:spPr>
      </p:sp>
      <p:pic>
        <p:nvPicPr>
          <p:cNvPr id="11" name="Image 1" descr="preencoded.png"/>
          <p:cNvPicPr>
            <a:picLocks noChangeAspect="1"/>
          </p:cNvPicPr>
          <p:nvPr/>
        </p:nvPicPr>
        <p:blipFill>
          <a:blip r:embed="rId4"/>
          <a:stretch>
            <a:fillRect/>
          </a:stretch>
        </p:blipFill>
        <p:spPr>
          <a:xfrm>
            <a:off x="1008583" y="3175711"/>
            <a:ext cx="341986" cy="341986"/>
          </a:xfrm>
          <a:prstGeom prst="rect">
            <a:avLst/>
          </a:prstGeom>
        </p:spPr>
      </p:pic>
      <p:sp>
        <p:nvSpPr>
          <p:cNvPr id="12" name="Text 8"/>
          <p:cNvSpPr/>
          <p:nvPr/>
        </p:nvSpPr>
        <p:spPr>
          <a:xfrm>
            <a:off x="1691640" y="2788920"/>
            <a:ext cx="9601200" cy="1143000"/>
          </a:xfrm>
          <a:prstGeom prst="rect">
            <a:avLst/>
          </a:prstGeom>
          <a:noFill/>
          <a:ln/>
        </p:spPr>
        <p:txBody>
          <a:bodyPr wrap="square" lIns="0" tIns="0" rIns="0" bIns="0" rtlCol="0" anchor="ctr"/>
          <a:lstStyle/>
          <a:p>
            <a:pPr marL="0" indent="0">
              <a:lnSpc>
                <a:spcPct val="105000"/>
              </a:lnSpc>
              <a:buNone/>
            </a:pPr>
            <a:r>
              <a:rPr lang="en-US" sz="1100" b="1" kern="0" spc="200" dirty="0">
                <a:solidFill>
                  <a:srgbClr val="A51C30"/>
                </a:solidFill>
                <a:latin typeface="Arial" pitchFamily="34" charset="0"/>
                <a:ea typeface="Arial" pitchFamily="34" charset="-122"/>
                <a:cs typeface="Arial" pitchFamily="34" charset="-120"/>
              </a:rPr>
              <a:t>FUNCTIONAL REQUIREMENT
</a:t>
            </a:r>
            <a:r>
              <a:rPr lang="en-US" sz="1600" dirty="0">
                <a:solidFill>
                  <a:srgbClr val="1E1E1E"/>
                </a:solidFill>
                <a:latin typeface="Arial" pitchFamily="34" charset="0"/>
                <a:ea typeface="Arial" pitchFamily="34" charset="-122"/>
                <a:cs typeface="Arial" pitchFamily="34" charset="-120"/>
              </a:rPr>
              <a:t>Build a browser form that accepts a comma separated list of tickers plus indicator settings (RSI period, MACD fast/slow/signal) and an OpenRouter key field.</a:t>
            </a:r>
            <a:endParaRPr lang="en-US" sz="1100" dirty="0"/>
          </a:p>
        </p:txBody>
      </p:sp>
      <p:sp>
        <p:nvSpPr>
          <p:cNvPr id="15"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6" name="Harvard Page Number"/>
          <p:cNvSpPr txBox="1"/>
          <p:nvPr/>
        </p:nvSpPr>
        <p:spPr>
          <a:xfrm>
            <a:off x="11730577" y="6446043"/>
            <a:ext cx="324104" cy="274638"/>
          </a:xfrm>
          <a:prstGeom prst="rect">
            <a:avLst/>
          </a:prstGeom>
          <a:noFill/>
        </p:spPr>
        <p:txBody>
          <a:bodyPr wrap="none" lIns="0" tIns="0" rIns="0" bIns="0">
            <a:noAutofit/>
          </a:bodyPr>
          <a:lstStyle/>
          <a:p>
            <a:pPr algn="r"/>
            <a:fld id="{08A3229E-192C-419A-9FCA-8BFD5CA6179A}" type="slidenum">
              <a:rPr lang="en-US" sz="1000">
                <a:solidFill>
                  <a:srgbClr val="8996A0"/>
                </a:solidFill>
                <a:latin typeface="Arial"/>
              </a:rPr>
              <a:t>37</a:t>
            </a:fld>
            <a:endParaRPr lang="en-US" sz="1000">
              <a:solidFill>
                <a:srgbClr val="8996A0"/>
              </a:solidFill>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640080" y="411480"/>
            <a:ext cx="685800" cy="685800"/>
          </a:xfrm>
          <a:prstGeom prst="roundRect">
            <a:avLst>
              <a:gd name="adj" fmla="val 16000"/>
            </a:avLst>
          </a:prstGeom>
          <a:solidFill>
            <a:srgbClr val="A51C30"/>
          </a:solidFill>
          <a:ln/>
        </p:spPr>
      </p:sp>
      <p:sp>
        <p:nvSpPr>
          <p:cNvPr id="3" name="Text 1"/>
          <p:cNvSpPr/>
          <p:nvPr/>
        </p:nvSpPr>
        <p:spPr>
          <a:xfrm>
            <a:off x="640080" y="411480"/>
            <a:ext cx="685800" cy="685800"/>
          </a:xfrm>
          <a:prstGeom prst="rect">
            <a:avLst/>
          </a:prstGeom>
          <a:noFill/>
          <a:ln/>
        </p:spPr>
        <p:txBody>
          <a:bodyPr wrap="square" lIns="0" tIns="0" rIns="0" bIns="0"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2</a:t>
            </a:r>
            <a:endParaRPr lang="en-US" sz="3000" dirty="0"/>
          </a:p>
        </p:txBody>
      </p:sp>
      <p:sp>
        <p:nvSpPr>
          <p:cNvPr id="4" name="Text 2"/>
          <p:cNvSpPr/>
          <p:nvPr/>
        </p:nvSpPr>
        <p:spPr>
          <a:xfrm>
            <a:off x="1508760" y="411480"/>
            <a:ext cx="10058400" cy="685800"/>
          </a:xfrm>
          <a:prstGeom prst="rect">
            <a:avLst/>
          </a:prstGeom>
          <a:noFill/>
          <a:ln/>
        </p:spPr>
        <p:txBody>
          <a:bodyPr wrap="square" lIns="0" tIns="0" rIns="0" bIns="0" rtlCol="0" anchor="ctr"/>
          <a:lstStyle/>
          <a:p>
            <a:pPr marL="0" indent="0">
              <a:buNone/>
            </a:pPr>
            <a:r>
              <a:rPr lang="en-US" sz="2600" b="1" dirty="0">
                <a:solidFill>
                  <a:srgbClr val="1E1E1E"/>
                </a:solidFill>
                <a:latin typeface="Arial" pitchFamily="34" charset="0"/>
                <a:ea typeface="Arial" pitchFamily="34" charset="-122"/>
                <a:cs typeface="Arial" pitchFamily="34" charset="-120"/>
              </a:rPr>
              <a:t>Get price history</a:t>
            </a:r>
            <a:endParaRPr lang="en-US" sz="2600" dirty="0"/>
          </a:p>
        </p:txBody>
      </p:sp>
      <p:sp>
        <p:nvSpPr>
          <p:cNvPr id="5" name="Shape 3"/>
          <p:cNvSpPr/>
          <p:nvPr/>
        </p:nvSpPr>
        <p:spPr>
          <a:xfrm>
            <a:off x="640080" y="1371600"/>
            <a:ext cx="10881360" cy="1143000"/>
          </a:xfrm>
          <a:prstGeom prst="roundRect">
            <a:avLst>
              <a:gd name="adj" fmla="val 6400"/>
            </a:avLst>
          </a:prstGeom>
          <a:solidFill>
            <a:srgbClr val="293352"/>
          </a:solidFill>
          <a:ln/>
        </p:spPr>
      </p:sp>
      <p:sp>
        <p:nvSpPr>
          <p:cNvPr id="6" name="Shape 4"/>
          <p:cNvSpPr/>
          <p:nvPr/>
        </p:nvSpPr>
        <p:spPr>
          <a:xfrm>
            <a:off x="868680" y="1627632"/>
            <a:ext cx="621792" cy="621792"/>
          </a:xfrm>
          <a:prstGeom prst="roundRect">
            <a:avLst>
              <a:gd name="adj" fmla="val 13235"/>
            </a:avLst>
          </a:prstGeom>
          <a:solidFill>
            <a:srgbClr val="A51C30"/>
          </a:solidFill>
          <a:ln/>
        </p:spPr>
      </p:sp>
      <p:pic>
        <p:nvPicPr>
          <p:cNvPr id="7" name="Image 0" descr="preencoded.png"/>
          <p:cNvPicPr>
            <a:picLocks noChangeAspect="1"/>
          </p:cNvPicPr>
          <p:nvPr/>
        </p:nvPicPr>
        <p:blipFill>
          <a:blip r:embed="rId3"/>
          <a:stretch>
            <a:fillRect/>
          </a:stretch>
        </p:blipFill>
        <p:spPr>
          <a:xfrm>
            <a:off x="1008583" y="1767535"/>
            <a:ext cx="341986" cy="341986"/>
          </a:xfrm>
          <a:prstGeom prst="rect">
            <a:avLst/>
          </a:prstGeom>
        </p:spPr>
      </p:pic>
      <p:sp>
        <p:nvSpPr>
          <p:cNvPr id="8" name="Text 5"/>
          <p:cNvSpPr/>
          <p:nvPr/>
        </p:nvSpPr>
        <p:spPr>
          <a:xfrm>
            <a:off x="1691640" y="1463040"/>
            <a:ext cx="9601200" cy="960120"/>
          </a:xfrm>
          <a:prstGeom prst="rect">
            <a:avLst/>
          </a:prstGeom>
          <a:noFill/>
          <a:ln/>
        </p:spPr>
        <p:txBody>
          <a:bodyPr wrap="square" lIns="0" tIns="0" rIns="0" bIns="0" rtlCol="0" anchor="ctr"/>
          <a:lstStyle/>
          <a:p>
            <a:pPr marL="0" indent="0">
              <a:lnSpc>
                <a:spcPct val="105000"/>
              </a:lnSpc>
              <a:buNone/>
            </a:pPr>
            <a:r>
              <a:rPr lang="en-US" sz="1100" b="1" kern="0" spc="200" dirty="0">
                <a:solidFill>
                  <a:srgbClr val="8996A0"/>
                </a:solidFill>
                <a:latin typeface="Arial" pitchFamily="34" charset="0"/>
                <a:ea typeface="Arial" pitchFamily="34" charset="-122"/>
                <a:cs typeface="Arial" pitchFamily="34" charset="-120"/>
              </a:rPr>
              <a:t>USER STORY
</a:t>
            </a:r>
            <a:r>
              <a:rPr lang="en-US" sz="1600" i="1" dirty="0">
                <a:solidFill>
                  <a:srgbClr val="FFFFFF"/>
                </a:solidFill>
                <a:latin typeface="Arial" pitchFamily="34" charset="0"/>
                <a:ea typeface="Arial" pitchFamily="34" charset="-122"/>
                <a:cs typeface="Arial" pitchFamily="34" charset="-120"/>
              </a:rPr>
              <a:t>As an investor, I need recent price history for each ticker so I have something to calculate signals from.</a:t>
            </a:r>
            <a:endParaRPr lang="en-US" sz="1100" dirty="0"/>
          </a:p>
        </p:txBody>
      </p:sp>
      <p:sp>
        <p:nvSpPr>
          <p:cNvPr id="9" name="Shape 6"/>
          <p:cNvSpPr/>
          <p:nvPr/>
        </p:nvSpPr>
        <p:spPr>
          <a:xfrm>
            <a:off x="640080" y="2697480"/>
            <a:ext cx="10881360" cy="1325880"/>
          </a:xfrm>
          <a:prstGeom prst="roundRect">
            <a:avLst>
              <a:gd name="adj" fmla="val 5517"/>
            </a:avLst>
          </a:prstGeom>
          <a:solidFill>
            <a:srgbClr val="F3F3F1"/>
          </a:solidFill>
          <a:ln/>
        </p:spPr>
      </p:sp>
      <p:sp>
        <p:nvSpPr>
          <p:cNvPr id="10" name="Shape 7"/>
          <p:cNvSpPr/>
          <p:nvPr/>
        </p:nvSpPr>
        <p:spPr>
          <a:xfrm>
            <a:off x="868680" y="3035808"/>
            <a:ext cx="621792" cy="621792"/>
          </a:xfrm>
          <a:prstGeom prst="roundRect">
            <a:avLst>
              <a:gd name="adj" fmla="val 13235"/>
            </a:avLst>
          </a:prstGeom>
          <a:solidFill>
            <a:srgbClr val="A51C30"/>
          </a:solidFill>
          <a:ln/>
        </p:spPr>
      </p:sp>
      <p:pic>
        <p:nvPicPr>
          <p:cNvPr id="11" name="Image 1" descr="preencoded.png"/>
          <p:cNvPicPr>
            <a:picLocks noChangeAspect="1"/>
          </p:cNvPicPr>
          <p:nvPr/>
        </p:nvPicPr>
        <p:blipFill>
          <a:blip r:embed="rId4"/>
          <a:stretch>
            <a:fillRect/>
          </a:stretch>
        </p:blipFill>
        <p:spPr>
          <a:xfrm>
            <a:off x="1008583" y="3175711"/>
            <a:ext cx="341986" cy="341986"/>
          </a:xfrm>
          <a:prstGeom prst="rect">
            <a:avLst/>
          </a:prstGeom>
        </p:spPr>
      </p:pic>
      <p:sp>
        <p:nvSpPr>
          <p:cNvPr id="12" name="Text 8"/>
          <p:cNvSpPr/>
          <p:nvPr/>
        </p:nvSpPr>
        <p:spPr>
          <a:xfrm>
            <a:off x="1691640" y="2788920"/>
            <a:ext cx="9601200" cy="1143000"/>
          </a:xfrm>
          <a:prstGeom prst="rect">
            <a:avLst/>
          </a:prstGeom>
          <a:noFill/>
          <a:ln/>
        </p:spPr>
        <p:txBody>
          <a:bodyPr wrap="square" lIns="0" tIns="0" rIns="0" bIns="0" rtlCol="0" anchor="ctr"/>
          <a:lstStyle/>
          <a:p>
            <a:pPr marL="0" indent="0">
              <a:lnSpc>
                <a:spcPct val="105000"/>
              </a:lnSpc>
              <a:buNone/>
            </a:pPr>
            <a:r>
              <a:rPr lang="en-US" sz="1100" b="1" kern="0" spc="200" dirty="0">
                <a:solidFill>
                  <a:srgbClr val="A51C30"/>
                </a:solidFill>
                <a:latin typeface="Arial" pitchFamily="34" charset="0"/>
                <a:ea typeface="Arial" pitchFamily="34" charset="-122"/>
                <a:cs typeface="Arial" pitchFamily="34" charset="-120"/>
              </a:rPr>
              <a:t>FUNCTIONAL REQUIREMENT
</a:t>
            </a:r>
            <a:r>
              <a:rPr lang="en-US" sz="1600" dirty="0">
                <a:solidFill>
                  <a:srgbClr val="1E1E1E"/>
                </a:solidFill>
                <a:latin typeface="Arial" pitchFamily="34" charset="0"/>
                <a:ea typeface="Arial" pitchFamily="34" charset="-122"/>
                <a:cs typeface="Arial" pitchFamily="34" charset="-120"/>
              </a:rPr>
              <a:t>Fetch OHLCV per ticker from the Twelve Data</a:t>
            </a:r>
            <a:endParaRPr lang="en-US" sz="1100" dirty="0"/>
          </a:p>
        </p:txBody>
      </p:sp>
      <p:sp>
        <p:nvSpPr>
          <p:cNvPr id="15"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6" name="Harvard Page Number"/>
          <p:cNvSpPr txBox="1"/>
          <p:nvPr/>
        </p:nvSpPr>
        <p:spPr>
          <a:xfrm>
            <a:off x="11730577" y="6446043"/>
            <a:ext cx="324104" cy="274638"/>
          </a:xfrm>
          <a:prstGeom prst="rect">
            <a:avLst/>
          </a:prstGeom>
          <a:noFill/>
        </p:spPr>
        <p:txBody>
          <a:bodyPr wrap="none" lIns="0" tIns="0" rIns="0" bIns="0">
            <a:noAutofit/>
          </a:bodyPr>
          <a:lstStyle/>
          <a:p>
            <a:pPr algn="r"/>
            <a:fld id="{F619E378-C356-4ED0-B307-B91F1F0B546A}" type="slidenum">
              <a:rPr lang="en-US" sz="1000">
                <a:solidFill>
                  <a:srgbClr val="8996A0"/>
                </a:solidFill>
                <a:latin typeface="Arial"/>
              </a:rPr>
              <a:t>38</a:t>
            </a:fld>
            <a:endParaRPr lang="en-US" sz="1000">
              <a:solidFill>
                <a:srgbClr val="8996A0"/>
              </a:solidFill>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640080" y="411480"/>
            <a:ext cx="685800" cy="685800"/>
          </a:xfrm>
          <a:prstGeom prst="roundRect">
            <a:avLst>
              <a:gd name="adj" fmla="val 16000"/>
            </a:avLst>
          </a:prstGeom>
          <a:solidFill>
            <a:srgbClr val="A51C30"/>
          </a:solidFill>
          <a:ln/>
        </p:spPr>
      </p:sp>
      <p:sp>
        <p:nvSpPr>
          <p:cNvPr id="3" name="Text 1"/>
          <p:cNvSpPr/>
          <p:nvPr/>
        </p:nvSpPr>
        <p:spPr>
          <a:xfrm>
            <a:off x="640080" y="411480"/>
            <a:ext cx="685800" cy="685800"/>
          </a:xfrm>
          <a:prstGeom prst="rect">
            <a:avLst/>
          </a:prstGeom>
          <a:noFill/>
          <a:ln/>
        </p:spPr>
        <p:txBody>
          <a:bodyPr wrap="square" lIns="0" tIns="0" rIns="0" bIns="0"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3</a:t>
            </a:r>
            <a:endParaRPr lang="en-US" sz="3000" dirty="0"/>
          </a:p>
        </p:txBody>
      </p:sp>
      <p:sp>
        <p:nvSpPr>
          <p:cNvPr id="4" name="Text 2"/>
          <p:cNvSpPr/>
          <p:nvPr/>
        </p:nvSpPr>
        <p:spPr>
          <a:xfrm>
            <a:off x="1508760" y="411480"/>
            <a:ext cx="10058400" cy="685800"/>
          </a:xfrm>
          <a:prstGeom prst="rect">
            <a:avLst/>
          </a:prstGeom>
          <a:noFill/>
          <a:ln/>
        </p:spPr>
        <p:txBody>
          <a:bodyPr wrap="square" lIns="0" tIns="0" rIns="0" bIns="0" rtlCol="0" anchor="ctr"/>
          <a:lstStyle/>
          <a:p>
            <a:pPr marL="0" indent="0">
              <a:buNone/>
            </a:pPr>
            <a:r>
              <a:rPr lang="en-US" sz="2600" b="1" dirty="0">
                <a:solidFill>
                  <a:srgbClr val="1E1E1E"/>
                </a:solidFill>
                <a:latin typeface="Arial" pitchFamily="34" charset="0"/>
                <a:ea typeface="Arial" pitchFamily="34" charset="-122"/>
                <a:cs typeface="Arial" pitchFamily="34" charset="-120"/>
              </a:rPr>
              <a:t>Calculate RSI and MACD</a:t>
            </a:r>
            <a:endParaRPr lang="en-US" sz="2600" dirty="0"/>
          </a:p>
        </p:txBody>
      </p:sp>
      <p:sp>
        <p:nvSpPr>
          <p:cNvPr id="5" name="Shape 3"/>
          <p:cNvSpPr/>
          <p:nvPr/>
        </p:nvSpPr>
        <p:spPr>
          <a:xfrm>
            <a:off x="640080" y="1371600"/>
            <a:ext cx="10881360" cy="1143000"/>
          </a:xfrm>
          <a:prstGeom prst="roundRect">
            <a:avLst>
              <a:gd name="adj" fmla="val 6400"/>
            </a:avLst>
          </a:prstGeom>
          <a:solidFill>
            <a:srgbClr val="293352"/>
          </a:solidFill>
          <a:ln/>
        </p:spPr>
      </p:sp>
      <p:sp>
        <p:nvSpPr>
          <p:cNvPr id="6" name="Shape 4"/>
          <p:cNvSpPr/>
          <p:nvPr/>
        </p:nvSpPr>
        <p:spPr>
          <a:xfrm>
            <a:off x="868680" y="1627632"/>
            <a:ext cx="621792" cy="621792"/>
          </a:xfrm>
          <a:prstGeom prst="roundRect">
            <a:avLst>
              <a:gd name="adj" fmla="val 13235"/>
            </a:avLst>
          </a:prstGeom>
          <a:solidFill>
            <a:srgbClr val="A51C30"/>
          </a:solidFill>
          <a:ln/>
        </p:spPr>
      </p:sp>
      <p:pic>
        <p:nvPicPr>
          <p:cNvPr id="7" name="Image 0" descr="preencoded.png"/>
          <p:cNvPicPr>
            <a:picLocks noChangeAspect="1"/>
          </p:cNvPicPr>
          <p:nvPr/>
        </p:nvPicPr>
        <p:blipFill>
          <a:blip r:embed="rId3"/>
          <a:stretch>
            <a:fillRect/>
          </a:stretch>
        </p:blipFill>
        <p:spPr>
          <a:xfrm>
            <a:off x="1008583" y="1767535"/>
            <a:ext cx="341986" cy="341986"/>
          </a:xfrm>
          <a:prstGeom prst="rect">
            <a:avLst/>
          </a:prstGeom>
        </p:spPr>
      </p:pic>
      <p:sp>
        <p:nvSpPr>
          <p:cNvPr id="8" name="Text 5"/>
          <p:cNvSpPr/>
          <p:nvPr/>
        </p:nvSpPr>
        <p:spPr>
          <a:xfrm>
            <a:off x="1691640" y="1463040"/>
            <a:ext cx="9601200" cy="960120"/>
          </a:xfrm>
          <a:prstGeom prst="rect">
            <a:avLst/>
          </a:prstGeom>
          <a:noFill/>
          <a:ln/>
        </p:spPr>
        <p:txBody>
          <a:bodyPr wrap="square" lIns="0" tIns="0" rIns="0" bIns="0" rtlCol="0" anchor="ctr"/>
          <a:lstStyle/>
          <a:p>
            <a:pPr marL="0" indent="0">
              <a:lnSpc>
                <a:spcPct val="105000"/>
              </a:lnSpc>
              <a:buNone/>
            </a:pPr>
            <a:r>
              <a:rPr lang="en-US" sz="1100" b="1" kern="0" spc="200" dirty="0">
                <a:solidFill>
                  <a:srgbClr val="8996A0"/>
                </a:solidFill>
                <a:latin typeface="Arial" pitchFamily="34" charset="0"/>
                <a:ea typeface="Arial" pitchFamily="34" charset="-122"/>
                <a:cs typeface="Arial" pitchFamily="34" charset="-120"/>
              </a:rPr>
              <a:t>USER STORY
</a:t>
            </a:r>
            <a:r>
              <a:rPr lang="en-US" sz="1600" i="1" dirty="0">
                <a:solidFill>
                  <a:srgbClr val="FFFFFF"/>
                </a:solidFill>
                <a:latin typeface="Arial" pitchFamily="34" charset="0"/>
                <a:ea typeface="Arial" pitchFamily="34" charset="-122"/>
                <a:cs typeface="Arial" pitchFamily="34" charset="-120"/>
              </a:rPr>
              <a:t>As an investor, I need to calculate RSI to check for overbought conditions and MACD to confirm momentum.</a:t>
            </a:r>
            <a:endParaRPr lang="en-US" sz="1100" dirty="0"/>
          </a:p>
        </p:txBody>
      </p:sp>
      <p:sp>
        <p:nvSpPr>
          <p:cNvPr id="9" name="Shape 6"/>
          <p:cNvSpPr/>
          <p:nvPr/>
        </p:nvSpPr>
        <p:spPr>
          <a:xfrm>
            <a:off x="640080" y="2697480"/>
            <a:ext cx="10881360" cy="1325880"/>
          </a:xfrm>
          <a:prstGeom prst="roundRect">
            <a:avLst>
              <a:gd name="adj" fmla="val 5517"/>
            </a:avLst>
          </a:prstGeom>
          <a:solidFill>
            <a:srgbClr val="F3F3F1"/>
          </a:solidFill>
          <a:ln/>
        </p:spPr>
      </p:sp>
      <p:sp>
        <p:nvSpPr>
          <p:cNvPr id="10" name="Shape 7"/>
          <p:cNvSpPr/>
          <p:nvPr/>
        </p:nvSpPr>
        <p:spPr>
          <a:xfrm>
            <a:off x="868680" y="3035808"/>
            <a:ext cx="621792" cy="621792"/>
          </a:xfrm>
          <a:prstGeom prst="roundRect">
            <a:avLst>
              <a:gd name="adj" fmla="val 13235"/>
            </a:avLst>
          </a:prstGeom>
          <a:solidFill>
            <a:srgbClr val="A51C30"/>
          </a:solidFill>
          <a:ln/>
        </p:spPr>
      </p:sp>
      <p:pic>
        <p:nvPicPr>
          <p:cNvPr id="11" name="Image 1" descr="preencoded.png"/>
          <p:cNvPicPr>
            <a:picLocks noChangeAspect="1"/>
          </p:cNvPicPr>
          <p:nvPr/>
        </p:nvPicPr>
        <p:blipFill>
          <a:blip r:embed="rId4"/>
          <a:stretch>
            <a:fillRect/>
          </a:stretch>
        </p:blipFill>
        <p:spPr>
          <a:xfrm>
            <a:off x="1008583" y="3175711"/>
            <a:ext cx="341986" cy="341986"/>
          </a:xfrm>
          <a:prstGeom prst="rect">
            <a:avLst/>
          </a:prstGeom>
        </p:spPr>
      </p:pic>
      <p:sp>
        <p:nvSpPr>
          <p:cNvPr id="12" name="Text 8"/>
          <p:cNvSpPr/>
          <p:nvPr/>
        </p:nvSpPr>
        <p:spPr>
          <a:xfrm>
            <a:off x="1691640" y="2788920"/>
            <a:ext cx="9601200" cy="1143000"/>
          </a:xfrm>
          <a:prstGeom prst="rect">
            <a:avLst/>
          </a:prstGeom>
          <a:noFill/>
          <a:ln/>
        </p:spPr>
        <p:txBody>
          <a:bodyPr wrap="square" lIns="0" tIns="0" rIns="0" bIns="0" rtlCol="0" anchor="ctr"/>
          <a:lstStyle/>
          <a:p>
            <a:pPr marL="0" indent="0">
              <a:lnSpc>
                <a:spcPct val="105000"/>
              </a:lnSpc>
              <a:buNone/>
            </a:pPr>
            <a:r>
              <a:rPr lang="en-US" sz="1100" b="1" kern="0" spc="200" dirty="0">
                <a:solidFill>
                  <a:srgbClr val="A51C30"/>
                </a:solidFill>
                <a:latin typeface="Arial" pitchFamily="34" charset="0"/>
                <a:ea typeface="Arial" pitchFamily="34" charset="-122"/>
                <a:cs typeface="Arial" pitchFamily="34" charset="-120"/>
              </a:rPr>
              <a:t>FUNCTIONAL REQUIREMENT
</a:t>
            </a:r>
            <a:r>
              <a:rPr lang="en-US" sz="1600" dirty="0">
                <a:solidFill>
                  <a:srgbClr val="1E1E1E"/>
                </a:solidFill>
                <a:latin typeface="Arial" pitchFamily="34" charset="0"/>
                <a:ea typeface="Arial" pitchFamily="34" charset="-122"/>
                <a:cs typeface="Arial" pitchFamily="34" charset="-120"/>
              </a:rPr>
              <a:t>Build browser based RSI and MACD calculation from the ticker inputs. Render a per ticker signal summary.</a:t>
            </a:r>
            <a:endParaRPr lang="en-US" sz="1100" dirty="0"/>
          </a:p>
        </p:txBody>
      </p:sp>
      <p:sp>
        <p:nvSpPr>
          <p:cNvPr id="13" name="Text 9"/>
          <p:cNvSpPr/>
          <p:nvPr/>
        </p:nvSpPr>
        <p:spPr>
          <a:xfrm>
            <a:off x="640080" y="4297680"/>
            <a:ext cx="10881360" cy="128016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8996A0"/>
                </a:solidFill>
                <a:latin typeface="Arial" pitchFamily="34" charset="0"/>
                <a:ea typeface="Arial" pitchFamily="34" charset="-122"/>
                <a:cs typeface="Arial" pitchFamily="34" charset="-120"/>
              </a:rPr>
              <a:t>Remember the numbers come from JavaScript, not the model.</a:t>
            </a:r>
            <a:endParaRPr lang="en-US" sz="1350" dirty="0"/>
          </a:p>
        </p:txBody>
      </p:sp>
      <p:sp>
        <p:nvSpPr>
          <p:cNvPr id="16"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7" name="Harvard Page Number"/>
          <p:cNvSpPr txBox="1"/>
          <p:nvPr/>
        </p:nvSpPr>
        <p:spPr>
          <a:xfrm>
            <a:off x="11730577" y="6446043"/>
            <a:ext cx="324104" cy="274638"/>
          </a:xfrm>
          <a:prstGeom prst="rect">
            <a:avLst/>
          </a:prstGeom>
          <a:noFill/>
        </p:spPr>
        <p:txBody>
          <a:bodyPr wrap="none" lIns="0" tIns="0" rIns="0" bIns="0">
            <a:noAutofit/>
          </a:bodyPr>
          <a:lstStyle/>
          <a:p>
            <a:pPr algn="r"/>
            <a:fld id="{F287C12E-9E4A-4582-B100-EBAEE79479CF}" type="slidenum">
              <a:rPr lang="en-US" sz="1000">
                <a:solidFill>
                  <a:srgbClr val="8996A0"/>
                </a:solidFill>
                <a:latin typeface="Arial"/>
              </a:rPr>
              <a:t>39</a:t>
            </a:fld>
            <a:endParaRPr lang="en-US" sz="1000">
              <a:solidFill>
                <a:srgbClr val="8996A0"/>
              </a:solidFill>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640080" y="411480"/>
            <a:ext cx="685800" cy="685800"/>
          </a:xfrm>
          <a:prstGeom prst="roundRect">
            <a:avLst>
              <a:gd name="adj" fmla="val 16000"/>
            </a:avLst>
          </a:prstGeom>
          <a:solidFill>
            <a:srgbClr val="A51C30"/>
          </a:solidFill>
          <a:ln/>
        </p:spPr>
      </p:sp>
      <p:sp>
        <p:nvSpPr>
          <p:cNvPr id="3" name="Text 1"/>
          <p:cNvSpPr/>
          <p:nvPr/>
        </p:nvSpPr>
        <p:spPr>
          <a:xfrm>
            <a:off x="640080" y="411480"/>
            <a:ext cx="685800" cy="685800"/>
          </a:xfrm>
          <a:prstGeom prst="rect">
            <a:avLst/>
          </a:prstGeom>
          <a:noFill/>
          <a:ln/>
        </p:spPr>
        <p:txBody>
          <a:bodyPr wrap="square" lIns="0" tIns="0" rIns="0" bIns="0"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4</a:t>
            </a:r>
            <a:endParaRPr lang="en-US" sz="3000" dirty="0"/>
          </a:p>
        </p:txBody>
      </p:sp>
      <p:sp>
        <p:nvSpPr>
          <p:cNvPr id="4" name="Text 2"/>
          <p:cNvSpPr/>
          <p:nvPr/>
        </p:nvSpPr>
        <p:spPr>
          <a:xfrm>
            <a:off x="1508760" y="411480"/>
            <a:ext cx="10058400" cy="685800"/>
          </a:xfrm>
          <a:prstGeom prst="rect">
            <a:avLst/>
          </a:prstGeom>
          <a:noFill/>
          <a:ln/>
        </p:spPr>
        <p:txBody>
          <a:bodyPr wrap="square" lIns="0" tIns="0" rIns="0" bIns="0" rtlCol="0" anchor="ctr"/>
          <a:lstStyle/>
          <a:p>
            <a:pPr marL="0" indent="0">
              <a:buNone/>
            </a:pPr>
            <a:r>
              <a:rPr lang="en-US" sz="2600" b="1" dirty="0">
                <a:solidFill>
                  <a:srgbClr val="1E1E1E"/>
                </a:solidFill>
                <a:latin typeface="Arial" pitchFamily="34" charset="0"/>
                <a:ea typeface="Arial" pitchFamily="34" charset="-122"/>
                <a:cs typeface="Arial" pitchFamily="34" charset="-120"/>
              </a:rPr>
              <a:t>Keep only the quality names</a:t>
            </a:r>
            <a:endParaRPr lang="en-US" sz="2600" dirty="0"/>
          </a:p>
        </p:txBody>
      </p:sp>
      <p:sp>
        <p:nvSpPr>
          <p:cNvPr id="5" name="Shape 3"/>
          <p:cNvSpPr/>
          <p:nvPr/>
        </p:nvSpPr>
        <p:spPr>
          <a:xfrm>
            <a:off x="640080" y="1371600"/>
            <a:ext cx="10881360" cy="1143000"/>
          </a:xfrm>
          <a:prstGeom prst="roundRect">
            <a:avLst>
              <a:gd name="adj" fmla="val 6400"/>
            </a:avLst>
          </a:prstGeom>
          <a:solidFill>
            <a:srgbClr val="293352"/>
          </a:solidFill>
          <a:ln/>
        </p:spPr>
      </p:sp>
      <p:sp>
        <p:nvSpPr>
          <p:cNvPr id="6" name="Shape 4"/>
          <p:cNvSpPr/>
          <p:nvPr/>
        </p:nvSpPr>
        <p:spPr>
          <a:xfrm>
            <a:off x="868680" y="1627632"/>
            <a:ext cx="621792" cy="621792"/>
          </a:xfrm>
          <a:prstGeom prst="roundRect">
            <a:avLst>
              <a:gd name="adj" fmla="val 13235"/>
            </a:avLst>
          </a:prstGeom>
          <a:solidFill>
            <a:srgbClr val="A51C30"/>
          </a:solidFill>
          <a:ln/>
        </p:spPr>
      </p:sp>
      <p:pic>
        <p:nvPicPr>
          <p:cNvPr id="7" name="Image 0" descr="preencoded.png"/>
          <p:cNvPicPr>
            <a:picLocks noChangeAspect="1"/>
          </p:cNvPicPr>
          <p:nvPr/>
        </p:nvPicPr>
        <p:blipFill>
          <a:blip r:embed="rId3"/>
          <a:stretch>
            <a:fillRect/>
          </a:stretch>
        </p:blipFill>
        <p:spPr>
          <a:xfrm>
            <a:off x="1008583" y="1767535"/>
            <a:ext cx="341986" cy="341986"/>
          </a:xfrm>
          <a:prstGeom prst="rect">
            <a:avLst/>
          </a:prstGeom>
        </p:spPr>
      </p:pic>
      <p:sp>
        <p:nvSpPr>
          <p:cNvPr id="8" name="Text 5"/>
          <p:cNvSpPr/>
          <p:nvPr/>
        </p:nvSpPr>
        <p:spPr>
          <a:xfrm>
            <a:off x="1691640" y="1463040"/>
            <a:ext cx="9601200" cy="960120"/>
          </a:xfrm>
          <a:prstGeom prst="rect">
            <a:avLst/>
          </a:prstGeom>
          <a:noFill/>
          <a:ln/>
        </p:spPr>
        <p:txBody>
          <a:bodyPr wrap="square" lIns="0" tIns="0" rIns="0" bIns="0" rtlCol="0" anchor="ctr"/>
          <a:lstStyle/>
          <a:p>
            <a:pPr marL="0" indent="0">
              <a:lnSpc>
                <a:spcPct val="105000"/>
              </a:lnSpc>
              <a:buNone/>
            </a:pPr>
            <a:r>
              <a:rPr lang="en-US" sz="1100" b="1" kern="0" spc="200" dirty="0">
                <a:solidFill>
                  <a:srgbClr val="8996A0"/>
                </a:solidFill>
                <a:latin typeface="Arial" pitchFamily="34" charset="0"/>
                <a:ea typeface="Arial" pitchFamily="34" charset="-122"/>
                <a:cs typeface="Arial" pitchFamily="34" charset="-120"/>
              </a:rPr>
              <a:t>USER STORY
</a:t>
            </a:r>
            <a:r>
              <a:rPr lang="en-US" sz="1600" i="1" dirty="0">
                <a:solidFill>
                  <a:srgbClr val="FFFFFF"/>
                </a:solidFill>
                <a:latin typeface="Arial" pitchFamily="34" charset="0"/>
                <a:ea typeface="Arial" pitchFamily="34" charset="-122"/>
                <a:cs typeface="Arial" pitchFamily="34" charset="-120"/>
              </a:rPr>
              <a:t>As an investor, I need to keep only stocks that fit my thesis so the portfolio reflects the idea.</a:t>
            </a:r>
            <a:endParaRPr lang="en-US" sz="1100" dirty="0"/>
          </a:p>
        </p:txBody>
      </p:sp>
      <p:sp>
        <p:nvSpPr>
          <p:cNvPr id="9" name="Shape 6"/>
          <p:cNvSpPr/>
          <p:nvPr/>
        </p:nvSpPr>
        <p:spPr>
          <a:xfrm>
            <a:off x="640080" y="2697480"/>
            <a:ext cx="10881360" cy="1325880"/>
          </a:xfrm>
          <a:prstGeom prst="roundRect">
            <a:avLst>
              <a:gd name="adj" fmla="val 5517"/>
            </a:avLst>
          </a:prstGeom>
          <a:solidFill>
            <a:srgbClr val="F3F3F1"/>
          </a:solidFill>
          <a:ln/>
        </p:spPr>
      </p:sp>
      <p:sp>
        <p:nvSpPr>
          <p:cNvPr id="10" name="Shape 7"/>
          <p:cNvSpPr/>
          <p:nvPr/>
        </p:nvSpPr>
        <p:spPr>
          <a:xfrm>
            <a:off x="868680" y="3035808"/>
            <a:ext cx="621792" cy="621792"/>
          </a:xfrm>
          <a:prstGeom prst="roundRect">
            <a:avLst>
              <a:gd name="adj" fmla="val 13235"/>
            </a:avLst>
          </a:prstGeom>
          <a:solidFill>
            <a:srgbClr val="A51C30"/>
          </a:solidFill>
          <a:ln/>
        </p:spPr>
      </p:sp>
      <p:pic>
        <p:nvPicPr>
          <p:cNvPr id="11" name="Image 1" descr="preencoded.png"/>
          <p:cNvPicPr>
            <a:picLocks noChangeAspect="1"/>
          </p:cNvPicPr>
          <p:nvPr/>
        </p:nvPicPr>
        <p:blipFill>
          <a:blip r:embed="rId4"/>
          <a:stretch>
            <a:fillRect/>
          </a:stretch>
        </p:blipFill>
        <p:spPr>
          <a:xfrm>
            <a:off x="1008583" y="3175711"/>
            <a:ext cx="341986" cy="341986"/>
          </a:xfrm>
          <a:prstGeom prst="rect">
            <a:avLst/>
          </a:prstGeom>
        </p:spPr>
      </p:pic>
      <p:sp>
        <p:nvSpPr>
          <p:cNvPr id="12" name="Text 8"/>
          <p:cNvSpPr/>
          <p:nvPr/>
        </p:nvSpPr>
        <p:spPr>
          <a:xfrm>
            <a:off x="1691640" y="2788920"/>
            <a:ext cx="9601200" cy="1143000"/>
          </a:xfrm>
          <a:prstGeom prst="rect">
            <a:avLst/>
          </a:prstGeom>
          <a:noFill/>
          <a:ln/>
        </p:spPr>
        <p:txBody>
          <a:bodyPr wrap="square" lIns="0" tIns="0" rIns="0" bIns="0" rtlCol="0" anchor="ctr"/>
          <a:lstStyle/>
          <a:p>
            <a:pPr marL="0" indent="0">
              <a:lnSpc>
                <a:spcPct val="105000"/>
              </a:lnSpc>
              <a:buNone/>
            </a:pPr>
            <a:r>
              <a:rPr lang="en-US" sz="1100" b="1" kern="0" spc="200" dirty="0">
                <a:solidFill>
                  <a:srgbClr val="A51C30"/>
                </a:solidFill>
                <a:latin typeface="Arial" pitchFamily="34" charset="0"/>
                <a:ea typeface="Arial" pitchFamily="34" charset="-122"/>
                <a:cs typeface="Arial" pitchFamily="34" charset="-120"/>
              </a:rPr>
              <a:t>FUNCTIONAL REQUIREMENT
</a:t>
            </a:r>
            <a:r>
              <a:rPr lang="en-US" sz="1600" dirty="0">
                <a:solidFill>
                  <a:srgbClr val="1E1E1E"/>
                </a:solidFill>
                <a:latin typeface="Arial" pitchFamily="34" charset="0"/>
                <a:ea typeface="Arial" pitchFamily="34" charset="-122"/>
                <a:cs typeface="Arial" pitchFamily="34" charset="-120"/>
              </a:rPr>
              <a:t>Filter the candidate list to names that pass both conditions: RSI below 70 and MACD &gt; 0. Make input the thresholds visible and adjustable.</a:t>
            </a:r>
            <a:endParaRPr lang="en-US" sz="1100" dirty="0"/>
          </a:p>
        </p:txBody>
      </p:sp>
      <p:sp>
        <p:nvSpPr>
          <p:cNvPr id="15"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6" name="Harvard Page Number"/>
          <p:cNvSpPr txBox="1"/>
          <p:nvPr/>
        </p:nvSpPr>
        <p:spPr>
          <a:xfrm>
            <a:off x="11730577" y="6446043"/>
            <a:ext cx="324104" cy="274638"/>
          </a:xfrm>
          <a:prstGeom prst="rect">
            <a:avLst/>
          </a:prstGeom>
          <a:noFill/>
        </p:spPr>
        <p:txBody>
          <a:bodyPr wrap="none" lIns="0" tIns="0" rIns="0" bIns="0">
            <a:noAutofit/>
          </a:bodyPr>
          <a:lstStyle/>
          <a:p>
            <a:pPr algn="r"/>
            <a:fld id="{7BAC2112-F0A9-4253-AB02-C70A992B7F31}" type="slidenum">
              <a:rPr lang="en-US" sz="1000">
                <a:solidFill>
                  <a:srgbClr val="8996A0"/>
                </a:solidFill>
                <a:latin typeface="Arial"/>
              </a:rPr>
              <a:t>40</a:t>
            </a:fld>
            <a:endParaRPr lang="en-US" sz="1000">
              <a:solidFill>
                <a:srgbClr val="8996A0"/>
              </a:solidFill>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640080" y="411480"/>
            <a:ext cx="685800" cy="685800"/>
          </a:xfrm>
          <a:prstGeom prst="roundRect">
            <a:avLst>
              <a:gd name="adj" fmla="val 16000"/>
            </a:avLst>
          </a:prstGeom>
          <a:solidFill>
            <a:srgbClr val="A51C30"/>
          </a:solidFill>
          <a:ln/>
        </p:spPr>
      </p:sp>
      <p:sp>
        <p:nvSpPr>
          <p:cNvPr id="3" name="Text 1"/>
          <p:cNvSpPr/>
          <p:nvPr/>
        </p:nvSpPr>
        <p:spPr>
          <a:xfrm>
            <a:off x="640080" y="411480"/>
            <a:ext cx="685800" cy="685800"/>
          </a:xfrm>
          <a:prstGeom prst="rect">
            <a:avLst/>
          </a:prstGeom>
          <a:noFill/>
          <a:ln/>
        </p:spPr>
        <p:txBody>
          <a:bodyPr wrap="square" lIns="0" tIns="0" rIns="0" bIns="0"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5</a:t>
            </a:r>
            <a:endParaRPr lang="en-US" sz="3000" dirty="0"/>
          </a:p>
        </p:txBody>
      </p:sp>
      <p:sp>
        <p:nvSpPr>
          <p:cNvPr id="4" name="Text 2"/>
          <p:cNvSpPr/>
          <p:nvPr/>
        </p:nvSpPr>
        <p:spPr>
          <a:xfrm>
            <a:off x="1508760" y="411480"/>
            <a:ext cx="10058400" cy="685800"/>
          </a:xfrm>
          <a:prstGeom prst="rect">
            <a:avLst/>
          </a:prstGeom>
          <a:noFill/>
          <a:ln/>
        </p:spPr>
        <p:txBody>
          <a:bodyPr wrap="square" lIns="0" tIns="0" rIns="0" bIns="0" rtlCol="0" anchor="ctr"/>
          <a:lstStyle/>
          <a:p>
            <a:pPr marL="0" indent="0">
              <a:buNone/>
            </a:pPr>
            <a:r>
              <a:rPr lang="en-US" sz="2600" b="1" dirty="0">
                <a:solidFill>
                  <a:srgbClr val="1E1E1E"/>
                </a:solidFill>
                <a:latin typeface="Arial" pitchFamily="34" charset="0"/>
                <a:ea typeface="Arial" pitchFamily="34" charset="-122"/>
                <a:cs typeface="Arial" pitchFamily="34" charset="-120"/>
              </a:rPr>
              <a:t>Weight the survivors by risk</a:t>
            </a:r>
            <a:endParaRPr lang="en-US" sz="2600" dirty="0"/>
          </a:p>
        </p:txBody>
      </p:sp>
      <p:sp>
        <p:nvSpPr>
          <p:cNvPr id="5" name="Shape 3"/>
          <p:cNvSpPr/>
          <p:nvPr/>
        </p:nvSpPr>
        <p:spPr>
          <a:xfrm>
            <a:off x="640080" y="1371600"/>
            <a:ext cx="10881360" cy="1143000"/>
          </a:xfrm>
          <a:prstGeom prst="roundRect">
            <a:avLst>
              <a:gd name="adj" fmla="val 6400"/>
            </a:avLst>
          </a:prstGeom>
          <a:solidFill>
            <a:srgbClr val="293352"/>
          </a:solidFill>
          <a:ln/>
        </p:spPr>
      </p:sp>
      <p:sp>
        <p:nvSpPr>
          <p:cNvPr id="6" name="Shape 4"/>
          <p:cNvSpPr/>
          <p:nvPr/>
        </p:nvSpPr>
        <p:spPr>
          <a:xfrm>
            <a:off x="868680" y="1627632"/>
            <a:ext cx="621792" cy="621792"/>
          </a:xfrm>
          <a:prstGeom prst="roundRect">
            <a:avLst>
              <a:gd name="adj" fmla="val 13235"/>
            </a:avLst>
          </a:prstGeom>
          <a:solidFill>
            <a:srgbClr val="A51C30"/>
          </a:solidFill>
          <a:ln/>
        </p:spPr>
      </p:sp>
      <p:pic>
        <p:nvPicPr>
          <p:cNvPr id="7" name="Image 0" descr="preencoded.png"/>
          <p:cNvPicPr>
            <a:picLocks noChangeAspect="1"/>
          </p:cNvPicPr>
          <p:nvPr/>
        </p:nvPicPr>
        <p:blipFill>
          <a:blip r:embed="rId3"/>
          <a:stretch>
            <a:fillRect/>
          </a:stretch>
        </p:blipFill>
        <p:spPr>
          <a:xfrm>
            <a:off x="1008583" y="1767535"/>
            <a:ext cx="341986" cy="341986"/>
          </a:xfrm>
          <a:prstGeom prst="rect">
            <a:avLst/>
          </a:prstGeom>
        </p:spPr>
      </p:pic>
      <p:sp>
        <p:nvSpPr>
          <p:cNvPr id="8" name="Text 5"/>
          <p:cNvSpPr/>
          <p:nvPr/>
        </p:nvSpPr>
        <p:spPr>
          <a:xfrm>
            <a:off x="1691640" y="1463040"/>
            <a:ext cx="9601200" cy="960120"/>
          </a:xfrm>
          <a:prstGeom prst="rect">
            <a:avLst/>
          </a:prstGeom>
          <a:noFill/>
          <a:ln/>
        </p:spPr>
        <p:txBody>
          <a:bodyPr wrap="square" lIns="0" tIns="0" rIns="0" bIns="0" rtlCol="0" anchor="ctr"/>
          <a:lstStyle/>
          <a:p>
            <a:pPr marL="0" indent="0">
              <a:lnSpc>
                <a:spcPct val="105000"/>
              </a:lnSpc>
              <a:buNone/>
            </a:pPr>
            <a:r>
              <a:rPr lang="en-US" sz="1100" b="1" kern="0" spc="200" dirty="0">
                <a:solidFill>
                  <a:srgbClr val="8996A0"/>
                </a:solidFill>
                <a:latin typeface="Arial" pitchFamily="34" charset="0"/>
                <a:ea typeface="Arial" pitchFamily="34" charset="-122"/>
                <a:cs typeface="Arial" pitchFamily="34" charset="-120"/>
              </a:rPr>
              <a:t>USER STORY
</a:t>
            </a:r>
            <a:r>
              <a:rPr lang="en-US" sz="1600" i="1" dirty="0">
                <a:solidFill>
                  <a:srgbClr val="FFFFFF"/>
                </a:solidFill>
                <a:latin typeface="Arial" pitchFamily="34" charset="0"/>
                <a:ea typeface="Arial" pitchFamily="34" charset="-122"/>
                <a:cs typeface="Arial" pitchFamily="34" charset="-120"/>
              </a:rPr>
              <a:t>As an investor, I need to weight the surviving stocks so calmer names carry more of the portfolio.</a:t>
            </a:r>
            <a:endParaRPr lang="en-US" sz="1100" dirty="0"/>
          </a:p>
        </p:txBody>
      </p:sp>
      <p:sp>
        <p:nvSpPr>
          <p:cNvPr id="9" name="Shape 6"/>
          <p:cNvSpPr/>
          <p:nvPr/>
        </p:nvSpPr>
        <p:spPr>
          <a:xfrm>
            <a:off x="640080" y="2697480"/>
            <a:ext cx="10881360" cy="1325880"/>
          </a:xfrm>
          <a:prstGeom prst="roundRect">
            <a:avLst>
              <a:gd name="adj" fmla="val 5517"/>
            </a:avLst>
          </a:prstGeom>
          <a:solidFill>
            <a:srgbClr val="F3F3F1"/>
          </a:solidFill>
          <a:ln/>
        </p:spPr>
      </p:sp>
      <p:sp>
        <p:nvSpPr>
          <p:cNvPr id="10" name="Shape 7"/>
          <p:cNvSpPr/>
          <p:nvPr/>
        </p:nvSpPr>
        <p:spPr>
          <a:xfrm>
            <a:off x="868680" y="3035808"/>
            <a:ext cx="621792" cy="621792"/>
          </a:xfrm>
          <a:prstGeom prst="roundRect">
            <a:avLst>
              <a:gd name="adj" fmla="val 13235"/>
            </a:avLst>
          </a:prstGeom>
          <a:solidFill>
            <a:srgbClr val="A51C30"/>
          </a:solidFill>
          <a:ln/>
        </p:spPr>
      </p:sp>
      <p:pic>
        <p:nvPicPr>
          <p:cNvPr id="11" name="Image 1" descr="preencoded.png"/>
          <p:cNvPicPr>
            <a:picLocks noChangeAspect="1"/>
          </p:cNvPicPr>
          <p:nvPr/>
        </p:nvPicPr>
        <p:blipFill>
          <a:blip r:embed="rId4"/>
          <a:stretch>
            <a:fillRect/>
          </a:stretch>
        </p:blipFill>
        <p:spPr>
          <a:xfrm>
            <a:off x="1008583" y="3175711"/>
            <a:ext cx="341986" cy="341986"/>
          </a:xfrm>
          <a:prstGeom prst="rect">
            <a:avLst/>
          </a:prstGeom>
        </p:spPr>
      </p:pic>
      <p:sp>
        <p:nvSpPr>
          <p:cNvPr id="12" name="Text 8"/>
          <p:cNvSpPr/>
          <p:nvPr/>
        </p:nvSpPr>
        <p:spPr>
          <a:xfrm>
            <a:off x="1691640" y="2788920"/>
            <a:ext cx="9601200" cy="1143000"/>
          </a:xfrm>
          <a:prstGeom prst="rect">
            <a:avLst/>
          </a:prstGeom>
          <a:noFill/>
          <a:ln/>
        </p:spPr>
        <p:txBody>
          <a:bodyPr wrap="square" lIns="0" tIns="0" rIns="0" bIns="0" rtlCol="0" anchor="ctr"/>
          <a:lstStyle/>
          <a:p>
            <a:pPr marL="0" indent="0">
              <a:lnSpc>
                <a:spcPct val="105000"/>
              </a:lnSpc>
              <a:buNone/>
            </a:pPr>
            <a:r>
              <a:rPr lang="en-US" sz="1100" b="1" kern="0" spc="200" dirty="0">
                <a:solidFill>
                  <a:srgbClr val="A51C30"/>
                </a:solidFill>
                <a:latin typeface="Arial" pitchFamily="34" charset="0"/>
                <a:ea typeface="Arial" pitchFamily="34" charset="-122"/>
                <a:cs typeface="Arial" pitchFamily="34" charset="-120"/>
              </a:rPr>
              <a:t>FUNCTIONAL REQUIREMENT
</a:t>
            </a:r>
            <a:r>
              <a:rPr lang="en-US" sz="1600" dirty="0">
                <a:solidFill>
                  <a:srgbClr val="1E1E1E"/>
                </a:solidFill>
                <a:latin typeface="Arial" pitchFamily="34" charset="0"/>
                <a:ea typeface="Arial" pitchFamily="34" charset="-122"/>
                <a:cs typeface="Arial" pitchFamily="34" charset="-120"/>
              </a:rPr>
              <a:t>Compute inverse volatility weights across the survivors, entirely in JavaScript, then normalize.</a:t>
            </a:r>
            <a:endParaRPr lang="en-US" sz="1100" dirty="0"/>
          </a:p>
        </p:txBody>
      </p:sp>
      <p:sp>
        <p:nvSpPr>
          <p:cNvPr id="13" name="Text 9"/>
          <p:cNvSpPr/>
          <p:nvPr/>
        </p:nvSpPr>
        <p:spPr>
          <a:xfrm>
            <a:off x="640080" y="4297680"/>
            <a:ext cx="10881360" cy="128016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8996A0"/>
                </a:solidFill>
                <a:latin typeface="Arial" pitchFamily="34" charset="0"/>
                <a:ea typeface="Arial" pitchFamily="34" charset="-122"/>
                <a:cs typeface="Arial" pitchFamily="34" charset="-120"/>
              </a:rPr>
              <a:t>Callback: this is the accepted stand in for minimum variance.</a:t>
            </a:r>
            <a:endParaRPr lang="en-US" sz="1350" dirty="0"/>
          </a:p>
        </p:txBody>
      </p:sp>
      <p:sp>
        <p:nvSpPr>
          <p:cNvPr id="16"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7" name="Harvard Page Number"/>
          <p:cNvSpPr txBox="1"/>
          <p:nvPr/>
        </p:nvSpPr>
        <p:spPr>
          <a:xfrm>
            <a:off x="11730577" y="6446043"/>
            <a:ext cx="324104" cy="274638"/>
          </a:xfrm>
          <a:prstGeom prst="rect">
            <a:avLst/>
          </a:prstGeom>
          <a:noFill/>
        </p:spPr>
        <p:txBody>
          <a:bodyPr wrap="none" lIns="0" tIns="0" rIns="0" bIns="0">
            <a:noAutofit/>
          </a:bodyPr>
          <a:lstStyle/>
          <a:p>
            <a:pPr algn="r"/>
            <a:fld id="{C682FB34-498D-409C-81C6-F90D82F3729E}" type="slidenum">
              <a:rPr lang="en-US" sz="1000">
                <a:solidFill>
                  <a:srgbClr val="8996A0"/>
                </a:solidFill>
                <a:latin typeface="Arial"/>
              </a:rPr>
              <a:t>41</a:t>
            </a:fld>
            <a:endParaRPr lang="en-US" sz="1000">
              <a:solidFill>
                <a:srgbClr val="8996A0"/>
              </a:solidFill>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640080" y="411480"/>
            <a:ext cx="685800" cy="685800"/>
          </a:xfrm>
          <a:prstGeom prst="roundRect">
            <a:avLst>
              <a:gd name="adj" fmla="val 16000"/>
            </a:avLst>
          </a:prstGeom>
          <a:solidFill>
            <a:srgbClr val="A51C30"/>
          </a:solidFill>
          <a:ln/>
        </p:spPr>
      </p:sp>
      <p:sp>
        <p:nvSpPr>
          <p:cNvPr id="3" name="Text 1"/>
          <p:cNvSpPr/>
          <p:nvPr/>
        </p:nvSpPr>
        <p:spPr>
          <a:xfrm>
            <a:off x="640080" y="411480"/>
            <a:ext cx="685800" cy="685800"/>
          </a:xfrm>
          <a:prstGeom prst="rect">
            <a:avLst/>
          </a:prstGeom>
          <a:noFill/>
          <a:ln/>
        </p:spPr>
        <p:txBody>
          <a:bodyPr wrap="square" lIns="0" tIns="0" rIns="0" bIns="0"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6</a:t>
            </a:r>
            <a:endParaRPr lang="en-US" sz="3000" dirty="0"/>
          </a:p>
        </p:txBody>
      </p:sp>
      <p:sp>
        <p:nvSpPr>
          <p:cNvPr id="4" name="Text 2"/>
          <p:cNvSpPr/>
          <p:nvPr/>
        </p:nvSpPr>
        <p:spPr>
          <a:xfrm>
            <a:off x="1508760" y="411480"/>
            <a:ext cx="10058400" cy="685800"/>
          </a:xfrm>
          <a:prstGeom prst="rect">
            <a:avLst/>
          </a:prstGeom>
          <a:noFill/>
          <a:ln/>
        </p:spPr>
        <p:txBody>
          <a:bodyPr wrap="square" lIns="0" tIns="0" rIns="0" bIns="0" rtlCol="0" anchor="ctr"/>
          <a:lstStyle/>
          <a:p>
            <a:pPr marL="0" indent="0">
              <a:buNone/>
            </a:pPr>
            <a:r>
              <a:rPr lang="en-US" sz="2600" b="1" dirty="0">
                <a:solidFill>
                  <a:srgbClr val="1E1E1E"/>
                </a:solidFill>
                <a:latin typeface="Arial" pitchFamily="34" charset="0"/>
                <a:ea typeface="Arial" pitchFamily="34" charset="-122"/>
                <a:cs typeface="Arial" pitchFamily="34" charset="-120"/>
              </a:rPr>
              <a:t>Show the portfolio and explain it</a:t>
            </a:r>
            <a:endParaRPr lang="en-US" sz="2600" dirty="0"/>
          </a:p>
        </p:txBody>
      </p:sp>
      <p:sp>
        <p:nvSpPr>
          <p:cNvPr id="5" name="Shape 3"/>
          <p:cNvSpPr/>
          <p:nvPr/>
        </p:nvSpPr>
        <p:spPr>
          <a:xfrm>
            <a:off x="640080" y="1371600"/>
            <a:ext cx="10881360" cy="1143000"/>
          </a:xfrm>
          <a:prstGeom prst="roundRect">
            <a:avLst>
              <a:gd name="adj" fmla="val 6400"/>
            </a:avLst>
          </a:prstGeom>
          <a:solidFill>
            <a:srgbClr val="293352"/>
          </a:solidFill>
          <a:ln/>
        </p:spPr>
      </p:sp>
      <p:sp>
        <p:nvSpPr>
          <p:cNvPr id="6" name="Shape 4"/>
          <p:cNvSpPr/>
          <p:nvPr/>
        </p:nvSpPr>
        <p:spPr>
          <a:xfrm>
            <a:off x="868680" y="1627632"/>
            <a:ext cx="621792" cy="621792"/>
          </a:xfrm>
          <a:prstGeom prst="roundRect">
            <a:avLst>
              <a:gd name="adj" fmla="val 13235"/>
            </a:avLst>
          </a:prstGeom>
          <a:solidFill>
            <a:srgbClr val="A51C30"/>
          </a:solidFill>
          <a:ln/>
        </p:spPr>
      </p:sp>
      <p:pic>
        <p:nvPicPr>
          <p:cNvPr id="7" name="Image 0" descr="preencoded.png"/>
          <p:cNvPicPr>
            <a:picLocks noChangeAspect="1"/>
          </p:cNvPicPr>
          <p:nvPr/>
        </p:nvPicPr>
        <p:blipFill>
          <a:blip r:embed="rId3"/>
          <a:stretch>
            <a:fillRect/>
          </a:stretch>
        </p:blipFill>
        <p:spPr>
          <a:xfrm>
            <a:off x="1008583" y="1767535"/>
            <a:ext cx="341986" cy="341986"/>
          </a:xfrm>
          <a:prstGeom prst="rect">
            <a:avLst/>
          </a:prstGeom>
        </p:spPr>
      </p:pic>
      <p:sp>
        <p:nvSpPr>
          <p:cNvPr id="8" name="Text 5"/>
          <p:cNvSpPr/>
          <p:nvPr/>
        </p:nvSpPr>
        <p:spPr>
          <a:xfrm>
            <a:off x="1691640" y="1463040"/>
            <a:ext cx="9601200" cy="960120"/>
          </a:xfrm>
          <a:prstGeom prst="rect">
            <a:avLst/>
          </a:prstGeom>
          <a:noFill/>
          <a:ln/>
        </p:spPr>
        <p:txBody>
          <a:bodyPr wrap="square" lIns="0" tIns="0" rIns="0" bIns="0" rtlCol="0" anchor="ctr"/>
          <a:lstStyle/>
          <a:p>
            <a:pPr marL="0" indent="0">
              <a:lnSpc>
                <a:spcPct val="105000"/>
              </a:lnSpc>
              <a:buNone/>
            </a:pPr>
            <a:r>
              <a:rPr lang="en-US" sz="1100" b="1" kern="0" spc="200" dirty="0">
                <a:solidFill>
                  <a:srgbClr val="8996A0"/>
                </a:solidFill>
                <a:latin typeface="Arial" pitchFamily="34" charset="0"/>
                <a:ea typeface="Arial" pitchFamily="34" charset="-122"/>
                <a:cs typeface="Arial" pitchFamily="34" charset="-120"/>
              </a:rPr>
              <a:t>USER STORY
</a:t>
            </a:r>
            <a:r>
              <a:rPr lang="en-US" sz="1600" i="1" dirty="0">
                <a:solidFill>
                  <a:srgbClr val="FFFFFF"/>
                </a:solidFill>
                <a:latin typeface="Arial" pitchFamily="34" charset="0"/>
                <a:ea typeface="Arial" pitchFamily="34" charset="-122"/>
                <a:cs typeface="Arial" pitchFamily="34" charset="-120"/>
              </a:rPr>
              <a:t>As an investor, I need a plain English read of the portfolio so I can explain it to an investment committee.</a:t>
            </a:r>
            <a:endParaRPr lang="en-US" sz="1100" dirty="0"/>
          </a:p>
        </p:txBody>
      </p:sp>
      <p:sp>
        <p:nvSpPr>
          <p:cNvPr id="9" name="Shape 6"/>
          <p:cNvSpPr/>
          <p:nvPr/>
        </p:nvSpPr>
        <p:spPr>
          <a:xfrm>
            <a:off x="640080" y="2697480"/>
            <a:ext cx="10881360" cy="1325880"/>
          </a:xfrm>
          <a:prstGeom prst="roundRect">
            <a:avLst>
              <a:gd name="adj" fmla="val 5517"/>
            </a:avLst>
          </a:prstGeom>
          <a:solidFill>
            <a:srgbClr val="F3F3F1"/>
          </a:solidFill>
          <a:ln/>
        </p:spPr>
      </p:sp>
      <p:sp>
        <p:nvSpPr>
          <p:cNvPr id="10" name="Shape 7"/>
          <p:cNvSpPr/>
          <p:nvPr/>
        </p:nvSpPr>
        <p:spPr>
          <a:xfrm>
            <a:off x="868680" y="3035808"/>
            <a:ext cx="621792" cy="621792"/>
          </a:xfrm>
          <a:prstGeom prst="roundRect">
            <a:avLst>
              <a:gd name="adj" fmla="val 13235"/>
            </a:avLst>
          </a:prstGeom>
          <a:solidFill>
            <a:srgbClr val="A51C30"/>
          </a:solidFill>
          <a:ln/>
        </p:spPr>
      </p:sp>
      <p:pic>
        <p:nvPicPr>
          <p:cNvPr id="11" name="Image 1" descr="preencoded.png"/>
          <p:cNvPicPr>
            <a:picLocks noChangeAspect="1"/>
          </p:cNvPicPr>
          <p:nvPr/>
        </p:nvPicPr>
        <p:blipFill>
          <a:blip r:embed="rId4"/>
          <a:stretch>
            <a:fillRect/>
          </a:stretch>
        </p:blipFill>
        <p:spPr>
          <a:xfrm>
            <a:off x="1008583" y="3175711"/>
            <a:ext cx="341986" cy="341986"/>
          </a:xfrm>
          <a:prstGeom prst="rect">
            <a:avLst/>
          </a:prstGeom>
        </p:spPr>
      </p:pic>
      <p:sp>
        <p:nvSpPr>
          <p:cNvPr id="12" name="Text 8"/>
          <p:cNvSpPr/>
          <p:nvPr/>
        </p:nvSpPr>
        <p:spPr>
          <a:xfrm>
            <a:off x="1691640" y="2788920"/>
            <a:ext cx="9601200" cy="1143000"/>
          </a:xfrm>
          <a:prstGeom prst="rect">
            <a:avLst/>
          </a:prstGeom>
          <a:noFill/>
          <a:ln/>
        </p:spPr>
        <p:txBody>
          <a:bodyPr wrap="square" lIns="0" tIns="0" rIns="0" bIns="0" rtlCol="0" anchor="ctr"/>
          <a:lstStyle/>
          <a:p>
            <a:pPr marL="0" indent="0">
              <a:lnSpc>
                <a:spcPct val="105000"/>
              </a:lnSpc>
              <a:buNone/>
            </a:pPr>
            <a:r>
              <a:rPr lang="en-US" sz="1100" b="1" kern="0" spc="200" dirty="0">
                <a:solidFill>
                  <a:srgbClr val="A51C30"/>
                </a:solidFill>
                <a:latin typeface="Arial" pitchFamily="34" charset="0"/>
                <a:ea typeface="Arial" pitchFamily="34" charset="-122"/>
                <a:cs typeface="Arial" pitchFamily="34" charset="-120"/>
              </a:rPr>
              <a:t>FUNCTIONAL REQUIREMENT
</a:t>
            </a:r>
            <a:r>
              <a:rPr lang="en-US" sz="1600" dirty="0">
                <a:solidFill>
                  <a:srgbClr val="1E1E1E"/>
                </a:solidFill>
                <a:latin typeface="Arial" pitchFamily="34" charset="0"/>
                <a:ea typeface="Arial" pitchFamily="34" charset="-122"/>
                <a:cs typeface="Arial" pitchFamily="34" charset="-120"/>
              </a:rPr>
              <a:t>Render the weights as a chart, then call OpenRouter to interpret the weights and the screening in plain English.</a:t>
            </a:r>
            <a:endParaRPr lang="en-US" sz="1100" dirty="0"/>
          </a:p>
        </p:txBody>
      </p:sp>
      <p:sp>
        <p:nvSpPr>
          <p:cNvPr id="13" name="Text 9"/>
          <p:cNvSpPr/>
          <p:nvPr/>
        </p:nvSpPr>
        <p:spPr>
          <a:xfrm>
            <a:off x="640080" y="4297680"/>
            <a:ext cx="10881360" cy="128016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8996A0"/>
                </a:solidFill>
                <a:latin typeface="Arial" pitchFamily="34" charset="0"/>
                <a:ea typeface="Arial" pitchFamily="34" charset="-122"/>
                <a:cs typeface="Arial" pitchFamily="34" charset="-120"/>
              </a:rPr>
              <a:t>The model receives finished numbers and explains them, matching D and F.</a:t>
            </a:r>
            <a:endParaRPr lang="en-US" sz="1350" dirty="0"/>
          </a:p>
        </p:txBody>
      </p:sp>
      <p:sp>
        <p:nvSpPr>
          <p:cNvPr id="16"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7" name="Harvard Page Number"/>
          <p:cNvSpPr txBox="1"/>
          <p:nvPr/>
        </p:nvSpPr>
        <p:spPr>
          <a:xfrm>
            <a:off x="11730577" y="6446043"/>
            <a:ext cx="324104" cy="274638"/>
          </a:xfrm>
          <a:prstGeom prst="rect">
            <a:avLst/>
          </a:prstGeom>
          <a:noFill/>
        </p:spPr>
        <p:txBody>
          <a:bodyPr wrap="none" lIns="0" tIns="0" rIns="0" bIns="0">
            <a:noAutofit/>
          </a:bodyPr>
          <a:lstStyle/>
          <a:p>
            <a:pPr algn="r"/>
            <a:fld id="{CDF95929-0DD4-4781-84C4-8FAA5723218F}" type="slidenum">
              <a:rPr lang="en-US" sz="1000">
                <a:solidFill>
                  <a:srgbClr val="8996A0"/>
                </a:solidFill>
                <a:latin typeface="Arial"/>
              </a:rPr>
              <a:t>42</a:t>
            </a:fld>
            <a:endParaRPr lang="en-US" sz="1000">
              <a:solidFill>
                <a:srgbClr val="8996A0"/>
              </a:solidFill>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marL="0" indent="0">
              <a:buNone/>
            </a:pPr>
            <a:r>
              <a:rPr lang="en-US" sz="1200" b="1" kern="0" spc="200" dirty="0">
                <a:solidFill>
                  <a:srgbClr val="A51C30"/>
                </a:solidFill>
                <a:latin typeface="Arial" pitchFamily="34" charset="0"/>
                <a:ea typeface="Arial" pitchFamily="34" charset="-122"/>
                <a:cs typeface="Arial" pitchFamily="34" charset="-120"/>
              </a:rPr>
              <a:t>SHIP REPO 2</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marL="0" indent="0">
              <a:buNone/>
            </a:pPr>
            <a:r>
              <a:rPr lang="en-US" sz="2800" b="1" dirty="0">
                <a:solidFill>
                  <a:srgbClr val="1E1E1E"/>
                </a:solidFill>
                <a:latin typeface="Arial" pitchFamily="34" charset="0"/>
                <a:ea typeface="Arial" pitchFamily="34" charset="-122"/>
                <a:cs typeface="Arial" pitchFamily="34" charset="-120"/>
              </a:rPr>
              <a:t>Commit, push, and wrap</a:t>
            </a:r>
            <a:endParaRPr lang="en-US" sz="2800" dirty="0"/>
          </a:p>
        </p:txBody>
      </p:sp>
      <p:sp>
        <p:nvSpPr>
          <p:cNvPr id="4" name="Shape 2"/>
          <p:cNvSpPr/>
          <p:nvPr/>
        </p:nvSpPr>
        <p:spPr>
          <a:xfrm>
            <a:off x="640080" y="1691640"/>
            <a:ext cx="10881360" cy="1005840"/>
          </a:xfrm>
          <a:prstGeom prst="roundRect">
            <a:avLst>
              <a:gd name="adj" fmla="val 5455"/>
            </a:avLst>
          </a:prstGeom>
          <a:solidFill>
            <a:srgbClr val="F3F3F1"/>
          </a:solidFill>
          <a:ln/>
        </p:spPr>
      </p:sp>
      <p:sp>
        <p:nvSpPr>
          <p:cNvPr id="5" name="Shape 3"/>
          <p:cNvSpPr/>
          <p:nvPr/>
        </p:nvSpPr>
        <p:spPr>
          <a:xfrm>
            <a:off x="914400" y="1920240"/>
            <a:ext cx="548640" cy="548640"/>
          </a:xfrm>
          <a:prstGeom prst="ellipse">
            <a:avLst/>
          </a:prstGeom>
          <a:solidFill>
            <a:srgbClr val="A51C30"/>
          </a:solidFill>
          <a:ln/>
        </p:spPr>
      </p:sp>
      <p:sp>
        <p:nvSpPr>
          <p:cNvPr id="6" name="Text 4"/>
          <p:cNvSpPr/>
          <p:nvPr/>
        </p:nvSpPr>
        <p:spPr>
          <a:xfrm>
            <a:off x="914400" y="19202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7" name="Text 5"/>
          <p:cNvSpPr/>
          <p:nvPr/>
        </p:nvSpPr>
        <p:spPr>
          <a:xfrm>
            <a:off x="1691640" y="1691640"/>
            <a:ext cx="9601200" cy="1005840"/>
          </a:xfrm>
          <a:prstGeom prst="rect">
            <a:avLst/>
          </a:prstGeom>
          <a:noFill/>
          <a:ln/>
        </p:spPr>
        <p:txBody>
          <a:bodyPr wrap="square" lIns="0" tIns="0" rIns="0" bIns="0" rtlCol="0" anchor="ctr"/>
          <a:lstStyle/>
          <a:p>
            <a:pPr marL="0" indent="0">
              <a:buNone/>
            </a:pPr>
            <a:r>
              <a:rPr lang="en-US" sz="1600" dirty="0">
                <a:solidFill>
                  <a:srgbClr val="1E1E1E"/>
                </a:solidFill>
                <a:latin typeface="Arial" pitchFamily="34" charset="0"/>
                <a:ea typeface="Arial" pitchFamily="34" charset="-122"/>
                <a:cs typeface="Arial" pitchFamily="34" charset="-120"/>
              </a:rPr>
              <a:t>Commit and push Repo 2 to GitHub.</a:t>
            </a:r>
            <a:endParaRPr lang="en-US" sz="1600" dirty="0"/>
          </a:p>
        </p:txBody>
      </p:sp>
      <p:sp>
        <p:nvSpPr>
          <p:cNvPr id="8" name="Shape 6"/>
          <p:cNvSpPr/>
          <p:nvPr/>
        </p:nvSpPr>
        <p:spPr>
          <a:xfrm>
            <a:off x="640080" y="2898648"/>
            <a:ext cx="10881360" cy="1005840"/>
          </a:xfrm>
          <a:prstGeom prst="roundRect">
            <a:avLst>
              <a:gd name="adj" fmla="val 5455"/>
            </a:avLst>
          </a:prstGeom>
          <a:solidFill>
            <a:srgbClr val="F3F3F1"/>
          </a:solidFill>
          <a:ln/>
        </p:spPr>
      </p:sp>
      <p:sp>
        <p:nvSpPr>
          <p:cNvPr id="9" name="Shape 7"/>
          <p:cNvSpPr/>
          <p:nvPr/>
        </p:nvSpPr>
        <p:spPr>
          <a:xfrm>
            <a:off x="914400" y="3127248"/>
            <a:ext cx="548640" cy="548640"/>
          </a:xfrm>
          <a:prstGeom prst="ellipse">
            <a:avLst/>
          </a:prstGeom>
          <a:solidFill>
            <a:srgbClr val="A51C30"/>
          </a:solidFill>
          <a:ln/>
        </p:spPr>
      </p:sp>
      <p:sp>
        <p:nvSpPr>
          <p:cNvPr id="10" name="Text 8"/>
          <p:cNvSpPr/>
          <p:nvPr/>
        </p:nvSpPr>
        <p:spPr>
          <a:xfrm>
            <a:off x="914400" y="3127248"/>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1" name="Text 9"/>
          <p:cNvSpPr/>
          <p:nvPr/>
        </p:nvSpPr>
        <p:spPr>
          <a:xfrm>
            <a:off x="1691640" y="2898648"/>
            <a:ext cx="9601200" cy="1005840"/>
          </a:xfrm>
          <a:prstGeom prst="rect">
            <a:avLst/>
          </a:prstGeom>
          <a:noFill/>
          <a:ln/>
        </p:spPr>
        <p:txBody>
          <a:bodyPr wrap="square" lIns="0" tIns="0" rIns="0" bIns="0" rtlCol="0" anchor="ctr"/>
          <a:lstStyle/>
          <a:p>
            <a:pPr marL="0" indent="0">
              <a:buNone/>
            </a:pPr>
            <a:r>
              <a:rPr lang="en-US" sz="1600" dirty="0">
                <a:solidFill>
                  <a:srgbClr val="1E1E1E"/>
                </a:solidFill>
                <a:latin typeface="Arial" pitchFamily="34" charset="0"/>
                <a:ea typeface="Arial" pitchFamily="34" charset="-122"/>
                <a:cs typeface="Arial" pitchFamily="34" charset="-120"/>
              </a:rPr>
              <a:t>It’s the same pipeline done in R.  Assuming you enabled settings&gt;git pages and on </a:t>
            </a:r>
            <a:r>
              <a:rPr lang="en-US" sz="1600" dirty="0" err="1">
                <a:solidFill>
                  <a:srgbClr val="1E1E1E"/>
                </a:solidFill>
                <a:latin typeface="Arial" pitchFamily="34" charset="0"/>
                <a:ea typeface="Arial" pitchFamily="34" charset="-122"/>
                <a:cs typeface="Arial" pitchFamily="34" charset="-120"/>
              </a:rPr>
              <a:t>github</a:t>
            </a:r>
            <a:r>
              <a:rPr lang="en-US" sz="1600" dirty="0">
                <a:solidFill>
                  <a:srgbClr val="1E1E1E"/>
                </a:solidFill>
                <a:latin typeface="Arial" pitchFamily="34" charset="0"/>
                <a:ea typeface="Arial" pitchFamily="34" charset="-122"/>
                <a:cs typeface="Arial" pitchFamily="34" charset="-120"/>
              </a:rPr>
              <a:t> actions the app is now live and shareable.</a:t>
            </a:r>
            <a:endParaRPr lang="en-US" sz="1600" dirty="0"/>
          </a:p>
        </p:txBody>
      </p:sp>
      <p:sp>
        <p:nvSpPr>
          <p:cNvPr id="12" name="Shape 10"/>
          <p:cNvSpPr/>
          <p:nvPr/>
        </p:nvSpPr>
        <p:spPr>
          <a:xfrm>
            <a:off x="640080" y="4105656"/>
            <a:ext cx="10881360" cy="1005840"/>
          </a:xfrm>
          <a:prstGeom prst="roundRect">
            <a:avLst>
              <a:gd name="adj" fmla="val 5455"/>
            </a:avLst>
          </a:prstGeom>
          <a:solidFill>
            <a:srgbClr val="F3F3F1"/>
          </a:solidFill>
          <a:ln/>
        </p:spPr>
      </p:sp>
      <p:sp>
        <p:nvSpPr>
          <p:cNvPr id="13" name="Shape 11"/>
          <p:cNvSpPr/>
          <p:nvPr/>
        </p:nvSpPr>
        <p:spPr>
          <a:xfrm>
            <a:off x="914400" y="4334256"/>
            <a:ext cx="548640" cy="548640"/>
          </a:xfrm>
          <a:prstGeom prst="ellipse">
            <a:avLst/>
          </a:prstGeom>
          <a:solidFill>
            <a:srgbClr val="A51C30"/>
          </a:solidFill>
          <a:ln/>
        </p:spPr>
      </p:sp>
      <p:sp>
        <p:nvSpPr>
          <p:cNvPr id="14" name="Text 12"/>
          <p:cNvSpPr/>
          <p:nvPr/>
        </p:nvSpPr>
        <p:spPr>
          <a:xfrm>
            <a:off x="914400" y="4334256"/>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5" name="Text 13"/>
          <p:cNvSpPr/>
          <p:nvPr/>
        </p:nvSpPr>
        <p:spPr>
          <a:xfrm>
            <a:off x="1691640" y="4105656"/>
            <a:ext cx="9601200" cy="1005840"/>
          </a:xfrm>
          <a:prstGeom prst="rect">
            <a:avLst/>
          </a:prstGeom>
          <a:noFill/>
          <a:ln/>
        </p:spPr>
        <p:txBody>
          <a:bodyPr wrap="square" lIns="0" tIns="0" rIns="0" bIns="0" rtlCol="0" anchor="ctr"/>
          <a:lstStyle/>
          <a:p>
            <a:pPr marL="0" indent="0">
              <a:buNone/>
            </a:pPr>
            <a:r>
              <a:rPr lang="en-US" sz="1600" dirty="0">
                <a:solidFill>
                  <a:srgbClr val="1E1E1E"/>
                </a:solidFill>
                <a:latin typeface="Arial" pitchFamily="34" charset="0"/>
                <a:ea typeface="Arial" pitchFamily="34" charset="-122"/>
                <a:cs typeface="Arial" pitchFamily="34" charset="-120"/>
              </a:rPr>
              <a:t>The calculation and language split stays intact, and every feature traces back to the thesis.</a:t>
            </a:r>
            <a:endParaRPr lang="en-US" sz="1600" dirty="0"/>
          </a:p>
        </p:txBody>
      </p:sp>
      <p:sp>
        <p:nvSpPr>
          <p:cNvPr id="16"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7" name="Harvard Page Number"/>
          <p:cNvSpPr txBox="1"/>
          <p:nvPr/>
        </p:nvSpPr>
        <p:spPr>
          <a:xfrm>
            <a:off x="11730577" y="6446043"/>
            <a:ext cx="324104" cy="274638"/>
          </a:xfrm>
          <a:prstGeom prst="rect">
            <a:avLst/>
          </a:prstGeom>
          <a:noFill/>
        </p:spPr>
        <p:txBody>
          <a:bodyPr wrap="none" lIns="0" tIns="0" rIns="0" bIns="0">
            <a:noAutofit/>
          </a:bodyPr>
          <a:lstStyle/>
          <a:p>
            <a:pPr algn="r"/>
            <a:fld id="{3832BE6E-62AD-4AA0-A730-322CDC57F001}" type="slidenum">
              <a:rPr lang="en-US" sz="1000">
                <a:solidFill>
                  <a:srgbClr val="8996A0"/>
                </a:solidFill>
                <a:latin typeface="Arial"/>
              </a:rPr>
              <a:t>43</a:t>
            </a:fld>
            <a:endParaRPr lang="en-US" sz="1000">
              <a:solidFill>
                <a:srgbClr val="8996A0"/>
              </a:solidFill>
              <a:latin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name="Slide 36">
    <p:spTree>
      <p:nvGrpSpPr>
        <p:cNvPr id="1" name=""/>
        <p:cNvGrpSpPr/>
        <p:nvPr/>
      </p:nvGrpSpPr>
      <p:grpSpPr>
        <a:xfrm>
          <a:off x="0" y="0"/>
          <a:ext cx="0" cy="0"/>
          <a:chOff x="0" y="0"/>
          <a:chExt cx="0" cy="0"/>
        </a:xfrm>
      </p:grpSpPr>
      <p:sp>
        <p:nvSpPr>
          <p:cNvPr id="2" name="Shape 0"/>
          <p:cNvSpPr/>
          <p:nvPr/>
        </p:nvSpPr>
        <p:spPr>
          <a:xfrm>
            <a:off x="640080" y="411480"/>
            <a:ext cx="685800" cy="685800"/>
          </a:xfrm>
          <a:prstGeom prst="roundRect">
            <a:avLst>
              <a:gd name="adj" fmla="val 12000"/>
            </a:avLst>
          </a:prstGeom>
          <a:solidFill>
            <a:srgbClr val="A51C30"/>
          </a:solidFill>
          <a:ln/>
        </p:spPr>
      </p:sp>
      <p:pic>
        <p:nvPicPr>
          <p:cNvPr id="3" name="Image 0" descr="preencoded.png"/>
          <p:cNvPicPr>
            <a:picLocks noChangeAspect="1"/>
          </p:cNvPicPr>
          <p:nvPr/>
        </p:nvPicPr>
        <p:blipFill>
          <a:blip r:embed="rId3"/>
          <a:stretch>
            <a:fillRect/>
          </a:stretch>
        </p:blipFill>
        <p:spPr>
          <a:xfrm>
            <a:off x="794385" y="565785"/>
            <a:ext cx="377190" cy="377190"/>
          </a:xfrm>
          <a:prstGeom prst="rect">
            <a:avLst/>
          </a:prstGeom>
        </p:spPr>
      </p:pic>
      <p:sp>
        <p:nvSpPr>
          <p:cNvPr id="4" name="Text 1"/>
          <p:cNvSpPr/>
          <p:nvPr/>
        </p:nvSpPr>
        <p:spPr>
          <a:xfrm>
            <a:off x="1508760" y="411480"/>
            <a:ext cx="10058400" cy="685800"/>
          </a:xfrm>
          <a:prstGeom prst="rect">
            <a:avLst/>
          </a:prstGeom>
          <a:noFill/>
          <a:ln/>
        </p:spPr>
        <p:txBody>
          <a:bodyPr wrap="square" lIns="0" tIns="0" rIns="0" bIns="0" rtlCol="0" anchor="ctr"/>
          <a:lstStyle/>
          <a:p>
            <a:pPr marL="0" indent="0">
              <a:buNone/>
            </a:pPr>
            <a:r>
              <a:rPr lang="en-US" sz="2600" b="1" dirty="0">
                <a:solidFill>
                  <a:srgbClr val="1E1E1E"/>
                </a:solidFill>
                <a:latin typeface="Arial" pitchFamily="34" charset="0"/>
                <a:ea typeface="Arial" pitchFamily="34" charset="-122"/>
                <a:cs typeface="Arial" pitchFamily="34" charset="-120"/>
              </a:rPr>
              <a:t>Extra credit: macro risk overlay</a:t>
            </a:r>
            <a:endParaRPr lang="en-US" sz="2600" dirty="0"/>
          </a:p>
        </p:txBody>
      </p:sp>
      <p:sp>
        <p:nvSpPr>
          <p:cNvPr id="5" name="Shape 2"/>
          <p:cNvSpPr/>
          <p:nvPr/>
        </p:nvSpPr>
        <p:spPr>
          <a:xfrm>
            <a:off x="640080" y="1371600"/>
            <a:ext cx="10881360" cy="1143000"/>
          </a:xfrm>
          <a:prstGeom prst="roundRect">
            <a:avLst>
              <a:gd name="adj" fmla="val 6400"/>
            </a:avLst>
          </a:prstGeom>
          <a:solidFill>
            <a:srgbClr val="293352"/>
          </a:solidFill>
          <a:ln/>
        </p:spPr>
      </p:sp>
      <p:sp>
        <p:nvSpPr>
          <p:cNvPr id="6" name="Shape 3"/>
          <p:cNvSpPr/>
          <p:nvPr/>
        </p:nvSpPr>
        <p:spPr>
          <a:xfrm>
            <a:off x="868680" y="1627632"/>
            <a:ext cx="621792" cy="621792"/>
          </a:xfrm>
          <a:prstGeom prst="roundRect">
            <a:avLst>
              <a:gd name="adj" fmla="val 13235"/>
            </a:avLst>
          </a:prstGeom>
          <a:solidFill>
            <a:srgbClr val="A51C30"/>
          </a:solidFill>
          <a:ln/>
        </p:spPr>
      </p:sp>
      <p:pic>
        <p:nvPicPr>
          <p:cNvPr id="7" name="Image 1" descr="preencoded.png"/>
          <p:cNvPicPr>
            <a:picLocks noChangeAspect="1"/>
          </p:cNvPicPr>
          <p:nvPr/>
        </p:nvPicPr>
        <p:blipFill>
          <a:blip r:embed="rId4"/>
          <a:stretch>
            <a:fillRect/>
          </a:stretch>
        </p:blipFill>
        <p:spPr>
          <a:xfrm>
            <a:off x="1008583" y="1767535"/>
            <a:ext cx="341986" cy="341986"/>
          </a:xfrm>
          <a:prstGeom prst="rect">
            <a:avLst/>
          </a:prstGeom>
        </p:spPr>
      </p:pic>
      <p:sp>
        <p:nvSpPr>
          <p:cNvPr id="8" name="Text 4"/>
          <p:cNvSpPr/>
          <p:nvPr/>
        </p:nvSpPr>
        <p:spPr>
          <a:xfrm>
            <a:off x="1691640" y="1463040"/>
            <a:ext cx="9601200" cy="960120"/>
          </a:xfrm>
          <a:prstGeom prst="rect">
            <a:avLst/>
          </a:prstGeom>
          <a:noFill/>
          <a:ln/>
        </p:spPr>
        <p:txBody>
          <a:bodyPr wrap="square" lIns="0" tIns="0" rIns="0" bIns="0" rtlCol="0" anchor="ctr"/>
          <a:lstStyle/>
          <a:p>
            <a:pPr marL="0" indent="0">
              <a:lnSpc>
                <a:spcPct val="105000"/>
              </a:lnSpc>
              <a:buNone/>
            </a:pPr>
            <a:r>
              <a:rPr lang="en-US" sz="1100" b="1" kern="0" spc="200" dirty="0">
                <a:solidFill>
                  <a:srgbClr val="8996A0"/>
                </a:solidFill>
                <a:latin typeface="Arial" pitchFamily="34" charset="0"/>
                <a:ea typeface="Arial" pitchFamily="34" charset="-122"/>
                <a:cs typeface="Arial" pitchFamily="34" charset="-120"/>
              </a:rPr>
              <a:t>USER STORY
</a:t>
            </a:r>
            <a:r>
              <a:rPr lang="en-US" sz="1600" i="1" dirty="0">
                <a:solidFill>
                  <a:srgbClr val="FFFFFF"/>
                </a:solidFill>
                <a:latin typeface="Arial" pitchFamily="34" charset="0"/>
                <a:ea typeface="Arial" pitchFamily="34" charset="-122"/>
                <a:cs typeface="Arial" pitchFamily="34" charset="-120"/>
              </a:rPr>
              <a:t>As an investor, I am worried the lagging indicators (RSI and MACD look backward) may miss near term risk to a selected stock.</a:t>
            </a:r>
            <a:endParaRPr lang="en-US" sz="1100" dirty="0"/>
          </a:p>
        </p:txBody>
      </p:sp>
      <p:sp>
        <p:nvSpPr>
          <p:cNvPr id="9" name="Shape 5"/>
          <p:cNvSpPr/>
          <p:nvPr/>
        </p:nvSpPr>
        <p:spPr>
          <a:xfrm>
            <a:off x="640080" y="2697480"/>
            <a:ext cx="10881360" cy="1325880"/>
          </a:xfrm>
          <a:prstGeom prst="roundRect">
            <a:avLst>
              <a:gd name="adj" fmla="val 5517"/>
            </a:avLst>
          </a:prstGeom>
          <a:solidFill>
            <a:srgbClr val="F3F3F1"/>
          </a:solidFill>
          <a:ln/>
        </p:spPr>
      </p:sp>
      <p:sp>
        <p:nvSpPr>
          <p:cNvPr id="10" name="Shape 6"/>
          <p:cNvSpPr/>
          <p:nvPr/>
        </p:nvSpPr>
        <p:spPr>
          <a:xfrm>
            <a:off x="868680" y="3035808"/>
            <a:ext cx="621792" cy="621792"/>
          </a:xfrm>
          <a:prstGeom prst="roundRect">
            <a:avLst>
              <a:gd name="adj" fmla="val 13235"/>
            </a:avLst>
          </a:prstGeom>
          <a:solidFill>
            <a:srgbClr val="A51C30"/>
          </a:solidFill>
          <a:ln/>
        </p:spPr>
      </p:sp>
      <p:pic>
        <p:nvPicPr>
          <p:cNvPr id="11" name="Image 2" descr="preencoded.png"/>
          <p:cNvPicPr>
            <a:picLocks noChangeAspect="1"/>
          </p:cNvPicPr>
          <p:nvPr/>
        </p:nvPicPr>
        <p:blipFill>
          <a:blip r:embed="rId5"/>
          <a:stretch>
            <a:fillRect/>
          </a:stretch>
        </p:blipFill>
        <p:spPr>
          <a:xfrm>
            <a:off x="1008583" y="3175711"/>
            <a:ext cx="341986" cy="341986"/>
          </a:xfrm>
          <a:prstGeom prst="rect">
            <a:avLst/>
          </a:prstGeom>
        </p:spPr>
      </p:pic>
      <p:sp>
        <p:nvSpPr>
          <p:cNvPr id="12" name="Text 7"/>
          <p:cNvSpPr/>
          <p:nvPr/>
        </p:nvSpPr>
        <p:spPr>
          <a:xfrm>
            <a:off x="1691640" y="2788920"/>
            <a:ext cx="9601200" cy="1143000"/>
          </a:xfrm>
          <a:prstGeom prst="rect">
            <a:avLst/>
          </a:prstGeom>
          <a:noFill/>
          <a:ln/>
        </p:spPr>
        <p:txBody>
          <a:bodyPr wrap="square" lIns="0" tIns="0" rIns="0" bIns="0" rtlCol="0" anchor="ctr"/>
          <a:lstStyle/>
          <a:p>
            <a:pPr marL="0" indent="0">
              <a:lnSpc>
                <a:spcPct val="105000"/>
              </a:lnSpc>
              <a:buNone/>
            </a:pPr>
            <a:r>
              <a:rPr lang="en-US" sz="1100" b="1" kern="0" spc="200" dirty="0">
                <a:solidFill>
                  <a:srgbClr val="A51C30"/>
                </a:solidFill>
                <a:latin typeface="Arial" pitchFamily="34" charset="0"/>
                <a:ea typeface="Arial" pitchFamily="34" charset="-122"/>
                <a:cs typeface="Arial" pitchFamily="34" charset="-120"/>
              </a:rPr>
              <a:t>FUNCTIONAL REQUIREMENT
</a:t>
            </a:r>
            <a:r>
              <a:rPr lang="en-US" sz="1600" dirty="0">
                <a:solidFill>
                  <a:srgbClr val="1E1E1E"/>
                </a:solidFill>
                <a:latin typeface="Arial" pitchFamily="34" charset="0"/>
                <a:ea typeface="Arial" pitchFamily="34" charset="-122"/>
                <a:cs typeface="Arial" pitchFamily="34" charset="-120"/>
              </a:rPr>
              <a:t>Once the tickers are selected, pull the current macro risk from the Riskline API and use an additional LLM call to determine whether any of it would affect the selected portfolio companies.</a:t>
            </a:r>
            <a:endParaRPr lang="en-US" sz="1100" dirty="0"/>
          </a:p>
        </p:txBody>
      </p:sp>
      <p:sp>
        <p:nvSpPr>
          <p:cNvPr id="13" name="Text 8"/>
          <p:cNvSpPr/>
          <p:nvPr/>
        </p:nvSpPr>
        <p:spPr>
          <a:xfrm>
            <a:off x="640080" y="4297680"/>
            <a:ext cx="10881360" cy="128016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8996A0"/>
                </a:solidFill>
                <a:latin typeface="Arial" pitchFamily="34" charset="0"/>
                <a:ea typeface="Arial" pitchFamily="34" charset="-122"/>
                <a:cs typeface="Arial" pitchFamily="34" charset="-120"/>
              </a:rPr>
              <a:t>Riskline is the unauthenticated macro alerts feed. No key required.</a:t>
            </a:r>
            <a:endParaRPr lang="en-US" sz="1350" dirty="0"/>
          </a:p>
          <a:p>
            <a:pPr marL="203200" indent="-203200">
              <a:spcAft>
                <a:spcPts val="600"/>
              </a:spcAft>
              <a:buSzPct val="100000"/>
              <a:buChar char="•"/>
            </a:pPr>
            <a:r>
              <a:rPr lang="en-US" sz="1350" dirty="0">
                <a:solidFill>
                  <a:srgbClr val="8996A0"/>
                </a:solidFill>
                <a:latin typeface="Arial" pitchFamily="34" charset="0"/>
                <a:ea typeface="Arial" pitchFamily="34" charset="-122"/>
                <a:cs typeface="Arial" pitchFamily="34" charset="-120"/>
              </a:rPr>
              <a:t>The split holds: the app fetches alerts, the LLM only reasons about relevance. It flags exposure, it never changes a weight.</a:t>
            </a:r>
            <a:endParaRPr lang="en-US" sz="1350" dirty="0"/>
          </a:p>
          <a:p>
            <a:pPr marL="203200" indent="-203200">
              <a:spcAft>
                <a:spcPts val="600"/>
              </a:spcAft>
              <a:buSzPct val="100000"/>
              <a:buChar char="•"/>
            </a:pPr>
            <a:r>
              <a:rPr lang="en-US" sz="1350" dirty="0">
                <a:solidFill>
                  <a:srgbClr val="8996A0"/>
                </a:solidFill>
                <a:latin typeface="Arial" pitchFamily="34" charset="0"/>
                <a:ea typeface="Arial" pitchFamily="34" charset="-122"/>
                <a:cs typeface="Arial" pitchFamily="34" charset="-120"/>
              </a:rPr>
              <a:t>An overlay, not a gate: the technical thesis still selects and weights; this is a forward looking sanity check on top.</a:t>
            </a:r>
            <a:endParaRPr lang="en-US" sz="1350" dirty="0"/>
          </a:p>
        </p:txBody>
      </p:sp>
      <p:sp>
        <p:nvSpPr>
          <p:cNvPr id="14"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5" name="Harvard Page Number"/>
          <p:cNvSpPr txBox="1"/>
          <p:nvPr/>
        </p:nvSpPr>
        <p:spPr>
          <a:xfrm>
            <a:off x="11730577" y="6446043"/>
            <a:ext cx="324104" cy="274638"/>
          </a:xfrm>
          <a:prstGeom prst="rect">
            <a:avLst/>
          </a:prstGeom>
          <a:noFill/>
        </p:spPr>
        <p:txBody>
          <a:bodyPr wrap="none" lIns="0" tIns="0" rIns="0" bIns="0">
            <a:noAutofit/>
          </a:bodyPr>
          <a:lstStyle/>
          <a:p>
            <a:pPr algn="r"/>
            <a:fld id="{9C5AC9C5-A311-4E9C-A876-77858D372537}" type="slidenum">
              <a:rPr lang="en-US" sz="1000">
                <a:solidFill>
                  <a:srgbClr val="8996A0"/>
                </a:solidFill>
                <a:latin typeface="Arial"/>
              </a:rPr>
              <a:t>44</a:t>
            </a:fld>
            <a:endParaRPr lang="en-US" sz="1000">
              <a:solidFill>
                <a:srgbClr val="8996A0"/>
              </a:solidFill>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1E1E1E"/>
      </a:dk1>
      <a:lt1>
        <a:srgbClr val="FFFFFF"/>
      </a:lt1>
      <a:dk2>
        <a:srgbClr val="293352"/>
      </a:dk2>
      <a:lt2>
        <a:srgbClr val="F3F3F1"/>
      </a:lt2>
      <a:accent1>
        <a:srgbClr val="A51C30"/>
      </a:accent1>
      <a:accent2>
        <a:srgbClr val="293352"/>
      </a:accent2>
      <a:accent3>
        <a:srgbClr val="4E84C4"/>
      </a:accent3>
      <a:accent4>
        <a:srgbClr val="C4961A"/>
      </a:accent4>
      <a:accent5>
        <a:srgbClr val="8996A0"/>
      </a:accent5>
      <a:accent6>
        <a:srgbClr val="1E1E1E"/>
      </a:accent6>
      <a:hlink>
        <a:srgbClr val="4E84C4"/>
      </a:hlink>
      <a:folHlink>
        <a:srgbClr val="946EB7"/>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rgbClr val="1E1E1E"/>
      </a:dk1>
      <a:lt1>
        <a:srgbClr val="FFFFFF"/>
      </a:lt1>
      <a:dk2>
        <a:srgbClr val="293352"/>
      </a:dk2>
      <a:lt2>
        <a:srgbClr val="F3F3F1"/>
      </a:lt2>
      <a:accent1>
        <a:srgbClr val="A51C30"/>
      </a:accent1>
      <a:accent2>
        <a:srgbClr val="293352"/>
      </a:accent2>
      <a:accent3>
        <a:srgbClr val="4E84C4"/>
      </a:accent3>
      <a:accent4>
        <a:srgbClr val="C4961A"/>
      </a:accent4>
      <a:accent5>
        <a:srgbClr val="8996A0"/>
      </a:accent5>
      <a:accent6>
        <a:srgbClr val="1E1E1E"/>
      </a:accent6>
      <a:hlink>
        <a:srgbClr val="4E84C4"/>
      </a:hlink>
      <a:folHlink>
        <a:srgbClr val="946EB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TotalTime>
  <Words>3790</Words>
  <Application>Microsoft Macintosh PowerPoint</Application>
  <PresentationFormat>Widescreen</PresentationFormat>
  <Paragraphs>465</Paragraphs>
  <Slides>44</Slides>
  <Notes>37</Notes>
  <HiddenSlides>1</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44</vt:i4>
      </vt:variant>
    </vt:vector>
  </HeadingPairs>
  <TitlesOfParts>
    <vt:vector size="48" baseType="lpstr">
      <vt:lpstr>Arial</vt:lpstr>
      <vt:lpstr>Calibri</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Ted Kwartler</cp:lastModifiedBy>
  <cp:revision>7</cp:revision>
  <dcterms:created xsi:type="dcterms:W3CDTF">2026-07-21T03:24:11Z</dcterms:created>
  <dcterms:modified xsi:type="dcterms:W3CDTF">2026-08-03T04:41:29Z</dcterms:modified>
</cp:coreProperties>
</file>