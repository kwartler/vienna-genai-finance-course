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57" r:id="rId13"/>
    <p:sldId id="258" r:id="rId14"/>
    <p:sldId id="25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 snapToObjects="1">
      <p:cViewPr varScale="1">
        <p:scale>
          <a:sx n="135" d="100"/>
          <a:sy n="135" d="100"/>
        </p:scale>
        <p:origin x="19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005840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1005840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05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hyperlink" Target="https://kwartler.github.io/vienna-genai-spa-template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hyperlink" Target="https://github.com/kwartler/vienna-day1-application/settings/page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24AB-A2D7-BAA1-58B5-6C069CA83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090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kwartler</a:t>
            </a:r>
            <a:r>
              <a:rPr lang="en-US" dirty="0"/>
              <a:t>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3D90F6-DE80-52F3-5E7C-B0DF85816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89314"/>
            <a:ext cx="7772400" cy="33440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E63977-0ECE-AE3A-A2DD-195017CA8668}"/>
              </a:ext>
            </a:extLst>
          </p:cNvPr>
          <p:cNvSpPr txBox="1"/>
          <p:nvPr/>
        </p:nvSpPr>
        <p:spPr>
          <a:xfrm>
            <a:off x="8458200" y="1589314"/>
            <a:ext cx="320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on the Vienna-</a:t>
            </a:r>
            <a:r>
              <a:rPr lang="en-US" dirty="0" err="1"/>
              <a:t>genai</a:t>
            </a:r>
            <a:r>
              <a:rPr lang="en-US" dirty="0"/>
              <a:t>-spa-template repository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D90F00-FDDE-381B-062E-9F576E5C526D}"/>
              </a:ext>
            </a:extLst>
          </p:cNvPr>
          <p:cNvSpPr/>
          <p:nvPr/>
        </p:nvSpPr>
        <p:spPr>
          <a:xfrm>
            <a:off x="5290457" y="4049487"/>
            <a:ext cx="2862943" cy="89262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7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2A638612-B553-42B2-8F6C-23BED5DB3409}" type="slidenum">
              <a:rPr lang="en-US" sz="1000">
                <a:solidFill>
                  <a:srgbClr val="8996A0"/>
                </a:solidFill>
                <a:latin typeface="Arial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460492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280B-BB71-D709-DC67-24BC6C20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484429" cy="541791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The single page application has been scaffolded for you.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C1774D-56E9-4CBB-A1B7-5C048346B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6995"/>
            <a:ext cx="7772400" cy="33440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4688E5-E885-B26E-3893-9C0630E9FA52}"/>
              </a:ext>
            </a:extLst>
          </p:cNvPr>
          <p:cNvSpPr txBox="1"/>
          <p:nvPr/>
        </p:nvSpPr>
        <p:spPr>
          <a:xfrm>
            <a:off x="8458200" y="1589314"/>
            <a:ext cx="320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“Use this template” then “Create a new repository”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2BCCE2-408A-05D3-8276-FD42F2E05BF1}"/>
              </a:ext>
            </a:extLst>
          </p:cNvPr>
          <p:cNvSpPr/>
          <p:nvPr/>
        </p:nvSpPr>
        <p:spPr>
          <a:xfrm>
            <a:off x="7255329" y="2235645"/>
            <a:ext cx="974272" cy="46401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17D49-589C-CF4B-51B0-3455698DA618}"/>
              </a:ext>
            </a:extLst>
          </p:cNvPr>
          <p:cNvSpPr txBox="1"/>
          <p:nvPr/>
        </p:nvSpPr>
        <p:spPr>
          <a:xfrm>
            <a:off x="457199" y="60415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scaffolded application is live here:</a:t>
            </a:r>
          </a:p>
          <a:p>
            <a:r>
              <a:rPr lang="en-US" dirty="0">
                <a:hlinkClick r:id="rId3"/>
              </a:rPr>
              <a:t>https://kwartler.github.io/vienna-genai-spa-template/</a:t>
            </a:r>
            <a:endParaRPr lang="en-US" dirty="0"/>
          </a:p>
        </p:txBody>
      </p:sp>
      <p:sp>
        <p:nvSpPr>
          <p:cNvPr id="8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8CBC3DDF-D807-45AB-955B-990F240E20F9}" type="slidenum">
              <a:rPr lang="en-US" sz="1000">
                <a:solidFill>
                  <a:srgbClr val="8996A0"/>
                </a:solidFill>
                <a:latin typeface="Arial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55566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CB48-7348-C990-6F95-39EB4DCE1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549743" cy="61799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Name your template &amp; add a description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DBDE36-30BC-36A7-90CC-B4594F647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2" y="1251857"/>
            <a:ext cx="6896570" cy="52287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95EB8E-B1BC-7D1E-DA30-47649B927DF8}"/>
              </a:ext>
            </a:extLst>
          </p:cNvPr>
          <p:cNvSpPr/>
          <p:nvPr/>
        </p:nvSpPr>
        <p:spPr>
          <a:xfrm>
            <a:off x="1986642" y="4674045"/>
            <a:ext cx="5034643" cy="46401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02DE50-D676-BFB9-D6E8-18135B3CEA07}"/>
              </a:ext>
            </a:extLst>
          </p:cNvPr>
          <p:cNvSpPr/>
          <p:nvPr/>
        </p:nvSpPr>
        <p:spPr>
          <a:xfrm>
            <a:off x="549729" y="5617029"/>
            <a:ext cx="6471556" cy="6531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arvard Footer"/>
          <p:cNvSpPr txBox="1"/>
          <p:nvPr/>
        </p:nvSpPr>
        <p:spPr>
          <a:xfrm>
            <a:off x="137319" y="649176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7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ECA081FC-A83E-45CD-B0F9-B1A0EA21DAFF}" type="slidenum">
              <a:rPr lang="en-US" sz="1000">
                <a:solidFill>
                  <a:srgbClr val="8996A0"/>
                </a:solidFill>
                <a:latin typeface="Arial"/>
              </a:rPr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199634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52B53C-5720-6C4D-CC4A-486A79EB6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8604"/>
            <a:ext cx="7772400" cy="4889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C9155-BAC6-EDE3-B224-C4330CCE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549743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Now you have your own SPA template.  Clone it for your first working application.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3BBF11-69DC-95E1-C327-02A09165F0A4}"/>
              </a:ext>
            </a:extLst>
          </p:cNvPr>
          <p:cNvSpPr/>
          <p:nvPr/>
        </p:nvSpPr>
        <p:spPr>
          <a:xfrm>
            <a:off x="6972299" y="2213872"/>
            <a:ext cx="1333501" cy="46401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BE3252-86BB-69E9-3E92-34DEB55AFEAE}"/>
              </a:ext>
            </a:extLst>
          </p:cNvPr>
          <p:cNvSpPr/>
          <p:nvPr/>
        </p:nvSpPr>
        <p:spPr>
          <a:xfrm>
            <a:off x="4898569" y="3650786"/>
            <a:ext cx="3135088" cy="46401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E8F36-E622-BEF3-FE9D-3B51115F33E6}"/>
              </a:ext>
            </a:extLst>
          </p:cNvPr>
          <p:cNvSpPr txBox="1"/>
          <p:nvPr/>
        </p:nvSpPr>
        <p:spPr>
          <a:xfrm>
            <a:off x="8458200" y="1589314"/>
            <a:ext cx="3200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clone this so we have a clean template you can use over and over.  </a:t>
            </a:r>
          </a:p>
        </p:txBody>
      </p:sp>
      <p:sp>
        <p:nvSpPr>
          <p:cNvPr id="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9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F01E0FBA-24DC-4218-97F9-2C51D25AE400}" type="slidenum">
              <a:rPr lang="en-US" sz="1000">
                <a:solidFill>
                  <a:srgbClr val="8996A0"/>
                </a:solidFill>
                <a:latin typeface="Arial"/>
              </a:rPr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418149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8FFC0-BA3F-857C-55D0-0FAE651D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625943" cy="400276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Many ways to clone, but R studio may be easiest for newbies.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3E57AB-C2B6-0AD4-27D7-89077BFFB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8" y="2841171"/>
            <a:ext cx="3859672" cy="28629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185C55-8202-AC4E-739F-FAAEADAA804B}"/>
              </a:ext>
            </a:extLst>
          </p:cNvPr>
          <p:cNvSpPr/>
          <p:nvPr/>
        </p:nvSpPr>
        <p:spPr>
          <a:xfrm>
            <a:off x="108858" y="4645456"/>
            <a:ext cx="3859672" cy="58375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FF2F8-B75B-4B12-7088-0E4E457D2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7" y="2841171"/>
            <a:ext cx="3859671" cy="2862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2BFD80-BA49-0BBE-CEA5-424AB82812C3}"/>
              </a:ext>
            </a:extLst>
          </p:cNvPr>
          <p:cNvSpPr/>
          <p:nvPr/>
        </p:nvSpPr>
        <p:spPr>
          <a:xfrm>
            <a:off x="4229099" y="3451435"/>
            <a:ext cx="3897769" cy="58375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06E2E-78E7-638F-FD30-170A2BD96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472" y="2841171"/>
            <a:ext cx="3859670" cy="28629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F117CA1-454F-AE08-330A-ABD76A0B211E}"/>
              </a:ext>
            </a:extLst>
          </p:cNvPr>
          <p:cNvSpPr/>
          <p:nvPr/>
        </p:nvSpPr>
        <p:spPr>
          <a:xfrm>
            <a:off x="9133113" y="3505199"/>
            <a:ext cx="2286001" cy="72389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F395C-F5A3-6A51-417F-DDA04391B2BC}"/>
              </a:ext>
            </a:extLst>
          </p:cNvPr>
          <p:cNvSpPr txBox="1"/>
          <p:nvPr/>
        </p:nvSpPr>
        <p:spPr>
          <a:xfrm>
            <a:off x="457199" y="784554"/>
            <a:ext cx="10687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Enter the URL from your template.  Then create an application folder name &amp; know where you saved it.</a:t>
            </a:r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FE97BFC9-DB4A-4F03-A598-2B47FE878BE2}" type="slidenum">
              <a:rPr lang="en-US" sz="1000">
                <a:solidFill>
                  <a:srgbClr val="8996A0"/>
                </a:solidFill>
                <a:latin typeface="Arial"/>
              </a:rPr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406803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68B1-CCC7-4BF2-89C4-EB2C1ECF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658600" cy="378505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/>
              <a:t>Back on </a:t>
            </a:r>
            <a:r>
              <a:rPr lang="en-US" sz="2400" dirty="0" err="1"/>
              <a:t>github.com</a:t>
            </a:r>
            <a:r>
              <a:rPr lang="en-US" sz="2400" dirty="0"/>
              <a:t> you can now see your new specific application codebase locally.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2A2F84-931D-BF08-079C-ABB97FCCB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9430"/>
            <a:ext cx="5618262" cy="529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8F9FAC-95BA-B176-D1C7-D9396E96B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1706"/>
            <a:ext cx="5618262" cy="529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15ADC1-24D7-0CC0-4101-28A4D328B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2542"/>
            <a:ext cx="5486036" cy="2140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CFCD8E-55A0-388B-F66E-05EAFF8C3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442" y="1883228"/>
            <a:ext cx="5529730" cy="37724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9E9D80-241A-35E1-9D00-50F89311D578}"/>
              </a:ext>
            </a:extLst>
          </p:cNvPr>
          <p:cNvSpPr txBox="1">
            <a:spLocks/>
          </p:cNvSpPr>
          <p:nvPr/>
        </p:nvSpPr>
        <p:spPr>
          <a:xfrm>
            <a:off x="533400" y="5802087"/>
            <a:ext cx="11658600" cy="7812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You could use another vibe coding application like cursor or </a:t>
            </a:r>
            <a:r>
              <a:rPr lang="en-US" sz="2400" dirty="0" err="1"/>
              <a:t>claude</a:t>
            </a:r>
            <a:r>
              <a:rPr lang="en-US" sz="2400" dirty="0"/>
              <a:t> to change your code base.  But we will be showing AI studio since it is free, and we want everyone to have access immediately.</a:t>
            </a:r>
          </a:p>
        </p:txBody>
      </p:sp>
      <p:sp>
        <p:nvSpPr>
          <p:cNvPr id="8" name="Harvard Footer"/>
          <p:cNvSpPr txBox="1"/>
          <p:nvPr/>
        </p:nvSpPr>
        <p:spPr>
          <a:xfrm>
            <a:off x="137319" y="658320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9" name="Harvard Page Number"/>
          <p:cNvSpPr txBox="1"/>
          <p:nvPr/>
        </p:nvSpPr>
        <p:spPr>
          <a:xfrm>
            <a:off x="11801189" y="658320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25754171-7A20-4F46-80CF-28C2FA0F41FB}" type="slidenum">
              <a:rPr lang="en-US" sz="1000">
                <a:solidFill>
                  <a:srgbClr val="8996A0"/>
                </a:solidFill>
                <a:latin typeface="Arial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160888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2E9CBB-B685-1320-4B8B-2BD9B50A08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92" b="23557"/>
          <a:stretch>
            <a:fillRect/>
          </a:stretch>
        </p:blipFill>
        <p:spPr>
          <a:xfrm>
            <a:off x="228602" y="1170214"/>
            <a:ext cx="4557570" cy="19213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F28D6BD-4B33-2FF1-3BD2-ECDE4886BA3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1658600" cy="37850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Click “+” to import from </a:t>
            </a:r>
            <a:r>
              <a:rPr lang="en-US" sz="2400" dirty="0" err="1"/>
              <a:t>Github</a:t>
            </a:r>
            <a:r>
              <a:rPr lang="en-US" sz="2400" dirty="0"/>
              <a:t>…then wait a moment.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2FB03-51FD-7CEA-21D0-10254B4AF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10" y="3205842"/>
            <a:ext cx="3075354" cy="19213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7C6E70-BB73-16F6-7D64-356E60CDF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868" y="1227363"/>
            <a:ext cx="6331131" cy="39569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AF0283-C99A-8946-BBC0-BBD007A6BB4F}"/>
              </a:ext>
            </a:extLst>
          </p:cNvPr>
          <p:cNvSpPr txBox="1"/>
          <p:nvPr/>
        </p:nvSpPr>
        <p:spPr>
          <a:xfrm>
            <a:off x="549728" y="6074228"/>
            <a:ext cx="11092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application is a webform where users input API keys.  So we do not need to store them in our AI Studio Environment so we can test the real user experience.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5B95E8-48D3-E6E1-B61C-0A6F377D1E26}"/>
              </a:ext>
            </a:extLst>
          </p:cNvPr>
          <p:cNvSpPr/>
          <p:nvPr/>
        </p:nvSpPr>
        <p:spPr>
          <a:xfrm>
            <a:off x="4942114" y="4714862"/>
            <a:ext cx="2492829" cy="58375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048B0-6CBD-69E0-B6B0-A1B8ABC28778}"/>
              </a:ext>
            </a:extLst>
          </p:cNvPr>
          <p:cNvSpPr txBox="1"/>
          <p:nvPr/>
        </p:nvSpPr>
        <p:spPr>
          <a:xfrm>
            <a:off x="4942114" y="4836954"/>
            <a:ext cx="2510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We can describe what we want to change here.</a:t>
            </a:r>
          </a:p>
        </p:txBody>
      </p:sp>
      <p:sp>
        <p:nvSpPr>
          <p:cNvPr id="10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7ED6B897-6A14-412E-B95A-00B8EC0161D3}" type="slidenum">
              <a:rPr lang="en-US" sz="1000">
                <a:solidFill>
                  <a:srgbClr val="8996A0"/>
                </a:solidFill>
                <a:latin typeface="Arial"/>
              </a:rPr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3783351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57E4C1-9572-1F3E-C569-79A22A1221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75" r="62745"/>
          <a:stretch>
            <a:fillRect/>
          </a:stretch>
        </p:blipFill>
        <p:spPr>
          <a:xfrm>
            <a:off x="187234" y="1919691"/>
            <a:ext cx="3935524" cy="8599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5E92A73-DECD-E167-8067-643CB753938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1658600" cy="37850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Let’s vibe code our first change!  These changes are ONLY inside AI Studio for now.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7AFCE-E6E5-60A6-5CB4-B4F065C5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14" t="16834"/>
          <a:stretch>
            <a:fillRect/>
          </a:stretch>
        </p:blipFill>
        <p:spPr>
          <a:xfrm>
            <a:off x="187234" y="3030034"/>
            <a:ext cx="3971657" cy="32112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92175E-82F2-F001-8B6E-0870640B4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675" y="2288178"/>
            <a:ext cx="6319093" cy="39494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5E4A94-BB47-639A-B3E2-401F7BEB5F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944" b="11678"/>
          <a:stretch>
            <a:fillRect/>
          </a:stretch>
        </p:blipFill>
        <p:spPr>
          <a:xfrm>
            <a:off x="8514808" y="1541186"/>
            <a:ext cx="3113315" cy="3785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BA2CB0-63C4-6D37-12F0-3B4C1D585D48}"/>
              </a:ext>
            </a:extLst>
          </p:cNvPr>
          <p:cNvSpPr/>
          <p:nvPr/>
        </p:nvSpPr>
        <p:spPr>
          <a:xfrm>
            <a:off x="11290667" y="1452016"/>
            <a:ext cx="435429" cy="58375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A5FBE7-743A-AE89-8C70-5449080B0453}"/>
              </a:ext>
            </a:extLst>
          </p:cNvPr>
          <p:cNvSpPr/>
          <p:nvPr/>
        </p:nvSpPr>
        <p:spPr>
          <a:xfrm>
            <a:off x="11288489" y="2647411"/>
            <a:ext cx="272144" cy="29187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3C4ECD52-7D2D-6186-0198-ACB2C1DDC382}"/>
              </a:ext>
            </a:extLst>
          </p:cNvPr>
          <p:cNvSpPr/>
          <p:nvPr/>
        </p:nvSpPr>
        <p:spPr>
          <a:xfrm rot="5400000">
            <a:off x="3050485" y="3308847"/>
            <a:ext cx="3448594" cy="670283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0A7338A6-B836-4C02-922F-953DFEF22C00}" type="slidenum">
              <a:rPr lang="en-US" sz="1000">
                <a:solidFill>
                  <a:srgbClr val="8996A0"/>
                </a:solidFill>
                <a:latin typeface="Arial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4233493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439075-4A64-0E91-DB56-E20FEB5A07D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1658600" cy="37850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Time to push our new changes to a new repository.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E688E-B6BD-300D-89CF-0C037209882D}"/>
              </a:ext>
            </a:extLst>
          </p:cNvPr>
          <p:cNvSpPr txBox="1"/>
          <p:nvPr/>
        </p:nvSpPr>
        <p:spPr>
          <a:xfrm>
            <a:off x="6096000" y="1541417"/>
            <a:ext cx="4095993" cy="1477328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Add the rep name</a:t>
            </a:r>
          </a:p>
          <a:p>
            <a:r>
              <a:rPr lang="en-US" dirty="0">
                <a:solidFill>
                  <a:schemeClr val="bg1"/>
                </a:solidFill>
              </a:rPr>
              <a:t>2. Add a short description </a:t>
            </a:r>
          </a:p>
          <a:p>
            <a:r>
              <a:rPr lang="en-US" dirty="0">
                <a:solidFill>
                  <a:schemeClr val="bg1"/>
                </a:solidFill>
              </a:rPr>
              <a:t>3. Mark it as Public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4. Click Create </a:t>
            </a:r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 repository</a:t>
            </a:r>
          </a:p>
          <a:p>
            <a:r>
              <a:rPr lang="en-US" dirty="0">
                <a:solidFill>
                  <a:schemeClr val="bg1"/>
                </a:solidFill>
              </a:rPr>
              <a:t>2. Click Stage and commit all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7BF33-C728-4531-0007-A685919860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540" t="9888"/>
          <a:stretch>
            <a:fillRect/>
          </a:stretch>
        </p:blipFill>
        <p:spPr>
          <a:xfrm>
            <a:off x="457200" y="659660"/>
            <a:ext cx="4045131" cy="59237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DFC65D-1288-7174-8EE1-36B112EE2D21}"/>
              </a:ext>
            </a:extLst>
          </p:cNvPr>
          <p:cNvSpPr/>
          <p:nvPr/>
        </p:nvSpPr>
        <p:spPr>
          <a:xfrm>
            <a:off x="1797875" y="6127423"/>
            <a:ext cx="1378958" cy="36279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50F644-7A04-41F4-3141-EC0A2C12149B}"/>
              </a:ext>
            </a:extLst>
          </p:cNvPr>
          <p:cNvSpPr/>
          <p:nvPr/>
        </p:nvSpPr>
        <p:spPr>
          <a:xfrm>
            <a:off x="553537" y="1320041"/>
            <a:ext cx="3867634" cy="53703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9935B9-057A-3E61-78BC-0DA4D382CFA6}"/>
              </a:ext>
            </a:extLst>
          </p:cNvPr>
          <p:cNvSpPr/>
          <p:nvPr/>
        </p:nvSpPr>
        <p:spPr>
          <a:xfrm>
            <a:off x="553537" y="1980422"/>
            <a:ext cx="3867634" cy="53703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9FE0-5F6A-7C28-C264-F2DD1536A700}"/>
              </a:ext>
            </a:extLst>
          </p:cNvPr>
          <p:cNvSpPr/>
          <p:nvPr/>
        </p:nvSpPr>
        <p:spPr>
          <a:xfrm>
            <a:off x="553537" y="3070727"/>
            <a:ext cx="3867634" cy="53703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58320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2556A716-99B7-4F22-BB38-67C8C37A0C6A}" type="slidenum">
              <a:rPr lang="en-US" sz="1000">
                <a:solidFill>
                  <a:srgbClr val="8996A0"/>
                </a:solidFill>
                <a:latin typeface="Arial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148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64E0-8D2E-ED6B-B27B-A9ACDD9552A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1658600" cy="37850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Find your new edited repository on </a:t>
            </a:r>
            <a:r>
              <a:rPr lang="en-US" sz="2400" dirty="0" err="1"/>
              <a:t>github.com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B569B-F36D-C139-A99B-75AF4A374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17" y="1142710"/>
            <a:ext cx="3733800" cy="647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45694E-689A-CC19-A80C-24E401E70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17" y="2335802"/>
            <a:ext cx="3733800" cy="64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108755-9706-F994-F14F-7639238F2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17" y="3266802"/>
            <a:ext cx="1409700" cy="64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3894C7-29D0-1F9E-AA0B-41A38486A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17" y="4342311"/>
            <a:ext cx="1409700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F4EFE9-A5FD-2F50-B20C-EA6F27827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917" y="5176157"/>
            <a:ext cx="3009900" cy="1295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F8921E-E26A-634C-D874-2C20C13260FE}"/>
              </a:ext>
            </a:extLst>
          </p:cNvPr>
          <p:cNvSpPr txBox="1"/>
          <p:nvPr/>
        </p:nvSpPr>
        <p:spPr>
          <a:xfrm>
            <a:off x="51163" y="13023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EC7F13-31A9-A189-8ABF-DDF7FECF9748}"/>
              </a:ext>
            </a:extLst>
          </p:cNvPr>
          <p:cNvSpPr txBox="1"/>
          <p:nvPr/>
        </p:nvSpPr>
        <p:spPr>
          <a:xfrm>
            <a:off x="51163" y="24749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0492F7-F70B-AB0F-3C91-F1ADBD0377A3}"/>
              </a:ext>
            </a:extLst>
          </p:cNvPr>
          <p:cNvSpPr txBox="1"/>
          <p:nvPr/>
        </p:nvSpPr>
        <p:spPr>
          <a:xfrm>
            <a:off x="51163" y="339377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FDF369-E7AC-69B0-3027-F168B3B5484A}"/>
              </a:ext>
            </a:extLst>
          </p:cNvPr>
          <p:cNvSpPr txBox="1"/>
          <p:nvPr/>
        </p:nvSpPr>
        <p:spPr>
          <a:xfrm>
            <a:off x="51163" y="44814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C5CC0-FC11-3E9B-7679-2F048CD7226D}"/>
              </a:ext>
            </a:extLst>
          </p:cNvPr>
          <p:cNvSpPr txBox="1"/>
          <p:nvPr/>
        </p:nvSpPr>
        <p:spPr>
          <a:xfrm>
            <a:off x="51163" y="563919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BA360A-2117-7FDA-10C4-262B6BEF9A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6667" r="63893"/>
          <a:stretch>
            <a:fillRect/>
          </a:stretch>
        </p:blipFill>
        <p:spPr>
          <a:xfrm>
            <a:off x="5049447" y="1466559"/>
            <a:ext cx="3342921" cy="771543"/>
          </a:xfrm>
          <a:prstGeom prst="rect">
            <a:avLst/>
          </a:prstGeom>
        </p:spPr>
      </p:pic>
      <p:sp>
        <p:nvSpPr>
          <p:cNvPr id="17" name="Triangle 16">
            <a:extLst>
              <a:ext uri="{FF2B5EF4-FFF2-40B4-BE49-F238E27FC236}">
                <a16:creationId xmlns:a16="http://schemas.microsoft.com/office/drawing/2014/main" id="{03E21251-F173-C468-32C7-B3096E620C89}"/>
              </a:ext>
            </a:extLst>
          </p:cNvPr>
          <p:cNvSpPr/>
          <p:nvPr/>
        </p:nvSpPr>
        <p:spPr>
          <a:xfrm rot="5400000">
            <a:off x="2022990" y="3502376"/>
            <a:ext cx="5327759" cy="610603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26EA2-5095-43BB-BB6E-A616A259197B}"/>
              </a:ext>
            </a:extLst>
          </p:cNvPr>
          <p:cNvSpPr txBox="1"/>
          <p:nvPr/>
        </p:nvSpPr>
        <p:spPr>
          <a:xfrm>
            <a:off x="5105468" y="1078974"/>
            <a:ext cx="3321820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Make a small additional change to the app.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6B1F99-1EE8-3E9D-23C1-9D7A1860C95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1240" t="9602"/>
          <a:stretch>
            <a:fillRect/>
          </a:stretch>
        </p:blipFill>
        <p:spPr>
          <a:xfrm>
            <a:off x="5235022" y="3060386"/>
            <a:ext cx="2487299" cy="36256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131FD4-46F3-DFE5-C885-AAB88F733876}"/>
              </a:ext>
            </a:extLst>
          </p:cNvPr>
          <p:cNvSpPr txBox="1"/>
          <p:nvPr/>
        </p:nvSpPr>
        <p:spPr>
          <a:xfrm>
            <a:off x="5105468" y="2532341"/>
            <a:ext cx="3408820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Stage &amp; Commit your changes back to </a:t>
            </a:r>
            <a:r>
              <a:rPr lang="en-US" sz="1200" dirty="0" err="1">
                <a:solidFill>
                  <a:schemeClr val="bg1"/>
                </a:solidFill>
              </a:rPr>
              <a:t>github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Remember it’s the “gear” then scroll to the right.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BA57FD-84A3-627E-E92B-28541D7CD010}"/>
              </a:ext>
            </a:extLst>
          </p:cNvPr>
          <p:cNvSpPr txBox="1"/>
          <p:nvPr/>
        </p:nvSpPr>
        <p:spPr>
          <a:xfrm>
            <a:off x="9420949" y="3442376"/>
            <a:ext cx="2694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9"/>
              </a:rPr>
              <a:t>https://github.com/kwartler/vienna-day1-application/settings/pages</a:t>
            </a:r>
            <a:endParaRPr lang="en-US" sz="1200" dirty="0"/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2D760985-7BCA-856B-F648-FF737CD0E66E}"/>
              </a:ext>
            </a:extLst>
          </p:cNvPr>
          <p:cNvSpPr/>
          <p:nvPr/>
        </p:nvSpPr>
        <p:spPr>
          <a:xfrm rot="5400000">
            <a:off x="6337465" y="3605451"/>
            <a:ext cx="5327759" cy="610603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0322AD-B85B-CF74-42A1-BA60EA1B4FED}"/>
              </a:ext>
            </a:extLst>
          </p:cNvPr>
          <p:cNvSpPr txBox="1"/>
          <p:nvPr/>
        </p:nvSpPr>
        <p:spPr>
          <a:xfrm>
            <a:off x="9420949" y="2564200"/>
            <a:ext cx="2449839" cy="83099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Back on your </a:t>
            </a:r>
            <a:r>
              <a:rPr lang="en-US" sz="1200" dirty="0" err="1">
                <a:solidFill>
                  <a:schemeClr val="bg1"/>
                </a:solidFill>
              </a:rPr>
              <a:t>github</a:t>
            </a:r>
            <a:r>
              <a:rPr lang="en-US" sz="1200" dirty="0">
                <a:solidFill>
                  <a:schemeClr val="bg1"/>
                </a:solidFill>
              </a:rPr>
              <a:t> repo, “settings”, then “pages”.  Refresh that page to see the new deployed application!</a:t>
            </a:r>
          </a:p>
        </p:txBody>
      </p:sp>
      <p:sp>
        <p:nvSpPr>
          <p:cNvPr id="26" name="Harvard Footer"/>
          <p:cNvSpPr txBox="1"/>
          <p:nvPr/>
        </p:nvSpPr>
        <p:spPr>
          <a:xfrm>
            <a:off x="137319" y="649176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7DD65FD8-D439-494D-8CE9-529A87E80653}" type="slidenum">
              <a:rPr lang="en-US" sz="1000">
                <a:solidFill>
                  <a:srgbClr val="8996A0"/>
                </a:solidFill>
                <a:latin typeface="Arial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3958594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E74A197-FFBF-7A7E-3445-A838D9848AE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1658600" cy="37850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Test your application, make sure we didn’t break anything (yet)!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AECDD-8388-3458-A1F8-5949D82A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38" r="26794" b="8617"/>
          <a:stretch>
            <a:fillRect/>
          </a:stretch>
        </p:blipFill>
        <p:spPr>
          <a:xfrm>
            <a:off x="201890" y="1923067"/>
            <a:ext cx="5689863" cy="38932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61709E-0481-0B26-F56C-9F7CEEC591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94" t="18999" r="26551"/>
          <a:stretch>
            <a:fillRect/>
          </a:stretch>
        </p:blipFill>
        <p:spPr>
          <a:xfrm>
            <a:off x="7110951" y="1902298"/>
            <a:ext cx="3626179" cy="39348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4035871E-3505-4298-8930-E6F7262B26A6}" type="slidenum">
              <a:rPr lang="en-US" sz="1000">
                <a:solidFill>
                  <a:srgbClr val="8996A0"/>
                </a:solidFill>
                <a:latin typeface="Arial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792843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51C30"/>
                </a:solidFill>
              </a:rPr>
              <a:t>Strict JSON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Goal:  </a:t>
            </a:r>
            <a:r>
              <a:rPr sz="1700">
                <a:solidFill>
                  <a:srgbClr val="1E1E1E"/>
                </a:solidFill>
              </a:rPr>
              <a:t>the model returns parseable JSON every time, with no markdown fences or prose around it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Request:  </a:t>
            </a:r>
            <a:r>
              <a:rPr sz="1700">
                <a:solidFill>
                  <a:srgbClr val="1E1E1E"/>
                </a:solidFill>
              </a:rPr>
              <a:t>response_format = { type: "json_schema", strict: true }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Schema:  </a:t>
            </a:r>
            <a:r>
              <a:rPr sz="1700">
                <a:solidFill>
                  <a:srgbClr val="1E1E1E"/>
                </a:solidFill>
              </a:rPr>
              <a:t>{ explanation, research_note, risks[3] }, additionalProperties: false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Routing:  </a:t>
            </a:r>
            <a:r>
              <a:rPr sz="1700">
                <a:solidFill>
                  <a:srgbClr val="1E1E1E"/>
                </a:solidFill>
              </a:rPr>
              <a:t>provider.require_parameters = true, so OpenRouter only picks endpoints that enforce the schema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Model matters:  </a:t>
            </a:r>
            <a:r>
              <a:rPr sz="1700">
                <a:solidFill>
                  <a:srgbClr val="1E1E1E"/>
                </a:solidFill>
              </a:rPr>
              <a:t>Claude Sonnet 5 supports strict structured outputs; the older sonnet-4-6 did not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Defense in depth:  </a:t>
            </a:r>
            <a:r>
              <a:rPr sz="1700">
                <a:solidFill>
                  <a:srgbClr val="1E1E1E"/>
                </a:solidFill>
              </a:rPr>
              <a:t>schema enforcement first, then a "{" prefill retry, then a fence-stripping JSON parse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1E1E1E"/>
                </a:solidFill>
              </a:rPr>
              <a:t>Payoff:  </a:t>
            </a:r>
            <a:r>
              <a:rPr sz="1700">
                <a:solidFill>
                  <a:srgbClr val="1E1E1E"/>
                </a:solidFill>
              </a:rPr>
              <a:t>the research note and its three risk factors render reliably in the UI, no guesswork</a:t>
            </a:r>
          </a:p>
        </p:txBody>
      </p:sp>
      <p:sp>
        <p:nvSpPr>
          <p:cNvPr id="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629F820A-8F14-40C0-8551-3CE147AA6610}" type="slidenum">
              <a:rPr lang="en-US" sz="1000">
                <a:solidFill>
                  <a:srgbClr val="8996A0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51C30"/>
                </a:solidFill>
              </a:rPr>
              <a:t>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834640"/>
            <a:ext cx="2377440" cy="1097280"/>
          </a:xfrm>
          <a:prstGeom prst="roundRect">
            <a:avLst/>
          </a:prstGeom>
          <a:solidFill>
            <a:srgbClr val="293352"/>
          </a:solidFill>
          <a:ln>
            <a:solidFill>
              <a:srgbClr val="29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User inputs</a:t>
            </a:r>
          </a:p>
          <a:p>
            <a:pPr algn="ctr"/>
            <a:r>
              <a:rPr sz="1100" dirty="0">
                <a:solidFill>
                  <a:srgbClr val="FFFFFF"/>
                </a:solidFill>
              </a:rPr>
              <a:t>ticker, </a:t>
            </a:r>
            <a:r>
              <a:rPr lang="en-US" sz="1100" dirty="0">
                <a:solidFill>
                  <a:srgbClr val="FFFFFF"/>
                </a:solidFill>
              </a:rPr>
              <a:t>MACD/RSI Inputs &amp;</a:t>
            </a:r>
            <a:r>
              <a:rPr sz="1100" dirty="0">
                <a:solidFill>
                  <a:srgbClr val="FFFFFF"/>
                </a:solidFill>
              </a:rPr>
              <a:t> API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834640"/>
            <a:ext cx="2377440" cy="1097280"/>
          </a:xfrm>
          <a:prstGeom prst="roundRect">
            <a:avLst/>
          </a:prstGeom>
          <a:solidFill>
            <a:srgbClr val="293352"/>
          </a:solidFill>
          <a:ln>
            <a:solidFill>
              <a:srgbClr val="29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Twelve Data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daily OHLC, 120 bars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834640"/>
            <a:ext cx="2377440" cy="1097280"/>
          </a:xfrm>
          <a:prstGeom prst="roundRect">
            <a:avLst/>
          </a:prstGeom>
          <a:solidFill>
            <a:srgbClr val="293352"/>
          </a:solidFill>
          <a:ln>
            <a:solidFill>
              <a:srgbClr val="29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Indicators</a:t>
            </a:r>
            <a:endParaRPr lang="en-US" sz="1500" b="1" dirty="0">
              <a:solidFill>
                <a:srgbClr val="FFFFFF"/>
              </a:solidFill>
            </a:endParaRPr>
          </a:p>
          <a:p>
            <a:pPr algn="ctr"/>
            <a:r>
              <a:rPr sz="1500" b="1" dirty="0">
                <a:solidFill>
                  <a:srgbClr val="FFFFFF"/>
                </a:solidFill>
              </a:rPr>
              <a:t> (JS</a:t>
            </a:r>
            <a:r>
              <a:rPr lang="en-US" sz="1500" b="1" dirty="0">
                <a:solidFill>
                  <a:srgbClr val="FFFFFF"/>
                </a:solidFill>
              </a:rPr>
              <a:t> Calculated</a:t>
            </a:r>
            <a:r>
              <a:rPr sz="1500" b="1" dirty="0">
                <a:solidFill>
                  <a:srgbClr val="FFFFFF"/>
                </a:solidFill>
              </a:rPr>
              <a:t>)</a:t>
            </a:r>
          </a:p>
          <a:p>
            <a:pPr algn="ctr"/>
            <a:r>
              <a:rPr sz="1100" dirty="0">
                <a:solidFill>
                  <a:srgbClr val="FFFFFF"/>
                </a:solidFill>
              </a:rPr>
              <a:t>MACD, RSI, 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17320"/>
            <a:ext cx="3017520" cy="1097280"/>
          </a:xfrm>
          <a:prstGeom prst="roundRect">
            <a:avLst/>
          </a:prstGeom>
          <a:solidFill>
            <a:srgbClr val="A51C30"/>
          </a:solidFill>
          <a:ln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Charts</a:t>
            </a:r>
          </a:p>
          <a:p>
            <a:pPr algn="ctr"/>
            <a:r>
              <a:rPr sz="1100" dirty="0">
                <a:solidFill>
                  <a:srgbClr val="FFFFFF"/>
                </a:solidFill>
              </a:rPr>
              <a:t>candlestick, MACD, RSI</a:t>
            </a:r>
            <a:br>
              <a:rPr lang="en-US" sz="1100" dirty="0">
                <a:solidFill>
                  <a:srgbClr val="FFFFFF"/>
                </a:solidFill>
              </a:rPr>
            </a:br>
            <a:r>
              <a:rPr lang="en-US" sz="1100" u="sng" dirty="0">
                <a:solidFill>
                  <a:srgbClr val="FFFFFF"/>
                </a:solidFill>
              </a:rPr>
              <a:t>CALCULATED IN JAVASCRIPT</a:t>
            </a:r>
            <a:endParaRPr sz="1100" u="sng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869680" y="4251960"/>
            <a:ext cx="3017520" cy="1097280"/>
          </a:xfrm>
          <a:prstGeom prst="roundRect">
            <a:avLst/>
          </a:prstGeom>
          <a:solidFill>
            <a:srgbClr val="A51C30"/>
          </a:solidFill>
          <a:ln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Research note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OpenRouter, Sonnet 5, strict 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3383280"/>
            <a:ext cx="365760" cy="0"/>
          </a:xfrm>
          <a:prstGeom prst="line">
            <a:avLst/>
          </a:prstGeom>
          <a:ln w="28575">
            <a:solidFill>
              <a:srgbClr val="2933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3383280"/>
            <a:ext cx="365760" cy="0"/>
          </a:xfrm>
          <a:prstGeom prst="line">
            <a:avLst/>
          </a:prstGeom>
          <a:ln w="28575">
            <a:solidFill>
              <a:srgbClr val="2933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321040" y="1965960"/>
            <a:ext cx="548640" cy="1417320"/>
          </a:xfrm>
          <a:prstGeom prst="line">
            <a:avLst/>
          </a:prstGeom>
          <a:ln w="28575">
            <a:solidFill>
              <a:srgbClr val="2933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3383280"/>
            <a:ext cx="548640" cy="1417320"/>
          </a:xfrm>
          <a:prstGeom prst="line">
            <a:avLst/>
          </a:prstGeom>
          <a:ln w="28575">
            <a:solidFill>
              <a:srgbClr val="2933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93352"/>
                </a:solidFill>
              </a:rPr>
              <a:t>All in the browser: keys stay in the tab, indicators computed client-side, one Twelve Data call feeds both the charts and the model.</a:t>
            </a:r>
          </a:p>
        </p:txBody>
      </p:sp>
      <p:sp>
        <p:nvSpPr>
          <p:cNvPr id="1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4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AD1D8003-B9FE-4DAF-BCA6-600055A2B25F}" type="slidenum">
              <a:rPr lang="en-US" sz="1000">
                <a:solidFill>
                  <a:srgbClr val="8996A0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A51C30"/>
                </a:solidFill>
              </a:rPr>
              <a:t>Signal Explainer: Component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077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1E1E1E"/>
                </a:solidFill>
              </a:rPr>
              <a:t>✓  Inputs form:  </a:t>
            </a:r>
            <a:r>
              <a:rPr sz="1500" dirty="0">
                <a:solidFill>
                  <a:srgbClr val="1E1E1E"/>
                </a:solidFill>
              </a:rPr>
              <a:t>ticker, MACD fast/slow, RSI period, Twelve Data key, </a:t>
            </a:r>
            <a:r>
              <a:rPr sz="1500" dirty="0" err="1">
                <a:solidFill>
                  <a:srgbClr val="1E1E1E"/>
                </a:solidFill>
              </a:rPr>
              <a:t>OpenRouter</a:t>
            </a:r>
            <a:r>
              <a:rPr sz="1500" dirty="0">
                <a:solidFill>
                  <a:srgbClr val="1E1E1E"/>
                </a:solidFill>
              </a:rPr>
              <a:t> key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1E1E1E"/>
                </a:solidFill>
              </a:rPr>
              <a:t>✓  Price data:  </a:t>
            </a:r>
            <a:r>
              <a:rPr sz="1500" dirty="0">
                <a:solidFill>
                  <a:srgbClr val="1E1E1E"/>
                </a:solidFill>
              </a:rPr>
              <a:t>Twelve Data daily OHLC (120 bars), fetched directly in-browser via CORS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1E1E1E"/>
                </a:solidFill>
              </a:rPr>
              <a:t>✓  Indicators in JavaScript:  </a:t>
            </a:r>
            <a:r>
              <a:rPr sz="1500" dirty="0">
                <a:solidFill>
                  <a:srgbClr val="1E1E1E"/>
                </a:solidFill>
              </a:rPr>
              <a:t>EMA, MACD (fast / slow / 9 signal), RSI (14)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1E1E1E"/>
                </a:solidFill>
              </a:rPr>
              <a:t>✓  Charts (</a:t>
            </a:r>
            <a:r>
              <a:rPr sz="1500" b="1" dirty="0" err="1">
                <a:solidFill>
                  <a:srgbClr val="1E1E1E"/>
                </a:solidFill>
              </a:rPr>
              <a:t>Chart.js</a:t>
            </a:r>
            <a:r>
              <a:rPr lang="en-US" sz="1500" b="1" dirty="0">
                <a:solidFill>
                  <a:srgbClr val="1E1E1E"/>
                </a:solidFill>
              </a:rPr>
              <a:t>. </a:t>
            </a:r>
            <a:r>
              <a:rPr lang="en-US" sz="1500" b="1" u="sng" dirty="0" err="1">
                <a:solidFill>
                  <a:srgbClr val="1E1E1E"/>
                </a:solidFill>
              </a:rPr>
              <a:t>echarts</a:t>
            </a:r>
            <a:r>
              <a:rPr sz="1500" b="1" dirty="0">
                <a:solidFill>
                  <a:srgbClr val="1E1E1E"/>
                </a:solidFill>
              </a:rPr>
              <a:t>):  </a:t>
            </a:r>
            <a:r>
              <a:rPr sz="1500" dirty="0">
                <a:solidFill>
                  <a:srgbClr val="1E1E1E"/>
                </a:solidFill>
              </a:rPr>
              <a:t>candlestick from OHLC, MACD plot, RSI plot with 70 / 30 bands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1E1E1E"/>
                </a:solidFill>
              </a:rPr>
              <a:t>✓  Linked zoom:  </a:t>
            </a:r>
            <a:r>
              <a:rPr sz="1500" dirty="0">
                <a:solidFill>
                  <a:srgbClr val="1E1E1E"/>
                </a:solidFill>
              </a:rPr>
              <a:t>dual-handle range slider drives all three charts together, plus Reset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1E1E1E"/>
                </a:solidFill>
              </a:rPr>
              <a:t>✓  Clean re-runs:  </a:t>
            </a:r>
            <a:r>
              <a:rPr sz="1500" dirty="0">
                <a:solidFill>
                  <a:srgbClr val="1E1E1E"/>
                </a:solidFill>
              </a:rPr>
              <a:t>charts, slider, and note all cleared on each Analyze (no frozen state)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1E1E1E"/>
                </a:solidFill>
              </a:rPr>
              <a:t>✓  AI research note:  </a:t>
            </a:r>
            <a:r>
              <a:rPr sz="1500" dirty="0" err="1">
                <a:solidFill>
                  <a:srgbClr val="1E1E1E"/>
                </a:solidFill>
              </a:rPr>
              <a:t>OpenRouter</a:t>
            </a:r>
            <a:r>
              <a:rPr sz="1500" dirty="0">
                <a:solidFill>
                  <a:srgbClr val="1E1E1E"/>
                </a:solidFill>
              </a:rPr>
              <a:t> call to Claude Sonnet 5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1E1E1E"/>
                </a:solidFill>
              </a:rPr>
              <a:t>✓  Strict JSON output:  </a:t>
            </a:r>
            <a:r>
              <a:rPr sz="1500" dirty="0">
                <a:solidFill>
                  <a:srgbClr val="1E1E1E"/>
                </a:solidFill>
              </a:rPr>
              <a:t>schema-enforced response, safe to parse and </a:t>
            </a:r>
            <a:r>
              <a:rPr sz="1500">
                <a:solidFill>
                  <a:srgbClr val="1E1E1E"/>
                </a:solidFill>
              </a:rPr>
              <a:t>render </a:t>
            </a:r>
            <a:endParaRPr lang="en-US" sz="1500">
              <a:solidFill>
                <a:srgbClr val="1E1E1E"/>
              </a:solidFill>
            </a:endParaRP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E1E1E"/>
                </a:solidFill>
              </a:rPr>
              <a:t>✓  </a:t>
            </a:r>
            <a:r>
              <a:rPr sz="1500" b="1" dirty="0">
                <a:solidFill>
                  <a:srgbClr val="1E1E1E"/>
                </a:solidFill>
              </a:rPr>
              <a:t>Security and deploy:  </a:t>
            </a:r>
            <a:r>
              <a:rPr sz="1500" dirty="0">
                <a:solidFill>
                  <a:srgbClr val="1E1E1E"/>
                </a:solidFill>
              </a:rPr>
              <a:t>keys entered at runtime, never committed; Vite build to GitHub Pages</a:t>
            </a:r>
          </a:p>
        </p:txBody>
      </p:sp>
      <p:sp>
        <p:nvSpPr>
          <p:cNvPr id="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C84B7D37-F0C9-4129-BE7A-2CD4DC890A5C}" type="slidenum">
              <a:rPr lang="en-US" sz="1000">
                <a:solidFill>
                  <a:srgbClr val="8996A0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771</Words>
  <Application>Microsoft Macintosh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https://github.com/kwartler/</vt:lpstr>
      <vt:lpstr>The single page application has been scaffolded for you.</vt:lpstr>
      <vt:lpstr>Name your template &amp; add a description</vt:lpstr>
      <vt:lpstr>Now you have your own SPA template.  Clone it for your first working application.</vt:lpstr>
      <vt:lpstr>Many ways to clone, but R studio may be easiest for newbies.</vt:lpstr>
      <vt:lpstr>Back on github.com you can now see your new specific application codebase locally.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Kwartler</cp:lastModifiedBy>
  <cp:revision>7</cp:revision>
  <dcterms:created xsi:type="dcterms:W3CDTF">2013-01-27T09:14:16Z</dcterms:created>
  <dcterms:modified xsi:type="dcterms:W3CDTF">2026-08-01T22:54:52Z</dcterms:modified>
  <cp:category/>
</cp:coreProperties>
</file>