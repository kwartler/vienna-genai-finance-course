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ov" ContentType="video/quicktime"/>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63" r:id="rId3"/>
    <p:sldMasterId id="2147483690" r:id="rId4"/>
  </p:sldMasterIdLst>
  <p:notesMasterIdLst>
    <p:notesMasterId r:id="rId48"/>
  </p:notesMasterIdLst>
  <p:sldIdLst>
    <p:sldId id="256" r:id="rId5"/>
    <p:sldId id="257" r:id="rId6"/>
    <p:sldId id="271" r:id="rId7"/>
    <p:sldId id="286" r:id="rId8"/>
    <p:sldId id="287" r:id="rId9"/>
    <p:sldId id="289" r:id="rId10"/>
    <p:sldId id="300" r:id="rId11"/>
    <p:sldId id="303" r:id="rId12"/>
    <p:sldId id="2147483596" r:id="rId13"/>
    <p:sldId id="283" r:id="rId14"/>
    <p:sldId id="288" r:id="rId15"/>
    <p:sldId id="2147483630" r:id="rId16"/>
    <p:sldId id="2147483593" r:id="rId17"/>
    <p:sldId id="2147483594" r:id="rId18"/>
    <p:sldId id="2147483620" r:id="rId19"/>
    <p:sldId id="2147483609" r:id="rId20"/>
    <p:sldId id="2147483610" r:id="rId21"/>
    <p:sldId id="2147483633" r:id="rId22"/>
    <p:sldId id="2147483621" r:id="rId23"/>
    <p:sldId id="2147483632" r:id="rId24"/>
    <p:sldId id="2147483622" r:id="rId25"/>
    <p:sldId id="2147483623" r:id="rId26"/>
    <p:sldId id="2147483624" r:id="rId27"/>
    <p:sldId id="2147483640" r:id="rId28"/>
    <p:sldId id="2147483636" r:id="rId29"/>
    <p:sldId id="2147483626" r:id="rId30"/>
    <p:sldId id="2147483627" r:id="rId31"/>
    <p:sldId id="2147483629" r:id="rId32"/>
    <p:sldId id="2147483638" r:id="rId33"/>
    <p:sldId id="2147483639" r:id="rId34"/>
    <p:sldId id="258" r:id="rId35"/>
    <p:sldId id="259" r:id="rId36"/>
    <p:sldId id="260" r:id="rId37"/>
    <p:sldId id="2147483641" r:id="rId38"/>
    <p:sldId id="261" r:id="rId39"/>
    <p:sldId id="268" r:id="rId40"/>
    <p:sldId id="270" r:id="rId41"/>
    <p:sldId id="262" r:id="rId42"/>
    <p:sldId id="263" r:id="rId43"/>
    <p:sldId id="264" r:id="rId44"/>
    <p:sldId id="265" r:id="rId45"/>
    <p:sldId id="266" r:id="rId46"/>
    <p:sldId id="267"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3E5F03-EA3D-7565-B94E-82167EF8F528}" name="Author" initials="A" userId="S::author::615b8107-de2e-4290-b4af-dd4d206bbfb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1F1F"/>
                </a:solidFill>
                <a:latin typeface="Arial"/>
              </a:defRPr>
            </a:pPr>
            <a:r>
              <a:rPr lang="en-US" sz="1300" b="0" i="0" u="none" strike="noStrike">
                <a:solidFill>
                  <a:srgbClr val="1F1F1F"/>
                </a:solidFill>
                <a:latin typeface="Arial"/>
              </a:rPr>
              <a:t>Cumulative session cost</a:t>
            </a:r>
          </a:p>
        </c:rich>
      </c:tx>
      <c:overlay val="0"/>
    </c:title>
    <c:autoTitleDeleted val="0"/>
    <c:plotArea>
      <c:layout/>
      <c:barChart>
        <c:barDir val="col"/>
        <c:grouping val="clustered"/>
        <c:varyColors val="0"/>
        <c:ser>
          <c:idx val="0"/>
          <c:order val="0"/>
          <c:tx>
            <c:strRef>
              <c:f>Sheet1!$B$1</c:f>
              <c:strCache>
                <c:ptCount val="1"/>
                <c:pt idx="0">
                  <c:v>Cumulative</c:v>
                </c:pt>
              </c:strCache>
            </c:strRef>
          </c:tx>
          <c:spPr>
            <a:solidFill>
              <a:srgbClr val="A51C30"/>
            </a:solidFill>
            <a:effectLst/>
          </c:spPr>
          <c:invertIfNegative val="0"/>
          <c:dLbls>
            <c:numFmt formatCode="\$0.00" sourceLinked="0"/>
            <c:spPr>
              <a:noFill/>
              <a:ln>
                <a:noFill/>
              </a:ln>
              <a:effectLst/>
            </c:spPr>
            <c:txPr>
              <a:bodyPr/>
              <a:lstStyle/>
              <a:p>
                <a:pPr>
                  <a:defRPr sz="1200" b="1" i="0" u="none" strike="noStrike">
                    <a:solidFill>
                      <a:srgbClr val="1F1F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Turn N</c:v>
                </c:pt>
                <c:pt idx="1">
                  <c:v>Turn N+1</c:v>
                </c:pt>
                <c:pt idx="2">
                  <c:v>Turn N+2</c:v>
                </c:pt>
              </c:strCache>
            </c:strRef>
          </c:cat>
          <c:val>
            <c:numRef>
              <c:f>Sheet1!$B$2:$B$4</c:f>
              <c:numCache>
                <c:formatCode>General</c:formatCode>
                <c:ptCount val="3"/>
                <c:pt idx="0">
                  <c:v>5</c:v>
                </c:pt>
                <c:pt idx="1">
                  <c:v>10.4</c:v>
                </c:pt>
                <c:pt idx="2">
                  <c:v>16.100000000000001</c:v>
                </c:pt>
              </c:numCache>
            </c:numRef>
          </c:val>
          <c:extLst>
            <c:ext xmlns:c16="http://schemas.microsoft.com/office/drawing/2014/chart" uri="{C3380CC4-5D6E-409C-BE32-E72D297353CC}">
              <c16:uniqueId val="{00000000-8DDD-854B-A759-BE34FFFD34D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alpha val="8000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Context (with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50</c:v>
                </c:pt>
                <c:pt idx="1">
                  <c:v>331</c:v>
                </c:pt>
                <c:pt idx="2">
                  <c:v>528</c:v>
                </c:pt>
                <c:pt idx="3">
                  <c:v>668</c:v>
                </c:pt>
                <c:pt idx="4">
                  <c:v>766</c:v>
                </c:pt>
                <c:pt idx="5">
                  <c:v>835</c:v>
                </c:pt>
                <c:pt idx="6">
                  <c:v>884</c:v>
                </c:pt>
                <c:pt idx="7">
                  <c:v>918</c:v>
                </c:pt>
                <c:pt idx="8">
                  <c:v>942</c:v>
                </c:pt>
                <c:pt idx="9">
                  <c:v>959</c:v>
                </c:pt>
                <c:pt idx="10">
                  <c:v>50</c:v>
                </c:pt>
                <c:pt idx="11">
                  <c:v>331</c:v>
                </c:pt>
                <c:pt idx="12">
                  <c:v>528</c:v>
                </c:pt>
                <c:pt idx="13">
                  <c:v>668</c:v>
                </c:pt>
                <c:pt idx="14">
                  <c:v>766</c:v>
                </c:pt>
                <c:pt idx="15">
                  <c:v>835</c:v>
                </c:pt>
                <c:pt idx="16">
                  <c:v>884</c:v>
                </c:pt>
                <c:pt idx="17">
                  <c:v>918</c:v>
                </c:pt>
                <c:pt idx="18">
                  <c:v>942</c:v>
                </c:pt>
                <c:pt idx="19">
                  <c:v>959</c:v>
                </c:pt>
                <c:pt idx="20">
                  <c:v>50</c:v>
                </c:pt>
                <c:pt idx="21">
                  <c:v>331</c:v>
                </c:pt>
                <c:pt idx="22">
                  <c:v>528</c:v>
                </c:pt>
                <c:pt idx="23">
                  <c:v>668</c:v>
                </c:pt>
                <c:pt idx="24">
                  <c:v>766</c:v>
                </c:pt>
                <c:pt idx="25">
                  <c:v>835</c:v>
                </c:pt>
                <c:pt idx="26">
                  <c:v>884</c:v>
                </c:pt>
                <c:pt idx="27">
                  <c:v>918</c:v>
                </c:pt>
                <c:pt idx="28">
                  <c:v>942</c:v>
                </c:pt>
                <c:pt idx="29">
                  <c:v>959</c:v>
                </c:pt>
                <c:pt idx="30">
                  <c:v>50</c:v>
                </c:pt>
              </c:numCache>
            </c:numRef>
          </c:val>
          <c:smooth val="0"/>
          <c:extLst>
            <c:ext xmlns:c16="http://schemas.microsoft.com/office/drawing/2014/chart" uri="{C3380CC4-5D6E-409C-BE32-E72D297353CC}">
              <c16:uniqueId val="{00000000-4D9A-C14C-8EB8-30710E95F539}"/>
            </c:ext>
          </c:extLst>
        </c:ser>
        <c:ser>
          <c:idx val="1"/>
          <c:order val="1"/>
          <c:tx>
            <c:strRef>
              <c:f>Sheet1!$C$1</c:f>
              <c:strCache>
                <c:ptCount val="1"/>
                <c:pt idx="0">
                  <c:v>Window limit (1M)</c:v>
                </c:pt>
              </c:strCache>
            </c:strRef>
          </c:tx>
          <c:spPr>
            <a:ln w="31750" cap="flat">
              <a:solidFill>
                <a:srgbClr val="C7C2C4"/>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Sheet1!$C$2:$C$32</c:f>
              <c:numCache>
                <c:formatCode>General</c:formatCode>
                <c:ptCount val="31"/>
                <c:pt idx="0">
                  <c:v>1000</c:v>
                </c:pt>
                <c:pt idx="1">
                  <c:v>1000</c:v>
                </c:pt>
                <c:pt idx="2">
                  <c:v>1000</c:v>
                </c:pt>
                <c:pt idx="3">
                  <c:v>1000</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pt idx="21">
                  <c:v>1000</c:v>
                </c:pt>
                <c:pt idx="22">
                  <c:v>1000</c:v>
                </c:pt>
                <c:pt idx="23">
                  <c:v>1000</c:v>
                </c:pt>
                <c:pt idx="24">
                  <c:v>1000</c:v>
                </c:pt>
                <c:pt idx="25">
                  <c:v>1000</c:v>
                </c:pt>
                <c:pt idx="26">
                  <c:v>1000</c:v>
                </c:pt>
                <c:pt idx="27">
                  <c:v>1000</c:v>
                </c:pt>
                <c:pt idx="28">
                  <c:v>1000</c:v>
                </c:pt>
                <c:pt idx="29">
                  <c:v>1000</c:v>
                </c:pt>
                <c:pt idx="30">
                  <c:v>1000</c:v>
                </c:pt>
              </c:numCache>
            </c:numRef>
          </c:val>
          <c:smooth val="0"/>
          <c:extLst>
            <c:ext xmlns:c16="http://schemas.microsoft.com/office/drawing/2014/chart" uri="{C3380CC4-5D6E-409C-BE32-E72D297353CC}">
              <c16:uniqueId val="{00000001-4D9A-C14C-8EB8-30710E95F53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050"/>
          <c:min val="0"/>
        </c:scaling>
        <c:delete val="0"/>
        <c:axPos val="l"/>
        <c:majorGridlines>
          <c:spPr>
            <a:ln w="6350" cap="flat">
              <a:solidFill>
                <a:srgbClr val="E6E2E3"/>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25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With compaction</c:v>
                </c:pt>
              </c:strCache>
            </c:strRef>
          </c:tx>
          <c:spPr>
            <a:ln w="31750" cap="flat">
              <a:solidFill>
                <a:srgbClr val="A51C30"/>
              </a:solidFill>
              <a:prstDash val="solid"/>
              <a:round/>
            </a:ln>
            <a:effectLst/>
          </c:spPr>
          <c:marker>
            <c:symbol val="none"/>
          </c:marker>
          <c:cat>
            <c:strRef>
              <c:f>Sheet1!$A$2:$A$32</c:f>
              <c:strCache>
                <c:ptCount val="31"/>
                <c:pt idx="0">
                  <c:v>0</c:v>
                </c:pt>
                <c:pt idx="5">
                  <c:v>5</c:v>
                </c:pt>
                <c:pt idx="10">
                  <c:v>10</c:v>
                </c:pt>
                <c:pt idx="15">
                  <c:v>15</c:v>
                </c:pt>
                <c:pt idx="20">
                  <c:v>20</c:v>
                </c:pt>
                <c:pt idx="25">
                  <c:v>25</c:v>
                </c:pt>
                <c:pt idx="30">
                  <c:v>30</c:v>
                </c:pt>
              </c:strCache>
            </c:strRef>
          </c:cat>
          <c:val>
            <c:numRef>
              <c:f>Sheet1!$B$2:$B$32</c:f>
              <c:numCache>
                <c:formatCode>General</c:formatCode>
                <c:ptCount val="31"/>
                <c:pt idx="0">
                  <c:v>1</c:v>
                </c:pt>
                <c:pt idx="1">
                  <c:v>3.4</c:v>
                </c:pt>
                <c:pt idx="2">
                  <c:v>6.79</c:v>
                </c:pt>
                <c:pt idx="3">
                  <c:v>10.88</c:v>
                </c:pt>
                <c:pt idx="4">
                  <c:v>15.46</c:v>
                </c:pt>
                <c:pt idx="5">
                  <c:v>20.38</c:v>
                </c:pt>
                <c:pt idx="6">
                  <c:v>25.55</c:v>
                </c:pt>
                <c:pt idx="7">
                  <c:v>30.89</c:v>
                </c:pt>
                <c:pt idx="8">
                  <c:v>36.35</c:v>
                </c:pt>
                <c:pt idx="9">
                  <c:v>41.9</c:v>
                </c:pt>
                <c:pt idx="10">
                  <c:v>48.95</c:v>
                </c:pt>
                <c:pt idx="11">
                  <c:v>51.35</c:v>
                </c:pt>
                <c:pt idx="12">
                  <c:v>54.74</c:v>
                </c:pt>
                <c:pt idx="13">
                  <c:v>58.83</c:v>
                </c:pt>
                <c:pt idx="14">
                  <c:v>63.41</c:v>
                </c:pt>
                <c:pt idx="15">
                  <c:v>68.33</c:v>
                </c:pt>
                <c:pt idx="16">
                  <c:v>73.5</c:v>
                </c:pt>
                <c:pt idx="17">
                  <c:v>78.84</c:v>
                </c:pt>
                <c:pt idx="18">
                  <c:v>84.3</c:v>
                </c:pt>
                <c:pt idx="19">
                  <c:v>89.85</c:v>
                </c:pt>
                <c:pt idx="20">
                  <c:v>96.89</c:v>
                </c:pt>
                <c:pt idx="21">
                  <c:v>99.3</c:v>
                </c:pt>
                <c:pt idx="22">
                  <c:v>102.69</c:v>
                </c:pt>
                <c:pt idx="23">
                  <c:v>106.78</c:v>
                </c:pt>
                <c:pt idx="24">
                  <c:v>111.36</c:v>
                </c:pt>
                <c:pt idx="25">
                  <c:v>116.28</c:v>
                </c:pt>
                <c:pt idx="26">
                  <c:v>121.45</c:v>
                </c:pt>
                <c:pt idx="27">
                  <c:v>126.79</c:v>
                </c:pt>
                <c:pt idx="28">
                  <c:v>132.25</c:v>
                </c:pt>
                <c:pt idx="29">
                  <c:v>137.80000000000001</c:v>
                </c:pt>
                <c:pt idx="30">
                  <c:v>144.84</c:v>
                </c:pt>
              </c:numCache>
            </c:numRef>
          </c:val>
          <c:smooth val="0"/>
          <c:extLst>
            <c:ext xmlns:c16="http://schemas.microsoft.com/office/drawing/2014/chart" uri="{C3380CC4-5D6E-409C-BE32-E72D297353CC}">
              <c16:uniqueId val="{00000000-5FAB-5449-A74E-A4F436B5B502}"/>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6B6B6B"/>
                    </a:solidFill>
                    <a:latin typeface="Arial"/>
                  </a:defRPr>
                </a:pPr>
                <a:r>
                  <a:rPr lang="en-US" sz="900" b="0" i="0" u="none" strike="noStrike">
                    <a:solidFill>
                      <a:srgbClr val="6B6B6B"/>
                    </a:solidFill>
                    <a:latin typeface="Arial"/>
                  </a:rPr>
                  <a:t>Turn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6350" cap="flat">
              <a:solidFill>
                <a:srgbClr val="E6E2E3"/>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900">
              <a:solidFill>
                <a:srgbClr val="222222"/>
              </a:solidFill>
            </a:defRPr>
          </a:pPr>
          <a:endParaRPr lang="en-US"/>
        </a:p>
      </c:txPr>
    </c:legend>
    <c:plotVisOnly val="1"/>
    <c:dispBlanksAs val="span"/>
    <c:showDLblsOverMax val="1"/>
  </c:chart>
  <c:spPr>
    <a:solidFill>
      <a:srgbClr val="FFFFFF">
        <a:alpha val="8500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With compaction</c:v>
                </c:pt>
              </c:strCache>
            </c:strRef>
          </c:tx>
          <c:spPr>
            <a:ln w="38100" cap="flat">
              <a:solidFill>
                <a:srgbClr val="7A1220"/>
              </a:solidFill>
              <a:prstDash val="solid"/>
              <a:round/>
            </a:ln>
            <a:effectLst/>
          </c:spPr>
          <c:marker>
            <c:symbol val="none"/>
          </c:marker>
          <c:cat>
            <c:strRef>
              <c:f>Sheet1!$A$2:$A$14</c:f>
              <c:strCache>
                <c:ptCount val="13"/>
                <c:pt idx="0">
                  <c:v>0</c:v>
                </c:pt>
                <c:pt idx="1">
                  <c:v>2</c:v>
                </c:pt>
                <c:pt idx="2">
                  <c:v>4</c:v>
                </c:pt>
                <c:pt idx="3">
                  <c:v>6</c:v>
                </c:pt>
                <c:pt idx="4">
                  <c:v>8</c:v>
                </c:pt>
                <c:pt idx="5">
                  <c:v>10</c:v>
                </c:pt>
                <c:pt idx="6">
                  <c:v>12</c:v>
                </c:pt>
                <c:pt idx="7">
                  <c:v>14</c:v>
                </c:pt>
                <c:pt idx="8">
                  <c:v>16</c:v>
                </c:pt>
                <c:pt idx="9">
                  <c:v>18</c:v>
                </c:pt>
                <c:pt idx="10">
                  <c:v>20</c:v>
                </c:pt>
                <c:pt idx="11">
                  <c:v>22</c:v>
                </c:pt>
                <c:pt idx="12">
                  <c:v>24</c:v>
                </c:pt>
              </c:strCache>
            </c:strRef>
          </c:cat>
          <c:val>
            <c:numRef>
              <c:f>Sheet1!$B$2:$B$14</c:f>
              <c:numCache>
                <c:formatCode>General</c:formatCode>
                <c:ptCount val="13"/>
                <c:pt idx="0">
                  <c:v>0</c:v>
                </c:pt>
                <c:pt idx="1">
                  <c:v>0.01</c:v>
                </c:pt>
                <c:pt idx="2">
                  <c:v>4.2000000000000003E-2</c:v>
                </c:pt>
                <c:pt idx="3">
                  <c:v>9.4E-2</c:v>
                </c:pt>
                <c:pt idx="4">
                  <c:v>0.16600000000000001</c:v>
                </c:pt>
                <c:pt idx="5">
                  <c:v>0.26</c:v>
                </c:pt>
                <c:pt idx="6">
                  <c:v>0.374</c:v>
                </c:pt>
                <c:pt idx="7">
                  <c:v>0.51</c:v>
                </c:pt>
                <c:pt idx="8">
                  <c:v>0.66600000000000004</c:v>
                </c:pt>
                <c:pt idx="9">
                  <c:v>0.84199999999999997</c:v>
                </c:pt>
                <c:pt idx="10">
                  <c:v>1.04</c:v>
                </c:pt>
                <c:pt idx="11">
                  <c:v>1.258</c:v>
                </c:pt>
                <c:pt idx="12">
                  <c:v>1.498</c:v>
                </c:pt>
              </c:numCache>
            </c:numRef>
          </c:val>
          <c:smooth val="0"/>
          <c:extLst>
            <c:ext xmlns:c16="http://schemas.microsoft.com/office/drawing/2014/chart" uri="{C3380CC4-5D6E-409C-BE32-E72D297353CC}">
              <c16:uniqueId val="{00000000-C1E4-104E-817D-D111850EC0B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Conversation turns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6"/>
          <c:min val="0"/>
        </c:scaling>
        <c:delete val="0"/>
        <c:axPos val="l"/>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Cost per conversation</a:t>
                </a:r>
              </a:p>
            </c:rich>
          </c:tx>
          <c:overlay val="0"/>
        </c:title>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majorUnit val="0.4"/>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 cache</c:v>
                </c:pt>
              </c:strCache>
            </c:strRef>
          </c:tx>
          <c:spPr>
            <a:ln w="38100" cap="flat">
              <a:solidFill>
                <a:srgbClr val="7A1220"/>
              </a:solidFill>
              <a:prstDash val="dash"/>
              <a:round/>
            </a:ln>
            <a:effectLst/>
          </c:spPr>
          <c:marker>
            <c:symbol val="none"/>
          </c:marker>
          <c:cat>
            <c:strRef>
              <c:f>Sheet1!$A$2:$A$14</c:f>
              <c:strCache>
                <c:ptCount val="13"/>
                <c:pt idx="0">
                  <c:v>0</c:v>
                </c:pt>
                <c:pt idx="1">
                  <c:v>2</c:v>
                </c:pt>
                <c:pt idx="2">
                  <c:v>4</c:v>
                </c:pt>
                <c:pt idx="3">
                  <c:v>6</c:v>
                </c:pt>
                <c:pt idx="4">
                  <c:v>8</c:v>
                </c:pt>
                <c:pt idx="5">
                  <c:v>10</c:v>
                </c:pt>
                <c:pt idx="6">
                  <c:v>12</c:v>
                </c:pt>
                <c:pt idx="7">
                  <c:v>14</c:v>
                </c:pt>
                <c:pt idx="8">
                  <c:v>16</c:v>
                </c:pt>
                <c:pt idx="9">
                  <c:v>18</c:v>
                </c:pt>
                <c:pt idx="10">
                  <c:v>20</c:v>
                </c:pt>
                <c:pt idx="11">
                  <c:v>22</c:v>
                </c:pt>
                <c:pt idx="12">
                  <c:v>24</c:v>
                </c:pt>
              </c:strCache>
            </c:strRef>
          </c:cat>
          <c:val>
            <c:numRef>
              <c:f>Sheet1!$B$2:$B$14</c:f>
              <c:numCache>
                <c:formatCode>General</c:formatCode>
                <c:ptCount val="13"/>
                <c:pt idx="0">
                  <c:v>0</c:v>
                </c:pt>
                <c:pt idx="1">
                  <c:v>0.01</c:v>
                </c:pt>
                <c:pt idx="2">
                  <c:v>4.2000000000000003E-2</c:v>
                </c:pt>
                <c:pt idx="3">
                  <c:v>9.4E-2</c:v>
                </c:pt>
                <c:pt idx="4">
                  <c:v>0.16600000000000001</c:v>
                </c:pt>
                <c:pt idx="5">
                  <c:v>0.26</c:v>
                </c:pt>
                <c:pt idx="6">
                  <c:v>0.374</c:v>
                </c:pt>
                <c:pt idx="7">
                  <c:v>0.51</c:v>
                </c:pt>
                <c:pt idx="8">
                  <c:v>0.66600000000000004</c:v>
                </c:pt>
                <c:pt idx="9">
                  <c:v>0.84199999999999997</c:v>
                </c:pt>
                <c:pt idx="10">
                  <c:v>1.04</c:v>
                </c:pt>
                <c:pt idx="11">
                  <c:v>1.258</c:v>
                </c:pt>
                <c:pt idx="12">
                  <c:v>1.498</c:v>
                </c:pt>
              </c:numCache>
            </c:numRef>
          </c:val>
          <c:smooth val="0"/>
          <c:extLst>
            <c:ext xmlns:c16="http://schemas.microsoft.com/office/drawing/2014/chart" uri="{C3380CC4-5D6E-409C-BE32-E72D297353CC}">
              <c16:uniqueId val="{00000000-23B4-E340-9F8E-A3D9E4D37CE0}"/>
            </c:ext>
          </c:extLst>
        </c:ser>
        <c:ser>
          <c:idx val="1"/>
          <c:order val="1"/>
          <c:tx>
            <c:strRef>
              <c:f>Sheet1!$C$1</c:f>
              <c:strCache>
                <c:ptCount val="1"/>
                <c:pt idx="0">
                  <c:v>With cache</c:v>
                </c:pt>
              </c:strCache>
            </c:strRef>
          </c:tx>
          <c:spPr>
            <a:ln w="38100" cap="flat">
              <a:solidFill>
                <a:srgbClr val="14213D"/>
              </a:solidFill>
              <a:prstDash val="solid"/>
              <a:round/>
            </a:ln>
            <a:effectLst/>
          </c:spPr>
          <c:marker>
            <c:symbol val="none"/>
          </c:marker>
          <c:cat>
            <c:strRef>
              <c:f>Sheet1!$A$2:$A$14</c:f>
              <c:strCache>
                <c:ptCount val="13"/>
                <c:pt idx="0">
                  <c:v>0</c:v>
                </c:pt>
                <c:pt idx="1">
                  <c:v>2</c:v>
                </c:pt>
                <c:pt idx="2">
                  <c:v>4</c:v>
                </c:pt>
                <c:pt idx="3">
                  <c:v>6</c:v>
                </c:pt>
                <c:pt idx="4">
                  <c:v>8</c:v>
                </c:pt>
                <c:pt idx="5">
                  <c:v>10</c:v>
                </c:pt>
                <c:pt idx="6">
                  <c:v>12</c:v>
                </c:pt>
                <c:pt idx="7">
                  <c:v>14</c:v>
                </c:pt>
                <c:pt idx="8">
                  <c:v>16</c:v>
                </c:pt>
                <c:pt idx="9">
                  <c:v>18</c:v>
                </c:pt>
                <c:pt idx="10">
                  <c:v>20</c:v>
                </c:pt>
                <c:pt idx="11">
                  <c:v>22</c:v>
                </c:pt>
                <c:pt idx="12">
                  <c:v>24</c:v>
                </c:pt>
              </c:strCache>
            </c:strRef>
          </c:cat>
          <c:val>
            <c:numRef>
              <c:f>Sheet1!$C$2:$C$14</c:f>
              <c:numCache>
                <c:formatCode>General</c:formatCode>
                <c:ptCount val="13"/>
                <c:pt idx="0">
                  <c:v>0</c:v>
                </c:pt>
                <c:pt idx="1">
                  <c:v>6.4000000000000001E-2</c:v>
                </c:pt>
                <c:pt idx="2">
                  <c:v>0.13600000000000001</c:v>
                </c:pt>
                <c:pt idx="3">
                  <c:v>0.216</c:v>
                </c:pt>
                <c:pt idx="4">
                  <c:v>0.30399999999999999</c:v>
                </c:pt>
                <c:pt idx="5">
                  <c:v>0.4</c:v>
                </c:pt>
                <c:pt idx="6">
                  <c:v>0.504</c:v>
                </c:pt>
                <c:pt idx="7">
                  <c:v>0.61599999999999999</c:v>
                </c:pt>
                <c:pt idx="8">
                  <c:v>0.73599999999999999</c:v>
                </c:pt>
                <c:pt idx="9">
                  <c:v>0.86399999999999999</c:v>
                </c:pt>
                <c:pt idx="10">
                  <c:v>1</c:v>
                </c:pt>
                <c:pt idx="11">
                  <c:v>1.1439999999999999</c:v>
                </c:pt>
                <c:pt idx="12">
                  <c:v>1.296</c:v>
                </c:pt>
              </c:numCache>
            </c:numRef>
          </c:val>
          <c:smooth val="0"/>
          <c:extLst>
            <c:ext xmlns:c16="http://schemas.microsoft.com/office/drawing/2014/chart" uri="{C3380CC4-5D6E-409C-BE32-E72D297353CC}">
              <c16:uniqueId val="{00000001-23B4-E340-9F8E-A3D9E4D37CE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Conversation turns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6"/>
          <c:min val="0"/>
        </c:scaling>
        <c:delete val="0"/>
        <c:axPos val="l"/>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majorUnit val="0.4"/>
      </c:valAx>
      <c:spPr>
        <a:noFill/>
        <a:ln>
          <a:noFill/>
        </a:ln>
        <a:effectLst/>
      </c:spPr>
    </c:plotArea>
    <c:legend>
      <c:legendPos val="b"/>
      <c:overlay val="0"/>
      <c:txPr>
        <a:bodyPr/>
        <a:lstStyle/>
        <a:p>
          <a:pPr>
            <a:defRPr sz="1000">
              <a:solidFill>
                <a:srgbClr val="5F5E5A"/>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Cost per conversation</c:v>
                </c:pt>
              </c:strCache>
            </c:strRef>
          </c:tx>
          <c:spPr>
            <a:ln w="38100" cap="flat">
              <a:solidFill>
                <a:srgbClr val="0F6E56"/>
              </a:solidFill>
              <a:prstDash val="solid"/>
              <a:round/>
            </a:ln>
            <a:effectLst/>
          </c:spPr>
          <c:marker>
            <c:symbol val="none"/>
          </c:marker>
          <c:cat>
            <c:strRef>
              <c:f>Sheet1!$A$2:$A$8</c:f>
              <c:strCache>
                <c:ptCount val="7"/>
                <c:pt idx="0">
                  <c:v>10</c:v>
                </c:pt>
                <c:pt idx="1">
                  <c:v>25</c:v>
                </c:pt>
                <c:pt idx="2">
                  <c:v>40</c:v>
                </c:pt>
                <c:pt idx="3">
                  <c:v>55</c:v>
                </c:pt>
                <c:pt idx="4">
                  <c:v>70</c:v>
                </c:pt>
                <c:pt idx="5">
                  <c:v>85</c:v>
                </c:pt>
                <c:pt idx="6">
                  <c:v>100</c:v>
                </c:pt>
              </c:strCache>
            </c:strRef>
          </c:cat>
          <c:val>
            <c:numRef>
              <c:f>Sheet1!$B$2:$B$8</c:f>
              <c:numCache>
                <c:formatCode>General</c:formatCode>
                <c:ptCount val="7"/>
                <c:pt idx="0">
                  <c:v>1.5</c:v>
                </c:pt>
                <c:pt idx="1">
                  <c:v>0.72</c:v>
                </c:pt>
                <c:pt idx="2">
                  <c:v>0.46</c:v>
                </c:pt>
                <c:pt idx="3">
                  <c:v>0.35</c:v>
                </c:pt>
                <c:pt idx="4">
                  <c:v>0.28000000000000003</c:v>
                </c:pt>
                <c:pt idx="5">
                  <c:v>0.24</c:v>
                </c:pt>
                <c:pt idx="6">
                  <c:v>0.21</c:v>
                </c:pt>
              </c:numCache>
            </c:numRef>
          </c:val>
          <c:smooth val="0"/>
          <c:extLst>
            <c:ext xmlns:c16="http://schemas.microsoft.com/office/drawing/2014/chart" uri="{C3380CC4-5D6E-409C-BE32-E72D297353CC}">
              <c16:uniqueId val="{00000000-173E-CF46-B776-01D33B40FD9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Utilization (active users)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2"/>
        <c:crosses val="autoZero"/>
        <c:auto val="1"/>
        <c:lblAlgn val="ctr"/>
        <c:lblOffset val="100"/>
        <c:noMultiLvlLbl val="1"/>
      </c:catAx>
      <c:valAx>
        <c:axId val="2094734552"/>
        <c:scaling>
          <c:orientation val="minMax"/>
          <c:max val="1.6"/>
          <c:min val="0"/>
        </c:scaling>
        <c:delete val="0"/>
        <c:axPos val="l"/>
        <c:title>
          <c:tx>
            <c:rich>
              <a:bodyPr/>
              <a:lstStyle/>
              <a:p>
                <a:pPr>
                  <a:defRPr sz="1100" b="0" i="0" u="none" strike="noStrike">
                    <a:solidFill>
                      <a:srgbClr val="5F5E5A"/>
                    </a:solidFill>
                    <a:latin typeface="Arial"/>
                  </a:defRPr>
                </a:pPr>
                <a:r>
                  <a:rPr lang="en-US" sz="1100" b="0" i="0" u="none" strike="noStrike">
                    <a:solidFill>
                      <a:srgbClr val="5F5E5A"/>
                    </a:solidFill>
                    <a:latin typeface="Arial"/>
                  </a:rPr>
                  <a:t>Cost per conversation</a:t>
                </a:r>
              </a:p>
            </c:rich>
          </c:tx>
          <c:overlay val="0"/>
        </c:title>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E5A"/>
                </a:solidFill>
                <a:latin typeface="Arial"/>
              </a:defRPr>
            </a:pPr>
            <a:endParaRPr lang="en-US"/>
          </a:p>
        </c:txPr>
        <c:crossAx val="2094734554"/>
        <c:crosses val="autoZero"/>
        <c:crossBetween val="between"/>
        <c:majorUnit val="0.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49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9286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7864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3082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171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6753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94DCC66-9B02-224C-A2DB-3E4D18413F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831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D05EB-EB4F-15C0-F666-81A44E33A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ADCD4-DD55-5634-FC71-602DD08EF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031E0-6916-58C0-E8E7-5630DD5355DD}"/>
              </a:ext>
            </a:extLst>
          </p:cNvPr>
          <p:cNvSpPr>
            <a:spLocks noGrp="1"/>
          </p:cNvSpPr>
          <p:nvPr>
            <p:ph type="body" idx="1"/>
          </p:nvPr>
        </p:nvSpPr>
        <p:spPr/>
        <p:txBody>
          <a:bodyPr/>
          <a:lstStyle/>
          <a:p>
            <a:pPr marL="0" marR="0" lvl="0" indent="0" algn="l" defTabSz="914400">
              <a:lnSpc>
                <a:spcPct val="100000"/>
              </a:lnSpc>
              <a:spcBef>
                <a:spcPts val="0"/>
              </a:spcBef>
              <a:spcAft>
                <a:spcPts val="0"/>
              </a:spcAft>
              <a:buNone/>
              <a:tabLst/>
              <a:defRPr/>
            </a:pPr>
            <a:r>
              <a:rPr lang="en-US" b="1">
                <a:solidFill>
                  <a:srgbClr val="101010"/>
                </a:solidFill>
                <a:latin typeface="Calibri"/>
              </a:rPr>
              <a:t>Ted</a:t>
            </a:r>
            <a:endParaRPr lang="en-US"/>
          </a:p>
          <a:p>
            <a:endParaRPr lang="en-US"/>
          </a:p>
        </p:txBody>
      </p:sp>
      <p:sp>
        <p:nvSpPr>
          <p:cNvPr id="4" name="Slide Number Placeholder 3">
            <a:extLst>
              <a:ext uri="{FF2B5EF4-FFF2-40B4-BE49-F238E27FC236}">
                <a16:creationId xmlns:a16="http://schemas.microsoft.com/office/drawing/2014/main" id="{A94C1B6E-B37F-63C8-F6D5-04BDB1111AD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8683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E0F1-7A8D-8D34-E052-7CC52B3D97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BD36D-4603-576A-164C-53ADF56B3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9F7CE-D73B-2E86-2DAC-EE60009EE6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101010"/>
                </a:solidFill>
                <a:latin typeface="Calibri"/>
              </a:rPr>
              <a:t>Ted</a:t>
            </a:r>
            <a:endParaRPr lang="en-US" sz="1200" b="1" i="0">
              <a:solidFill>
                <a:srgbClr val="101010"/>
              </a:solidFill>
              <a:latin typeface="Calibri"/>
            </a:endParaRPr>
          </a:p>
          <a:p>
            <a:endParaRPr lang="en-US"/>
          </a:p>
        </p:txBody>
      </p:sp>
      <p:sp>
        <p:nvSpPr>
          <p:cNvPr id="4" name="Slide Number Placeholder 3">
            <a:extLst>
              <a:ext uri="{FF2B5EF4-FFF2-40B4-BE49-F238E27FC236}">
                <a16:creationId xmlns:a16="http://schemas.microsoft.com/office/drawing/2014/main" id="{765E665E-B2E1-3EE7-2DFB-00F05FDDFE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00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using my laptop fire up </a:t>
            </a:r>
            <a:r>
              <a:rPr lang="en-US" err="1"/>
              <a:t>lm</a:t>
            </a:r>
            <a:r>
              <a:rPr lang="en-US"/>
              <a:t> studio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101010"/>
                </a:solidFill>
                <a:latin typeface="Calibri"/>
              </a:rPr>
              <a:t>Ted</a:t>
            </a:r>
            <a:endParaRPr lang="en-US" sz="1200" b="1" i="0">
              <a:solidFill>
                <a:srgbClr val="101010"/>
              </a:solidFill>
              <a:latin typeface="Calibri"/>
              <a:ea typeface="Calibri"/>
              <a:cs typeface="Calibri"/>
            </a:endParaRPr>
          </a:p>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60908-D4F9-846F-2053-34E73565C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54044-A509-C3A3-A873-0110DC57A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6384F-615A-6F0F-1F9B-FD7DC31FCD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rgbClr val="101010"/>
                </a:solidFill>
                <a:latin typeface="Calibri"/>
              </a:rPr>
              <a:t>Ted</a:t>
            </a:r>
            <a:endParaRPr lang="en-US" sz="1200" b="1" i="0">
              <a:solidFill>
                <a:srgbClr val="101010"/>
              </a:solidFill>
              <a:latin typeface="Calibri"/>
              <a:ea typeface="Calibri"/>
              <a:cs typeface="Calibri"/>
            </a:endParaRPr>
          </a:p>
          <a:p>
            <a:endParaRPr lang="en-US"/>
          </a:p>
        </p:txBody>
      </p:sp>
      <p:sp>
        <p:nvSpPr>
          <p:cNvPr id="4" name="Slide Number Placeholder 3">
            <a:extLst>
              <a:ext uri="{FF2B5EF4-FFF2-40B4-BE49-F238E27FC236}">
                <a16:creationId xmlns:a16="http://schemas.microsoft.com/office/drawing/2014/main" id="{2F1480D7-876A-A681-7EBB-D472D17C458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9753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7ACC2-7CBB-D68E-B196-62D8C98CC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5A475-E95E-028A-8E81-1977E88CD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D5417-3C97-4972-18B5-55DC09C782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98C120-2E1C-FBE5-A200-A4D87186330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2541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41A33"/>
                </a:solidFill>
                <a:latin typeface="Courier New" pitchFamily="34" charset="0"/>
                <a:ea typeface="Courier New" pitchFamily="34" charset="-122"/>
                <a:cs typeface="Courier New" pitchFamily="34" charset="-120"/>
              </a:rPr>
              <a:t>C(t) = </a:t>
            </a:r>
            <a:r>
              <a:rPr lang="en-US" sz="1200" b="1" dirty="0" err="1">
                <a:solidFill>
                  <a:srgbClr val="241A33"/>
                </a:solidFill>
                <a:latin typeface="Courier New" pitchFamily="34" charset="0"/>
                <a:ea typeface="Courier New" pitchFamily="34" charset="-122"/>
                <a:cs typeface="Courier New" pitchFamily="34" charset="-120"/>
              </a:rPr>
              <a:t>Cmax</a:t>
            </a:r>
            <a:r>
              <a:rPr lang="en-US" sz="1200" b="1" dirty="0">
                <a:solidFill>
                  <a:srgbClr val="241A33"/>
                </a:solidFill>
                <a:latin typeface="Courier New" pitchFamily="34" charset="0"/>
                <a:ea typeface="Courier New" pitchFamily="34" charset="-122"/>
                <a:cs typeface="Courier New" pitchFamily="34" charset="-120"/>
              </a:rPr>
              <a:t> - (</a:t>
            </a:r>
            <a:r>
              <a:rPr lang="en-US" sz="1200" b="1" dirty="0" err="1">
                <a:solidFill>
                  <a:srgbClr val="241A33"/>
                </a:solidFill>
                <a:latin typeface="Courier New" pitchFamily="34" charset="0"/>
                <a:ea typeface="Courier New" pitchFamily="34" charset="-122"/>
                <a:cs typeface="Courier New" pitchFamily="34" charset="-120"/>
              </a:rPr>
              <a:t>Cmax</a:t>
            </a:r>
            <a:r>
              <a:rPr lang="en-US" sz="1200" b="1" dirty="0">
                <a:solidFill>
                  <a:srgbClr val="241A33"/>
                </a:solidFill>
                <a:latin typeface="Courier New" pitchFamily="34" charset="0"/>
                <a:ea typeface="Courier New" pitchFamily="34" charset="-122"/>
                <a:cs typeface="Courier New" pitchFamily="34" charset="-120"/>
              </a:rPr>
              <a:t> - </a:t>
            </a:r>
            <a:r>
              <a:rPr lang="en-US" sz="1200" b="1" dirty="0" err="1">
                <a:solidFill>
                  <a:srgbClr val="241A33"/>
                </a:solidFill>
                <a:latin typeface="Courier New" pitchFamily="34" charset="0"/>
                <a:ea typeface="Courier New" pitchFamily="34" charset="-122"/>
                <a:cs typeface="Courier New" pitchFamily="34" charset="-120"/>
              </a:rPr>
              <a:t>Cmin</a:t>
            </a:r>
            <a:r>
              <a:rPr lang="en-US" sz="1200" b="1" dirty="0">
                <a:solidFill>
                  <a:srgbClr val="241A33"/>
                </a:solidFill>
                <a:latin typeface="Courier New" pitchFamily="34" charset="0"/>
                <a:ea typeface="Courier New" pitchFamily="34" charset="-122"/>
                <a:cs typeface="Courier New" pitchFamily="34" charset="-120"/>
              </a:rPr>
              <a:t>) * e^(-r * t')</a:t>
            </a:r>
            <a:br>
              <a:rPr lang="en-US" dirty="0"/>
            </a:br>
            <a:r>
              <a:rPr lang="en-US" dirty="0"/>
              <a:t>At turn t, context size equals the max size minus the span from minimum to max, scaled by an exponential decay term (Euler's number, about 2.718, raised to negative rate times turns since the last compaction), which makes the context start low after each compaction and rise toward the maximum</a:t>
            </a:r>
            <a:br>
              <a:rPr lang="en-US" dirty="0"/>
            </a:br>
            <a:br>
              <a:rPr lang="en-US" dirty="0"/>
            </a:br>
            <a:r>
              <a:rPr lang="en-US" dirty="0"/>
              <a:t>C(t) = The context size in tokens at turn t (the value the equation solves for)</a:t>
            </a:r>
          </a:p>
          <a:p>
            <a:r>
              <a:rPr lang="en-US" dirty="0" err="1"/>
              <a:t>Cmax</a:t>
            </a:r>
            <a:r>
              <a:rPr lang="en-US" dirty="0"/>
              <a:t> = The maximum context size, the ceiling the curve grows toward (1,000,000 tokens in the slide)</a:t>
            </a:r>
          </a:p>
          <a:p>
            <a:r>
              <a:rPr lang="en-US" dirty="0" err="1"/>
              <a:t>Cmin</a:t>
            </a:r>
            <a:r>
              <a:rPr lang="en-US" dirty="0"/>
              <a:t> = The post-compaction minimum context size, the floor C(t) starts from right after each compaction (50,000 tokens in the slide)</a:t>
            </a:r>
          </a:p>
          <a:p>
            <a:r>
              <a:rPr lang="en-US" dirty="0"/>
              <a:t>(</a:t>
            </a:r>
            <a:r>
              <a:rPr lang="en-US" dirty="0" err="1"/>
              <a:t>Cmax</a:t>
            </a:r>
            <a:r>
              <a:rPr lang="en-US" dirty="0"/>
              <a:t> - </a:t>
            </a:r>
            <a:r>
              <a:rPr lang="en-US" dirty="0" err="1"/>
              <a:t>Cmin</a:t>
            </a:r>
            <a:r>
              <a:rPr lang="en-US" dirty="0"/>
              <a:t>) = The growth span, the total range the context can climb across in one cycle, from the floor up to the ceiling (950,000 tokens in the slide)</a:t>
            </a:r>
          </a:p>
          <a:p>
            <a:r>
              <a:rPr lang="en-US" dirty="0"/>
              <a:t>e  = Euler's number, about 2.718, the base of the natural exponential</a:t>
            </a:r>
          </a:p>
          <a:p>
            <a:r>
              <a:rPr lang="en-US" dirty="0"/>
              <a:t>-r = The negative growth rate, the constant that sets how fast the context climbs toward </a:t>
            </a:r>
            <a:r>
              <a:rPr lang="en-US" dirty="0" err="1"/>
              <a:t>Cmax</a:t>
            </a:r>
            <a:r>
              <a:rPr lang="en-US" dirty="0"/>
              <a:t> (r = 0.35 per turn in the slide; negative because it drives exponential decay of the gap to the ceiling)</a:t>
            </a:r>
          </a:p>
          <a:p>
            <a:r>
              <a:rPr lang="en-US" dirty="0"/>
              <a:t>t’ = Turns since the last compaction, which resets to 0 each time compaction fires (not the absolute turn number)</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r>
              <a:rPr lang="en-US" sz="1200" b="1" dirty="0">
                <a:solidFill>
                  <a:srgbClr val="241A33"/>
                </a:solidFill>
                <a:latin typeface="Courier New" pitchFamily="34" charset="0"/>
                <a:ea typeface="Courier New" pitchFamily="34" charset="-122"/>
                <a:cs typeface="Courier New" pitchFamily="34" charset="-120"/>
              </a:rPr>
              <a:t>Cost(N) = SUM[t=1..N] ( 5*C(t) + 25*O ) / 1e6</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Cumulative cost through turn N is the sum over every turn of that turn's input tokens times $5 plus its output tokens times $25, divided by one million, so each turn re-adds the cost of the whole context plus the new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Cost(N) = The cumulative cost in dollars through turn N (the value the equation solves for)</a:t>
            </a:r>
          </a:p>
          <a:p>
            <a:r>
              <a:rPr lang="en-US" dirty="0"/>
              <a:t>SUM[t=1..N] = Sum over every turn from the first (t = 1) through turn N, adding up each turn's cost</a:t>
            </a:r>
          </a:p>
          <a:p>
            <a:r>
              <a:rPr lang="en-US" dirty="0"/>
              <a:t>t = The turn index being summed over, running from 1 to N</a:t>
            </a:r>
          </a:p>
          <a:p>
            <a:r>
              <a:rPr lang="en-US" dirty="0"/>
              <a:t>N = The turn through which the cost is accumulated (the last turn in the sum)</a:t>
            </a:r>
          </a:p>
          <a:p>
            <a:r>
              <a:rPr lang="en-US" dirty="0"/>
              <a:t>5 = The input price, $5 per million tokens</a:t>
            </a:r>
          </a:p>
          <a:p>
            <a:r>
              <a:rPr lang="en-US" dirty="0"/>
              <a:t>C(t) = The input tokens at turn t, equal to the context size re-sent that turn (from the other equation)</a:t>
            </a:r>
          </a:p>
          <a:p>
            <a:r>
              <a:rPr lang="en-US" dirty="0"/>
              <a:t>5 * C(t) = That turn's input cost, before scaling, in dollars per million tokens</a:t>
            </a:r>
          </a:p>
          <a:p>
            <a:r>
              <a:rPr lang="en-US" dirty="0"/>
              <a:t>25 = The output price, $25 per million tokens</a:t>
            </a:r>
          </a:p>
          <a:p>
            <a:r>
              <a:rPr lang="en-US" dirty="0"/>
              <a:t>O = The output tokens generated that turn (a constant 30,000 in the slide)</a:t>
            </a:r>
          </a:p>
          <a:p>
            <a:r>
              <a:rPr lang="en-US" dirty="0"/>
              <a:t>25 * O = That turn's output cost, before scaling, in dollars per million tokens</a:t>
            </a:r>
          </a:p>
          <a:p>
            <a:r>
              <a:rPr lang="en-US" dirty="0"/>
              <a:t>1e6 = One million (10^6), the divisor that converts the per-million prices into actual dollars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panels deliberately do not share one cost model. Panels 1 and 2 are consumption-world per-conversation cost: no cache vs cached KV at the same API rate. Panel 3 changes the axis on purpose: for fixed GPU capex, per-conversation cost falls as utilization rises, so the objective flips from consume less to utilize more. Numbers are current ballpark figures as of mid-2026.</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FA703-F8CB-616A-93F7-81C980A37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487FC-55E3-5C8A-1F83-7B44B9E77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B0EF7-47E7-0210-FB39-39F811262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82D5F-49DA-4B2E-D5D4-A3FBB27DBAF1}"/>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83711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08C81-F54B-E993-2DCB-24BD7401F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7476C-67F5-5804-81B7-FA21FB57F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772AF-CDC8-1F7A-13FC-E7E4ACF683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FD0CE5-C58A-05D9-CD02-AAD357FBF89B}"/>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661612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lunch. Remind students the system prompt they save here is the one they will extend in the Repo 1 Build this afternoon.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3.xml"/><Relationship Id="rId1" Type="http://schemas.openxmlformats.org/officeDocument/2006/relationships/tags" Target="../tags/tag1.xml"/><Relationship Id="rId4" Type="http://schemas.openxmlformats.org/officeDocument/2006/relationships/image" Target="../media/image9.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Subtitle 2"/>
          <p:cNvSpPr>
            <a:spLocks noGrp="1"/>
          </p:cNvSpPr>
          <p:nvPr>
            <p:ph type="subTitle" idx="1"/>
          </p:nvPr>
        </p:nvSpPr>
        <p:spPr>
          <a:xfrm>
            <a:off x="381000" y="857250"/>
            <a:ext cx="11430000"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60561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3816-F2C0-B26C-72BD-B53B8DDDFA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05A158-5ACD-5467-C43B-DFF19A5FA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D0D99B-8F81-1FA2-BD47-47CF7D01662A}"/>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5" name="Footer Placeholder 4">
            <a:extLst>
              <a:ext uri="{FF2B5EF4-FFF2-40B4-BE49-F238E27FC236}">
                <a16:creationId xmlns:a16="http://schemas.microsoft.com/office/drawing/2014/main" id="{E733405C-58EE-2E86-7F72-C658CFEEFD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E362C2-AC05-B99B-26FA-4A5BFE485FB2}"/>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026530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BD87-B7CE-57F0-82CF-67DA40FBB4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0F9AB4-7712-6123-3CED-9B6FC7F6A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FE70AF-01BD-4476-FB38-752BBF64F157}"/>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5" name="Footer Placeholder 4">
            <a:extLst>
              <a:ext uri="{FF2B5EF4-FFF2-40B4-BE49-F238E27FC236}">
                <a16:creationId xmlns:a16="http://schemas.microsoft.com/office/drawing/2014/main" id="{E9812EC6-CD0F-156E-28B3-5EB810D89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F548CA-759B-E2B1-D5D3-8905F5DE991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3986791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1927-74BE-CF14-98ED-4C9B9726B8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86ED14-E5C5-E9EB-DCA9-92995D4325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D60176-86ED-0592-D461-514708C95297}"/>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5" name="Footer Placeholder 4">
            <a:extLst>
              <a:ext uri="{FF2B5EF4-FFF2-40B4-BE49-F238E27FC236}">
                <a16:creationId xmlns:a16="http://schemas.microsoft.com/office/drawing/2014/main" id="{472E56BA-357F-6EC9-5BD9-0AA991E7F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253145-8930-48A4-9DB3-33B24CEA949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3985795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1D1B-02AB-BCC8-F7B4-AA79ED58B9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C07E1E-4883-06E3-B166-5DF78402D4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A2F557-FF29-0159-15B2-7F8B6DD7FF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8252F7-E198-0669-6932-154C0E0048B4}"/>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6" name="Footer Placeholder 5">
            <a:extLst>
              <a:ext uri="{FF2B5EF4-FFF2-40B4-BE49-F238E27FC236}">
                <a16:creationId xmlns:a16="http://schemas.microsoft.com/office/drawing/2014/main" id="{52C4FAE1-0D3E-4D76-BF24-8184AA90E8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11ACB4-6BBF-28D3-D40F-EC0AE5CC384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4119870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48BCF-5711-CA03-0A00-80F20B195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51D69A-B0A0-2034-2A98-E6C78992C0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3F8756-22A1-BC79-8C37-0AFD11100A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04228D-44ED-F589-A177-091BC1FDC1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6CEA1D-F584-39E9-859D-1EAE05B6A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9349A-7B44-28E3-EC81-16492CA1F05A}"/>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8" name="Footer Placeholder 7">
            <a:extLst>
              <a:ext uri="{FF2B5EF4-FFF2-40B4-BE49-F238E27FC236}">
                <a16:creationId xmlns:a16="http://schemas.microsoft.com/office/drawing/2014/main" id="{B579D90E-DD1D-8F8B-9FAA-7C687BBBE6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DBBA6D-A48E-92CB-318F-D030CFC2293D}"/>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3776938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EA80-9FA0-F622-0656-A169CCDD1D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09AC0D-0D5A-4742-D202-8611FD6921AA}"/>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4" name="Footer Placeholder 3">
            <a:extLst>
              <a:ext uri="{FF2B5EF4-FFF2-40B4-BE49-F238E27FC236}">
                <a16:creationId xmlns:a16="http://schemas.microsoft.com/office/drawing/2014/main" id="{79A5554C-E068-44F7-C03C-2D031CA36C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E7F5E2-EEE2-8D38-F80D-5ABEF899E943}"/>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799117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7EED68-6DF5-98D9-B869-A90FBEEB0DD4}"/>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3" name="Footer Placeholder 2">
            <a:extLst>
              <a:ext uri="{FF2B5EF4-FFF2-40B4-BE49-F238E27FC236}">
                <a16:creationId xmlns:a16="http://schemas.microsoft.com/office/drawing/2014/main" id="{13D3FFBB-740D-07BB-D76F-1011561D80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3B181F-1EE6-E3EB-6DEF-B0B472FDAD16}"/>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923555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6769-E817-9F9A-E2E1-1E646991F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28DE6E-D519-839B-CC35-1BAF0BFA87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AAC8C3-16B4-8A91-3188-E4CDA7802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10EC2-46C3-61A2-4042-B9AB0EA3517B}"/>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6" name="Footer Placeholder 5">
            <a:extLst>
              <a:ext uri="{FF2B5EF4-FFF2-40B4-BE49-F238E27FC236}">
                <a16:creationId xmlns:a16="http://schemas.microsoft.com/office/drawing/2014/main" id="{87917E75-A91E-B053-5FA6-DFEC7999E5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5C352-91B6-27DE-AE05-4D645B7EBC8A}"/>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42627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D969-23DC-90E5-5DC4-8B9697F2F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11E4F2-D02E-0296-8171-1E1AC89632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E10EFC-F315-2AA9-8B52-6750DA23CE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B8F0D9-3370-F48C-F4D1-A51858455401}"/>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6" name="Footer Placeholder 5">
            <a:extLst>
              <a:ext uri="{FF2B5EF4-FFF2-40B4-BE49-F238E27FC236}">
                <a16:creationId xmlns:a16="http://schemas.microsoft.com/office/drawing/2014/main" id="{DE04CBBA-AC62-11AB-1FFA-281637569E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1D1DA9-879A-C020-AD6F-94CA984A470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444165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A695B-9F32-0674-2C08-4D2754A1B4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CF1D59-AC73-1336-984F-89FFD55337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893619-9C9B-8F98-7AF5-6F156E6AAB6C}"/>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5" name="Footer Placeholder 4">
            <a:extLst>
              <a:ext uri="{FF2B5EF4-FFF2-40B4-BE49-F238E27FC236}">
                <a16:creationId xmlns:a16="http://schemas.microsoft.com/office/drawing/2014/main" id="{57D4CD2D-BA55-0B0D-41FD-9970E28FC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E26984-CF46-9F21-7AE2-3EF80F5EAB1D}"/>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775960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F16CA5-D812-C092-1D99-9B1E97674B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4BFE93-4602-A41E-9A28-B676576B33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ECEAE5-5860-DD75-647B-F7AB653722C8}"/>
              </a:ext>
            </a:extLst>
          </p:cNvPr>
          <p:cNvSpPr>
            <a:spLocks noGrp="1"/>
          </p:cNvSpPr>
          <p:nvPr>
            <p:ph type="dt" sz="half" idx="10"/>
          </p:nvPr>
        </p:nvSpPr>
        <p:spPr/>
        <p:txBody>
          <a:bodyPr/>
          <a:lstStyle/>
          <a:p>
            <a:fld id="{AD5B151E-BA0B-1545-BCB0-E6DC0FCDF45A}" type="datetimeFigureOut">
              <a:rPr lang="en-US" smtClean="0"/>
              <a:t>8/1/26</a:t>
            </a:fld>
            <a:endParaRPr lang="en-US"/>
          </a:p>
        </p:txBody>
      </p:sp>
      <p:sp>
        <p:nvSpPr>
          <p:cNvPr id="5" name="Footer Placeholder 4">
            <a:extLst>
              <a:ext uri="{FF2B5EF4-FFF2-40B4-BE49-F238E27FC236}">
                <a16:creationId xmlns:a16="http://schemas.microsoft.com/office/drawing/2014/main" id="{5AEDEC05-C177-525E-8E79-453F58F68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1892AB-B5F4-B3AB-089C-67C59FCA199B}"/>
              </a:ext>
            </a:extLst>
          </p:cNvPr>
          <p:cNvSpPr>
            <a:spLocks noGrp="1"/>
          </p:cNvSpPr>
          <p:nvPr>
            <p:ph type="sldNum" sz="quarter" idx="12"/>
          </p:nvPr>
        </p:nvSpPr>
        <p:spPr/>
        <p:txBody>
          <a:bodyPr/>
          <a:lstStyle/>
          <a:p>
            <a:fld id="{11D57AE7-AC4C-0D48-80BC-0F2EE5480964}" type="slidenum">
              <a:rPr lang="en-US" smtClean="0"/>
              <a:t>‹#›</a:t>
            </a:fld>
            <a:endParaRPr lang="en-US"/>
          </a:p>
        </p:txBody>
      </p:sp>
    </p:spTree>
    <p:extLst>
      <p:ext uri="{BB962C8B-B14F-4D97-AF65-F5344CB8AC3E}">
        <p14:creationId xmlns:p14="http://schemas.microsoft.com/office/powerpoint/2010/main" val="208785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78759" y="5090333"/>
            <a:ext cx="9715500" cy="747897"/>
          </a:xfrm>
          <a:prstGeom prst="rect">
            <a:avLst/>
          </a:prstGeom>
        </p:spPr>
        <p:txBody>
          <a:bodyPr wrap="square" lIns="0" tIns="0" rIns="0" bIns="0" anchor="b" anchorCtr="0">
            <a:spAutoFit/>
          </a:bodyPr>
          <a:lstStyle>
            <a:lvl1pPr>
              <a:lnSpc>
                <a:spcPct val="90000"/>
              </a:lnSpc>
              <a:defRPr sz="5400">
                <a:solidFill>
                  <a:srgbClr val="E5F8FF"/>
                </a:solidFill>
                <a:latin typeface="Arial Nova Light"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ext Placeholder 4">
            <a:extLst>
              <a:ext uri="{FF2B5EF4-FFF2-40B4-BE49-F238E27FC236}">
                <a16:creationId xmlns:a16="http://schemas.microsoft.com/office/drawing/2014/main" id="{31E00A8F-8F29-4705-8469-E9075A8C1BA9}"/>
              </a:ext>
            </a:extLst>
          </p:cNvPr>
          <p:cNvSpPr>
            <a:spLocks noGrp="1"/>
          </p:cNvSpPr>
          <p:nvPr>
            <p:ph type="body" sz="quarter" idx="10"/>
          </p:nvPr>
        </p:nvSpPr>
        <p:spPr>
          <a:xfrm>
            <a:off x="8343900" y="914400"/>
            <a:ext cx="3467100" cy="2514600"/>
          </a:xfrm>
          <a:prstGeom prst="rect">
            <a:avLst/>
          </a:prstGeom>
        </p:spPr>
        <p:txBody>
          <a:bodyPr lIns="0" tIns="0" rIns="0" bIns="0"/>
          <a:lstStyle>
            <a:lvl1pPr>
              <a:lnSpc>
                <a:spcPct val="100000"/>
              </a:lnSpc>
              <a:spcBef>
                <a:spcPts val="1200"/>
              </a:spcBef>
              <a:buClr>
                <a:schemeClr val="bg1"/>
              </a:buClr>
              <a:defRPr sz="2000">
                <a:solidFill>
                  <a:schemeClr val="tx2"/>
                </a:solidFill>
              </a:defRPr>
            </a:lvl1pPr>
            <a:lvl2pPr marL="741363" indent="-284163">
              <a:lnSpc>
                <a:spcPct val="100000"/>
              </a:lnSpc>
              <a:spcBef>
                <a:spcPts val="600"/>
              </a:spcBef>
              <a:buClr>
                <a:schemeClr val="bg1"/>
              </a:buClr>
              <a:buFont typeface="Arial" panose="020B0604020202020204" pitchFamily="34" charset="0"/>
              <a:buChar char="–"/>
              <a:defRPr sz="1800">
                <a:solidFill>
                  <a:schemeClr val="tx2"/>
                </a:solidFill>
              </a:defRPr>
            </a:lvl2pPr>
            <a:lvl3pPr marL="1142971" indent="-228594">
              <a:lnSpc>
                <a:spcPct val="100000"/>
              </a:lnSpc>
              <a:spcBef>
                <a:spcPts val="600"/>
              </a:spcBef>
              <a:buClr>
                <a:schemeClr val="bg1"/>
              </a:buClr>
              <a:buFont typeface="Wingdings" panose="05000000000000000000" pitchFamily="2" charset="2"/>
              <a:buChar cha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74757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A49A41B-9CF1-4CD6-B1E3-F736C63833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4204926"/>
            <a:ext cx="7971108" cy="723900"/>
          </a:xfrm>
          <a:prstGeom prst="rect">
            <a:avLst/>
          </a:prstGeom>
        </p:spPr>
        <p:txBody>
          <a:bodyPr lIns="0" tIns="0" rIns="0" bIns="0"/>
          <a:lstStyle>
            <a:lvl1pPr marL="0" indent="0" algn="l">
              <a:lnSpc>
                <a:spcPct val="100000"/>
              </a:lnSpc>
              <a:spcBef>
                <a:spcPts val="0"/>
              </a:spcBef>
              <a:buNone/>
              <a:defRPr sz="1800">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2E5D8143-A159-4278-916B-DB3850ADE74C}"/>
              </a:ext>
              <a:ext uri="{C183D7F6-B498-43B3-948B-1728B52AA6E4}">
                <adec:decorative xmlns:adec="http://schemas.microsoft.com/office/drawing/2017/decorative" val="1"/>
              </a:ext>
            </a:extLst>
          </p:cNvPr>
          <p:cNvSpPr>
            <a:spLocks noChangeAspect="1"/>
          </p:cNvSpPr>
          <p:nvPr/>
        </p:nvSpPr>
        <p:spPr>
          <a:xfrm>
            <a:off x="381000" y="342900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8" name="Title 1">
            <a:extLst>
              <a:ext uri="{FF2B5EF4-FFF2-40B4-BE49-F238E27FC236}">
                <a16:creationId xmlns:a16="http://schemas.microsoft.com/office/drawing/2014/main" id="{47F5323D-6831-4D66-AAB2-4C1920E06475}"/>
              </a:ext>
            </a:extLst>
          </p:cNvPr>
          <p:cNvSpPr>
            <a:spLocks noGrp="1"/>
          </p:cNvSpPr>
          <p:nvPr>
            <p:ph type="title"/>
          </p:nvPr>
        </p:nvSpPr>
        <p:spPr>
          <a:xfrm>
            <a:off x="381000" y="1738312"/>
            <a:ext cx="7969282" cy="1495794"/>
          </a:xfrm>
          <a:prstGeom prst="rect">
            <a:avLst/>
          </a:prstGeom>
        </p:spPr>
        <p:txBody>
          <a:bodyPr wrap="square" lIns="0" tIns="0" rIns="0" bIns="0" anchor="b" anchorCtr="0">
            <a:spAutoFit/>
          </a:bodyPr>
          <a:lstStyle>
            <a:lvl1pPr>
              <a:defRPr lang="en-US" sz="5400" dirty="0">
                <a:solidFill>
                  <a:srgbClr val="E5F8FF"/>
                </a:solidFill>
                <a:latin typeface="Arial Nova Light"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1043772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ver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A49A41B-9CF1-4CD6-B1E3-F736C63833B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4204926"/>
            <a:ext cx="7971108" cy="723900"/>
          </a:xfrm>
          <a:prstGeom prst="rect">
            <a:avLst/>
          </a:prstGeom>
        </p:spPr>
        <p:txBody>
          <a:bodyPr lIns="0" tIns="0" rIns="0" bIns="0"/>
          <a:lstStyle>
            <a:lvl1pPr marL="0" indent="0" algn="l">
              <a:lnSpc>
                <a:spcPct val="100000"/>
              </a:lnSpc>
              <a:spcBef>
                <a:spcPts val="0"/>
              </a:spcBef>
              <a:buNone/>
              <a:defRPr sz="1800">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6" name="Rectangle 5">
            <a:extLst>
              <a:ext uri="{FF2B5EF4-FFF2-40B4-BE49-F238E27FC236}">
                <a16:creationId xmlns:a16="http://schemas.microsoft.com/office/drawing/2014/main" id="{2E5D8143-A159-4278-916B-DB3850ADE74C}"/>
              </a:ext>
              <a:ext uri="{C183D7F6-B498-43B3-948B-1728B52AA6E4}">
                <adec:decorative xmlns:adec="http://schemas.microsoft.com/office/drawing/2017/decorative" val="1"/>
              </a:ext>
            </a:extLst>
          </p:cNvPr>
          <p:cNvSpPr>
            <a:spLocks noChangeAspect="1"/>
          </p:cNvSpPr>
          <p:nvPr/>
        </p:nvSpPr>
        <p:spPr>
          <a:xfrm>
            <a:off x="381000" y="342900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8" name="Title 1">
            <a:extLst>
              <a:ext uri="{FF2B5EF4-FFF2-40B4-BE49-F238E27FC236}">
                <a16:creationId xmlns:a16="http://schemas.microsoft.com/office/drawing/2014/main" id="{47F5323D-6831-4D66-AAB2-4C1920E06475}"/>
              </a:ext>
            </a:extLst>
          </p:cNvPr>
          <p:cNvSpPr>
            <a:spLocks noGrp="1"/>
          </p:cNvSpPr>
          <p:nvPr>
            <p:ph type="title"/>
          </p:nvPr>
        </p:nvSpPr>
        <p:spPr>
          <a:xfrm>
            <a:off x="381000" y="1738312"/>
            <a:ext cx="7969282" cy="1495794"/>
          </a:xfrm>
          <a:prstGeom prst="rect">
            <a:avLst/>
          </a:prstGeom>
        </p:spPr>
        <p:txBody>
          <a:bodyPr wrap="square" lIns="0" tIns="0" rIns="0" bIns="0" anchor="b" anchorCtr="0">
            <a:spAutoFit/>
          </a:bodyPr>
          <a:lstStyle>
            <a:lvl1pPr>
              <a:defRPr lang="en-US" sz="5400" dirty="0">
                <a:solidFill>
                  <a:srgbClr val="E5F8FF"/>
                </a:solidFill>
                <a:effectLst>
                  <a:glow rad="127000">
                    <a:srgbClr val="0D32A4"/>
                  </a:glow>
                </a:effectLst>
                <a:latin typeface="Arial Nova Light" panose="020B0304020202020204" pitchFamily="34" charset="0"/>
              </a:defRPr>
            </a:lvl1pPr>
          </a:lstStyle>
          <a:p>
            <a:pPr marL="0" lvl="0"/>
            <a:r>
              <a:rPr lang="en-US"/>
              <a:t>Click to edit Master title style</a:t>
            </a:r>
          </a:p>
        </p:txBody>
      </p:sp>
    </p:spTree>
    <p:extLst>
      <p:ext uri="{BB962C8B-B14F-4D97-AF65-F5344CB8AC3E}">
        <p14:creationId xmlns:p14="http://schemas.microsoft.com/office/powerpoint/2010/main" val="1768654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78759" y="5090333"/>
            <a:ext cx="9715500" cy="747897"/>
          </a:xfrm>
          <a:prstGeom prst="rect">
            <a:avLst/>
          </a:prstGeom>
        </p:spPr>
        <p:txBody>
          <a:bodyPr wrap="square" lIns="0" tIns="0" rIns="0" bIns="0" anchor="b" anchorCtr="0">
            <a:spAutoFit/>
          </a:bodyPr>
          <a:lstStyle>
            <a:lvl1pPr>
              <a:lnSpc>
                <a:spcPct val="90000"/>
              </a:lnSpc>
              <a:defRPr sz="5400">
                <a:solidFill>
                  <a:srgbClr val="E5F8FF"/>
                </a:solidFill>
                <a:latin typeface="Arial Nova Light"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ext Placeholder 4">
            <a:extLst>
              <a:ext uri="{FF2B5EF4-FFF2-40B4-BE49-F238E27FC236}">
                <a16:creationId xmlns:a16="http://schemas.microsoft.com/office/drawing/2014/main" id="{31E00A8F-8F29-4705-8469-E9075A8C1BA9}"/>
              </a:ext>
            </a:extLst>
          </p:cNvPr>
          <p:cNvSpPr>
            <a:spLocks noGrp="1"/>
          </p:cNvSpPr>
          <p:nvPr>
            <p:ph type="body" sz="quarter" idx="10"/>
          </p:nvPr>
        </p:nvSpPr>
        <p:spPr>
          <a:xfrm>
            <a:off x="8343900" y="914400"/>
            <a:ext cx="3467100" cy="2514600"/>
          </a:xfrm>
          <a:prstGeom prst="rect">
            <a:avLst/>
          </a:prstGeom>
        </p:spPr>
        <p:txBody>
          <a:bodyPr lIns="0" tIns="0" rIns="0" bIns="0"/>
          <a:lstStyle>
            <a:lvl1pPr>
              <a:lnSpc>
                <a:spcPct val="100000"/>
              </a:lnSpc>
              <a:spcBef>
                <a:spcPts val="1200"/>
              </a:spcBef>
              <a:buClr>
                <a:schemeClr val="bg1"/>
              </a:buClr>
              <a:defRPr sz="2000">
                <a:solidFill>
                  <a:schemeClr val="tx2"/>
                </a:solidFill>
              </a:defRPr>
            </a:lvl1pPr>
            <a:lvl2pPr marL="741363" indent="-284163">
              <a:lnSpc>
                <a:spcPct val="100000"/>
              </a:lnSpc>
              <a:spcBef>
                <a:spcPts val="600"/>
              </a:spcBef>
              <a:buClr>
                <a:schemeClr val="bg1"/>
              </a:buClr>
              <a:buFont typeface="Arial" panose="020B0604020202020204" pitchFamily="34" charset="0"/>
              <a:buChar char="–"/>
              <a:defRPr sz="1800">
                <a:solidFill>
                  <a:schemeClr val="tx2"/>
                </a:solidFill>
              </a:defRPr>
            </a:lvl2pPr>
            <a:lvl3pPr marL="1142971" indent="-228594">
              <a:lnSpc>
                <a:spcPct val="100000"/>
              </a:lnSpc>
              <a:spcBef>
                <a:spcPts val="600"/>
              </a:spcBef>
              <a:buClr>
                <a:schemeClr val="bg1"/>
              </a:buClr>
              <a:buFont typeface="Wingdings" panose="05000000000000000000" pitchFamily="2" charset="2"/>
              <a:buChar char="§"/>
              <a:defRPr sz="1600">
                <a:solidFill>
                  <a:schemeClr val="tx2"/>
                </a:solidFill>
              </a:defRPr>
            </a:lvl3pPr>
            <a:lvl4pPr>
              <a:defRPr sz="1600">
                <a:solidFill>
                  <a:schemeClr val="tx2"/>
                </a:solidFill>
              </a:defRPr>
            </a:lvl4pPr>
            <a:lvl5pPr>
              <a:defRPr sz="1600">
                <a:solidFill>
                  <a:schemeClr val="tx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8037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4343400"/>
            <a:ext cx="8027894" cy="1495794"/>
          </a:xfrm>
          <a:prstGeom prst="rect">
            <a:avLst/>
          </a:prstGeom>
        </p:spPr>
        <p:txBody>
          <a:bodyPr wrap="square" lIns="0" tIns="0" rIns="0" bIns="0" anchor="b" anchorCtr="0">
            <a:spAutoFit/>
          </a:bodyPr>
          <a:lstStyle>
            <a:lvl1pPr>
              <a:defRPr lang="en-US" sz="5400" dirty="0">
                <a:solidFill>
                  <a:srgbClr val="E5F8FF"/>
                </a:solidFill>
                <a:latin typeface="Arial Nova Light" panose="020B0304020202020204" pitchFamily="34" charset="0"/>
              </a:defRPr>
            </a:lvl1pPr>
          </a:lstStyle>
          <a:p>
            <a:pPr lvl="0"/>
            <a:r>
              <a:rPr lang="en-US"/>
              <a:t>Click to edit Master title style</a:t>
            </a:r>
          </a:p>
        </p:txBody>
      </p:sp>
      <p:sp>
        <p:nvSpPr>
          <p:cNvPr id="7" name="Rectangle 6">
            <a:extLst>
              <a:ext uri="{FF2B5EF4-FFF2-40B4-BE49-F238E27FC236}">
                <a16:creationId xmlns:a16="http://schemas.microsoft.com/office/drawing/2014/main" id="{B5B0BFDB-C4BC-4E6F-8090-A00E82B41E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3" name="Text Placeholder 2">
            <a:extLst>
              <a:ext uri="{FF2B5EF4-FFF2-40B4-BE49-F238E27FC236}">
                <a16:creationId xmlns:a16="http://schemas.microsoft.com/office/drawing/2014/main" id="{9AF30D4F-5FE4-4AA6-812B-A00AFC98112E}"/>
              </a:ext>
            </a:extLst>
          </p:cNvPr>
          <p:cNvSpPr>
            <a:spLocks noGrp="1"/>
          </p:cNvSpPr>
          <p:nvPr>
            <p:ph type="body" sz="quarter" idx="10"/>
          </p:nvPr>
        </p:nvSpPr>
        <p:spPr>
          <a:xfrm>
            <a:off x="1066799" y="349478"/>
            <a:ext cx="7315201" cy="215444"/>
          </a:xfrm>
          <a:prstGeom prst="rect">
            <a:avLst/>
          </a:prstGeom>
        </p:spPr>
        <p:txBody>
          <a:bodyPr lIns="0" tIns="0" rIns="0" bIns="0">
            <a:spAutoFit/>
          </a:bodyPr>
          <a:lstStyle>
            <a:lvl1pPr marL="0" indent="0">
              <a:lnSpc>
                <a:spcPct val="100000"/>
              </a:lnSpc>
              <a:buNone/>
              <a:defRPr sz="1400" cap="all" spc="300" baseline="0">
                <a:solidFill>
                  <a:schemeClr val="tx2"/>
                </a:solidFill>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1405201022"/>
      </p:ext>
    </p:extLst>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blu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5" name="Title 1">
            <a:extLst>
              <a:ext uri="{FF2B5EF4-FFF2-40B4-BE49-F238E27FC236}">
                <a16:creationId xmlns:a16="http://schemas.microsoft.com/office/drawing/2014/main" id="{D7D3C83F-1685-4A4A-8993-74D3219027D6}"/>
              </a:ext>
            </a:extLst>
          </p:cNvPr>
          <p:cNvSpPr>
            <a:spLocks noGrp="1"/>
          </p:cNvSpPr>
          <p:nvPr>
            <p:ph type="title"/>
          </p:nvPr>
        </p:nvSpPr>
        <p:spPr>
          <a:xfrm>
            <a:off x="381000" y="3595503"/>
            <a:ext cx="4457700" cy="2243691"/>
          </a:xfrm>
          <a:prstGeom prst="rect">
            <a:avLst/>
          </a:prstGeom>
        </p:spPr>
        <p:txBody>
          <a:bodyPr wrap="square" lIns="0" tIns="0" rIns="0" bIns="0" anchor="b" anchorCtr="0">
            <a:spAutoFit/>
          </a:bodyPr>
          <a:lstStyle>
            <a:lvl1pPr>
              <a:defRPr lang="en-US" sz="5400" dirty="0">
                <a:solidFill>
                  <a:srgbClr val="E5F8FF"/>
                </a:solidFill>
                <a:latin typeface="Arial Nova Light" panose="020B0304020202020204" pitchFamily="34" charset="0"/>
              </a:defRPr>
            </a:lvl1pPr>
          </a:lstStyle>
          <a:p>
            <a:pPr lvl="0"/>
            <a:r>
              <a:rPr lang="en-US"/>
              <a:t>Click to edit Master title style</a:t>
            </a:r>
          </a:p>
        </p:txBody>
      </p:sp>
      <p:sp>
        <p:nvSpPr>
          <p:cNvPr id="7" name="Rectangle 6">
            <a:extLst>
              <a:ext uri="{FF2B5EF4-FFF2-40B4-BE49-F238E27FC236}">
                <a16:creationId xmlns:a16="http://schemas.microsoft.com/office/drawing/2014/main" id="{B5B0BFDB-C4BC-4E6F-8090-A00E82B41E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3" name="Text Placeholder 2">
            <a:extLst>
              <a:ext uri="{FF2B5EF4-FFF2-40B4-BE49-F238E27FC236}">
                <a16:creationId xmlns:a16="http://schemas.microsoft.com/office/drawing/2014/main" id="{9AF30D4F-5FE4-4AA6-812B-A00AFC98112E}"/>
              </a:ext>
            </a:extLst>
          </p:cNvPr>
          <p:cNvSpPr>
            <a:spLocks noGrp="1"/>
          </p:cNvSpPr>
          <p:nvPr>
            <p:ph type="body" sz="quarter" idx="10"/>
          </p:nvPr>
        </p:nvSpPr>
        <p:spPr>
          <a:xfrm>
            <a:off x="1066799" y="349478"/>
            <a:ext cx="3771901" cy="430887"/>
          </a:xfrm>
          <a:prstGeom prst="rect">
            <a:avLst/>
          </a:prstGeom>
        </p:spPr>
        <p:txBody>
          <a:bodyPr wrap="square" lIns="0" tIns="0" rIns="0" bIns="0">
            <a:spAutoFit/>
          </a:bodyPr>
          <a:lstStyle>
            <a:lvl1pPr marL="0" indent="0">
              <a:lnSpc>
                <a:spcPct val="100000"/>
              </a:lnSpc>
              <a:buNone/>
              <a:defRPr sz="1400" cap="all" spc="300" baseline="0">
                <a:solidFill>
                  <a:schemeClr val="tx2"/>
                </a:solidFill>
              </a:defRPr>
            </a:lvl1pPr>
            <a:lvl2pPr marL="457189" indent="0">
              <a:buNone/>
              <a:defRPr/>
            </a:lvl2pPr>
            <a:lvl3pPr marL="914377" indent="0">
              <a:buNone/>
              <a:defRPr/>
            </a:lvl3pPr>
            <a:lvl4pPr marL="1371566" indent="0">
              <a:buNone/>
              <a:defRPr/>
            </a:lvl4pPr>
            <a:lvl5pPr marL="1828755" indent="0">
              <a:buNone/>
              <a:defRPr/>
            </a:lvl5pPr>
          </a:lstStyle>
          <a:p>
            <a:pPr lvl="0"/>
            <a:r>
              <a:rPr lang="en-US"/>
              <a:t>Click to edit Master text styles</a:t>
            </a:r>
          </a:p>
        </p:txBody>
      </p:sp>
    </p:spTree>
    <p:extLst>
      <p:ext uri="{BB962C8B-B14F-4D97-AF65-F5344CB8AC3E}">
        <p14:creationId xmlns:p14="http://schemas.microsoft.com/office/powerpoint/2010/main" val="1079211278"/>
      </p:ext>
    </p:extLst>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ide bar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1183"/>
            <a:ext cx="2286000" cy="1329595"/>
          </a:xfrm>
          <a:prstGeom prst="rect">
            <a:avLst/>
          </a:prstGeom>
        </p:spPr>
        <p:txBody>
          <a:bodyPr wrap="square" lIns="0" tIns="0" rIns="0" bIns="0">
            <a:spAutoFit/>
          </a:bodyPr>
          <a:lstStyle>
            <a:lvl1pPr>
              <a:defRPr sz="3200">
                <a:solidFill>
                  <a:srgbClr val="E5F8FF"/>
                </a:solidFill>
                <a:latin typeface="+mj-lt"/>
              </a:defRPr>
            </a:lvl1pPr>
          </a:lstStyle>
          <a:p>
            <a:r>
              <a:rPr lang="en-US"/>
              <a:t>Click to edit Master title style</a:t>
            </a:r>
          </a:p>
        </p:txBody>
      </p:sp>
      <p:sp>
        <p:nvSpPr>
          <p:cNvPr id="3" name="Content Placeholder 2"/>
          <p:cNvSpPr>
            <a:spLocks noGrp="1"/>
          </p:cNvSpPr>
          <p:nvPr>
            <p:ph idx="1"/>
          </p:nvPr>
        </p:nvSpPr>
        <p:spPr>
          <a:xfrm>
            <a:off x="3467100" y="400050"/>
            <a:ext cx="8343900" cy="5829300"/>
          </a:xfrm>
          <a:prstGeom prst="rect">
            <a:avLst/>
          </a:prstGeom>
        </p:spPr>
        <p:txBody>
          <a:bodyPr lIns="0" tIns="0" rIns="0" bIns="0" anchor="ctr" anchorCtr="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554035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de bar blue w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1183"/>
            <a:ext cx="2286000" cy="1329595"/>
          </a:xfrm>
          <a:prstGeom prst="rect">
            <a:avLst/>
          </a:prstGeom>
        </p:spPr>
        <p:txBody>
          <a:bodyPr wrap="square" lIns="0" tIns="0" rIns="0" bIns="0">
            <a:spAutoFit/>
          </a:bodyPr>
          <a:lstStyle>
            <a:lvl1pPr>
              <a:defRPr sz="3200">
                <a:solidFill>
                  <a:srgbClr val="E5F8FF"/>
                </a:solidFill>
                <a:latin typeface="+mj-lt"/>
              </a:defRPr>
            </a:lvl1pPr>
          </a:lstStyle>
          <a:p>
            <a:r>
              <a:rPr lang="en-US"/>
              <a:t>Click to edit Master title style</a:t>
            </a:r>
          </a:p>
        </p:txBody>
      </p:sp>
      <p:sp>
        <p:nvSpPr>
          <p:cNvPr id="4" name="Rectangle 3">
            <a:extLst>
              <a:ext uri="{FF2B5EF4-FFF2-40B4-BE49-F238E27FC236}">
                <a16:creationId xmlns:a16="http://schemas.microsoft.com/office/drawing/2014/main" id="{F7E372F5-2EC7-4733-8384-2D4149AFD478}"/>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80C7FB"/>
              </a:solidFill>
            </a:endParaRPr>
          </a:p>
        </p:txBody>
      </p:sp>
      <p:sp>
        <p:nvSpPr>
          <p:cNvPr id="6" name="Subtitle 2">
            <a:extLst>
              <a:ext uri="{FF2B5EF4-FFF2-40B4-BE49-F238E27FC236}">
                <a16:creationId xmlns:a16="http://schemas.microsoft.com/office/drawing/2014/main" id="{DD84B0B8-7C41-4C04-9E5E-65F066217219}"/>
              </a:ext>
            </a:extLst>
          </p:cNvPr>
          <p:cNvSpPr>
            <a:spLocks noGrp="1"/>
          </p:cNvSpPr>
          <p:nvPr>
            <p:ph type="subTitle" idx="10"/>
          </p:nvPr>
        </p:nvSpPr>
        <p:spPr>
          <a:xfrm>
            <a:off x="381000" y="2514600"/>
            <a:ext cx="2286000" cy="3714750"/>
          </a:xfrm>
          <a:prstGeom prst="rect">
            <a:avLst/>
          </a:prstGeom>
        </p:spPr>
        <p:txBody>
          <a:bodyPr wrap="square" lIns="0" tIns="0" rIns="0" bIns="0">
            <a:noAutofit/>
          </a:bodyPr>
          <a:lstStyle>
            <a:lvl1pPr marL="0" indent="0" algn="l">
              <a:lnSpc>
                <a:spcPct val="100000"/>
              </a:lnSpc>
              <a:spcBef>
                <a:spcPts val="1200"/>
              </a:spcBef>
              <a:buNone/>
              <a:defRPr sz="16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7" name="Picture Placeholder 6">
            <a:extLst>
              <a:ext uri="{FF2B5EF4-FFF2-40B4-BE49-F238E27FC236}">
                <a16:creationId xmlns:a16="http://schemas.microsoft.com/office/drawing/2014/main" id="{E8FAF2F2-81F0-496C-EB9C-AD35CB49960B}"/>
              </a:ext>
            </a:extLst>
          </p:cNvPr>
          <p:cNvSpPr>
            <a:spLocks noGrp="1"/>
          </p:cNvSpPr>
          <p:nvPr>
            <p:ph type="pic" sz="quarter" idx="11"/>
          </p:nvPr>
        </p:nvSpPr>
        <p:spPr>
          <a:xfrm>
            <a:off x="3009900" y="0"/>
            <a:ext cx="9182100" cy="6858000"/>
          </a:xfrm>
          <a:prstGeom prst="rect">
            <a:avLst/>
          </a:prstGeom>
          <a:noFill/>
          <a:ln>
            <a:noFill/>
          </a:ln>
        </p:spPr>
        <p:txBody>
          <a:bodyPr lIns="0" tIns="0" rIns="0" bIns="0" anchor="ctr" anchorCtr="1"/>
          <a:lstStyle>
            <a:lvl1pPr marL="0" indent="0">
              <a:buNone/>
              <a:defRPr>
                <a:solidFill>
                  <a:schemeClr val="bg2"/>
                </a:solidFill>
              </a:defRPr>
            </a:lvl1pPr>
          </a:lstStyle>
          <a:p>
            <a:r>
              <a:rPr lang="en-US"/>
              <a:t>Click icon to add picture</a:t>
            </a:r>
          </a:p>
        </p:txBody>
      </p:sp>
    </p:spTree>
    <p:extLst>
      <p:ext uri="{BB962C8B-B14F-4D97-AF65-F5344CB8AC3E}">
        <p14:creationId xmlns:p14="http://schemas.microsoft.com/office/powerpoint/2010/main" val="3109173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bar blue">
    <p:bg>
      <p:bgPr>
        <a:solidFill>
          <a:schemeClr val="tx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370DD2-DBFE-499C-8B5D-257216661960}"/>
              </a:ext>
              <a:ext uri="{C183D7F6-B498-43B3-948B-1728B52AA6E4}">
                <adec:decorative xmlns:adec="http://schemas.microsoft.com/office/drawing/2017/decorative" val="1"/>
              </a:ext>
            </a:extLst>
          </p:cNvPr>
          <p:cNvSpPr/>
          <p:nvPr/>
        </p:nvSpPr>
        <p:spPr>
          <a:xfrm>
            <a:off x="0" y="0"/>
            <a:ext cx="12192000" cy="3429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2" name="Title 1"/>
          <p:cNvSpPr>
            <a:spLocks noGrp="1"/>
          </p:cNvSpPr>
          <p:nvPr>
            <p:ph type="title"/>
          </p:nvPr>
        </p:nvSpPr>
        <p:spPr>
          <a:xfrm>
            <a:off x="382483" y="800100"/>
            <a:ext cx="3999017" cy="886397"/>
          </a:xfrm>
          <a:prstGeom prst="rect">
            <a:avLst/>
          </a:prstGeom>
        </p:spPr>
        <p:txBody>
          <a:bodyPr wrap="square" lIns="0" tIns="0" rIns="0" bIns="0">
            <a:spAutoFit/>
          </a:bodyPr>
          <a:lstStyle>
            <a:lvl1pPr>
              <a:defRPr sz="3200">
                <a:solidFill>
                  <a:schemeClr val="tx2"/>
                </a:solidFill>
                <a:latin typeface="+mj-lt"/>
              </a:defRPr>
            </a:lvl1pPr>
          </a:lstStyle>
          <a:p>
            <a:r>
              <a:rPr lang="en-US"/>
              <a:t>Click to edit Master title style</a:t>
            </a:r>
          </a:p>
        </p:txBody>
      </p:sp>
      <p:sp>
        <p:nvSpPr>
          <p:cNvPr id="12" name="Content Placeholder 11">
            <a:extLst>
              <a:ext uri="{FF2B5EF4-FFF2-40B4-BE49-F238E27FC236}">
                <a16:creationId xmlns:a16="http://schemas.microsoft.com/office/drawing/2014/main" id="{2F25C9EF-E3D6-4E9D-83B4-E16E0BAD9154}"/>
              </a:ext>
            </a:extLst>
          </p:cNvPr>
          <p:cNvSpPr>
            <a:spLocks noGrp="1" noChangeAspect="1"/>
          </p:cNvSpPr>
          <p:nvPr>
            <p:ph sz="quarter" idx="11"/>
          </p:nvPr>
        </p:nvSpPr>
        <p:spPr>
          <a:xfrm>
            <a:off x="44386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3" name="Content Placeholder 11">
            <a:extLst>
              <a:ext uri="{FF2B5EF4-FFF2-40B4-BE49-F238E27FC236}">
                <a16:creationId xmlns:a16="http://schemas.microsoft.com/office/drawing/2014/main" id="{CC9ADC35-0177-4D0A-A2B4-6BE8CB97A65E}"/>
              </a:ext>
            </a:extLst>
          </p:cNvPr>
          <p:cNvSpPr>
            <a:spLocks noGrp="1" noChangeAspect="1"/>
          </p:cNvSpPr>
          <p:nvPr>
            <p:ph sz="quarter" idx="12"/>
          </p:nvPr>
        </p:nvSpPr>
        <p:spPr>
          <a:xfrm>
            <a:off x="5524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4" name="Content Placeholder 11">
            <a:extLst>
              <a:ext uri="{FF2B5EF4-FFF2-40B4-BE49-F238E27FC236}">
                <a16:creationId xmlns:a16="http://schemas.microsoft.com/office/drawing/2014/main" id="{887CCC8C-1CBB-4FA5-AC41-F8CE31E2C100}"/>
              </a:ext>
            </a:extLst>
          </p:cNvPr>
          <p:cNvSpPr>
            <a:spLocks noGrp="1" noChangeAspect="1"/>
          </p:cNvSpPr>
          <p:nvPr>
            <p:ph sz="quarter" idx="13"/>
          </p:nvPr>
        </p:nvSpPr>
        <p:spPr>
          <a:xfrm>
            <a:off x="8324850" y="2228850"/>
            <a:ext cx="3314700" cy="3314700"/>
          </a:xfrm>
          <a:prstGeom prst="rect">
            <a:avLst/>
          </a:prstGeom>
          <a:solidFill>
            <a:srgbClr val="E5F8FF"/>
          </a:solidFill>
        </p:spPr>
        <p:txBody>
          <a:bodyPr tIns="91440" bIns="91440" anchor="ctr" anchorCtr="0"/>
          <a:lstStyle>
            <a:lvl1pPr marL="0" indent="0" algn="ctr">
              <a:buNone/>
              <a:defRPr sz="1800">
                <a:solidFill>
                  <a:schemeClr val="bg2"/>
                </a:solidFill>
              </a:defRPr>
            </a:lvl1pPr>
            <a:lvl2pPr>
              <a:defRPr sz="1600">
                <a:solidFill>
                  <a:schemeClr val="bg2"/>
                </a:solidFill>
              </a:defRPr>
            </a:lvl2pPr>
            <a:lvl3pPr>
              <a:defRPr sz="1400">
                <a:solidFill>
                  <a:schemeClr val="bg2"/>
                </a:solidFill>
              </a:defRPr>
            </a:lvl3pPr>
            <a:lvl4pPr>
              <a:defRPr sz="1200">
                <a:solidFill>
                  <a:schemeClr val="bg2"/>
                </a:solidFill>
              </a:defRPr>
            </a:lvl4pPr>
            <a:lvl5pPr>
              <a:defRPr sz="1200">
                <a:solidFill>
                  <a:schemeClr val="bg2"/>
                </a:solidFill>
              </a:defRPr>
            </a:lvl5pPr>
          </a:lstStyle>
          <a:p>
            <a:pPr lvl="0"/>
            <a:r>
              <a:rPr lang="en-US"/>
              <a:t>Click to edit Master text styles</a:t>
            </a:r>
          </a:p>
        </p:txBody>
      </p:sp>
      <p:sp>
        <p:nvSpPr>
          <p:cNvPr id="15" name="Rectangle 14">
            <a:extLst>
              <a:ext uri="{FF2B5EF4-FFF2-40B4-BE49-F238E27FC236}">
                <a16:creationId xmlns:a16="http://schemas.microsoft.com/office/drawing/2014/main" id="{65E98A6F-4362-4A68-979C-B344868D9B8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2"/>
              </a:solidFill>
            </a:endParaRPr>
          </a:p>
        </p:txBody>
      </p:sp>
    </p:spTree>
    <p:extLst>
      <p:ext uri="{BB962C8B-B14F-4D97-AF65-F5344CB8AC3E}">
        <p14:creationId xmlns:p14="http://schemas.microsoft.com/office/powerpoint/2010/main" val="28488040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tatement blu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95DA-6F2D-4DB9-A4B6-50D3D1C65809}"/>
              </a:ext>
            </a:extLst>
          </p:cNvPr>
          <p:cNvSpPr>
            <a:spLocks noGrp="1"/>
          </p:cNvSpPr>
          <p:nvPr>
            <p:ph type="title"/>
          </p:nvPr>
        </p:nvSpPr>
        <p:spPr>
          <a:xfrm>
            <a:off x="398556" y="3438303"/>
            <a:ext cx="9201150" cy="2676747"/>
          </a:xfrm>
          <a:prstGeom prst="rect">
            <a:avLst/>
          </a:prstGeom>
        </p:spPr>
        <p:txBody>
          <a:bodyPr wrap="square" lIns="0" tIns="0" rIns="0" bIns="0" anchor="t" anchorCtr="0">
            <a:noAutofit/>
          </a:bodyPr>
          <a:lstStyle>
            <a:lvl1pPr>
              <a:lnSpc>
                <a:spcPct val="90000"/>
              </a:lnSpc>
              <a:defRPr sz="5400">
                <a:solidFill>
                  <a:srgbClr val="E5F8FF"/>
                </a:solidFill>
                <a:latin typeface="Arial Nova Light" panose="020B03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5C487A85-65B5-4371-833A-AD6EFF69F55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10" name="Rectangle 9">
            <a:extLst>
              <a:ext uri="{FF2B5EF4-FFF2-40B4-BE49-F238E27FC236}">
                <a16:creationId xmlns:a16="http://schemas.microsoft.com/office/drawing/2014/main" id="{06CBAE8D-A442-4706-952E-6CCFA561BE14}"/>
              </a:ext>
              <a:ext uri="{C183D7F6-B498-43B3-948B-1728B52AA6E4}">
                <adec:decorative xmlns:adec="http://schemas.microsoft.com/office/drawing/2017/decorative" val="1"/>
              </a:ext>
            </a:extLst>
          </p:cNvPr>
          <p:cNvSpPr>
            <a:spLocks noChangeAspect="1"/>
          </p:cNvSpPr>
          <p:nvPr/>
        </p:nvSpPr>
        <p:spPr>
          <a:xfrm>
            <a:off x="398556" y="29146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339420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op bar w/pattern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800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pic>
        <p:nvPicPr>
          <p:cNvPr id="4" name="Picture 3"/>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18" name="Rectangle 17">
            <a:extLst>
              <a:ext uri="{FF2B5EF4-FFF2-40B4-BE49-F238E27FC236}">
                <a16:creationId xmlns:a16="http://schemas.microsoft.com/office/drawing/2014/main" id="{961E767C-1F50-4D42-AF6A-E15CED75F7A5}"/>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Tree>
    <p:extLst>
      <p:ext uri="{BB962C8B-B14F-4D97-AF65-F5344CB8AC3E}">
        <p14:creationId xmlns:p14="http://schemas.microsoft.com/office/powerpoint/2010/main" val="4168665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bar w/photo half blu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403083" y="6451744"/>
            <a:ext cx="1438648" cy="187024"/>
          </a:xfrm>
          <a:prstGeom prst="rect">
            <a:avLst/>
          </a:prstGeom>
        </p:spPr>
      </p:pic>
      <p:sp>
        <p:nvSpPr>
          <p:cNvPr id="6" name="Rectangle 5">
            <a:extLst>
              <a:ext uri="{FF2B5EF4-FFF2-40B4-BE49-F238E27FC236}">
                <a16:creationId xmlns:a16="http://schemas.microsoft.com/office/drawing/2014/main" id="{BEADD02D-4E86-18B9-EC0D-5EFAF43C6BBB}"/>
              </a:ext>
            </a:extLst>
          </p:cNvPr>
          <p:cNvSpPr/>
          <p:nvPr/>
        </p:nvSpPr>
        <p:spPr>
          <a:xfrm>
            <a:off x="0" y="0"/>
            <a:ext cx="12192000" cy="3429000"/>
          </a:xfrm>
          <a:prstGeom prst="rect">
            <a:avLst/>
          </a:prstGeom>
          <a:solidFill>
            <a:srgbClr val="0D32A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bg2"/>
              </a:solidFill>
            </a:endParaRPr>
          </a:p>
        </p:txBody>
      </p:sp>
      <p:sp>
        <p:nvSpPr>
          <p:cNvPr id="5" name="Picture Placeholder 6">
            <a:extLst>
              <a:ext uri="{FF2B5EF4-FFF2-40B4-BE49-F238E27FC236}">
                <a16:creationId xmlns:a16="http://schemas.microsoft.com/office/drawing/2014/main" id="{96F27EC7-A1F5-878A-4E9C-42D9EE7F3BF5}"/>
              </a:ext>
            </a:extLst>
          </p:cNvPr>
          <p:cNvSpPr>
            <a:spLocks noGrp="1"/>
          </p:cNvSpPr>
          <p:nvPr>
            <p:ph type="pic" sz="quarter" idx="11"/>
          </p:nvPr>
        </p:nvSpPr>
        <p:spPr>
          <a:xfrm>
            <a:off x="0" y="0"/>
            <a:ext cx="12192000" cy="3429000"/>
          </a:xfrm>
          <a:prstGeom prst="rect">
            <a:avLst/>
          </a:prstGeom>
          <a:noFill/>
          <a:ln>
            <a:noFill/>
          </a:ln>
        </p:spPr>
        <p:txBody>
          <a:bodyPr lIns="0" tIns="0" rIns="0" bIns="0" anchor="ctr" anchorCtr="1"/>
          <a:lstStyle>
            <a:lvl1pPr marL="0" indent="0">
              <a:buNone/>
              <a:defRPr>
                <a:solidFill>
                  <a:schemeClr val="tx2"/>
                </a:solidFill>
              </a:defRPr>
            </a:lvl1pPr>
          </a:lstStyle>
          <a:p>
            <a:r>
              <a:rPr lang="en-US"/>
              <a:t>Click icon to add picture</a:t>
            </a:r>
          </a:p>
        </p:txBody>
      </p:sp>
      <p:sp>
        <p:nvSpPr>
          <p:cNvPr id="7" name="Rectangle 6">
            <a:extLst>
              <a:ext uri="{FF2B5EF4-FFF2-40B4-BE49-F238E27FC236}">
                <a16:creationId xmlns:a16="http://schemas.microsoft.com/office/drawing/2014/main" id="{08033FDC-55EF-42E8-40A1-2BDB05C1834C}"/>
              </a:ext>
              <a:ext uri="{C183D7F6-B498-43B3-948B-1728B52AA6E4}">
                <adec:decorative xmlns:adec="http://schemas.microsoft.com/office/drawing/2017/decorative" val="1"/>
              </a:ext>
            </a:extLst>
          </p:cNvPr>
          <p:cNvSpPr>
            <a:spLocks noChangeAspect="1"/>
          </p:cNvSpPr>
          <p:nvPr/>
        </p:nvSpPr>
        <p:spPr>
          <a:xfrm>
            <a:off x="381000" y="3829050"/>
            <a:ext cx="457200" cy="114300"/>
          </a:xfrm>
          <a:prstGeom prst="rect">
            <a:avLst/>
          </a:prstGeom>
          <a:solidFill>
            <a:srgbClr val="80C7F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6"/>
              </a:solidFill>
            </a:endParaRPr>
          </a:p>
        </p:txBody>
      </p:sp>
      <p:sp>
        <p:nvSpPr>
          <p:cNvPr id="2" name="Title 1"/>
          <p:cNvSpPr>
            <a:spLocks noGrp="1"/>
          </p:cNvSpPr>
          <p:nvPr>
            <p:ph type="title"/>
          </p:nvPr>
        </p:nvSpPr>
        <p:spPr>
          <a:xfrm>
            <a:off x="381569" y="4229100"/>
            <a:ext cx="4800600" cy="886397"/>
          </a:xfrm>
          <a:prstGeom prst="rect">
            <a:avLst/>
          </a:prstGeom>
        </p:spPr>
        <p:txBody>
          <a:bodyPr wrap="square" lIns="0" tIns="0" rIns="0" bIns="0" anchor="t" anchorCtr="0">
            <a:spAutoFit/>
          </a:bodyPr>
          <a:lstStyle>
            <a:lvl1pPr>
              <a:defRPr lang="en-US" sz="3200" dirty="0">
                <a:solidFill>
                  <a:schemeClr val="tx2"/>
                </a:solidFill>
              </a:defRPr>
            </a:lvl1pPr>
          </a:lstStyle>
          <a:p>
            <a:pPr marL="0" lvl="0"/>
            <a:r>
              <a:rPr lang="en-US"/>
              <a:t>Click to edit Master title style</a:t>
            </a:r>
          </a:p>
        </p:txBody>
      </p:sp>
      <p:sp>
        <p:nvSpPr>
          <p:cNvPr id="9" name="Content Placeholder 9">
            <a:extLst>
              <a:ext uri="{FF2B5EF4-FFF2-40B4-BE49-F238E27FC236}">
                <a16:creationId xmlns:a16="http://schemas.microsoft.com/office/drawing/2014/main" id="{22707C3E-AA17-F74E-2CC0-F61663C5E36B}"/>
              </a:ext>
            </a:extLst>
          </p:cNvPr>
          <p:cNvSpPr>
            <a:spLocks noGrp="1"/>
          </p:cNvSpPr>
          <p:nvPr>
            <p:ph sz="quarter" idx="14"/>
          </p:nvPr>
        </p:nvSpPr>
        <p:spPr>
          <a:xfrm>
            <a:off x="6096000" y="3829050"/>
            <a:ext cx="5715000" cy="2343150"/>
          </a:xfrm>
          <a:prstGeom prst="rect">
            <a:avLst/>
          </a:prstGeom>
        </p:spPr>
        <p:txBody>
          <a:bodyPr lIns="0" tIns="0" rIns="0" bIns="0"/>
          <a:lstStyle>
            <a:lvl1pPr marL="0" indent="0">
              <a:lnSpc>
                <a:spcPct val="100000"/>
              </a:lnSpc>
              <a:spcBef>
                <a:spcPts val="1800"/>
              </a:spcBef>
              <a:buClr>
                <a:srgbClr val="808080"/>
              </a:buClr>
              <a:buNone/>
              <a:defRPr sz="1800" b="0">
                <a:solidFill>
                  <a:schemeClr val="tx2"/>
                </a:solidFill>
              </a:defRPr>
            </a:lvl1pPr>
            <a:lvl2pPr marL="228594" indent="-228594">
              <a:lnSpc>
                <a:spcPct val="100000"/>
              </a:lnSpc>
              <a:spcBef>
                <a:spcPts val="1200"/>
              </a:spcBef>
              <a:buClr>
                <a:srgbClr val="80C7FB"/>
              </a:buClr>
              <a:buFont typeface="Arial" panose="020B0604020202020204" pitchFamily="34" charset="0"/>
              <a:buChar char="•"/>
              <a:defRPr sz="1600" b="0">
                <a:solidFill>
                  <a:schemeClr val="tx2"/>
                </a:solidFill>
              </a:defRPr>
            </a:lvl2pPr>
            <a:lvl3pPr marL="685783" indent="-228594">
              <a:lnSpc>
                <a:spcPct val="100000"/>
              </a:lnSpc>
              <a:spcBef>
                <a:spcPts val="600"/>
              </a:spcBef>
              <a:buClr>
                <a:srgbClr val="80C7FB"/>
              </a:buClr>
              <a:buFont typeface="Arial" panose="020B0604020202020204" pitchFamily="34" charset="0"/>
              <a:buChar char="–"/>
              <a:defRPr sz="1200" b="0">
                <a:solidFill>
                  <a:schemeClr val="tx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2" name="Subtitle 2">
            <a:extLst>
              <a:ext uri="{FF2B5EF4-FFF2-40B4-BE49-F238E27FC236}">
                <a16:creationId xmlns:a16="http://schemas.microsoft.com/office/drawing/2014/main" id="{7EC10F5B-4C21-AEA3-115E-942A040690DC}"/>
              </a:ext>
            </a:extLst>
          </p:cNvPr>
          <p:cNvSpPr>
            <a:spLocks noGrp="1"/>
          </p:cNvSpPr>
          <p:nvPr>
            <p:ph type="subTitle" idx="10"/>
          </p:nvPr>
        </p:nvSpPr>
        <p:spPr>
          <a:xfrm>
            <a:off x="381000" y="5600700"/>
            <a:ext cx="4800600" cy="571500"/>
          </a:xfrm>
          <a:prstGeom prst="rect">
            <a:avLst/>
          </a:prstGeom>
        </p:spPr>
        <p:txBody>
          <a:bodyPr wrap="square" lIns="0" tIns="0" rIns="0" bIns="0" anchor="t" anchorCtr="0">
            <a:noAutofit/>
          </a:bodyPr>
          <a:lstStyle>
            <a:lvl1pPr marL="0" indent="0" algn="l">
              <a:lnSpc>
                <a:spcPct val="100000"/>
              </a:lnSpc>
              <a:spcBef>
                <a:spcPts val="1200"/>
              </a:spcBef>
              <a:buNone/>
              <a:defRPr sz="1800">
                <a:solidFill>
                  <a:srgbClr val="80C7FB"/>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0684745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291092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Subtitle 2"/>
          <p:cNvSpPr>
            <a:spLocks noGrp="1"/>
          </p:cNvSpPr>
          <p:nvPr>
            <p:ph type="subTitle" idx="1"/>
          </p:nvPr>
        </p:nvSpPr>
        <p:spPr>
          <a:xfrm>
            <a:off x="381000" y="857250"/>
            <a:ext cx="11430000"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3943750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00200"/>
            <a:ext cx="11430000" cy="4572000"/>
          </a:xfrm>
          <a:prstGeom prst="rect">
            <a:avLst/>
          </a:prstGeom>
        </p:spPr>
        <p:txBody>
          <a:bodyPr lIns="0" tIns="0" rIns="0" bIns="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0191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1" y="342900"/>
            <a:ext cx="11430000" cy="443198"/>
          </a:xfrm>
          <a:prstGeom prst="rect">
            <a:avLst/>
          </a:prstGeom>
        </p:spPr>
        <p:txBody>
          <a:bodyPr wrap="square" lIns="0" tIns="0" rIns="0" bIns="0">
            <a:spAutoFit/>
          </a:bodyPr>
          <a:lstStyle>
            <a:lvl1pPr>
              <a:defRPr sz="3200">
                <a:solidFill>
                  <a:schemeClr val="bg1"/>
                </a:solidFill>
                <a:latin typeface="+mj-lt"/>
              </a:defRPr>
            </a:lvl1pPr>
          </a:lstStyle>
          <a:p>
            <a:r>
              <a:rPr lang="en-US"/>
              <a:t>Click to edit Master title style</a:t>
            </a:r>
          </a:p>
        </p:txBody>
      </p:sp>
      <p:sp>
        <p:nvSpPr>
          <p:cNvPr id="3" name="Subtitle 2"/>
          <p:cNvSpPr>
            <a:spLocks noGrp="1"/>
          </p:cNvSpPr>
          <p:nvPr>
            <p:ph type="subTitle" idx="1"/>
          </p:nvPr>
        </p:nvSpPr>
        <p:spPr>
          <a:xfrm>
            <a:off x="385486" y="857250"/>
            <a:ext cx="11425529" cy="246221"/>
          </a:xfrm>
          <a:prstGeom prst="rect">
            <a:avLst/>
          </a:prstGeom>
        </p:spPr>
        <p:txBody>
          <a:bodyPr wrap="square" lIns="0" tIns="0" rIns="0" bIns="0">
            <a:spAutoFit/>
          </a:bodyPr>
          <a:lstStyle>
            <a:lvl1pPr marL="0" indent="0" algn="l">
              <a:lnSpc>
                <a:spcPct val="100000"/>
              </a:lnSpc>
              <a:spcBef>
                <a:spcPts val="0"/>
              </a:spcBef>
              <a:buNone/>
              <a:defRPr sz="1600">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Content Placeholder 2"/>
          <p:cNvSpPr>
            <a:spLocks noGrp="1"/>
          </p:cNvSpPr>
          <p:nvPr>
            <p:ph idx="10"/>
          </p:nvPr>
        </p:nvSpPr>
        <p:spPr>
          <a:xfrm>
            <a:off x="385486" y="1600200"/>
            <a:ext cx="11425529" cy="4572000"/>
          </a:xfrm>
          <a:prstGeom prst="rect">
            <a:avLst/>
          </a:prstGeom>
        </p:spPr>
        <p:txBody>
          <a:bodyPr lIns="0" tIns="0" rIns="0" bIns="0"/>
          <a:lstStyle>
            <a:lvl1pPr marL="228594" indent="-228594">
              <a:lnSpc>
                <a:spcPct val="100000"/>
              </a:lnSpc>
              <a:spcBef>
                <a:spcPts val="12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latin typeface="Arial" panose="020B0604020202020204" pitchFamily="34" charset="0"/>
              </a:defRPr>
            </a:lvl2pPr>
            <a:lvl3pPr marL="1066773" indent="-152396">
              <a:lnSpc>
                <a:spcPct val="100000"/>
              </a:lnSpc>
              <a:spcBef>
                <a:spcPts val="600"/>
              </a:spcBef>
              <a:buClr>
                <a:srgbClr val="808080"/>
              </a:buClr>
              <a:buFont typeface="Arial" panose="020B0604020202020204" pitchFamily="34" charset="0"/>
              <a:buChar char="▪"/>
              <a:defRPr sz="1400">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220445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lang="en-US" sz="3200" dirty="0">
                <a:solidFill>
                  <a:schemeClr val="bg1"/>
                </a:solidFill>
                <a:latin typeface="+mj-lt"/>
              </a:defRPr>
            </a:lvl1pPr>
          </a:lstStyle>
          <a:p>
            <a:pPr lvl="0"/>
            <a:r>
              <a:rPr lang="en-US"/>
              <a:t>Click to edit Master title style</a:t>
            </a:r>
          </a:p>
        </p:txBody>
      </p:sp>
      <p:sp>
        <p:nvSpPr>
          <p:cNvPr id="10" name="Content Placeholder 9"/>
          <p:cNvSpPr>
            <a:spLocks noGrp="1"/>
          </p:cNvSpPr>
          <p:nvPr>
            <p:ph sz="quarter" idx="10"/>
          </p:nvPr>
        </p:nvSpPr>
        <p:spPr>
          <a:xfrm>
            <a:off x="381000" y="1600200"/>
            <a:ext cx="5486400" cy="4572000"/>
          </a:xfrm>
          <a:prstGeom prst="rect">
            <a:avLst/>
          </a:prstGeom>
        </p:spPr>
        <p:txBody>
          <a:bodyPr lIns="0" tIns="0" rIns="0" bIns="0"/>
          <a:lstStyle>
            <a:lvl1pPr>
              <a:lnSpc>
                <a:spcPct val="100000"/>
              </a:lnSpc>
              <a:spcBef>
                <a:spcPts val="1200"/>
              </a:spcBef>
              <a:buClr>
                <a:srgbClr val="808080"/>
              </a:buClr>
              <a:defRPr sz="2400">
                <a:solidFill>
                  <a:schemeClr val="bg2"/>
                </a:solidFill>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defRPr>
            </a:lvl2pPr>
            <a:lvl3pPr marL="1142971" indent="-228594">
              <a:lnSpc>
                <a:spcPct val="100000"/>
              </a:lnSpc>
              <a:spcBef>
                <a:spcPts val="600"/>
              </a:spcBef>
              <a:buClr>
                <a:srgbClr val="808080"/>
              </a:buClr>
              <a:buFont typeface="Wingdings" panose="05000000000000000000" pitchFamily="2" charset="2"/>
              <a:buChar char="§"/>
              <a:defRPr sz="14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1" name="Content Placeholder 9"/>
          <p:cNvSpPr>
            <a:spLocks noGrp="1"/>
          </p:cNvSpPr>
          <p:nvPr>
            <p:ph sz="quarter" idx="11"/>
          </p:nvPr>
        </p:nvSpPr>
        <p:spPr>
          <a:xfrm>
            <a:off x="6324600" y="1600200"/>
            <a:ext cx="5486400" cy="4572000"/>
          </a:xfrm>
          <a:prstGeom prst="rect">
            <a:avLst/>
          </a:prstGeom>
        </p:spPr>
        <p:txBody>
          <a:bodyPr lIns="0" tIns="0" rIns="0" bIns="0"/>
          <a:lstStyle>
            <a:lvl1pPr>
              <a:lnSpc>
                <a:spcPct val="100000"/>
              </a:lnSpc>
              <a:spcBef>
                <a:spcPts val="1200"/>
              </a:spcBef>
              <a:buClr>
                <a:srgbClr val="808080"/>
              </a:buClr>
              <a:defRPr sz="2400">
                <a:solidFill>
                  <a:schemeClr val="bg2"/>
                </a:solidFill>
              </a:defRPr>
            </a:lvl1pPr>
            <a:lvl2pPr marL="685783" indent="-228594">
              <a:lnSpc>
                <a:spcPct val="100000"/>
              </a:lnSpc>
              <a:spcBef>
                <a:spcPts val="600"/>
              </a:spcBef>
              <a:buClr>
                <a:srgbClr val="808080"/>
              </a:buClr>
              <a:buFont typeface="Arial" panose="020B0604020202020204" pitchFamily="34" charset="0"/>
              <a:buChar char="–"/>
              <a:defRPr sz="1800">
                <a:solidFill>
                  <a:schemeClr val="bg2"/>
                </a:solidFill>
              </a:defRPr>
            </a:lvl2pPr>
            <a:lvl3pPr marL="1142971" indent="-228594">
              <a:lnSpc>
                <a:spcPct val="100000"/>
              </a:lnSpc>
              <a:spcBef>
                <a:spcPts val="600"/>
              </a:spcBef>
              <a:buClr>
                <a:srgbClr val="808080"/>
              </a:buClr>
              <a:buFont typeface="Wingdings" panose="05000000000000000000" pitchFamily="2" charset="2"/>
              <a:buChar char="§"/>
              <a:defRPr sz="14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898059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lumns w subtitles">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lang="en-US" sz="3200" dirty="0">
                <a:solidFill>
                  <a:schemeClr val="bg1"/>
                </a:solidFill>
                <a:latin typeface="+mj-lt"/>
              </a:defRPr>
            </a:lvl1pPr>
          </a:lstStyle>
          <a:p>
            <a:pPr lvl="0"/>
            <a:r>
              <a:rPr lang="en-US"/>
              <a:t>Click to edit Master title style</a:t>
            </a:r>
          </a:p>
        </p:txBody>
      </p:sp>
      <p:sp>
        <p:nvSpPr>
          <p:cNvPr id="4" name="Content Placeholder 3">
            <a:extLst>
              <a:ext uri="{FF2B5EF4-FFF2-40B4-BE49-F238E27FC236}">
                <a16:creationId xmlns:a16="http://schemas.microsoft.com/office/drawing/2014/main" id="{C1F1CEAD-C06E-4DD6-958D-A69C28387D94}"/>
              </a:ext>
            </a:extLst>
          </p:cNvPr>
          <p:cNvSpPr>
            <a:spLocks noGrp="1"/>
          </p:cNvSpPr>
          <p:nvPr>
            <p:ph sz="quarter" idx="13"/>
          </p:nvPr>
        </p:nvSpPr>
        <p:spPr>
          <a:xfrm>
            <a:off x="381000" y="1374370"/>
            <a:ext cx="5486400" cy="4797829"/>
          </a:xfrm>
          <a:prstGeom prst="rect">
            <a:avLst/>
          </a:prstGeom>
        </p:spPr>
        <p:txBody>
          <a:bodyPr lIns="0" tIns="0" rIns="0" bIns="91440"/>
          <a:lstStyle>
            <a:lvl1pPr marL="0" indent="0">
              <a:lnSpc>
                <a:spcPct val="100000"/>
              </a:lnSpc>
              <a:spcBef>
                <a:spcPts val="1800"/>
              </a:spcBef>
              <a:buNone/>
              <a:defRPr sz="2000" b="1" baseline="0">
                <a:solidFill>
                  <a:schemeClr val="bg1"/>
                </a:solidFill>
              </a:defRPr>
            </a:lvl1pPr>
            <a:lvl2pPr marL="230712" indent="-230712">
              <a:lnSpc>
                <a:spcPct val="100000"/>
              </a:lnSpc>
              <a:spcBef>
                <a:spcPts val="1200"/>
              </a:spcBef>
              <a:buClr>
                <a:srgbClr val="808080"/>
              </a:buClr>
              <a:defRPr sz="1800">
                <a:solidFill>
                  <a:schemeClr val="bg2"/>
                </a:solidFill>
              </a:defRPr>
            </a:lvl2pPr>
            <a:lvl3pPr marL="685783" indent="-230712">
              <a:lnSpc>
                <a:spcPct val="100000"/>
              </a:lnSpc>
              <a:spcBef>
                <a:spcPts val="600"/>
              </a:spcBef>
              <a:buClr>
                <a:srgbClr val="808080"/>
              </a:buClr>
              <a:buFont typeface="Arial" panose="020B0604020202020204" pitchFamily="34" charset="0"/>
              <a:buChar char="–"/>
              <a:defRPr sz="1400">
                <a:solidFill>
                  <a:schemeClr val="bg2"/>
                </a:solidFill>
              </a:defRPr>
            </a:lvl3pPr>
            <a:lvl4pPr marL="1140855" indent="-224361">
              <a:lnSpc>
                <a:spcPct val="100000"/>
              </a:lnSpc>
              <a:spcBef>
                <a:spcPts val="600"/>
              </a:spcBef>
              <a:buClr>
                <a:srgbClr val="808080"/>
              </a:buClr>
              <a:buFont typeface="Wingdings" panose="05000000000000000000" pitchFamily="2" charset="2"/>
              <a:buChar char="§"/>
              <a:defRPr sz="1200">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A0C49344-5A94-4BB8-B1F8-EC9EB43874D0}"/>
              </a:ext>
            </a:extLst>
          </p:cNvPr>
          <p:cNvSpPr>
            <a:spLocks noGrp="1"/>
          </p:cNvSpPr>
          <p:nvPr>
            <p:ph sz="quarter" idx="14"/>
          </p:nvPr>
        </p:nvSpPr>
        <p:spPr>
          <a:xfrm>
            <a:off x="6324600" y="1374370"/>
            <a:ext cx="5486400" cy="4797829"/>
          </a:xfrm>
          <a:prstGeom prst="rect">
            <a:avLst/>
          </a:prstGeom>
        </p:spPr>
        <p:txBody>
          <a:bodyPr lIns="0" tIns="0" rIns="0" bIns="91440"/>
          <a:lstStyle>
            <a:lvl1pPr marL="0" indent="0">
              <a:lnSpc>
                <a:spcPct val="100000"/>
              </a:lnSpc>
              <a:spcBef>
                <a:spcPts val="1800"/>
              </a:spcBef>
              <a:buNone/>
              <a:defRPr sz="2000" b="1" baseline="0">
                <a:solidFill>
                  <a:schemeClr val="bg1"/>
                </a:solidFill>
              </a:defRPr>
            </a:lvl1pPr>
            <a:lvl2pPr marL="230712" indent="-230712">
              <a:lnSpc>
                <a:spcPct val="100000"/>
              </a:lnSpc>
              <a:spcBef>
                <a:spcPts val="1200"/>
              </a:spcBef>
              <a:buClr>
                <a:srgbClr val="808080"/>
              </a:buClr>
              <a:defRPr sz="1800">
                <a:solidFill>
                  <a:schemeClr val="bg2"/>
                </a:solidFill>
              </a:defRPr>
            </a:lvl2pPr>
            <a:lvl3pPr marL="685783" indent="-230712">
              <a:lnSpc>
                <a:spcPct val="100000"/>
              </a:lnSpc>
              <a:spcBef>
                <a:spcPts val="600"/>
              </a:spcBef>
              <a:buClr>
                <a:srgbClr val="808080"/>
              </a:buClr>
              <a:buFont typeface="Arial" panose="020B0604020202020204" pitchFamily="34" charset="0"/>
              <a:buChar char="–"/>
              <a:defRPr sz="1400">
                <a:solidFill>
                  <a:schemeClr val="bg2"/>
                </a:solidFill>
              </a:defRPr>
            </a:lvl3pPr>
            <a:lvl4pPr marL="1140855" indent="-224361">
              <a:lnSpc>
                <a:spcPct val="100000"/>
              </a:lnSpc>
              <a:spcBef>
                <a:spcPts val="600"/>
              </a:spcBef>
              <a:buClr>
                <a:srgbClr val="808080"/>
              </a:buClr>
              <a:buFont typeface="Wingdings" panose="05000000000000000000" pitchFamily="2" charset="2"/>
              <a:buChar char="§"/>
              <a:defRPr sz="1200">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79220378"/>
      </p:ext>
    </p:extLst>
  </p:cSld>
  <p:clrMapOvr>
    <a:masterClrMapping/>
  </p:clrMapOvr>
  <p:extLst>
    <p:ext uri="{DCECCB84-F9BA-43D5-87BE-67443E8EF086}">
      <p15:sldGuideLst xmlns:p15="http://schemas.microsoft.com/office/powerpoint/2012/main">
        <p15:guide id="1" orient="horz" pos="120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s w subtitles">
    <p:spTree>
      <p:nvGrpSpPr>
        <p:cNvPr id="1" name=""/>
        <p:cNvGrpSpPr/>
        <p:nvPr/>
      </p:nvGrpSpPr>
      <p:grpSpPr>
        <a:xfrm>
          <a:off x="0" y="0"/>
          <a:ext cx="0" cy="0"/>
          <a:chOff x="0" y="0"/>
          <a:chExt cx="0" cy="0"/>
        </a:xfrm>
      </p:grpSpPr>
      <p:sp>
        <p:nvSpPr>
          <p:cNvPr id="2" name="Title 1"/>
          <p:cNvSpPr>
            <a:spLocks noGrp="1"/>
          </p:cNvSpPr>
          <p:nvPr>
            <p:ph type="title"/>
          </p:nvPr>
        </p:nvSpPr>
        <p:spPr>
          <a:xfrm>
            <a:off x="381000" y="342900"/>
            <a:ext cx="11430000" cy="443198"/>
          </a:xfrm>
          <a:prstGeom prst="rect">
            <a:avLst/>
          </a:prstGeom>
        </p:spPr>
        <p:txBody>
          <a:bodyPr wrap="square" lIns="0" tIns="0" rIns="0" bIns="0">
            <a:spAutoFit/>
          </a:bodyPr>
          <a:lstStyle>
            <a:lvl1pPr>
              <a:defRPr lang="en-US" sz="3200" dirty="0">
                <a:solidFill>
                  <a:schemeClr val="bg1"/>
                </a:solidFill>
                <a:latin typeface="+mj-lt"/>
              </a:defRPr>
            </a:lvl1pPr>
          </a:lstStyle>
          <a:p>
            <a:pPr lvl="0"/>
            <a:r>
              <a:rPr lang="en-US"/>
              <a:t>Click to edit Master title style</a:t>
            </a:r>
          </a:p>
        </p:txBody>
      </p:sp>
      <p:sp>
        <p:nvSpPr>
          <p:cNvPr id="9" name="Content Placeholder 9"/>
          <p:cNvSpPr>
            <a:spLocks noGrp="1"/>
          </p:cNvSpPr>
          <p:nvPr>
            <p:ph sz="quarter" idx="13"/>
          </p:nvPr>
        </p:nvSpPr>
        <p:spPr>
          <a:xfrm>
            <a:off x="381000"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2" name="Content Placeholder 9">
            <a:extLst>
              <a:ext uri="{FF2B5EF4-FFF2-40B4-BE49-F238E27FC236}">
                <a16:creationId xmlns:a16="http://schemas.microsoft.com/office/drawing/2014/main" id="{3C9CA1AB-E8E8-4338-8BB5-4C9F95D3899A}"/>
              </a:ext>
            </a:extLst>
          </p:cNvPr>
          <p:cNvSpPr>
            <a:spLocks noGrp="1"/>
          </p:cNvSpPr>
          <p:nvPr>
            <p:ph sz="quarter" idx="14"/>
          </p:nvPr>
        </p:nvSpPr>
        <p:spPr>
          <a:xfrm>
            <a:off x="4332836"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3" name="Content Placeholder 9">
            <a:extLst>
              <a:ext uri="{FF2B5EF4-FFF2-40B4-BE49-F238E27FC236}">
                <a16:creationId xmlns:a16="http://schemas.microsoft.com/office/drawing/2014/main" id="{B6586213-13AB-4801-9939-C1924B01D7D1}"/>
              </a:ext>
            </a:extLst>
          </p:cNvPr>
          <p:cNvSpPr>
            <a:spLocks noGrp="1"/>
          </p:cNvSpPr>
          <p:nvPr>
            <p:ph sz="quarter" idx="15"/>
          </p:nvPr>
        </p:nvSpPr>
        <p:spPr>
          <a:xfrm>
            <a:off x="8284230" y="1371600"/>
            <a:ext cx="3526327" cy="4800600"/>
          </a:xfrm>
          <a:prstGeom prst="rect">
            <a:avLst/>
          </a:prstGeom>
        </p:spPr>
        <p:txBody>
          <a:bodyPr lIns="0" tIns="0" rIns="0" bIns="0"/>
          <a:lstStyle>
            <a:lvl1pPr marL="0" indent="0">
              <a:lnSpc>
                <a:spcPct val="100000"/>
              </a:lnSpc>
              <a:spcBef>
                <a:spcPts val="1800"/>
              </a:spcBef>
              <a:buClr>
                <a:srgbClr val="808080"/>
              </a:buClr>
              <a:buNone/>
              <a:defRPr sz="1800" b="1">
                <a:solidFill>
                  <a:schemeClr val="bg1"/>
                </a:solidFill>
              </a:defRPr>
            </a:lvl1pPr>
            <a:lvl2pPr marL="228594" indent="-228594">
              <a:lnSpc>
                <a:spcPct val="100000"/>
              </a:lnSpc>
              <a:spcBef>
                <a:spcPts val="1200"/>
              </a:spcBef>
              <a:buClr>
                <a:srgbClr val="808080"/>
              </a:buClr>
              <a:buFont typeface="Arial" panose="020B0604020202020204" pitchFamily="34" charset="0"/>
              <a:buChar char="•"/>
              <a:defRPr sz="1600">
                <a:solidFill>
                  <a:schemeClr val="bg2"/>
                </a:solidFill>
              </a:defRPr>
            </a:lvl2pPr>
            <a:lvl3pPr marL="685783" indent="-228594">
              <a:lnSpc>
                <a:spcPct val="100000"/>
              </a:lnSpc>
              <a:spcBef>
                <a:spcPts val="600"/>
              </a:spcBef>
              <a:buClr>
                <a:srgbClr val="808080"/>
              </a:buClr>
              <a:buFont typeface="Arial" panose="020B0604020202020204" pitchFamily="34" charset="0"/>
              <a:buChar char="–"/>
              <a:defRPr sz="12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827663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1CDB-95CE-458B-A911-027A05894B80}"/>
              </a:ext>
            </a:extLst>
          </p:cNvPr>
          <p:cNvSpPr>
            <a:spLocks noGrp="1"/>
          </p:cNvSpPr>
          <p:nvPr>
            <p:ph type="title"/>
          </p:nvPr>
        </p:nvSpPr>
        <p:spPr>
          <a:xfrm>
            <a:off x="838200" y="-457200"/>
            <a:ext cx="10515600" cy="395816"/>
          </a:xfrm>
          <a:prstGeom prst="rect">
            <a:avLst/>
          </a:prstGeom>
        </p:spPr>
        <p:txBody>
          <a:bodyPr/>
          <a:lstStyle>
            <a:lvl1pPr algn="ctr">
              <a:defRPr sz="2400">
                <a:solidFill>
                  <a:schemeClr val="tx1"/>
                </a:solidFill>
              </a:defRPr>
            </a:lvl1pPr>
          </a:lstStyle>
          <a:p>
            <a:r>
              <a:rPr lang="en-US"/>
              <a:t>Click to edit Master title style</a:t>
            </a:r>
          </a:p>
        </p:txBody>
      </p:sp>
    </p:spTree>
    <p:extLst>
      <p:ext uri="{BB962C8B-B14F-4D97-AF65-F5344CB8AC3E}">
        <p14:creationId xmlns:p14="http://schemas.microsoft.com/office/powerpoint/2010/main" val="11945313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End log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0B410-C7E4-4036-89E5-3C58E91B269B}"/>
              </a:ext>
            </a:extLst>
          </p:cNvPr>
          <p:cNvSpPr>
            <a:spLocks noGrp="1"/>
          </p:cNvSpPr>
          <p:nvPr>
            <p:ph type="title"/>
          </p:nvPr>
        </p:nvSpPr>
        <p:spPr>
          <a:xfrm>
            <a:off x="838200" y="-457200"/>
            <a:ext cx="10515600" cy="395816"/>
          </a:xfrm>
          <a:prstGeom prst="rect">
            <a:avLst/>
          </a:prstGeom>
        </p:spPr>
        <p:txBody>
          <a:bodyPr/>
          <a:lstStyle>
            <a:lvl1pPr algn="ctr">
              <a:defRPr sz="2400"/>
            </a:lvl1pPr>
          </a:lstStyle>
          <a:p>
            <a:r>
              <a:rPr lang="en-US"/>
              <a:t>Click to edit Master title style</a:t>
            </a:r>
          </a:p>
        </p:txBody>
      </p:sp>
      <p:sp>
        <p:nvSpPr>
          <p:cNvPr id="209" name="Rectangle 208">
            <a:extLst>
              <a:ext uri="{FF2B5EF4-FFF2-40B4-BE49-F238E27FC236}">
                <a16:creationId xmlns:a16="http://schemas.microsoft.com/office/drawing/2014/main" id="{5BC7EE9C-562A-4519-B67A-EB99114D5C54}"/>
              </a:ext>
              <a:ext uri="{C183D7F6-B498-43B3-948B-1728B52AA6E4}">
                <adec:decorative xmlns:adec="http://schemas.microsoft.com/office/drawing/2017/decorative" val="1"/>
              </a:ext>
            </a:extLst>
          </p:cNvPr>
          <p:cNvSpPr>
            <a:spLocks noChangeAspect="1"/>
          </p:cNvSpPr>
          <p:nvPr/>
        </p:nvSpPr>
        <p:spPr>
          <a:xfrm>
            <a:off x="381000" y="400050"/>
            <a:ext cx="457200" cy="1143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pic>
        <p:nvPicPr>
          <p:cNvPr id="210" name="Picture 209">
            <a:extLst>
              <a:ext uri="{FF2B5EF4-FFF2-40B4-BE49-F238E27FC236}">
                <a16:creationId xmlns:a16="http://schemas.microsoft.com/office/drawing/2014/main" id="{9F395D62-9AFB-429C-85A8-BAAB83043A5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01171" y="6172200"/>
            <a:ext cx="2743200" cy="356618"/>
          </a:xfrm>
          <a:prstGeom prst="rect">
            <a:avLst/>
          </a:prstGeom>
        </p:spPr>
      </p:pic>
    </p:spTree>
    <p:extLst>
      <p:ext uri="{BB962C8B-B14F-4D97-AF65-F5344CB8AC3E}">
        <p14:creationId xmlns:p14="http://schemas.microsoft.com/office/powerpoint/2010/main" val="3582776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9665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22142652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p>
        </p:txBody>
      </p:sp>
    </p:spTree>
    <p:extLst>
      <p:ext uri="{BB962C8B-B14F-4D97-AF65-F5344CB8AC3E}">
        <p14:creationId xmlns:p14="http://schemas.microsoft.com/office/powerpoint/2010/main" val="3993649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_Blank">
    <p:spTree>
      <p:nvGrpSpPr>
        <p:cNvPr id="1" name=""/>
        <p:cNvGrpSpPr/>
        <p:nvPr/>
      </p:nvGrpSpPr>
      <p:grpSpPr>
        <a:xfrm>
          <a:off x="0" y="0"/>
          <a:ext cx="0" cy="0"/>
          <a:chOff x="0" y="0"/>
          <a:chExt cx="0" cy="0"/>
        </a:xfrm>
      </p:grpSpPr>
      <p:sp>
        <p:nvSpPr>
          <p:cNvPr id="9" name="Slide Number Placeholder 3">
            <a:extLst>
              <a:ext uri="{FF2B5EF4-FFF2-40B4-BE49-F238E27FC236}">
                <a16:creationId xmlns:a16="http://schemas.microsoft.com/office/drawing/2014/main" id="{6EC68F1B-6FFA-4D0F-D73F-22CEBB1BE3CF}"/>
              </a:ext>
            </a:extLst>
          </p:cNvPr>
          <p:cNvSpPr>
            <a:spLocks noGrp="1"/>
          </p:cNvSpPr>
          <p:nvPr>
            <p:ph type="sldNum" sz="quarter" idx="4"/>
          </p:nvPr>
        </p:nvSpPr>
        <p:spPr>
          <a:xfrm>
            <a:off x="109863" y="6485816"/>
            <a:ext cx="689128" cy="365125"/>
          </a:xfrm>
          <a:prstGeom prst="rect">
            <a:avLst/>
          </a:prstGeom>
        </p:spPr>
        <p:txBody>
          <a:bodyPr vert="horz" lIns="91440" tIns="45720" rIns="91440" bIns="45720" rtlCol="0" anchor="ctr"/>
          <a:lstStyle>
            <a:lvl1pPr algn="l">
              <a:defRPr sz="1000">
                <a:solidFill>
                  <a:schemeClr val="tx1">
                    <a:tint val="82000"/>
                  </a:schemeClr>
                </a:solidFill>
              </a:defRPr>
            </a:lvl1pPr>
          </a:lstStyle>
          <a:p>
            <a:fld id="{A673C63F-D27F-4A38-92F9-D2191D3E013A}" type="slidenum">
              <a:rPr lang="en-US" smtClean="0"/>
              <a:pPr/>
              <a:t>‹#›</a:t>
            </a:fld>
            <a:endParaRPr lang="en-US"/>
          </a:p>
        </p:txBody>
      </p:sp>
      <p:sp>
        <p:nvSpPr>
          <p:cNvPr id="12" name="Title 1">
            <a:extLst>
              <a:ext uri="{FF2B5EF4-FFF2-40B4-BE49-F238E27FC236}">
                <a16:creationId xmlns:a16="http://schemas.microsoft.com/office/drawing/2014/main" id="{23B4747D-4C45-621F-69A3-84E52035A95C}"/>
              </a:ext>
            </a:extLst>
          </p:cNvPr>
          <p:cNvSpPr>
            <a:spLocks noGrp="1"/>
          </p:cNvSpPr>
          <p:nvPr>
            <p:ph type="title"/>
          </p:nvPr>
        </p:nvSpPr>
        <p:spPr>
          <a:xfrm>
            <a:off x="454532" y="152400"/>
            <a:ext cx="11198752" cy="485335"/>
          </a:xfrm>
        </p:spPr>
        <p:txBody>
          <a:bodyPr/>
          <a:lstStyle>
            <a:lvl1pPr>
              <a:defRPr>
                <a:solidFill>
                  <a:schemeClr val="accent1"/>
                </a:solidFill>
              </a:defRPr>
            </a:lvl1pPr>
          </a:lstStyle>
          <a:p>
            <a:r>
              <a:rPr lang="en-US"/>
              <a:t>Click to edit Master title style</a:t>
            </a:r>
            <a:endParaRPr/>
          </a:p>
        </p:txBody>
      </p:sp>
      <p:sp>
        <p:nvSpPr>
          <p:cNvPr id="13" name="Content Placeholder 6">
            <a:extLst>
              <a:ext uri="{FF2B5EF4-FFF2-40B4-BE49-F238E27FC236}">
                <a16:creationId xmlns:a16="http://schemas.microsoft.com/office/drawing/2014/main" id="{3AF8E267-A055-E4B5-7C83-C9E7263CD716}"/>
              </a:ext>
            </a:extLst>
          </p:cNvPr>
          <p:cNvSpPr>
            <a:spLocks noGrp="1"/>
          </p:cNvSpPr>
          <p:nvPr>
            <p:ph sz="quarter" idx="13" hasCustomPrompt="1"/>
          </p:nvPr>
        </p:nvSpPr>
        <p:spPr>
          <a:xfrm>
            <a:off x="454530" y="1447800"/>
            <a:ext cx="6307777" cy="4636008"/>
          </a:xfrm>
        </p:spPr>
        <p:txBody>
          <a:bodyP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4" name="Text Placeholder 53">
            <a:extLst>
              <a:ext uri="{FF2B5EF4-FFF2-40B4-BE49-F238E27FC236}">
                <a16:creationId xmlns:a16="http://schemas.microsoft.com/office/drawing/2014/main" id="{5286239C-17D4-055D-7506-54C72635A7B6}"/>
              </a:ext>
            </a:extLst>
          </p:cNvPr>
          <p:cNvSpPr>
            <a:spLocks noGrp="1"/>
          </p:cNvSpPr>
          <p:nvPr>
            <p:ph type="body" sz="quarter" idx="14" hasCustomPrompt="1"/>
          </p:nvPr>
        </p:nvSpPr>
        <p:spPr>
          <a:xfrm>
            <a:off x="454532" y="731530"/>
            <a:ext cx="11198745" cy="365739"/>
          </a:xfrm>
        </p:spPr>
        <p:txBody>
          <a:bodyPr/>
          <a:lstStyle>
            <a:lvl1pPr marL="0" indent="0">
              <a:spcBef>
                <a:spcPts val="0"/>
              </a:spcBef>
              <a:buNone/>
              <a:defRPr sz="2000">
                <a:solidFill>
                  <a:schemeClr val="tx1"/>
                </a:solidFill>
              </a:defRPr>
            </a:lvl1pPr>
            <a:lvl2pPr marL="0" indent="0">
              <a:spcBef>
                <a:spcPts val="0"/>
              </a:spcBef>
              <a:buNone/>
              <a:defRPr sz="2000">
                <a:solidFill>
                  <a:srgbClr val="724D8D"/>
                </a:solidFill>
              </a:defRPr>
            </a:lvl2pPr>
            <a:lvl3pPr marL="0" indent="0">
              <a:spcBef>
                <a:spcPts val="0"/>
              </a:spcBef>
              <a:buNone/>
              <a:defRPr sz="2000">
                <a:solidFill>
                  <a:srgbClr val="724D8D"/>
                </a:solidFill>
              </a:defRPr>
            </a:lvl3pPr>
            <a:lvl4pPr marL="0" indent="0">
              <a:spcBef>
                <a:spcPts val="0"/>
              </a:spcBef>
              <a:buNone/>
              <a:defRPr sz="2000">
                <a:solidFill>
                  <a:srgbClr val="724D8D"/>
                </a:solidFill>
              </a:defRPr>
            </a:lvl4pPr>
            <a:lvl5pPr marL="0" indent="0">
              <a:spcBef>
                <a:spcPts val="0"/>
              </a:spcBef>
              <a:buNone/>
              <a:defRPr sz="2000">
                <a:solidFill>
                  <a:srgbClr val="724D8D"/>
                </a:solidFill>
              </a:defRPr>
            </a:lvl5pPr>
            <a:lvl6pPr marL="0" indent="0">
              <a:spcBef>
                <a:spcPts val="0"/>
              </a:spcBef>
              <a:buNone/>
              <a:defRPr sz="2000">
                <a:solidFill>
                  <a:srgbClr val="724D8D"/>
                </a:solidFill>
              </a:defRPr>
            </a:lvl6pPr>
            <a:lvl7pPr marL="0" indent="0">
              <a:spcBef>
                <a:spcPts val="0"/>
              </a:spcBef>
              <a:buNone/>
              <a:defRPr sz="2000">
                <a:solidFill>
                  <a:srgbClr val="724D8D"/>
                </a:solidFill>
              </a:defRPr>
            </a:lvl7pPr>
            <a:lvl8pPr marL="0" indent="0">
              <a:spcBef>
                <a:spcPts val="0"/>
              </a:spcBef>
              <a:buNone/>
              <a:defRPr sz="2000">
                <a:solidFill>
                  <a:srgbClr val="724D8D"/>
                </a:solidFill>
              </a:defRPr>
            </a:lvl8pPr>
            <a:lvl9pPr marL="0" indent="0">
              <a:spcBef>
                <a:spcPts val="0"/>
              </a:spcBef>
              <a:buNone/>
              <a:defRPr sz="2000">
                <a:solidFill>
                  <a:srgbClr val="724D8D"/>
                </a:solidFill>
              </a:defRPr>
            </a:lvl9pPr>
          </a:lstStyle>
          <a:p>
            <a:pPr lvl="0"/>
            <a:r>
              <a:t>Click to add subtitle</a:t>
            </a:r>
          </a:p>
        </p:txBody>
      </p:sp>
    </p:spTree>
    <p:extLst>
      <p:ext uri="{BB962C8B-B14F-4D97-AF65-F5344CB8AC3E}">
        <p14:creationId xmlns:p14="http://schemas.microsoft.com/office/powerpoint/2010/main" val="37142344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6710D8F-0C63-AC41-AED8-7250F0DC1BE5}"/>
              </a:ext>
            </a:extLst>
          </p:cNvPr>
          <p:cNvGraphicFramePr>
            <a:graphicFrameLocks noChangeAspect="1"/>
          </p:cNvGraphicFramePr>
          <p:nvPr>
            <p:custDataLst>
              <p:tags r:id="rId1"/>
            </p:custDataLst>
            <p:extLst>
              <p:ext uri="{D42A27DB-BD31-4B8C-83A1-F6EECF244321}">
                <p14:modId xmlns:p14="http://schemas.microsoft.com/office/powerpoint/2010/main" val="1090509469"/>
              </p:ext>
            </p:extLst>
          </p:nvPr>
        </p:nvGraphicFramePr>
        <p:xfrm>
          <a:off x="1589"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F6710D8F-0C63-AC41-AED8-7250F0DC1BE5}"/>
                          </a:ext>
                        </a:extLst>
                      </p:cNvPr>
                      <p:cNvPicPr/>
                      <p:nvPr/>
                    </p:nvPicPr>
                    <p:blipFill>
                      <a:blip r:embed="rId4"/>
                      <a:stretch>
                        <a:fillRect/>
                      </a:stretch>
                    </p:blipFill>
                    <p:spPr>
                      <a:xfrm>
                        <a:off x="1589"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B793E11-CA7F-4409-AF5F-4334AE726D78}"/>
              </a:ext>
            </a:extLst>
          </p:cNvPr>
          <p:cNvSpPr>
            <a:spLocks noGrp="1"/>
          </p:cNvSpPr>
          <p:nvPr>
            <p:ph type="title" hasCustomPrompt="1"/>
          </p:nvPr>
        </p:nvSpPr>
        <p:spPr>
          <a:xfrm>
            <a:off x="457200" y="384049"/>
            <a:ext cx="11274552" cy="364097"/>
          </a:xfrm>
        </p:spPr>
        <p:txBody>
          <a:bodyPr vert="horz"/>
          <a:lstStyle/>
          <a:p>
            <a:r>
              <a:rPr lang="en-US"/>
              <a:t>Click to edit master title style</a:t>
            </a:r>
          </a:p>
        </p:txBody>
      </p:sp>
      <p:sp>
        <p:nvSpPr>
          <p:cNvPr id="3" name="Content Placeholder 2">
            <a:extLst>
              <a:ext uri="{FF2B5EF4-FFF2-40B4-BE49-F238E27FC236}">
                <a16:creationId xmlns:a16="http://schemas.microsoft.com/office/drawing/2014/main" id="{24FC1E18-3994-4821-BBED-2E435EACD903}"/>
              </a:ext>
            </a:extLst>
          </p:cNvPr>
          <p:cNvSpPr>
            <a:spLocks noGrp="1"/>
          </p:cNvSpPr>
          <p:nvPr>
            <p:ph idx="1" hasCustomPrompt="1"/>
          </p:nvPr>
        </p:nvSpPr>
        <p:spPr/>
        <p:txBody>
          <a:bodyPr/>
          <a:lstStyle>
            <a:lvl1pPr>
              <a:spcBef>
                <a:spcPts val="0"/>
              </a:spcBef>
              <a:defRPr sz="1600"/>
            </a:lvl1pPr>
            <a:lvl2pPr>
              <a:spcBef>
                <a:spcPts val="0"/>
              </a:spcBef>
              <a:defRPr sz="1600"/>
            </a:lvl2pPr>
            <a:lvl3pPr>
              <a:spcBef>
                <a:spcPts val="0"/>
              </a:spcBef>
              <a:defRPr sz="1600"/>
            </a:lvl3pPr>
            <a:lvl4pPr>
              <a:spcBef>
                <a:spcPts val="0"/>
              </a:spcBef>
              <a:defRPr sz="1600"/>
            </a:lvl4pPr>
            <a:lvl5pPr>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8">
            <a:extLst>
              <a:ext uri="{FF2B5EF4-FFF2-40B4-BE49-F238E27FC236}">
                <a16:creationId xmlns:a16="http://schemas.microsoft.com/office/drawing/2014/main" id="{CF42219C-BCA8-76FE-3C4F-1BE9F057E36D}"/>
              </a:ext>
            </a:extLst>
          </p:cNvPr>
          <p:cNvSpPr>
            <a:spLocks noGrp="1"/>
          </p:cNvSpPr>
          <p:nvPr>
            <p:ph type="body" sz="quarter" idx="13" hasCustomPrompt="1"/>
          </p:nvPr>
        </p:nvSpPr>
        <p:spPr>
          <a:xfrm>
            <a:off x="457200" y="822363"/>
            <a:ext cx="11264901"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960735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BD75D-9591-3B43-9FB3-01B3C14778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3">
            <a:extLst>
              <a:ext uri="{FF2B5EF4-FFF2-40B4-BE49-F238E27FC236}">
                <a16:creationId xmlns:a16="http://schemas.microsoft.com/office/drawing/2014/main" id="{D5648383-7006-D74F-8E56-EA2C807A296B}"/>
              </a:ext>
            </a:extLst>
          </p:cNvPr>
          <p:cNvSpPr>
            <a:spLocks noGrp="1"/>
          </p:cNvSpPr>
          <p:nvPr>
            <p:ph type="ftr" sz="quarter" idx="13"/>
          </p:nvPr>
        </p:nvSpPr>
        <p:spPr>
          <a:xfrm>
            <a:off x="407989" y="6498453"/>
            <a:ext cx="6919087" cy="270483"/>
          </a:xfrm>
          <a:prstGeom prst="rect">
            <a:avLst/>
          </a:prstGeom>
        </p:spPr>
        <p:txBody>
          <a:bodyPr/>
          <a:lstStyle>
            <a:lvl1pPr algn="l">
              <a:defRPr sz="600">
                <a:solidFill>
                  <a:schemeClr val="tx1"/>
                </a:solidFill>
              </a:defRPr>
            </a:lvl1pPr>
          </a:lstStyle>
          <a:p>
            <a:r>
              <a:rPr lang="en-AU"/>
              <a:t>© Cochlear Limited 2023</a:t>
            </a:r>
            <a:endParaRPr lang="en-US"/>
          </a:p>
        </p:txBody>
      </p:sp>
      <p:sp>
        <p:nvSpPr>
          <p:cNvPr id="4" name="Title 3">
            <a:extLst>
              <a:ext uri="{FF2B5EF4-FFF2-40B4-BE49-F238E27FC236}">
                <a16:creationId xmlns:a16="http://schemas.microsoft.com/office/drawing/2014/main" id="{C5229D4E-8206-D746-9436-18533241309F}"/>
              </a:ext>
            </a:extLst>
          </p:cNvPr>
          <p:cNvSpPr>
            <a:spLocks noGrp="1"/>
          </p:cNvSpPr>
          <p:nvPr>
            <p:ph type="title"/>
          </p:nvPr>
        </p:nvSpPr>
        <p:spPr>
          <a:xfrm>
            <a:off x="407988" y="536078"/>
            <a:ext cx="10412412" cy="510402"/>
          </a:xfrm>
        </p:spPr>
        <p:txBody>
          <a:bodyPr/>
          <a:lstStyle>
            <a:lvl1pPr>
              <a:defRPr>
                <a:solidFill>
                  <a:schemeClr val="tx1"/>
                </a:solidFill>
              </a:defRPr>
            </a:lvl1pPr>
          </a:lstStyle>
          <a:p>
            <a:r>
              <a:rPr lang="en-US"/>
              <a:t>Click to edit Master title style</a:t>
            </a:r>
          </a:p>
        </p:txBody>
      </p:sp>
      <p:sp>
        <p:nvSpPr>
          <p:cNvPr id="8" name="Text Placeholder 11">
            <a:extLst>
              <a:ext uri="{FF2B5EF4-FFF2-40B4-BE49-F238E27FC236}">
                <a16:creationId xmlns:a16="http://schemas.microsoft.com/office/drawing/2014/main" id="{C21587DB-9D7C-4742-8570-FE759455D929}"/>
              </a:ext>
            </a:extLst>
          </p:cNvPr>
          <p:cNvSpPr>
            <a:spLocks noGrp="1"/>
          </p:cNvSpPr>
          <p:nvPr>
            <p:ph type="body" sz="quarter" idx="14"/>
          </p:nvPr>
        </p:nvSpPr>
        <p:spPr>
          <a:xfrm>
            <a:off x="407989" y="166564"/>
            <a:ext cx="6990339" cy="201737"/>
          </a:xfrm>
        </p:spPr>
        <p:txBody>
          <a:bodyPr>
            <a:noAutofit/>
          </a:bodyPr>
          <a:lstStyle>
            <a:lvl1pPr>
              <a:defRPr sz="1050" b="1">
                <a:solidFill>
                  <a:schemeClr val="tx1">
                    <a:lumMod val="60000"/>
                    <a:lumOff val="40000"/>
                  </a:schemeClr>
                </a:solidFill>
              </a:defRPr>
            </a:lvl1pPr>
          </a:lstStyle>
          <a:p>
            <a:pPr lvl="0"/>
            <a:r>
              <a:rPr lang="en-US"/>
              <a:t>Click to edit Master text styles</a:t>
            </a:r>
          </a:p>
        </p:txBody>
      </p:sp>
    </p:spTree>
    <p:extLst>
      <p:ext uri="{BB962C8B-B14F-4D97-AF65-F5344CB8AC3E}">
        <p14:creationId xmlns:p14="http://schemas.microsoft.com/office/powerpoint/2010/main" val="3596507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800034" y="1828800"/>
            <a:ext cx="7560401" cy="1970800"/>
          </a:xfrm>
          <a:prstGeom prst="rect">
            <a:avLst/>
          </a:prstGeom>
        </p:spPr>
        <p:txBody>
          <a:bodyPr/>
          <a:lstStyle>
            <a:lvl1pPr>
              <a:defRPr sz="6933"/>
            </a:lvl1pPr>
          </a:lstStyle>
          <a:p>
            <a:r>
              <a:t>Title Text</a:t>
            </a:r>
          </a:p>
        </p:txBody>
      </p:sp>
      <p:sp>
        <p:nvSpPr>
          <p:cNvPr id="12" name="Body Level One…"/>
          <p:cNvSpPr txBox="1">
            <a:spLocks noGrp="1"/>
          </p:cNvSpPr>
          <p:nvPr>
            <p:ph type="body" sz="quarter" idx="1"/>
          </p:nvPr>
        </p:nvSpPr>
        <p:spPr>
          <a:xfrm>
            <a:off x="800034" y="4106866"/>
            <a:ext cx="7483601" cy="1547201"/>
          </a:xfrm>
          <a:prstGeom prst="rect">
            <a:avLst/>
          </a:prstGeom>
        </p:spPr>
        <p:txBody>
          <a:bodyPr>
            <a:normAutofit/>
          </a:bodyPr>
          <a:lstStyle>
            <a:lvl1pPr marL="457189" indent="-304792">
              <a:buClrTx/>
              <a:buSzTx/>
              <a:buFontTx/>
              <a:buNone/>
              <a:defRPr sz="3733" b="0">
                <a:solidFill>
                  <a:srgbClr val="2D8FE2"/>
                </a:solidFill>
              </a:defRPr>
            </a:lvl1pPr>
            <a:lvl2pPr marL="457189" indent="330192">
              <a:buClrTx/>
              <a:buSzTx/>
              <a:buFontTx/>
              <a:buNone/>
              <a:defRPr sz="3733" b="0">
                <a:solidFill>
                  <a:srgbClr val="2D8FE2"/>
                </a:solidFill>
              </a:defRPr>
            </a:lvl2pPr>
            <a:lvl3pPr marL="457189" indent="965176">
              <a:buClrTx/>
              <a:buSzTx/>
              <a:buFontTx/>
              <a:buNone/>
              <a:defRPr sz="3733" b="0">
                <a:solidFill>
                  <a:srgbClr val="2D8FE2"/>
                </a:solidFill>
              </a:defRPr>
            </a:lvl3pPr>
            <a:lvl4pPr marL="457189" indent="1574761">
              <a:buClrTx/>
              <a:buSzTx/>
              <a:buFontTx/>
              <a:buNone/>
              <a:defRPr sz="3733" b="0">
                <a:solidFill>
                  <a:srgbClr val="2D8FE2"/>
                </a:solidFill>
              </a:defRPr>
            </a:lvl4pPr>
            <a:lvl5pPr marL="457189" indent="2184345">
              <a:buClrTx/>
              <a:buSzTx/>
              <a:buFontTx/>
              <a:buNone/>
              <a:defRPr sz="3733" b="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13" name="Google Shape;20;p3"/>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13969690"/>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White-Blank_1">
    <p:spTree>
      <p:nvGrpSpPr>
        <p:cNvPr id="1" name=""/>
        <p:cNvGrpSpPr/>
        <p:nvPr/>
      </p:nvGrpSpPr>
      <p:grpSpPr>
        <a:xfrm>
          <a:off x="0" y="0"/>
          <a:ext cx="0" cy="0"/>
          <a:chOff x="0" y="0"/>
          <a:chExt cx="0" cy="0"/>
        </a:xfrm>
      </p:grpSpPr>
      <p:sp>
        <p:nvSpPr>
          <p:cNvPr id="31" name="Title Text"/>
          <p:cNvSpPr txBox="1">
            <a:spLocks noGrp="1"/>
          </p:cNvSpPr>
          <p:nvPr>
            <p:ph type="title"/>
          </p:nvPr>
        </p:nvSpPr>
        <p:spPr>
          <a:xfrm>
            <a:off x="800032" y="2503666"/>
            <a:ext cx="2522001" cy="1970801"/>
          </a:xfrm>
          <a:prstGeom prst="rect">
            <a:avLst/>
          </a:prstGeom>
        </p:spPr>
        <p:txBody>
          <a:bodyPr anchor="ctr"/>
          <a:lstStyle>
            <a:lvl1pPr>
              <a:defRPr sz="4400"/>
            </a:lvl1pPr>
          </a:lstStyle>
          <a:p>
            <a:r>
              <a:t>Title Text</a:t>
            </a:r>
          </a:p>
        </p:txBody>
      </p:sp>
      <p:sp>
        <p:nvSpPr>
          <p:cNvPr id="32" name="Body Level One…"/>
          <p:cNvSpPr txBox="1">
            <a:spLocks noGrp="1"/>
          </p:cNvSpPr>
          <p:nvPr>
            <p:ph type="body" sz="quarter" idx="1"/>
          </p:nvPr>
        </p:nvSpPr>
        <p:spPr>
          <a:xfrm>
            <a:off x="5181600" y="2833366"/>
            <a:ext cx="6133600" cy="1191201"/>
          </a:xfrm>
          <a:prstGeom prst="rect">
            <a:avLst/>
          </a:prstGeom>
        </p:spPr>
        <p:txBody>
          <a:bodyPr anchor="ctr">
            <a:normAutofit/>
          </a:bodyPr>
          <a:lstStyle>
            <a:lvl1pPr indent="-482588">
              <a:buSzPts val="2100"/>
              <a:buFontTx/>
              <a:buAutoNum type="arabicPeriod"/>
              <a:defRPr sz="2800"/>
            </a:lvl1pPr>
            <a:lvl2pPr marL="1430831" indent="-634984">
              <a:buSzPts val="2100"/>
              <a:buFontTx/>
              <a:buAutoNum type="alphaLcPeriod"/>
              <a:defRPr sz="2800"/>
            </a:lvl2pPr>
            <a:lvl3pPr marL="2040416" indent="-634984">
              <a:buSzPts val="2100"/>
              <a:buFontTx/>
              <a:buAutoNum type="romanLcPeriod"/>
              <a:defRPr sz="2800"/>
            </a:lvl3pPr>
            <a:lvl4pPr marL="2650000" indent="-634984">
              <a:buSzPts val="2100"/>
              <a:buFontTx/>
              <a:buAutoNum type="arabicPeriod"/>
              <a:defRPr sz="2800"/>
            </a:lvl4pPr>
            <a:lvl5pPr marL="3259585" indent="-634984">
              <a:buSzPts val="2100"/>
              <a:buFontTx/>
              <a:buAutoNum type="alphaLcPeriod"/>
              <a:defRPr sz="2800"/>
            </a:lvl5pPr>
          </a:lstStyle>
          <a:p>
            <a:r>
              <a:t>Body Level One</a:t>
            </a:r>
          </a:p>
          <a:p>
            <a:pPr lvl="1"/>
            <a:r>
              <a:t>Body Level Two</a:t>
            </a:r>
          </a:p>
          <a:p>
            <a:pPr lvl="2"/>
            <a:r>
              <a:t>Body Level Three</a:t>
            </a:r>
          </a:p>
          <a:p>
            <a:pPr lvl="3"/>
            <a:r>
              <a:t>Body Level Four</a:t>
            </a:r>
          </a:p>
          <a:p>
            <a:pPr lvl="4"/>
            <a:r>
              <a:t>Body Level Five</a:t>
            </a:r>
          </a:p>
        </p:txBody>
      </p:sp>
      <p:sp>
        <p:nvSpPr>
          <p:cNvPr id="33" name="Google Shape;33;p5"/>
          <p:cNvSpPr/>
          <p:nvPr/>
        </p:nvSpPr>
        <p:spPr>
          <a:xfrm flipH="1">
            <a:off x="3657599" y="1451112"/>
            <a:ext cx="3" cy="3956000"/>
          </a:xfrm>
          <a:prstGeom prst="line">
            <a:avLst/>
          </a:prstGeom>
          <a:ln w="12700">
            <a:solidFill>
              <a:srgbClr val="E3E7F0"/>
            </a:solidFill>
            <a:miter/>
          </a:ln>
        </p:spPr>
        <p:txBody>
          <a:bodyPr lIns="60959" rIns="60959"/>
          <a:lstStyle/>
          <a:p>
            <a:endParaRPr sz="2400"/>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97728309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Plain Slide 1">
    <p:spTree>
      <p:nvGrpSpPr>
        <p:cNvPr id="1" name=""/>
        <p:cNvGrpSpPr/>
        <p:nvPr/>
      </p:nvGrpSpPr>
      <p:grpSpPr>
        <a:xfrm>
          <a:off x="0" y="0"/>
          <a:ext cx="0" cy="0"/>
          <a:chOff x="0" y="0"/>
          <a:chExt cx="0" cy="0"/>
        </a:xfrm>
      </p:grpSpPr>
      <p:sp>
        <p:nvSpPr>
          <p:cNvPr id="41" name="Title Text"/>
          <p:cNvSpPr txBox="1">
            <a:spLocks noGrp="1"/>
          </p:cNvSpPr>
          <p:nvPr>
            <p:ph type="title"/>
          </p:nvPr>
        </p:nvSpPr>
        <p:spPr>
          <a:xfrm>
            <a:off x="304801" y="182880"/>
            <a:ext cx="10040401" cy="792000"/>
          </a:xfrm>
          <a:prstGeom prst="rect">
            <a:avLst/>
          </a:prstGeom>
        </p:spPr>
        <p:txBody>
          <a:bodyPr anchor="ctr"/>
          <a:lstStyle>
            <a:lvl1pPr>
              <a:defRPr sz="3867"/>
            </a:lvl1pPr>
          </a:lstStyle>
          <a:p>
            <a:r>
              <a:t>Title Text</a:t>
            </a:r>
          </a:p>
        </p:txBody>
      </p:sp>
      <p:sp>
        <p:nvSpPr>
          <p:cNvPr id="42" name="Body Level One…"/>
          <p:cNvSpPr txBox="1">
            <a:spLocks noGrp="1"/>
          </p:cNvSpPr>
          <p:nvPr>
            <p:ph type="body" sz="half" idx="1"/>
          </p:nvPr>
        </p:nvSpPr>
        <p:spPr>
          <a:xfrm>
            <a:off x="304800" y="1341120"/>
            <a:ext cx="10166400" cy="22496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3" name="Google Shape;40;p6"/>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76079992"/>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Plain Slide 1_1_1">
    <p:spTree>
      <p:nvGrpSpPr>
        <p:cNvPr id="1" name=""/>
        <p:cNvGrpSpPr/>
        <p:nvPr/>
      </p:nvGrpSpPr>
      <p:grpSpPr>
        <a:xfrm>
          <a:off x="0" y="0"/>
          <a:ext cx="0" cy="0"/>
          <a:chOff x="0" y="0"/>
          <a:chExt cx="0" cy="0"/>
        </a:xfrm>
      </p:grpSpPr>
      <p:sp>
        <p:nvSpPr>
          <p:cNvPr id="62" name="Title Text"/>
          <p:cNvSpPr txBox="1">
            <a:spLocks noGrp="1"/>
          </p:cNvSpPr>
          <p:nvPr>
            <p:ph type="title"/>
          </p:nvPr>
        </p:nvSpPr>
        <p:spPr>
          <a:xfrm>
            <a:off x="304801" y="182880"/>
            <a:ext cx="10040401" cy="792000"/>
          </a:xfrm>
          <a:prstGeom prst="rect">
            <a:avLst/>
          </a:prstGeom>
        </p:spPr>
        <p:txBody>
          <a:bodyPr anchor="ctr"/>
          <a:lstStyle>
            <a:lvl1pPr>
              <a:defRPr sz="3867"/>
            </a:lvl1pPr>
          </a:lstStyle>
          <a:p>
            <a:r>
              <a:t>Title Text</a:t>
            </a:r>
          </a:p>
        </p:txBody>
      </p:sp>
      <p:sp>
        <p:nvSpPr>
          <p:cNvPr id="63" name="Body Level One…"/>
          <p:cNvSpPr txBox="1">
            <a:spLocks noGrp="1"/>
          </p:cNvSpPr>
          <p:nvPr>
            <p:ph type="body" sz="quarter" idx="1"/>
          </p:nvPr>
        </p:nvSpPr>
        <p:spPr>
          <a:xfrm>
            <a:off x="304801" y="1341133"/>
            <a:ext cx="3801201" cy="2249600"/>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Google Shape;55;p8"/>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65" name="Google Shape;57;p8"/>
          <p:cNvSpPr txBox="1">
            <a:spLocks noGrp="1"/>
          </p:cNvSpPr>
          <p:nvPr>
            <p:ph type="body" sz="quarter" idx="21"/>
          </p:nvPr>
        </p:nvSpPr>
        <p:spPr>
          <a:xfrm>
            <a:off x="4106237" y="1341133"/>
            <a:ext cx="3801201" cy="2249600"/>
          </a:xfrm>
          <a:prstGeom prst="rect">
            <a:avLst/>
          </a:prstGeom>
        </p:spPr>
        <p:txBody>
          <a:bodyPr>
            <a:normAutofit/>
          </a:bodyPr>
          <a:lstStyle/>
          <a:p>
            <a:endParaRPr/>
          </a:p>
        </p:txBody>
      </p:sp>
      <p:sp>
        <p:nvSpPr>
          <p:cNvPr id="66" name="Google Shape;58;p8"/>
          <p:cNvSpPr txBox="1">
            <a:spLocks noGrp="1"/>
          </p:cNvSpPr>
          <p:nvPr>
            <p:ph type="body" sz="quarter" idx="22"/>
          </p:nvPr>
        </p:nvSpPr>
        <p:spPr>
          <a:xfrm>
            <a:off x="7907676" y="1341133"/>
            <a:ext cx="3801201" cy="2249600"/>
          </a:xfrm>
          <a:prstGeom prst="rect">
            <a:avLst/>
          </a:prstGeom>
        </p:spPr>
        <p:txBody>
          <a:bodyPr>
            <a:normAutofit/>
          </a:bodyPr>
          <a:lstStyle/>
          <a:p>
            <a:endParaRPr/>
          </a:p>
        </p:txBody>
      </p:sp>
      <p:sp>
        <p:nvSpPr>
          <p:cNvPr id="6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0725163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name="Plain Slide 2">
    <p:spTree>
      <p:nvGrpSpPr>
        <p:cNvPr id="1" name=""/>
        <p:cNvGrpSpPr/>
        <p:nvPr/>
      </p:nvGrpSpPr>
      <p:grpSpPr>
        <a:xfrm>
          <a:off x="0" y="0"/>
          <a:ext cx="0" cy="0"/>
          <a:chOff x="0" y="0"/>
          <a:chExt cx="0" cy="0"/>
        </a:xfrm>
      </p:grpSpPr>
      <p:sp>
        <p:nvSpPr>
          <p:cNvPr id="74" name="Body Level One…"/>
          <p:cNvSpPr txBox="1">
            <a:spLocks noGrp="1"/>
          </p:cNvSpPr>
          <p:nvPr>
            <p:ph type="body" sz="quarter" idx="1"/>
          </p:nvPr>
        </p:nvSpPr>
        <p:spPr>
          <a:xfrm>
            <a:off x="304800" y="1335525"/>
            <a:ext cx="4626000" cy="22496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5" name="Google Shape;63;p9"/>
          <p:cNvSpPr txBox="1">
            <a:spLocks noGrp="1"/>
          </p:cNvSpPr>
          <p:nvPr>
            <p:ph type="body" sz="quarter" idx="21"/>
          </p:nvPr>
        </p:nvSpPr>
        <p:spPr>
          <a:xfrm>
            <a:off x="5883825" y="1335526"/>
            <a:ext cx="4626001" cy="2249599"/>
          </a:xfrm>
          <a:prstGeom prst="rect">
            <a:avLst/>
          </a:prstGeom>
        </p:spPr>
        <p:txBody>
          <a:bodyPr>
            <a:normAutofit/>
          </a:bodyPr>
          <a:lstStyle/>
          <a:p>
            <a:endParaRPr/>
          </a:p>
        </p:txBody>
      </p:sp>
      <p:sp>
        <p:nvSpPr>
          <p:cNvPr id="76" name="Google Shape;64;p9"/>
          <p:cNvSpPr txBox="1">
            <a:spLocks noGrp="1"/>
          </p:cNvSpPr>
          <p:nvPr>
            <p:ph type="body" sz="quarter" idx="22"/>
          </p:nvPr>
        </p:nvSpPr>
        <p:spPr>
          <a:xfrm>
            <a:off x="304799" y="4113300"/>
            <a:ext cx="4626001" cy="2249600"/>
          </a:xfrm>
          <a:prstGeom prst="rect">
            <a:avLst/>
          </a:prstGeom>
        </p:spPr>
        <p:txBody>
          <a:bodyPr>
            <a:normAutofit/>
          </a:bodyPr>
          <a:lstStyle/>
          <a:p>
            <a:endParaRPr/>
          </a:p>
        </p:txBody>
      </p:sp>
      <p:sp>
        <p:nvSpPr>
          <p:cNvPr id="77" name="Google Shape;65;p9"/>
          <p:cNvSpPr txBox="1">
            <a:spLocks noGrp="1"/>
          </p:cNvSpPr>
          <p:nvPr>
            <p:ph type="body" sz="quarter" idx="23"/>
          </p:nvPr>
        </p:nvSpPr>
        <p:spPr>
          <a:xfrm>
            <a:off x="5883825" y="4113300"/>
            <a:ext cx="4626001" cy="2249600"/>
          </a:xfrm>
          <a:prstGeom prst="rect">
            <a:avLst/>
          </a:prstGeom>
        </p:spPr>
        <p:txBody>
          <a:bodyPr>
            <a:normAutofit/>
          </a:bodyPr>
          <a:lstStyle/>
          <a:p>
            <a:endParaRPr/>
          </a:p>
        </p:txBody>
      </p:sp>
      <p:sp>
        <p:nvSpPr>
          <p:cNvPr id="78" name="Title Text"/>
          <p:cNvSpPr txBox="1">
            <a:spLocks noGrp="1"/>
          </p:cNvSpPr>
          <p:nvPr>
            <p:ph type="title"/>
          </p:nvPr>
        </p:nvSpPr>
        <p:spPr>
          <a:xfrm>
            <a:off x="304801" y="182880"/>
            <a:ext cx="10040401" cy="792000"/>
          </a:xfrm>
          <a:prstGeom prst="rect">
            <a:avLst/>
          </a:prstGeom>
        </p:spPr>
        <p:txBody>
          <a:bodyPr anchor="ctr"/>
          <a:lstStyle>
            <a:lvl1pPr>
              <a:defRPr sz="3867"/>
            </a:lvl1pPr>
          </a:lstStyle>
          <a:p>
            <a:r>
              <a:t>Title Text</a:t>
            </a:r>
          </a:p>
        </p:txBody>
      </p:sp>
      <p:sp>
        <p:nvSpPr>
          <p:cNvPr id="79" name="Google Shape;67;p9"/>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52525174"/>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1_Blue Bar Text">
    <p:spTree>
      <p:nvGrpSpPr>
        <p:cNvPr id="1" name=""/>
        <p:cNvGrpSpPr/>
        <p:nvPr/>
      </p:nvGrpSpPr>
      <p:grpSpPr>
        <a:xfrm>
          <a:off x="0" y="0"/>
          <a:ext cx="0" cy="0"/>
          <a:chOff x="0" y="0"/>
          <a:chExt cx="0" cy="0"/>
        </a:xfrm>
      </p:grpSpPr>
      <p:sp>
        <p:nvSpPr>
          <p:cNvPr id="87" name="Google Shape;72;p10"/>
          <p:cNvSpPr/>
          <p:nvPr/>
        </p:nvSpPr>
        <p:spPr>
          <a:xfrm>
            <a:off x="0" y="-2"/>
            <a:ext cx="4724400" cy="6858001"/>
          </a:xfrm>
          <a:prstGeom prst="rect">
            <a:avLst/>
          </a:prstGeom>
          <a:solidFill>
            <a:srgbClr val="2D8FE2"/>
          </a:solidFill>
          <a:ln w="12700">
            <a:miter lim="400000"/>
          </a:ln>
        </p:spPr>
        <p:txBody>
          <a:bodyPr lIns="60959" rIns="60959" anchor="ctr"/>
          <a:lstStyle/>
          <a:p>
            <a:pPr algn="ctr">
              <a:defRPr sz="1800">
                <a:solidFill>
                  <a:srgbClr val="FFFFFF"/>
                </a:solidFill>
              </a:defRPr>
            </a:pPr>
            <a:endParaRPr sz="2400"/>
          </a:p>
        </p:txBody>
      </p:sp>
      <p:sp>
        <p:nvSpPr>
          <p:cNvPr id="88" name="Body Level One…"/>
          <p:cNvSpPr txBox="1">
            <a:spLocks noGrp="1"/>
          </p:cNvSpPr>
          <p:nvPr>
            <p:ph type="body" idx="1"/>
          </p:nvPr>
        </p:nvSpPr>
        <p:spPr>
          <a:xfrm>
            <a:off x="4991100" y="987552"/>
            <a:ext cx="65724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89" name="Title Text"/>
          <p:cNvSpPr txBox="1">
            <a:spLocks noGrp="1"/>
          </p:cNvSpPr>
          <p:nvPr>
            <p:ph type="title"/>
          </p:nvPr>
        </p:nvSpPr>
        <p:spPr>
          <a:xfrm>
            <a:off x="408825" y="1020801"/>
            <a:ext cx="3802400" cy="1274001"/>
          </a:xfrm>
          <a:prstGeom prst="rect">
            <a:avLst/>
          </a:prstGeom>
        </p:spPr>
        <p:txBody>
          <a:bodyPr anchor="t"/>
          <a:lstStyle>
            <a:lvl1pPr>
              <a:defRPr sz="3200"/>
            </a:lvl1pPr>
          </a:lstStyle>
          <a:p>
            <a:r>
              <a:t>Title Text</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23855742"/>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Grey Bar text">
    <p:spTree>
      <p:nvGrpSpPr>
        <p:cNvPr id="1" name=""/>
        <p:cNvGrpSpPr/>
        <p:nvPr/>
      </p:nvGrpSpPr>
      <p:grpSpPr>
        <a:xfrm>
          <a:off x="0" y="0"/>
          <a:ext cx="0" cy="0"/>
          <a:chOff x="0" y="0"/>
          <a:chExt cx="0" cy="0"/>
        </a:xfrm>
      </p:grpSpPr>
      <p:sp>
        <p:nvSpPr>
          <p:cNvPr id="97" name="Google Shape;80;p11"/>
          <p:cNvSpPr/>
          <p:nvPr/>
        </p:nvSpPr>
        <p:spPr>
          <a:xfrm>
            <a:off x="0" y="-2"/>
            <a:ext cx="47244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9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99" name="Title Text"/>
          <p:cNvSpPr txBox="1">
            <a:spLocks noGrp="1"/>
          </p:cNvSpPr>
          <p:nvPr>
            <p:ph type="title"/>
          </p:nvPr>
        </p:nvSpPr>
        <p:spPr>
          <a:xfrm>
            <a:off x="408825" y="1020801"/>
            <a:ext cx="3802400" cy="1274001"/>
          </a:xfrm>
          <a:prstGeom prst="rect">
            <a:avLst/>
          </a:prstGeom>
        </p:spPr>
        <p:txBody>
          <a:bodyPr anchor="t"/>
          <a:lstStyle>
            <a:lvl1pPr>
              <a:defRPr sz="3200"/>
            </a:lvl1pPr>
          </a:lstStyle>
          <a:p>
            <a:r>
              <a:t>Title Text</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5281530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1_Black Bar text">
    <p:spTree>
      <p:nvGrpSpPr>
        <p:cNvPr id="1" name=""/>
        <p:cNvGrpSpPr/>
        <p:nvPr/>
      </p:nvGrpSpPr>
      <p:grpSpPr>
        <a:xfrm>
          <a:off x="0" y="0"/>
          <a:ext cx="0" cy="0"/>
          <a:chOff x="0" y="0"/>
          <a:chExt cx="0" cy="0"/>
        </a:xfrm>
      </p:grpSpPr>
      <p:sp>
        <p:nvSpPr>
          <p:cNvPr id="107" name="Google Shape;88;p12"/>
          <p:cNvSpPr/>
          <p:nvPr/>
        </p:nvSpPr>
        <p:spPr>
          <a:xfrm>
            <a:off x="0" y="-2"/>
            <a:ext cx="4724400" cy="6858001"/>
          </a:xfrm>
          <a:prstGeom prst="rect">
            <a:avLst/>
          </a:prstGeom>
          <a:solidFill>
            <a:srgbClr val="0A0A0C"/>
          </a:solidFill>
          <a:ln w="12700">
            <a:miter lim="400000"/>
          </a:ln>
        </p:spPr>
        <p:txBody>
          <a:bodyPr lIns="60959" rIns="60959" anchor="ctr"/>
          <a:lstStyle/>
          <a:p>
            <a:pPr algn="ctr">
              <a:defRPr>
                <a:solidFill>
                  <a:srgbClr val="FFFFFF"/>
                </a:solidFill>
              </a:defRPr>
            </a:pPr>
            <a:endParaRPr sz="2400"/>
          </a:p>
        </p:txBody>
      </p:sp>
      <p:sp>
        <p:nvSpPr>
          <p:cNvPr id="10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109" name="Title Text"/>
          <p:cNvSpPr txBox="1">
            <a:spLocks noGrp="1"/>
          </p:cNvSpPr>
          <p:nvPr>
            <p:ph type="title"/>
          </p:nvPr>
        </p:nvSpPr>
        <p:spPr>
          <a:xfrm>
            <a:off x="408825" y="1020801"/>
            <a:ext cx="3802400" cy="1274001"/>
          </a:xfrm>
          <a:prstGeom prst="rect">
            <a:avLst/>
          </a:prstGeom>
        </p:spPr>
        <p:txBody>
          <a:bodyPr anchor="t"/>
          <a:lstStyle>
            <a:lvl1pPr>
              <a:defRPr sz="3200"/>
            </a:lvl1pPr>
          </a:lstStyle>
          <a:p>
            <a:r>
              <a:t>Title Text</a:t>
            </a:r>
          </a:p>
        </p:txBody>
      </p:sp>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80797166"/>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1_White Bar Text">
    <p:spTree>
      <p:nvGrpSpPr>
        <p:cNvPr id="1" name=""/>
        <p:cNvGrpSpPr/>
        <p:nvPr/>
      </p:nvGrpSpPr>
      <p:grpSpPr>
        <a:xfrm>
          <a:off x="0" y="0"/>
          <a:ext cx="0" cy="0"/>
          <a:chOff x="0" y="0"/>
          <a:chExt cx="0" cy="0"/>
        </a:xfrm>
      </p:grpSpPr>
      <p:sp>
        <p:nvSpPr>
          <p:cNvPr id="117" name="Google Shape;96;p13"/>
          <p:cNvSpPr/>
          <p:nvPr/>
        </p:nvSpPr>
        <p:spPr>
          <a:xfrm>
            <a:off x="4724402" y="-2"/>
            <a:ext cx="74676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18" name="Body Level One…"/>
          <p:cNvSpPr txBox="1">
            <a:spLocks noGrp="1"/>
          </p:cNvSpPr>
          <p:nvPr>
            <p:ph type="body" idx="1"/>
          </p:nvPr>
        </p:nvSpPr>
        <p:spPr>
          <a:xfrm>
            <a:off x="4991100" y="987552"/>
            <a:ext cx="6572000" cy="5410401"/>
          </a:xfrm>
          <a:prstGeom prst="rect">
            <a:avLst/>
          </a:prstGeom>
        </p:spPr>
        <p:txBody>
          <a:bodyPr>
            <a:normAutofit/>
          </a:bodyPr>
          <a:lstStyle>
            <a:lvl1pPr>
              <a:buFont typeface="Arial"/>
            </a:lvl1pPr>
            <a:lvl2pPr>
              <a:buFont typeface="Arial"/>
            </a:lvl2pPr>
            <a:lvl3pPr>
              <a:buFont typeface="Arial"/>
            </a:lvl3pPr>
            <a:lvl4pPr>
              <a:buFont typeface="Arial"/>
            </a:lvl4pPr>
            <a:lvl5pPr>
              <a:buFont typeface="Arial"/>
            </a:lvl5pPr>
          </a:lstStyle>
          <a:p>
            <a:r>
              <a:t>Body Level One</a:t>
            </a:r>
          </a:p>
          <a:p>
            <a:pPr lvl="1"/>
            <a:r>
              <a:t>Body Level Two</a:t>
            </a:r>
          </a:p>
          <a:p>
            <a:pPr lvl="2"/>
            <a:r>
              <a:t>Body Level Three</a:t>
            </a:r>
          </a:p>
          <a:p>
            <a:pPr lvl="3"/>
            <a:r>
              <a:t>Body Level Four</a:t>
            </a:r>
          </a:p>
          <a:p>
            <a:pPr lvl="4"/>
            <a:r>
              <a:t>Body Level Five</a:t>
            </a:r>
          </a:p>
        </p:txBody>
      </p:sp>
      <p:sp>
        <p:nvSpPr>
          <p:cNvPr id="119"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1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1387183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White-Single Word">
    <p:spTree>
      <p:nvGrpSpPr>
        <p:cNvPr id="1" name=""/>
        <p:cNvGrpSpPr/>
        <p:nvPr/>
      </p:nvGrpSpPr>
      <p:grpSpPr>
        <a:xfrm>
          <a:off x="0" y="0"/>
          <a:ext cx="0" cy="0"/>
          <a:chOff x="0" y="0"/>
          <a:chExt cx="0" cy="0"/>
        </a:xfrm>
      </p:grpSpPr>
      <p:sp>
        <p:nvSpPr>
          <p:cNvPr id="127" name="Title Text"/>
          <p:cNvSpPr txBox="1">
            <a:spLocks noGrp="1"/>
          </p:cNvSpPr>
          <p:nvPr>
            <p:ph type="title"/>
          </p:nvPr>
        </p:nvSpPr>
        <p:spPr>
          <a:prstGeom prst="rect">
            <a:avLst/>
          </a:prstGeom>
        </p:spPr>
        <p:txBody>
          <a:bodyPr/>
          <a:lstStyle/>
          <a:p>
            <a:r>
              <a:t>Title Text</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7349107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Grey-Blank_1">
    <p:spTree>
      <p:nvGrpSpPr>
        <p:cNvPr id="1" name=""/>
        <p:cNvGrpSpPr/>
        <p:nvPr/>
      </p:nvGrpSpPr>
      <p:grpSpPr>
        <a:xfrm>
          <a:off x="0" y="0"/>
          <a:ext cx="0" cy="0"/>
          <a:chOff x="0" y="0"/>
          <a:chExt cx="0" cy="0"/>
        </a:xfrm>
      </p:grpSpPr>
      <p:sp>
        <p:nvSpPr>
          <p:cNvPr id="135" name="Google Shape;110;p15"/>
          <p:cNvSpPr/>
          <p:nvPr/>
        </p:nvSpPr>
        <p:spPr>
          <a:xfrm>
            <a:off x="-2" y="-2"/>
            <a:ext cx="12192001"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136" name="Title Text"/>
          <p:cNvSpPr txBox="1">
            <a:spLocks noGrp="1"/>
          </p:cNvSpPr>
          <p:nvPr>
            <p:ph type="title"/>
          </p:nvPr>
        </p:nvSpPr>
        <p:spPr>
          <a:prstGeom prst="rect">
            <a:avLst/>
          </a:prstGeom>
        </p:spPr>
        <p:txBody>
          <a:bodyPr/>
          <a:lstStyle/>
          <a:p>
            <a:r>
              <a:t>Title Text</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7159013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ue-Blank_1">
    <p:spTree>
      <p:nvGrpSpPr>
        <p:cNvPr id="1" name=""/>
        <p:cNvGrpSpPr/>
        <p:nvPr/>
      </p:nvGrpSpPr>
      <p:grpSpPr>
        <a:xfrm>
          <a:off x="0" y="0"/>
          <a:ext cx="0" cy="0"/>
          <a:chOff x="0" y="0"/>
          <a:chExt cx="0" cy="0"/>
        </a:xfrm>
      </p:grpSpPr>
      <p:sp>
        <p:nvSpPr>
          <p:cNvPr id="144" name="Google Shape;116;p16"/>
          <p:cNvSpPr/>
          <p:nvPr/>
        </p:nvSpPr>
        <p:spPr>
          <a:xfrm>
            <a:off x="-2" y="-2"/>
            <a:ext cx="121920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145" name="Title Text"/>
          <p:cNvSpPr txBox="1">
            <a:spLocks noGrp="1"/>
          </p:cNvSpPr>
          <p:nvPr>
            <p:ph type="title"/>
          </p:nvPr>
        </p:nvSpPr>
        <p:spPr>
          <a:prstGeom prst="rect">
            <a:avLst/>
          </a:prstGeom>
        </p:spPr>
        <p:txBody>
          <a:bodyPr/>
          <a:lstStyle/>
          <a:p>
            <a:r>
              <a:t>Title Text</a:t>
            </a:r>
          </a:p>
        </p:txBody>
      </p:sp>
      <p:sp>
        <p:nvSpPr>
          <p:cNvPr id="1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07982669"/>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Black-Blank_1">
    <p:spTree>
      <p:nvGrpSpPr>
        <p:cNvPr id="1" name=""/>
        <p:cNvGrpSpPr/>
        <p:nvPr/>
      </p:nvGrpSpPr>
      <p:grpSpPr>
        <a:xfrm>
          <a:off x="0" y="0"/>
          <a:ext cx="0" cy="0"/>
          <a:chOff x="0" y="0"/>
          <a:chExt cx="0" cy="0"/>
        </a:xfrm>
      </p:grpSpPr>
      <p:sp>
        <p:nvSpPr>
          <p:cNvPr id="153" name="Title Text"/>
          <p:cNvSpPr txBox="1">
            <a:spLocks noGrp="1"/>
          </p:cNvSpPr>
          <p:nvPr>
            <p:ph type="title"/>
          </p:nvPr>
        </p:nvSpPr>
        <p:spPr>
          <a:prstGeom prst="rect">
            <a:avLst/>
          </a:prstGeom>
        </p:spPr>
        <p:txBody>
          <a:bodyPr/>
          <a:lstStyle/>
          <a:p>
            <a:r>
              <a:t>Title Text</a:t>
            </a:r>
          </a:p>
        </p:txBody>
      </p:sp>
      <p:sp>
        <p:nvSpPr>
          <p:cNvPr id="1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11936512"/>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Non-US">
    <p:spTree>
      <p:nvGrpSpPr>
        <p:cNvPr id="1" name=""/>
        <p:cNvGrpSpPr/>
        <p:nvPr/>
      </p:nvGrpSpPr>
      <p:grpSpPr>
        <a:xfrm>
          <a:off x="0" y="0"/>
          <a:ext cx="0" cy="0"/>
          <a:chOff x="0" y="0"/>
          <a:chExt cx="0" cy="0"/>
        </a:xfrm>
      </p:grpSpPr>
      <p:sp>
        <p:nvSpPr>
          <p:cNvPr id="16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6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63" name="Google Shape;130;p18" descr="Google Shape;130;p18"/>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1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89153850"/>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United States">
    <p:spTree>
      <p:nvGrpSpPr>
        <p:cNvPr id="1" name=""/>
        <p:cNvGrpSpPr/>
        <p:nvPr/>
      </p:nvGrpSpPr>
      <p:grpSpPr>
        <a:xfrm>
          <a:off x="0" y="0"/>
          <a:ext cx="0" cy="0"/>
          <a:chOff x="0" y="0"/>
          <a:chExt cx="0" cy="0"/>
        </a:xfrm>
      </p:grpSpPr>
      <p:sp>
        <p:nvSpPr>
          <p:cNvPr id="17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7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73" name="Google Shape;137;p19" descr="Google Shape;137;p19"/>
          <p:cNvPicPr>
            <a:picLocks noChangeAspect="1"/>
          </p:cNvPicPr>
          <p:nvPr/>
        </p:nvPicPr>
        <p:blipFill>
          <a:blip r:embed="rId2"/>
          <a:stretch>
            <a:fillRect/>
          </a:stretch>
        </p:blipFill>
        <p:spPr>
          <a:xfrm>
            <a:off x="5334000" y="17"/>
            <a:ext cx="6858000" cy="6858001"/>
          </a:xfrm>
          <a:prstGeom prst="rect">
            <a:avLst/>
          </a:prstGeom>
          <a:ln w="12700">
            <a:miter lim="400000"/>
          </a:ln>
        </p:spPr>
      </p:pic>
      <p:sp>
        <p:nvSpPr>
          <p:cNvPr id="1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21983524"/>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World Map">
    <p:spTree>
      <p:nvGrpSpPr>
        <p:cNvPr id="1" name=""/>
        <p:cNvGrpSpPr/>
        <p:nvPr/>
      </p:nvGrpSpPr>
      <p:grpSpPr>
        <a:xfrm>
          <a:off x="0" y="0"/>
          <a:ext cx="0" cy="0"/>
          <a:chOff x="0" y="0"/>
          <a:chExt cx="0" cy="0"/>
        </a:xfrm>
      </p:grpSpPr>
      <p:sp>
        <p:nvSpPr>
          <p:cNvPr id="1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8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83" name="Google Shape;145;p20" descr="Google Shape;145;p20"/>
          <p:cNvPicPr>
            <a:picLocks noChangeAspect="1"/>
          </p:cNvPicPr>
          <p:nvPr/>
        </p:nvPicPr>
        <p:blipFill>
          <a:blip r:embed="rId2"/>
          <a:stretch>
            <a:fillRect/>
          </a:stretch>
        </p:blipFill>
        <p:spPr>
          <a:xfrm>
            <a:off x="5161026" y="0"/>
            <a:ext cx="6858001" cy="6858000"/>
          </a:xfrm>
          <a:prstGeom prst="rect">
            <a:avLst/>
          </a:prstGeom>
          <a:ln w="12700">
            <a:miter lim="400000"/>
          </a:ln>
        </p:spPr>
      </p:pic>
      <p:sp>
        <p:nvSpPr>
          <p:cNvPr id="1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2218057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name="North American Union">
    <p:spTree>
      <p:nvGrpSpPr>
        <p:cNvPr id="1" name=""/>
        <p:cNvGrpSpPr/>
        <p:nvPr/>
      </p:nvGrpSpPr>
      <p:grpSpPr>
        <a:xfrm>
          <a:off x="0" y="0"/>
          <a:ext cx="0" cy="0"/>
          <a:chOff x="0" y="0"/>
          <a:chExt cx="0" cy="0"/>
        </a:xfrm>
      </p:grpSpPr>
      <p:sp>
        <p:nvSpPr>
          <p:cNvPr id="19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19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193" name="Google Shape;152;p21" descr="Google Shape;152;p21"/>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1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1950428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APAC">
    <p:spTree>
      <p:nvGrpSpPr>
        <p:cNvPr id="1" name=""/>
        <p:cNvGrpSpPr/>
        <p:nvPr/>
      </p:nvGrpSpPr>
      <p:grpSpPr>
        <a:xfrm>
          <a:off x="0" y="0"/>
          <a:ext cx="0" cy="0"/>
          <a:chOff x="0" y="0"/>
          <a:chExt cx="0" cy="0"/>
        </a:xfrm>
      </p:grpSpPr>
      <p:sp>
        <p:nvSpPr>
          <p:cNvPr id="20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0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03" name="Google Shape;159;p22" descr="Google Shape;159;p22"/>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32784672"/>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South America">
    <p:spTree>
      <p:nvGrpSpPr>
        <p:cNvPr id="1" name=""/>
        <p:cNvGrpSpPr/>
        <p:nvPr/>
      </p:nvGrpSpPr>
      <p:grpSpPr>
        <a:xfrm>
          <a:off x="0" y="0"/>
          <a:ext cx="0" cy="0"/>
          <a:chOff x="0" y="0"/>
          <a:chExt cx="0" cy="0"/>
        </a:xfrm>
      </p:grpSpPr>
      <p:sp>
        <p:nvSpPr>
          <p:cNvPr id="21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1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13" name="Google Shape;166;p23" descr="Google Shape;166;p23"/>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89744612"/>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Africa">
    <p:spTree>
      <p:nvGrpSpPr>
        <p:cNvPr id="1" name=""/>
        <p:cNvGrpSpPr/>
        <p:nvPr/>
      </p:nvGrpSpPr>
      <p:grpSpPr>
        <a:xfrm>
          <a:off x="0" y="0"/>
          <a:ext cx="0" cy="0"/>
          <a:chOff x="0" y="0"/>
          <a:chExt cx="0" cy="0"/>
        </a:xfrm>
      </p:grpSpPr>
      <p:sp>
        <p:nvSpPr>
          <p:cNvPr id="22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2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23" name="Google Shape;173;p24" descr="Google Shape;173;p24"/>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83008811"/>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name="Europe">
    <p:spTree>
      <p:nvGrpSpPr>
        <p:cNvPr id="1" name=""/>
        <p:cNvGrpSpPr/>
        <p:nvPr/>
      </p:nvGrpSpPr>
      <p:grpSpPr>
        <a:xfrm>
          <a:off x="0" y="0"/>
          <a:ext cx="0" cy="0"/>
          <a:chOff x="0" y="0"/>
          <a:chExt cx="0" cy="0"/>
        </a:xfrm>
      </p:grpSpPr>
      <p:pic>
        <p:nvPicPr>
          <p:cNvPr id="231" name="Google Shape;177;p25" descr="Google Shape;177;p25"/>
          <p:cNvPicPr>
            <a:picLocks noChangeAspect="1"/>
          </p:cNvPicPr>
          <p:nvPr/>
        </p:nvPicPr>
        <p:blipFill>
          <a:blip r:embed="rId2"/>
          <a:stretch>
            <a:fillRect/>
          </a:stretch>
        </p:blipFill>
        <p:spPr>
          <a:xfrm>
            <a:off x="5334000" y="23801"/>
            <a:ext cx="6858000" cy="6858001"/>
          </a:xfrm>
          <a:prstGeom prst="rect">
            <a:avLst/>
          </a:prstGeom>
          <a:ln w="12700">
            <a:miter lim="400000"/>
          </a:ln>
        </p:spPr>
      </p:pic>
      <p:sp>
        <p:nvSpPr>
          <p:cNvPr id="23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33"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2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99234324"/>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Europe_1">
    <p:spTree>
      <p:nvGrpSpPr>
        <p:cNvPr id="1" name=""/>
        <p:cNvGrpSpPr/>
        <p:nvPr/>
      </p:nvGrpSpPr>
      <p:grpSpPr>
        <a:xfrm>
          <a:off x="0" y="0"/>
          <a:ext cx="0" cy="0"/>
          <a:chOff x="0" y="0"/>
          <a:chExt cx="0" cy="0"/>
        </a:xfrm>
      </p:grpSpPr>
      <p:sp>
        <p:nvSpPr>
          <p:cNvPr id="24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4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43" name="Google Shape;187;p26" descr="Google Shape;187;p26"/>
          <p:cNvPicPr>
            <a:picLocks noChangeAspect="1"/>
          </p:cNvPicPr>
          <p:nvPr/>
        </p:nvPicPr>
        <p:blipFill>
          <a:blip r:embed="rId2"/>
          <a:stretch>
            <a:fillRect/>
          </a:stretch>
        </p:blipFill>
        <p:spPr>
          <a:xfrm>
            <a:off x="5334007" y="0"/>
            <a:ext cx="6858001" cy="6858000"/>
          </a:xfrm>
          <a:prstGeom prst="rect">
            <a:avLst/>
          </a:prstGeom>
          <a:ln w="12700">
            <a:miter lim="400000"/>
          </a:ln>
        </p:spPr>
      </p:pic>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10747205"/>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Non-US_1">
    <p:spTree>
      <p:nvGrpSpPr>
        <p:cNvPr id="1" name=""/>
        <p:cNvGrpSpPr/>
        <p:nvPr/>
      </p:nvGrpSpPr>
      <p:grpSpPr>
        <a:xfrm>
          <a:off x="0" y="0"/>
          <a:ext cx="0" cy="0"/>
          <a:chOff x="0" y="0"/>
          <a:chExt cx="0" cy="0"/>
        </a:xfrm>
      </p:grpSpPr>
      <p:pic>
        <p:nvPicPr>
          <p:cNvPr id="251" name="Google Shape;191;p27" descr="Google Shape;191;p27"/>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5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53"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2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17874426"/>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United States_1">
    <p:spTree>
      <p:nvGrpSpPr>
        <p:cNvPr id="1" name=""/>
        <p:cNvGrpSpPr/>
        <p:nvPr/>
      </p:nvGrpSpPr>
      <p:grpSpPr>
        <a:xfrm>
          <a:off x="0" y="0"/>
          <a:ext cx="0" cy="0"/>
          <a:chOff x="0" y="0"/>
          <a:chExt cx="0" cy="0"/>
        </a:xfrm>
      </p:grpSpPr>
      <p:sp>
        <p:nvSpPr>
          <p:cNvPr id="26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6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63" name="Google Shape;201;p28" descr="Google Shape;201;p28"/>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64916768"/>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World Map_1">
    <p:spTree>
      <p:nvGrpSpPr>
        <p:cNvPr id="1" name=""/>
        <p:cNvGrpSpPr/>
        <p:nvPr/>
      </p:nvGrpSpPr>
      <p:grpSpPr>
        <a:xfrm>
          <a:off x="0" y="0"/>
          <a:ext cx="0" cy="0"/>
          <a:chOff x="0" y="0"/>
          <a:chExt cx="0" cy="0"/>
        </a:xfrm>
      </p:grpSpPr>
      <p:sp>
        <p:nvSpPr>
          <p:cNvPr id="27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7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73" name="Google Shape;208;p29" descr="Google Shape;208;p29"/>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95538530"/>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name="North American Union_1">
    <p:spTree>
      <p:nvGrpSpPr>
        <p:cNvPr id="1" name=""/>
        <p:cNvGrpSpPr/>
        <p:nvPr/>
      </p:nvGrpSpPr>
      <p:grpSpPr>
        <a:xfrm>
          <a:off x="0" y="0"/>
          <a:ext cx="0" cy="0"/>
          <a:chOff x="0" y="0"/>
          <a:chExt cx="0" cy="0"/>
        </a:xfrm>
      </p:grpSpPr>
      <p:sp>
        <p:nvSpPr>
          <p:cNvPr id="2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8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83" name="Google Shape;215;p30" descr="Google Shape;215;p30"/>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2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28707468"/>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name="APAC_1">
    <p:spTree>
      <p:nvGrpSpPr>
        <p:cNvPr id="1" name=""/>
        <p:cNvGrpSpPr/>
        <p:nvPr/>
      </p:nvGrpSpPr>
      <p:grpSpPr>
        <a:xfrm>
          <a:off x="0" y="0"/>
          <a:ext cx="0" cy="0"/>
          <a:chOff x="0" y="0"/>
          <a:chExt cx="0" cy="0"/>
        </a:xfrm>
      </p:grpSpPr>
      <p:sp>
        <p:nvSpPr>
          <p:cNvPr id="29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29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293" name="Google Shape;222;p31" descr="Google Shape;222;p31"/>
          <p:cNvPicPr>
            <a:picLocks noChangeAspect="1"/>
          </p:cNvPicPr>
          <p:nvPr/>
        </p:nvPicPr>
        <p:blipFill>
          <a:blip r:embed="rId2"/>
          <a:stretch>
            <a:fillRect/>
          </a:stretch>
        </p:blipFill>
        <p:spPr>
          <a:xfrm>
            <a:off x="5334000" y="23801"/>
            <a:ext cx="6858000" cy="6858001"/>
          </a:xfrm>
          <a:prstGeom prst="rect">
            <a:avLst/>
          </a:prstGeom>
          <a:ln w="12700">
            <a:miter lim="400000"/>
          </a:ln>
        </p:spPr>
      </p:pic>
      <p:sp>
        <p:nvSpPr>
          <p:cNvPr id="2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17103478"/>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South America_1">
    <p:spTree>
      <p:nvGrpSpPr>
        <p:cNvPr id="1" name=""/>
        <p:cNvGrpSpPr/>
        <p:nvPr/>
      </p:nvGrpSpPr>
      <p:grpSpPr>
        <a:xfrm>
          <a:off x="0" y="0"/>
          <a:ext cx="0" cy="0"/>
          <a:chOff x="0" y="0"/>
          <a:chExt cx="0" cy="0"/>
        </a:xfrm>
      </p:grpSpPr>
      <p:sp>
        <p:nvSpPr>
          <p:cNvPr id="30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0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03" name="Google Shape;229;p32" descr="Google Shape;229;p32"/>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3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71190281"/>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name="Africa_1">
    <p:spTree>
      <p:nvGrpSpPr>
        <p:cNvPr id="1" name=""/>
        <p:cNvGrpSpPr/>
        <p:nvPr/>
      </p:nvGrpSpPr>
      <p:grpSpPr>
        <a:xfrm>
          <a:off x="0" y="0"/>
          <a:ext cx="0" cy="0"/>
          <a:chOff x="0" y="0"/>
          <a:chExt cx="0" cy="0"/>
        </a:xfrm>
      </p:grpSpPr>
      <p:sp>
        <p:nvSpPr>
          <p:cNvPr id="31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1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13" name="Google Shape;236;p33" descr="Google Shape;236;p33"/>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3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1829702"/>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name="Europe_2">
    <p:spTree>
      <p:nvGrpSpPr>
        <p:cNvPr id="1" name=""/>
        <p:cNvGrpSpPr/>
        <p:nvPr/>
      </p:nvGrpSpPr>
      <p:grpSpPr>
        <a:xfrm>
          <a:off x="0" y="0"/>
          <a:ext cx="0" cy="0"/>
          <a:chOff x="0" y="0"/>
          <a:chExt cx="0" cy="0"/>
        </a:xfrm>
      </p:grpSpPr>
      <p:sp>
        <p:nvSpPr>
          <p:cNvPr id="32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2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23" name="Google Shape;243;p34" descr="Google Shape;243;p34"/>
          <p:cNvPicPr>
            <a:picLocks noChangeAspect="1"/>
          </p:cNvPicPr>
          <p:nvPr/>
        </p:nvPicPr>
        <p:blipFill>
          <a:blip r:embed="rId2"/>
          <a:stretch>
            <a:fillRect/>
          </a:stretch>
        </p:blipFill>
        <p:spPr>
          <a:xfrm>
            <a:off x="5334000" y="0"/>
            <a:ext cx="6858000" cy="6858000"/>
          </a:xfrm>
          <a:prstGeom prst="rect">
            <a:avLst/>
          </a:prstGeom>
          <a:ln w="12700">
            <a:miter lim="400000"/>
          </a:ln>
        </p:spPr>
      </p:pic>
      <p:sp>
        <p:nvSpPr>
          <p:cNvPr id="3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97772728"/>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Europe_1_2">
    <p:spTree>
      <p:nvGrpSpPr>
        <p:cNvPr id="1" name=""/>
        <p:cNvGrpSpPr/>
        <p:nvPr/>
      </p:nvGrpSpPr>
      <p:grpSpPr>
        <a:xfrm>
          <a:off x="0" y="0"/>
          <a:ext cx="0" cy="0"/>
          <a:chOff x="0" y="0"/>
          <a:chExt cx="0" cy="0"/>
        </a:xfrm>
      </p:grpSpPr>
      <p:sp>
        <p:nvSpPr>
          <p:cNvPr id="33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3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33" name="Google Shape;250;p35" descr="Google Shape;250;p35"/>
          <p:cNvPicPr>
            <a:picLocks noChangeAspect="1"/>
          </p:cNvPicPr>
          <p:nvPr/>
        </p:nvPicPr>
        <p:blipFill>
          <a:blip r:embed="rId2"/>
          <a:stretch>
            <a:fillRect/>
          </a:stretch>
        </p:blipFill>
        <p:spPr>
          <a:xfrm>
            <a:off x="5334007" y="0"/>
            <a:ext cx="6858001" cy="6858000"/>
          </a:xfrm>
          <a:prstGeom prst="rect">
            <a:avLst/>
          </a:prstGeom>
          <a:ln w="12700">
            <a:miter lim="400000"/>
          </a:ln>
        </p:spPr>
      </p:pic>
      <p:sp>
        <p:nvSpPr>
          <p:cNvPr id="3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81012290"/>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Europe_1_1">
    <p:spTree>
      <p:nvGrpSpPr>
        <p:cNvPr id="1" name=""/>
        <p:cNvGrpSpPr/>
        <p:nvPr/>
      </p:nvGrpSpPr>
      <p:grpSpPr>
        <a:xfrm>
          <a:off x="0" y="0"/>
          <a:ext cx="0" cy="0"/>
          <a:chOff x="0" y="0"/>
          <a:chExt cx="0" cy="0"/>
        </a:xfrm>
      </p:grpSpPr>
      <p:sp>
        <p:nvSpPr>
          <p:cNvPr id="34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42"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pic>
        <p:nvPicPr>
          <p:cNvPr id="343" name="Google Shape;259;p36" descr="Google Shape;259;p36"/>
          <p:cNvPicPr>
            <a:picLocks noChangeAspect="1"/>
          </p:cNvPicPr>
          <p:nvPr/>
        </p:nvPicPr>
        <p:blipFill>
          <a:blip r:embed="rId2"/>
          <a:stretch>
            <a:fillRect/>
          </a:stretch>
        </p:blipFill>
        <p:spPr>
          <a:xfrm rot="20447192">
            <a:off x="7280453" y="1067385"/>
            <a:ext cx="4688233" cy="4688235"/>
          </a:xfrm>
          <a:prstGeom prst="rect">
            <a:avLst/>
          </a:prstGeom>
          <a:ln w="12700">
            <a:miter lim="400000"/>
          </a:ln>
        </p:spPr>
      </p:pic>
      <p:sp>
        <p:nvSpPr>
          <p:cNvPr id="3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512784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type="tx">
  <p:cSld name="Chart Slide 1">
    <p:spTree>
      <p:nvGrpSpPr>
        <p:cNvPr id="1" name=""/>
        <p:cNvGrpSpPr/>
        <p:nvPr/>
      </p:nvGrpSpPr>
      <p:grpSpPr>
        <a:xfrm>
          <a:off x="0" y="0"/>
          <a:ext cx="0" cy="0"/>
          <a:chOff x="0" y="0"/>
          <a:chExt cx="0" cy="0"/>
        </a:xfrm>
      </p:grpSpPr>
      <p:sp>
        <p:nvSpPr>
          <p:cNvPr id="351" name="Google Shape;261;p37"/>
          <p:cNvSpPr/>
          <p:nvPr/>
        </p:nvSpPr>
        <p:spPr>
          <a:xfrm>
            <a:off x="7467600" y="-2"/>
            <a:ext cx="47244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352" name="Body Level One…"/>
          <p:cNvSpPr txBox="1">
            <a:spLocks noGrp="1"/>
          </p:cNvSpPr>
          <p:nvPr>
            <p:ph type="body" sz="quarter" idx="1"/>
          </p:nvPr>
        </p:nvSpPr>
        <p:spPr>
          <a:xfrm>
            <a:off x="7852501" y="3598665"/>
            <a:ext cx="38564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53" name="Title Text"/>
          <p:cNvSpPr txBox="1">
            <a:spLocks noGrp="1"/>
          </p:cNvSpPr>
          <p:nvPr>
            <p:ph type="title"/>
          </p:nvPr>
        </p:nvSpPr>
        <p:spPr>
          <a:xfrm>
            <a:off x="7876034" y="1024134"/>
            <a:ext cx="3832801" cy="1274001"/>
          </a:xfrm>
          <a:prstGeom prst="rect">
            <a:avLst/>
          </a:prstGeom>
        </p:spPr>
        <p:txBody>
          <a:bodyPr anchor="t"/>
          <a:lstStyle>
            <a:lvl1pPr>
              <a:defRPr sz="3200"/>
            </a:lvl1pPr>
          </a:lstStyle>
          <a:p>
            <a:r>
              <a:t>Title Text</a:t>
            </a:r>
          </a:p>
        </p:txBody>
      </p:sp>
      <p:sp>
        <p:nvSpPr>
          <p:cNvPr id="3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9263562"/>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Chart Slide 2">
    <p:spTree>
      <p:nvGrpSpPr>
        <p:cNvPr id="1" name=""/>
        <p:cNvGrpSpPr/>
        <p:nvPr/>
      </p:nvGrpSpPr>
      <p:grpSpPr>
        <a:xfrm>
          <a:off x="0" y="0"/>
          <a:ext cx="0" cy="0"/>
          <a:chOff x="0" y="0"/>
          <a:chExt cx="0" cy="0"/>
        </a:xfrm>
      </p:grpSpPr>
      <p:sp>
        <p:nvSpPr>
          <p:cNvPr id="361" name="Google Shape;268;p38"/>
          <p:cNvSpPr/>
          <p:nvPr/>
        </p:nvSpPr>
        <p:spPr>
          <a:xfrm>
            <a:off x="0" y="-2"/>
            <a:ext cx="47244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362"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63"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3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99871631"/>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name="Chart Slide 3">
    <p:spTree>
      <p:nvGrpSpPr>
        <p:cNvPr id="1" name=""/>
        <p:cNvGrpSpPr/>
        <p:nvPr/>
      </p:nvGrpSpPr>
      <p:grpSpPr>
        <a:xfrm>
          <a:off x="0" y="0"/>
          <a:ext cx="0" cy="0"/>
          <a:chOff x="0" y="0"/>
          <a:chExt cx="0" cy="0"/>
        </a:xfrm>
      </p:grpSpPr>
      <p:sp>
        <p:nvSpPr>
          <p:cNvPr id="371" name="Body Level One…"/>
          <p:cNvSpPr txBox="1">
            <a:spLocks noGrp="1"/>
          </p:cNvSpPr>
          <p:nvPr>
            <p:ph type="body" sz="quarter" idx="1"/>
          </p:nvPr>
        </p:nvSpPr>
        <p:spPr>
          <a:xfrm>
            <a:off x="7876034" y="3598665"/>
            <a:ext cx="3832801" cy="2364803"/>
          </a:xfrm>
          <a:prstGeom prst="rect">
            <a:avLst/>
          </a:prstGeom>
        </p:spPr>
        <p:txBody>
          <a:bodyPr>
            <a:normAutofit/>
          </a:bodyPr>
          <a:lstStyle>
            <a:lvl1pPr marL="457189" indent="-304792">
              <a:buClrTx/>
              <a:buSzTx/>
              <a:buFontTx/>
              <a:buNone/>
              <a:defRPr sz="1600" b="0">
                <a:solidFill>
                  <a:srgbClr val="000000"/>
                </a:solidFill>
              </a:defRPr>
            </a:lvl1pPr>
            <a:lvl2pPr marL="457189" indent="330192">
              <a:buClrTx/>
              <a:buSzTx/>
              <a:buFontTx/>
              <a:buNone/>
              <a:defRPr sz="1600" b="0">
                <a:solidFill>
                  <a:srgbClr val="000000"/>
                </a:solidFill>
              </a:defRPr>
            </a:lvl2pPr>
            <a:lvl3pPr marL="457189" indent="965176">
              <a:buClrTx/>
              <a:buSzTx/>
              <a:buFontTx/>
              <a:buNone/>
              <a:defRPr sz="1600" b="0">
                <a:solidFill>
                  <a:srgbClr val="000000"/>
                </a:solidFill>
              </a:defRPr>
            </a:lvl3pPr>
            <a:lvl4pPr marL="457189" indent="1574761">
              <a:buClrTx/>
              <a:buSzTx/>
              <a:buFontTx/>
              <a:buNone/>
              <a:defRPr sz="1600" b="0">
                <a:solidFill>
                  <a:srgbClr val="000000"/>
                </a:solidFill>
              </a:defRPr>
            </a:lvl4pPr>
            <a:lvl5pPr marL="457189" indent="2184345">
              <a:buClrTx/>
              <a:buSzTx/>
              <a:buFontTx/>
              <a:buNone/>
              <a:defRPr sz="1600" b="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372" name="Title Text"/>
          <p:cNvSpPr txBox="1">
            <a:spLocks noGrp="1"/>
          </p:cNvSpPr>
          <p:nvPr>
            <p:ph type="title"/>
          </p:nvPr>
        </p:nvSpPr>
        <p:spPr>
          <a:xfrm>
            <a:off x="7876034" y="1024134"/>
            <a:ext cx="3832801" cy="1274001"/>
          </a:xfrm>
          <a:prstGeom prst="rect">
            <a:avLst/>
          </a:prstGeom>
        </p:spPr>
        <p:txBody>
          <a:bodyPr anchor="t"/>
          <a:lstStyle>
            <a:lvl1pPr>
              <a:defRPr sz="3200"/>
            </a:lvl1pPr>
          </a:lstStyle>
          <a:p>
            <a:r>
              <a:t>Title Text</a:t>
            </a:r>
          </a:p>
        </p:txBody>
      </p:sp>
      <p:sp>
        <p:nvSpPr>
          <p:cNvPr id="3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78816435"/>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name="Chart Slide 4">
    <p:spTree>
      <p:nvGrpSpPr>
        <p:cNvPr id="1" name=""/>
        <p:cNvGrpSpPr/>
        <p:nvPr/>
      </p:nvGrpSpPr>
      <p:grpSpPr>
        <a:xfrm>
          <a:off x="0" y="0"/>
          <a:ext cx="0" cy="0"/>
          <a:chOff x="0" y="0"/>
          <a:chExt cx="0" cy="0"/>
        </a:xfrm>
      </p:grpSpPr>
      <p:sp>
        <p:nvSpPr>
          <p:cNvPr id="380"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381"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21686667"/>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type="tx">
  <p:cSld name="Chart Slide 6">
    <p:spTree>
      <p:nvGrpSpPr>
        <p:cNvPr id="1" name=""/>
        <p:cNvGrpSpPr/>
        <p:nvPr/>
      </p:nvGrpSpPr>
      <p:grpSpPr>
        <a:xfrm>
          <a:off x="0" y="0"/>
          <a:ext cx="0" cy="0"/>
          <a:chOff x="0" y="0"/>
          <a:chExt cx="0" cy="0"/>
        </a:xfrm>
      </p:grpSpPr>
      <p:sp>
        <p:nvSpPr>
          <p:cNvPr id="389" name="Title Text"/>
          <p:cNvSpPr txBox="1">
            <a:spLocks noGrp="1"/>
          </p:cNvSpPr>
          <p:nvPr>
            <p:ph type="title"/>
          </p:nvPr>
        </p:nvSpPr>
        <p:spPr>
          <a:xfrm>
            <a:off x="301099" y="182880"/>
            <a:ext cx="10252801" cy="792000"/>
          </a:xfrm>
          <a:prstGeom prst="rect">
            <a:avLst/>
          </a:prstGeom>
        </p:spPr>
        <p:txBody>
          <a:bodyPr anchor="ctr"/>
          <a:lstStyle>
            <a:lvl1pPr>
              <a:defRPr sz="3200"/>
            </a:lvl1pPr>
          </a:lstStyle>
          <a:p>
            <a:r>
              <a:t>Title Text</a:t>
            </a:r>
          </a:p>
        </p:txBody>
      </p:sp>
      <p:sp>
        <p:nvSpPr>
          <p:cNvPr id="3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0469390"/>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name="1_Blue Bar Text_1_1">
    <p:spTree>
      <p:nvGrpSpPr>
        <p:cNvPr id="1" name=""/>
        <p:cNvGrpSpPr/>
        <p:nvPr/>
      </p:nvGrpSpPr>
      <p:grpSpPr>
        <a:xfrm>
          <a:off x="0" y="0"/>
          <a:ext cx="0" cy="0"/>
          <a:chOff x="0" y="0"/>
          <a:chExt cx="0" cy="0"/>
        </a:xfrm>
      </p:grpSpPr>
      <p:sp>
        <p:nvSpPr>
          <p:cNvPr id="397"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398"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3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49636449"/>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name="1_Grey Bar text_1">
    <p:spTree>
      <p:nvGrpSpPr>
        <p:cNvPr id="1" name=""/>
        <p:cNvGrpSpPr/>
        <p:nvPr/>
      </p:nvGrpSpPr>
      <p:grpSpPr>
        <a:xfrm>
          <a:off x="0" y="0"/>
          <a:ext cx="0" cy="0"/>
          <a:chOff x="0" y="0"/>
          <a:chExt cx="0" cy="0"/>
        </a:xfrm>
      </p:grpSpPr>
      <p:sp>
        <p:nvSpPr>
          <p:cNvPr id="406" name="Google Shape;304;p43"/>
          <p:cNvSpPr/>
          <p:nvPr/>
        </p:nvSpPr>
        <p:spPr>
          <a:xfrm>
            <a:off x="0" y="-2"/>
            <a:ext cx="47244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40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lvl1pPr>
            <a:lvl2pPr marL="457189" indent="330192">
              <a:buClrTx/>
              <a:buSzTx/>
              <a:buFontTx/>
              <a:buNone/>
              <a:defRPr sz="1600" b="0"/>
            </a:lvl2pPr>
            <a:lvl3pPr marL="457189" indent="965176">
              <a:buClrTx/>
              <a:buSzTx/>
              <a:buFontTx/>
              <a:buNone/>
              <a:defRPr sz="1600" b="0"/>
            </a:lvl3pPr>
            <a:lvl4pPr marL="457189" indent="1574761">
              <a:buClrTx/>
              <a:buSzTx/>
              <a:buFontTx/>
              <a:buNone/>
              <a:defRPr sz="1600" b="0"/>
            </a:lvl4pPr>
            <a:lvl5pPr marL="457189" indent="2184345">
              <a:buClrTx/>
              <a:buSzTx/>
              <a:buFontTx/>
              <a:buNone/>
              <a:defRPr sz="1600" b="0"/>
            </a:lvl5pPr>
          </a:lstStyle>
          <a:p>
            <a:r>
              <a:t>Body Level One</a:t>
            </a:r>
          </a:p>
          <a:p>
            <a:pPr lvl="1"/>
            <a:r>
              <a:t>Body Level Two</a:t>
            </a:r>
          </a:p>
          <a:p>
            <a:pPr lvl="2"/>
            <a:r>
              <a:t>Body Level Three</a:t>
            </a:r>
          </a:p>
          <a:p>
            <a:pPr lvl="3"/>
            <a:r>
              <a:t>Body Level Four</a:t>
            </a:r>
          </a:p>
          <a:p>
            <a:pPr lvl="4"/>
            <a:r>
              <a:t>Body Level Five</a:t>
            </a:r>
          </a:p>
        </p:txBody>
      </p:sp>
      <p:sp>
        <p:nvSpPr>
          <p:cNvPr id="40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1537593"/>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name="1_Blue Bar Text_1">
    <p:spTree>
      <p:nvGrpSpPr>
        <p:cNvPr id="1" name=""/>
        <p:cNvGrpSpPr/>
        <p:nvPr/>
      </p:nvGrpSpPr>
      <p:grpSpPr>
        <a:xfrm>
          <a:off x="0" y="0"/>
          <a:ext cx="0" cy="0"/>
          <a:chOff x="0" y="0"/>
          <a:chExt cx="0" cy="0"/>
        </a:xfrm>
      </p:grpSpPr>
      <p:sp>
        <p:nvSpPr>
          <p:cNvPr id="416" name="Google Shape;317;p44"/>
          <p:cNvSpPr/>
          <p:nvPr/>
        </p:nvSpPr>
        <p:spPr>
          <a:xfrm>
            <a:off x="0" y="-2"/>
            <a:ext cx="4724400" cy="6858001"/>
          </a:xfrm>
          <a:prstGeom prst="rect">
            <a:avLst/>
          </a:prstGeom>
          <a:solidFill>
            <a:srgbClr val="2D8FE2"/>
          </a:solidFill>
          <a:ln w="12700">
            <a:miter lim="400000"/>
          </a:ln>
        </p:spPr>
        <p:txBody>
          <a:bodyPr lIns="60959" rIns="60959" anchor="ctr"/>
          <a:lstStyle/>
          <a:p>
            <a:pPr algn="ctr">
              <a:defRPr sz="1800">
                <a:solidFill>
                  <a:srgbClr val="FFFFFF"/>
                </a:solidFill>
              </a:defRPr>
            </a:pPr>
            <a:endParaRPr sz="2400"/>
          </a:p>
        </p:txBody>
      </p:sp>
      <p:sp>
        <p:nvSpPr>
          <p:cNvPr id="41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a:lvl1pPr>
            <a:lvl2pPr marL="457189" indent="330192">
              <a:buClrTx/>
              <a:buSzTx/>
              <a:buFontTx/>
              <a:buNone/>
              <a:defRPr sz="1600"/>
            </a:lvl2pPr>
            <a:lvl3pPr marL="457189" indent="965176">
              <a:buClrTx/>
              <a:buSzTx/>
              <a:buFontTx/>
              <a:buNone/>
              <a:defRPr sz="1600"/>
            </a:lvl3pPr>
            <a:lvl4pPr marL="457189" indent="1574761">
              <a:buClrTx/>
              <a:buSzTx/>
              <a:buFontTx/>
              <a:buNone/>
              <a:defRPr sz="1600"/>
            </a:lvl4pPr>
            <a:lvl5pPr marL="457189" indent="2184345">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41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3804142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type="tx">
  <p:cSld name="1_Black Bar text_1">
    <p:spTree>
      <p:nvGrpSpPr>
        <p:cNvPr id="1" name=""/>
        <p:cNvGrpSpPr/>
        <p:nvPr/>
      </p:nvGrpSpPr>
      <p:grpSpPr>
        <a:xfrm>
          <a:off x="0" y="0"/>
          <a:ext cx="0" cy="0"/>
          <a:chOff x="0" y="0"/>
          <a:chExt cx="0" cy="0"/>
        </a:xfrm>
      </p:grpSpPr>
      <p:sp>
        <p:nvSpPr>
          <p:cNvPr id="426" name="Google Shape;330;p45"/>
          <p:cNvSpPr/>
          <p:nvPr/>
        </p:nvSpPr>
        <p:spPr>
          <a:xfrm>
            <a:off x="0" y="-2"/>
            <a:ext cx="4724400" cy="6858001"/>
          </a:xfrm>
          <a:prstGeom prst="rect">
            <a:avLst/>
          </a:prstGeom>
          <a:solidFill>
            <a:srgbClr val="0A0A0C"/>
          </a:solidFill>
          <a:ln w="12700">
            <a:miter lim="400000"/>
          </a:ln>
        </p:spPr>
        <p:txBody>
          <a:bodyPr lIns="60959" rIns="60959" anchor="ctr"/>
          <a:lstStyle/>
          <a:p>
            <a:pPr algn="ctr">
              <a:defRPr>
                <a:solidFill>
                  <a:srgbClr val="FFFFFF"/>
                </a:solidFill>
              </a:defRPr>
            </a:pPr>
            <a:endParaRPr sz="2400"/>
          </a:p>
        </p:txBody>
      </p:sp>
      <p:sp>
        <p:nvSpPr>
          <p:cNvPr id="427"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lvl1pPr>
            <a:lvl2pPr marL="457189" indent="330192">
              <a:buClrTx/>
              <a:buSzTx/>
              <a:buFontTx/>
              <a:buNone/>
              <a:defRPr sz="1600" b="0"/>
            </a:lvl2pPr>
            <a:lvl3pPr marL="457189" indent="965176">
              <a:buClrTx/>
              <a:buSzTx/>
              <a:buFontTx/>
              <a:buNone/>
              <a:defRPr sz="1600" b="0"/>
            </a:lvl3pPr>
            <a:lvl4pPr marL="457189" indent="1574761">
              <a:buClrTx/>
              <a:buSzTx/>
              <a:buFontTx/>
              <a:buNone/>
              <a:defRPr sz="1600" b="0"/>
            </a:lvl4pPr>
            <a:lvl5pPr marL="457189" indent="2184345">
              <a:buClrTx/>
              <a:buSzTx/>
              <a:buFontTx/>
              <a:buNone/>
              <a:defRPr sz="1600" b="0"/>
            </a:lvl5pPr>
          </a:lstStyle>
          <a:p>
            <a:r>
              <a:t>Body Level One</a:t>
            </a:r>
          </a:p>
          <a:p>
            <a:pPr lvl="1"/>
            <a:r>
              <a:t>Body Level Two</a:t>
            </a:r>
          </a:p>
          <a:p>
            <a:pPr lvl="2"/>
            <a:r>
              <a:t>Body Level Three</a:t>
            </a:r>
          </a:p>
          <a:p>
            <a:pPr lvl="3"/>
            <a:r>
              <a:t>Body Level Four</a:t>
            </a:r>
          </a:p>
          <a:p>
            <a:pPr lvl="4"/>
            <a:r>
              <a:t>Body Level Five</a:t>
            </a:r>
          </a:p>
        </p:txBody>
      </p:sp>
      <p:sp>
        <p:nvSpPr>
          <p:cNvPr id="42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604753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name="Team Members">
    <p:spTree>
      <p:nvGrpSpPr>
        <p:cNvPr id="1" name=""/>
        <p:cNvGrpSpPr/>
        <p:nvPr/>
      </p:nvGrpSpPr>
      <p:grpSpPr>
        <a:xfrm>
          <a:off x="0" y="0"/>
          <a:ext cx="0" cy="0"/>
          <a:chOff x="0" y="0"/>
          <a:chExt cx="0" cy="0"/>
        </a:xfrm>
      </p:grpSpPr>
      <p:sp>
        <p:nvSpPr>
          <p:cNvPr id="436" name="Title Text"/>
          <p:cNvSpPr txBox="1">
            <a:spLocks noGrp="1"/>
          </p:cNvSpPr>
          <p:nvPr>
            <p:ph type="title"/>
          </p:nvPr>
        </p:nvSpPr>
        <p:spPr>
          <a:xfrm>
            <a:off x="301099" y="182880"/>
            <a:ext cx="10252801" cy="792000"/>
          </a:xfrm>
          <a:prstGeom prst="rect">
            <a:avLst/>
          </a:prstGeom>
        </p:spPr>
        <p:txBody>
          <a:bodyPr anchor="t"/>
          <a:lstStyle>
            <a:lvl1pPr>
              <a:defRPr sz="3200"/>
            </a:lvl1pPr>
          </a:lstStyle>
          <a:p>
            <a:r>
              <a:t>Title Text</a:t>
            </a:r>
          </a:p>
        </p:txBody>
      </p:sp>
      <p:sp>
        <p:nvSpPr>
          <p:cNvPr id="437" name="Body Level One…"/>
          <p:cNvSpPr txBox="1">
            <a:spLocks noGrp="1"/>
          </p:cNvSpPr>
          <p:nvPr>
            <p:ph type="body" sz="quarter" idx="1"/>
          </p:nvPr>
        </p:nvSpPr>
        <p:spPr>
          <a:xfrm>
            <a:off x="1084566" y="1219201"/>
            <a:ext cx="4093601" cy="444801"/>
          </a:xfrm>
          <a:prstGeom prst="rect">
            <a:avLst/>
          </a:prstGeom>
        </p:spPr>
        <p:txBody>
          <a:bodyPr>
            <a:normAutofit/>
          </a:bodyPr>
          <a:lstStyle>
            <a:lvl1pPr marL="457189" indent="-304792">
              <a:buClrTx/>
              <a:buSzTx/>
              <a:buFontTx/>
              <a:buNone/>
              <a:defRPr sz="2000">
                <a:solidFill>
                  <a:srgbClr val="2D8FE2"/>
                </a:solidFill>
              </a:defRPr>
            </a:lvl1pPr>
            <a:lvl2pPr marL="457189" indent="330192">
              <a:buClrTx/>
              <a:buSzTx/>
              <a:buFontTx/>
              <a:buNone/>
              <a:defRPr sz="2000">
                <a:solidFill>
                  <a:srgbClr val="2D8FE2"/>
                </a:solidFill>
              </a:defRPr>
            </a:lvl2pPr>
            <a:lvl3pPr marL="457189" indent="965176">
              <a:buClrTx/>
              <a:buSzTx/>
              <a:buFontTx/>
              <a:buNone/>
              <a:defRPr sz="2000">
                <a:solidFill>
                  <a:srgbClr val="2D8FE2"/>
                </a:solidFill>
              </a:defRPr>
            </a:lvl3pPr>
            <a:lvl4pPr marL="457189" indent="1574761">
              <a:buClrTx/>
              <a:buSzTx/>
              <a:buFontTx/>
              <a:buNone/>
              <a:defRPr sz="2000">
                <a:solidFill>
                  <a:srgbClr val="2D8FE2"/>
                </a:solidFill>
              </a:defRPr>
            </a:lvl4pPr>
            <a:lvl5pPr marL="457189" indent="2184345">
              <a:buClrTx/>
              <a:buSzTx/>
              <a:buFontTx/>
              <a:buNone/>
              <a:defRPr sz="200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438" name="Google Shape;353;p46"/>
          <p:cNvSpPr/>
          <p:nvPr/>
        </p:nvSpPr>
        <p:spPr>
          <a:xfrm>
            <a:off x="320034" y="1360440"/>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39" name="Google Shape;354;p46"/>
          <p:cNvSpPr/>
          <p:nvPr/>
        </p:nvSpPr>
        <p:spPr>
          <a:xfrm>
            <a:off x="320034" y="2620308"/>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0" name="Google Shape;355;p46"/>
          <p:cNvSpPr/>
          <p:nvPr/>
        </p:nvSpPr>
        <p:spPr>
          <a:xfrm>
            <a:off x="320034" y="3830641"/>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1" name="Google Shape;356;p46"/>
          <p:cNvSpPr/>
          <p:nvPr/>
        </p:nvSpPr>
        <p:spPr>
          <a:xfrm>
            <a:off x="320034" y="5028306"/>
            <a:ext cx="609601" cy="609601"/>
          </a:xfrm>
          <a:prstGeom prst="ellipse">
            <a:avLst/>
          </a:prstGeom>
          <a:solidFill>
            <a:srgbClr val="E3E7F0"/>
          </a:solidFill>
          <a:ln>
            <a:solidFill>
              <a:srgbClr val="F2F0EE"/>
            </a:solidFill>
          </a:ln>
        </p:spPr>
        <p:txBody>
          <a:bodyPr lIns="60959" rIns="60959" anchor="ctr"/>
          <a:lstStyle/>
          <a:p>
            <a:endParaRPr sz="2400"/>
          </a:p>
        </p:txBody>
      </p:sp>
      <p:sp>
        <p:nvSpPr>
          <p:cNvPr id="442" name="Google Shape;365;p46"/>
          <p:cNvSpPr/>
          <p:nvPr/>
        </p:nvSpPr>
        <p:spPr>
          <a:xfrm>
            <a:off x="6096000" y="1360440"/>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3" name="Google Shape;366;p46"/>
          <p:cNvSpPr/>
          <p:nvPr/>
        </p:nvSpPr>
        <p:spPr>
          <a:xfrm>
            <a:off x="6096000" y="2620308"/>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4" name="Google Shape;367;p46"/>
          <p:cNvSpPr/>
          <p:nvPr/>
        </p:nvSpPr>
        <p:spPr>
          <a:xfrm>
            <a:off x="6096000" y="3830641"/>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5" name="Google Shape;368;p46"/>
          <p:cNvSpPr/>
          <p:nvPr/>
        </p:nvSpPr>
        <p:spPr>
          <a:xfrm>
            <a:off x="6096000" y="5028306"/>
            <a:ext cx="609600" cy="609601"/>
          </a:xfrm>
          <a:prstGeom prst="ellipse">
            <a:avLst/>
          </a:prstGeom>
          <a:solidFill>
            <a:srgbClr val="E3E7F0"/>
          </a:solidFill>
          <a:ln>
            <a:solidFill>
              <a:srgbClr val="F2F0EE"/>
            </a:solidFill>
          </a:ln>
        </p:spPr>
        <p:txBody>
          <a:bodyPr lIns="60959" rIns="60959" anchor="ctr"/>
          <a:lstStyle/>
          <a:p>
            <a:endParaRPr sz="2400"/>
          </a:p>
        </p:txBody>
      </p:sp>
      <p:sp>
        <p:nvSpPr>
          <p:cNvPr id="4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14336203"/>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name="Quote 1">
    <p:spTree>
      <p:nvGrpSpPr>
        <p:cNvPr id="1" name=""/>
        <p:cNvGrpSpPr/>
        <p:nvPr/>
      </p:nvGrpSpPr>
      <p:grpSpPr>
        <a:xfrm>
          <a:off x="0" y="0"/>
          <a:ext cx="0" cy="0"/>
          <a:chOff x="0" y="0"/>
          <a:chExt cx="0" cy="0"/>
        </a:xfrm>
      </p:grpSpPr>
      <p:sp>
        <p:nvSpPr>
          <p:cNvPr id="453" name="Google Shape;372;p47"/>
          <p:cNvSpPr/>
          <p:nvPr/>
        </p:nvSpPr>
        <p:spPr>
          <a:xfrm flipH="1">
            <a:off x="4604954" y="1130653"/>
            <a:ext cx="1" cy="4591201"/>
          </a:xfrm>
          <a:prstGeom prst="line">
            <a:avLst/>
          </a:prstGeom>
          <a:ln w="12700">
            <a:solidFill>
              <a:srgbClr val="A5A5A5"/>
            </a:solidFill>
            <a:miter/>
          </a:ln>
        </p:spPr>
        <p:txBody>
          <a:bodyPr lIns="60959" rIns="60959"/>
          <a:lstStyle/>
          <a:p>
            <a:endParaRPr sz="2400"/>
          </a:p>
        </p:txBody>
      </p:sp>
      <p:sp>
        <p:nvSpPr>
          <p:cNvPr id="454" name="Body Level One…"/>
          <p:cNvSpPr txBox="1">
            <a:spLocks noGrp="1"/>
          </p:cNvSpPr>
          <p:nvPr>
            <p:ph type="body" sz="quarter" idx="1"/>
          </p:nvPr>
        </p:nvSpPr>
        <p:spPr>
          <a:xfrm>
            <a:off x="4991749" y="1825574"/>
            <a:ext cx="6323603" cy="1755201"/>
          </a:xfrm>
          <a:prstGeom prst="rect">
            <a:avLst/>
          </a:prstGeom>
        </p:spPr>
        <p:txBody>
          <a:bodyPr>
            <a:normAutofit/>
          </a:bodyPr>
          <a:lstStyle>
            <a:lvl1pPr marL="457189" indent="-304792">
              <a:buClrTx/>
              <a:buSzTx/>
              <a:buFontTx/>
              <a:buNone/>
              <a:defRPr sz="4000" b="0">
                <a:solidFill>
                  <a:srgbClr val="23232D"/>
                </a:solidFill>
              </a:defRPr>
            </a:lvl1pPr>
            <a:lvl2pPr marL="457189" indent="330192">
              <a:buClrTx/>
              <a:buSzTx/>
              <a:buFontTx/>
              <a:buNone/>
              <a:defRPr sz="4000" b="0">
                <a:solidFill>
                  <a:srgbClr val="23232D"/>
                </a:solidFill>
              </a:defRPr>
            </a:lvl2pPr>
            <a:lvl3pPr marL="457189" indent="965176">
              <a:buClrTx/>
              <a:buSzTx/>
              <a:buFontTx/>
              <a:buNone/>
              <a:defRPr sz="4000" b="0">
                <a:solidFill>
                  <a:srgbClr val="23232D"/>
                </a:solidFill>
              </a:defRPr>
            </a:lvl3pPr>
            <a:lvl4pPr marL="457189" indent="1574761">
              <a:buClrTx/>
              <a:buSzTx/>
              <a:buFontTx/>
              <a:buNone/>
              <a:defRPr sz="4000" b="0">
                <a:solidFill>
                  <a:srgbClr val="23232D"/>
                </a:solidFill>
              </a:defRPr>
            </a:lvl4pPr>
            <a:lvl5pPr marL="457189" indent="2184345">
              <a:buClrTx/>
              <a:buSzTx/>
              <a:buFontTx/>
              <a:buNone/>
              <a:defRPr sz="4000" b="0">
                <a:solidFill>
                  <a:srgbClr val="23232D"/>
                </a:solidFill>
              </a:defRPr>
            </a:lvl5pPr>
          </a:lstStyle>
          <a:p>
            <a:r>
              <a:t>Body Level One</a:t>
            </a:r>
          </a:p>
          <a:p>
            <a:pPr lvl="1"/>
            <a:r>
              <a:t>Body Level Two</a:t>
            </a:r>
          </a:p>
          <a:p>
            <a:pPr lvl="2"/>
            <a:r>
              <a:t>Body Level Three</a:t>
            </a:r>
          </a:p>
          <a:p>
            <a:pPr lvl="3"/>
            <a:r>
              <a:t>Body Level Four</a:t>
            </a:r>
          </a:p>
          <a:p>
            <a:pPr lvl="4"/>
            <a:r>
              <a:t>Body Level Five</a:t>
            </a:r>
          </a:p>
        </p:txBody>
      </p:sp>
      <p:sp>
        <p:nvSpPr>
          <p:cNvPr id="4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75995980"/>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Quote 1_1_1">
    <p:spTree>
      <p:nvGrpSpPr>
        <p:cNvPr id="1" name=""/>
        <p:cNvGrpSpPr/>
        <p:nvPr/>
      </p:nvGrpSpPr>
      <p:grpSpPr>
        <a:xfrm>
          <a:off x="0" y="0"/>
          <a:ext cx="0" cy="0"/>
          <a:chOff x="0" y="0"/>
          <a:chExt cx="0" cy="0"/>
        </a:xfrm>
      </p:grpSpPr>
      <p:sp>
        <p:nvSpPr>
          <p:cNvPr id="471" name="Google Shape;386;p49"/>
          <p:cNvSpPr/>
          <p:nvPr/>
        </p:nvSpPr>
        <p:spPr>
          <a:xfrm>
            <a:off x="0" y="0"/>
            <a:ext cx="12192000" cy="6858000"/>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472" name="Body Level One…"/>
          <p:cNvSpPr txBox="1">
            <a:spLocks noGrp="1"/>
          </p:cNvSpPr>
          <p:nvPr>
            <p:ph type="body" sz="half" idx="1"/>
          </p:nvPr>
        </p:nvSpPr>
        <p:spPr>
          <a:xfrm>
            <a:off x="1071809" y="1665866"/>
            <a:ext cx="10048401" cy="1755201"/>
          </a:xfrm>
          <a:prstGeom prst="rect">
            <a:avLst/>
          </a:prstGeom>
        </p:spPr>
        <p:txBody>
          <a:bodyPr>
            <a:normAutofit/>
          </a:bodyPr>
          <a:lstStyle>
            <a:lvl1pPr marL="457189" indent="-304792">
              <a:buClrTx/>
              <a:buSzTx/>
              <a:buFontTx/>
              <a:buNone/>
              <a:defRPr sz="4800" b="0">
                <a:latin typeface="Roboto Light"/>
                <a:ea typeface="Roboto Light"/>
                <a:cs typeface="Roboto Light"/>
                <a:sym typeface="Roboto Light"/>
              </a:defRPr>
            </a:lvl1pPr>
            <a:lvl2pPr marL="457189" indent="330192">
              <a:buClrTx/>
              <a:buSzTx/>
              <a:buFontTx/>
              <a:buNone/>
              <a:defRPr sz="4800" b="0">
                <a:latin typeface="Roboto Light"/>
                <a:ea typeface="Roboto Light"/>
                <a:cs typeface="Roboto Light"/>
                <a:sym typeface="Roboto Light"/>
              </a:defRPr>
            </a:lvl2pPr>
            <a:lvl3pPr marL="457189" indent="965176">
              <a:buClrTx/>
              <a:buSzTx/>
              <a:buFontTx/>
              <a:buNone/>
              <a:defRPr sz="4800" b="0">
                <a:latin typeface="Roboto Light"/>
                <a:ea typeface="Roboto Light"/>
                <a:cs typeface="Roboto Light"/>
                <a:sym typeface="Roboto Light"/>
              </a:defRPr>
            </a:lvl3pPr>
            <a:lvl4pPr marL="457189" indent="1574761">
              <a:buClrTx/>
              <a:buSzTx/>
              <a:buFontTx/>
              <a:buNone/>
              <a:defRPr sz="4800" b="0">
                <a:latin typeface="Roboto Light"/>
                <a:ea typeface="Roboto Light"/>
                <a:cs typeface="Roboto Light"/>
                <a:sym typeface="Roboto Light"/>
              </a:defRPr>
            </a:lvl4pPr>
            <a:lvl5pPr marL="457189" indent="2184345">
              <a:buClrTx/>
              <a:buSzTx/>
              <a:buFontTx/>
              <a:buNone/>
              <a:defRPr sz="4800" b="0">
                <a:latin typeface="Roboto Light"/>
                <a:ea typeface="Roboto Light"/>
                <a:cs typeface="Roboto Light"/>
                <a:sym typeface="Roboto Light"/>
              </a:defRPr>
            </a:lvl5pPr>
          </a:lstStyle>
          <a:p>
            <a:r>
              <a:t>Body Level One</a:t>
            </a:r>
          </a:p>
          <a:p>
            <a:pPr lvl="1"/>
            <a:r>
              <a:t>Body Level Two</a:t>
            </a:r>
          </a:p>
          <a:p>
            <a:pPr lvl="2"/>
            <a:r>
              <a:t>Body Level Three</a:t>
            </a:r>
          </a:p>
          <a:p>
            <a:pPr lvl="3"/>
            <a:r>
              <a:t>Body Level Four</a:t>
            </a:r>
          </a:p>
          <a:p>
            <a:pPr lvl="4"/>
            <a:r>
              <a:t>Body Level Five</a:t>
            </a:r>
          </a:p>
        </p:txBody>
      </p:sp>
      <p:sp>
        <p:nvSpPr>
          <p:cNvPr id="4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49920588"/>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name="Quote 1_1_1_1">
    <p:spTree>
      <p:nvGrpSpPr>
        <p:cNvPr id="1" name=""/>
        <p:cNvGrpSpPr/>
        <p:nvPr/>
      </p:nvGrpSpPr>
      <p:grpSpPr>
        <a:xfrm>
          <a:off x="0" y="0"/>
          <a:ext cx="0" cy="0"/>
          <a:chOff x="0" y="0"/>
          <a:chExt cx="0" cy="0"/>
        </a:xfrm>
      </p:grpSpPr>
      <p:sp>
        <p:nvSpPr>
          <p:cNvPr id="480" name="Google Shape;393;p50"/>
          <p:cNvSpPr/>
          <p:nvPr/>
        </p:nvSpPr>
        <p:spPr>
          <a:xfrm>
            <a:off x="0" y="0"/>
            <a:ext cx="12192000" cy="6858000"/>
          </a:xfrm>
          <a:prstGeom prst="rect">
            <a:avLst/>
          </a:prstGeom>
          <a:solidFill>
            <a:srgbClr val="2D8FE2"/>
          </a:solidFill>
          <a:ln w="12700">
            <a:miter lim="400000"/>
          </a:ln>
        </p:spPr>
        <p:txBody>
          <a:bodyPr lIns="60959" rIns="60959" anchor="ctr"/>
          <a:lstStyle/>
          <a:p>
            <a:pPr algn="ctr">
              <a:defRPr>
                <a:solidFill>
                  <a:srgbClr val="2D8FE2"/>
                </a:solidFill>
              </a:defRPr>
            </a:pPr>
            <a:endParaRPr sz="2400"/>
          </a:p>
        </p:txBody>
      </p:sp>
      <p:sp>
        <p:nvSpPr>
          <p:cNvPr id="481" name="Body Level One…"/>
          <p:cNvSpPr txBox="1">
            <a:spLocks noGrp="1"/>
          </p:cNvSpPr>
          <p:nvPr>
            <p:ph type="body" sz="half" idx="1"/>
          </p:nvPr>
        </p:nvSpPr>
        <p:spPr>
          <a:xfrm>
            <a:off x="1071809" y="1665866"/>
            <a:ext cx="10048401" cy="1755201"/>
          </a:xfrm>
          <a:prstGeom prst="rect">
            <a:avLst/>
          </a:prstGeom>
        </p:spPr>
        <p:txBody>
          <a:bodyPr>
            <a:normAutofit/>
          </a:bodyPr>
          <a:lstStyle>
            <a:lvl1pPr marL="457189" indent="-304792">
              <a:buClrTx/>
              <a:buSzTx/>
              <a:buFontTx/>
              <a:buNone/>
              <a:defRPr sz="4800" b="0">
                <a:latin typeface="Roboto Light"/>
                <a:ea typeface="Roboto Light"/>
                <a:cs typeface="Roboto Light"/>
                <a:sym typeface="Roboto Light"/>
              </a:defRPr>
            </a:lvl1pPr>
            <a:lvl2pPr marL="457189" indent="330192">
              <a:buClrTx/>
              <a:buSzTx/>
              <a:buFontTx/>
              <a:buNone/>
              <a:defRPr sz="4800" b="0">
                <a:latin typeface="Roboto Light"/>
                <a:ea typeface="Roboto Light"/>
                <a:cs typeface="Roboto Light"/>
                <a:sym typeface="Roboto Light"/>
              </a:defRPr>
            </a:lvl2pPr>
            <a:lvl3pPr marL="457189" indent="965176">
              <a:buClrTx/>
              <a:buSzTx/>
              <a:buFontTx/>
              <a:buNone/>
              <a:defRPr sz="4800" b="0">
                <a:latin typeface="Roboto Light"/>
                <a:ea typeface="Roboto Light"/>
                <a:cs typeface="Roboto Light"/>
                <a:sym typeface="Roboto Light"/>
              </a:defRPr>
            </a:lvl3pPr>
            <a:lvl4pPr marL="457189" indent="1574761">
              <a:buClrTx/>
              <a:buSzTx/>
              <a:buFontTx/>
              <a:buNone/>
              <a:defRPr sz="4800" b="0">
                <a:latin typeface="Roboto Light"/>
                <a:ea typeface="Roboto Light"/>
                <a:cs typeface="Roboto Light"/>
                <a:sym typeface="Roboto Light"/>
              </a:defRPr>
            </a:lvl4pPr>
            <a:lvl5pPr marL="457189" indent="2184345">
              <a:buClrTx/>
              <a:buSzTx/>
              <a:buFontTx/>
              <a:buNone/>
              <a:defRPr sz="4800" b="0">
                <a:latin typeface="Roboto Light"/>
                <a:ea typeface="Roboto Light"/>
                <a:cs typeface="Roboto Light"/>
                <a:sym typeface="Roboto Light"/>
              </a:defRPr>
            </a:lvl5pPr>
          </a:lstStyle>
          <a:p>
            <a:r>
              <a:t>Body Level One</a:t>
            </a:r>
          </a:p>
          <a:p>
            <a:pPr lvl="1"/>
            <a:r>
              <a:t>Body Level Two</a:t>
            </a:r>
          </a:p>
          <a:p>
            <a:pPr lvl="2"/>
            <a:r>
              <a:t>Body Level Three</a:t>
            </a:r>
          </a:p>
          <a:p>
            <a:pPr lvl="3"/>
            <a:r>
              <a:t>Body Level Four</a:t>
            </a:r>
          </a:p>
          <a:p>
            <a:pPr lvl="4"/>
            <a:r>
              <a:t>Body Level Five</a:t>
            </a:r>
          </a:p>
        </p:txBody>
      </p:sp>
      <p:sp>
        <p:nvSpPr>
          <p:cNvPr id="4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55309926"/>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type="tx">
  <p:cSld name="Image 1">
    <p:spTree>
      <p:nvGrpSpPr>
        <p:cNvPr id="1" name=""/>
        <p:cNvGrpSpPr/>
        <p:nvPr/>
      </p:nvGrpSpPr>
      <p:grpSpPr>
        <a:xfrm>
          <a:off x="0" y="0"/>
          <a:ext cx="0" cy="0"/>
          <a:chOff x="0" y="0"/>
          <a:chExt cx="0" cy="0"/>
        </a:xfrm>
      </p:grpSpPr>
      <p:sp>
        <p:nvSpPr>
          <p:cNvPr id="497" name="Google Shape;406;p52"/>
          <p:cNvSpPr/>
          <p:nvPr/>
        </p:nvSpPr>
        <p:spPr>
          <a:xfrm flipH="1">
            <a:off x="145" y="-2"/>
            <a:ext cx="102801"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49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49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00" name="Google Shape;409;p52"/>
          <p:cNvSpPr/>
          <p:nvPr/>
        </p:nvSpPr>
        <p:spPr>
          <a:xfrm>
            <a:off x="6105600" y="1096851"/>
            <a:ext cx="4790801" cy="4803200"/>
          </a:xfrm>
          <a:prstGeom prst="rect">
            <a:avLst/>
          </a:prstGeom>
          <a:solidFill>
            <a:srgbClr val="E3E7F0"/>
          </a:solidFill>
          <a:ln>
            <a:solidFill>
              <a:srgbClr val="F2F0EE"/>
            </a:solidFill>
          </a:ln>
        </p:spPr>
        <p:txBody>
          <a:bodyPr lIns="60959" rIns="60959" anchor="ctr"/>
          <a:lstStyle/>
          <a:p>
            <a:endParaRPr sz="2400"/>
          </a:p>
        </p:txBody>
      </p:sp>
      <p:sp>
        <p:nvSpPr>
          <p:cNvPr id="5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13532657"/>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name="Image 2">
    <p:spTree>
      <p:nvGrpSpPr>
        <p:cNvPr id="1" name=""/>
        <p:cNvGrpSpPr/>
        <p:nvPr/>
      </p:nvGrpSpPr>
      <p:grpSpPr>
        <a:xfrm>
          <a:off x="0" y="0"/>
          <a:ext cx="0" cy="0"/>
          <a:chOff x="0" y="0"/>
          <a:chExt cx="0" cy="0"/>
        </a:xfrm>
      </p:grpSpPr>
      <p:sp>
        <p:nvSpPr>
          <p:cNvPr id="508" name="Title Text"/>
          <p:cNvSpPr txBox="1">
            <a:spLocks noGrp="1"/>
          </p:cNvSpPr>
          <p:nvPr>
            <p:ph type="title"/>
          </p:nvPr>
        </p:nvSpPr>
        <p:spPr>
          <a:xfrm>
            <a:off x="7879934" y="1024134"/>
            <a:ext cx="3829201" cy="1274001"/>
          </a:xfrm>
          <a:prstGeom prst="rect">
            <a:avLst/>
          </a:prstGeom>
        </p:spPr>
        <p:txBody>
          <a:bodyPr anchor="t"/>
          <a:lstStyle>
            <a:lvl1pPr>
              <a:defRPr sz="3200"/>
            </a:lvl1pPr>
          </a:lstStyle>
          <a:p>
            <a:r>
              <a:t>Title Text</a:t>
            </a:r>
          </a:p>
        </p:txBody>
      </p:sp>
      <p:sp>
        <p:nvSpPr>
          <p:cNvPr id="509" name="Body Level One…"/>
          <p:cNvSpPr txBox="1">
            <a:spLocks noGrp="1"/>
          </p:cNvSpPr>
          <p:nvPr>
            <p:ph type="body" sz="quarter" idx="1"/>
          </p:nvPr>
        </p:nvSpPr>
        <p:spPr>
          <a:xfrm>
            <a:off x="7879934" y="3598665"/>
            <a:ext cx="3829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10" name="Google Shape;416;p53"/>
          <p:cNvSpPr/>
          <p:nvPr/>
        </p:nvSpPr>
        <p:spPr>
          <a:xfrm>
            <a:off x="-1" y="0"/>
            <a:ext cx="7328803" cy="6858000"/>
          </a:xfrm>
          <a:prstGeom prst="rect">
            <a:avLst/>
          </a:prstGeom>
          <a:solidFill>
            <a:srgbClr val="E3E7F0"/>
          </a:solidFill>
          <a:ln>
            <a:solidFill>
              <a:srgbClr val="F2F0EE"/>
            </a:solidFill>
          </a:ln>
        </p:spPr>
        <p:txBody>
          <a:bodyPr lIns="60959" rIns="60959" anchor="ctr"/>
          <a:lstStyle/>
          <a:p>
            <a:endParaRPr sz="2400"/>
          </a:p>
        </p:txBody>
      </p:sp>
      <p:sp>
        <p:nvSpPr>
          <p:cNvPr id="5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544417924"/>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name="Image 3">
    <p:spTree>
      <p:nvGrpSpPr>
        <p:cNvPr id="1" name=""/>
        <p:cNvGrpSpPr/>
        <p:nvPr/>
      </p:nvGrpSpPr>
      <p:grpSpPr>
        <a:xfrm>
          <a:off x="0" y="0"/>
          <a:ext cx="0" cy="0"/>
          <a:chOff x="0" y="0"/>
          <a:chExt cx="0" cy="0"/>
        </a:xfrm>
      </p:grpSpPr>
      <p:sp>
        <p:nvSpPr>
          <p:cNvPr id="518" name="Title Text"/>
          <p:cNvSpPr txBox="1">
            <a:spLocks noGrp="1"/>
          </p:cNvSpPr>
          <p:nvPr>
            <p:ph type="title"/>
          </p:nvPr>
        </p:nvSpPr>
        <p:spPr>
          <a:xfrm>
            <a:off x="408825" y="1024127"/>
            <a:ext cx="3802400" cy="1274003"/>
          </a:xfrm>
          <a:prstGeom prst="rect">
            <a:avLst/>
          </a:prstGeom>
        </p:spPr>
        <p:txBody>
          <a:bodyPr anchor="t"/>
          <a:lstStyle>
            <a:lvl1pPr>
              <a:defRPr sz="3200"/>
            </a:lvl1pPr>
          </a:lstStyle>
          <a:p>
            <a:r>
              <a:t>Title Text</a:t>
            </a:r>
          </a:p>
        </p:txBody>
      </p:sp>
      <p:sp>
        <p:nvSpPr>
          <p:cNvPr id="51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20" name="Google Shape;423;p54"/>
          <p:cNvSpPr/>
          <p:nvPr/>
        </p:nvSpPr>
        <p:spPr>
          <a:xfrm>
            <a:off x="4891375" y="0"/>
            <a:ext cx="7328801" cy="6858000"/>
          </a:xfrm>
          <a:prstGeom prst="rect">
            <a:avLst/>
          </a:prstGeom>
          <a:solidFill>
            <a:srgbClr val="E3E7F0"/>
          </a:solidFill>
          <a:ln>
            <a:solidFill>
              <a:srgbClr val="F2F0EE"/>
            </a:solidFill>
          </a:ln>
        </p:spPr>
        <p:txBody>
          <a:bodyPr lIns="60959" rIns="60959" anchor="ctr"/>
          <a:lstStyle/>
          <a:p>
            <a:endParaRPr sz="2400"/>
          </a:p>
        </p:txBody>
      </p:sp>
      <p:sp>
        <p:nvSpPr>
          <p:cNvPr id="5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62200484"/>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type="tx">
  <p:cSld name="Blue Bar-Left">
    <p:spTree>
      <p:nvGrpSpPr>
        <p:cNvPr id="1" name=""/>
        <p:cNvGrpSpPr/>
        <p:nvPr/>
      </p:nvGrpSpPr>
      <p:grpSpPr>
        <a:xfrm>
          <a:off x="0" y="0"/>
          <a:ext cx="0" cy="0"/>
          <a:chOff x="0" y="0"/>
          <a:chExt cx="0" cy="0"/>
        </a:xfrm>
      </p:grpSpPr>
      <p:sp>
        <p:nvSpPr>
          <p:cNvPr id="535" name="Google Shape;429;p56"/>
          <p:cNvSpPr/>
          <p:nvPr/>
        </p:nvSpPr>
        <p:spPr>
          <a:xfrm flipH="1">
            <a:off x="-172" y="-2"/>
            <a:ext cx="5007600" cy="6858001"/>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5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86141514"/>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name="Grey Bar-Left">
    <p:spTree>
      <p:nvGrpSpPr>
        <p:cNvPr id="1" name=""/>
        <p:cNvGrpSpPr/>
        <p:nvPr/>
      </p:nvGrpSpPr>
      <p:grpSpPr>
        <a:xfrm>
          <a:off x="0" y="0"/>
          <a:ext cx="0" cy="0"/>
          <a:chOff x="0" y="0"/>
          <a:chExt cx="0" cy="0"/>
        </a:xfrm>
      </p:grpSpPr>
      <p:sp>
        <p:nvSpPr>
          <p:cNvPr id="543" name="Google Shape;434;p57"/>
          <p:cNvSpPr/>
          <p:nvPr/>
        </p:nvSpPr>
        <p:spPr>
          <a:xfrm flipH="1">
            <a:off x="-172" y="-2"/>
            <a:ext cx="5007600" cy="6858001"/>
          </a:xfrm>
          <a:prstGeom prst="rect">
            <a:avLst/>
          </a:prstGeom>
          <a:solidFill>
            <a:srgbClr val="53718F"/>
          </a:solidFill>
          <a:ln w="12700">
            <a:miter lim="400000"/>
          </a:ln>
        </p:spPr>
        <p:txBody>
          <a:bodyPr lIns="60959" rIns="60959" anchor="ctr"/>
          <a:lstStyle/>
          <a:p>
            <a:pPr algn="ctr">
              <a:defRPr>
                <a:solidFill>
                  <a:srgbClr val="FFFFFF"/>
                </a:solidFill>
              </a:defRPr>
            </a:pPr>
            <a:endParaRPr sz="2400"/>
          </a:p>
        </p:txBody>
      </p:sp>
      <p:sp>
        <p:nvSpPr>
          <p:cNvPr id="5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430119927"/>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type="tx">
  <p:cSld name="Black Bar-Left">
    <p:spTree>
      <p:nvGrpSpPr>
        <p:cNvPr id="1" name=""/>
        <p:cNvGrpSpPr/>
        <p:nvPr/>
      </p:nvGrpSpPr>
      <p:grpSpPr>
        <a:xfrm>
          <a:off x="0" y="0"/>
          <a:ext cx="0" cy="0"/>
          <a:chOff x="0" y="0"/>
          <a:chExt cx="0" cy="0"/>
        </a:xfrm>
      </p:grpSpPr>
      <p:sp>
        <p:nvSpPr>
          <p:cNvPr id="551" name="Google Shape;439;p58"/>
          <p:cNvSpPr/>
          <p:nvPr/>
        </p:nvSpPr>
        <p:spPr>
          <a:xfrm flipH="1">
            <a:off x="-172" y="-2"/>
            <a:ext cx="5007600" cy="6858001"/>
          </a:xfrm>
          <a:prstGeom prst="rect">
            <a:avLst/>
          </a:prstGeom>
          <a:solidFill>
            <a:srgbClr val="FFFFFF"/>
          </a:solidFill>
          <a:ln w="12700">
            <a:miter lim="400000"/>
          </a:ln>
        </p:spPr>
        <p:txBody>
          <a:bodyPr lIns="60959" rIns="60959" anchor="ctr"/>
          <a:lstStyle/>
          <a:p>
            <a:pPr algn="ctr">
              <a:defRPr>
                <a:solidFill>
                  <a:srgbClr val="FFFFFF"/>
                </a:solidFill>
              </a:defRPr>
            </a:pPr>
            <a:endParaRPr sz="2400"/>
          </a:p>
        </p:txBody>
      </p:sp>
      <p:sp>
        <p:nvSpPr>
          <p:cNvPr id="5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63129622"/>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White Bar-Left">
    <p:spTree>
      <p:nvGrpSpPr>
        <p:cNvPr id="1" name=""/>
        <p:cNvGrpSpPr/>
        <p:nvPr/>
      </p:nvGrpSpPr>
      <p:grpSpPr>
        <a:xfrm>
          <a:off x="0" y="0"/>
          <a:ext cx="0" cy="0"/>
          <a:chOff x="0" y="0"/>
          <a:chExt cx="0" cy="0"/>
        </a:xfrm>
      </p:grpSpPr>
      <p:sp>
        <p:nvSpPr>
          <p:cNvPr id="559" name="Google Shape;444;p59"/>
          <p:cNvSpPr/>
          <p:nvPr/>
        </p:nvSpPr>
        <p:spPr>
          <a:xfrm flipH="1">
            <a:off x="5007599" y="0"/>
            <a:ext cx="7184403" cy="6858000"/>
          </a:xfrm>
          <a:prstGeom prst="rect">
            <a:avLst/>
          </a:prstGeom>
          <a:solidFill>
            <a:srgbClr val="2D8FE2"/>
          </a:solidFill>
          <a:ln w="12700">
            <a:miter lim="400000"/>
          </a:ln>
        </p:spPr>
        <p:txBody>
          <a:bodyPr lIns="60959" rIns="60959" anchor="ctr"/>
          <a:lstStyle/>
          <a:p>
            <a:pPr algn="ctr">
              <a:defRPr>
                <a:solidFill>
                  <a:srgbClr val="FFFFFF"/>
                </a:solidFill>
              </a:defRPr>
            </a:pPr>
            <a:endParaRPr sz="2400"/>
          </a:p>
        </p:txBody>
      </p:sp>
      <p:sp>
        <p:nvSpPr>
          <p:cNvPr id="5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73510574"/>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White Line-Left">
    <p:spTree>
      <p:nvGrpSpPr>
        <p:cNvPr id="1" name=""/>
        <p:cNvGrpSpPr/>
        <p:nvPr/>
      </p:nvGrpSpPr>
      <p:grpSpPr>
        <a:xfrm>
          <a:off x="0" y="0"/>
          <a:ext cx="0" cy="0"/>
          <a:chOff x="0" y="0"/>
          <a:chExt cx="0" cy="0"/>
        </a:xfrm>
      </p:grpSpPr>
      <p:sp>
        <p:nvSpPr>
          <p:cNvPr id="567" name="Google Shape;449;p60"/>
          <p:cNvSpPr/>
          <p:nvPr/>
        </p:nvSpPr>
        <p:spPr>
          <a:xfrm flipH="1">
            <a:off x="5007429" y="1"/>
            <a:ext cx="1" cy="6858001"/>
          </a:xfrm>
          <a:prstGeom prst="line">
            <a:avLst/>
          </a:prstGeom>
          <a:ln w="12700">
            <a:solidFill>
              <a:srgbClr val="7F8FA4"/>
            </a:solidFill>
            <a:miter/>
          </a:ln>
        </p:spPr>
        <p:txBody>
          <a:bodyPr lIns="60959" rIns="60959"/>
          <a:lstStyle/>
          <a:p>
            <a:endParaRPr sz="2400"/>
          </a:p>
        </p:txBody>
      </p:sp>
      <p:sp>
        <p:nvSpPr>
          <p:cNvPr id="568" name="Title Text"/>
          <p:cNvSpPr txBox="1">
            <a:spLocks noGrp="1"/>
          </p:cNvSpPr>
          <p:nvPr>
            <p:ph type="title"/>
          </p:nvPr>
        </p:nvSpPr>
        <p:spPr>
          <a:xfrm>
            <a:off x="426720" y="1024127"/>
            <a:ext cx="3802400" cy="1274003"/>
          </a:xfrm>
          <a:prstGeom prst="rect">
            <a:avLst/>
          </a:prstGeom>
        </p:spPr>
        <p:txBody>
          <a:bodyPr anchor="t"/>
          <a:lstStyle>
            <a:lvl1pPr>
              <a:defRPr sz="3200"/>
            </a:lvl1pPr>
          </a:lstStyle>
          <a:p>
            <a:r>
              <a:t>Title Text</a:t>
            </a:r>
          </a:p>
        </p:txBody>
      </p:sp>
      <p:sp>
        <p:nvSpPr>
          <p:cNvPr id="569" name="Body Level One…"/>
          <p:cNvSpPr txBox="1">
            <a:spLocks noGrp="1"/>
          </p:cNvSpPr>
          <p:nvPr>
            <p:ph type="body" sz="quarter" idx="1"/>
          </p:nvPr>
        </p:nvSpPr>
        <p:spPr>
          <a:xfrm>
            <a:off x="408826" y="3598673"/>
            <a:ext cx="3745201" cy="2364803"/>
          </a:xfrm>
          <a:prstGeom prst="rect">
            <a:avLst/>
          </a:prstGeom>
        </p:spPr>
        <p:txBody>
          <a:bodyPr>
            <a:normAutofit/>
          </a:bodyPr>
          <a:lstStyle>
            <a:lvl1pPr marL="457189" indent="-304792">
              <a:buClrTx/>
              <a:buSzTx/>
              <a:buFontTx/>
              <a:buNone/>
              <a:defRPr sz="1600" b="0">
                <a:solidFill>
                  <a:srgbClr val="7F7F7F"/>
                </a:solidFill>
              </a:defRPr>
            </a:lvl1pPr>
            <a:lvl2pPr marL="457189" indent="330192">
              <a:buClrTx/>
              <a:buSzTx/>
              <a:buFontTx/>
              <a:buNone/>
              <a:defRPr sz="1600" b="0">
                <a:solidFill>
                  <a:srgbClr val="7F7F7F"/>
                </a:solidFill>
              </a:defRPr>
            </a:lvl2pPr>
            <a:lvl3pPr marL="457189" indent="965176">
              <a:buClrTx/>
              <a:buSzTx/>
              <a:buFontTx/>
              <a:buNone/>
              <a:defRPr sz="1600" b="0">
                <a:solidFill>
                  <a:srgbClr val="7F7F7F"/>
                </a:solidFill>
              </a:defRPr>
            </a:lvl3pPr>
            <a:lvl4pPr marL="457189" indent="1574761">
              <a:buClrTx/>
              <a:buSzTx/>
              <a:buFontTx/>
              <a:buNone/>
              <a:defRPr sz="1600" b="0">
                <a:solidFill>
                  <a:srgbClr val="7F7F7F"/>
                </a:solidFill>
              </a:defRPr>
            </a:lvl4pPr>
            <a:lvl5pPr marL="457189" indent="2184345">
              <a:buClrTx/>
              <a:buSzTx/>
              <a:buFontTx/>
              <a:buNone/>
              <a:defRPr sz="1600" b="0">
                <a:solidFill>
                  <a:srgbClr val="7F7F7F"/>
                </a:solidFill>
              </a:defRPr>
            </a:lvl5pPr>
          </a:lstStyle>
          <a:p>
            <a:r>
              <a:t>Body Level One</a:t>
            </a:r>
          </a:p>
          <a:p>
            <a:pPr lvl="1"/>
            <a:r>
              <a:t>Body Level Two</a:t>
            </a:r>
          </a:p>
          <a:p>
            <a:pPr lvl="2"/>
            <a:r>
              <a:t>Body Level Three</a:t>
            </a:r>
          </a:p>
          <a:p>
            <a:pPr lvl="3"/>
            <a:r>
              <a:t>Body Level Four</a:t>
            </a:r>
          </a:p>
          <a:p>
            <a:pPr lvl="4"/>
            <a:r>
              <a:t>Body Level Five</a:t>
            </a:r>
          </a:p>
        </p:txBody>
      </p:sp>
      <p:sp>
        <p:nvSpPr>
          <p:cNvPr id="5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54277140"/>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577" name="Title Text"/>
          <p:cNvSpPr txBox="1">
            <a:spLocks noGrp="1"/>
          </p:cNvSpPr>
          <p:nvPr>
            <p:ph type="title"/>
          </p:nvPr>
        </p:nvSpPr>
        <p:spPr>
          <a:xfrm>
            <a:off x="415611" y="992766"/>
            <a:ext cx="11360801" cy="2736801"/>
          </a:xfrm>
          <a:prstGeom prst="rect">
            <a:avLst/>
          </a:prstGeom>
        </p:spPr>
        <p:txBody>
          <a:bodyPr/>
          <a:lstStyle>
            <a:lvl1pPr algn="ctr">
              <a:defRPr sz="6933"/>
            </a:lvl1pPr>
          </a:lstStyle>
          <a:p>
            <a:r>
              <a:t>Title Text</a:t>
            </a:r>
          </a:p>
        </p:txBody>
      </p:sp>
      <p:sp>
        <p:nvSpPr>
          <p:cNvPr id="578" name="Body Level One…"/>
          <p:cNvSpPr txBox="1">
            <a:spLocks noGrp="1"/>
          </p:cNvSpPr>
          <p:nvPr>
            <p:ph type="body" sz="quarter" idx="1"/>
          </p:nvPr>
        </p:nvSpPr>
        <p:spPr>
          <a:xfrm>
            <a:off x="415599" y="3778834"/>
            <a:ext cx="11360803" cy="1056801"/>
          </a:xfrm>
          <a:prstGeom prst="rect">
            <a:avLst/>
          </a:prstGeom>
        </p:spPr>
        <p:txBody>
          <a:bodyPr>
            <a:normAutofit/>
          </a:bodyPr>
          <a:lstStyle>
            <a:lvl1pPr marL="457189" indent="-304792" algn="ctr">
              <a:lnSpc>
                <a:spcPct val="100000"/>
              </a:lnSpc>
              <a:buClrTx/>
              <a:buSzTx/>
              <a:buFontTx/>
              <a:buNone/>
              <a:defRPr sz="3733" b="0">
                <a:solidFill>
                  <a:srgbClr val="2D8FE2"/>
                </a:solidFill>
              </a:defRPr>
            </a:lvl1pPr>
            <a:lvl2pPr marL="457189" indent="330192" algn="ctr">
              <a:lnSpc>
                <a:spcPct val="100000"/>
              </a:lnSpc>
              <a:buClrTx/>
              <a:buSzTx/>
              <a:buFontTx/>
              <a:buNone/>
              <a:defRPr sz="3733" b="0">
                <a:solidFill>
                  <a:srgbClr val="2D8FE2"/>
                </a:solidFill>
              </a:defRPr>
            </a:lvl2pPr>
            <a:lvl3pPr marL="457189" indent="965176" algn="ctr">
              <a:lnSpc>
                <a:spcPct val="100000"/>
              </a:lnSpc>
              <a:buClrTx/>
              <a:buSzTx/>
              <a:buFontTx/>
              <a:buNone/>
              <a:defRPr sz="3733" b="0">
                <a:solidFill>
                  <a:srgbClr val="2D8FE2"/>
                </a:solidFill>
              </a:defRPr>
            </a:lvl3pPr>
            <a:lvl4pPr marL="457189" indent="1574761" algn="ctr">
              <a:lnSpc>
                <a:spcPct val="100000"/>
              </a:lnSpc>
              <a:buClrTx/>
              <a:buSzTx/>
              <a:buFontTx/>
              <a:buNone/>
              <a:defRPr sz="3733" b="0">
                <a:solidFill>
                  <a:srgbClr val="2D8FE2"/>
                </a:solidFill>
              </a:defRPr>
            </a:lvl4pPr>
            <a:lvl5pPr marL="457189" indent="2184345" algn="ctr">
              <a:lnSpc>
                <a:spcPct val="100000"/>
              </a:lnSpc>
              <a:buClrTx/>
              <a:buSzTx/>
              <a:buFontTx/>
              <a:buNone/>
              <a:defRPr sz="3733" b="0">
                <a:solidFill>
                  <a:srgbClr val="2D8FE2"/>
                </a:solidFill>
              </a:defRPr>
            </a:lvl5pPr>
          </a:lstStyle>
          <a:p>
            <a:r>
              <a:t>Body Level One</a:t>
            </a:r>
          </a:p>
          <a:p>
            <a:pPr lvl="1"/>
            <a:r>
              <a:t>Body Level Two</a:t>
            </a:r>
          </a:p>
          <a:p>
            <a:pPr lvl="2"/>
            <a:r>
              <a:t>Body Level Three</a:t>
            </a:r>
          </a:p>
          <a:p>
            <a:pPr lvl="3"/>
            <a:r>
              <a:t>Body Level Four</a:t>
            </a:r>
          </a:p>
          <a:p>
            <a:pPr lvl="4"/>
            <a:r>
              <a:t>Body Level Five</a:t>
            </a:r>
          </a:p>
        </p:txBody>
      </p:sp>
      <p:sp>
        <p:nvSpPr>
          <p:cNvPr id="579" name="Google Shape;458;p61"/>
          <p:cNvSpPr/>
          <p:nvPr/>
        </p:nvSpPr>
        <p:spPr>
          <a:xfrm>
            <a:off x="8733" y="6482334"/>
            <a:ext cx="3852800" cy="375601"/>
          </a:xfrm>
          <a:prstGeom prst="rect">
            <a:avLst/>
          </a:prstGeom>
          <a:solidFill>
            <a:srgbClr val="0A0A0C"/>
          </a:solidFill>
          <a:ln w="12700">
            <a:miter lim="400000"/>
          </a:ln>
        </p:spPr>
        <p:txBody>
          <a:bodyPr lIns="60959" rIns="60959" anchor="ctr"/>
          <a:lstStyle/>
          <a:p>
            <a:endParaRPr sz="2400"/>
          </a:p>
        </p:txBody>
      </p:sp>
      <p:sp>
        <p:nvSpPr>
          <p:cNvPr id="5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54826332"/>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image" Target="../media/image1.png"/><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50" Type="http://schemas.openxmlformats.org/officeDocument/2006/relationships/slideLayout" Target="../slideLayouts/slideLayout90.xml"/><Relationship Id="rId55" Type="http://schemas.openxmlformats.org/officeDocument/2006/relationships/theme" Target="../theme/theme4.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9" Type="http://schemas.openxmlformats.org/officeDocument/2006/relationships/slideLayout" Target="../slideLayouts/slideLayout69.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53" Type="http://schemas.openxmlformats.org/officeDocument/2006/relationships/slideLayout" Target="../slideLayouts/slideLayout93.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52" Type="http://schemas.openxmlformats.org/officeDocument/2006/relationships/slideLayout" Target="../slideLayouts/slideLayout92.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8" Type="http://schemas.openxmlformats.org/officeDocument/2006/relationships/slideLayout" Target="../slideLayouts/slideLayout48.xml"/><Relationship Id="rId51" Type="http://schemas.openxmlformats.org/officeDocument/2006/relationships/slideLayout" Target="../slideLayouts/slideLayout91.xml"/><Relationship Id="rId3" Type="http://schemas.openxmlformats.org/officeDocument/2006/relationships/slideLayout" Target="../slideLayouts/slideLayout43.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slideLayout" Target="../slideLayouts/slideLayout86.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54" Type="http://schemas.openxmlformats.org/officeDocument/2006/relationships/slideLayout" Target="../slideLayouts/slideLayout94.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74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D69ADB-A529-0005-E22E-897E07817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964A7E-7DB7-5720-BE8B-C16AC77A00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EBDD0-E0C2-B4AB-5AF5-120DE2C318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5B151E-BA0B-1545-BCB0-E6DC0FCDF45A}" type="datetimeFigureOut">
              <a:rPr lang="en-US" smtClean="0"/>
              <a:t>8/1/26</a:t>
            </a:fld>
            <a:endParaRPr lang="en-US"/>
          </a:p>
        </p:txBody>
      </p:sp>
      <p:sp>
        <p:nvSpPr>
          <p:cNvPr id="5" name="Footer Placeholder 4">
            <a:extLst>
              <a:ext uri="{FF2B5EF4-FFF2-40B4-BE49-F238E27FC236}">
                <a16:creationId xmlns:a16="http://schemas.microsoft.com/office/drawing/2014/main" id="{0329C0E5-E8F9-40F3-9087-52879579E6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12504F-9C2E-EB01-D4E6-BD11EDA76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D57AE7-AC4C-0D48-80BC-0F2EE5480964}" type="slidenum">
              <a:rPr lang="en-US" smtClean="0"/>
              <a:t>‹#›</a:t>
            </a:fld>
            <a:endParaRPr lang="en-US"/>
          </a:p>
        </p:txBody>
      </p:sp>
    </p:spTree>
    <p:extLst>
      <p:ext uri="{BB962C8B-B14F-4D97-AF65-F5344CB8AC3E}">
        <p14:creationId xmlns:p14="http://schemas.microsoft.com/office/powerpoint/2010/main" val="18438988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8">
            <a:extLst>
              <a:ext uri="{28A0092B-C50C-407E-A947-70E740481C1C}">
                <a14:useLocalDpi xmlns:a14="http://schemas.microsoft.com/office/drawing/2010/main"/>
              </a:ext>
            </a:extLst>
          </a:blip>
          <a:stretch>
            <a:fillRect/>
          </a:stretch>
        </p:blipFill>
        <p:spPr>
          <a:xfrm>
            <a:off x="10403079" y="6451744"/>
            <a:ext cx="1438656" cy="187024"/>
          </a:xfrm>
          <a:prstGeom prst="rect">
            <a:avLst/>
          </a:prstGeom>
        </p:spPr>
      </p:pic>
      <p:sp>
        <p:nvSpPr>
          <p:cNvPr id="7" name="fl" descr="                              &#10;"/>
          <p:cNvSpPr txBox="1"/>
          <p:nvPr/>
        </p:nvSpPr>
        <p:spPr>
          <a:xfrm>
            <a:off x="5381061" y="6701002"/>
            <a:ext cx="1429879" cy="83100"/>
          </a:xfrm>
          <a:prstGeom prst="rect">
            <a:avLst/>
          </a:prstGeom>
          <a:noFill/>
        </p:spPr>
        <p:txBody>
          <a:bodyPr vert="horz" wrap="none" lIns="0" tIns="0" rIns="0" bIns="0" rtlCol="0" anchor="ctr" anchorCtr="0">
            <a:spAutoFit/>
          </a:bodyPr>
          <a:lstStyle/>
          <a:p>
            <a:pPr marL="0" marR="0" indent="0" algn="ctr" defTabSz="1219170" rtl="0" eaLnBrk="1" fontAlgn="base" latinLnBrk="0" hangingPunct="1">
              <a:lnSpc>
                <a:spcPct val="90000"/>
              </a:lnSpc>
              <a:spcBef>
                <a:spcPts val="133"/>
              </a:spcBef>
              <a:spcAft>
                <a:spcPts val="133"/>
              </a:spcAft>
              <a:buClrTx/>
              <a:buSzTx/>
              <a:buFontTx/>
              <a:buNone/>
              <a:tabLst/>
              <a:defRPr/>
            </a:pPr>
            <a:endParaRPr/>
          </a:p>
        </p:txBody>
      </p:sp>
      <p:sp>
        <p:nvSpPr>
          <p:cNvPr id="6" name="TextBox 19"/>
          <p:cNvSpPr txBox="1"/>
          <p:nvPr/>
        </p:nvSpPr>
        <p:spPr>
          <a:xfrm>
            <a:off x="5120251" y="6702028"/>
            <a:ext cx="94577" cy="83100"/>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r" rtl="0" fontAlgn="base">
              <a:lnSpc>
                <a:spcPct val="90000"/>
              </a:lnSpc>
              <a:spcBef>
                <a:spcPct val="0"/>
              </a:spcBef>
              <a:spcAft>
                <a:spcPct val="0"/>
              </a:spcAft>
              <a:buClr>
                <a:schemeClr val="bg1"/>
              </a:buClr>
            </a:pPr>
            <a:fld id="{58EC7406-F4CC-4ABF-902E-2AF4E70E5C0F}" type="slidenum">
              <a:rPr lang="en-US" sz="600" b="0" kern="1200" smtClean="0">
                <a:solidFill>
                  <a:srgbClr val="808080"/>
                </a:solidFill>
                <a:latin typeface="Arial" panose="020B0604020202020204" pitchFamily="34" charset="0"/>
                <a:ea typeface="+mn-ea"/>
                <a:cs typeface="+mn-cs"/>
              </a:rPr>
              <a:pPr algn="r" rtl="0" fontAlgn="base">
                <a:lnSpc>
                  <a:spcPct val="90000"/>
                </a:lnSpc>
                <a:spcBef>
                  <a:spcPct val="0"/>
                </a:spcBef>
                <a:spcAft>
                  <a:spcPct val="0"/>
                </a:spcAft>
                <a:buClr>
                  <a:schemeClr val="bg1"/>
                </a:buClr>
              </a:pPr>
              <a:t>‹#›</a:t>
            </a:fld>
            <a:endParaRPr lang="en-US" sz="600" b="0" kern="1200" err="1">
              <a:solidFill>
                <a:srgbClr val="808080"/>
              </a:solidFill>
              <a:latin typeface="Arial" panose="020B0604020202020204" pitchFamily="34" charset="0"/>
              <a:ea typeface="+mn-ea"/>
              <a:cs typeface="+mn-cs"/>
            </a:endParaRPr>
          </a:p>
        </p:txBody>
      </p:sp>
    </p:spTree>
    <p:extLst>
      <p:ext uri="{BB962C8B-B14F-4D97-AF65-F5344CB8AC3E}">
        <p14:creationId xmlns:p14="http://schemas.microsoft.com/office/powerpoint/2010/main" val="1040198081"/>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240">
          <p15:clr>
            <a:srgbClr val="F26B43"/>
          </p15:clr>
        </p15:guide>
        <p15:guide id="4" pos="74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A0A0C"/>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56574" y="4279392"/>
            <a:ext cx="10893201" cy="1605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75" tIns="34275" rIns="34275" bIns="34275" anchor="b">
            <a:normAutofit/>
          </a:bodyPr>
          <a:lstStyle/>
          <a:p>
            <a:r>
              <a:t>Title Text</a:t>
            </a:r>
          </a:p>
        </p:txBody>
      </p:sp>
      <p:sp>
        <p:nvSpPr>
          <p:cNvPr id="3" name="Body Level One…"/>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75" tIns="34275" rIns="34275" bIns="34275"/>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384652" y="6356350"/>
            <a:ext cx="352948" cy="348846"/>
          </a:xfrm>
          <a:prstGeom prst="rect">
            <a:avLst/>
          </a:prstGeom>
          <a:ln w="12700">
            <a:miter lim="400000"/>
          </a:ln>
        </p:spPr>
        <p:txBody>
          <a:bodyPr wrap="none" lIns="91424" tIns="91424" rIns="91424" bIns="91424">
            <a:spAutoFit/>
          </a:bodyPr>
          <a:lstStyle>
            <a:lvl1pPr algn="r">
              <a:defRPr sz="1067">
                <a:solidFill>
                  <a:srgbClr val="A5A5A5"/>
                </a:solidFill>
                <a:latin typeface="Roboto"/>
                <a:ea typeface="Roboto"/>
                <a:cs typeface="Roboto"/>
                <a:sym typeface="Roboto"/>
              </a:defRPr>
            </a:lvl1pPr>
          </a:lstStyle>
          <a:p>
            <a:fld id="{86CB4B4D-7CA3-9044-876B-883B54F8677D}" type="slidenum">
              <a:t>‹#›</a:t>
            </a:fld>
            <a:endParaRPr/>
          </a:p>
        </p:txBody>
      </p:sp>
    </p:spTree>
    <p:extLst>
      <p:ext uri="{BB962C8B-B14F-4D97-AF65-F5344CB8AC3E}">
        <p14:creationId xmlns:p14="http://schemas.microsoft.com/office/powerpoint/2010/main" val="117923789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 id="2147483716" r:id="rId26"/>
    <p:sldLayoutId id="2147483717" r:id="rId27"/>
    <p:sldLayoutId id="2147483718" r:id="rId28"/>
    <p:sldLayoutId id="2147483719" r:id="rId29"/>
    <p:sldLayoutId id="2147483720" r:id="rId30"/>
    <p:sldLayoutId id="2147483721" r:id="rId31"/>
    <p:sldLayoutId id="2147483722" r:id="rId32"/>
    <p:sldLayoutId id="2147483723" r:id="rId33"/>
    <p:sldLayoutId id="2147483724" r:id="rId34"/>
    <p:sldLayoutId id="2147483725" r:id="rId35"/>
    <p:sldLayoutId id="2147483726" r:id="rId36"/>
    <p:sldLayoutId id="2147483727" r:id="rId37"/>
    <p:sldLayoutId id="2147483728" r:id="rId38"/>
    <p:sldLayoutId id="2147483729" r:id="rId39"/>
    <p:sldLayoutId id="2147483730" r:id="rId40"/>
    <p:sldLayoutId id="2147483731" r:id="rId41"/>
    <p:sldLayoutId id="2147483732" r:id="rId42"/>
    <p:sldLayoutId id="2147483733" r:id="rId43"/>
    <p:sldLayoutId id="2147483734" r:id="rId44"/>
    <p:sldLayoutId id="2147483735" r:id="rId45"/>
    <p:sldLayoutId id="2147483736" r:id="rId46"/>
    <p:sldLayoutId id="2147483737" r:id="rId47"/>
    <p:sldLayoutId id="2147483738" r:id="rId48"/>
    <p:sldLayoutId id="2147483739" r:id="rId49"/>
    <p:sldLayoutId id="2147483740" r:id="rId50"/>
    <p:sldLayoutId id="2147483741" r:id="rId51"/>
    <p:sldLayoutId id="2147483742" r:id="rId52"/>
    <p:sldLayoutId id="2147483743" r:id="rId53"/>
    <p:sldLayoutId id="2147483744" r:id="rId54"/>
  </p:sldLayoutIdLst>
  <p:transition spd="med"/>
  <p:txStyles>
    <p:titleStyle>
      <a:lvl1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1pPr>
      <a:lvl2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2pPr>
      <a:lvl3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3pPr>
      <a:lvl4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4pPr>
      <a:lvl5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5pPr>
      <a:lvl6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6pPr>
      <a:lvl7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7pPr>
      <a:lvl8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8pPr>
      <a:lvl9pPr marL="0" marR="0" indent="0" algn="l" defTabSz="1219170" rtl="0" latinLnBrk="0">
        <a:lnSpc>
          <a:spcPct val="90000"/>
        </a:lnSpc>
        <a:spcBef>
          <a:spcPts val="0"/>
        </a:spcBef>
        <a:spcAft>
          <a:spcPts val="0"/>
        </a:spcAft>
        <a:buClrTx/>
        <a:buSzTx/>
        <a:buFontTx/>
        <a:buNone/>
        <a:tabLst/>
        <a:defRPr sz="8000" b="1" i="0" u="none" strike="noStrike" cap="none" spc="0" baseline="0">
          <a:solidFill>
            <a:srgbClr val="FFFFFF"/>
          </a:solidFill>
          <a:uFillTx/>
          <a:latin typeface="Roboto"/>
          <a:ea typeface="Roboto"/>
          <a:cs typeface="Roboto"/>
          <a:sym typeface="Roboto"/>
        </a:defRPr>
      </a:lvl9pPr>
    </p:titleStyle>
    <p:bodyStyle>
      <a:lvl1pPr marL="609585" marR="0" indent="-457189"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1pPr>
      <a:lvl2pPr marL="1305526" marR="0" indent="-518146"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2pPr>
      <a:lvl3pPr marL="2031949"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3pPr>
      <a:lvl4pPr marL="2641534"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4pPr>
      <a:lvl5pPr marL="3251119"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5pPr>
      <a:lvl6pPr marL="3860703"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6pPr>
      <a:lvl7pPr marL="4470288"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7pPr>
      <a:lvl8pPr marL="5079873"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8pPr>
      <a:lvl9pPr marL="5689458" marR="0" indent="-609585" algn="l" defTabSz="1219170" rtl="0" latinLnBrk="0">
        <a:lnSpc>
          <a:spcPct val="90000"/>
        </a:lnSpc>
        <a:spcBef>
          <a:spcPts val="1067"/>
        </a:spcBef>
        <a:spcAft>
          <a:spcPts val="0"/>
        </a:spcAft>
        <a:buClr>
          <a:srgbClr val="FFFFFF"/>
        </a:buClr>
        <a:buSzPts val="1800"/>
        <a:buFont typeface="Helvetica"/>
        <a:buChar char="•"/>
        <a:tabLst/>
        <a:defRPr sz="2400" b="1" i="0" u="none" strike="noStrike" cap="none" spc="0" baseline="0">
          <a:solidFill>
            <a:srgbClr val="FFFFFF"/>
          </a:solidFill>
          <a:uFillTx/>
          <a:latin typeface="Roboto"/>
          <a:ea typeface="Roboto"/>
          <a:cs typeface="Roboto"/>
          <a:sym typeface="Roboto"/>
        </a:defRPr>
      </a:lvl9pPr>
    </p:bodyStyle>
    <p:otherStyle>
      <a:lvl1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1pPr>
      <a:lvl2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2pPr>
      <a:lvl3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3pPr>
      <a:lvl4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4pPr>
      <a:lvl5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5pPr>
      <a:lvl6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6pPr>
      <a:lvl7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7pPr>
      <a:lvl8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8pPr>
      <a:lvl9pPr marL="0" marR="0" indent="0" algn="r" defTabSz="1219170" rtl="0" latinLnBrk="0">
        <a:lnSpc>
          <a:spcPct val="100000"/>
        </a:lnSpc>
        <a:spcBef>
          <a:spcPts val="0"/>
        </a:spcBef>
        <a:spcAft>
          <a:spcPts val="0"/>
        </a:spcAft>
        <a:buClrTx/>
        <a:buSzTx/>
        <a:buFontTx/>
        <a:buNone/>
        <a:tabLst/>
        <a:defRPr sz="1067" b="0" i="0" u="none" strike="noStrike" cap="none" spc="0" baseline="0">
          <a:solidFill>
            <a:schemeClr val="tx1"/>
          </a:solidFill>
          <a:uFillTx/>
          <a:latin typeface="+mn-lt"/>
          <a:ea typeface="+mn-ea"/>
          <a:cs typeface="+mn-cs"/>
          <a:sym typeface="Roboto"/>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31.jpeg"/></Relationships>
</file>

<file path=ppt/slides/_rels/slide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7.xml"/><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26.xml"/><Relationship Id="rId7" Type="http://schemas.openxmlformats.org/officeDocument/2006/relationships/image" Target="../media/image42.png"/><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2.xml"/><Relationship Id="rId1" Type="http://schemas.openxmlformats.org/officeDocument/2006/relationships/slideLayout" Target="../slideLayouts/slideLayout27.xml"/><Relationship Id="rId4" Type="http://schemas.openxmlformats.org/officeDocument/2006/relationships/image" Target="../media/image45.jpeg"/></Relationships>
</file>

<file path=ppt/slides/_rels/slide15.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svg"/><Relationship Id="rId2" Type="http://schemas.openxmlformats.org/officeDocument/2006/relationships/notesSlide" Target="../notesSlides/notesSlide14.xml"/><Relationship Id="rId1" Type="http://schemas.openxmlformats.org/officeDocument/2006/relationships/slideLayout" Target="../slideLayouts/slideLayout2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jpeg"/><Relationship Id="rId9" Type="http://schemas.openxmlformats.org/officeDocument/2006/relationships/image" Target="../media/image53.png"/></Relationships>
</file>

<file path=ppt/slides/_rels/slide17.xml.rels><?xml version="1.0" encoding="UTF-8" standalone="yes"?>
<Relationships xmlns="http://schemas.openxmlformats.org/package/2006/relationships"><Relationship Id="rId8" Type="http://schemas.openxmlformats.org/officeDocument/2006/relationships/image" Target="../media/image59.jpeg"/><Relationship Id="rId3" Type="http://schemas.microsoft.com/office/2007/relationships/media" Target="../media/media3.mp4"/><Relationship Id="rId7" Type="http://schemas.openxmlformats.org/officeDocument/2006/relationships/image" Target="../media/image58.jpe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15.xml"/><Relationship Id="rId5" Type="http://schemas.openxmlformats.org/officeDocument/2006/relationships/slideLayout" Target="../slideLayouts/slideLayout27.xml"/><Relationship Id="rId4" Type="http://schemas.openxmlformats.org/officeDocument/2006/relationships/video" Target="../media/media3.mp4"/></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7.xml"/><Relationship Id="rId4" Type="http://schemas.openxmlformats.org/officeDocument/2006/relationships/image" Target="../media/image62.jpeg"/></Relationships>
</file>

<file path=ppt/slides/_rels/slide1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chart" Target="../charts/chart6.xml"/><Relationship Id="rId4"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9A6B2C">
              <a:alpha val="12000"/>
            </a:srgbClr>
          </a:solidFill>
          <a:ln/>
        </p:spPr>
      </p:sp>
      <p:sp>
        <p:nvSpPr>
          <p:cNvPr id="3" name="Shape 1"/>
          <p:cNvSpPr/>
          <p:nvPr/>
        </p:nvSpPr>
        <p:spPr>
          <a:xfrm>
            <a:off x="-1463040" y="4937760"/>
            <a:ext cx="3291840" cy="3291840"/>
          </a:xfrm>
          <a:prstGeom prst="ellipse">
            <a:avLst/>
          </a:prstGeom>
          <a:solidFill>
            <a:srgbClr val="9A6B2C">
              <a:alpha val="12000"/>
            </a:srgbClr>
          </a:solidFill>
          <a:ln/>
        </p:spPr>
      </p:sp>
      <p:sp>
        <p:nvSpPr>
          <p:cNvPr id="4" name="Shape 2"/>
          <p:cNvSpPr/>
          <p:nvPr/>
        </p:nvSpPr>
        <p:spPr>
          <a:xfrm>
            <a:off x="640080" y="548640"/>
            <a:ext cx="640080" cy="640080"/>
          </a:xfrm>
          <a:prstGeom prst="ellipse">
            <a:avLst/>
          </a:prstGeom>
          <a:solidFill>
            <a:srgbClr val="9A6B2C"/>
          </a:solidFill>
          <a:ln/>
        </p:spPr>
      </p:sp>
      <p:pic>
        <p:nvPicPr>
          <p:cNvPr id="5" name="Image 0" descr="preencoded.png"/>
          <p:cNvPicPr>
            <a:picLocks noChangeAspect="1"/>
          </p:cNvPicPr>
          <p:nvPr/>
        </p:nvPicPr>
        <p:blipFill>
          <a:blip r:embed="rId3"/>
          <a:stretch>
            <a:fillRect/>
          </a:stretch>
        </p:blipFill>
        <p:spPr>
          <a:xfrm>
            <a:off x="716890" y="625450"/>
            <a:ext cx="486461" cy="486461"/>
          </a:xfrm>
          <a:prstGeom prst="rect">
            <a:avLst/>
          </a:prstGeom>
        </p:spPr>
      </p:pic>
      <p:sp>
        <p:nvSpPr>
          <p:cNvPr id="6" name="Text 3"/>
          <p:cNvSpPr/>
          <p:nvPr/>
        </p:nvSpPr>
        <p:spPr>
          <a:xfrm>
            <a:off x="640080" y="1325880"/>
            <a:ext cx="5486400" cy="365760"/>
          </a:xfrm>
          <a:prstGeom prst="rect">
            <a:avLst/>
          </a:prstGeom>
          <a:noFill/>
          <a:ln/>
        </p:spPr>
        <p:txBody>
          <a:bodyPr wrap="square" rtlCol="0" anchor="ctr"/>
          <a:lstStyle/>
          <a:p>
            <a:pPr marL="0" indent="0">
              <a:buNone/>
            </a:pPr>
            <a:r>
              <a:rPr lang="en-US" sz="1300" b="1" kern="0" spc="200" dirty="0">
                <a:solidFill>
                  <a:srgbClr val="9A6B2C"/>
                </a:solidFill>
                <a:latin typeface="Calibri" pitchFamily="34" charset="0"/>
                <a:ea typeface="Calibri" pitchFamily="34" charset="-122"/>
                <a:cs typeface="Calibri" pitchFamily="34" charset="-120"/>
              </a:rPr>
              <a:t>DAY 1  ·  Third Session</a:t>
            </a:r>
            <a:endParaRPr lang="en-US" sz="1300" dirty="0"/>
          </a:p>
        </p:txBody>
      </p:sp>
      <p:sp>
        <p:nvSpPr>
          <p:cNvPr id="7" name="Text 4"/>
          <p:cNvSpPr/>
          <p:nvPr/>
        </p:nvSpPr>
        <p:spPr>
          <a:xfrm>
            <a:off x="594360" y="1737360"/>
            <a:ext cx="9601200" cy="2011680"/>
          </a:xfrm>
          <a:prstGeom prst="rect">
            <a:avLst/>
          </a:prstGeom>
          <a:noFill/>
          <a:ln/>
        </p:spPr>
        <p:txBody>
          <a:bodyPr wrap="square"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Prompt Engineering &amp;</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System Prompt Best Practices</a:t>
            </a:r>
            <a:endParaRPr lang="en-US" sz="3800" dirty="0"/>
          </a:p>
        </p:txBody>
      </p:sp>
      <p:sp>
        <p:nvSpPr>
          <p:cNvPr id="8" name="Text 5"/>
          <p:cNvSpPr/>
          <p:nvPr/>
        </p:nvSpPr>
        <p:spPr>
          <a:xfrm>
            <a:off x="640080" y="3794760"/>
            <a:ext cx="8686800" cy="73152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The instructions you write are the interface. Learn to shape them on purpose, not by accident.</a:t>
            </a:r>
            <a:endParaRPr lang="en-US" sz="1600" dirty="0"/>
          </a:p>
        </p:txBody>
      </p:sp>
      <p:sp>
        <p:nvSpPr>
          <p:cNvPr id="9" name="Text 6"/>
          <p:cNvSpPr/>
          <p:nvPr/>
        </p:nvSpPr>
        <p:spPr>
          <a:xfrm>
            <a:off x="640080" y="6126480"/>
            <a:ext cx="10058400" cy="365760"/>
          </a:xfrm>
          <a:prstGeom prst="rect">
            <a:avLst/>
          </a:prstGeom>
          <a:noFill/>
          <a:ln/>
        </p:spPr>
        <p:txBody>
          <a:bodyPr wrap="square" rtlCol="0" anchor="ctr"/>
          <a:lstStyle/>
          <a:p>
            <a:pPr marL="0" indent="0">
              <a:buNone/>
            </a:pPr>
            <a:r>
              <a:rPr lang="en-US" sz="1200" dirty="0">
                <a:solidFill>
                  <a:srgbClr val="8FA3C9"/>
                </a:solidFill>
                <a:latin typeface="Calibri" pitchFamily="34" charset="0"/>
                <a:ea typeface="Calibri" pitchFamily="34" charset="-122"/>
                <a:cs typeface="Calibri" pitchFamily="34" charset="-120"/>
              </a:rPr>
              <a:t>Generative AI in Finance   |   EA Executive MBA   |   Finance Masters + Data Science Masters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What we cover this session</a:t>
            </a:r>
            <a:endParaRPr lang="en-US" sz="3000" dirty="0"/>
          </a:p>
        </p:txBody>
      </p:sp>
      <p:sp>
        <p:nvSpPr>
          <p:cNvPr id="3" name="Shape 1"/>
          <p:cNvSpPr/>
          <p:nvPr/>
        </p:nvSpPr>
        <p:spPr>
          <a:xfrm>
            <a:off x="548640" y="194335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4" name="Shape 2"/>
          <p:cNvSpPr/>
          <p:nvPr/>
        </p:nvSpPr>
        <p:spPr>
          <a:xfrm>
            <a:off x="777240" y="2062227"/>
            <a:ext cx="420624" cy="420624"/>
          </a:xfrm>
          <a:prstGeom prst="ellipse">
            <a:avLst/>
          </a:prstGeom>
          <a:solidFill>
            <a:srgbClr val="F1EEE3"/>
          </a:solidFill>
          <a:ln/>
        </p:spPr>
      </p:sp>
      <p:sp>
        <p:nvSpPr>
          <p:cNvPr id="5" name="Text 3"/>
          <p:cNvSpPr/>
          <p:nvPr/>
        </p:nvSpPr>
        <p:spPr>
          <a:xfrm>
            <a:off x="777240" y="206222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2</a:t>
            </a:r>
            <a:endParaRPr lang="en-US" sz="1600" dirty="0"/>
          </a:p>
        </p:txBody>
      </p:sp>
      <p:sp>
        <p:nvSpPr>
          <p:cNvPr id="6" name="Text 4"/>
          <p:cNvSpPr/>
          <p:nvPr/>
        </p:nvSpPr>
        <p:spPr>
          <a:xfrm>
            <a:off x="1417320" y="201650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Debrief your haggl.com system prompt experiment</a:t>
            </a:r>
            <a:endParaRPr lang="en-US" sz="1500" dirty="0"/>
          </a:p>
        </p:txBody>
      </p:sp>
      <p:sp>
        <p:nvSpPr>
          <p:cNvPr id="7" name="Shape 5"/>
          <p:cNvSpPr/>
          <p:nvPr/>
        </p:nvSpPr>
        <p:spPr>
          <a:xfrm>
            <a:off x="548640" y="272059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8" name="Shape 6"/>
          <p:cNvSpPr/>
          <p:nvPr/>
        </p:nvSpPr>
        <p:spPr>
          <a:xfrm>
            <a:off x="777240" y="2839467"/>
            <a:ext cx="420624" cy="420624"/>
          </a:xfrm>
          <a:prstGeom prst="ellipse">
            <a:avLst/>
          </a:prstGeom>
          <a:solidFill>
            <a:srgbClr val="F1EEE3"/>
          </a:solidFill>
          <a:ln/>
        </p:spPr>
      </p:sp>
      <p:sp>
        <p:nvSpPr>
          <p:cNvPr id="9" name="Text 7"/>
          <p:cNvSpPr/>
          <p:nvPr/>
        </p:nvSpPr>
        <p:spPr>
          <a:xfrm>
            <a:off x="777240" y="283946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3</a:t>
            </a:r>
            <a:endParaRPr lang="en-US" sz="1600" dirty="0"/>
          </a:p>
        </p:txBody>
      </p:sp>
      <p:sp>
        <p:nvSpPr>
          <p:cNvPr id="10" name="Text 8"/>
          <p:cNvSpPr/>
          <p:nvPr/>
        </p:nvSpPr>
        <p:spPr>
          <a:xfrm>
            <a:off x="1417320" y="279374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Prompt structure: role, context, task, format, constraints</a:t>
            </a:r>
            <a:endParaRPr lang="en-US" sz="1500" dirty="0"/>
          </a:p>
        </p:txBody>
      </p:sp>
      <p:sp>
        <p:nvSpPr>
          <p:cNvPr id="11" name="Shape 9"/>
          <p:cNvSpPr/>
          <p:nvPr/>
        </p:nvSpPr>
        <p:spPr>
          <a:xfrm>
            <a:off x="548640" y="349783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12" name="Shape 10"/>
          <p:cNvSpPr/>
          <p:nvPr/>
        </p:nvSpPr>
        <p:spPr>
          <a:xfrm>
            <a:off x="777240" y="3616707"/>
            <a:ext cx="420624" cy="420624"/>
          </a:xfrm>
          <a:prstGeom prst="ellipse">
            <a:avLst/>
          </a:prstGeom>
          <a:solidFill>
            <a:srgbClr val="F1EEE3"/>
          </a:solidFill>
          <a:ln/>
        </p:spPr>
      </p:sp>
      <p:sp>
        <p:nvSpPr>
          <p:cNvPr id="13" name="Text 11"/>
          <p:cNvSpPr/>
          <p:nvPr/>
        </p:nvSpPr>
        <p:spPr>
          <a:xfrm>
            <a:off x="777240" y="361670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4</a:t>
            </a:r>
            <a:endParaRPr lang="en-US" sz="1600" dirty="0"/>
          </a:p>
        </p:txBody>
      </p:sp>
      <p:sp>
        <p:nvSpPr>
          <p:cNvPr id="14" name="Text 12"/>
          <p:cNvSpPr/>
          <p:nvPr/>
        </p:nvSpPr>
        <p:spPr>
          <a:xfrm>
            <a:off x="1417320" y="357098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System prompt anatomy: persona, boundaries, output format</a:t>
            </a:r>
            <a:endParaRPr lang="en-US" sz="1500" dirty="0"/>
          </a:p>
        </p:txBody>
      </p:sp>
      <p:sp>
        <p:nvSpPr>
          <p:cNvPr id="15" name="Shape 13"/>
          <p:cNvSpPr/>
          <p:nvPr/>
        </p:nvSpPr>
        <p:spPr>
          <a:xfrm>
            <a:off x="548640" y="427507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16" name="Shape 14"/>
          <p:cNvSpPr/>
          <p:nvPr/>
        </p:nvSpPr>
        <p:spPr>
          <a:xfrm>
            <a:off x="777240" y="4393947"/>
            <a:ext cx="420624" cy="420624"/>
          </a:xfrm>
          <a:prstGeom prst="ellipse">
            <a:avLst/>
          </a:prstGeom>
          <a:solidFill>
            <a:srgbClr val="F1EEE3"/>
          </a:solidFill>
          <a:ln/>
        </p:spPr>
      </p:sp>
      <p:sp>
        <p:nvSpPr>
          <p:cNvPr id="17" name="Text 15"/>
          <p:cNvSpPr/>
          <p:nvPr/>
        </p:nvSpPr>
        <p:spPr>
          <a:xfrm>
            <a:off x="777240" y="439394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5</a:t>
            </a:r>
            <a:endParaRPr lang="en-US" sz="1600" dirty="0"/>
          </a:p>
        </p:txBody>
      </p:sp>
      <p:sp>
        <p:nvSpPr>
          <p:cNvPr id="18" name="Text 16"/>
          <p:cNvSpPr/>
          <p:nvPr/>
        </p:nvSpPr>
        <p:spPr>
          <a:xfrm>
            <a:off x="1417320" y="434822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Hands on: prompts that return structured JSON</a:t>
            </a:r>
            <a:endParaRPr lang="en-US" sz="1500" dirty="0"/>
          </a:p>
        </p:txBody>
      </p:sp>
      <p:sp>
        <p:nvSpPr>
          <p:cNvPr id="19" name="Shape 17"/>
          <p:cNvSpPr/>
          <p:nvPr/>
        </p:nvSpPr>
        <p:spPr>
          <a:xfrm>
            <a:off x="548640" y="505231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20" name="Shape 18"/>
          <p:cNvSpPr/>
          <p:nvPr/>
        </p:nvSpPr>
        <p:spPr>
          <a:xfrm>
            <a:off x="777240" y="5171187"/>
            <a:ext cx="420624" cy="420624"/>
          </a:xfrm>
          <a:prstGeom prst="ellipse">
            <a:avLst/>
          </a:prstGeom>
          <a:solidFill>
            <a:srgbClr val="F1EEE3"/>
          </a:solidFill>
          <a:ln/>
        </p:spPr>
      </p:sp>
      <p:sp>
        <p:nvSpPr>
          <p:cNvPr id="21" name="Text 19"/>
          <p:cNvSpPr/>
          <p:nvPr/>
        </p:nvSpPr>
        <p:spPr>
          <a:xfrm>
            <a:off x="777240" y="517118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6</a:t>
            </a:r>
            <a:endParaRPr lang="en-US" sz="1600" dirty="0"/>
          </a:p>
        </p:txBody>
      </p:sp>
      <p:sp>
        <p:nvSpPr>
          <p:cNvPr id="22" name="Text 20"/>
          <p:cNvSpPr/>
          <p:nvPr/>
        </p:nvSpPr>
        <p:spPr>
          <a:xfrm>
            <a:off x="1417320" y="512546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Prompt injection risks and responsible prompt design</a:t>
            </a:r>
            <a:endParaRPr lang="en-US" sz="1500" dirty="0"/>
          </a:p>
        </p:txBody>
      </p:sp>
      <p:sp>
        <p:nvSpPr>
          <p:cNvPr id="23" name="Shape 21"/>
          <p:cNvSpPr/>
          <p:nvPr/>
        </p:nvSpPr>
        <p:spPr>
          <a:xfrm>
            <a:off x="548640" y="5829555"/>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24" name="Shape 22"/>
          <p:cNvSpPr/>
          <p:nvPr/>
        </p:nvSpPr>
        <p:spPr>
          <a:xfrm>
            <a:off x="777240" y="5948427"/>
            <a:ext cx="420624" cy="420624"/>
          </a:xfrm>
          <a:prstGeom prst="ellipse">
            <a:avLst/>
          </a:prstGeom>
          <a:solidFill>
            <a:srgbClr val="F1EEE3"/>
          </a:solidFill>
          <a:ln/>
        </p:spPr>
      </p:sp>
      <p:sp>
        <p:nvSpPr>
          <p:cNvPr id="25" name="Text 23"/>
          <p:cNvSpPr/>
          <p:nvPr/>
        </p:nvSpPr>
        <p:spPr>
          <a:xfrm>
            <a:off x="777240" y="5948427"/>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rPr>
              <a:t>7</a:t>
            </a:r>
            <a:endParaRPr lang="en-US" sz="1600" dirty="0"/>
          </a:p>
        </p:txBody>
      </p:sp>
      <p:sp>
        <p:nvSpPr>
          <p:cNvPr id="26" name="Text 24"/>
          <p:cNvSpPr/>
          <p:nvPr/>
        </p:nvSpPr>
        <p:spPr>
          <a:xfrm>
            <a:off x="1417320" y="5902707"/>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Save your best system prompt to your repo</a:t>
            </a:r>
            <a:endParaRPr lang="en-US" sz="1500" dirty="0"/>
          </a:p>
        </p:txBody>
      </p:sp>
      <p:sp>
        <p:nvSpPr>
          <p:cNvPr id="28" name="Shape 1">
            <a:extLst>
              <a:ext uri="{FF2B5EF4-FFF2-40B4-BE49-F238E27FC236}">
                <a16:creationId xmlns:a16="http://schemas.microsoft.com/office/drawing/2014/main" id="{933FCFD5-4434-350A-A749-FDF190908070}"/>
              </a:ext>
            </a:extLst>
          </p:cNvPr>
          <p:cNvSpPr/>
          <p:nvPr/>
        </p:nvSpPr>
        <p:spPr>
          <a:xfrm>
            <a:off x="536655" y="1088891"/>
            <a:ext cx="11064240" cy="658368"/>
          </a:xfrm>
          <a:prstGeom prst="roundRect">
            <a:avLst>
              <a:gd name="adj" fmla="val 8333"/>
            </a:avLst>
          </a:prstGeom>
          <a:solidFill>
            <a:srgbClr val="FFFFFF"/>
          </a:solidFill>
          <a:ln/>
          <a:effectLst>
            <a:outerShdw blurRad="63500" dist="25400" dir="5400000" algn="bl" rotWithShape="0">
              <a:srgbClr val="000000">
                <a:alpha val="8000"/>
              </a:srgbClr>
            </a:outerShdw>
          </a:effectLst>
        </p:spPr>
      </p:sp>
      <p:sp>
        <p:nvSpPr>
          <p:cNvPr id="29" name="Shape 2">
            <a:extLst>
              <a:ext uri="{FF2B5EF4-FFF2-40B4-BE49-F238E27FC236}">
                <a16:creationId xmlns:a16="http://schemas.microsoft.com/office/drawing/2014/main" id="{A322ACA4-1167-9223-0BD5-AB3D8671361D}"/>
              </a:ext>
            </a:extLst>
          </p:cNvPr>
          <p:cNvSpPr/>
          <p:nvPr/>
        </p:nvSpPr>
        <p:spPr>
          <a:xfrm>
            <a:off x="765255" y="1207763"/>
            <a:ext cx="420624" cy="420624"/>
          </a:xfrm>
          <a:prstGeom prst="ellipse">
            <a:avLst/>
          </a:prstGeom>
          <a:solidFill>
            <a:srgbClr val="F1EEE3"/>
          </a:solidFill>
          <a:ln/>
        </p:spPr>
      </p:sp>
      <p:sp>
        <p:nvSpPr>
          <p:cNvPr id="30" name="Text 3">
            <a:extLst>
              <a:ext uri="{FF2B5EF4-FFF2-40B4-BE49-F238E27FC236}">
                <a16:creationId xmlns:a16="http://schemas.microsoft.com/office/drawing/2014/main" id="{515BC3B7-A59D-22AF-934D-6BC97855747F}"/>
              </a:ext>
            </a:extLst>
          </p:cNvPr>
          <p:cNvSpPr/>
          <p:nvPr/>
        </p:nvSpPr>
        <p:spPr>
          <a:xfrm>
            <a:off x="765255" y="1207763"/>
            <a:ext cx="420624" cy="420624"/>
          </a:xfrm>
          <a:prstGeom prst="rect">
            <a:avLst/>
          </a:prstGeom>
          <a:noFill/>
          <a:ln/>
        </p:spPr>
        <p:txBody>
          <a:bodyPr wrap="square" rtlCol="0" anchor="ctr"/>
          <a:lstStyle/>
          <a:p>
            <a:pPr marL="0" indent="0" algn="ctr">
              <a:buNone/>
            </a:pPr>
            <a:r>
              <a:rPr lang="en-US" sz="1600" b="1" dirty="0">
                <a:solidFill>
                  <a:srgbClr val="9A6B2C"/>
                </a:solidFill>
                <a:latin typeface="Cambria" pitchFamily="34" charset="0"/>
                <a:ea typeface="Cambria" pitchFamily="34" charset="-122"/>
                <a:cs typeface="Cambria" pitchFamily="34" charset="-120"/>
              </a:rPr>
              <a:t>1</a:t>
            </a:r>
            <a:endParaRPr lang="en-US" sz="1600" dirty="0"/>
          </a:p>
        </p:txBody>
      </p:sp>
      <p:sp>
        <p:nvSpPr>
          <p:cNvPr id="31" name="Text 4">
            <a:extLst>
              <a:ext uri="{FF2B5EF4-FFF2-40B4-BE49-F238E27FC236}">
                <a16:creationId xmlns:a16="http://schemas.microsoft.com/office/drawing/2014/main" id="{3DAAFA5A-1B84-0470-5D87-D34D37EAC901}"/>
              </a:ext>
            </a:extLst>
          </p:cNvPr>
          <p:cNvSpPr/>
          <p:nvPr/>
        </p:nvSpPr>
        <p:spPr>
          <a:xfrm>
            <a:off x="1405335" y="1162043"/>
            <a:ext cx="9966960" cy="512064"/>
          </a:xfrm>
          <a:prstGeom prst="rect">
            <a:avLst/>
          </a:prstGeom>
          <a:noFill/>
          <a:ln/>
        </p:spPr>
        <p:txBody>
          <a:bodyPr wrap="square" rtlCol="0" anchor="ctr"/>
          <a:lstStyle/>
          <a:p>
            <a:pPr marL="0" indent="0">
              <a:buNone/>
            </a:pPr>
            <a:r>
              <a:rPr lang="en-US" sz="1500" dirty="0">
                <a:solidFill>
                  <a:srgbClr val="14213D"/>
                </a:solidFill>
                <a:latin typeface="Calibri" pitchFamily="34" charset="0"/>
                <a:ea typeface="Calibri" pitchFamily="34" charset="-122"/>
                <a:cs typeface="Calibri" pitchFamily="34" charset="-120"/>
              </a:rPr>
              <a:t>Deep-dive on the mechanics &amp; characteristics of generative AI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28AE1460-B040-697B-CC78-CD160A91D5A0}"/>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What animal is walking on the fence?</a:t>
            </a:r>
            <a:endParaRPr kumimoji="0" lang="en-US" sz="5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935EED49-735D-2A16-2315-AE657B7B1B4B}"/>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Look closely before you answer.</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descr="A cat walking on a fence  Description automatically generated">
            <a:extLst>
              <a:ext uri="{FF2B5EF4-FFF2-40B4-BE49-F238E27FC236}">
                <a16:creationId xmlns:a16="http://schemas.microsoft.com/office/drawing/2014/main" id="{4FCB30F9-80D4-1337-1B74-C4B56B3B5DD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sp>
        <p:nvSpPr>
          <p:cNvPr id="7" name="Rounded Rectangle 21">
            <a:extLst>
              <a:ext uri="{FF2B5EF4-FFF2-40B4-BE49-F238E27FC236}">
                <a16:creationId xmlns:a16="http://schemas.microsoft.com/office/drawing/2014/main" id="{5F1166F2-F49E-5C3C-2F4E-B56BADA65835}"/>
              </a:ext>
            </a:extLst>
          </p:cNvPr>
          <p:cNvSpPr/>
          <p:nvPr/>
        </p:nvSpPr>
        <p:spPr>
          <a:xfrm>
            <a:off x="8360229" y="2508570"/>
            <a:ext cx="1574418" cy="157441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110004020202020204"/>
              <a:ea typeface="+mn-ea"/>
              <a:cs typeface="+mn-cs"/>
            </a:endParaRPr>
          </a:p>
        </p:txBody>
      </p:sp>
    </p:spTree>
    <p:extLst>
      <p:ext uri="{BB962C8B-B14F-4D97-AF65-F5344CB8AC3E}">
        <p14:creationId xmlns:p14="http://schemas.microsoft.com/office/powerpoint/2010/main" val="9539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479D1-C129-6CBA-9D42-01FE7654B6E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BAC15F-4199-3CD6-E026-68DF45FBAC5B}"/>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It’s a cat.</a:t>
            </a:r>
            <a:endParaRPr kumimoji="0" lang="en-US" sz="5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929D30C-DE6C-3205-FEA4-C0B6868888F4}"/>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Your eye finished the picture from the parts you could see.</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9" name="Picture 8" descr="A cat walking on a fence  Description automatically generated">
            <a:extLst>
              <a:ext uri="{FF2B5EF4-FFF2-40B4-BE49-F238E27FC236}">
                <a16:creationId xmlns:a16="http://schemas.microsoft.com/office/drawing/2014/main" id="{E4B4C410-68BA-EAB7-4058-3E26A870E15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spTree>
    <p:extLst>
      <p:ext uri="{BB962C8B-B14F-4D97-AF65-F5344CB8AC3E}">
        <p14:creationId xmlns:p14="http://schemas.microsoft.com/office/powerpoint/2010/main" val="1818471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B357-72BC-8088-55D0-3219A80F4C8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A0F84B21-56A4-D6BE-40F0-154B4F2664DA}"/>
              </a:ext>
            </a:extLst>
          </p:cNvPr>
          <p:cNvSpPr/>
          <p:nvPr/>
        </p:nvSpPr>
        <p:spPr>
          <a:xfrm>
            <a:off x="609600" y="1950720"/>
            <a:ext cx="5178014" cy="2926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53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Sometimes the pattern is wrong.</a:t>
            </a:r>
            <a:endParaRPr kumimoji="0" lang="en-US" sz="5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80D0E1EB-9126-6BD1-221F-F32CDDD021CC}"/>
              </a:ext>
            </a:extLst>
          </p:cNvPr>
          <p:cNvSpPr/>
          <p:nvPr/>
        </p:nvSpPr>
        <p:spPr>
          <a:xfrm>
            <a:off x="853440" y="4876800"/>
            <a:ext cx="5242560" cy="73152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AI does the same thing — confidently. Treat its output as a signal, not authority.</a:t>
            </a:r>
            <a:endParaRPr kumimoji="0" lang="en-US" sz="24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6" name="Picture 5" descr="A cat walking on a fence  Description automatically generated">
            <a:extLst>
              <a:ext uri="{FF2B5EF4-FFF2-40B4-BE49-F238E27FC236}">
                <a16:creationId xmlns:a16="http://schemas.microsoft.com/office/drawing/2014/main" id="{97E356F7-BE69-210F-7A6B-7827258DDFB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715421" y="1324595"/>
            <a:ext cx="4603158" cy="4721669"/>
          </a:xfrm>
          <a:prstGeom prst="roundRect">
            <a:avLst/>
          </a:prstGeom>
          <a:noFill/>
        </p:spPr>
      </p:pic>
      <p:pic>
        <p:nvPicPr>
          <p:cNvPr id="7" name="Picture 6">
            <a:extLst>
              <a:ext uri="{FF2B5EF4-FFF2-40B4-BE49-F238E27FC236}">
                <a16:creationId xmlns:a16="http://schemas.microsoft.com/office/drawing/2014/main" id="{5104C5BC-A185-5BAE-73AF-8219FA82C759}"/>
              </a:ext>
            </a:extLst>
          </p:cNvPr>
          <p:cNvPicPr>
            <a:picLocks noChangeAspect="1"/>
          </p:cNvPicPr>
          <p:nvPr/>
        </p:nvPicPr>
        <p:blipFill>
          <a:blip r:embed="rId4">
            <a:extLst>
              <a:ext uri="{28A0092B-C50C-407E-A947-70E740481C1C}">
                <a14:useLocalDpi xmlns:a14="http://schemas.microsoft.com/office/drawing/2010/main" val="0"/>
              </a:ext>
            </a:extLst>
          </a:blip>
          <a:srcRect t="2" b="2"/>
          <a:stretch/>
        </p:blipFill>
        <p:spPr>
          <a:xfrm>
            <a:off x="6735402" y="1324595"/>
            <a:ext cx="4603158" cy="4721669"/>
          </a:xfrm>
          <a:prstGeom prst="roundRect">
            <a:avLst/>
          </a:prstGeom>
          <a:noFill/>
        </p:spPr>
      </p:pic>
    </p:spTree>
    <p:extLst>
      <p:ext uri="{BB962C8B-B14F-4D97-AF65-F5344CB8AC3E}">
        <p14:creationId xmlns:p14="http://schemas.microsoft.com/office/powerpoint/2010/main" val="3291755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C663-298F-50D1-587D-5877CE77BF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2D55E4-4338-167B-383D-817944984C0C}"/>
              </a:ext>
            </a:extLst>
          </p:cNvPr>
          <p:cNvSpPr/>
          <p:nvPr/>
        </p:nvSpPr>
        <p:spPr>
          <a:xfrm>
            <a:off x="609600" y="2249444"/>
            <a:ext cx="5048922" cy="1922033"/>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Generative AI is a form of data compression.</a:t>
            </a:r>
            <a:endParaRPr kumimoji="0" lang="en-US" sz="4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A384AEA-8B9C-EB10-F05B-E523558C6C6A}"/>
              </a:ext>
            </a:extLst>
          </p:cNvPr>
          <p:cNvSpPr/>
          <p:nvPr/>
        </p:nvSpPr>
        <p:spPr>
          <a:xfrm>
            <a:off x="609600" y="4171477"/>
            <a:ext cx="5048922" cy="36576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Compress the world. Decompress on demand.</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3701CE65-DA59-B669-4DFE-C7D5770725B7}"/>
              </a:ext>
            </a:extLst>
          </p:cNvPr>
          <p:cNvPicPr>
            <a:picLocks noChangeAspect="1"/>
          </p:cNvPicPr>
          <p:nvPr/>
        </p:nvPicPr>
        <p:blipFill>
          <a:blip r:embed="rId3"/>
          <a:stretch>
            <a:fillRect/>
          </a:stretch>
        </p:blipFill>
        <p:spPr>
          <a:xfrm>
            <a:off x="6096000" y="1950720"/>
            <a:ext cx="5655733" cy="2675467"/>
          </a:xfrm>
          <a:prstGeom prst="rect">
            <a:avLst/>
          </a:prstGeom>
        </p:spPr>
      </p:pic>
    </p:spTree>
    <p:extLst>
      <p:ext uri="{BB962C8B-B14F-4D97-AF65-F5344CB8AC3E}">
        <p14:creationId xmlns:p14="http://schemas.microsoft.com/office/powerpoint/2010/main" val="1785242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10CA-1D94-D3CF-658D-799A3C5066FB}"/>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CF61B02-07B4-D717-86A7-390A5C876A02}"/>
              </a:ext>
            </a:extLst>
          </p:cNvPr>
          <p:cNvSpPr/>
          <p:nvPr/>
        </p:nvSpPr>
        <p:spPr>
          <a:xfrm>
            <a:off x="609600" y="1950720"/>
            <a:ext cx="4661647" cy="17068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2T tokens compressed into 208B parameters is a lossy compression.</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E6150120-759D-21AC-7725-D425B182F919}"/>
              </a:ext>
            </a:extLst>
          </p:cNvPr>
          <p:cNvSpPr/>
          <p:nvPr/>
        </p:nvSpPr>
        <p:spPr>
          <a:xfrm>
            <a:off x="839096" y="3429000"/>
            <a:ext cx="4202654" cy="7315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a:ln>
                  <a:noFill/>
                </a:ln>
                <a:solidFill>
                  <a:srgbClr val="FFFFFF"/>
                </a:solidFill>
                <a:effectLst/>
                <a:uLnTx/>
                <a:uFillTx/>
                <a:latin typeface="Palatino Linotype" pitchFamily="34" charset="0"/>
                <a:ea typeface="Palatino Linotype" pitchFamily="34" charset="-122"/>
                <a:cs typeface="Palatino Linotype" pitchFamily="34" charset="-120"/>
              </a:rPr>
              <a:t>Which is why it sometimes hallucinates the cat where there isn't one.</a:t>
            </a: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DB90A27-C004-AD58-C76B-964886E7CAD3}"/>
              </a:ext>
            </a:extLst>
          </p:cNvPr>
          <p:cNvPicPr>
            <a:picLocks noChangeAspect="1"/>
          </p:cNvPicPr>
          <p:nvPr/>
        </p:nvPicPr>
        <p:blipFill>
          <a:blip r:embed="rId3"/>
          <a:stretch>
            <a:fillRect/>
          </a:stretch>
        </p:blipFill>
        <p:spPr>
          <a:xfrm>
            <a:off x="5761716" y="2091266"/>
            <a:ext cx="5655733" cy="2675467"/>
          </a:xfrm>
          <a:prstGeom prst="rect">
            <a:avLst/>
          </a:prstGeom>
        </p:spPr>
      </p:pic>
    </p:spTree>
    <p:extLst>
      <p:ext uri="{BB962C8B-B14F-4D97-AF65-F5344CB8AC3E}">
        <p14:creationId xmlns:p14="http://schemas.microsoft.com/office/powerpoint/2010/main" val="4255200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5EC59-EBC9-034A-84B6-D802B8364C45}"/>
              </a:ext>
            </a:extLst>
          </p:cNvPr>
          <p:cNvSpPr>
            <a:spLocks noGrp="1"/>
          </p:cNvSpPr>
          <p:nvPr>
            <p:ph type="title"/>
          </p:nvPr>
        </p:nvSpPr>
        <p:spPr>
          <a:xfrm>
            <a:off x="381000" y="342900"/>
            <a:ext cx="11430000" cy="886397"/>
          </a:xfrm>
        </p:spPr>
        <p:txBody>
          <a:bodyPr/>
          <a:lstStyle/>
          <a:p>
            <a:r>
              <a:rPr lang="en-US"/>
              <a:t>Fundamental differences</a:t>
            </a:r>
            <a:br>
              <a:rPr lang="en-US"/>
            </a:br>
            <a:endParaRPr lang="en-US"/>
          </a:p>
        </p:txBody>
      </p:sp>
      <p:sp>
        <p:nvSpPr>
          <p:cNvPr id="3" name="Subtitle 2">
            <a:extLst>
              <a:ext uri="{FF2B5EF4-FFF2-40B4-BE49-F238E27FC236}">
                <a16:creationId xmlns:a16="http://schemas.microsoft.com/office/drawing/2014/main" id="{C02D2FF1-43BF-3F72-4ECE-80CD102B419D}"/>
              </a:ext>
            </a:extLst>
          </p:cNvPr>
          <p:cNvSpPr>
            <a:spLocks noGrp="1"/>
          </p:cNvSpPr>
          <p:nvPr>
            <p:ph type="subTitle" idx="1"/>
          </p:nvPr>
        </p:nvSpPr>
        <p:spPr>
          <a:xfrm>
            <a:off x="381000" y="857250"/>
            <a:ext cx="11430000" cy="246221"/>
          </a:xfrm>
        </p:spPr>
        <p:txBody>
          <a:bodyPr/>
          <a:lstStyle/>
          <a:p>
            <a:r>
              <a:rPr lang="en-US"/>
              <a:t>From the “old” way to ”new”</a:t>
            </a:r>
          </a:p>
        </p:txBody>
      </p:sp>
      <p:sp>
        <p:nvSpPr>
          <p:cNvPr id="4" name="Shape 4">
            <a:extLst>
              <a:ext uri="{FF2B5EF4-FFF2-40B4-BE49-F238E27FC236}">
                <a16:creationId xmlns:a16="http://schemas.microsoft.com/office/drawing/2014/main" id="{C29B1B39-497A-A4A5-B7A8-5CB0C7ACF857}"/>
              </a:ext>
            </a:extLst>
          </p:cNvPr>
          <p:cNvSpPr/>
          <p:nvPr/>
        </p:nvSpPr>
        <p:spPr>
          <a:xfrm>
            <a:off x="609600" y="1620578"/>
            <a:ext cx="5364480" cy="4646659"/>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5">
            <a:extLst>
              <a:ext uri="{FF2B5EF4-FFF2-40B4-BE49-F238E27FC236}">
                <a16:creationId xmlns:a16="http://schemas.microsoft.com/office/drawing/2014/main" id="{04755A98-D729-7E3F-0748-DE155527EC2D}"/>
              </a:ext>
            </a:extLst>
          </p:cNvPr>
          <p:cNvSpPr/>
          <p:nvPr/>
        </p:nvSpPr>
        <p:spPr>
          <a:xfrm>
            <a:off x="609600" y="1620579"/>
            <a:ext cx="97536" cy="4023360"/>
          </a:xfrm>
          <a:prstGeom prst="rect">
            <a:avLst/>
          </a:prstGeom>
          <a:solidFill>
            <a:srgbClr val="96968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6">
            <a:extLst>
              <a:ext uri="{FF2B5EF4-FFF2-40B4-BE49-F238E27FC236}">
                <a16:creationId xmlns:a16="http://schemas.microsoft.com/office/drawing/2014/main" id="{3AC0F9C2-7EC1-969E-31AB-13FB9DBFF4C6}"/>
              </a:ext>
            </a:extLst>
          </p:cNvPr>
          <p:cNvSpPr/>
          <p:nvPr/>
        </p:nvSpPr>
        <p:spPr>
          <a:xfrm>
            <a:off x="914400" y="1803459"/>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2 + 2 = 4</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7">
            <a:extLst>
              <a:ext uri="{FF2B5EF4-FFF2-40B4-BE49-F238E27FC236}">
                <a16:creationId xmlns:a16="http://schemas.microsoft.com/office/drawing/2014/main" id="{FA2C060E-99D0-0449-D82D-5D4FF8470BE5}"/>
              </a:ext>
            </a:extLst>
          </p:cNvPr>
          <p:cNvSpPr/>
          <p:nvPr/>
        </p:nvSpPr>
        <p:spPr>
          <a:xfrm>
            <a:off x="975360" y="4626235"/>
            <a:ext cx="4815840" cy="1436804"/>
          </a:xfrm>
          <a:prstGeom prst="rect">
            <a:avLst/>
          </a:prstGeom>
          <a:noFill/>
          <a:ln/>
        </p:spPr>
        <p:txBody>
          <a:bodyPr wrap="square" lIns="0" tIns="0" rIns="0" bIns="0" rtlCol="0" anchor="t"/>
          <a:lstStyle/>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Calculators, traditional rules engines.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Same input always produces the same output.</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Bugs are reproducible. Tests are deterministic. Audit is straightforward.</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Engineers debug by reading the code.</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8">
            <a:extLst>
              <a:ext uri="{FF2B5EF4-FFF2-40B4-BE49-F238E27FC236}">
                <a16:creationId xmlns:a16="http://schemas.microsoft.com/office/drawing/2014/main" id="{4E3DB81A-43F5-6D80-6D07-15D67F4548C9}"/>
              </a:ext>
            </a:extLst>
          </p:cNvPr>
          <p:cNvSpPr/>
          <p:nvPr/>
        </p:nvSpPr>
        <p:spPr>
          <a:xfrm>
            <a:off x="6217920" y="1620579"/>
            <a:ext cx="5364480" cy="4646658"/>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9">
            <a:extLst>
              <a:ext uri="{FF2B5EF4-FFF2-40B4-BE49-F238E27FC236}">
                <a16:creationId xmlns:a16="http://schemas.microsoft.com/office/drawing/2014/main" id="{755AABDA-D06D-3C57-1B5A-E04A2A387756}"/>
              </a:ext>
            </a:extLst>
          </p:cNvPr>
          <p:cNvSpPr/>
          <p:nvPr/>
        </p:nvSpPr>
        <p:spPr>
          <a:xfrm>
            <a:off x="6217920" y="1620579"/>
            <a:ext cx="97536" cy="4646658"/>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10">
            <a:extLst>
              <a:ext uri="{FF2B5EF4-FFF2-40B4-BE49-F238E27FC236}">
                <a16:creationId xmlns:a16="http://schemas.microsoft.com/office/drawing/2014/main" id="{BB90EA4D-3EA3-EF02-F548-8944FA3D89CC}"/>
              </a:ext>
            </a:extLst>
          </p:cNvPr>
          <p:cNvSpPr/>
          <p:nvPr/>
        </p:nvSpPr>
        <p:spPr>
          <a:xfrm>
            <a:off x="6522720" y="1803459"/>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2 + 2 = 99.99% probability of 4</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11">
            <a:extLst>
              <a:ext uri="{FF2B5EF4-FFF2-40B4-BE49-F238E27FC236}">
                <a16:creationId xmlns:a16="http://schemas.microsoft.com/office/drawing/2014/main" id="{8C45D627-11A9-F833-1B2D-00465E2ADA57}"/>
              </a:ext>
            </a:extLst>
          </p:cNvPr>
          <p:cNvSpPr/>
          <p:nvPr/>
        </p:nvSpPr>
        <p:spPr>
          <a:xfrm>
            <a:off x="6583680" y="4606285"/>
            <a:ext cx="4815840" cy="1606006"/>
          </a:xfrm>
          <a:prstGeom prst="rect">
            <a:avLst/>
          </a:prstGeom>
          <a:noFill/>
          <a:ln/>
        </p:spPr>
        <p:txBody>
          <a:bodyPr wrap="square" lIns="0" tIns="0" rIns="0" bIns="0" rtlCol="0" anchor="t"/>
          <a:lstStyle/>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ML &amp; generative AI — decision trees, random forests, neural nets, LLMs.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Same input may produce different outputs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Failure modes are statistical. Evaluation is quality control, not unit tests.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33363" marR="0" lvl="0" indent="-233363"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You debug by reading the data.</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6">
            <a:extLst>
              <a:ext uri="{FF2B5EF4-FFF2-40B4-BE49-F238E27FC236}">
                <a16:creationId xmlns:a16="http://schemas.microsoft.com/office/drawing/2014/main" id="{81B1969B-D917-A8B4-C069-7F8942CF7A9D}"/>
              </a:ext>
            </a:extLst>
          </p:cNvPr>
          <p:cNvSpPr/>
          <p:nvPr/>
        </p:nvSpPr>
        <p:spPr>
          <a:xfrm>
            <a:off x="609600" y="1285299"/>
            <a:ext cx="4876800" cy="33528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Deterministic</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6">
            <a:extLst>
              <a:ext uri="{FF2B5EF4-FFF2-40B4-BE49-F238E27FC236}">
                <a16:creationId xmlns:a16="http://schemas.microsoft.com/office/drawing/2014/main" id="{2E9110AC-CDC0-F6F6-6BCF-787914DFB30D}"/>
              </a:ext>
            </a:extLst>
          </p:cNvPr>
          <p:cNvSpPr/>
          <p:nvPr/>
        </p:nvSpPr>
        <p:spPr>
          <a:xfrm>
            <a:off x="6217920" y="1285299"/>
            <a:ext cx="4876800" cy="33528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Probabilistic</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9">
            <a:extLst>
              <a:ext uri="{FF2B5EF4-FFF2-40B4-BE49-F238E27FC236}">
                <a16:creationId xmlns:a16="http://schemas.microsoft.com/office/drawing/2014/main" id="{70E0E248-1279-4B1E-1A92-F35D17ED20CF}"/>
              </a:ext>
            </a:extLst>
          </p:cNvPr>
          <p:cNvSpPr/>
          <p:nvPr/>
        </p:nvSpPr>
        <p:spPr>
          <a:xfrm>
            <a:off x="621792" y="1620578"/>
            <a:ext cx="97536" cy="4646659"/>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3F56A938-B8E0-2A22-4DA9-4452EB9D5637}"/>
              </a:ext>
            </a:extLst>
          </p:cNvPr>
          <p:cNvPicPr>
            <a:picLocks noChangeAspect="1"/>
          </p:cNvPicPr>
          <p:nvPr/>
        </p:nvPicPr>
        <p:blipFill>
          <a:blip r:embed="rId3"/>
          <a:stretch>
            <a:fillRect/>
          </a:stretch>
        </p:blipFill>
        <p:spPr>
          <a:xfrm>
            <a:off x="902208" y="2108259"/>
            <a:ext cx="4584192" cy="2498026"/>
          </a:xfrm>
          <a:prstGeom prst="rect">
            <a:avLst/>
          </a:prstGeom>
        </p:spPr>
      </p:pic>
      <p:pic>
        <p:nvPicPr>
          <p:cNvPr id="17" name="Picture 16">
            <a:extLst>
              <a:ext uri="{FF2B5EF4-FFF2-40B4-BE49-F238E27FC236}">
                <a16:creationId xmlns:a16="http://schemas.microsoft.com/office/drawing/2014/main" id="{5B4A8289-5085-35FE-FE5E-9D5387BCE495}"/>
              </a:ext>
            </a:extLst>
          </p:cNvPr>
          <p:cNvPicPr>
            <a:picLocks noChangeAspect="1"/>
          </p:cNvPicPr>
          <p:nvPr/>
        </p:nvPicPr>
        <p:blipFill>
          <a:blip r:embed="rId4"/>
          <a:stretch>
            <a:fillRect/>
          </a:stretch>
        </p:blipFill>
        <p:spPr>
          <a:xfrm>
            <a:off x="6496547" y="2100640"/>
            <a:ext cx="4598173" cy="2505645"/>
          </a:xfrm>
          <a:prstGeom prst="rect">
            <a:avLst/>
          </a:prstGeom>
        </p:spPr>
      </p:pic>
    </p:spTree>
    <p:extLst>
      <p:ext uri="{BB962C8B-B14F-4D97-AF65-F5344CB8AC3E}">
        <p14:creationId xmlns:p14="http://schemas.microsoft.com/office/powerpoint/2010/main" val="2004520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hape 4"/>
          <p:cNvSpPr/>
          <p:nvPr/>
        </p:nvSpPr>
        <p:spPr>
          <a:xfrm>
            <a:off x="3181738" y="2345932"/>
            <a:ext cx="2341823" cy="3048000"/>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3335850" y="2589772"/>
            <a:ext cx="218771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460073"/>
                </a:solidFill>
                <a:effectLst/>
                <a:uLnTx/>
                <a:uFillTx/>
                <a:latin typeface="Arial Black" pitchFamily="34" charset="0"/>
                <a:ea typeface="Arial Black" pitchFamily="34" charset="-122"/>
                <a:cs typeface="Arial Black" pitchFamily="34" charset="-120"/>
              </a:rPr>
              <a:t>PROMPT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3335850"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460073"/>
                </a:solidFill>
                <a:effectLst/>
                <a:uLnTx/>
                <a:uFillTx/>
                <a:latin typeface="Arial" pitchFamily="34" charset="0"/>
                <a:ea typeface="Arial" pitchFamily="34" charset="-122"/>
                <a:cs typeface="Arial" pitchFamily="34" charset="-120"/>
              </a:rPr>
              <a:t>What you ask. The model conditions every prediction on this context.</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5492051" y="3443212"/>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Black"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
        <p:nvSpPr>
          <p:cNvPr id="11" name="Shape 8"/>
          <p:cNvSpPr/>
          <p:nvPr/>
        </p:nvSpPr>
        <p:spPr>
          <a:xfrm>
            <a:off x="5972202" y="2345932"/>
            <a:ext cx="2341823" cy="3048000"/>
          </a:xfrm>
          <a:prstGeom prst="rect">
            <a:avLst/>
          </a:prstGeom>
          <a:solidFill>
            <a:schemeClr val="accent1">
              <a:lumMod val="50000"/>
              <a:lumOff val="50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6126313" y="2589772"/>
            <a:ext cx="2187711"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MODEL IN ACTION</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6126314"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Rapidly predicting the next token, then the next, building the response one piece at a time.</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8292789" y="3443212"/>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Black"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
        <p:nvSpPr>
          <p:cNvPr id="15" name="Shape 12"/>
          <p:cNvSpPr/>
          <p:nvPr/>
        </p:nvSpPr>
        <p:spPr>
          <a:xfrm>
            <a:off x="8772940" y="2345932"/>
            <a:ext cx="2341823" cy="3048000"/>
          </a:xfrm>
          <a:prstGeom prst="rect">
            <a:avLst/>
          </a:prstGeom>
          <a:solidFill>
            <a:schemeClr val="accent1">
              <a:lumMod val="90000"/>
              <a:lumOff val="10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8927051" y="2589772"/>
            <a:ext cx="2187711"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OUTPUT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927052"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An original answer assembled token-by-token from what the model has learned.</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EC74B135-4DDB-4796-FEEB-B9B620CAA0BC}"/>
              </a:ext>
            </a:extLst>
          </p:cNvPr>
          <p:cNvSpPr>
            <a:spLocks noGrp="1"/>
          </p:cNvSpPr>
          <p:nvPr>
            <p:ph type="title"/>
          </p:nvPr>
        </p:nvSpPr>
        <p:spPr>
          <a:xfrm>
            <a:off x="381000" y="342900"/>
            <a:ext cx="11430000" cy="886397"/>
          </a:xfrm>
        </p:spPr>
        <p:txBody>
          <a:bodyPr/>
          <a:lstStyle/>
          <a:p>
            <a:r>
              <a:rPr lang="en-US"/>
              <a:t>What's going on in the background?</a:t>
            </a:r>
            <a:br>
              <a:rPr lang="en-US"/>
            </a:br>
            <a:endParaRPr lang="en-US"/>
          </a:p>
        </p:txBody>
      </p:sp>
      <p:sp>
        <p:nvSpPr>
          <p:cNvPr id="19" name="Subtitle 18">
            <a:extLst>
              <a:ext uri="{FF2B5EF4-FFF2-40B4-BE49-F238E27FC236}">
                <a16:creationId xmlns:a16="http://schemas.microsoft.com/office/drawing/2014/main" id="{93A5D19B-135F-CDC9-6C4B-B3A75FB154FC}"/>
              </a:ext>
            </a:extLst>
          </p:cNvPr>
          <p:cNvSpPr>
            <a:spLocks noGrp="1"/>
          </p:cNvSpPr>
          <p:nvPr>
            <p:ph type="subTitle" idx="1"/>
          </p:nvPr>
        </p:nvSpPr>
        <p:spPr>
          <a:xfrm>
            <a:off x="381000" y="857250"/>
            <a:ext cx="11430000" cy="492443"/>
          </a:xfrm>
        </p:spPr>
        <p:txBody>
          <a:bodyPr/>
          <a:lstStyle/>
          <a:p>
            <a:r>
              <a:rPr lang="en-US"/>
              <a:t>An LLM is a </a:t>
            </a:r>
            <a:r>
              <a:rPr lang="en-US" err="1"/>
              <a:t>vlookup</a:t>
            </a:r>
            <a:r>
              <a:rPr lang="en-US"/>
              <a:t> table, predicting one token (~4 characters) at a time, conditioned on everything before it.</a:t>
            </a:r>
          </a:p>
          <a:p>
            <a:endParaRPr lang="en-US"/>
          </a:p>
        </p:txBody>
      </p:sp>
      <p:sp>
        <p:nvSpPr>
          <p:cNvPr id="3" name="Shape 4">
            <a:extLst>
              <a:ext uri="{FF2B5EF4-FFF2-40B4-BE49-F238E27FC236}">
                <a16:creationId xmlns:a16="http://schemas.microsoft.com/office/drawing/2014/main" id="{F7D63473-19D6-B672-A7BC-C04210DD1669}"/>
              </a:ext>
            </a:extLst>
          </p:cNvPr>
          <p:cNvSpPr/>
          <p:nvPr/>
        </p:nvSpPr>
        <p:spPr>
          <a:xfrm>
            <a:off x="381000" y="2345932"/>
            <a:ext cx="2341823" cy="3048000"/>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5">
            <a:extLst>
              <a:ext uri="{FF2B5EF4-FFF2-40B4-BE49-F238E27FC236}">
                <a16:creationId xmlns:a16="http://schemas.microsoft.com/office/drawing/2014/main" id="{700502BF-3F3E-CB83-B677-11DE4D1CF69E}"/>
              </a:ext>
            </a:extLst>
          </p:cNvPr>
          <p:cNvSpPr/>
          <p:nvPr/>
        </p:nvSpPr>
        <p:spPr>
          <a:xfrm>
            <a:off x="535112" y="2589772"/>
            <a:ext cx="218771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2133" b="1" dirty="0">
                <a:solidFill>
                  <a:srgbClr val="460073"/>
                </a:solidFill>
                <a:latin typeface="Arial Black" pitchFamily="34" charset="0"/>
                <a:ea typeface="Arial Black" pitchFamily="34" charset="-122"/>
                <a:cs typeface="Arial Black" pitchFamily="34" charset="-120"/>
              </a:rPr>
              <a:t>SYSTEM </a:t>
            </a:r>
            <a:r>
              <a:rPr kumimoji="0" lang="en-US" sz="2133" b="1" i="0" u="none" strike="noStrike" kern="1200" cap="none" spc="0" normalizeH="0" baseline="0" noProof="0" dirty="0">
                <a:ln>
                  <a:noFill/>
                </a:ln>
                <a:solidFill>
                  <a:srgbClr val="460073"/>
                </a:solidFill>
                <a:effectLst/>
                <a:uLnTx/>
                <a:uFillTx/>
                <a:latin typeface="Arial Black" pitchFamily="34" charset="0"/>
                <a:ea typeface="Arial Black" pitchFamily="34" charset="-122"/>
                <a:cs typeface="Arial Black" pitchFamily="34" charset="-120"/>
              </a:rPr>
              <a:t>PROMPT</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6">
            <a:extLst>
              <a:ext uri="{FF2B5EF4-FFF2-40B4-BE49-F238E27FC236}">
                <a16:creationId xmlns:a16="http://schemas.microsoft.com/office/drawing/2014/main" id="{13A21CF9-720F-E639-F2F2-01346D54719A}"/>
              </a:ext>
            </a:extLst>
          </p:cNvPr>
          <p:cNvSpPr/>
          <p:nvPr/>
        </p:nvSpPr>
        <p:spPr>
          <a:xfrm>
            <a:off x="535112" y="3382252"/>
            <a:ext cx="2004831" cy="18288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srgbClr val="460073"/>
                </a:solidFill>
                <a:effectLst/>
                <a:uLnTx/>
                <a:uFillTx/>
                <a:latin typeface="Arial" pitchFamily="34" charset="0"/>
                <a:ea typeface="Arial" pitchFamily="34" charset="-122"/>
                <a:cs typeface="Arial" pitchFamily="34" charset="-120"/>
              </a:rPr>
              <a:t>The preamble to the model that is appended to each incoming prompt.  </a:t>
            </a:r>
            <a:r>
              <a:rPr lang="en-US" sz="1467" dirty="0">
                <a:solidFill>
                  <a:srgbClr val="460073"/>
                </a:solidFill>
                <a:latin typeface="Arial" pitchFamily="34" charset="0"/>
                <a:ea typeface="Arial" pitchFamily="34" charset="-122"/>
                <a:cs typeface="Arial" pitchFamily="34" charset="-120"/>
              </a:rPr>
              <a:t>The system prompt adds context &amp; instructions.</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7">
            <a:extLst>
              <a:ext uri="{FF2B5EF4-FFF2-40B4-BE49-F238E27FC236}">
                <a16:creationId xmlns:a16="http://schemas.microsoft.com/office/drawing/2014/main" id="{5DA94BC9-FE0D-E3EB-3946-DA87B13E7D93}"/>
              </a:ext>
            </a:extLst>
          </p:cNvPr>
          <p:cNvSpPr/>
          <p:nvPr/>
        </p:nvSpPr>
        <p:spPr>
          <a:xfrm>
            <a:off x="2642344" y="3429000"/>
            <a:ext cx="609600" cy="85344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0672CB"/>
                </a:solidFill>
                <a:effectLst/>
                <a:uLnTx/>
                <a:uFillTx/>
                <a:latin typeface="Arial Black" pitchFamily="34" charset="0"/>
                <a:ea typeface="Arial Black" pitchFamily="34" charset="-122"/>
                <a:cs typeface="Arial Black" pitchFamily="34" charset="-120"/>
              </a:rPr>
              <a:t>›</a:t>
            </a:r>
            <a:endParaRPr kumimoji="0" lang="en-US" sz="48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57200" y="216712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What do I need to do today?</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6" name="Shape 4"/>
          <p:cNvSpPr/>
          <p:nvPr/>
        </p:nvSpPr>
        <p:spPr>
          <a:xfrm>
            <a:off x="3474720" y="2331720"/>
            <a:ext cx="1669551" cy="927528"/>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7" name="Shape 5"/>
          <p:cNvSpPr/>
          <p:nvPr/>
        </p:nvSpPr>
        <p:spPr>
          <a:xfrm>
            <a:off x="3822500" y="2501563"/>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8" name="Text 6"/>
          <p:cNvSpPr/>
          <p:nvPr/>
        </p:nvSpPr>
        <p:spPr>
          <a:xfrm>
            <a:off x="3822500" y="2501563"/>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Arial Black" pitchFamily="34" charset="0"/>
                <a:ea typeface="Arial Black" pitchFamily="34" charset="-122"/>
                <a:cs typeface="Arial Black" pitchFamily="34" charset="-120"/>
              </a:rPr>
              <a:t>× 0.1</a:t>
            </a:r>
            <a:endParaRPr kumimoji="0" lang="en-US" sz="1000" b="0" i="0" u="none" strike="noStrike" kern="1200" cap="none" spc="0" normalizeH="0" baseline="0" noProof="0">
              <a:ln>
                <a:noFill/>
              </a:ln>
              <a:solidFill>
                <a:srgbClr val="808080"/>
              </a:solidFill>
              <a:effectLst/>
              <a:uLnTx/>
              <a:uFillTx/>
              <a:latin typeface="Arial"/>
              <a:ea typeface="+mn-ea"/>
              <a:cs typeface="+mn-cs"/>
            </a:endParaRPr>
          </a:p>
        </p:txBody>
      </p:sp>
      <p:sp>
        <p:nvSpPr>
          <p:cNvPr id="9" name="Text 7"/>
          <p:cNvSpPr/>
          <p:nvPr/>
        </p:nvSpPr>
        <p:spPr>
          <a:xfrm>
            <a:off x="457200" y="299008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I miss my dog.</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10" name="Shape 8"/>
          <p:cNvSpPr/>
          <p:nvPr/>
        </p:nvSpPr>
        <p:spPr>
          <a:xfrm>
            <a:off x="3474720" y="3154680"/>
            <a:ext cx="1576255" cy="350279"/>
          </a:xfrm>
          <a:prstGeom prst="line">
            <a:avLst/>
          </a:prstGeom>
          <a:noFill/>
          <a:ln w="12700">
            <a:solidFill>
              <a:srgbClr val="99999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1" name="Shape 9"/>
          <p:cNvSpPr/>
          <p:nvPr/>
        </p:nvSpPr>
        <p:spPr>
          <a:xfrm>
            <a:off x="3785182" y="3093624"/>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2" name="Text 10"/>
          <p:cNvSpPr/>
          <p:nvPr/>
        </p:nvSpPr>
        <p:spPr>
          <a:xfrm>
            <a:off x="3785182" y="3093624"/>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Arial Black" pitchFamily="34" charset="0"/>
                <a:ea typeface="Arial Black" pitchFamily="34" charset="-122"/>
                <a:cs typeface="Arial Black" pitchFamily="34" charset="-120"/>
              </a:rPr>
              <a:t>× 0.1</a:t>
            </a:r>
            <a:endParaRPr kumimoji="0" lang="en-US" sz="1000" b="0" i="0" u="none" strike="noStrike" kern="1200" cap="none" spc="0" normalizeH="0" baseline="0" noProof="0">
              <a:ln>
                <a:noFill/>
              </a:ln>
              <a:solidFill>
                <a:srgbClr val="808080"/>
              </a:solidFill>
              <a:effectLst/>
              <a:uLnTx/>
              <a:uFillTx/>
              <a:latin typeface="Arial"/>
              <a:ea typeface="+mn-ea"/>
              <a:cs typeface="+mn-cs"/>
            </a:endParaRPr>
          </a:p>
        </p:txBody>
      </p:sp>
      <p:sp>
        <p:nvSpPr>
          <p:cNvPr id="13" name="Text 11"/>
          <p:cNvSpPr/>
          <p:nvPr/>
        </p:nvSpPr>
        <p:spPr>
          <a:xfrm>
            <a:off x="457200" y="408736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555555"/>
                </a:solidFill>
                <a:effectLst/>
                <a:uLnTx/>
                <a:uFillTx/>
                <a:latin typeface="Arial" pitchFamily="34" charset="0"/>
                <a:ea typeface="Arial" pitchFamily="34" charset="-122"/>
                <a:cs typeface="Arial" pitchFamily="34" charset="-120"/>
              </a:rPr>
              <a:t>My favorite color is blue.</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14" name="Shape 12"/>
          <p:cNvSpPr/>
          <p:nvPr/>
        </p:nvSpPr>
        <p:spPr>
          <a:xfrm flipV="1">
            <a:off x="3474721" y="3806855"/>
            <a:ext cx="1508760" cy="445105"/>
          </a:xfrm>
          <a:prstGeom prst="line">
            <a:avLst/>
          </a:prstGeom>
          <a:noFill/>
          <a:ln w="9525">
            <a:solidFill>
              <a:srgbClr val="BBBBBB"/>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5" name="Shape 13"/>
          <p:cNvSpPr/>
          <p:nvPr/>
        </p:nvSpPr>
        <p:spPr>
          <a:xfrm>
            <a:off x="3785182" y="3910680"/>
            <a:ext cx="640080" cy="256032"/>
          </a:xfrm>
          <a:prstGeom prst="roundRect">
            <a:avLst>
              <a:gd name="adj" fmla="val 14286"/>
            </a:avLst>
          </a:prstGeom>
          <a:solidFill>
            <a:srgbClr val="FFFFFF"/>
          </a:solidFill>
          <a:ln w="9525">
            <a:solidFill>
              <a:srgbClr val="CCCCC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6" name="Text 14"/>
          <p:cNvSpPr/>
          <p:nvPr/>
        </p:nvSpPr>
        <p:spPr>
          <a:xfrm>
            <a:off x="3785182" y="3910680"/>
            <a:ext cx="6400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888888"/>
                </a:solidFill>
                <a:effectLst/>
                <a:uLnTx/>
                <a:uFillTx/>
                <a:latin typeface="Arial Black" pitchFamily="34" charset="0"/>
                <a:ea typeface="Arial Black" pitchFamily="34" charset="-122"/>
                <a:cs typeface="Arial Black" pitchFamily="34" charset="-120"/>
              </a:rPr>
              <a:t>× 0.0</a:t>
            </a:r>
            <a:endParaRPr kumimoji="0" lang="en-US" sz="1000" b="0" i="0" u="none" strike="noStrike" kern="1200" cap="none" spc="0" normalizeH="0" baseline="0" noProof="0">
              <a:ln>
                <a:noFill/>
              </a:ln>
              <a:solidFill>
                <a:srgbClr val="808080"/>
              </a:solidFill>
              <a:effectLst/>
              <a:uLnTx/>
              <a:uFillTx/>
              <a:latin typeface="Arial"/>
              <a:ea typeface="+mn-ea"/>
              <a:cs typeface="+mn-cs"/>
            </a:endParaRPr>
          </a:p>
        </p:txBody>
      </p:sp>
      <p:sp>
        <p:nvSpPr>
          <p:cNvPr id="17" name="Text 15"/>
          <p:cNvSpPr/>
          <p:nvPr/>
        </p:nvSpPr>
        <p:spPr>
          <a:xfrm>
            <a:off x="457200" y="4910328"/>
            <a:ext cx="28803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This is getting hot!</a:t>
            </a:r>
            <a:endParaRPr kumimoji="0" lang="en-US" sz="1200" b="0" i="0" u="none" strike="noStrike" kern="1200" cap="none" spc="0" normalizeH="0" baseline="0" noProof="0">
              <a:ln>
                <a:noFill/>
              </a:ln>
              <a:solidFill>
                <a:srgbClr val="808080"/>
              </a:solidFill>
              <a:effectLst/>
              <a:uLnTx/>
              <a:uFillTx/>
              <a:latin typeface="Arial"/>
              <a:ea typeface="+mn-ea"/>
              <a:cs typeface="+mn-cs"/>
            </a:endParaRPr>
          </a:p>
        </p:txBody>
      </p:sp>
      <p:sp>
        <p:nvSpPr>
          <p:cNvPr id="18" name="Shape 16"/>
          <p:cNvSpPr/>
          <p:nvPr/>
        </p:nvSpPr>
        <p:spPr>
          <a:xfrm flipV="1">
            <a:off x="3474720" y="4063186"/>
            <a:ext cx="1669551" cy="1011734"/>
          </a:xfrm>
          <a:prstGeom prst="line">
            <a:avLst/>
          </a:prstGeom>
          <a:noFill/>
          <a:ln w="63500">
            <a:solidFill>
              <a:schemeClr val="bg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19" name="Shape 17"/>
          <p:cNvSpPr/>
          <p:nvPr/>
        </p:nvSpPr>
        <p:spPr>
          <a:xfrm>
            <a:off x="3753920" y="4489358"/>
            <a:ext cx="777240" cy="256032"/>
          </a:xfrm>
          <a:prstGeom prst="roundRect">
            <a:avLst>
              <a:gd name="adj" fmla="val 14286"/>
            </a:avLst>
          </a:prstGeom>
          <a:solidFill>
            <a:srgbClr val="FFFFFF"/>
          </a:solidFill>
          <a:ln w="9525">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0" name="Text 18"/>
          <p:cNvSpPr/>
          <p:nvPr/>
        </p:nvSpPr>
        <p:spPr>
          <a:xfrm>
            <a:off x="3753920" y="4489358"/>
            <a:ext cx="77724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672CB"/>
                </a:solidFill>
                <a:effectLst/>
                <a:uLnTx/>
                <a:uFillTx/>
                <a:latin typeface="Arial Black" pitchFamily="34" charset="0"/>
                <a:ea typeface="Arial Black" pitchFamily="34" charset="-122"/>
                <a:cs typeface="Arial Black" pitchFamily="34" charset="-120"/>
              </a:rPr>
              <a:t>× 9.5</a:t>
            </a:r>
            <a:endParaRPr kumimoji="0" lang="en-US" sz="1200" b="0" i="0" u="none" strike="noStrike" kern="1200" cap="none" spc="0" normalizeH="0" baseline="0" noProof="0">
              <a:ln>
                <a:noFill/>
              </a:ln>
              <a:solidFill>
                <a:srgbClr val="0672CB"/>
              </a:solidFill>
              <a:effectLst/>
              <a:uLnTx/>
              <a:uFillTx/>
              <a:latin typeface="Arial"/>
              <a:ea typeface="+mn-ea"/>
              <a:cs typeface="+mn-cs"/>
            </a:endParaRPr>
          </a:p>
        </p:txBody>
      </p:sp>
      <p:sp>
        <p:nvSpPr>
          <p:cNvPr id="21" name="Shape 19"/>
          <p:cNvSpPr/>
          <p:nvPr/>
        </p:nvSpPr>
        <p:spPr>
          <a:xfrm>
            <a:off x="5029200" y="2788920"/>
            <a:ext cx="1828800" cy="1828800"/>
          </a:xfrm>
          <a:prstGeom prst="ellipse">
            <a:avLst/>
          </a:prstGeom>
          <a:solidFill>
            <a:schemeClr val="bg1"/>
          </a:solidFill>
          <a:ln w="25400">
            <a:noFill/>
            <a:prstDash val="solid"/>
          </a:ln>
          <a:effectLst>
            <a:outerShdw blurRad="152400" dist="38100" dir="8100000" algn="bl" rotWithShape="0">
              <a:srgbClr val="000000">
                <a:alpha val="2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2" name="Text 20"/>
          <p:cNvSpPr/>
          <p:nvPr/>
        </p:nvSpPr>
        <p:spPr>
          <a:xfrm>
            <a:off x="5029200" y="2788920"/>
            <a:ext cx="1828800" cy="1828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Σ Weighted Sum</a:t>
            </a:r>
            <a:endParaRPr kumimoji="0" lang="en-US" sz="1300" b="0" i="0" u="none" strike="noStrike" kern="1200" cap="none" spc="0" normalizeH="0" baseline="0" noProof="0">
              <a:ln>
                <a:noFill/>
              </a:ln>
              <a:solidFill>
                <a:srgbClr val="80808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Arial"/>
                <a:ea typeface="+mn-ea"/>
                <a:cs typeface="+mn-cs"/>
              </a:rPr>
              <a:t> </a:t>
            </a:r>
            <a:endParaRPr kumimoji="0" lang="en-US" sz="1300" b="0" i="0" u="none" strike="noStrike" kern="1200" cap="none" spc="0" normalizeH="0" baseline="0" noProof="0">
              <a:ln>
                <a:noFill/>
              </a:ln>
              <a:solidFill>
                <a:srgbClr val="80808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2155">
                    <a:lumMod val="10000"/>
                    <a:lumOff val="90000"/>
                  </a:srgbClr>
                </a:solidFill>
                <a:effectLst/>
                <a:uLnTx/>
                <a:uFillTx/>
                <a:latin typeface="Arial" pitchFamily="34" charset="0"/>
                <a:ea typeface="Arial" pitchFamily="34" charset="-122"/>
                <a:cs typeface="Arial" pitchFamily="34" charset="-120"/>
              </a:rPr>
              <a:t>Past threshold?</a:t>
            </a:r>
            <a:endParaRPr kumimoji="0" lang="en-US" sz="1300" b="0" i="0" u="none" strike="noStrike" kern="1200" cap="none" spc="0" normalizeH="0" baseline="0" noProof="0">
              <a:ln>
                <a:noFill/>
              </a:ln>
              <a:solidFill>
                <a:srgbClr val="0D2155">
                  <a:lumMod val="10000"/>
                  <a:lumOff val="90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a:ln>
                  <a:noFill/>
                </a:ln>
                <a:solidFill>
                  <a:srgbClr val="000000"/>
                </a:solidFill>
                <a:effectLst/>
                <a:uLnTx/>
                <a:uFillTx/>
                <a:latin typeface="Arial"/>
                <a:ea typeface="+mn-ea"/>
                <a:cs typeface="+mn-cs"/>
              </a:rPr>
              <a:t> </a:t>
            </a:r>
            <a:endParaRPr kumimoji="0" lang="en-US" sz="1300" b="0" i="0" u="none" strike="noStrike" kern="1200" cap="none" spc="0" normalizeH="0" baseline="0" noProof="0">
              <a:ln>
                <a:noFill/>
              </a:ln>
              <a:solidFill>
                <a:srgbClr val="80808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 ACTIVATE</a:t>
            </a:r>
            <a:endParaRPr kumimoji="0" lang="en-US" sz="1300" b="0" i="0" u="none" strike="noStrike" kern="1200" cap="none" spc="0" normalizeH="0" baseline="0" noProof="0">
              <a:ln>
                <a:noFill/>
              </a:ln>
              <a:solidFill>
                <a:srgbClr val="808080"/>
              </a:solidFill>
              <a:effectLst/>
              <a:uLnTx/>
              <a:uFillTx/>
              <a:latin typeface="Arial"/>
              <a:ea typeface="+mn-ea"/>
              <a:cs typeface="+mn-cs"/>
            </a:endParaRPr>
          </a:p>
        </p:txBody>
      </p:sp>
      <p:sp>
        <p:nvSpPr>
          <p:cNvPr id="23" name="Shape 21"/>
          <p:cNvSpPr/>
          <p:nvPr/>
        </p:nvSpPr>
        <p:spPr>
          <a:xfrm>
            <a:off x="6903720" y="3703320"/>
            <a:ext cx="868680" cy="0"/>
          </a:xfrm>
          <a:prstGeom prst="line">
            <a:avLst/>
          </a:prstGeom>
          <a:noFill/>
          <a:ln w="50800">
            <a:solidFill>
              <a:schemeClr val="bg1"/>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4" name="Text 22"/>
          <p:cNvSpPr/>
          <p:nvPr/>
        </p:nvSpPr>
        <p:spPr>
          <a:xfrm>
            <a:off x="7863840" y="3337560"/>
            <a:ext cx="1755575"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I need to move my hand!</a:t>
            </a: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5" name="Shape 23"/>
          <p:cNvSpPr/>
          <p:nvPr/>
        </p:nvSpPr>
        <p:spPr>
          <a:xfrm>
            <a:off x="457200" y="5532120"/>
            <a:ext cx="3374136" cy="457200"/>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6" name="Shape 24"/>
          <p:cNvSpPr/>
          <p:nvPr/>
        </p:nvSpPr>
        <p:spPr>
          <a:xfrm>
            <a:off x="3831336" y="5532120"/>
            <a:ext cx="3374136" cy="457200"/>
          </a:xfrm>
          <a:prstGeom prst="rect">
            <a:avLst/>
          </a:prstGeom>
          <a:solidFill>
            <a:srgbClr val="FFE9B3"/>
          </a:solidFill>
          <a:ln w="12700">
            <a:solidFill>
              <a:srgbClr val="FFE9B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7" name="Shape 25"/>
          <p:cNvSpPr/>
          <p:nvPr/>
        </p:nvSpPr>
        <p:spPr>
          <a:xfrm>
            <a:off x="7205472" y="5532120"/>
            <a:ext cx="2811780" cy="457200"/>
          </a:xfrm>
          <a:prstGeom prst="rect">
            <a:avLst/>
          </a:prstGeom>
          <a:solidFill>
            <a:srgbClr val="FFB380"/>
          </a:solidFill>
          <a:ln w="12700">
            <a:solidFill>
              <a:srgbClr val="FFB38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8" name="Shape 26"/>
          <p:cNvSpPr/>
          <p:nvPr/>
        </p:nvSpPr>
        <p:spPr>
          <a:xfrm>
            <a:off x="10017252" y="5532120"/>
            <a:ext cx="1687068" cy="457200"/>
          </a:xfrm>
          <a:prstGeom prst="rect">
            <a:avLst/>
          </a:prstGeom>
          <a:solidFill>
            <a:schemeClr val="bg1"/>
          </a:solid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29" name="Shape 27"/>
          <p:cNvSpPr/>
          <p:nvPr/>
        </p:nvSpPr>
        <p:spPr>
          <a:xfrm>
            <a:off x="457200" y="5532120"/>
            <a:ext cx="11247120" cy="457200"/>
          </a:xfrm>
          <a:prstGeom prst="rect">
            <a:avLst/>
          </a:prstGeom>
          <a:solidFill>
            <a:schemeClr val="bg1">
              <a:alpha val="0"/>
            </a:schemeClr>
          </a:solidFill>
          <a:ln w="9525">
            <a:solidFill>
              <a:srgbClr val="8888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30" name="Shape 28"/>
          <p:cNvSpPr/>
          <p:nvPr/>
        </p:nvSpPr>
        <p:spPr>
          <a:xfrm>
            <a:off x="10017252" y="5394960"/>
            <a:ext cx="0" cy="731520"/>
          </a:xfrm>
          <a:prstGeom prst="line">
            <a:avLst/>
          </a:prstGeom>
          <a:noFill/>
          <a:ln w="25400">
            <a:solidFill>
              <a:schemeClr val="bg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08080"/>
              </a:solidFill>
              <a:effectLst/>
              <a:uLnTx/>
              <a:uFillTx/>
              <a:latin typeface="Arial"/>
              <a:ea typeface="+mn-ea"/>
              <a:cs typeface="+mn-cs"/>
            </a:endParaRPr>
          </a:p>
        </p:txBody>
      </p:sp>
      <p:sp>
        <p:nvSpPr>
          <p:cNvPr id="31" name="Text 29"/>
          <p:cNvSpPr/>
          <p:nvPr/>
        </p:nvSpPr>
        <p:spPr>
          <a:xfrm>
            <a:off x="9240012" y="5148072"/>
            <a:ext cx="15544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200" normalizeH="0" baseline="0" noProof="0">
                <a:ln>
                  <a:noFill/>
                </a:ln>
                <a:solidFill>
                  <a:srgbClr val="000000"/>
                </a:solidFill>
                <a:effectLst/>
                <a:uLnTx/>
                <a:uFillTx/>
                <a:latin typeface="Arial Black" pitchFamily="34" charset="0"/>
                <a:ea typeface="Arial Black" pitchFamily="34" charset="-122"/>
                <a:cs typeface="Arial Black" pitchFamily="34" charset="-120"/>
              </a:rPr>
              <a:t>THRESHOLD</a:t>
            </a:r>
            <a:endParaRPr kumimoji="0" lang="en-US" sz="800" b="0" i="0" u="none" strike="noStrike" kern="1200" cap="none" spc="0" normalizeH="0" baseline="0" noProof="0">
              <a:ln>
                <a:noFill/>
              </a:ln>
              <a:solidFill>
                <a:srgbClr val="808080"/>
              </a:solidFill>
              <a:effectLst/>
              <a:uLnTx/>
              <a:uFillTx/>
              <a:latin typeface="Arial"/>
              <a:ea typeface="+mn-ea"/>
              <a:cs typeface="+mn-cs"/>
            </a:endParaRPr>
          </a:p>
        </p:txBody>
      </p:sp>
      <p:sp>
        <p:nvSpPr>
          <p:cNvPr id="32" name="Text 30"/>
          <p:cNvSpPr/>
          <p:nvPr/>
        </p:nvSpPr>
        <p:spPr>
          <a:xfrm>
            <a:off x="548640" y="6035040"/>
            <a:ext cx="9144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666666"/>
                </a:solidFill>
                <a:effectLst/>
                <a:uLnTx/>
                <a:uFillTx/>
                <a:latin typeface="Arial Black" pitchFamily="34" charset="0"/>
                <a:ea typeface="Arial Black" pitchFamily="34" charset="-122"/>
                <a:cs typeface="Arial Black" pitchFamily="34" charset="-120"/>
              </a:rPr>
              <a:t>COOL</a:t>
            </a:r>
            <a:endParaRPr kumimoji="0" lang="en-US" sz="900" b="0" i="0" u="none" strike="noStrike" kern="1200" cap="none" spc="0" normalizeH="0" baseline="0" noProof="0">
              <a:ln>
                <a:noFill/>
              </a:ln>
              <a:solidFill>
                <a:srgbClr val="808080"/>
              </a:solidFill>
              <a:effectLst/>
              <a:uLnTx/>
              <a:uFillTx/>
              <a:latin typeface="Arial"/>
              <a:ea typeface="+mn-ea"/>
              <a:cs typeface="+mn-cs"/>
            </a:endParaRPr>
          </a:p>
        </p:txBody>
      </p:sp>
      <p:sp>
        <p:nvSpPr>
          <p:cNvPr id="33" name="Text 31"/>
          <p:cNvSpPr/>
          <p:nvPr/>
        </p:nvSpPr>
        <p:spPr>
          <a:xfrm>
            <a:off x="5180990" y="6035040"/>
            <a:ext cx="91440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B07000"/>
                </a:solidFill>
                <a:effectLst/>
                <a:uLnTx/>
                <a:uFillTx/>
                <a:latin typeface="Arial Black" pitchFamily="34" charset="0"/>
                <a:ea typeface="Arial Black" pitchFamily="34" charset="-122"/>
                <a:cs typeface="Arial Black" pitchFamily="34" charset="-120"/>
              </a:rPr>
              <a:t>WARM</a:t>
            </a:r>
            <a:endParaRPr kumimoji="0" lang="en-US" sz="900" b="0" i="0" u="none" strike="noStrike" kern="1200" cap="none" spc="0" normalizeH="0" baseline="0" noProof="0">
              <a:ln>
                <a:noFill/>
              </a:ln>
              <a:solidFill>
                <a:srgbClr val="808080"/>
              </a:solidFill>
              <a:effectLst/>
              <a:uLnTx/>
              <a:uFillTx/>
              <a:latin typeface="Arial"/>
              <a:ea typeface="+mn-ea"/>
              <a:cs typeface="+mn-cs"/>
            </a:endParaRPr>
          </a:p>
        </p:txBody>
      </p:sp>
      <p:sp>
        <p:nvSpPr>
          <p:cNvPr id="34" name="Text 32"/>
          <p:cNvSpPr/>
          <p:nvPr/>
        </p:nvSpPr>
        <p:spPr>
          <a:xfrm>
            <a:off x="8105242" y="6035040"/>
            <a:ext cx="91440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CC5500"/>
                </a:solidFill>
                <a:effectLst/>
                <a:uLnTx/>
                <a:uFillTx/>
                <a:latin typeface="Arial Black" pitchFamily="34" charset="0"/>
                <a:ea typeface="Arial Black" pitchFamily="34" charset="-122"/>
                <a:cs typeface="Arial Black" pitchFamily="34" charset="-120"/>
              </a:rPr>
              <a:t>HOT</a:t>
            </a:r>
            <a:endParaRPr kumimoji="0" lang="en-US" sz="900" b="0" i="0" u="none" strike="noStrike" kern="1200" cap="none" spc="0" normalizeH="0" baseline="0" noProof="0">
              <a:ln>
                <a:noFill/>
              </a:ln>
              <a:solidFill>
                <a:srgbClr val="808080"/>
              </a:solidFill>
              <a:effectLst/>
              <a:uLnTx/>
              <a:uFillTx/>
              <a:latin typeface="Arial"/>
              <a:ea typeface="+mn-ea"/>
              <a:cs typeface="+mn-cs"/>
            </a:endParaRPr>
          </a:p>
        </p:txBody>
      </p:sp>
      <p:pic>
        <p:nvPicPr>
          <p:cNvPr id="35" name="Image 0" descr="preencoded.png"/>
          <p:cNvPicPr>
            <a:picLocks noChangeAspect="1"/>
          </p:cNvPicPr>
          <p:nvPr/>
        </p:nvPicPr>
        <p:blipFill>
          <a:blip r:embed="rId3"/>
          <a:stretch>
            <a:fillRect/>
          </a:stretch>
        </p:blipFill>
        <p:spPr>
          <a:xfrm>
            <a:off x="11292840" y="5623560"/>
            <a:ext cx="274320" cy="274320"/>
          </a:xfrm>
          <a:prstGeom prst="rect">
            <a:avLst/>
          </a:prstGeom>
          <a:solidFill>
            <a:schemeClr val="bg1"/>
          </a:solidFill>
          <a:ln>
            <a:solidFill>
              <a:schemeClr val="bg1"/>
            </a:solidFill>
          </a:ln>
        </p:spPr>
      </p:pic>
      <p:sp>
        <p:nvSpPr>
          <p:cNvPr id="36" name="Text 33"/>
          <p:cNvSpPr/>
          <p:nvPr/>
        </p:nvSpPr>
        <p:spPr>
          <a:xfrm>
            <a:off x="10129723" y="6035040"/>
            <a:ext cx="155448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50" normalizeH="0" baseline="0" noProof="0">
                <a:ln>
                  <a:noFill/>
                </a:ln>
                <a:solidFill>
                  <a:srgbClr val="0672CB"/>
                </a:solidFill>
                <a:effectLst/>
                <a:uLnTx/>
                <a:uFillTx/>
                <a:latin typeface="Arial Black" pitchFamily="34" charset="0"/>
                <a:ea typeface="Arial Black" pitchFamily="34" charset="-122"/>
                <a:cs typeface="Arial Black" pitchFamily="34" charset="-120"/>
              </a:rPr>
              <a:t>ACTIVATED!</a:t>
            </a:r>
            <a:endParaRPr kumimoji="0" lang="en-US" sz="900" b="0" i="0" u="none" strike="noStrike" kern="1200" cap="none" spc="0" normalizeH="0" baseline="0" noProof="0">
              <a:ln>
                <a:noFill/>
              </a:ln>
              <a:solidFill>
                <a:srgbClr val="0672CB"/>
              </a:solidFill>
              <a:effectLst/>
              <a:uLnTx/>
              <a:uFillTx/>
              <a:latin typeface="Arial"/>
              <a:ea typeface="+mn-ea"/>
              <a:cs typeface="+mn-cs"/>
            </a:endParaRPr>
          </a:p>
        </p:txBody>
      </p:sp>
      <p:sp>
        <p:nvSpPr>
          <p:cNvPr id="37" name="Text 34"/>
          <p:cNvSpPr/>
          <p:nvPr/>
        </p:nvSpPr>
        <p:spPr>
          <a:xfrm>
            <a:off x="457200" y="6263640"/>
            <a:ext cx="112471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672CB"/>
                </a:solidFill>
                <a:effectLst/>
                <a:uLnTx/>
                <a:uFillTx/>
                <a:latin typeface="Palatino Linotype" pitchFamily="34" charset="0"/>
                <a:ea typeface="Palatino Linotype" pitchFamily="34" charset="-122"/>
                <a:cs typeface="Palatino Linotype" pitchFamily="34" charset="-120"/>
              </a:rPr>
              <a:t>As heat grows and its weight is high, the weighted sum crosses the threshold — you're activated!</a:t>
            </a:r>
            <a:endParaRPr kumimoji="0" lang="en-US" sz="1200" b="0" i="0" u="none" strike="noStrike" kern="1200" cap="none" spc="0" normalizeH="0" baseline="0" noProof="0">
              <a:ln>
                <a:noFill/>
              </a:ln>
              <a:solidFill>
                <a:srgbClr val="0672CB"/>
              </a:solidFill>
              <a:effectLst/>
              <a:uLnTx/>
              <a:uFillTx/>
              <a:latin typeface="Arial"/>
              <a:ea typeface="+mn-ea"/>
              <a:cs typeface="+mn-cs"/>
            </a:endParaRPr>
          </a:p>
        </p:txBody>
      </p:sp>
      <p:pic>
        <p:nvPicPr>
          <p:cNvPr id="42" name="Picture 41">
            <a:extLst>
              <a:ext uri="{FF2B5EF4-FFF2-40B4-BE49-F238E27FC236}">
                <a16:creationId xmlns:a16="http://schemas.microsoft.com/office/drawing/2014/main" id="{929FEBBB-9548-89D7-64E3-AE5CF555641E}"/>
              </a:ext>
            </a:extLst>
          </p:cNvPr>
          <p:cNvPicPr>
            <a:picLocks noChangeAspect="1"/>
          </p:cNvPicPr>
          <p:nvPr/>
        </p:nvPicPr>
        <p:blipFill>
          <a:blip r:embed="rId4"/>
          <a:stretch>
            <a:fillRect/>
          </a:stretch>
        </p:blipFill>
        <p:spPr>
          <a:xfrm>
            <a:off x="9094376" y="2108544"/>
            <a:ext cx="2880360" cy="2880360"/>
          </a:xfrm>
          <a:prstGeom prst="rect">
            <a:avLst/>
          </a:prstGeom>
        </p:spPr>
      </p:pic>
      <p:sp>
        <p:nvSpPr>
          <p:cNvPr id="4" name="Title 3">
            <a:extLst>
              <a:ext uri="{FF2B5EF4-FFF2-40B4-BE49-F238E27FC236}">
                <a16:creationId xmlns:a16="http://schemas.microsoft.com/office/drawing/2014/main" id="{96EBF07D-6A3A-C576-08DE-67BCCA91C5AB}"/>
              </a:ext>
            </a:extLst>
          </p:cNvPr>
          <p:cNvSpPr>
            <a:spLocks noGrp="1"/>
          </p:cNvSpPr>
          <p:nvPr>
            <p:ph type="title"/>
          </p:nvPr>
        </p:nvSpPr>
        <p:spPr>
          <a:xfrm>
            <a:off x="381000" y="342900"/>
            <a:ext cx="11430000" cy="443198"/>
          </a:xfrm>
        </p:spPr>
        <p:txBody>
          <a:bodyPr/>
          <a:lstStyle/>
          <a:p>
            <a:r>
              <a:rPr lang="en-US" dirty="0"/>
              <a:t>Core concept of LLMs: Models have different weights</a:t>
            </a:r>
          </a:p>
        </p:txBody>
      </p:sp>
      <p:sp>
        <p:nvSpPr>
          <p:cNvPr id="40" name="Subtitle 39">
            <a:extLst>
              <a:ext uri="{FF2B5EF4-FFF2-40B4-BE49-F238E27FC236}">
                <a16:creationId xmlns:a16="http://schemas.microsoft.com/office/drawing/2014/main" id="{F23BFD82-848B-D61C-0E9A-52E673516E94}"/>
              </a:ext>
            </a:extLst>
          </p:cNvPr>
          <p:cNvSpPr>
            <a:spLocks noGrp="1"/>
          </p:cNvSpPr>
          <p:nvPr>
            <p:ph type="subTitle" idx="1"/>
          </p:nvPr>
        </p:nvSpPr>
        <p:spPr>
          <a:xfrm>
            <a:off x="381000" y="857250"/>
            <a:ext cx="11430000" cy="984885"/>
          </a:xfrm>
        </p:spPr>
        <p:txBody>
          <a:bodyPr/>
          <a:lstStyle/>
          <a:p>
            <a:r>
              <a:rPr lang="en-US"/>
              <a:t>Weights are the learned numbers that decide how much each input matters. Weights are learned through repeated experience — every burn, every near-miss, every safe touch teaches the system to pay more attention to 'hot' and less to noise.  For LLMs the examples are text passages.</a:t>
            </a:r>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F185-4135-2419-45B9-69DB0B46CDB0}"/>
              </a:ext>
            </a:extLst>
          </p:cNvPr>
          <p:cNvSpPr>
            <a:spLocks noGrp="1"/>
          </p:cNvSpPr>
          <p:nvPr>
            <p:ph type="title"/>
          </p:nvPr>
        </p:nvSpPr>
        <p:spPr>
          <a:xfrm>
            <a:off x="301099" y="182880"/>
            <a:ext cx="11678568" cy="792000"/>
          </a:xfrm>
        </p:spPr>
        <p:txBody>
          <a:bodyPr>
            <a:noAutofit/>
          </a:bodyPr>
          <a:lstStyle/>
          <a:p>
            <a:r>
              <a:rPr lang="en-US" sz="2000" dirty="0">
                <a:solidFill>
                  <a:schemeClr val="accent1"/>
                </a:solidFill>
              </a:rPr>
              <a:t>Words are represented as vectors of numbers (embeddings) that place similar meanings near each other, learned from how tokens co-occur across training data. The model's weights are the learned parameters that predict the next token.</a:t>
            </a:r>
          </a:p>
        </p:txBody>
      </p:sp>
      <p:pic>
        <p:nvPicPr>
          <p:cNvPr id="3" name="Picture 2">
            <a:extLst>
              <a:ext uri="{FF2B5EF4-FFF2-40B4-BE49-F238E27FC236}">
                <a16:creationId xmlns:a16="http://schemas.microsoft.com/office/drawing/2014/main" id="{7477E037-24DB-5A79-2948-4AD6C3247453}"/>
              </a:ext>
            </a:extLst>
          </p:cNvPr>
          <p:cNvPicPr>
            <a:picLocks noChangeAspect="1"/>
          </p:cNvPicPr>
          <p:nvPr/>
        </p:nvPicPr>
        <p:blipFill>
          <a:blip r:embed="rId2"/>
          <a:stretch>
            <a:fillRect/>
          </a:stretch>
        </p:blipFill>
        <p:spPr>
          <a:xfrm>
            <a:off x="1759553" y="1628117"/>
            <a:ext cx="8186951" cy="4390996"/>
          </a:xfrm>
          <a:prstGeom prst="rect">
            <a:avLst/>
          </a:prstGeom>
        </p:spPr>
      </p:pic>
    </p:spTree>
    <p:extLst>
      <p:ext uri="{BB962C8B-B14F-4D97-AF65-F5344CB8AC3E}">
        <p14:creationId xmlns:p14="http://schemas.microsoft.com/office/powerpoint/2010/main" val="399856340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18C0-CBAE-06D8-0E22-E1A7546DE6E5}"/>
              </a:ext>
            </a:extLst>
          </p:cNvPr>
          <p:cNvSpPr>
            <a:spLocks noGrp="1"/>
          </p:cNvSpPr>
          <p:nvPr>
            <p:ph type="title"/>
          </p:nvPr>
        </p:nvSpPr>
        <p:spPr>
          <a:xfrm>
            <a:off x="301099" y="182880"/>
            <a:ext cx="11605323" cy="792000"/>
          </a:xfrm>
        </p:spPr>
        <p:txBody>
          <a:bodyPr>
            <a:normAutofit fontScale="90000"/>
          </a:bodyPr>
          <a:lstStyle/>
          <a:p>
            <a:r>
              <a:rPr lang="en-US" dirty="0"/>
              <a:t>In a hyperspace words &amp; concepts are identified in close proximity.</a:t>
            </a:r>
          </a:p>
        </p:txBody>
      </p:sp>
      <p:pic>
        <p:nvPicPr>
          <p:cNvPr id="3" name="Picture 2">
            <a:extLst>
              <a:ext uri="{FF2B5EF4-FFF2-40B4-BE49-F238E27FC236}">
                <a16:creationId xmlns:a16="http://schemas.microsoft.com/office/drawing/2014/main" id="{2350FDA9-64A5-6975-8CB9-F008D6F5691C}"/>
              </a:ext>
            </a:extLst>
          </p:cNvPr>
          <p:cNvPicPr>
            <a:picLocks noChangeAspect="1"/>
          </p:cNvPicPr>
          <p:nvPr/>
        </p:nvPicPr>
        <p:blipFill>
          <a:blip r:embed="rId2"/>
          <a:stretch>
            <a:fillRect/>
          </a:stretch>
        </p:blipFill>
        <p:spPr>
          <a:xfrm>
            <a:off x="422876" y="1445308"/>
            <a:ext cx="7803979" cy="3967385"/>
          </a:xfrm>
          <a:prstGeom prst="rect">
            <a:avLst/>
          </a:prstGeom>
        </p:spPr>
      </p:pic>
      <p:sp>
        <p:nvSpPr>
          <p:cNvPr id="4" name="Rectangle 3">
            <a:extLst>
              <a:ext uri="{FF2B5EF4-FFF2-40B4-BE49-F238E27FC236}">
                <a16:creationId xmlns:a16="http://schemas.microsoft.com/office/drawing/2014/main" id="{DC6D6D8F-0382-C020-39A8-5B60D2E953B8}"/>
              </a:ext>
            </a:extLst>
          </p:cNvPr>
          <p:cNvSpPr/>
          <p:nvPr/>
        </p:nvSpPr>
        <p:spPr>
          <a:xfrm>
            <a:off x="422876" y="5831121"/>
            <a:ext cx="11346248" cy="369330"/>
          </a:xfrm>
          <a:prstGeom prst="rect">
            <a:avLst/>
          </a:prstGeom>
          <a:solidFill>
            <a:schemeClr val="accent1"/>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spAutoFit/>
          </a:bodyPr>
          <a:lstStyle/>
          <a:p>
            <a:pPr defTabSz="1219170" hangingPunct="0"/>
            <a:r>
              <a:rPr lang="en-US" sz="1600" kern="0" dirty="0">
                <a:solidFill>
                  <a:srgbClr val="FAFAFF"/>
                </a:solidFill>
                <a:latin typeface="Arial"/>
                <a:ea typeface="+mj-ea"/>
                <a:cs typeface="Arial"/>
                <a:sym typeface="Arial"/>
              </a:rPr>
              <a:t>Example: OpenAI embedding models will create 1536 sixteen digit numbers to represent a token (~4 characters).</a:t>
            </a:r>
          </a:p>
        </p:txBody>
      </p:sp>
    </p:spTree>
    <p:extLst>
      <p:ext uri="{BB962C8B-B14F-4D97-AF65-F5344CB8AC3E}">
        <p14:creationId xmlns:p14="http://schemas.microsoft.com/office/powerpoint/2010/main" val="39578407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A6A56F32-4C13-54B2-0E9C-73C099E4C23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B26346E-8DA2-3E68-37B8-1DC20160EFB1}"/>
              </a:ext>
            </a:extLst>
          </p:cNvPr>
          <p:cNvSpPr txBox="1"/>
          <p:nvPr/>
        </p:nvSpPr>
        <p:spPr>
          <a:xfrm>
            <a:off x="572551" y="2034185"/>
            <a:ext cx="1718676" cy="523220"/>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96968C"/>
                </a:solidFill>
                <a:latin typeface="Arial" panose="02110004020202020204"/>
              </a:rPr>
              <a:t>SYS </a:t>
            </a:r>
            <a:r>
              <a:rPr kumimoji="0" lang="en-US" sz="1400" b="0" i="0" u="none" strike="noStrike" kern="1200" cap="none" spc="0" normalizeH="0" baseline="0" noProof="0" dirty="0">
                <a:ln>
                  <a:noFill/>
                </a:ln>
                <a:solidFill>
                  <a:srgbClr val="96968C"/>
                </a:solidFill>
                <a:effectLst/>
                <a:uLnTx/>
                <a:uFillTx/>
                <a:latin typeface="Arial" panose="02110004020202020204"/>
                <a:ea typeface="+mn-ea"/>
                <a:cs typeface="+mn-cs"/>
              </a:rPr>
              <a:t>PROMPT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96968C"/>
                </a:solidFill>
                <a:latin typeface="Arial" panose="02110004020202020204"/>
              </a:rPr>
              <a:t>&amp; USER PROMPT</a:t>
            </a:r>
            <a:r>
              <a:rPr kumimoji="0" lang="en-US" sz="1400" b="0" i="0" u="none" strike="noStrike" kern="1200" cap="none" spc="0" normalizeH="0" baseline="0" noProof="0" dirty="0">
                <a:ln>
                  <a:noFill/>
                </a:ln>
                <a:solidFill>
                  <a:srgbClr val="96968C"/>
                </a:solidFill>
                <a:effectLst/>
                <a:uLnTx/>
                <a:uFillTx/>
                <a:latin typeface="Arial" panose="02110004020202020204"/>
                <a:ea typeface="+mn-ea"/>
                <a:cs typeface="+mn-cs"/>
              </a:rPr>
              <a:t> </a:t>
            </a:r>
          </a:p>
        </p:txBody>
      </p:sp>
      <p:sp>
        <p:nvSpPr>
          <p:cNvPr id="16" name="TextBox 15">
            <a:extLst>
              <a:ext uri="{FF2B5EF4-FFF2-40B4-BE49-F238E27FC236}">
                <a16:creationId xmlns:a16="http://schemas.microsoft.com/office/drawing/2014/main" id="{85F2FD13-310E-43AD-18D1-085ADC7D6BA5}"/>
              </a:ext>
            </a:extLst>
          </p:cNvPr>
          <p:cNvSpPr txBox="1"/>
          <p:nvPr/>
        </p:nvSpPr>
        <p:spPr>
          <a:xfrm>
            <a:off x="665019" y="3287328"/>
            <a:ext cx="1757352" cy="7834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2110004020202020204"/>
                <a:ea typeface="+mn-ea"/>
                <a:cs typeface="+mn-cs"/>
              </a:rPr>
              <a:t>THE MODEL IN ACTION</a:t>
            </a:r>
            <a:endParaRPr kumimoji="0" lang="en-US" sz="1400" b="0" i="0" u="none" strike="noStrike" kern="1200" cap="none" spc="0" normalizeH="0" baseline="0" noProof="0">
              <a:ln>
                <a:noFill/>
              </a:ln>
              <a:solidFill>
                <a:srgbClr val="FFFFFF"/>
              </a:solidFill>
              <a:effectLst/>
              <a:uLnTx/>
              <a:uFillTx/>
              <a:latin typeface="Arial" panose="02110004020202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110004020202020204"/>
                <a:ea typeface="+mn-ea"/>
                <a:cs typeface="+mn-cs"/>
              </a:rPr>
              <a:t>Rapidly predicting line by line to build the response</a:t>
            </a:r>
          </a:p>
        </p:txBody>
      </p:sp>
      <p:sp>
        <p:nvSpPr>
          <p:cNvPr id="17" name="TextBox 16">
            <a:extLst>
              <a:ext uri="{FF2B5EF4-FFF2-40B4-BE49-F238E27FC236}">
                <a16:creationId xmlns:a16="http://schemas.microsoft.com/office/drawing/2014/main" id="{A820ACF9-3BF2-4B2F-ECB8-6801FE4A5E5D}"/>
              </a:ext>
            </a:extLst>
          </p:cNvPr>
          <p:cNvSpPr txBox="1"/>
          <p:nvPr/>
        </p:nvSpPr>
        <p:spPr>
          <a:xfrm>
            <a:off x="665019" y="5885080"/>
            <a:ext cx="1757352"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panose="02110004020202020204"/>
                <a:ea typeface="+mn-ea"/>
                <a:cs typeface="+mn-cs"/>
              </a:rPr>
              <a:t>OUTPUT</a:t>
            </a:r>
            <a:endParaRPr kumimoji="0" lang="en-US" sz="1400" b="0" i="0" u="none" strike="noStrike" kern="1200" cap="none" spc="0" normalizeH="0" baseline="0" noProof="0">
              <a:ln>
                <a:noFill/>
              </a:ln>
              <a:solidFill>
                <a:srgbClr val="FFFFFF"/>
              </a:solidFill>
              <a:effectLst/>
              <a:uLnTx/>
              <a:uFillTx/>
              <a:latin typeface="Arial" panose="02110004020202020204"/>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Arial" panose="02110004020202020204"/>
                <a:ea typeface="+mn-ea"/>
                <a:cs typeface="+mn-cs"/>
              </a:rPr>
              <a:t>An original output based on what it’s learned</a:t>
            </a:r>
          </a:p>
        </p:txBody>
      </p:sp>
      <p:pic>
        <p:nvPicPr>
          <p:cNvPr id="18" name="Picture 2">
            <a:extLst>
              <a:ext uri="{FF2B5EF4-FFF2-40B4-BE49-F238E27FC236}">
                <a16:creationId xmlns:a16="http://schemas.microsoft.com/office/drawing/2014/main" id="{03485B61-32FB-7575-37F2-B73B65966FB0}"/>
              </a:ext>
            </a:extLst>
          </p:cNvPr>
          <p:cNvPicPr>
            <a:picLocks noChangeAspect="1" noChangeArrowheads="1"/>
          </p:cNvPicPr>
          <p:nvPr/>
        </p:nvPicPr>
        <p:blipFill>
          <a:blip r:embed="rId5"/>
          <a:srcRect/>
          <a:stretch/>
        </p:blipFill>
        <p:spPr bwMode="auto">
          <a:xfrm>
            <a:off x="2506022" y="6006512"/>
            <a:ext cx="7517529" cy="68046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6398869E-92FE-9A3D-17C6-DBFBA4B65189}"/>
              </a:ext>
            </a:extLst>
          </p:cNvPr>
          <p:cNvPicPr>
            <a:picLocks noChangeAspect="1"/>
          </p:cNvPicPr>
          <p:nvPr/>
        </p:nvPicPr>
        <p:blipFill>
          <a:blip r:embed="rId6"/>
          <a:stretch>
            <a:fillRect/>
          </a:stretch>
        </p:blipFill>
        <p:spPr>
          <a:xfrm>
            <a:off x="2506022" y="2609764"/>
            <a:ext cx="5031319" cy="202061"/>
          </a:xfrm>
          <a:prstGeom prst="rect">
            <a:avLst/>
          </a:prstGeom>
        </p:spPr>
      </p:pic>
      <p:pic>
        <p:nvPicPr>
          <p:cNvPr id="20" name="data center LLM 1">
            <a:hlinkClick r:id="" action="ppaction://media"/>
            <a:extLst>
              <a:ext uri="{FF2B5EF4-FFF2-40B4-BE49-F238E27FC236}">
                <a16:creationId xmlns:a16="http://schemas.microsoft.com/office/drawing/2014/main" id="{3658DAC2-2358-88FE-6F0C-AD7DBE226F5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924127" y="3338105"/>
            <a:ext cx="8362089" cy="1817549"/>
          </a:xfrm>
          <a:prstGeom prst="rect">
            <a:avLst/>
          </a:prstGeom>
        </p:spPr>
      </p:pic>
      <p:cxnSp>
        <p:nvCxnSpPr>
          <p:cNvPr id="23" name="Straight Connector 22">
            <a:extLst>
              <a:ext uri="{FF2B5EF4-FFF2-40B4-BE49-F238E27FC236}">
                <a16:creationId xmlns:a16="http://schemas.microsoft.com/office/drawing/2014/main" id="{7E94B25F-8F8B-9A1B-BE1C-28B93DB665C9}"/>
              </a:ext>
            </a:extLst>
          </p:cNvPr>
          <p:cNvCxnSpPr/>
          <p:nvPr/>
        </p:nvCxnSpPr>
        <p:spPr>
          <a:xfrm>
            <a:off x="2506022" y="3012622"/>
            <a:ext cx="45182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7281F4-FDEA-0BEE-A1C6-EF4FB1C08172}"/>
              </a:ext>
            </a:extLst>
          </p:cNvPr>
          <p:cNvCxnSpPr/>
          <p:nvPr/>
        </p:nvCxnSpPr>
        <p:spPr>
          <a:xfrm>
            <a:off x="2506022" y="5612207"/>
            <a:ext cx="45182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744DEEA2-56F9-E4E3-3A92-FF9FF109CD6F}"/>
              </a:ext>
            </a:extLst>
          </p:cNvPr>
          <p:cNvSpPr>
            <a:spLocks noGrp="1"/>
          </p:cNvSpPr>
          <p:nvPr>
            <p:ph type="title"/>
          </p:nvPr>
        </p:nvSpPr>
        <p:spPr>
          <a:xfrm>
            <a:off x="381000" y="342901"/>
            <a:ext cx="11430000" cy="1329595"/>
          </a:xfrm>
        </p:spPr>
        <p:txBody>
          <a:bodyPr/>
          <a:lstStyle/>
          <a:p>
            <a:r>
              <a:rPr lang="en-US" dirty="0"/>
              <a:t>In the background, models are made of weights making probabilistic predictions of the next token.</a:t>
            </a:r>
            <a:br>
              <a:rPr lang="en-US" dirty="0"/>
            </a:br>
            <a:endParaRPr lang="en-US" dirty="0"/>
          </a:p>
        </p:txBody>
      </p:sp>
      <p:pic>
        <p:nvPicPr>
          <p:cNvPr id="7" name="Picture 6">
            <a:extLst>
              <a:ext uri="{FF2B5EF4-FFF2-40B4-BE49-F238E27FC236}">
                <a16:creationId xmlns:a16="http://schemas.microsoft.com/office/drawing/2014/main" id="{6C12478D-0870-2F68-4257-1AB742534A8F}"/>
              </a:ext>
            </a:extLst>
          </p:cNvPr>
          <p:cNvPicPr>
            <a:picLocks noChangeAspect="1"/>
          </p:cNvPicPr>
          <p:nvPr/>
        </p:nvPicPr>
        <p:blipFill>
          <a:blip r:embed="rId8"/>
          <a:stretch>
            <a:fillRect/>
          </a:stretch>
        </p:blipFill>
        <p:spPr>
          <a:xfrm>
            <a:off x="2422371" y="1991761"/>
            <a:ext cx="7772400" cy="430446"/>
          </a:xfrm>
          <a:prstGeom prst="rect">
            <a:avLst/>
          </a:prstGeom>
        </p:spPr>
      </p:pic>
    </p:spTree>
    <p:extLst>
      <p:ext uri="{BB962C8B-B14F-4D97-AF65-F5344CB8AC3E}">
        <p14:creationId xmlns:p14="http://schemas.microsoft.com/office/powerpoint/2010/main" val="413759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667"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0"/>
                                        </p:tgtEl>
                                      </p:cBhvr>
                                    </p:cmd>
                                  </p:childTnLst>
                                </p:cTn>
                              </p:par>
                            </p:childTnLst>
                          </p:cTn>
                        </p:par>
                      </p:childTnLst>
                    </p:cTn>
                  </p:par>
                </p:childTnLst>
              </p:cTn>
              <p:nextCondLst>
                <p:cond evt="onClick" delay="0">
                  <p:tgtEl>
                    <p:spTgt spid="20"/>
                  </p:tgtEl>
                </p:cond>
              </p:nextCondLst>
            </p:seq>
            <p:video>
              <p:cMediaNode vol="80000">
                <p:cTn id="12" fill="hold" display="0">
                  <p:stCondLst>
                    <p:cond delay="indefinite"/>
                  </p:stCondLst>
                </p:cTn>
                <p:tgtEl>
                  <p:spTgt spid="20"/>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5355F1C1-504F-E10E-3C60-6C5D015059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839E9FC-1295-5B95-501B-6C0A5D46C3D4}"/>
              </a:ext>
            </a:extLst>
          </p:cNvPr>
          <p:cNvPicPr>
            <a:picLocks noChangeAspect="1"/>
          </p:cNvPicPr>
          <p:nvPr/>
        </p:nvPicPr>
        <p:blipFill>
          <a:blip r:embed="rId3"/>
          <a:srcRect/>
          <a:stretch/>
        </p:blipFill>
        <p:spPr>
          <a:xfrm>
            <a:off x="546109" y="1785424"/>
            <a:ext cx="4721905" cy="4407933"/>
          </a:xfrm>
          <a:prstGeom prst="rect">
            <a:avLst/>
          </a:prstGeom>
        </p:spPr>
      </p:pic>
      <p:sp>
        <p:nvSpPr>
          <p:cNvPr id="3" name="TextBox 2">
            <a:extLst>
              <a:ext uri="{FF2B5EF4-FFF2-40B4-BE49-F238E27FC236}">
                <a16:creationId xmlns:a16="http://schemas.microsoft.com/office/drawing/2014/main" id="{7F491AE1-EFB9-0456-5825-239B2D14A937}"/>
              </a:ext>
            </a:extLst>
          </p:cNvPr>
          <p:cNvSpPr txBox="1"/>
          <p:nvPr/>
        </p:nvSpPr>
        <p:spPr>
          <a:xfrm>
            <a:off x="491226" y="1477647"/>
            <a:ext cx="38812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rPr>
              <a:t>Prompt: A Data Center is</a:t>
            </a:r>
            <a:endParaRPr kumimoji="0" lang="en-AU"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endParaRPr>
          </a:p>
        </p:txBody>
      </p:sp>
      <p:sp>
        <p:nvSpPr>
          <p:cNvPr id="4" name="TextBox 3">
            <a:extLst>
              <a:ext uri="{FF2B5EF4-FFF2-40B4-BE49-F238E27FC236}">
                <a16:creationId xmlns:a16="http://schemas.microsoft.com/office/drawing/2014/main" id="{6FD918B3-3A88-D1F4-CAB1-B49CBA8E643C}"/>
              </a:ext>
            </a:extLst>
          </p:cNvPr>
          <p:cNvSpPr txBox="1"/>
          <p:nvPr/>
        </p:nvSpPr>
        <p:spPr>
          <a:xfrm>
            <a:off x="6339943" y="1477647"/>
            <a:ext cx="38812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rPr>
              <a:t>Prompt: A Data Center is</a:t>
            </a:r>
            <a:endParaRPr kumimoji="0" lang="en-AU" sz="1400" b="0" i="0" u="none" strike="noStrike" kern="1200" cap="none" spc="0" normalizeH="0" baseline="0" noProof="0">
              <a:ln>
                <a:noFill/>
              </a:ln>
              <a:solidFill>
                <a:srgbClr val="96968C"/>
              </a:solidFill>
              <a:effectLst/>
              <a:uLnTx/>
              <a:uFillTx/>
              <a:latin typeface="Arial Black" panose="00000700000000000000" pitchFamily="2" charset="0"/>
              <a:ea typeface="+mn-ea"/>
              <a:cs typeface="+mn-cs"/>
            </a:endParaRPr>
          </a:p>
        </p:txBody>
      </p:sp>
      <p:pic>
        <p:nvPicPr>
          <p:cNvPr id="5" name="Picture 4">
            <a:extLst>
              <a:ext uri="{FF2B5EF4-FFF2-40B4-BE49-F238E27FC236}">
                <a16:creationId xmlns:a16="http://schemas.microsoft.com/office/drawing/2014/main" id="{D8FFD327-599B-B351-7868-56996A50E7F9}"/>
              </a:ext>
            </a:extLst>
          </p:cNvPr>
          <p:cNvPicPr>
            <a:picLocks noChangeAspect="1"/>
          </p:cNvPicPr>
          <p:nvPr/>
        </p:nvPicPr>
        <p:blipFill>
          <a:blip r:embed="rId4"/>
          <a:srcRect t="82" b="82"/>
          <a:stretch/>
        </p:blipFill>
        <p:spPr>
          <a:xfrm>
            <a:off x="6512064" y="1785424"/>
            <a:ext cx="4729677" cy="4407933"/>
          </a:xfrm>
          <a:prstGeom prst="rect">
            <a:avLst/>
          </a:prstGeom>
        </p:spPr>
      </p:pic>
      <p:sp>
        <p:nvSpPr>
          <p:cNvPr id="6" name="Shape 9">
            <a:extLst>
              <a:ext uri="{FF2B5EF4-FFF2-40B4-BE49-F238E27FC236}">
                <a16:creationId xmlns:a16="http://schemas.microsoft.com/office/drawing/2014/main" id="{D06C5AF8-9E22-E889-EA90-9D08204F519D}"/>
              </a:ext>
            </a:extLst>
          </p:cNvPr>
          <p:cNvSpPr/>
          <p:nvPr/>
        </p:nvSpPr>
        <p:spPr>
          <a:xfrm>
            <a:off x="6433080" y="1785424"/>
            <a:ext cx="75306" cy="4407933"/>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9">
            <a:extLst>
              <a:ext uri="{FF2B5EF4-FFF2-40B4-BE49-F238E27FC236}">
                <a16:creationId xmlns:a16="http://schemas.microsoft.com/office/drawing/2014/main" id="{FB29CC92-BD29-9C0A-2FE2-158683A4ED7F}"/>
              </a:ext>
            </a:extLst>
          </p:cNvPr>
          <p:cNvSpPr/>
          <p:nvPr/>
        </p:nvSpPr>
        <p:spPr>
          <a:xfrm>
            <a:off x="491226" y="1785424"/>
            <a:ext cx="57409" cy="4407933"/>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itle 9">
            <a:extLst>
              <a:ext uri="{FF2B5EF4-FFF2-40B4-BE49-F238E27FC236}">
                <a16:creationId xmlns:a16="http://schemas.microsoft.com/office/drawing/2014/main" id="{10463F3E-313D-5F25-019B-2E74163D3254}"/>
              </a:ext>
            </a:extLst>
          </p:cNvPr>
          <p:cNvSpPr>
            <a:spLocks noGrp="1"/>
          </p:cNvSpPr>
          <p:nvPr>
            <p:ph type="title"/>
          </p:nvPr>
        </p:nvSpPr>
        <p:spPr>
          <a:xfrm>
            <a:off x="381000" y="342900"/>
            <a:ext cx="11430000" cy="886397"/>
          </a:xfrm>
        </p:spPr>
        <p:txBody>
          <a:bodyPr/>
          <a:lstStyle/>
          <a:p>
            <a:r>
              <a:rPr lang="en-US" dirty="0"/>
              <a:t>We see variability since AI output is probabilistic token by token.</a:t>
            </a:r>
            <a:br>
              <a:rPr lang="en-US" dirty="0"/>
            </a:br>
            <a:endParaRPr lang="en-US" dirty="0"/>
          </a:p>
        </p:txBody>
      </p:sp>
    </p:spTree>
    <p:extLst>
      <p:ext uri="{BB962C8B-B14F-4D97-AF65-F5344CB8AC3E}">
        <p14:creationId xmlns:p14="http://schemas.microsoft.com/office/powerpoint/2010/main" val="1833988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a:off x="609600" y="1702525"/>
            <a:ext cx="53644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600" y="1702525"/>
            <a:ext cx="97536" cy="402336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914400" y="1885405"/>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FRONTIER  •  CLOSED</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1036320" y="2555965"/>
            <a:ext cx="4815840" cy="3048000"/>
          </a:xfrm>
          <a:prstGeom prst="rect">
            <a:avLst/>
          </a:prstGeom>
          <a:noFill/>
          <a:ln/>
        </p:spPr>
        <p:txBody>
          <a:bodyPr wrap="square" lIns="0" tIns="0" rIns="0" bIns="0" rtlCol="0" anchor="t"/>
          <a:lstStyle/>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Hosted-only, top-tier capability, premium price.</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Claude Opus 4.8+ / Sonnet 4.5 (Anthropic).</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GPT-5.6 (OpenAI).</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Gemini 3+ (Google).</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Grok 4.1 (</a:t>
            </a:r>
            <a:r>
              <a:rPr kumimoji="0" lang="en-US" sz="1467" b="0" i="0" u="none" strike="noStrike" kern="1200" cap="none" spc="0" normalizeH="0" baseline="0" noProof="0" dirty="0" err="1">
                <a:ln>
                  <a:noFill/>
                </a:ln>
                <a:solidFill>
                  <a:srgbClr val="000000"/>
                </a:solidFill>
                <a:effectLst/>
                <a:uLnTx/>
                <a:uFillTx/>
                <a:latin typeface="Arial" pitchFamily="34" charset="0"/>
                <a:ea typeface="Arial" pitchFamily="34" charset="-122"/>
                <a:cs typeface="Arial" pitchFamily="34" charset="-120"/>
              </a:rPr>
              <a:t>xAI</a:t>
            </a:r>
            <a:r>
              <a:rPr kumimoji="0" lang="en-US" sz="1467"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a:t>
            </a:r>
            <a:endParaRPr kumimoji="0" lang="en-US" sz="14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217920" y="1702525"/>
            <a:ext cx="53644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6217920" y="1702525"/>
            <a:ext cx="97536" cy="4023360"/>
          </a:xfrm>
          <a:prstGeom prst="rect">
            <a:avLst/>
          </a:prstGeom>
          <a:solidFill>
            <a:schemeClr val="accent6"/>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6522720" y="1885405"/>
            <a:ext cx="4876800" cy="6096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FRONTIER  •  OPEN WEIGHT</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644640" y="2555965"/>
            <a:ext cx="4815840" cy="3048000"/>
          </a:xfrm>
          <a:prstGeom prst="rect">
            <a:avLst/>
          </a:prstGeom>
          <a:noFill/>
          <a:ln/>
        </p:spPr>
        <p:txBody>
          <a:bodyPr wrap="square" lIns="0" tIns="0" rIns="0" bIns="0" rtlCol="0" anchor="t"/>
          <a:lstStyle/>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Deployable on-prem, capability rising, cost dropping.</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Llama 4 Maverick (Meta).</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DeepSeek V3.2 / R1 — 90% price drop in one move.</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Mistral Large 3, Qwen 3.</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a:p>
            <a:pPr marL="457189" marR="0" lvl="0" indent="-457189" algn="l" defTabSz="1219170" rtl="0" eaLnBrk="1" fontAlgn="auto" latinLnBrk="0" hangingPunct="1">
              <a:lnSpc>
                <a:spcPct val="100000"/>
              </a:lnSpc>
              <a:spcBef>
                <a:spcPts val="0"/>
              </a:spcBef>
              <a:spcAft>
                <a:spcPts val="533"/>
              </a:spcAft>
              <a:buClrTx/>
              <a:buSzPct val="100000"/>
              <a:buFontTx/>
              <a:buChar char="•"/>
              <a:tabLst/>
              <a:defRPr/>
            </a:pPr>
            <a:r>
              <a:rPr kumimoji="0" lang="en-US" sz="1467" b="0" i="0" u="none" strike="noStrike" kern="1200" cap="none" spc="0" normalizeH="0" baseline="0" noProof="0">
                <a:ln>
                  <a:noFill/>
                </a:ln>
                <a:solidFill>
                  <a:srgbClr val="000000"/>
                </a:solidFill>
                <a:effectLst/>
                <a:uLnTx/>
                <a:uFillTx/>
                <a:latin typeface="Arial" pitchFamily="34" charset="0"/>
                <a:ea typeface="Arial" pitchFamily="34" charset="-122"/>
                <a:cs typeface="Arial" pitchFamily="34" charset="-120"/>
              </a:rPr>
              <a:t>GPT-OSS-120B/20B (Apache 2.0) — OpenAI's first open-weight since GPT-2.</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F7121DDA-AEC5-3199-C4E2-E38360C20506}"/>
              </a:ext>
            </a:extLst>
          </p:cNvPr>
          <p:cNvSpPr>
            <a:spLocks noGrp="1"/>
          </p:cNvSpPr>
          <p:nvPr>
            <p:ph type="title"/>
          </p:nvPr>
        </p:nvSpPr>
        <p:spPr>
          <a:xfrm>
            <a:off x="381000" y="342900"/>
            <a:ext cx="11430000" cy="886397"/>
          </a:xfrm>
        </p:spPr>
        <p:txBody>
          <a:bodyPr/>
          <a:lstStyle/>
          <a:p>
            <a:r>
              <a:rPr lang="en-US"/>
              <a:t>Frontier vs Open-Weight — the Gap is Closing Fast</a:t>
            </a:r>
            <a:br>
              <a:rPr lang="en-US"/>
            </a:br>
            <a:endParaRPr lang="en-US"/>
          </a:p>
        </p:txBody>
      </p:sp>
      <p:sp>
        <p:nvSpPr>
          <p:cNvPr id="4" name="Subtitle 3">
            <a:extLst>
              <a:ext uri="{FF2B5EF4-FFF2-40B4-BE49-F238E27FC236}">
                <a16:creationId xmlns:a16="http://schemas.microsoft.com/office/drawing/2014/main" id="{6260DFA7-83F1-15BA-B177-73C5A6682FE9}"/>
              </a:ext>
            </a:extLst>
          </p:cNvPr>
          <p:cNvSpPr>
            <a:spLocks noGrp="1"/>
          </p:cNvSpPr>
          <p:nvPr>
            <p:ph type="subTitle" idx="1"/>
          </p:nvPr>
        </p:nvSpPr>
        <p:spPr>
          <a:xfrm>
            <a:off x="381000" y="857250"/>
            <a:ext cx="11430000" cy="492443"/>
          </a:xfrm>
        </p:spPr>
        <p:txBody>
          <a:bodyPr/>
          <a:lstStyle/>
          <a:p>
            <a:r>
              <a:rPr lang="en-US" dirty="0"/>
              <a:t>The interesting business decision used to be "which model." It's becoming "where you run it."</a:t>
            </a:r>
          </a:p>
          <a:p>
            <a:endParaRPr lang="en-US" dirty="0"/>
          </a:p>
        </p:txBody>
      </p:sp>
      <p:pic>
        <p:nvPicPr>
          <p:cNvPr id="2" name="Picture 1" descr="Maxime Walzberg - Yollama">
            <a:extLst>
              <a:ext uri="{FF2B5EF4-FFF2-40B4-BE49-F238E27FC236}">
                <a16:creationId xmlns:a16="http://schemas.microsoft.com/office/drawing/2014/main" id="{F504230C-64BC-90F2-CBA9-2828CC94A8A1}"/>
              </a:ext>
            </a:extLst>
          </p:cNvPr>
          <p:cNvPicPr>
            <a:picLocks noChangeAspect="1"/>
          </p:cNvPicPr>
          <p:nvPr/>
        </p:nvPicPr>
        <p:blipFill>
          <a:blip r:embed="rId3"/>
          <a:stretch>
            <a:fillRect/>
          </a:stretch>
        </p:blipFill>
        <p:spPr>
          <a:xfrm>
            <a:off x="7592603" y="4477626"/>
            <a:ext cx="2996955" cy="22526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 name="Picture 37" descr="File:Google cloud.png - Wikimedia Commons">
            <a:extLst>
              <a:ext uri="{FF2B5EF4-FFF2-40B4-BE49-F238E27FC236}">
                <a16:creationId xmlns:a16="http://schemas.microsoft.com/office/drawing/2014/main" id="{7AB901C6-D552-DAF8-7FAB-1E95CC03CDA0}"/>
              </a:ext>
            </a:extLst>
          </p:cNvPr>
          <p:cNvPicPr>
            <a:picLocks noChangeAspect="1"/>
          </p:cNvPicPr>
          <p:nvPr/>
        </p:nvPicPr>
        <p:blipFill>
          <a:blip r:embed="rId3"/>
          <a:stretch>
            <a:fillRect/>
          </a:stretch>
        </p:blipFill>
        <p:spPr>
          <a:xfrm>
            <a:off x="4633095" y="6254535"/>
            <a:ext cx="603322" cy="603322"/>
          </a:xfrm>
          <a:prstGeom prst="rect">
            <a:avLst/>
          </a:prstGeom>
        </p:spPr>
      </p:pic>
      <p:sp>
        <p:nvSpPr>
          <p:cNvPr id="23" name="Shape 20"/>
          <p:cNvSpPr/>
          <p:nvPr/>
        </p:nvSpPr>
        <p:spPr>
          <a:xfrm>
            <a:off x="7952474" y="2194560"/>
            <a:ext cx="2011680" cy="316992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9567A1B2-611D-D1AB-DDC8-E0575F7E7085}"/>
              </a:ext>
            </a:extLst>
          </p:cNvPr>
          <p:cNvSpPr/>
          <p:nvPr/>
        </p:nvSpPr>
        <p:spPr>
          <a:xfrm>
            <a:off x="6018742"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6BF18FC4-F3B4-E95E-D8C9-5181A50C265E}"/>
              </a:ext>
            </a:extLst>
          </p:cNvPr>
          <p:cNvSpPr/>
          <p:nvPr/>
        </p:nvSpPr>
        <p:spPr>
          <a:xfrm>
            <a:off x="4127337"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30">
            <a:extLst>
              <a:ext uri="{FF2B5EF4-FFF2-40B4-BE49-F238E27FC236}">
                <a16:creationId xmlns:a16="http://schemas.microsoft.com/office/drawing/2014/main" id="{FE3C4080-230F-1DCB-ABFA-EA1F1ECF2555}"/>
              </a:ext>
            </a:extLst>
          </p:cNvPr>
          <p:cNvSpPr/>
          <p:nvPr/>
        </p:nvSpPr>
        <p:spPr>
          <a:xfrm>
            <a:off x="2230177"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2352097"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Late 90s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2352097"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The Internet</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2352097"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distribution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16" name="Text 13"/>
          <p:cNvSpPr/>
          <p:nvPr/>
        </p:nvSpPr>
        <p:spPr>
          <a:xfrm>
            <a:off x="4249257"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Early 2000s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249257"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Cloud Compute</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249257"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data capture &amp; compute scale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20" name="Text 17"/>
          <p:cNvSpPr/>
          <p:nvPr/>
        </p:nvSpPr>
        <p:spPr>
          <a:xfrm>
            <a:off x="6177238"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2010s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6177238"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Enterprise OSS</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6177238"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app development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24" name="Text 21"/>
          <p:cNvSpPr/>
          <p:nvPr/>
        </p:nvSpPr>
        <p:spPr>
          <a:xfrm>
            <a:off x="8074394"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DCAFFF"/>
                </a:solidFill>
                <a:effectLst/>
                <a:uLnTx/>
                <a:uFillTx/>
                <a:latin typeface="Palatino Linotype" pitchFamily="34" charset="0"/>
                <a:ea typeface="Palatino Linotype" pitchFamily="34" charset="-122"/>
                <a:cs typeface="Palatino Linotype" pitchFamily="34" charset="-120"/>
              </a:rPr>
              <a:t>Now</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p:nvPr/>
        </p:nvSpPr>
        <p:spPr>
          <a:xfrm>
            <a:off x="8074394"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Generative &amp; Agentic AI</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8074394" y="4023360"/>
            <a:ext cx="1692357"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Marginal cost of creation &amp; action → 0</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Freeform 29">
            <a:extLst>
              <a:ext uri="{FF2B5EF4-FFF2-40B4-BE49-F238E27FC236}">
                <a16:creationId xmlns:a16="http://schemas.microsoft.com/office/drawing/2014/main" id="{E273B403-35BA-8753-4BB3-F169F6875DF1}"/>
              </a:ext>
            </a:extLst>
          </p:cNvPr>
          <p:cNvSpPr/>
          <p:nvPr/>
        </p:nvSpPr>
        <p:spPr>
          <a:xfrm>
            <a:off x="353568" y="2194560"/>
            <a:ext cx="2011680" cy="3169920"/>
          </a:xfrm>
          <a:custGeom>
            <a:avLst/>
            <a:gdLst>
              <a:gd name="csX0" fmla="*/ 0 w 2444496"/>
              <a:gd name="csY0" fmla="*/ 0 h 3169920"/>
              <a:gd name="csX1" fmla="*/ 1898565 w 2444496"/>
              <a:gd name="csY1" fmla="*/ 0 h 3169920"/>
              <a:gd name="csX2" fmla="*/ 2170176 w 2444496"/>
              <a:gd name="csY2" fmla="*/ 0 h 3169920"/>
              <a:gd name="csX3" fmla="*/ 2171531 w 2444496"/>
              <a:gd name="csY3" fmla="*/ 0 h 3169920"/>
              <a:gd name="csX4" fmla="*/ 2444496 w 2444496"/>
              <a:gd name="csY4" fmla="*/ 1584960 h 3169920"/>
              <a:gd name="csX5" fmla="*/ 2171531 w 2444496"/>
              <a:gd name="csY5" fmla="*/ 3169920 h 3169920"/>
              <a:gd name="csX6" fmla="*/ 2170176 w 2444496"/>
              <a:gd name="csY6" fmla="*/ 3169920 h 3169920"/>
              <a:gd name="csX7" fmla="*/ 1898565 w 2444496"/>
              <a:gd name="csY7" fmla="*/ 3169920 h 3169920"/>
              <a:gd name="csX8" fmla="*/ 0 w 2444496"/>
              <a:gd name="csY8" fmla="*/ 3169920 h 3169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44496" h="3169920">
                <a:moveTo>
                  <a:pt x="0" y="0"/>
                </a:moveTo>
                <a:lnTo>
                  <a:pt x="1898565" y="0"/>
                </a:lnTo>
                <a:lnTo>
                  <a:pt x="2170176" y="0"/>
                </a:lnTo>
                <a:lnTo>
                  <a:pt x="2171531" y="0"/>
                </a:lnTo>
                <a:lnTo>
                  <a:pt x="2444496" y="1584960"/>
                </a:lnTo>
                <a:lnTo>
                  <a:pt x="2171531" y="3169920"/>
                </a:lnTo>
                <a:lnTo>
                  <a:pt x="2170176" y="3169920"/>
                </a:lnTo>
                <a:lnTo>
                  <a:pt x="1898565" y="3169920"/>
                </a:lnTo>
                <a:lnTo>
                  <a:pt x="0" y="3169920"/>
                </a:lnTo>
                <a:close/>
              </a:path>
            </a:pathLst>
          </a:custGeom>
          <a:solidFill>
            <a:srgbClr val="E6E6DC"/>
          </a:solidFill>
          <a:ln>
            <a:solidFill>
              <a:schemeClr val="bg1"/>
            </a:solidFill>
          </a:ln>
        </p:spPr>
        <p:txBody>
          <a:bodyPr wrap="square">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475488" y="2377440"/>
            <a:ext cx="1926336"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67" b="0" i="1" u="none" strike="noStrike" kern="1200" cap="none" spc="0" normalizeH="0" baseline="0" noProof="0">
                <a:ln>
                  <a:noFill/>
                </a:ln>
                <a:solidFill>
                  <a:srgbClr val="96968C"/>
                </a:solidFill>
                <a:effectLst/>
                <a:uLnTx/>
                <a:uFillTx/>
                <a:latin typeface="Palatino Linotype" pitchFamily="34" charset="0"/>
                <a:ea typeface="Palatino Linotype" pitchFamily="34" charset="-122"/>
                <a:cs typeface="Palatino Linotype" pitchFamily="34" charset="-120"/>
              </a:rPr>
              <a:t>1980s</a:t>
            </a:r>
            <a:endParaRPr kumimoji="0" lang="en-US" sz="14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475488" y="2865120"/>
            <a:ext cx="1926336" cy="10363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Black" pitchFamily="34" charset="0"/>
                <a:ea typeface="Arial Black" pitchFamily="34" charset="-122"/>
                <a:cs typeface="Arial Black" pitchFamily="34" charset="-120"/>
              </a:rPr>
              <a:t>Personal Computer</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4023360"/>
            <a:ext cx="1926336" cy="121920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672CB"/>
                </a:solidFill>
                <a:effectLst/>
                <a:uLnTx/>
                <a:uFillTx/>
                <a:latin typeface="Arial" pitchFamily="34" charset="0"/>
                <a:ea typeface="Arial" pitchFamily="34" charset="-122"/>
                <a:cs typeface="Arial" pitchFamily="34" charset="-120"/>
              </a:rPr>
              <a:t>Marginal cost of computation → 0</a:t>
            </a:r>
            <a:endParaRPr kumimoji="0" lang="en-US" sz="1333" b="0" i="0" u="none" strike="noStrike" kern="1200" cap="none" spc="0" normalizeH="0" baseline="0" noProof="0">
              <a:ln>
                <a:noFill/>
              </a:ln>
              <a:solidFill>
                <a:srgbClr val="0672CB"/>
              </a:solidFill>
              <a:effectLst/>
              <a:uLnTx/>
              <a:uFillTx/>
              <a:latin typeface="Calibri" panose="020F0502020204030204"/>
              <a:ea typeface="+mn-ea"/>
              <a:cs typeface="+mn-cs"/>
            </a:endParaRPr>
          </a:p>
        </p:txBody>
      </p:sp>
      <p:sp>
        <p:nvSpPr>
          <p:cNvPr id="11" name="Title 10">
            <a:extLst>
              <a:ext uri="{FF2B5EF4-FFF2-40B4-BE49-F238E27FC236}">
                <a16:creationId xmlns:a16="http://schemas.microsoft.com/office/drawing/2014/main" id="{9AF807E7-7E1D-7198-0C14-7392A03B4AED}"/>
              </a:ext>
            </a:extLst>
          </p:cNvPr>
          <p:cNvSpPr>
            <a:spLocks noGrp="1"/>
          </p:cNvSpPr>
          <p:nvPr>
            <p:ph type="title"/>
          </p:nvPr>
        </p:nvSpPr>
        <p:spPr>
          <a:xfrm>
            <a:off x="381000" y="342900"/>
            <a:ext cx="11430000" cy="443198"/>
          </a:xfrm>
        </p:spPr>
        <p:txBody>
          <a:bodyPr/>
          <a:lstStyle/>
          <a:p>
            <a:r>
              <a:rPr lang="en-US" dirty="0"/>
              <a:t>Is Generative AI a new frontier for the business world?</a:t>
            </a:r>
          </a:p>
        </p:txBody>
      </p:sp>
      <p:sp>
        <p:nvSpPr>
          <p:cNvPr id="15" name="Subtitle 14">
            <a:extLst>
              <a:ext uri="{FF2B5EF4-FFF2-40B4-BE49-F238E27FC236}">
                <a16:creationId xmlns:a16="http://schemas.microsoft.com/office/drawing/2014/main" id="{63500E59-22E4-F6C0-6EC5-052B7967E677}"/>
              </a:ext>
            </a:extLst>
          </p:cNvPr>
          <p:cNvSpPr>
            <a:spLocks noGrp="1"/>
          </p:cNvSpPr>
          <p:nvPr>
            <p:ph type="subTitle" idx="1"/>
          </p:nvPr>
        </p:nvSpPr>
        <p:spPr>
          <a:xfrm>
            <a:off x="381000" y="857250"/>
            <a:ext cx="11430000" cy="738664"/>
          </a:xfrm>
        </p:spPr>
        <p:txBody>
          <a:bodyPr/>
          <a:lstStyle/>
          <a:p>
            <a:r>
              <a:rPr lang="en-US" dirty="0"/>
              <a:t>Each computing wave drove a marginal cost to zero. Generative AI may continue the pattern.  The largest and most successful companies in history stemmed from these shifts.</a:t>
            </a:r>
          </a:p>
          <a:p>
            <a:endParaRPr lang="en-US" dirty="0"/>
          </a:p>
        </p:txBody>
      </p:sp>
      <p:pic>
        <p:nvPicPr>
          <p:cNvPr id="7" name="Picture 6" descr="r/singularity - MY MODEL CANNOT GENERALIZE OUT OF DISTRIBUTION THEN WE'LL TRAIN IT UNTIL THERE IS NOTHING LEFT OUT OF DISTRIBUTION">
            <a:extLst>
              <a:ext uri="{FF2B5EF4-FFF2-40B4-BE49-F238E27FC236}">
                <a16:creationId xmlns:a16="http://schemas.microsoft.com/office/drawing/2014/main" id="{CC984C92-C139-068E-04F0-23107FC1E131}"/>
              </a:ext>
            </a:extLst>
          </p:cNvPr>
          <p:cNvPicPr>
            <a:picLocks noChangeAspect="1"/>
          </p:cNvPicPr>
          <p:nvPr/>
        </p:nvPicPr>
        <p:blipFill>
          <a:blip r:embed="rId4"/>
          <a:stretch>
            <a:fillRect/>
          </a:stretch>
        </p:blipFill>
        <p:spPr>
          <a:xfrm>
            <a:off x="9839903" y="2194560"/>
            <a:ext cx="2305397" cy="3169920"/>
          </a:xfrm>
          <a:prstGeom prst="rect">
            <a:avLst/>
          </a:prstGeom>
        </p:spPr>
      </p:pic>
      <p:pic>
        <p:nvPicPr>
          <p:cNvPr id="27" name="Picture 26" descr="File:Dell Logo.png - Wikimedia Commons">
            <a:extLst>
              <a:ext uri="{FF2B5EF4-FFF2-40B4-BE49-F238E27FC236}">
                <a16:creationId xmlns:a16="http://schemas.microsoft.com/office/drawing/2014/main" id="{109AD9FF-A2AC-3FE3-8AB8-B5E6B98CC6F5}"/>
              </a:ext>
            </a:extLst>
          </p:cNvPr>
          <p:cNvPicPr>
            <a:picLocks noChangeAspect="1"/>
          </p:cNvPicPr>
          <p:nvPr/>
        </p:nvPicPr>
        <p:blipFill>
          <a:blip r:embed="rId5"/>
          <a:stretch>
            <a:fillRect/>
          </a:stretch>
        </p:blipFill>
        <p:spPr>
          <a:xfrm>
            <a:off x="669334" y="5561866"/>
            <a:ext cx="815640" cy="247163"/>
          </a:xfrm>
          <a:prstGeom prst="rect">
            <a:avLst/>
          </a:prstGeom>
        </p:spPr>
      </p:pic>
      <p:pic>
        <p:nvPicPr>
          <p:cNvPr id="28" name="Picture 27" descr="File:IBM logo.svg - Wikimedia Commons">
            <a:extLst>
              <a:ext uri="{FF2B5EF4-FFF2-40B4-BE49-F238E27FC236}">
                <a16:creationId xmlns:a16="http://schemas.microsoft.com/office/drawing/2014/main" id="{3AD54DD7-48BE-90B1-8EF4-F798A6328DAA}"/>
              </a:ext>
            </a:extLst>
          </p:cNvPr>
          <p:cNvPicPr>
            <a:picLocks noChangeAspect="1"/>
          </p:cNvPicPr>
          <p:nvPr/>
        </p:nvPicPr>
        <p:blipFill>
          <a:blip r:embed="rId6"/>
          <a:stretch>
            <a:fillRect/>
          </a:stretch>
        </p:blipFill>
        <p:spPr>
          <a:xfrm>
            <a:off x="627565" y="6388303"/>
            <a:ext cx="899179" cy="335787"/>
          </a:xfrm>
          <a:prstGeom prst="rect">
            <a:avLst/>
          </a:prstGeom>
        </p:spPr>
      </p:pic>
      <p:pic>
        <p:nvPicPr>
          <p:cNvPr id="29" name="Picture 28" descr="File:Amazon logo.svg - Wikimedia Commons">
            <a:extLst>
              <a:ext uri="{FF2B5EF4-FFF2-40B4-BE49-F238E27FC236}">
                <a16:creationId xmlns:a16="http://schemas.microsoft.com/office/drawing/2014/main" id="{45D4DC43-183D-6D6C-BF7F-C5293E0CC4AC}"/>
              </a:ext>
            </a:extLst>
          </p:cNvPr>
          <p:cNvPicPr>
            <a:picLocks noChangeAspect="1"/>
          </p:cNvPicPr>
          <p:nvPr/>
        </p:nvPicPr>
        <p:blipFill>
          <a:blip r:embed="rId7"/>
          <a:stretch>
            <a:fillRect/>
          </a:stretch>
        </p:blipFill>
        <p:spPr>
          <a:xfrm>
            <a:off x="2443726" y="5523572"/>
            <a:ext cx="1071728" cy="323751"/>
          </a:xfrm>
          <a:prstGeom prst="rect">
            <a:avLst/>
          </a:prstGeom>
        </p:spPr>
      </p:pic>
      <p:pic>
        <p:nvPicPr>
          <p:cNvPr id="34" name="Picture 33" descr="File:Google 2015 logo.svg - Wikimedia Commons">
            <a:extLst>
              <a:ext uri="{FF2B5EF4-FFF2-40B4-BE49-F238E27FC236}">
                <a16:creationId xmlns:a16="http://schemas.microsoft.com/office/drawing/2014/main" id="{7558129B-9E9B-2603-9521-A0D5FA62122D}"/>
              </a:ext>
            </a:extLst>
          </p:cNvPr>
          <p:cNvPicPr>
            <a:picLocks noChangeAspect="1"/>
          </p:cNvPicPr>
          <p:nvPr/>
        </p:nvPicPr>
        <p:blipFill>
          <a:blip r:embed="rId8"/>
          <a:stretch>
            <a:fillRect/>
          </a:stretch>
        </p:blipFill>
        <p:spPr>
          <a:xfrm>
            <a:off x="2352097" y="5912145"/>
            <a:ext cx="1254987" cy="424212"/>
          </a:xfrm>
          <a:prstGeom prst="rect">
            <a:avLst/>
          </a:prstGeom>
        </p:spPr>
      </p:pic>
      <p:pic>
        <p:nvPicPr>
          <p:cNvPr id="35" name="Picture 34" descr="File:Microsoft Azure Logo.svg - Wikimedia Commons">
            <a:extLst>
              <a:ext uri="{FF2B5EF4-FFF2-40B4-BE49-F238E27FC236}">
                <a16:creationId xmlns:a16="http://schemas.microsoft.com/office/drawing/2014/main" id="{CDFAD64B-BB45-928C-969E-E17691041190}"/>
              </a:ext>
            </a:extLst>
          </p:cNvPr>
          <p:cNvPicPr>
            <a:picLocks noChangeAspect="1"/>
          </p:cNvPicPr>
          <p:nvPr/>
        </p:nvPicPr>
        <p:blipFill>
          <a:blip r:embed="rId9"/>
          <a:stretch>
            <a:fillRect/>
          </a:stretch>
        </p:blipFill>
        <p:spPr>
          <a:xfrm>
            <a:off x="4358376" y="5519438"/>
            <a:ext cx="1152760" cy="332019"/>
          </a:xfrm>
          <a:prstGeom prst="rect">
            <a:avLst/>
          </a:prstGeom>
        </p:spPr>
      </p:pic>
      <p:pic>
        <p:nvPicPr>
          <p:cNvPr id="36" name="Picture 35" descr="File:Amazon Web Services Logo.svg - Wikimedia Commons">
            <a:extLst>
              <a:ext uri="{FF2B5EF4-FFF2-40B4-BE49-F238E27FC236}">
                <a16:creationId xmlns:a16="http://schemas.microsoft.com/office/drawing/2014/main" id="{77CDA5DE-33B8-8F64-EA82-E16C19CD74F0}"/>
              </a:ext>
            </a:extLst>
          </p:cNvPr>
          <p:cNvPicPr>
            <a:picLocks noChangeAspect="1"/>
          </p:cNvPicPr>
          <p:nvPr/>
        </p:nvPicPr>
        <p:blipFill>
          <a:blip r:embed="rId10"/>
          <a:stretch>
            <a:fillRect/>
          </a:stretch>
        </p:blipFill>
        <p:spPr>
          <a:xfrm>
            <a:off x="4594120" y="5920402"/>
            <a:ext cx="681273" cy="407699"/>
          </a:xfrm>
          <a:prstGeom prst="rect">
            <a:avLst/>
          </a:prstGeom>
        </p:spPr>
      </p:pic>
      <p:pic>
        <p:nvPicPr>
          <p:cNvPr id="37" name="Picture 36" descr="File:MSFT logo png grey.png - Wikimedia Commons">
            <a:extLst>
              <a:ext uri="{FF2B5EF4-FFF2-40B4-BE49-F238E27FC236}">
                <a16:creationId xmlns:a16="http://schemas.microsoft.com/office/drawing/2014/main" id="{4D4956DF-0FD0-5E5B-1DFC-1CC42C7D9499}"/>
              </a:ext>
            </a:extLst>
          </p:cNvPr>
          <p:cNvPicPr>
            <a:picLocks noChangeAspect="1"/>
          </p:cNvPicPr>
          <p:nvPr/>
        </p:nvPicPr>
        <p:blipFill>
          <a:blip r:embed="rId11"/>
          <a:stretch>
            <a:fillRect/>
          </a:stretch>
        </p:blipFill>
        <p:spPr>
          <a:xfrm>
            <a:off x="263534" y="5825007"/>
            <a:ext cx="1627241" cy="598488"/>
          </a:xfrm>
          <a:prstGeom prst="rect">
            <a:avLst/>
          </a:prstGeom>
        </p:spPr>
      </p:pic>
      <p:pic>
        <p:nvPicPr>
          <p:cNvPr id="39" name="Graphic 38" descr="File:Octicons-mark-github.svg - Wikimedia Commons">
            <a:extLst>
              <a:ext uri="{FF2B5EF4-FFF2-40B4-BE49-F238E27FC236}">
                <a16:creationId xmlns:a16="http://schemas.microsoft.com/office/drawing/2014/main" id="{5E101302-3E0C-8BE0-1A5F-73A8842B49E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89195" y="5419056"/>
            <a:ext cx="532783" cy="532783"/>
          </a:xfrm>
          <a:prstGeom prst="rect">
            <a:avLst/>
          </a:prstGeom>
        </p:spPr>
      </p:pic>
      <p:pic>
        <p:nvPicPr>
          <p:cNvPr id="40" name="Picture 39" descr="File:Red Hat Logo 2019.svg - Wikimedia Commons">
            <a:extLst>
              <a:ext uri="{FF2B5EF4-FFF2-40B4-BE49-F238E27FC236}">
                <a16:creationId xmlns:a16="http://schemas.microsoft.com/office/drawing/2014/main" id="{36FC16B5-E5E7-DFDE-9283-35C883ED1CF9}"/>
              </a:ext>
            </a:extLst>
          </p:cNvPr>
          <p:cNvPicPr>
            <a:picLocks noChangeAspect="1"/>
          </p:cNvPicPr>
          <p:nvPr/>
        </p:nvPicPr>
        <p:blipFill>
          <a:blip r:embed="rId13"/>
          <a:stretch>
            <a:fillRect/>
          </a:stretch>
        </p:blipFill>
        <p:spPr>
          <a:xfrm>
            <a:off x="6370060" y="5985189"/>
            <a:ext cx="1171052" cy="2781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855AA985-E1CD-7ACA-0C3E-761D9006A3A1}"/>
            </a:ext>
          </a:extLst>
        </p:cNvPr>
        <p:cNvGrpSpPr/>
        <p:nvPr/>
      </p:nvGrpSpPr>
      <p:grpSpPr>
        <a:xfrm>
          <a:off x="0" y="0"/>
          <a:ext cx="0" cy="0"/>
          <a:chOff x="0" y="0"/>
          <a:chExt cx="0" cy="0"/>
        </a:xfrm>
      </p:grpSpPr>
      <p:sp>
        <p:nvSpPr>
          <p:cNvPr id="7" name="Shape 4">
            <a:extLst>
              <a:ext uri="{FF2B5EF4-FFF2-40B4-BE49-F238E27FC236}">
                <a16:creationId xmlns:a16="http://schemas.microsoft.com/office/drawing/2014/main" id="{4AAA4E64-A993-DA01-B6DA-7F2B1391FEF1}"/>
              </a:ext>
            </a:extLst>
          </p:cNvPr>
          <p:cNvSpPr/>
          <p:nvPr/>
        </p:nvSpPr>
        <p:spPr>
          <a:xfrm>
            <a:off x="403050" y="1868494"/>
            <a:ext cx="3879066" cy="4157331"/>
          </a:xfrm>
          <a:prstGeom prst="rect">
            <a:avLst/>
          </a:prstGeom>
          <a:solidFill>
            <a:schemeClr val="accent1">
              <a:lumMod val="25000"/>
              <a:lumOff val="7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9DC6280-E0B7-D9C8-F81B-2DD57C2AAFD9}"/>
              </a:ext>
            </a:extLst>
          </p:cNvPr>
          <p:cNvSpPr/>
          <p:nvPr/>
        </p:nvSpPr>
        <p:spPr>
          <a:xfrm>
            <a:off x="556813" y="2072640"/>
            <a:ext cx="2471678" cy="514933"/>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460073"/>
                </a:solidFill>
                <a:effectLst/>
                <a:uLnTx/>
                <a:uFillTx/>
                <a:latin typeface="Arial Black" pitchFamily="34" charset="0"/>
                <a:ea typeface="Arial Black" pitchFamily="34" charset="-122"/>
                <a:cs typeface="Arial Black" pitchFamily="34" charset="-120"/>
              </a:rPr>
              <a:t>March 30, 2023</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B222EAFC-F8DA-82FC-B401-77B98B1AE984}"/>
              </a:ext>
            </a:extLst>
          </p:cNvPr>
          <p:cNvSpPr/>
          <p:nvPr/>
        </p:nvSpPr>
        <p:spPr>
          <a:xfrm>
            <a:off x="556810" y="2393577"/>
            <a:ext cx="3725306" cy="193996"/>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60073"/>
                </a:solidFill>
                <a:effectLst/>
                <a:uLnTx/>
                <a:uFillTx/>
                <a:latin typeface="Arial" pitchFamily="34" charset="0"/>
                <a:ea typeface="Arial" pitchFamily="34" charset="-122"/>
                <a:cs typeface="Arial" pitchFamily="34" charset="-120"/>
              </a:rPr>
              <a:t>First viral AI text to video.  “Clearly fake.”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2">
            <a:extLst>
              <a:ext uri="{FF2B5EF4-FFF2-40B4-BE49-F238E27FC236}">
                <a16:creationId xmlns:a16="http://schemas.microsoft.com/office/drawing/2014/main" id="{0311B153-7482-F602-2D3E-362E34334AC8}"/>
              </a:ext>
            </a:extLst>
          </p:cNvPr>
          <p:cNvSpPr/>
          <p:nvPr/>
        </p:nvSpPr>
        <p:spPr>
          <a:xfrm>
            <a:off x="5174428" y="1868496"/>
            <a:ext cx="6614524" cy="4157330"/>
          </a:xfrm>
          <a:prstGeom prst="rect">
            <a:avLst/>
          </a:prstGeom>
          <a:solidFill>
            <a:schemeClr val="accent1">
              <a:lumMod val="75000"/>
              <a:lumOff val="25000"/>
            </a:schemeClr>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3">
            <a:extLst>
              <a:ext uri="{FF2B5EF4-FFF2-40B4-BE49-F238E27FC236}">
                <a16:creationId xmlns:a16="http://schemas.microsoft.com/office/drawing/2014/main" id="{E99BD5A2-22E6-43C5-78AD-70D9BC1C7886}"/>
              </a:ext>
            </a:extLst>
          </p:cNvPr>
          <p:cNvSpPr/>
          <p:nvPr/>
        </p:nvSpPr>
        <p:spPr>
          <a:xfrm>
            <a:off x="5390731" y="2072640"/>
            <a:ext cx="3576560" cy="514933"/>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FFFFFF"/>
                </a:solidFill>
                <a:effectLst/>
                <a:uLnTx/>
                <a:uFillTx/>
                <a:latin typeface="Arial Black" pitchFamily="34" charset="0"/>
                <a:ea typeface="Arial Black" pitchFamily="34" charset="-122"/>
                <a:cs typeface="Arial Black" pitchFamily="34" charset="-120"/>
              </a:rPr>
              <a:t>February 10, 2026</a:t>
            </a:r>
            <a:endParaRPr kumimoji="0" lang="en-US" sz="21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4">
            <a:extLst>
              <a:ext uri="{FF2B5EF4-FFF2-40B4-BE49-F238E27FC236}">
                <a16:creationId xmlns:a16="http://schemas.microsoft.com/office/drawing/2014/main" id="{708B349D-3735-E1C6-96DA-C93CD926E21F}"/>
              </a:ext>
            </a:extLst>
          </p:cNvPr>
          <p:cNvSpPr/>
          <p:nvPr/>
        </p:nvSpPr>
        <p:spPr>
          <a:xfrm>
            <a:off x="5390732" y="2393577"/>
            <a:ext cx="2752807" cy="1544798"/>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AI video is high definition &amp; broadcast quality.  “Is this real?”</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Will_Smith_Eating_Spaghetti_Original.mp4">
            <a:hlinkClick r:id="" action="ppaction://media"/>
            <a:extLst>
              <a:ext uri="{FF2B5EF4-FFF2-40B4-BE49-F238E27FC236}">
                <a16:creationId xmlns:a16="http://schemas.microsoft.com/office/drawing/2014/main" id="{1DCEBCD2-5DEB-D45E-71BC-17D5F0C2F560}"/>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043953" y="3027917"/>
            <a:ext cx="2751020" cy="2751019"/>
          </a:xfrm>
          <a:prstGeom prst="rect">
            <a:avLst/>
          </a:prstGeom>
        </p:spPr>
      </p:pic>
      <p:pic>
        <p:nvPicPr>
          <p:cNvPr id="14" name="rapidsave.com_will_smith_eating_spaghetti_by_seedance_20_is-6t3nh3120qig1.mp4">
            <a:hlinkClick r:id="" action="ppaction://media"/>
            <a:extLst>
              <a:ext uri="{FF2B5EF4-FFF2-40B4-BE49-F238E27FC236}">
                <a16:creationId xmlns:a16="http://schemas.microsoft.com/office/drawing/2014/main" id="{E38CAAC9-9BD8-F6B6-8F8F-17E868E2787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5547360" y="3027918"/>
            <a:ext cx="4890704" cy="2751019"/>
          </a:xfrm>
          <a:prstGeom prst="rect">
            <a:avLst/>
          </a:prstGeom>
        </p:spPr>
      </p:pic>
      <p:sp>
        <p:nvSpPr>
          <p:cNvPr id="2" name="Title 1">
            <a:extLst>
              <a:ext uri="{FF2B5EF4-FFF2-40B4-BE49-F238E27FC236}">
                <a16:creationId xmlns:a16="http://schemas.microsoft.com/office/drawing/2014/main" id="{13070F9A-A9A9-6056-0E35-74AF06F76BD6}"/>
              </a:ext>
            </a:extLst>
          </p:cNvPr>
          <p:cNvSpPr>
            <a:spLocks noGrp="1"/>
          </p:cNvSpPr>
          <p:nvPr>
            <p:ph type="title"/>
          </p:nvPr>
        </p:nvSpPr>
        <p:spPr/>
        <p:txBody>
          <a:bodyPr/>
          <a:lstStyle/>
          <a:p>
            <a:r>
              <a:rPr lang="en-US" dirty="0"/>
              <a:t>AI is currently in a hyperbolic capability curve.</a:t>
            </a:r>
          </a:p>
        </p:txBody>
      </p:sp>
      <p:sp>
        <p:nvSpPr>
          <p:cNvPr id="3" name="Subtitle 2">
            <a:extLst>
              <a:ext uri="{FF2B5EF4-FFF2-40B4-BE49-F238E27FC236}">
                <a16:creationId xmlns:a16="http://schemas.microsoft.com/office/drawing/2014/main" id="{6A88D292-AD85-F169-7D05-7ED876E82D09}"/>
              </a:ext>
            </a:extLst>
          </p:cNvPr>
          <p:cNvSpPr>
            <a:spLocks noGrp="1"/>
          </p:cNvSpPr>
          <p:nvPr>
            <p:ph type="subTitle" idx="1"/>
          </p:nvPr>
        </p:nvSpPr>
        <p:spPr>
          <a:xfrm>
            <a:off x="381000" y="857250"/>
            <a:ext cx="11430000" cy="492443"/>
          </a:xfrm>
        </p:spPr>
        <p:txBody>
          <a:bodyPr/>
          <a:lstStyle/>
          <a:p>
            <a:r>
              <a:rPr lang="en-US" dirty="0"/>
              <a:t>Keeping up to date is hard for individuals &amp; businesses.  Today’s application may need to be changed in the future to reduce cost, improve latency or expand capability</a:t>
            </a:r>
          </a:p>
        </p:txBody>
      </p:sp>
    </p:spTree>
    <p:extLst>
      <p:ext uri="{BB962C8B-B14F-4D97-AF65-F5344CB8AC3E}">
        <p14:creationId xmlns:p14="http://schemas.microsoft.com/office/powerpoint/2010/main" val="1519506542"/>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video>
              <p:cMediaNode vol="80000">
                <p:cTn id="3" fill="hold" display="0">
                  <p:stCondLst>
                    <p:cond delay="indefinite"/>
                  </p:stCondLst>
                </p:cTn>
                <p:tgtEl>
                  <p:spTgt spid="14"/>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2676-63C4-BDFF-098A-A4F42A2A9407}"/>
              </a:ext>
            </a:extLst>
          </p:cNvPr>
          <p:cNvSpPr>
            <a:spLocks noGrp="1"/>
          </p:cNvSpPr>
          <p:nvPr>
            <p:ph type="title"/>
          </p:nvPr>
        </p:nvSpPr>
        <p:spPr/>
        <p:txBody>
          <a:bodyPr/>
          <a:lstStyle/>
          <a:p>
            <a:r>
              <a:rPr lang="en-US" dirty="0"/>
              <a:t>And organizations are choking on the bills</a:t>
            </a:r>
          </a:p>
        </p:txBody>
      </p:sp>
      <p:sp>
        <p:nvSpPr>
          <p:cNvPr id="3" name="Subtitle 2">
            <a:extLst>
              <a:ext uri="{FF2B5EF4-FFF2-40B4-BE49-F238E27FC236}">
                <a16:creationId xmlns:a16="http://schemas.microsoft.com/office/drawing/2014/main" id="{EBCA3486-1423-556E-A807-75AF4EBB85D0}"/>
              </a:ext>
            </a:extLst>
          </p:cNvPr>
          <p:cNvSpPr>
            <a:spLocks noGrp="1"/>
          </p:cNvSpPr>
          <p:nvPr>
            <p:ph type="subTitle" idx="1"/>
          </p:nvPr>
        </p:nvSpPr>
        <p:spPr/>
        <p:txBody>
          <a:bodyPr/>
          <a:lstStyle/>
          <a:p>
            <a:r>
              <a:rPr lang="en-US" dirty="0"/>
              <a:t>Models are “demand based pricing” based on the number of tokens consumed.</a:t>
            </a:r>
          </a:p>
        </p:txBody>
      </p:sp>
      <p:pic>
        <p:nvPicPr>
          <p:cNvPr id="6" name="Picture 5">
            <a:extLst>
              <a:ext uri="{FF2B5EF4-FFF2-40B4-BE49-F238E27FC236}">
                <a16:creationId xmlns:a16="http://schemas.microsoft.com/office/drawing/2014/main" id="{2DAED5E9-FB7A-C1CE-AE35-B98748921B46}"/>
              </a:ext>
            </a:extLst>
          </p:cNvPr>
          <p:cNvPicPr>
            <a:picLocks noChangeAspect="1"/>
          </p:cNvPicPr>
          <p:nvPr/>
        </p:nvPicPr>
        <p:blipFill>
          <a:blip r:embed="rId2"/>
          <a:stretch>
            <a:fillRect/>
          </a:stretch>
        </p:blipFill>
        <p:spPr>
          <a:xfrm>
            <a:off x="6457353" y="1417835"/>
            <a:ext cx="4569292" cy="2541086"/>
          </a:xfrm>
          <a:prstGeom prst="rect">
            <a:avLst/>
          </a:prstGeom>
          <a:ln>
            <a:solidFill>
              <a:schemeClr val="accent1"/>
            </a:solidFill>
          </a:ln>
        </p:spPr>
      </p:pic>
      <p:pic>
        <p:nvPicPr>
          <p:cNvPr id="7" name="Picture 6">
            <a:extLst>
              <a:ext uri="{FF2B5EF4-FFF2-40B4-BE49-F238E27FC236}">
                <a16:creationId xmlns:a16="http://schemas.microsoft.com/office/drawing/2014/main" id="{B0A354F6-B101-55BE-39E9-79A5A026A518}"/>
              </a:ext>
            </a:extLst>
          </p:cNvPr>
          <p:cNvPicPr>
            <a:picLocks noChangeAspect="1"/>
          </p:cNvPicPr>
          <p:nvPr/>
        </p:nvPicPr>
        <p:blipFill>
          <a:blip r:embed="rId3"/>
          <a:stretch>
            <a:fillRect/>
          </a:stretch>
        </p:blipFill>
        <p:spPr>
          <a:xfrm>
            <a:off x="6457353" y="4077290"/>
            <a:ext cx="4559017" cy="2245178"/>
          </a:xfrm>
          <a:prstGeom prst="rect">
            <a:avLst/>
          </a:prstGeom>
          <a:ln>
            <a:solidFill>
              <a:schemeClr val="accent1"/>
            </a:solidFill>
          </a:ln>
        </p:spPr>
      </p:pic>
      <p:pic>
        <p:nvPicPr>
          <p:cNvPr id="8" name="Picture 7" descr="Tokens Memes · ProgrammerHumor.io">
            <a:extLst>
              <a:ext uri="{FF2B5EF4-FFF2-40B4-BE49-F238E27FC236}">
                <a16:creationId xmlns:a16="http://schemas.microsoft.com/office/drawing/2014/main" id="{B085E861-F86B-D435-0953-78F4E97B8E70}"/>
              </a:ext>
            </a:extLst>
          </p:cNvPr>
          <p:cNvPicPr>
            <a:picLocks noChangeAspect="1"/>
          </p:cNvPicPr>
          <p:nvPr/>
        </p:nvPicPr>
        <p:blipFill>
          <a:blip r:embed="rId4"/>
          <a:stretch>
            <a:fillRect/>
          </a:stretch>
        </p:blipFill>
        <p:spPr>
          <a:xfrm>
            <a:off x="1606278" y="1174623"/>
            <a:ext cx="4128370" cy="5614583"/>
          </a:xfrm>
          <a:prstGeom prst="rect">
            <a:avLst/>
          </a:prstGeom>
        </p:spPr>
      </p:pic>
    </p:spTree>
    <p:extLst>
      <p:ext uri="{BB962C8B-B14F-4D97-AF65-F5344CB8AC3E}">
        <p14:creationId xmlns:p14="http://schemas.microsoft.com/office/powerpoint/2010/main" val="254782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C23A-1EA0-DADE-AEA9-F50F7A92CF42}"/>
            </a:ext>
          </a:extLst>
        </p:cNvPr>
        <p:cNvGrpSpPr/>
        <p:nvPr/>
      </p:nvGrpSpPr>
      <p:grpSpPr>
        <a:xfrm>
          <a:off x="0" y="0"/>
          <a:ext cx="0" cy="0"/>
          <a:chOff x="0" y="0"/>
          <a:chExt cx="0" cy="0"/>
        </a:xfrm>
      </p:grpSpPr>
      <p:sp>
        <p:nvSpPr>
          <p:cNvPr id="7" name="Shape 4">
            <a:extLst>
              <a:ext uri="{FF2B5EF4-FFF2-40B4-BE49-F238E27FC236}">
                <a16:creationId xmlns:a16="http://schemas.microsoft.com/office/drawing/2014/main" id="{7C99B9E0-AA95-35CF-2451-3AF51A7E63EC}"/>
              </a:ext>
            </a:extLst>
          </p:cNvPr>
          <p:cNvSpPr/>
          <p:nvPr/>
        </p:nvSpPr>
        <p:spPr>
          <a:xfrm>
            <a:off x="609600" y="2072640"/>
            <a:ext cx="10850880" cy="4023360"/>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a:extLst>
              <a:ext uri="{FF2B5EF4-FFF2-40B4-BE49-F238E27FC236}">
                <a16:creationId xmlns:a16="http://schemas.microsoft.com/office/drawing/2014/main" id="{00A1CFC8-D9EC-8ED4-5CF8-FB87A887BC8E}"/>
              </a:ext>
            </a:extLst>
          </p:cNvPr>
          <p:cNvSpPr/>
          <p:nvPr/>
        </p:nvSpPr>
        <p:spPr>
          <a:xfrm>
            <a:off x="609600" y="2072640"/>
            <a:ext cx="97536" cy="4023360"/>
          </a:xfrm>
          <a:prstGeom prst="rect">
            <a:avLst/>
          </a:prstGeom>
          <a:solidFill>
            <a:schemeClr val="bg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29D5D071-A94F-3DEC-0FDE-D94D7F0FEC56}"/>
              </a:ext>
            </a:extLst>
          </p:cNvPr>
          <p:cNvPicPr>
            <a:picLocks noChangeAspect="1"/>
          </p:cNvPicPr>
          <p:nvPr/>
        </p:nvPicPr>
        <p:blipFill>
          <a:blip r:embed="rId3"/>
          <a:stretch>
            <a:fillRect/>
          </a:stretch>
        </p:blipFill>
        <p:spPr>
          <a:xfrm>
            <a:off x="807129" y="2150122"/>
            <a:ext cx="5895513" cy="3930342"/>
          </a:xfrm>
          <a:prstGeom prst="rect">
            <a:avLst/>
          </a:prstGeom>
        </p:spPr>
      </p:pic>
      <p:sp>
        <p:nvSpPr>
          <p:cNvPr id="6" name="Text 3">
            <a:extLst>
              <a:ext uri="{FF2B5EF4-FFF2-40B4-BE49-F238E27FC236}">
                <a16:creationId xmlns:a16="http://schemas.microsoft.com/office/drawing/2014/main" id="{050DAF08-0FB4-EB4A-7FDA-2BF1A6688597}"/>
              </a:ext>
            </a:extLst>
          </p:cNvPr>
          <p:cNvSpPr/>
          <p:nvPr/>
        </p:nvSpPr>
        <p:spPr>
          <a:xfrm>
            <a:off x="6960773" y="3585229"/>
            <a:ext cx="4241576" cy="9981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672CB"/>
                </a:solidFill>
                <a:effectLst/>
                <a:uLnTx/>
                <a:uFillTx/>
                <a:latin typeface="Palatino Linotype" pitchFamily="34" charset="0"/>
                <a:ea typeface="+mn-ea"/>
                <a:cs typeface="+mn-cs"/>
              </a:rPr>
              <a:t>Open-weight Models lag by ~4-7 months in capability but costs only the hardware to host.</a:t>
            </a:r>
            <a:endParaRPr kumimoji="0" lang="en-US" sz="2000" b="0" i="0" u="none" strike="noStrike" kern="1200" cap="none" spc="0" normalizeH="0" baseline="0" noProof="0" dirty="0">
              <a:ln>
                <a:noFill/>
              </a:ln>
              <a:solidFill>
                <a:srgbClr val="0672CB"/>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BD86A0F6-4198-8839-24CF-F48B3C54719A}"/>
              </a:ext>
            </a:extLst>
          </p:cNvPr>
          <p:cNvSpPr>
            <a:spLocks noGrp="1"/>
          </p:cNvSpPr>
          <p:nvPr>
            <p:ph type="title"/>
          </p:nvPr>
        </p:nvSpPr>
        <p:spPr>
          <a:xfrm>
            <a:off x="381000" y="342900"/>
            <a:ext cx="11430000" cy="443198"/>
          </a:xfrm>
        </p:spPr>
        <p:txBody>
          <a:bodyPr/>
          <a:lstStyle/>
          <a:p>
            <a:r>
              <a:rPr lang="en-US" dirty="0"/>
              <a:t>Model Distillation (Weight Copying) is affecting the industry.</a:t>
            </a:r>
          </a:p>
        </p:txBody>
      </p:sp>
    </p:spTree>
    <p:extLst>
      <p:ext uri="{BB962C8B-B14F-4D97-AF65-F5344CB8AC3E}">
        <p14:creationId xmlns:p14="http://schemas.microsoft.com/office/powerpoint/2010/main" val="4234088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D0D7-D7F9-9E30-02EF-2CD6075D6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0955C-88EA-D1CE-CF5A-8A8BB6F6EC89}"/>
              </a:ext>
            </a:extLst>
          </p:cNvPr>
          <p:cNvSpPr>
            <a:spLocks noGrp="1"/>
          </p:cNvSpPr>
          <p:nvPr>
            <p:ph type="title"/>
          </p:nvPr>
        </p:nvSpPr>
        <p:spPr/>
        <p:txBody>
          <a:bodyPr/>
          <a:lstStyle/>
          <a:p>
            <a:r>
              <a:rPr lang="en-US" dirty="0"/>
              <a:t>If you rent your model you pay for consumption in tokens.</a:t>
            </a:r>
          </a:p>
        </p:txBody>
      </p:sp>
    </p:spTree>
    <p:extLst>
      <p:ext uri="{BB962C8B-B14F-4D97-AF65-F5344CB8AC3E}">
        <p14:creationId xmlns:p14="http://schemas.microsoft.com/office/powerpoint/2010/main" val="2704049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92" name="Group 91">
            <a:extLst>
              <a:ext uri="{FF2B5EF4-FFF2-40B4-BE49-F238E27FC236}">
                <a16:creationId xmlns:a16="http://schemas.microsoft.com/office/drawing/2014/main" id="{1D9832DC-8395-D6B4-DB0A-638FDF1F7B0D}"/>
              </a:ext>
            </a:extLst>
          </p:cNvPr>
          <p:cNvGrpSpPr/>
          <p:nvPr/>
        </p:nvGrpSpPr>
        <p:grpSpPr>
          <a:xfrm>
            <a:off x="441960" y="987552"/>
            <a:ext cx="2715768" cy="310896"/>
            <a:chOff x="9976104" y="923544"/>
            <a:chExt cx="2715768" cy="310896"/>
          </a:xfrm>
        </p:grpSpPr>
        <p:sp>
          <p:nvSpPr>
            <p:cNvPr id="2" name="Shape 0"/>
            <p:cNvSpPr/>
            <p:nvPr/>
          </p:nvSpPr>
          <p:spPr>
            <a:xfrm>
              <a:off x="9976104" y="923544"/>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9976104" y="923544"/>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 name="Text 2"/>
          <p:cNvSpPr/>
          <p:nvPr/>
        </p:nvSpPr>
        <p:spPr>
          <a:xfrm>
            <a:off x="502920" y="155448"/>
            <a:ext cx="11569215"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Demand Based pricing: How tokens accumulate across turns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12064" y="627494"/>
            <a:ext cx="110642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Every turn re-sends the whole conversation as input. Last turn's output becomes context, so input tokens grow each turn.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4864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6809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278892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40080" y="22585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6809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78892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786128" y="234086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786128" y="234086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11226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50292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4922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201168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550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211226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132588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32588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11226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64008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76809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1 (output)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278892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43484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43484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448056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57200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70001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672084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4572000" y="22585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470001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672084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4572000" y="27157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4700016" y="27157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6720840" y="27157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4572000" y="31729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4700016" y="31729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6720840" y="31729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5728208" y="324510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5728208" y="324510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604418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p:cNvSpPr/>
          <p:nvPr/>
        </p:nvSpPr>
        <p:spPr>
          <a:xfrm>
            <a:off x="443484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458114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594360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790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604418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p:cNvSpPr/>
          <p:nvPr/>
        </p:nvSpPr>
        <p:spPr>
          <a:xfrm>
            <a:off x="525780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525780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604418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p:cNvSpPr/>
          <p:nvPr/>
        </p:nvSpPr>
        <p:spPr>
          <a:xfrm>
            <a:off x="457200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470001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2 (output)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672084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250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836676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3</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5"/>
          <p:cNvSpPr/>
          <p:nvPr/>
        </p:nvSpPr>
        <p:spPr>
          <a:xfrm>
            <a:off x="8366760" y="1691640"/>
            <a:ext cx="3383280" cy="2871216"/>
          </a:xfrm>
          <a:prstGeom prst="roundRect">
            <a:avLst>
              <a:gd name="adj" fmla="val 1911"/>
            </a:avLst>
          </a:prstGeom>
          <a:solidFill>
            <a:srgbClr val="FFFFFF">
              <a:alpha val="70000"/>
            </a:srgbClr>
          </a:solidFill>
          <a:ln w="12700">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p:cNvSpPr/>
          <p:nvPr/>
        </p:nvSpPr>
        <p:spPr>
          <a:xfrm>
            <a:off x="8412480" y="1435608"/>
            <a:ext cx="3291840" cy="21945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Model input (context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7"/>
          <p:cNvSpPr/>
          <p:nvPr/>
        </p:nvSpPr>
        <p:spPr>
          <a:xfrm>
            <a:off x="8503920" y="1801368"/>
            <a:ext cx="3108960" cy="365760"/>
          </a:xfrm>
          <a:prstGeom prst="roundRect">
            <a:avLst>
              <a:gd name="adj" fmla="val 12500"/>
            </a:avLst>
          </a:prstGeom>
          <a:solidFill>
            <a:srgbClr val="EFEEF2"/>
          </a:solidFill>
          <a:ln w="12700">
            <a:solidFill>
              <a:srgbClr val="9A98A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8"/>
          <p:cNvSpPr/>
          <p:nvPr/>
        </p:nvSpPr>
        <p:spPr>
          <a:xfrm>
            <a:off x="8631936" y="1801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System prompt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9"/>
          <p:cNvSpPr/>
          <p:nvPr/>
        </p:nvSpPr>
        <p:spPr>
          <a:xfrm>
            <a:off x="10652760" y="1801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500</a:t>
            </a:r>
            <a:r>
              <a:rPr kumimoji="0" lang="en-US" sz="950" b="0" i="0" u="none" strike="noStrike" kern="1200" cap="none" spc="0" normalizeH="0" baseline="0" noProof="0" dirty="0">
                <a:ln>
                  <a:noFill/>
                </a:ln>
                <a:solidFill>
                  <a:srgbClr val="44444A"/>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60"/>
          <p:cNvSpPr/>
          <p:nvPr/>
        </p:nvSpPr>
        <p:spPr>
          <a:xfrm>
            <a:off x="8503920" y="22585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8631936" y="22585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10652760" y="22585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50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8503920" y="27157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64"/>
          <p:cNvSpPr/>
          <p:nvPr/>
        </p:nvSpPr>
        <p:spPr>
          <a:xfrm>
            <a:off x="8631936" y="27157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5"/>
          <p:cNvSpPr/>
          <p:nvPr/>
        </p:nvSpPr>
        <p:spPr>
          <a:xfrm>
            <a:off x="10652760" y="27157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200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Shape 66"/>
          <p:cNvSpPr/>
          <p:nvPr/>
        </p:nvSpPr>
        <p:spPr>
          <a:xfrm>
            <a:off x="8503920" y="3172968"/>
            <a:ext cx="3108960" cy="365760"/>
          </a:xfrm>
          <a:prstGeom prst="roundRect">
            <a:avLst>
              <a:gd name="adj" fmla="val 12500"/>
            </a:avLst>
          </a:prstGeom>
          <a:solidFill>
            <a:srgbClr val="F6E7EA"/>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67"/>
          <p:cNvSpPr/>
          <p:nvPr/>
        </p:nvSpPr>
        <p:spPr>
          <a:xfrm>
            <a:off x="8631936" y="31729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query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68"/>
          <p:cNvSpPr/>
          <p:nvPr/>
        </p:nvSpPr>
        <p:spPr>
          <a:xfrm>
            <a:off x="10652760" y="31729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40</a:t>
            </a:r>
            <a:r>
              <a:rPr kumimoji="0" lang="en-US" sz="9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Shape 69"/>
          <p:cNvSpPr/>
          <p:nvPr/>
        </p:nvSpPr>
        <p:spPr>
          <a:xfrm>
            <a:off x="8503920" y="3630168"/>
            <a:ext cx="3108960" cy="365760"/>
          </a:xfrm>
          <a:prstGeom prst="roundRect">
            <a:avLst>
              <a:gd name="adj" fmla="val 12500"/>
            </a:avLst>
          </a:prstGeom>
          <a:solidFill>
            <a:srgbClr val="ECEFF2"/>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70"/>
          <p:cNvSpPr/>
          <p:nvPr/>
        </p:nvSpPr>
        <p:spPr>
          <a:xfrm>
            <a:off x="8631936" y="36301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Response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71"/>
          <p:cNvSpPr/>
          <p:nvPr/>
        </p:nvSpPr>
        <p:spPr>
          <a:xfrm>
            <a:off x="10652760" y="36301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250</a:t>
            </a:r>
            <a:r>
              <a:rPr kumimoji="0" lang="en-US" sz="950" b="0"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Shape 72"/>
          <p:cNvSpPr/>
          <p:nvPr/>
        </p:nvSpPr>
        <p:spPr>
          <a:xfrm>
            <a:off x="8503920" y="4087368"/>
            <a:ext cx="3108960" cy="365760"/>
          </a:xfrm>
          <a:prstGeom prst="roundRect">
            <a:avLst>
              <a:gd name="adj" fmla="val 12500"/>
            </a:avLst>
          </a:prstGeom>
          <a:solidFill>
            <a:srgbClr val="A51C30"/>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3"/>
          <p:cNvSpPr/>
          <p:nvPr/>
        </p:nvSpPr>
        <p:spPr>
          <a:xfrm>
            <a:off x="8631936" y="4087368"/>
            <a:ext cx="2057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User query 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4"/>
          <p:cNvSpPr/>
          <p:nvPr/>
        </p:nvSpPr>
        <p:spPr>
          <a:xfrm>
            <a:off x="10652760" y="4087368"/>
            <a:ext cx="8229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60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Shape 75"/>
          <p:cNvSpPr/>
          <p:nvPr/>
        </p:nvSpPr>
        <p:spPr>
          <a:xfrm>
            <a:off x="9670288" y="4159504"/>
            <a:ext cx="566928" cy="201168"/>
          </a:xfrm>
          <a:prstGeom prst="roundRect">
            <a:avLst>
              <a:gd name="adj" fmla="val 50000"/>
            </a:avLst>
          </a:prstGeom>
          <a:solidFill>
            <a:srgbClr val="3F5165"/>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6"/>
          <p:cNvSpPr/>
          <p:nvPr/>
        </p:nvSpPr>
        <p:spPr>
          <a:xfrm>
            <a:off x="9670288" y="4159504"/>
            <a:ext cx="56692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NEW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Shape 77"/>
          <p:cNvSpPr/>
          <p:nvPr/>
        </p:nvSpPr>
        <p:spPr>
          <a:xfrm>
            <a:off x="9976104" y="4581144"/>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p:cNvSpPr/>
          <p:nvPr/>
        </p:nvSpPr>
        <p:spPr>
          <a:xfrm>
            <a:off x="8366760" y="4700016"/>
            <a:ext cx="3383280" cy="512064"/>
          </a:xfrm>
          <a:prstGeom prst="roundRect">
            <a:avLst>
              <a:gd name="adj" fmla="val 10714"/>
            </a:avLst>
          </a:prstGeom>
          <a:solidFill>
            <a:srgbClr val="F5EAEC"/>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Text 79"/>
          <p:cNvSpPr/>
          <p:nvPr/>
        </p:nvSpPr>
        <p:spPr>
          <a:xfrm>
            <a:off x="8513064" y="4700016"/>
            <a:ext cx="1554480" cy="51206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Input this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Text 80"/>
          <p:cNvSpPr/>
          <p:nvPr/>
        </p:nvSpPr>
        <p:spPr>
          <a:xfrm>
            <a:off x="9875520" y="4700016"/>
            <a:ext cx="1737360" cy="51206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1,100</a:t>
            </a: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tok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Shape 81"/>
          <p:cNvSpPr/>
          <p:nvPr/>
        </p:nvSpPr>
        <p:spPr>
          <a:xfrm>
            <a:off x="9976104" y="5230368"/>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p:cNvSpPr/>
          <p:nvPr/>
        </p:nvSpPr>
        <p:spPr>
          <a:xfrm>
            <a:off x="9189720" y="5340096"/>
            <a:ext cx="1737360" cy="347472"/>
          </a:xfrm>
          <a:prstGeom prst="roundRect">
            <a:avLst>
              <a:gd name="adj" fmla="val 15789"/>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3"/>
          <p:cNvSpPr/>
          <p:nvPr/>
        </p:nvSpPr>
        <p:spPr>
          <a:xfrm>
            <a:off x="9189720" y="5340096"/>
            <a:ext cx="173736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FFFFFF"/>
                </a:solidFill>
                <a:effectLst/>
                <a:uLnTx/>
                <a:uFillTx/>
                <a:latin typeface="Arial" pitchFamily="34" charset="0"/>
                <a:ea typeface="Arial" pitchFamily="34" charset="-122"/>
                <a:cs typeface="Arial" pitchFamily="34" charset="-120"/>
              </a:rPr>
              <a:t>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Shape 84"/>
          <p:cNvSpPr/>
          <p:nvPr/>
        </p:nvSpPr>
        <p:spPr>
          <a:xfrm>
            <a:off x="9976104" y="5705856"/>
            <a:ext cx="164592" cy="100584"/>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p:cNvSpPr/>
          <p:nvPr/>
        </p:nvSpPr>
        <p:spPr>
          <a:xfrm>
            <a:off x="8503920" y="5797296"/>
            <a:ext cx="3108960" cy="384048"/>
          </a:xfrm>
          <a:prstGeom prst="roundRect">
            <a:avLst>
              <a:gd name="adj" fmla="val 11905"/>
            </a:avLst>
          </a:prstGeom>
          <a:solidFill>
            <a:srgbClr val="3F5165"/>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6"/>
          <p:cNvSpPr/>
          <p:nvPr/>
        </p:nvSpPr>
        <p:spPr>
          <a:xfrm>
            <a:off x="8631936" y="5797296"/>
            <a:ext cx="20574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Response 3 (output)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Text 87"/>
          <p:cNvSpPr/>
          <p:nvPr/>
        </p:nvSpPr>
        <p:spPr>
          <a:xfrm>
            <a:off x="10652760" y="5797296"/>
            <a:ext cx="822960" cy="38404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300</a:t>
            </a:r>
            <a:r>
              <a:rPr kumimoji="0" lang="en-US" sz="9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tok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Text 88"/>
          <p:cNvSpPr/>
          <p:nvPr/>
        </p:nvSpPr>
        <p:spPr>
          <a:xfrm>
            <a:off x="3977640" y="274320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Text 89"/>
          <p:cNvSpPr/>
          <p:nvPr/>
        </p:nvSpPr>
        <p:spPr>
          <a:xfrm>
            <a:off x="7909560" y="274320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Text 100"/>
          <p:cNvSpPr/>
          <p:nvPr/>
        </p:nvSpPr>
        <p:spPr>
          <a:xfrm>
            <a:off x="566928" y="6446520"/>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Input grows every turn:  </a:t>
            </a:r>
            <a:r>
              <a:rPr kumimoji="0" lang="en-US" sz="10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550  &gt;  790  &gt;  1,100 tokens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p:nvPr/>
        </p:nvSpPr>
        <p:spPr>
          <a:xfrm>
            <a:off x="502920" y="101922"/>
            <a:ext cx="832104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The cost of a filling context window</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66928" y="536522"/>
            <a:ext cx="1106424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Pricing assumption: </a:t>
            </a:r>
            <a:r>
              <a:rPr kumimoji="0" lang="en-US" sz="13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$5 per million input tokens</a:t>
            </a: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and  </a:t>
            </a:r>
            <a:r>
              <a:rPr kumimoji="0" lang="en-US" sz="13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$25 per million output tokens</a:t>
            </a:r>
            <a:r>
              <a:rPr kumimoji="0" lang="en-US" sz="135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Context window capacity: 1,000,000 tokens.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29260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12648" y="1810512"/>
            <a:ext cx="868680" cy="2331720"/>
          </a:xfrm>
          <a:prstGeom prst="roundRect">
            <a:avLst>
              <a:gd name="adj" fmla="val 6316"/>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649224" y="2208459"/>
            <a:ext cx="795528" cy="1897197"/>
          </a:xfrm>
          <a:prstGeom prst="roundRect">
            <a:avLst>
              <a:gd name="adj" fmla="val 5747"/>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12648" y="2263323"/>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840k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84%</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67335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83794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94436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+40k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183794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183794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800k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280720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183794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280720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183794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183794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53288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$5.00</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43484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22452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544568" y="1810512"/>
            <a:ext cx="868680" cy="2331720"/>
          </a:xfrm>
          <a:prstGeom prst="roundRect">
            <a:avLst>
              <a:gd name="adj" fmla="val 6316"/>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4581144" y="2027773"/>
            <a:ext cx="795528" cy="2077883"/>
          </a:xfrm>
          <a:prstGeom prst="roundRect">
            <a:avLst>
              <a:gd name="adj" fmla="val 5747"/>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544568" y="2082637"/>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920k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560527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576986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87628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+40k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76986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576986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880k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73912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$4.40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76986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673912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76986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576986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646480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$5.40</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8366760" y="1298448"/>
            <a:ext cx="33832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N+2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8156448" y="1572768"/>
            <a:ext cx="15087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used / 1M limit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8476488" y="1810512"/>
            <a:ext cx="868680" cy="2331720"/>
          </a:xfrm>
          <a:prstGeom prst="roundRect">
            <a:avLst>
              <a:gd name="adj" fmla="val 6316"/>
            </a:avLst>
          </a:prstGeom>
          <a:solidFill>
            <a:srgbClr val="FFFFFF">
              <a:alpha val="75000"/>
            </a:srgbClr>
          </a:solidFill>
          <a:ln w="15875">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8513064" y="1892259"/>
            <a:ext cx="795528" cy="2213397"/>
          </a:xfrm>
          <a:prstGeom prst="roundRect">
            <a:avLst>
              <a:gd name="adj" fmla="val 5747"/>
            </a:avLst>
          </a:prstGeom>
          <a:solidFill>
            <a:srgbClr val="3F5165"/>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8476488" y="2276307"/>
            <a:ext cx="868680" cy="548640"/>
          </a:xfrm>
          <a:prstGeom prst="rect">
            <a:avLst/>
          </a:prstGeom>
          <a:noFill/>
          <a:ln/>
        </p:spPr>
        <p:txBody>
          <a:bodyPr wrap="square" lIns="0" tIns="0" rIns="0" bIns="0" rtlCol="0" anchor="t"/>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980k</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98%</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8343900" y="1792224"/>
            <a:ext cx="1133856" cy="219456"/>
          </a:xfrm>
          <a:prstGeom prst="roundRect">
            <a:avLst>
              <a:gd name="adj" fmla="val 50000"/>
            </a:avLst>
          </a:prstGeom>
          <a:solidFill>
            <a:srgbClr val="FFFFFF"/>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8343900" y="1792224"/>
            <a:ext cx="113385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3F5165"/>
                </a:solidFill>
                <a:effectLst/>
                <a:uLnTx/>
                <a:uFillTx/>
                <a:latin typeface="Arial" pitchFamily="34" charset="0"/>
                <a:ea typeface="Arial" pitchFamily="34" charset="-122"/>
                <a:cs typeface="Arial" pitchFamily="34" charset="-120"/>
              </a:rPr>
              <a:t>NEAR LIMIT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9537192" y="1810512"/>
            <a:ext cx="2121408" cy="2331720"/>
          </a:xfrm>
          <a:prstGeom prst="roundRect">
            <a:avLst>
              <a:gd name="adj" fmla="val 2586"/>
            </a:avLst>
          </a:prstGeom>
          <a:solidFill>
            <a:srgbClr val="FFFFFF">
              <a:alpha val="92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9701784" y="1956816"/>
            <a:ext cx="115214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 query this turn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10808208" y="1956816"/>
            <a:ext cx="6858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A51C30"/>
                </a:solidFill>
                <a:effectLst/>
                <a:uLnTx/>
                <a:uFillTx/>
                <a:latin typeface="Arial" pitchFamily="34" charset="0"/>
                <a:ea typeface="Arial" pitchFamily="34" charset="-122"/>
                <a:cs typeface="Arial" pitchFamily="34" charset="-120"/>
              </a:rPr>
              <a:t>+20k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9701784" y="23591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9701784" y="246888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 940k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10671048" y="246888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$4.70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9701784" y="2834640"/>
            <a:ext cx="101498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Output · 40k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10671048" y="2834640"/>
            <a:ext cx="82296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9701784" y="3273552"/>
            <a:ext cx="1792224" cy="0"/>
          </a:xfrm>
          <a:prstGeom prst="line">
            <a:avLst/>
          </a:prstGeom>
          <a:no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9701784" y="3383280"/>
            <a:ext cx="786384"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Turn cost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10396728" y="3383280"/>
            <a:ext cx="1097280" cy="6400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$5.70</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4069080" y="265176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7955280" y="2651760"/>
            <a:ext cx="45720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8" name="Chart 0"/>
          <p:cNvGraphicFramePr/>
          <p:nvPr/>
        </p:nvGraphicFramePr>
        <p:xfrm>
          <a:off x="502920" y="4572000"/>
          <a:ext cx="5623560" cy="1572768"/>
        </p:xfrm>
        <a:graphic>
          <a:graphicData uri="http://schemas.openxmlformats.org/drawingml/2006/chart">
            <c:chart xmlns:c="http://schemas.openxmlformats.org/drawingml/2006/chart" xmlns:r="http://schemas.openxmlformats.org/officeDocument/2006/relationships" r:id="rId4"/>
          </a:graphicData>
        </a:graphic>
      </p:graphicFrame>
      <p:sp>
        <p:nvSpPr>
          <p:cNvPr id="59" name="Shape 56"/>
          <p:cNvSpPr/>
          <p:nvPr/>
        </p:nvSpPr>
        <p:spPr>
          <a:xfrm>
            <a:off x="6446520" y="4572000"/>
            <a:ext cx="5257800" cy="1572768"/>
          </a:xfrm>
          <a:prstGeom prst="roundRect">
            <a:avLst>
              <a:gd name="adj" fmla="val 3488"/>
            </a:avLst>
          </a:prstGeom>
          <a:solidFill>
            <a:srgbClr val="F5EAEC">
              <a:alpha val="90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7"/>
          <p:cNvSpPr/>
          <p:nvPr/>
        </p:nvSpPr>
        <p:spPr>
          <a:xfrm>
            <a:off x="6647688" y="4700016"/>
            <a:ext cx="485546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Why the cost climbs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8"/>
          <p:cNvSpPr/>
          <p:nvPr/>
        </p:nvSpPr>
        <p:spPr>
          <a:xfrm>
            <a:off x="6647688" y="5029200"/>
            <a:ext cx="4855464" cy="10058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6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Every turn re-bills the entire context, not just the new message.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At Turn N+2, about 920k of the 940k input tokens (98%) is history re-processed from earlier turns, roughly $4.60 of that turn's $4.70 input cost.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9"/>
          <p:cNvSpPr/>
          <p:nvPr/>
        </p:nvSpPr>
        <p:spPr>
          <a:xfrm>
            <a:off x="502920" y="6272784"/>
            <a:ext cx="11228832" cy="512064"/>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The 1M window is a capacity limit, not a billed amount: you pay for tokens processed each turn, not for the size of the window.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This is an API pricing example without caching. On subscription apps (e.g., Claude.ai) caching is provider-managed: it optimizes speed and capacity rather than lowering your bill, and the savings accrue to the provider.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0E337160-1A2E-646A-EA3F-BCEB119277EA}"/>
              </a:ext>
            </a:extLst>
          </p:cNvPr>
          <p:cNvGrpSpPr/>
          <p:nvPr/>
        </p:nvGrpSpPr>
        <p:grpSpPr>
          <a:xfrm>
            <a:off x="441960" y="987552"/>
            <a:ext cx="2715768" cy="310896"/>
            <a:chOff x="9976104" y="923544"/>
            <a:chExt cx="2715768" cy="310896"/>
          </a:xfrm>
        </p:grpSpPr>
        <p:sp>
          <p:nvSpPr>
            <p:cNvPr id="64" name="Shape 0">
              <a:extLst>
                <a:ext uri="{FF2B5EF4-FFF2-40B4-BE49-F238E27FC236}">
                  <a16:creationId xmlns:a16="http://schemas.microsoft.com/office/drawing/2014/main" id="{A623A1EB-0FE0-58B7-5499-229A75805D0D}"/>
                </a:ext>
              </a:extLst>
            </p:cNvPr>
            <p:cNvSpPr/>
            <p:nvPr/>
          </p:nvSpPr>
          <p:spPr>
            <a:xfrm>
              <a:off x="9976104" y="923544"/>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1">
              <a:extLst>
                <a:ext uri="{FF2B5EF4-FFF2-40B4-BE49-F238E27FC236}">
                  <a16:creationId xmlns:a16="http://schemas.microsoft.com/office/drawing/2014/main" id="{0838EAD5-CE4A-0D31-4ECF-FDE2F27E605F}"/>
                </a:ext>
              </a:extLst>
            </p:cNvPr>
            <p:cNvSpPr/>
            <p:nvPr/>
          </p:nvSpPr>
          <p:spPr>
            <a:xfrm>
              <a:off x="9976104" y="923544"/>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CD76A22-F40B-2821-9C1C-444E1B755BA2}"/>
              </a:ext>
            </a:extLst>
          </p:cNvPr>
          <p:cNvGrpSpPr/>
          <p:nvPr/>
        </p:nvGrpSpPr>
        <p:grpSpPr>
          <a:xfrm>
            <a:off x="457199" y="913374"/>
            <a:ext cx="2715768" cy="310896"/>
            <a:chOff x="9015984" y="365760"/>
            <a:chExt cx="2715768" cy="310896"/>
          </a:xfrm>
        </p:grpSpPr>
        <p:sp>
          <p:nvSpPr>
            <p:cNvPr id="2" name="Shape 0"/>
            <p:cNvSpPr/>
            <p:nvPr/>
          </p:nvSpPr>
          <p:spPr>
            <a:xfrm>
              <a:off x="9015984" y="365760"/>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9015984" y="365760"/>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API pricing example</a:t>
              </a: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  ·  no caching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 name="Text 2"/>
          <p:cNvSpPr/>
          <p:nvPr/>
        </p:nvSpPr>
        <p:spPr>
          <a:xfrm>
            <a:off x="457199" y="99662"/>
            <a:ext cx="11512193"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Compaction [conversation summarization] &amp; the shape of cumulative cost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02920" y="529326"/>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Illustrative model. Context grows toward the 1M limit, compaction compresses it back to about 50k, and the cycle repeats.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1298448"/>
            <a:ext cx="5532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Context window over turns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217920" y="1298448"/>
            <a:ext cx="5486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Cumulative cost over turns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57200" y="1645920"/>
            <a:ext cx="5532120" cy="585216"/>
          </a:xfrm>
          <a:prstGeom prst="roundRect">
            <a:avLst>
              <a:gd name="adj" fmla="val 7813"/>
            </a:avLst>
          </a:prstGeom>
          <a:solidFill>
            <a:srgbClr val="F5EAEC">
              <a:alpha val="88000"/>
            </a:srgbClr>
          </a:solidFill>
          <a:ln w="12700">
            <a:solidFill>
              <a:srgbClr val="E0DB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85216" y="1664208"/>
            <a:ext cx="527608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22222"/>
                </a:solidFill>
                <a:effectLst/>
                <a:uLnTx/>
                <a:uFillTx/>
                <a:latin typeface="Courier New" pitchFamily="34" charset="0"/>
                <a:ea typeface="Courier New" pitchFamily="34" charset="-122"/>
                <a:cs typeface="Courier New" pitchFamily="34" charset="-120"/>
              </a:rPr>
              <a:t>C(t) = Cmax - (Cmax - Cmin) * e^(-r * 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B6B"/>
                </a:solidFill>
                <a:effectLst/>
                <a:uLnTx/>
                <a:uFillTx/>
                <a:latin typeface="Courier New" pitchFamily="34" charset="0"/>
                <a:ea typeface="Courier New" pitchFamily="34" charset="-122"/>
                <a:cs typeface="Courier New" pitchFamily="34" charset="-120"/>
              </a:rPr>
              <a:t>t' = turns since last compaction;  reset to Cmin at limit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17920" y="1645920"/>
            <a:ext cx="5486400" cy="585216"/>
          </a:xfrm>
          <a:prstGeom prst="roundRect">
            <a:avLst>
              <a:gd name="adj" fmla="val 7813"/>
            </a:avLst>
          </a:prstGeom>
          <a:solidFill>
            <a:srgbClr val="F5EAEC">
              <a:alpha val="88000"/>
            </a:srgbClr>
          </a:solidFill>
          <a:ln w="12700">
            <a:solidFill>
              <a:srgbClr val="E0DB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345936" y="1664208"/>
            <a:ext cx="5230368"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22222"/>
                </a:solidFill>
                <a:effectLst/>
                <a:uLnTx/>
                <a:uFillTx/>
                <a:latin typeface="Courier New" pitchFamily="34" charset="0"/>
                <a:ea typeface="Courier New" pitchFamily="34" charset="-122"/>
                <a:cs typeface="Courier New" pitchFamily="34" charset="-120"/>
              </a:rPr>
              <a:t>Cost(N) = SUM[t=1..N] ( 5*C(t) + 25*O ) / 1e6</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B6B"/>
                </a:solidFill>
                <a:effectLst/>
                <a:uLnTx/>
                <a:uFillTx/>
                <a:latin typeface="Courier New" pitchFamily="34" charset="0"/>
                <a:ea typeface="Courier New" pitchFamily="34" charset="-122"/>
                <a:cs typeface="Courier New" pitchFamily="34" charset="-120"/>
              </a:rPr>
              <a:t>C(t) = input tokens (context);  O = output tokens / turn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2" name="Chart 0"/>
          <p:cNvGraphicFramePr/>
          <p:nvPr>
            <p:extLst>
              <p:ext uri="{D42A27DB-BD31-4B8C-83A1-F6EECF244321}">
                <p14:modId xmlns:p14="http://schemas.microsoft.com/office/powerpoint/2010/main" val="3253761923"/>
              </p:ext>
            </p:extLst>
          </p:nvPr>
        </p:nvGraphicFramePr>
        <p:xfrm>
          <a:off x="457200" y="2409288"/>
          <a:ext cx="5532120" cy="2834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
          <p:cNvGraphicFramePr/>
          <p:nvPr>
            <p:extLst>
              <p:ext uri="{D42A27DB-BD31-4B8C-83A1-F6EECF244321}">
                <p14:modId xmlns:p14="http://schemas.microsoft.com/office/powerpoint/2010/main" val="3677596159"/>
              </p:ext>
            </p:extLst>
          </p:nvPr>
        </p:nvGraphicFramePr>
        <p:xfrm>
          <a:off x="6217920" y="2409288"/>
          <a:ext cx="548640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14" name="Shape 10"/>
          <p:cNvSpPr/>
          <p:nvPr/>
        </p:nvSpPr>
        <p:spPr>
          <a:xfrm>
            <a:off x="7296912" y="2500728"/>
            <a:ext cx="2093668" cy="591793"/>
          </a:xfrm>
          <a:prstGeom prst="roundRect">
            <a:avLst>
              <a:gd name="adj" fmla="val 7317"/>
            </a:avLst>
          </a:prstGeom>
          <a:solidFill>
            <a:srgbClr val="FFFFFF">
              <a:alpha val="94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1"/>
          <p:cNvSpPr/>
          <p:nvPr/>
        </p:nvSpPr>
        <p:spPr>
          <a:xfrm>
            <a:off x="7406640" y="2537304"/>
            <a:ext cx="1870924" cy="6766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3F5165"/>
                </a:solidFill>
                <a:effectLst/>
                <a:uLnTx/>
                <a:uFillTx/>
                <a:latin typeface="Arial" pitchFamily="34" charset="0"/>
                <a:ea typeface="Arial" pitchFamily="34" charset="-122"/>
                <a:cs typeface="Arial" pitchFamily="34" charset="-120"/>
              </a:rPr>
              <a:t>Step-ups = compaction calls</a:t>
            </a:r>
            <a:b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br>
            <a:r>
              <a:rPr kumimoji="0" lang="en-US" sz="9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Notice the increasing slope (subtle at this scale) before compaction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457200" y="5495237"/>
            <a:ext cx="11247120" cy="1265160"/>
          </a:xfrm>
          <a:prstGeom prst="roundRect">
            <a:avLst>
              <a:gd name="adj" fmla="val 3750"/>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p:cNvSpPr/>
          <p:nvPr/>
        </p:nvSpPr>
        <p:spPr>
          <a:xfrm>
            <a:off x="658368" y="5568389"/>
            <a:ext cx="10881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Takeaway: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compaction lowers the context re-billed each turn (the dips), but each compaction is itself a summary call that costs about $6 here (the step-ups). Over 30 turns the totals nearly match: about $145 with compaction versus $146 without. It pulls ahead the longer the session runs, since the dips repeat while each summary is paid once.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658368" y="6135317"/>
            <a:ext cx="108813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Assumptions (all figures fictitious, for teaching):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Input tokens each turn equal the current context size (the whole context is re-sent).  Output is a constant 30,000 tokens per turn.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Compaction is itself an LLM call: it reads the context and writes a 50,000-token summary, billed at the same $5 / $25 rates.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API pricing example with no caching; on subscription apps caching is provider-managed and does not lower your bill.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45967-C125-BB83-EA54-172DFF841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97A87-B3D8-C97A-1E1D-C60ABBAEBD80}"/>
              </a:ext>
            </a:extLst>
          </p:cNvPr>
          <p:cNvSpPr>
            <a:spLocks noGrp="1"/>
          </p:cNvSpPr>
          <p:nvPr>
            <p:ph type="title"/>
          </p:nvPr>
        </p:nvSpPr>
        <p:spPr/>
        <p:txBody>
          <a:bodyPr/>
          <a:lstStyle/>
          <a:p>
            <a:r>
              <a:rPr lang="en-US" dirty="0"/>
              <a:t>Organizations can save with caching &amp; self-hosting </a:t>
            </a:r>
            <a:br>
              <a:rPr lang="en-US" sz="3200" dirty="0"/>
            </a:br>
            <a:r>
              <a:rPr lang="en-US" sz="3200" dirty="0"/>
              <a:t>[besides moving to cheaper/open-weight models]</a:t>
            </a:r>
            <a:endParaRPr lang="en-US" dirty="0"/>
          </a:p>
        </p:txBody>
      </p:sp>
    </p:spTree>
    <p:extLst>
      <p:ext uri="{BB962C8B-B14F-4D97-AF65-F5344CB8AC3E}">
        <p14:creationId xmlns:p14="http://schemas.microsoft.com/office/powerpoint/2010/main" val="97090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108F-27B5-E019-9A97-121905B06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A5EE7-B1D4-8716-790F-B0D0DFEB731B}"/>
              </a:ext>
            </a:extLst>
          </p:cNvPr>
          <p:cNvSpPr>
            <a:spLocks noGrp="1"/>
          </p:cNvSpPr>
          <p:nvPr>
            <p:ph type="title"/>
          </p:nvPr>
        </p:nvSpPr>
        <p:spPr>
          <a:xfrm>
            <a:off x="381000" y="342900"/>
            <a:ext cx="11430000" cy="492443"/>
          </a:xfrm>
        </p:spPr>
        <p:txBody>
          <a:bodyPr/>
          <a:lstStyle/>
          <a:p>
            <a:pPr algn="l"/>
            <a:r>
              <a:rPr lang="en-US" dirty="0">
                <a:solidFill>
                  <a:schemeClr val="accent1"/>
                </a:solidFill>
              </a:rPr>
              <a:t>Organizations can reduce costs in various ways</a:t>
            </a:r>
          </a:p>
        </p:txBody>
      </p:sp>
      <p:sp>
        <p:nvSpPr>
          <p:cNvPr id="3" name="Subtitle 2">
            <a:extLst>
              <a:ext uri="{FF2B5EF4-FFF2-40B4-BE49-F238E27FC236}">
                <a16:creationId xmlns:a16="http://schemas.microsoft.com/office/drawing/2014/main" id="{ACE7C106-032F-7D97-B519-B96907756372}"/>
              </a:ext>
            </a:extLst>
          </p:cNvPr>
          <p:cNvSpPr>
            <a:spLocks noGrp="1"/>
          </p:cNvSpPr>
          <p:nvPr>
            <p:ph type="subTitle" idx="1"/>
          </p:nvPr>
        </p:nvSpPr>
        <p:spPr/>
        <p:txBody>
          <a:bodyPr/>
          <a:lstStyle/>
          <a:p>
            <a:r>
              <a:rPr lang="en-US" dirty="0">
                <a:solidFill>
                  <a:schemeClr val="accent1"/>
                </a:solidFill>
              </a:rPr>
              <a:t>There are more opportunities to reduce cost but these are two.</a:t>
            </a:r>
          </a:p>
        </p:txBody>
      </p:sp>
      <p:sp>
        <p:nvSpPr>
          <p:cNvPr id="4" name="Shape 4">
            <a:extLst>
              <a:ext uri="{FF2B5EF4-FFF2-40B4-BE49-F238E27FC236}">
                <a16:creationId xmlns:a16="http://schemas.microsoft.com/office/drawing/2014/main" id="{6D641D2B-D348-A79F-AB63-94A57F2D7E21}"/>
              </a:ext>
            </a:extLst>
          </p:cNvPr>
          <p:cNvSpPr/>
          <p:nvPr/>
        </p:nvSpPr>
        <p:spPr>
          <a:xfrm>
            <a:off x="6606282" y="1312353"/>
            <a:ext cx="5505704" cy="5437768"/>
          </a:xfrm>
          <a:prstGeom prst="rect">
            <a:avLst/>
          </a:prstGeom>
          <a:solidFill>
            <a:srgbClr val="E6E6D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descr="All about the cache 🤓 : r/ProgrammerHumor">
            <a:extLst>
              <a:ext uri="{FF2B5EF4-FFF2-40B4-BE49-F238E27FC236}">
                <a16:creationId xmlns:a16="http://schemas.microsoft.com/office/drawing/2014/main" id="{28C09315-763A-4CF6-AE74-E1C9C503A156}"/>
              </a:ext>
            </a:extLst>
          </p:cNvPr>
          <p:cNvPicPr>
            <a:picLocks noChangeAspect="1"/>
          </p:cNvPicPr>
          <p:nvPr/>
        </p:nvPicPr>
        <p:blipFill>
          <a:blip r:embed="rId2"/>
          <a:stretch>
            <a:fillRect/>
          </a:stretch>
        </p:blipFill>
        <p:spPr>
          <a:xfrm>
            <a:off x="80014" y="1876589"/>
            <a:ext cx="6236495" cy="4219411"/>
          </a:xfrm>
          <a:prstGeom prst="rect">
            <a:avLst/>
          </a:prstGeom>
        </p:spPr>
      </p:pic>
      <p:sp>
        <p:nvSpPr>
          <p:cNvPr id="10" name="TextBox 9">
            <a:extLst>
              <a:ext uri="{FF2B5EF4-FFF2-40B4-BE49-F238E27FC236}">
                <a16:creationId xmlns:a16="http://schemas.microsoft.com/office/drawing/2014/main" id="{FEA3D18C-CCAE-F5F1-8ADE-28A7AC372A2E}"/>
              </a:ext>
            </a:extLst>
          </p:cNvPr>
          <p:cNvSpPr txBox="1"/>
          <p:nvPr/>
        </p:nvSpPr>
        <p:spPr>
          <a:xfrm>
            <a:off x="6718052" y="1522858"/>
            <a:ext cx="5393934" cy="5016758"/>
          </a:xfrm>
          <a:prstGeom prst="rect">
            <a:avLst/>
          </a:prstGeom>
          <a:noFill/>
        </p:spPr>
        <p:txBody>
          <a:bodyPr wrap="square">
            <a:spAutoFit/>
          </a:bodyPr>
          <a:lstStyle/>
          <a:p>
            <a:pPr>
              <a:buNone/>
            </a:pPr>
            <a:r>
              <a:rPr lang="en-US" sz="1600" b="1" dirty="0"/>
              <a:t>What is a Cache?</a:t>
            </a:r>
            <a:r>
              <a:rPr lang="en-US" sz="1600" dirty="0"/>
              <a:t> A high-speed storage layer that temporarily holds frequently accessed data so future requests can be served much faster than reading from primary memory.</a:t>
            </a:r>
          </a:p>
          <a:p>
            <a:pPr>
              <a:buNone/>
            </a:pPr>
            <a:endParaRPr lang="en-US" sz="1600" dirty="0"/>
          </a:p>
          <a:p>
            <a:pPr>
              <a:buNone/>
            </a:pPr>
            <a:r>
              <a:rPr lang="en-US" sz="1600" b="1" dirty="0"/>
              <a:t>The LLM Bottleneck:</a:t>
            </a:r>
            <a:r>
              <a:rPr lang="en-US" sz="1600" dirty="0"/>
              <a:t> Generating text token-by-token normally forces the model to recompute complex math for the </a:t>
            </a:r>
            <a:r>
              <a:rPr lang="en-US" sz="1600" i="1" dirty="0"/>
              <a:t>entire</a:t>
            </a:r>
            <a:r>
              <a:rPr lang="en-US" sz="1600" dirty="0"/>
              <a:t> preceding sequence at every single step.</a:t>
            </a:r>
          </a:p>
          <a:p>
            <a:pPr>
              <a:buNone/>
            </a:pPr>
            <a:endParaRPr lang="en-US" sz="1600" dirty="0"/>
          </a:p>
          <a:p>
            <a:pPr>
              <a:buNone/>
            </a:pPr>
            <a:r>
              <a:rPr lang="en-US" sz="1600" b="1" dirty="0"/>
              <a:t>The KV Cache Solution:</a:t>
            </a:r>
            <a:r>
              <a:rPr lang="en-US" sz="1600" dirty="0"/>
              <a:t> An optimization that stores the previously computed </a:t>
            </a:r>
            <a:r>
              <a:rPr lang="en-US" sz="1600" b="1" dirty="0"/>
              <a:t>Key</a:t>
            </a:r>
            <a:r>
              <a:rPr lang="en-US" sz="1600" dirty="0"/>
              <a:t> and </a:t>
            </a:r>
            <a:r>
              <a:rPr lang="en-US" sz="1600" b="1" dirty="0"/>
              <a:t>Value</a:t>
            </a:r>
            <a:r>
              <a:rPr lang="en-US" sz="1600" dirty="0"/>
              <a:t> matrices for all past tokens in memory so they can be reused instead of recalculated.</a:t>
            </a:r>
          </a:p>
          <a:p>
            <a:pPr>
              <a:buNone/>
            </a:pPr>
            <a:endParaRPr lang="en-US" sz="1600" dirty="0"/>
          </a:p>
          <a:p>
            <a:pPr>
              <a:buNone/>
            </a:pPr>
            <a:r>
              <a:rPr lang="en-US" sz="1600" b="1" dirty="0"/>
              <a:t>Eliminates Redundant Math:</a:t>
            </a:r>
            <a:r>
              <a:rPr lang="en-US" sz="1600" dirty="0"/>
              <a:t> During generation, the model only computes vectors for the single </a:t>
            </a:r>
            <a:r>
              <a:rPr lang="en-US" sz="1600" i="1" dirty="0"/>
              <a:t>newly generated</a:t>
            </a:r>
            <a:r>
              <a:rPr lang="en-US" sz="1600" dirty="0"/>
              <a:t> token and simply appends them to the existing cache.</a:t>
            </a:r>
          </a:p>
          <a:p>
            <a:pPr>
              <a:buNone/>
            </a:pPr>
            <a:endParaRPr lang="en-US" sz="1600" dirty="0"/>
          </a:p>
          <a:p>
            <a:pPr>
              <a:buNone/>
            </a:pPr>
            <a:r>
              <a:rPr lang="en-US" sz="1600" b="1" dirty="0"/>
              <a:t>Massive Performance Boost:</a:t>
            </a:r>
            <a:r>
              <a:rPr lang="en-US" sz="1600" dirty="0"/>
              <a:t> Drastically speeds up text generation, lowers latency, and makes long-context prompts computationally feasible without overloading GPU memory.</a:t>
            </a:r>
          </a:p>
        </p:txBody>
      </p:sp>
    </p:spTree>
    <p:extLst>
      <p:ext uri="{BB962C8B-B14F-4D97-AF65-F5344CB8AC3E}">
        <p14:creationId xmlns:p14="http://schemas.microsoft.com/office/powerpoint/2010/main" val="2002712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What is a tensor? Numbers in a grid, simple to complex</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822960"/>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tensor just holds numbers in a grid. Add a dimension as the data gets richer. The model's Keys and Values are tensors like these.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57200"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0-D  ·  scalar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57200"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single value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40080"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One number.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Example: a temperature.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310128"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3310128"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1-D  ·  vector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310128"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list (shape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493008"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list of numbers.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Example: daily highs for a week.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163056"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6163056"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2-D  ·  matrix</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163056"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grid (shape 3 x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45936"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grid of numbers = a grayscale image.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0 = black to 255 = white.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015984" y="1554480"/>
            <a:ext cx="2578608" cy="3977640"/>
          </a:xfrm>
          <a:prstGeom prst="roundRect">
            <a:avLst>
              <a:gd name="adj" fmla="val 2482"/>
            </a:avLst>
          </a:prstGeom>
          <a:solidFill>
            <a:srgbClr val="FFFFFF">
              <a:alpha val="90000"/>
            </a:srgbClr>
          </a:solidFill>
          <a:ln w="12700">
            <a:solidFill>
              <a:srgbClr val="E4DFE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9015984" y="1700784"/>
            <a:ext cx="257860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3-D  ·  tensor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9015984" y="2011680"/>
            <a:ext cx="257860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stacked grids (3 x 3 x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198864" y="4434840"/>
            <a:ext cx="2212848" cy="914400"/>
          </a:xfrm>
          <a:prstGeom prst="rect">
            <a:avLst/>
          </a:prstGeom>
          <a:noFill/>
          <a:ln/>
        </p:spPr>
        <p:txBody>
          <a:bodyPr wrap="square" lIns="0" tIns="0" rIns="0" bIns="0" rtlCol="0" anchor="t"/>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Grids stacked in depth = a color image.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Each pixel = 3 numbers (R, G, B).</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127248"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980176"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833104" y="2743200"/>
            <a:ext cx="274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C9A9AD"/>
                </a:solidFill>
                <a:effectLst/>
                <a:uLnTx/>
                <a:uFillTx/>
                <a:latin typeface="Arial" pitchFamily="34" charset="0"/>
                <a:ea typeface="Arial" pitchFamily="34" charset="-122"/>
                <a:cs typeface="Arial" pitchFamily="34" charset="-120"/>
              </a:rPr>
              <a:t>→</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335024" y="2743200"/>
            <a:ext cx="8229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1335024" y="2743200"/>
            <a:ext cx="82296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3502152"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3502152"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3950208"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3950208"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75</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398264"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4398264"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846320"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846320"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68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5294376" y="2880360"/>
            <a:ext cx="402336" cy="475488"/>
          </a:xfrm>
          <a:prstGeom prst="roundRect">
            <a:avLst>
              <a:gd name="adj" fmla="val 9091"/>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5294376" y="2880360"/>
            <a:ext cx="402336"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70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6638544" y="2377440"/>
            <a:ext cx="512064" cy="512064"/>
          </a:xfrm>
          <a:prstGeom prst="rect">
            <a:avLst/>
          </a:prstGeom>
          <a:solidFill>
            <a:srgbClr val="1E1E1E"/>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6638544"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7196328" y="2377440"/>
            <a:ext cx="512064" cy="512064"/>
          </a:xfrm>
          <a:prstGeom prst="rect">
            <a:avLst/>
          </a:prstGeom>
          <a:solidFill>
            <a:srgbClr val="C8C8C8"/>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7196328"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200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7754112" y="2377440"/>
            <a:ext cx="512064" cy="512064"/>
          </a:xfrm>
          <a:prstGeom prst="rect">
            <a:avLst/>
          </a:prstGeom>
          <a:solidFill>
            <a:srgbClr val="5A5A5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7754112" y="2377440"/>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90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6638544" y="2935224"/>
            <a:ext cx="512064" cy="512064"/>
          </a:xfrm>
          <a:prstGeom prst="rect">
            <a:avLst/>
          </a:prstGeom>
          <a:solidFill>
            <a:srgbClr val="FFFFFF"/>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6638544"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255</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41"/>
          <p:cNvSpPr/>
          <p:nvPr/>
        </p:nvSpPr>
        <p:spPr>
          <a:xfrm>
            <a:off x="7196328" y="2935224"/>
            <a:ext cx="512064" cy="512064"/>
          </a:xfrm>
          <a:prstGeom prst="rect">
            <a:avLst/>
          </a:prstGeom>
          <a:solidFill>
            <a:srgbClr val="787878"/>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7196328"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120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7754112" y="2935224"/>
            <a:ext cx="512064" cy="512064"/>
          </a:xfrm>
          <a:prstGeom prst="rect">
            <a:avLst/>
          </a:prstGeom>
          <a:solidFill>
            <a:srgbClr val="3C3C3C"/>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7754112" y="2935224"/>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60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6638544" y="3493008"/>
            <a:ext cx="512064" cy="512064"/>
          </a:xfrm>
          <a:prstGeom prst="rect">
            <a:avLst/>
          </a:prstGeom>
          <a:solidFill>
            <a:srgbClr val="0A0A0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6638544"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7196328" y="3493008"/>
            <a:ext cx="512064" cy="512064"/>
          </a:xfrm>
          <a:prstGeom prst="rect">
            <a:avLst/>
          </a:prstGeom>
          <a:solidFill>
            <a:srgbClr val="B4B4B4"/>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7196328"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180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7754112" y="3493008"/>
            <a:ext cx="512064" cy="512064"/>
          </a:xfrm>
          <a:prstGeom prst="rect">
            <a:avLst/>
          </a:prstGeom>
          <a:solidFill>
            <a:srgbClr val="F0F0F0"/>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7754112" y="3493008"/>
            <a:ext cx="512064" cy="51206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240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9747504" y="2395728"/>
            <a:ext cx="822960" cy="822960"/>
          </a:xfrm>
          <a:prstGeom prst="rect">
            <a:avLst/>
          </a:prstGeom>
          <a:solidFill>
            <a:srgbClr val="4F86E0">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9784080" y="2414016"/>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3"/>
          <p:cNvSpPr/>
          <p:nvPr/>
        </p:nvSpPr>
        <p:spPr>
          <a:xfrm>
            <a:off x="9893808" y="2542032"/>
            <a:ext cx="822960" cy="822960"/>
          </a:xfrm>
          <a:prstGeom prst="rect">
            <a:avLst/>
          </a:prstGeom>
          <a:solidFill>
            <a:srgbClr val="4FB477">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4"/>
          <p:cNvSpPr/>
          <p:nvPr/>
        </p:nvSpPr>
        <p:spPr>
          <a:xfrm>
            <a:off x="9930384" y="2560320"/>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5"/>
          <p:cNvSpPr/>
          <p:nvPr/>
        </p:nvSpPr>
        <p:spPr>
          <a:xfrm>
            <a:off x="10040112" y="2688336"/>
            <a:ext cx="822960" cy="822960"/>
          </a:xfrm>
          <a:prstGeom prst="rect">
            <a:avLst/>
          </a:prstGeom>
          <a:solidFill>
            <a:srgbClr val="E0575B">
              <a:alpha val="92000"/>
            </a:srgbClr>
          </a:solidFill>
          <a:ln w="1905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p:cNvSpPr/>
          <p:nvPr/>
        </p:nvSpPr>
        <p:spPr>
          <a:xfrm>
            <a:off x="10076688" y="2706624"/>
            <a:ext cx="237744"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7"/>
          <p:cNvSpPr/>
          <p:nvPr/>
        </p:nvSpPr>
        <p:spPr>
          <a:xfrm>
            <a:off x="10314432" y="2688336"/>
            <a:ext cx="0" cy="82296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p:cNvSpPr/>
          <p:nvPr/>
        </p:nvSpPr>
        <p:spPr>
          <a:xfrm>
            <a:off x="10040112" y="2962656"/>
            <a:ext cx="822960" cy="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p:cNvSpPr/>
          <p:nvPr/>
        </p:nvSpPr>
        <p:spPr>
          <a:xfrm>
            <a:off x="10588752" y="2688336"/>
            <a:ext cx="0" cy="82296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10040112" y="3236976"/>
            <a:ext cx="822960" cy="0"/>
          </a:xfrm>
          <a:prstGeom prst="line">
            <a:avLst/>
          </a:prstGeom>
          <a:noFill/>
          <a:ln w="9525">
            <a:solidFill>
              <a:srgbClr val="FFFFFF">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p:cNvSpPr/>
          <p:nvPr/>
        </p:nvSpPr>
        <p:spPr>
          <a:xfrm>
            <a:off x="9107424" y="3639312"/>
            <a:ext cx="2395728"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one pixel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2"/>
          <p:cNvSpPr/>
          <p:nvPr/>
        </p:nvSpPr>
        <p:spPr>
          <a:xfrm>
            <a:off x="9107424" y="3840480"/>
            <a:ext cx="1801368"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(200, 60, 90)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3"/>
          <p:cNvSpPr/>
          <p:nvPr/>
        </p:nvSpPr>
        <p:spPr>
          <a:xfrm>
            <a:off x="10936224" y="3858768"/>
            <a:ext cx="329184" cy="256032"/>
          </a:xfrm>
          <a:prstGeom prst="rect">
            <a:avLst/>
          </a:prstGeom>
          <a:solidFill>
            <a:srgbClr val="C83C5A"/>
          </a:solidFill>
          <a:ln w="6350">
            <a:solidFill>
              <a:srgbClr val="B4B0B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p:cNvSpPr/>
          <p:nvPr/>
        </p:nvSpPr>
        <p:spPr>
          <a:xfrm>
            <a:off x="457200" y="5687568"/>
            <a:ext cx="11274552" cy="713232"/>
          </a:xfrm>
          <a:prstGeom prst="roundRect">
            <a:avLst>
              <a:gd name="adj" fmla="val 7692"/>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658368" y="5760720"/>
            <a:ext cx="108813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In this deck: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Keys and Values the model caches are tensors exactly like these, grids of numbers it computes for each token and stores in memory.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Inside the cache: keys and values, not text</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841248"/>
            <a:ext cx="111556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The KV cache stores each prior token's per-layer Key and Value tensors in GPU memory. Once computed they never change, so every later turn reuses them and prefills only the new tokens.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481328"/>
            <a:ext cx="95097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The new turn's Query attends to every cached Key and Value; the prefix itself is not recomputed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097280" y="1810512"/>
            <a:ext cx="7863840" cy="0"/>
          </a:xfrm>
          <a:prstGeom prst="line">
            <a:avLst/>
          </a:prstGeom>
          <a:noFill/>
          <a:ln w="19050">
            <a:solidFill>
              <a:srgbClr val="A51C30"/>
            </a:solidFill>
            <a:prstDash val="solid"/>
            <a:headEnd type="oval"/>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64008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4008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System prompt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143560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251460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251460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1 Query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31012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38912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38912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Response 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18464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263640" y="1938528"/>
            <a:ext cx="1737360" cy="457200"/>
          </a:xfrm>
          <a:prstGeom prst="roundRect">
            <a:avLst>
              <a:gd name="adj" fmla="val 10000"/>
            </a:avLst>
          </a:prstGeom>
          <a:solidFill>
            <a:srgbClr val="F6E7EA"/>
          </a:solidFill>
          <a:ln w="9525">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26364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2 Query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05916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8366760" y="1938528"/>
            <a:ext cx="1737360" cy="457200"/>
          </a:xfrm>
          <a:prstGeom prst="roundRect">
            <a:avLst>
              <a:gd name="adj" fmla="val 10000"/>
            </a:avLst>
          </a:prstGeom>
          <a:solidFill>
            <a:srgbClr val="A51C30"/>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366760" y="1938528"/>
            <a:ext cx="17373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New tokens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9162288" y="2432304"/>
            <a:ext cx="146304" cy="128016"/>
          </a:xfrm>
          <a:prstGeom prst="downArrow">
            <a:avLst/>
          </a:prstGeom>
          <a:solidFill>
            <a:srgbClr val="6B6B6B"/>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530352" y="2615184"/>
            <a:ext cx="7580376" cy="603504"/>
          </a:xfrm>
          <a:prstGeom prst="roundRect">
            <a:avLst>
              <a:gd name="adj" fmla="val 12121"/>
            </a:avLst>
          </a:prstGeom>
          <a:solidFill>
            <a:srgbClr val="FFFFFF">
              <a:alpha val="75000"/>
            </a:srgbClr>
          </a:solidFill>
          <a:ln w="15875">
            <a:solidFill>
              <a:srgbClr val="A51C3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74980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74980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62432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262432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49884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449884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6373368" y="2697480"/>
            <a:ext cx="1517904" cy="438912"/>
          </a:xfrm>
          <a:prstGeom prst="roundRect">
            <a:avLst>
              <a:gd name="adj" fmla="val 10417"/>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637336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 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530352" y="3227832"/>
            <a:ext cx="7580376"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KV cache in GPU memory  ·  reused every later turn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8476488" y="2697480"/>
            <a:ext cx="1517904" cy="438912"/>
          </a:xfrm>
          <a:prstGeom prst="roundRect">
            <a:avLst>
              <a:gd name="adj" fmla="val 10417"/>
            </a:avLst>
          </a:prstGeom>
          <a:solidFill>
            <a:srgbClr val="3F5165"/>
          </a:solidFill>
          <a:ln w="12700">
            <a:solidFill>
              <a:srgbClr val="33333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8476488" y="2697480"/>
            <a:ext cx="1517904"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 V (new)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183880" y="3227832"/>
            <a:ext cx="210312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computed now, then added to the cache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548640" y="3529584"/>
            <a:ext cx="111556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Each prior token's Key/Value is computed once and kept in memory. Because a token's K/V depends only on it and the tokens before it, it never changes, so later turns reuse it and prefill only the new tokens.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457200" y="4023360"/>
            <a:ext cx="5486400" cy="1600200"/>
          </a:xfrm>
          <a:prstGeom prst="roundRect">
            <a:avLst>
              <a:gd name="adj" fmla="val 3429"/>
            </a:avLst>
          </a:prstGeom>
          <a:solidFill>
            <a:srgbClr val="FFFFFF">
              <a:alpha val="88000"/>
            </a:srgbClr>
          </a:solidFill>
          <a:ln w="12700">
            <a:solidFill>
              <a:srgbClr val="E4DF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658368" y="4133088"/>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What the cache holds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658368" y="4480560"/>
            <a:ext cx="5084064" cy="105156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Cached: the per-layer Key and Value tensors for every prior token.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Not cached: the raw text of a new query, and the model's output.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Recomputed &amp; appended each step: only the current token’s query.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6217920" y="4023360"/>
            <a:ext cx="5513832" cy="1600200"/>
          </a:xfrm>
          <a:prstGeom prst="roundRect">
            <a:avLst>
              <a:gd name="adj" fmla="val 3429"/>
            </a:avLst>
          </a:prstGeom>
          <a:solidFill>
            <a:srgbClr val="ECEFF2">
              <a:alpha val="92000"/>
            </a:srgbClr>
          </a:solidFill>
          <a:ln w="1270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6419088" y="4133088"/>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The one rule that governs caching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6419088" y="4480560"/>
            <a:ext cx="5120640" cy="1051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Caching only works for an exact, contiguous prefix. Change, insert, or prepend anything and every K/V after that point is invalidated and must be recomputed. So keep stable content (system prompt, tool definitions) at the front and put volatile content last.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457200" y="5742432"/>
            <a:ext cx="1127455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Inference servers implement this KV reuse for you: vLLM (PagedAttention), SGLang (RadixTree prefix cache), and TensorRT-LLM. Specifics differ and evolve, so verify for your stack.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Cache-aware routing: keep users on their warm cache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822960"/>
            <a:ext cx="111556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A returning user's KV cache lives on one replica. Route them back to it and only new tokens prefill; send them elsewhere and the whole prefix is rebuilt.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371600"/>
            <a:ext cx="21945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Requests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572000" y="1371600"/>
            <a:ext cx="246888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Router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595360" y="1371600"/>
            <a:ext cx="3017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GPU replicas (each holds live KV caches)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182880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40080" y="182880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returning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2834640" y="219456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640080" y="278892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278892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B</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returning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2834640" y="315468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3749040"/>
            <a:ext cx="2194560" cy="731520"/>
          </a:xfrm>
          <a:prstGeom prst="roundRect">
            <a:avLst>
              <a:gd name="adj" fmla="val 7500"/>
            </a:avLst>
          </a:prstGeom>
          <a:solidFill>
            <a:srgbClr val="F6E7EA"/>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 y="3749040"/>
            <a:ext cx="2194560" cy="731520"/>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A1420"/>
                </a:solidFill>
                <a:effectLst/>
                <a:uLnTx/>
                <a:uFillTx/>
                <a:latin typeface="Arial" pitchFamily="34" charset="0"/>
                <a:ea typeface="Arial" pitchFamily="34" charset="-122"/>
                <a:cs typeface="Arial" pitchFamily="34" charset="-120"/>
              </a:rPr>
              <a:t>User C</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new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2834640" y="4114800"/>
            <a:ext cx="1737360" cy="0"/>
          </a:xfrm>
          <a:prstGeom prst="line">
            <a:avLst/>
          </a:prstGeom>
          <a:noFill/>
          <a:ln w="19050">
            <a:solidFill>
              <a:srgbClr val="6B6B6B"/>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72000" y="1828800"/>
            <a:ext cx="2468880" cy="2651760"/>
          </a:xfrm>
          <a:prstGeom prst="roundRect">
            <a:avLst>
              <a:gd name="adj" fmla="val 2963"/>
            </a:avLst>
          </a:prstGeom>
          <a:solidFill>
            <a:srgbClr val="1F1F1F"/>
          </a:solidFill>
          <a:ln w="12700">
            <a:solidFill>
              <a:srgbClr val="333333"/>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18304" y="1828800"/>
            <a:ext cx="2176272" cy="2651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Cache-aware router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Matches each session to the replica already holding its KV cache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E0D6D8"/>
                </a:solidFill>
                <a:effectLst/>
                <a:uLnTx/>
                <a:uFillTx/>
                <a:latin typeface="Arial" pitchFamily="34" charset="0"/>
                <a:ea typeface="Arial" pitchFamily="34" charset="-122"/>
                <a:cs typeface="Arial" pitchFamily="34" charset="-120"/>
              </a:rPr>
              <a:t>session affinity  ·  prefix hash</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040880" y="2194560"/>
            <a:ext cx="1554480" cy="0"/>
          </a:xfrm>
          <a:prstGeom prst="line">
            <a:avLst/>
          </a:prstGeom>
          <a:noFill/>
          <a:ln w="254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7040880" y="184708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A: warm hit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8595360" y="1828800"/>
            <a:ext cx="3017520" cy="731520"/>
          </a:xfrm>
          <a:prstGeom prst="roundRect">
            <a:avLst>
              <a:gd name="adj" fmla="val 7500"/>
            </a:avLst>
          </a:prstGeom>
          <a:solidFill>
            <a:srgbClr val="FFFFFF">
              <a:alpha val="92000"/>
            </a:srgbClr>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8732520" y="182880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0012680" y="1993392"/>
            <a:ext cx="1463040" cy="402336"/>
          </a:xfrm>
          <a:prstGeom prst="roundRect">
            <a:avLst>
              <a:gd name="adj" fmla="val 13636"/>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0012680" y="199339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KV [ A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040880" y="3154680"/>
            <a:ext cx="1554480" cy="0"/>
          </a:xfrm>
          <a:prstGeom prst="line">
            <a:avLst/>
          </a:prstGeom>
          <a:noFill/>
          <a:ln w="254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7040880" y="280720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B: warm hit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8595360" y="2788920"/>
            <a:ext cx="3017520" cy="731520"/>
          </a:xfrm>
          <a:prstGeom prst="roundRect">
            <a:avLst>
              <a:gd name="adj" fmla="val 7500"/>
            </a:avLst>
          </a:prstGeom>
          <a:solidFill>
            <a:srgbClr val="FFFFFF">
              <a:alpha val="92000"/>
            </a:srgbClr>
          </a:solidFill>
          <a:ln w="12700">
            <a:solidFill>
              <a:srgbClr val="A51C30"/>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8732520" y="278892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10012680" y="2953512"/>
            <a:ext cx="1463040" cy="402336"/>
          </a:xfrm>
          <a:prstGeom prst="roundRect">
            <a:avLst>
              <a:gd name="adj" fmla="val 13636"/>
            </a:avLst>
          </a:prstGeom>
          <a:solidFill>
            <a:srgbClr val="F0E3E5"/>
          </a:solidFill>
          <a:ln w="635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10012680" y="295351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KV [ B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7040880" y="4114800"/>
            <a:ext cx="1554480" cy="0"/>
          </a:xfrm>
          <a:prstGeom prst="line">
            <a:avLst/>
          </a:prstGeom>
          <a:noFill/>
          <a:ln w="25400">
            <a:solidFill>
              <a:srgbClr val="3F51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7040880" y="3767328"/>
            <a:ext cx="1554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 cold start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8595360" y="3749040"/>
            <a:ext cx="3017520" cy="731520"/>
          </a:xfrm>
          <a:prstGeom prst="roundRect">
            <a:avLst>
              <a:gd name="adj" fmla="val 7500"/>
            </a:avLst>
          </a:prstGeom>
          <a:solidFill>
            <a:srgbClr val="FFFFFF">
              <a:alpha val="92000"/>
            </a:srgbClr>
          </a:solidFill>
          <a:ln w="12700">
            <a:solidFill>
              <a:srgbClr val="3F5165"/>
            </a:solidFill>
            <a:prstDash val="solid"/>
          </a:ln>
          <a:effectLst>
            <a:outerShdw blurRad="63500" dist="25400" dir="54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8732520" y="3749040"/>
            <a:ext cx="13716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Replica 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10012680" y="3913632"/>
            <a:ext cx="1463040" cy="402336"/>
          </a:xfrm>
          <a:prstGeom prst="roundRect">
            <a:avLst>
              <a:gd name="adj" fmla="val 13636"/>
            </a:avLst>
          </a:prstGeom>
          <a:solidFill>
            <a:srgbClr val="3F5165"/>
          </a:solidFill>
          <a:ln w="6350">
            <a:solidFill>
              <a:srgbClr val="3F51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10012680" y="3913632"/>
            <a:ext cx="1463040"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KV [ C ] new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457200" y="4828032"/>
            <a:ext cx="11274552" cy="1737360"/>
          </a:xfrm>
          <a:prstGeom prst="roundRect">
            <a:avLst>
              <a:gd name="adj" fmla="val 3158"/>
            </a:avLst>
          </a:prstGeom>
          <a:solidFill>
            <a:srgbClr val="F5EAEC">
              <a:alpha val="85000"/>
            </a:srgbClr>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713232" y="5138928"/>
            <a:ext cx="457200" cy="0"/>
          </a:xfrm>
          <a:prstGeom prst="line">
            <a:avLst/>
          </a:prstGeom>
          <a:noFill/>
          <a:ln w="38100">
            <a:solidFill>
              <a:srgbClr val="A51C3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1280160" y="4992624"/>
            <a:ext cx="102412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Warm hit: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session lands on the replica that already holds its KV cache, so only the new tokens prefill. Fast and cheap.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713232" y="5541264"/>
            <a:ext cx="457200" cy="0"/>
          </a:xfrm>
          <a:prstGeom prst="line">
            <a:avLst/>
          </a:prstGeom>
          <a:noFill/>
          <a:ln w="38100">
            <a:solidFill>
              <a:srgbClr val="3F51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1280160" y="5394960"/>
            <a:ext cx="102412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E3A48"/>
                </a:solidFill>
                <a:effectLst/>
                <a:uLnTx/>
                <a:uFillTx/>
                <a:latin typeface="Arial" pitchFamily="34" charset="0"/>
                <a:ea typeface="Arial" pitchFamily="34" charset="-122"/>
                <a:cs typeface="Arial" pitchFamily="34" charset="-120"/>
              </a:rPr>
              <a:t>Cold start:  </a:t>
            </a:r>
            <a:r>
              <a:rPr kumimoji="0" lang="en-US" sz="115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replica has no cached prefix for this session (a new user, a deleted cache, or a returning user sent to the wrong replica), so the entire prefix is re-prefilled. Slow and expensive.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713232" y="5943600"/>
            <a:ext cx="10835640" cy="512064"/>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6B6B"/>
                </a:solidFill>
                <a:effectLst/>
                <a:uLnTx/>
                <a:uFillTx/>
                <a:latin typeface="Arial" pitchFamily="34" charset="0"/>
                <a:ea typeface="Arial" pitchFamily="34" charset="-122"/>
                <a:cs typeface="Arial" pitchFamily="34" charset="-120"/>
              </a:rPr>
              <a:t>Routing uses session stickiness or a hash of the prefix to keep returning users on their warm replica. Implemented by a router layer in front of vLLM, SGLang, or TensorRT-LLM. General pattern; verify specifics for your stack.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11247120" cy="54864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The cost lever flips from consumption to utilization</a:t>
            </a:r>
            <a:endParaRPr lang="en-US" sz="3000" dirty="0"/>
          </a:p>
        </p:txBody>
      </p:sp>
      <p:sp>
        <p:nvSpPr>
          <p:cNvPr id="3" name="Text 1"/>
          <p:cNvSpPr/>
          <p:nvPr/>
        </p:nvSpPr>
        <p:spPr>
          <a:xfrm>
            <a:off x="3380197" y="841248"/>
            <a:ext cx="8671389" cy="365760"/>
          </a:xfrm>
          <a:prstGeom prst="rect">
            <a:avLst/>
          </a:prstGeom>
          <a:noFill/>
          <a:ln/>
        </p:spPr>
        <p:txBody>
          <a:bodyPr wrap="square" lIns="0" tIns="0" rIns="0" bIns="0" rtlCol="0" anchor="ctr"/>
          <a:lstStyle/>
          <a:p>
            <a:pPr marL="0" indent="0">
              <a:buNone/>
            </a:pPr>
            <a:r>
              <a:rPr lang="en-US" sz="1700" dirty="0">
                <a:solidFill>
                  <a:srgbClr val="9A6B2C"/>
                </a:solidFill>
                <a:latin typeface="Calibri" pitchFamily="34" charset="0"/>
                <a:ea typeface="Calibri" pitchFamily="34" charset="-122"/>
                <a:cs typeface="Calibri" pitchFamily="34" charset="-120"/>
              </a:rPr>
              <a:t>Moving to self-hosting the objective moves from </a:t>
            </a:r>
            <a:r>
              <a:rPr lang="en-US" sz="1700" b="1" dirty="0">
                <a:solidFill>
                  <a:srgbClr val="9A6B2C"/>
                </a:solidFill>
                <a:latin typeface="Calibri" pitchFamily="34" charset="0"/>
                <a:ea typeface="Calibri" pitchFamily="34" charset="-122"/>
                <a:cs typeface="Calibri" pitchFamily="34" charset="-120"/>
              </a:rPr>
              <a:t>“consume fewer tokens” to “utilize GPU/Capex”</a:t>
            </a:r>
            <a:endParaRPr lang="en-US" sz="1700" dirty="0"/>
          </a:p>
        </p:txBody>
      </p:sp>
      <p:sp>
        <p:nvSpPr>
          <p:cNvPr id="4" name="Text 2"/>
          <p:cNvSpPr/>
          <p:nvPr/>
        </p:nvSpPr>
        <p:spPr>
          <a:xfrm>
            <a:off x="502920" y="1417320"/>
            <a:ext cx="3383280" cy="320040"/>
          </a:xfrm>
          <a:prstGeom prst="rect">
            <a:avLst/>
          </a:prstGeom>
          <a:noFill/>
          <a:ln/>
        </p:spPr>
        <p:txBody>
          <a:bodyPr wrap="square" lIns="0" tIns="0" rIns="0" bIns="0"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1. API, no cache [before compaction]</a:t>
            </a:r>
            <a:endParaRPr lang="en-US" sz="1400" dirty="0"/>
          </a:p>
        </p:txBody>
      </p:sp>
      <p:sp>
        <p:nvSpPr>
          <p:cNvPr id="5" name="Text 3"/>
          <p:cNvSpPr/>
          <p:nvPr/>
        </p:nvSpPr>
        <p:spPr>
          <a:xfrm>
            <a:off x="502920" y="1594654"/>
            <a:ext cx="3383280" cy="320040"/>
          </a:xfrm>
          <a:prstGeom prst="rect">
            <a:avLst/>
          </a:prstGeom>
          <a:noFill/>
          <a:ln/>
        </p:spPr>
        <p:txBody>
          <a:bodyPr wrap="square" lIns="0" tIns="0" rIns="0" bIns="0" rtlCol="0" anchor="ctr"/>
          <a:lstStyle/>
          <a:p>
            <a:pPr marL="0" indent="0">
              <a:buNone/>
            </a:pPr>
            <a:r>
              <a:rPr lang="en-US" sz="1250" dirty="0">
                <a:solidFill>
                  <a:srgbClr val="5F5E5A"/>
                </a:solidFill>
                <a:latin typeface="Calibri" pitchFamily="34" charset="0"/>
                <a:ea typeface="Calibri" pitchFamily="34" charset="-122"/>
                <a:cs typeface="Calibri" pitchFamily="34" charset="-120"/>
              </a:rPr>
              <a:t>Every turn re-reads full history at full price</a:t>
            </a:r>
            <a:endParaRPr lang="en-US" sz="1250" dirty="0"/>
          </a:p>
        </p:txBody>
      </p:sp>
      <p:sp>
        <p:nvSpPr>
          <p:cNvPr id="6" name="Text 4"/>
          <p:cNvSpPr/>
          <p:nvPr/>
        </p:nvSpPr>
        <p:spPr>
          <a:xfrm>
            <a:off x="4343400" y="1417320"/>
            <a:ext cx="3383280" cy="320040"/>
          </a:xfrm>
          <a:prstGeom prst="rect">
            <a:avLst/>
          </a:prstGeom>
          <a:noFill/>
          <a:ln/>
        </p:spPr>
        <p:txBody>
          <a:bodyPr wrap="square" lIns="0" tIns="0" rIns="0" bIns="0"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2. Conversation with KV cache</a:t>
            </a:r>
            <a:endParaRPr lang="en-US" sz="1400" dirty="0"/>
          </a:p>
        </p:txBody>
      </p:sp>
      <p:sp>
        <p:nvSpPr>
          <p:cNvPr id="7" name="Text 5"/>
          <p:cNvSpPr/>
          <p:nvPr/>
        </p:nvSpPr>
        <p:spPr>
          <a:xfrm>
            <a:off x="4343400" y="1594654"/>
            <a:ext cx="3383280" cy="320040"/>
          </a:xfrm>
          <a:prstGeom prst="rect">
            <a:avLst/>
          </a:prstGeom>
          <a:noFill/>
          <a:ln/>
        </p:spPr>
        <p:txBody>
          <a:bodyPr wrap="square" lIns="0" tIns="0" rIns="0" bIns="0" rtlCol="0" anchor="ctr"/>
          <a:lstStyle/>
          <a:p>
            <a:pPr marL="0" indent="0">
              <a:buNone/>
            </a:pPr>
            <a:r>
              <a:rPr lang="en-US" sz="1250" dirty="0">
                <a:solidFill>
                  <a:srgbClr val="5F5E5A"/>
                </a:solidFill>
                <a:latin typeface="Calibri" pitchFamily="34" charset="0"/>
                <a:ea typeface="Calibri" pitchFamily="34" charset="-122"/>
                <a:cs typeface="Calibri" pitchFamily="34" charset="-120"/>
              </a:rPr>
              <a:t>Cached context re-reads at ~10% of input cost</a:t>
            </a:r>
            <a:endParaRPr lang="en-US" sz="1250" dirty="0"/>
          </a:p>
        </p:txBody>
      </p:sp>
      <p:sp>
        <p:nvSpPr>
          <p:cNvPr id="8" name="Text 6"/>
          <p:cNvSpPr/>
          <p:nvPr/>
        </p:nvSpPr>
        <p:spPr>
          <a:xfrm>
            <a:off x="8183880" y="1417320"/>
            <a:ext cx="3383280" cy="320040"/>
          </a:xfrm>
          <a:prstGeom prst="rect">
            <a:avLst/>
          </a:prstGeom>
          <a:noFill/>
          <a:ln/>
        </p:spPr>
        <p:txBody>
          <a:bodyPr wrap="square" lIns="0" tIns="0" rIns="0" bIns="0"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3. Self-hosted, open-weight</a:t>
            </a:r>
            <a:endParaRPr lang="en-US" sz="1400" dirty="0"/>
          </a:p>
        </p:txBody>
      </p:sp>
      <p:sp>
        <p:nvSpPr>
          <p:cNvPr id="9" name="Text 7"/>
          <p:cNvSpPr/>
          <p:nvPr/>
        </p:nvSpPr>
        <p:spPr>
          <a:xfrm>
            <a:off x="8183880" y="1594654"/>
            <a:ext cx="3383280" cy="320040"/>
          </a:xfrm>
          <a:prstGeom prst="rect">
            <a:avLst/>
          </a:prstGeom>
          <a:noFill/>
          <a:ln/>
        </p:spPr>
        <p:txBody>
          <a:bodyPr wrap="square" lIns="0" tIns="0" rIns="0" bIns="0" rtlCol="0" anchor="ctr"/>
          <a:lstStyle/>
          <a:p>
            <a:pPr marL="0" indent="0">
              <a:buNone/>
            </a:pPr>
            <a:r>
              <a:rPr lang="en-US" sz="1250" dirty="0">
                <a:solidFill>
                  <a:srgbClr val="5F5E5A"/>
                </a:solidFill>
                <a:latin typeface="Calibri" pitchFamily="34" charset="0"/>
                <a:ea typeface="Calibri" pitchFamily="34" charset="-122"/>
                <a:cs typeface="Calibri" pitchFamily="34" charset="-120"/>
              </a:rPr>
              <a:t>Fixed GPU cost: cost per user falls with use</a:t>
            </a:r>
            <a:endParaRPr lang="en-US" sz="1250" dirty="0"/>
          </a:p>
        </p:txBody>
      </p:sp>
      <p:graphicFrame>
        <p:nvGraphicFramePr>
          <p:cNvPr id="10" name="Chart 0"/>
          <p:cNvGraphicFramePr/>
          <p:nvPr/>
        </p:nvGraphicFramePr>
        <p:xfrm>
          <a:off x="502920" y="2148840"/>
          <a:ext cx="338328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extLst>
              <p:ext uri="{D42A27DB-BD31-4B8C-83A1-F6EECF244321}">
                <p14:modId xmlns:p14="http://schemas.microsoft.com/office/powerpoint/2010/main" val="2138060631"/>
              </p:ext>
            </p:extLst>
          </p:nvPr>
        </p:nvGraphicFramePr>
        <p:xfrm>
          <a:off x="4175759" y="2148840"/>
          <a:ext cx="3840481" cy="35844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2"/>
          <p:cNvGraphicFramePr/>
          <p:nvPr/>
        </p:nvGraphicFramePr>
        <p:xfrm>
          <a:off x="8183880" y="2148840"/>
          <a:ext cx="3383280" cy="3200400"/>
        </p:xfrm>
        <a:graphic>
          <a:graphicData uri="http://schemas.openxmlformats.org/drawingml/2006/chart">
            <c:chart xmlns:c="http://schemas.openxmlformats.org/drawingml/2006/chart" xmlns:r="http://schemas.openxmlformats.org/officeDocument/2006/relationships" r:id="rId5"/>
          </a:graphicData>
        </a:graphic>
      </p:graphicFrame>
      <p:sp>
        <p:nvSpPr>
          <p:cNvPr id="13" name="Shape 8"/>
          <p:cNvSpPr/>
          <p:nvPr/>
        </p:nvSpPr>
        <p:spPr>
          <a:xfrm>
            <a:off x="457200" y="5806440"/>
            <a:ext cx="11247120" cy="777240"/>
          </a:xfrm>
          <a:prstGeom prst="roundRect">
            <a:avLst>
              <a:gd name="adj" fmla="val 7059"/>
            </a:avLst>
          </a:prstGeom>
          <a:solidFill>
            <a:srgbClr val="FAFAF7"/>
          </a:solidFill>
          <a:ln w="12700">
            <a:solidFill>
              <a:srgbClr val="B4B2A9"/>
            </a:solidFill>
            <a:prstDash val="solid"/>
          </a:ln>
        </p:spPr>
      </p:sp>
      <p:sp>
        <p:nvSpPr>
          <p:cNvPr id="14" name="Text 9"/>
          <p:cNvSpPr/>
          <p:nvPr/>
        </p:nvSpPr>
        <p:spPr>
          <a:xfrm>
            <a:off x="640080" y="5870448"/>
            <a:ext cx="10881360" cy="640080"/>
          </a:xfrm>
          <a:prstGeom prst="rect">
            <a:avLst/>
          </a:prstGeom>
          <a:noFill/>
          <a:ln/>
        </p:spPr>
        <p:txBody>
          <a:bodyPr wrap="square" lIns="0" tIns="0" rIns="0" bIns="0" rtlCol="0" anchor="ctr"/>
          <a:lstStyle/>
          <a:p>
            <a:pPr marL="0" indent="0" algn="l">
              <a:buNone/>
            </a:pPr>
            <a:r>
              <a:rPr lang="en-US" sz="1250" b="1" dirty="0">
                <a:solidFill>
                  <a:srgbClr val="14213D"/>
                </a:solidFill>
                <a:latin typeface="Calibri" pitchFamily="34" charset="0"/>
                <a:ea typeface="Calibri" pitchFamily="34" charset="-122"/>
                <a:cs typeface="Calibri" pitchFamily="34" charset="-120"/>
              </a:rPr>
              <a:t>Assumptions:  </a:t>
            </a:r>
            <a:r>
              <a:rPr lang="en-US" sz="1250" dirty="0">
                <a:solidFill>
                  <a:srgbClr val="2C2C2A"/>
                </a:solidFill>
                <a:latin typeface="Calibri" pitchFamily="34" charset="0"/>
                <a:ea typeface="Calibri" pitchFamily="34" charset="-122"/>
                <a:cs typeface="Calibri" pitchFamily="34" charset="-120"/>
              </a:rPr>
              <a:t>API $5/M input, $25/M output. Cached KV re-read at ~10% of input. Self-hosted: gpt-oss-120B on 1x H100 80GB at ~$2.50/GPU-hour (about $1,800/month flat) serving ~100 users, roughly $0.14 per million tokens at good utilization.</a:t>
            </a:r>
            <a:endParaRPr lang="en-US" sz="1250" dirty="0"/>
          </a:p>
        </p:txBody>
      </p:sp>
      <p:grpSp>
        <p:nvGrpSpPr>
          <p:cNvPr id="15" name="Group 14">
            <a:extLst>
              <a:ext uri="{FF2B5EF4-FFF2-40B4-BE49-F238E27FC236}">
                <a16:creationId xmlns:a16="http://schemas.microsoft.com/office/drawing/2014/main" id="{6A1F1D9D-D3B0-E445-AB1F-C6048014923F}"/>
              </a:ext>
            </a:extLst>
          </p:cNvPr>
          <p:cNvGrpSpPr/>
          <p:nvPr/>
        </p:nvGrpSpPr>
        <p:grpSpPr>
          <a:xfrm>
            <a:off x="457199" y="913374"/>
            <a:ext cx="2715768" cy="310896"/>
            <a:chOff x="9015984" y="365760"/>
            <a:chExt cx="2715768" cy="310896"/>
          </a:xfrm>
        </p:grpSpPr>
        <p:sp>
          <p:nvSpPr>
            <p:cNvPr id="16" name="Shape 0">
              <a:extLst>
                <a:ext uri="{FF2B5EF4-FFF2-40B4-BE49-F238E27FC236}">
                  <a16:creationId xmlns:a16="http://schemas.microsoft.com/office/drawing/2014/main" id="{D51DB1AF-C5CE-657E-13B1-3C4072202367}"/>
                </a:ext>
              </a:extLst>
            </p:cNvPr>
            <p:cNvSpPr/>
            <p:nvPr/>
          </p:nvSpPr>
          <p:spPr>
            <a:xfrm>
              <a:off x="9015984" y="365760"/>
              <a:ext cx="2715768" cy="310896"/>
            </a:xfrm>
            <a:prstGeom prst="roundRect">
              <a:avLst>
                <a:gd name="adj" fmla="val 50000"/>
              </a:avLst>
            </a:prstGeom>
            <a:solidFill>
              <a:srgbClr val="FFFFFF"/>
            </a:solidFill>
            <a:ln w="12700">
              <a:solidFill>
                <a:srgbClr val="A51C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
              <a:extLst>
                <a:ext uri="{FF2B5EF4-FFF2-40B4-BE49-F238E27FC236}">
                  <a16:creationId xmlns:a16="http://schemas.microsoft.com/office/drawing/2014/main" id="{3868F402-A484-B291-2FC0-4B2304203ADF}"/>
                </a:ext>
              </a:extLst>
            </p:cNvPr>
            <p:cNvSpPr/>
            <p:nvPr/>
          </p:nvSpPr>
          <p:spPr>
            <a:xfrm>
              <a:off x="9015984" y="365760"/>
              <a:ext cx="2715768" cy="31089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1F1F"/>
                  </a:solidFill>
                  <a:effectLst/>
                  <a:uLnTx/>
                  <a:uFillTx/>
                  <a:latin typeface="Arial" pitchFamily="34" charset="0"/>
                  <a:ea typeface="Arial" pitchFamily="34" charset="-122"/>
                  <a:cs typeface="Arial" pitchFamily="34" charset="-120"/>
                </a:rPr>
                <a:t>Illustrative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27581-7007-B842-FC2E-CC5AEBF55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1277D-F902-EC58-1222-97F958855288}"/>
              </a:ext>
            </a:extLst>
          </p:cNvPr>
          <p:cNvSpPr>
            <a:spLocks noGrp="1"/>
          </p:cNvSpPr>
          <p:nvPr>
            <p:ph type="title"/>
          </p:nvPr>
        </p:nvSpPr>
        <p:spPr>
          <a:xfrm>
            <a:off x="398555" y="3438303"/>
            <a:ext cx="11016033" cy="2676747"/>
          </a:xfrm>
        </p:spPr>
        <p:txBody>
          <a:bodyPr/>
          <a:lstStyle/>
          <a:p>
            <a:r>
              <a:rPr lang="en-US" dirty="0"/>
              <a:t>Now let’s talk about user interactions</a:t>
            </a:r>
          </a:p>
        </p:txBody>
      </p:sp>
    </p:spTree>
    <p:extLst>
      <p:ext uri="{BB962C8B-B14F-4D97-AF65-F5344CB8AC3E}">
        <p14:creationId xmlns:p14="http://schemas.microsoft.com/office/powerpoint/2010/main" val="1882997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4" name="Text 1"/>
          <p:cNvSpPr/>
          <p:nvPr/>
        </p:nvSpPr>
        <p:spPr>
          <a:xfrm>
            <a:off x="524496" y="548640"/>
            <a:ext cx="86868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Debrief: your haggl.com system prompts</a:t>
            </a:r>
            <a:endParaRPr lang="en-US" sz="2600" dirty="0"/>
          </a:p>
        </p:txBody>
      </p:sp>
      <p:sp>
        <p:nvSpPr>
          <p:cNvPr id="5" name="Text 2"/>
          <p:cNvSpPr/>
          <p:nvPr/>
        </p:nvSpPr>
        <p:spPr>
          <a:xfrm>
            <a:off x="524496" y="960120"/>
            <a:ext cx="6120316" cy="7315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You wrote a system prompt for some scenarios for an agent to represent you in a tough negotiation.</a:t>
            </a:r>
            <a:endParaRPr lang="en-US" sz="1500" dirty="0"/>
          </a:p>
        </p:txBody>
      </p:sp>
      <p:sp>
        <p:nvSpPr>
          <p:cNvPr id="7" name="Text 4"/>
          <p:cNvSpPr/>
          <p:nvPr/>
        </p:nvSpPr>
        <p:spPr>
          <a:xfrm>
            <a:off x="694638" y="2468880"/>
            <a:ext cx="6120316"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What behavior did your system prompt intend to produce?</a:t>
            </a:r>
            <a:endParaRPr lang="en-US" sz="1500" dirty="0"/>
          </a:p>
        </p:txBody>
      </p:sp>
      <p:sp>
        <p:nvSpPr>
          <p:cNvPr id="9" name="Text 6"/>
          <p:cNvSpPr/>
          <p:nvPr/>
        </p:nvSpPr>
        <p:spPr>
          <a:xfrm>
            <a:off x="694638" y="3108960"/>
            <a:ext cx="6120316"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What behavior did you actually observe from the AI counterpart?</a:t>
            </a:r>
            <a:endParaRPr lang="en-US" sz="1500" dirty="0"/>
          </a:p>
        </p:txBody>
      </p:sp>
      <p:sp>
        <p:nvSpPr>
          <p:cNvPr id="11" name="Text 8"/>
          <p:cNvSpPr/>
          <p:nvPr/>
        </p:nvSpPr>
        <p:spPr>
          <a:xfrm>
            <a:off x="694638" y="3749040"/>
            <a:ext cx="6120315"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Where was the gap, and what one line would you add or change to close it?</a:t>
            </a:r>
            <a:endParaRPr lang="en-US" sz="1500" dirty="0"/>
          </a:p>
        </p:txBody>
      </p:sp>
      <p:sp>
        <p:nvSpPr>
          <p:cNvPr id="13" name="Text 10"/>
          <p:cNvSpPr/>
          <p:nvPr/>
        </p:nvSpPr>
        <p:spPr>
          <a:xfrm>
            <a:off x="694638" y="4389120"/>
            <a:ext cx="6120315" cy="5029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Did a stronger persona description change behavior more than a longer list of rules?</a:t>
            </a:r>
            <a:endParaRPr lang="en-US" sz="1500" dirty="0"/>
          </a:p>
        </p:txBody>
      </p:sp>
      <p:sp>
        <p:nvSpPr>
          <p:cNvPr id="14" name="Text 11"/>
          <p:cNvSpPr/>
          <p:nvPr/>
        </p:nvSpPr>
        <p:spPr>
          <a:xfrm>
            <a:off x="640080" y="5349240"/>
            <a:ext cx="6120316" cy="548640"/>
          </a:xfrm>
          <a:prstGeom prst="rect">
            <a:avLst/>
          </a:prstGeom>
          <a:noFill/>
          <a:ln/>
        </p:spPr>
        <p:txBody>
          <a:bodyPr wrap="square" rtlCol="0" anchor="ctr"/>
          <a:lstStyle/>
          <a:p>
            <a:pPr marL="0" indent="0">
              <a:buNone/>
            </a:pPr>
            <a:r>
              <a:rPr lang="en-US" sz="1450" i="1" dirty="0">
                <a:solidFill>
                  <a:srgbClr val="9A6B2C"/>
                </a:solidFill>
                <a:latin typeface="Cambria" pitchFamily="34" charset="0"/>
                <a:ea typeface="Cambria" pitchFamily="34" charset="-122"/>
                <a:cs typeface="Cambria" pitchFamily="34" charset="-120"/>
              </a:rPr>
              <a:t>This gap, intent versus observed behavior, is exactly what the rest of today's session gives you tools to close.</a:t>
            </a:r>
            <a:endParaRPr lang="en-US" sz="1450" dirty="0"/>
          </a:p>
        </p:txBody>
      </p:sp>
      <p:pic>
        <p:nvPicPr>
          <p:cNvPr id="16" name="Picture 15">
            <a:extLst>
              <a:ext uri="{FF2B5EF4-FFF2-40B4-BE49-F238E27FC236}">
                <a16:creationId xmlns:a16="http://schemas.microsoft.com/office/drawing/2014/main" id="{AE836F33-2132-8453-BB1B-612CB46228BD}"/>
              </a:ext>
            </a:extLst>
          </p:cNvPr>
          <p:cNvPicPr>
            <a:picLocks noChangeAspect="1"/>
          </p:cNvPicPr>
          <p:nvPr/>
        </p:nvPicPr>
        <p:blipFill>
          <a:blip r:embed="rId3"/>
          <a:srcRect r="22284"/>
          <a:stretch>
            <a:fillRect/>
          </a:stretch>
        </p:blipFill>
        <p:spPr>
          <a:xfrm>
            <a:off x="7501972" y="2847138"/>
            <a:ext cx="3821987" cy="3462222"/>
          </a:xfrm>
          <a:prstGeom prst="rect">
            <a:avLst/>
          </a:prstGeom>
        </p:spPr>
      </p:pic>
      <p:pic>
        <p:nvPicPr>
          <p:cNvPr id="17" name="Picture 16">
            <a:extLst>
              <a:ext uri="{FF2B5EF4-FFF2-40B4-BE49-F238E27FC236}">
                <a16:creationId xmlns:a16="http://schemas.microsoft.com/office/drawing/2014/main" id="{C96ECE9C-4657-8613-EF49-DDD4019DC0D7}"/>
              </a:ext>
            </a:extLst>
          </p:cNvPr>
          <p:cNvPicPr>
            <a:picLocks noChangeAspect="1"/>
          </p:cNvPicPr>
          <p:nvPr/>
        </p:nvPicPr>
        <p:blipFill>
          <a:blip r:embed="rId4"/>
          <a:stretch>
            <a:fillRect/>
          </a:stretch>
        </p:blipFill>
        <p:spPr>
          <a:xfrm>
            <a:off x="6799176" y="345281"/>
            <a:ext cx="5227581" cy="20280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349835"/>
            <a:ext cx="105156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Anatomy of the request you will send</a:t>
            </a:r>
            <a:endParaRPr lang="en-US" sz="2600" dirty="0"/>
          </a:p>
        </p:txBody>
      </p:sp>
      <p:sp>
        <p:nvSpPr>
          <p:cNvPr id="3" name="Text 1"/>
          <p:cNvSpPr/>
          <p:nvPr/>
        </p:nvSpPr>
        <p:spPr>
          <a:xfrm>
            <a:off x="548640" y="898475"/>
            <a:ext cx="10058400" cy="36576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Every </a:t>
            </a:r>
            <a:r>
              <a:rPr lang="en-US" sz="1350" i="1" dirty="0" err="1">
                <a:solidFill>
                  <a:srgbClr val="3A3F4B"/>
                </a:solidFill>
                <a:latin typeface="Calibri" pitchFamily="34" charset="0"/>
                <a:ea typeface="Calibri" pitchFamily="34" charset="-122"/>
                <a:cs typeface="Calibri" pitchFamily="34" charset="-120"/>
              </a:rPr>
              <a:t>OpenRouter</a:t>
            </a:r>
            <a:r>
              <a:rPr lang="en-US" sz="1350" i="1" dirty="0">
                <a:solidFill>
                  <a:srgbClr val="3A3F4B"/>
                </a:solidFill>
                <a:latin typeface="Calibri" pitchFamily="34" charset="0"/>
                <a:ea typeface="Calibri" pitchFamily="34" charset="-122"/>
                <a:cs typeface="Calibri" pitchFamily="34" charset="-120"/>
              </a:rPr>
              <a:t> request we do is built from the same five pieces</a:t>
            </a:r>
            <a:endParaRPr lang="en-US" sz="1350" dirty="0"/>
          </a:p>
        </p:txBody>
      </p:sp>
      <p:sp>
        <p:nvSpPr>
          <p:cNvPr id="4" name="Shape 2"/>
          <p:cNvSpPr/>
          <p:nvPr/>
        </p:nvSpPr>
        <p:spPr>
          <a:xfrm>
            <a:off x="548640" y="1539580"/>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5" name="Text 3"/>
          <p:cNvSpPr/>
          <p:nvPr/>
        </p:nvSpPr>
        <p:spPr>
          <a:xfrm>
            <a:off x="777240" y="1631020"/>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Model</a:t>
            </a:r>
            <a:endParaRPr lang="en-US" sz="1450" dirty="0"/>
          </a:p>
        </p:txBody>
      </p:sp>
      <p:sp>
        <p:nvSpPr>
          <p:cNvPr id="6" name="Text 4"/>
          <p:cNvSpPr/>
          <p:nvPr/>
        </p:nvSpPr>
        <p:spPr>
          <a:xfrm>
            <a:off x="3017520" y="1631020"/>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Which AI you are calling, for example anthropic/claude-sonnet-4-6. Same prompt, different model, different quality and speed.</a:t>
            </a:r>
            <a:endParaRPr lang="en-US" sz="1250" dirty="0"/>
          </a:p>
        </p:txBody>
      </p:sp>
      <p:sp>
        <p:nvSpPr>
          <p:cNvPr id="7" name="Shape 5"/>
          <p:cNvSpPr/>
          <p:nvPr/>
        </p:nvSpPr>
        <p:spPr>
          <a:xfrm>
            <a:off x="548640" y="2472268"/>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8" name="Text 6"/>
          <p:cNvSpPr/>
          <p:nvPr/>
        </p:nvSpPr>
        <p:spPr>
          <a:xfrm>
            <a:off x="777240" y="2563708"/>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System prompt</a:t>
            </a:r>
            <a:endParaRPr lang="en-US" sz="1450" dirty="0"/>
          </a:p>
        </p:txBody>
      </p:sp>
      <p:sp>
        <p:nvSpPr>
          <p:cNvPr id="9" name="Text 7"/>
          <p:cNvSpPr/>
          <p:nvPr/>
        </p:nvSpPr>
        <p:spPr>
          <a:xfrm>
            <a:off x="3017520" y="2563708"/>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A behind the scenes instruction that sets role and rules before the user prompt arrives. Shapes every response, usually invisible to an end user.</a:t>
            </a:r>
            <a:endParaRPr lang="en-US" sz="1250" dirty="0"/>
          </a:p>
        </p:txBody>
      </p:sp>
      <p:sp>
        <p:nvSpPr>
          <p:cNvPr id="10" name="Shape 8"/>
          <p:cNvSpPr/>
          <p:nvPr/>
        </p:nvSpPr>
        <p:spPr>
          <a:xfrm>
            <a:off x="548640" y="3404956"/>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11" name="Text 9"/>
          <p:cNvSpPr/>
          <p:nvPr/>
        </p:nvSpPr>
        <p:spPr>
          <a:xfrm>
            <a:off x="777240" y="3496396"/>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Prompt</a:t>
            </a:r>
            <a:endParaRPr lang="en-US" sz="1450" dirty="0"/>
          </a:p>
        </p:txBody>
      </p:sp>
      <p:sp>
        <p:nvSpPr>
          <p:cNvPr id="12" name="Text 10"/>
          <p:cNvSpPr/>
          <p:nvPr/>
        </p:nvSpPr>
        <p:spPr>
          <a:xfrm>
            <a:off x="3017520" y="3496396"/>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The actual question or instruction, the part a user typically sees and types.</a:t>
            </a:r>
            <a:endParaRPr lang="en-US" sz="1250" dirty="0"/>
          </a:p>
        </p:txBody>
      </p:sp>
      <p:sp>
        <p:nvSpPr>
          <p:cNvPr id="13" name="Shape 11"/>
          <p:cNvSpPr/>
          <p:nvPr/>
        </p:nvSpPr>
        <p:spPr>
          <a:xfrm>
            <a:off x="548640" y="4337644"/>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14" name="Text 12"/>
          <p:cNvSpPr/>
          <p:nvPr/>
        </p:nvSpPr>
        <p:spPr>
          <a:xfrm>
            <a:off x="777240" y="4429084"/>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Temperature</a:t>
            </a:r>
            <a:endParaRPr lang="en-US" sz="1450" dirty="0"/>
          </a:p>
        </p:txBody>
      </p:sp>
      <p:sp>
        <p:nvSpPr>
          <p:cNvPr id="15" name="Text 13"/>
          <p:cNvSpPr/>
          <p:nvPr/>
        </p:nvSpPr>
        <p:spPr>
          <a:xfrm>
            <a:off x="3017520" y="4429084"/>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0 to about 2. Low values are consistent and repeatable. Higher values are more varied language, but less predictable.</a:t>
            </a:r>
            <a:endParaRPr lang="en-US" sz="1250" dirty="0"/>
          </a:p>
        </p:txBody>
      </p:sp>
      <p:sp>
        <p:nvSpPr>
          <p:cNvPr id="16" name="Shape 14"/>
          <p:cNvSpPr/>
          <p:nvPr/>
        </p:nvSpPr>
        <p:spPr>
          <a:xfrm>
            <a:off x="548640" y="5270332"/>
            <a:ext cx="11064240" cy="841248"/>
          </a:xfrm>
          <a:prstGeom prst="roundRect">
            <a:avLst>
              <a:gd name="adj" fmla="val 6522"/>
            </a:avLst>
          </a:prstGeom>
          <a:solidFill>
            <a:srgbClr val="FFFFFF"/>
          </a:solidFill>
          <a:ln/>
          <a:effectLst>
            <a:outerShdw blurRad="63500" dist="25400" dir="5400000" algn="bl" rotWithShape="0">
              <a:srgbClr val="000000">
                <a:alpha val="7000"/>
              </a:srgbClr>
            </a:outerShdw>
          </a:effectLst>
        </p:spPr>
      </p:sp>
      <p:sp>
        <p:nvSpPr>
          <p:cNvPr id="17" name="Text 15"/>
          <p:cNvSpPr/>
          <p:nvPr/>
        </p:nvSpPr>
        <p:spPr>
          <a:xfrm>
            <a:off x="777240" y="5361772"/>
            <a:ext cx="2103120" cy="658368"/>
          </a:xfrm>
          <a:prstGeom prst="rect">
            <a:avLst/>
          </a:prstGeom>
          <a:noFill/>
          <a:ln/>
        </p:spPr>
        <p:txBody>
          <a:bodyPr wrap="square" rtlCol="0" anchor="ctr"/>
          <a:lstStyle/>
          <a:p>
            <a:pPr marL="0" indent="0">
              <a:buNone/>
            </a:pPr>
            <a:r>
              <a:rPr lang="en-US" sz="1450" b="1" dirty="0">
                <a:solidFill>
                  <a:srgbClr val="9A6B2C"/>
                </a:solidFill>
                <a:latin typeface="Cambria" pitchFamily="34" charset="0"/>
                <a:ea typeface="Cambria" pitchFamily="34" charset="-122"/>
                <a:cs typeface="Cambria" pitchFamily="34" charset="-120"/>
              </a:rPr>
              <a:t>Max tokens</a:t>
            </a:r>
            <a:endParaRPr lang="en-US" sz="1450" dirty="0"/>
          </a:p>
        </p:txBody>
      </p:sp>
      <p:sp>
        <p:nvSpPr>
          <p:cNvPr id="18" name="Text 16"/>
          <p:cNvSpPr/>
          <p:nvPr/>
        </p:nvSpPr>
        <p:spPr>
          <a:xfrm>
            <a:off x="3017520" y="5361772"/>
            <a:ext cx="8366760" cy="658368"/>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A cap on response length. If the model hits it mid thought, the response is cut off, not summarized, so answers &amp; JSON can come back truncated.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28523"/>
            <a:ext cx="451714" cy="451714"/>
          </a:xfrm>
          <a:prstGeom prst="rect">
            <a:avLst/>
          </a:prstGeom>
        </p:spPr>
      </p:pic>
      <p:sp>
        <p:nvSpPr>
          <p:cNvPr id="4" name="Text 1"/>
          <p:cNvSpPr/>
          <p:nvPr/>
        </p:nvSpPr>
        <p:spPr>
          <a:xfrm>
            <a:off x="1325880" y="502920"/>
            <a:ext cx="914400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Prompt structure: five parts worth naming</a:t>
            </a:r>
            <a:endParaRPr lang="en-US" sz="2600" dirty="0"/>
          </a:p>
        </p:txBody>
      </p:sp>
      <p:sp>
        <p:nvSpPr>
          <p:cNvPr id="5" name="Shape 2"/>
          <p:cNvSpPr/>
          <p:nvPr/>
        </p:nvSpPr>
        <p:spPr>
          <a:xfrm>
            <a:off x="548640" y="1463040"/>
            <a:ext cx="2084832" cy="1650030"/>
          </a:xfrm>
          <a:prstGeom prst="roundRect">
            <a:avLst>
              <a:gd name="adj" fmla="val 3509"/>
            </a:avLst>
          </a:prstGeom>
          <a:solidFill>
            <a:srgbClr val="1C2B52"/>
          </a:solidFill>
          <a:ln/>
        </p:spPr>
      </p:sp>
      <p:sp>
        <p:nvSpPr>
          <p:cNvPr id="6" name="Text 3"/>
          <p:cNvSpPr/>
          <p:nvPr/>
        </p:nvSpPr>
        <p:spPr>
          <a:xfrm>
            <a:off x="685800"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Role</a:t>
            </a:r>
            <a:endParaRPr lang="en-US" sz="1600" dirty="0"/>
          </a:p>
        </p:txBody>
      </p:sp>
      <p:sp>
        <p:nvSpPr>
          <p:cNvPr id="7" name="Text 4"/>
          <p:cNvSpPr/>
          <p:nvPr/>
        </p:nvSpPr>
        <p:spPr>
          <a:xfrm>
            <a:off x="685800" y="2194560"/>
            <a:ext cx="1810512" cy="91851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Who should the model act as? An analyst, a tutor, a skeptical reviewer.</a:t>
            </a:r>
            <a:endParaRPr lang="en-US" sz="1150" dirty="0"/>
          </a:p>
        </p:txBody>
      </p:sp>
      <p:sp>
        <p:nvSpPr>
          <p:cNvPr id="8" name="Shape 5"/>
          <p:cNvSpPr/>
          <p:nvPr/>
        </p:nvSpPr>
        <p:spPr>
          <a:xfrm>
            <a:off x="2779776" y="1463040"/>
            <a:ext cx="2084832" cy="1650030"/>
          </a:xfrm>
          <a:prstGeom prst="roundRect">
            <a:avLst>
              <a:gd name="adj" fmla="val 3509"/>
            </a:avLst>
          </a:prstGeom>
          <a:solidFill>
            <a:srgbClr val="1C2B52"/>
          </a:solidFill>
          <a:ln/>
        </p:spPr>
      </p:sp>
      <p:sp>
        <p:nvSpPr>
          <p:cNvPr id="9" name="Text 6"/>
          <p:cNvSpPr/>
          <p:nvPr/>
        </p:nvSpPr>
        <p:spPr>
          <a:xfrm>
            <a:off x="2916936" y="1691640"/>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Context</a:t>
            </a:r>
            <a:endParaRPr lang="en-US" sz="1600" dirty="0"/>
          </a:p>
        </p:txBody>
      </p:sp>
      <p:sp>
        <p:nvSpPr>
          <p:cNvPr id="10" name="Text 7"/>
          <p:cNvSpPr/>
          <p:nvPr/>
        </p:nvSpPr>
        <p:spPr>
          <a:xfrm>
            <a:off x="2916936" y="2194560"/>
            <a:ext cx="1810512" cy="91851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What background does it need to answer in a robust manner, without guessing?</a:t>
            </a:r>
            <a:endParaRPr lang="en-US" sz="1150" dirty="0"/>
          </a:p>
        </p:txBody>
      </p:sp>
      <p:sp>
        <p:nvSpPr>
          <p:cNvPr id="11" name="Shape 8"/>
          <p:cNvSpPr/>
          <p:nvPr/>
        </p:nvSpPr>
        <p:spPr>
          <a:xfrm>
            <a:off x="548640" y="3296546"/>
            <a:ext cx="2084832" cy="1650030"/>
          </a:xfrm>
          <a:prstGeom prst="roundRect">
            <a:avLst>
              <a:gd name="adj" fmla="val 3509"/>
            </a:avLst>
          </a:prstGeom>
          <a:solidFill>
            <a:srgbClr val="1C2B52"/>
          </a:solidFill>
          <a:ln/>
        </p:spPr>
      </p:sp>
      <p:sp>
        <p:nvSpPr>
          <p:cNvPr id="12" name="Text 9"/>
          <p:cNvSpPr/>
          <p:nvPr/>
        </p:nvSpPr>
        <p:spPr>
          <a:xfrm>
            <a:off x="685800" y="3525146"/>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Task</a:t>
            </a:r>
            <a:endParaRPr lang="en-US" sz="1600" dirty="0"/>
          </a:p>
        </p:txBody>
      </p:sp>
      <p:sp>
        <p:nvSpPr>
          <p:cNvPr id="13" name="Text 10"/>
          <p:cNvSpPr/>
          <p:nvPr/>
        </p:nvSpPr>
        <p:spPr>
          <a:xfrm>
            <a:off x="685800" y="4028066"/>
            <a:ext cx="1810512" cy="91851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The specific action you want performed, stated as one clear instruction.</a:t>
            </a:r>
            <a:endParaRPr lang="en-US" sz="1150" dirty="0"/>
          </a:p>
        </p:txBody>
      </p:sp>
      <p:sp>
        <p:nvSpPr>
          <p:cNvPr id="14" name="Shape 11"/>
          <p:cNvSpPr/>
          <p:nvPr/>
        </p:nvSpPr>
        <p:spPr>
          <a:xfrm>
            <a:off x="2779776" y="3296546"/>
            <a:ext cx="2084832" cy="1650030"/>
          </a:xfrm>
          <a:prstGeom prst="roundRect">
            <a:avLst>
              <a:gd name="adj" fmla="val 3509"/>
            </a:avLst>
          </a:prstGeom>
          <a:solidFill>
            <a:srgbClr val="1C2B52"/>
          </a:solidFill>
          <a:ln/>
        </p:spPr>
      </p:sp>
      <p:sp>
        <p:nvSpPr>
          <p:cNvPr id="15" name="Text 12"/>
          <p:cNvSpPr/>
          <p:nvPr/>
        </p:nvSpPr>
        <p:spPr>
          <a:xfrm>
            <a:off x="2916936" y="3525146"/>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Format</a:t>
            </a:r>
            <a:endParaRPr lang="en-US" sz="1600" dirty="0"/>
          </a:p>
        </p:txBody>
      </p:sp>
      <p:sp>
        <p:nvSpPr>
          <p:cNvPr id="16" name="Text 13"/>
          <p:cNvSpPr/>
          <p:nvPr/>
        </p:nvSpPr>
        <p:spPr>
          <a:xfrm>
            <a:off x="2916936" y="4028066"/>
            <a:ext cx="1810512" cy="91851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How should the answer be shaped: a list, a table, JSON, one paragraph?</a:t>
            </a:r>
            <a:endParaRPr lang="en-US" sz="1150" dirty="0"/>
          </a:p>
        </p:txBody>
      </p:sp>
      <p:sp>
        <p:nvSpPr>
          <p:cNvPr id="17" name="Shape 14"/>
          <p:cNvSpPr/>
          <p:nvPr/>
        </p:nvSpPr>
        <p:spPr>
          <a:xfrm>
            <a:off x="548640" y="5088956"/>
            <a:ext cx="2084832" cy="1650030"/>
          </a:xfrm>
          <a:prstGeom prst="roundRect">
            <a:avLst>
              <a:gd name="adj" fmla="val 3509"/>
            </a:avLst>
          </a:prstGeom>
          <a:solidFill>
            <a:srgbClr val="1C2B52"/>
          </a:solidFill>
          <a:ln/>
        </p:spPr>
      </p:sp>
      <p:sp>
        <p:nvSpPr>
          <p:cNvPr id="18" name="Text 15"/>
          <p:cNvSpPr/>
          <p:nvPr/>
        </p:nvSpPr>
        <p:spPr>
          <a:xfrm>
            <a:off x="685800" y="5317556"/>
            <a:ext cx="1810512" cy="45720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Constraints</a:t>
            </a:r>
            <a:endParaRPr lang="en-US" sz="1600" dirty="0"/>
          </a:p>
        </p:txBody>
      </p:sp>
      <p:sp>
        <p:nvSpPr>
          <p:cNvPr id="19" name="Text 16"/>
          <p:cNvSpPr/>
          <p:nvPr/>
        </p:nvSpPr>
        <p:spPr>
          <a:xfrm>
            <a:off x="685800" y="5820476"/>
            <a:ext cx="1810512" cy="918510"/>
          </a:xfrm>
          <a:prstGeom prst="rect">
            <a:avLst/>
          </a:prstGeom>
          <a:noFill/>
          <a:ln/>
        </p:spPr>
        <p:txBody>
          <a:bodyPr wrap="square" rtlCol="0" anchor="ctr"/>
          <a:lstStyle/>
          <a:p>
            <a:pPr marL="0" indent="0">
              <a:buNone/>
            </a:pPr>
            <a:r>
              <a:rPr lang="en-US" sz="1150" dirty="0">
                <a:solidFill>
                  <a:srgbClr val="E4E9F5"/>
                </a:solidFill>
                <a:latin typeface="Calibri" pitchFamily="34" charset="0"/>
                <a:ea typeface="Calibri" pitchFamily="34" charset="-122"/>
                <a:cs typeface="Calibri" pitchFamily="34" charset="-120"/>
              </a:rPr>
              <a:t>What should it avoid, or what limits apply: length, tone, no speculation?</a:t>
            </a:r>
            <a:endParaRPr lang="en-US" sz="1150" dirty="0"/>
          </a:p>
        </p:txBody>
      </p:sp>
      <p:sp>
        <p:nvSpPr>
          <p:cNvPr id="20" name="Text 17"/>
          <p:cNvSpPr/>
          <p:nvPr/>
        </p:nvSpPr>
        <p:spPr>
          <a:xfrm>
            <a:off x="5116600" y="6305764"/>
            <a:ext cx="6834269" cy="45720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Not every prompt needs all five written out. Naming them in your head is often enough once this becomes habit.</a:t>
            </a:r>
            <a:endParaRPr lang="en-US" sz="1250" dirty="0"/>
          </a:p>
        </p:txBody>
      </p:sp>
      <p:pic>
        <p:nvPicPr>
          <p:cNvPr id="21" name="Picture 20" descr="Prompt Engineering: Some Prompts Are More Equal Than Others ...">
            <a:extLst>
              <a:ext uri="{FF2B5EF4-FFF2-40B4-BE49-F238E27FC236}">
                <a16:creationId xmlns:a16="http://schemas.microsoft.com/office/drawing/2014/main" id="{0B7723DB-2222-70C3-83CF-1578417B04B7}"/>
              </a:ext>
            </a:extLst>
          </p:cNvPr>
          <p:cNvPicPr>
            <a:picLocks noChangeAspect="1"/>
          </p:cNvPicPr>
          <p:nvPr/>
        </p:nvPicPr>
        <p:blipFill>
          <a:blip r:embed="rId4"/>
          <a:stretch>
            <a:fillRect/>
          </a:stretch>
        </p:blipFill>
        <p:spPr>
          <a:xfrm>
            <a:off x="5116601" y="1202838"/>
            <a:ext cx="6834269" cy="497193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48640" y="475488"/>
            <a:ext cx="9601200" cy="548640"/>
          </a:xfrm>
          <a:prstGeom prst="rect">
            <a:avLst/>
          </a:prstGeom>
          <a:noFill/>
          <a:ln/>
        </p:spPr>
        <p:txBody>
          <a:bodyPr wrap="square" rtlCol="0" anchor="ctr"/>
          <a:lstStyle/>
          <a:p>
            <a:pPr marL="0" indent="0">
              <a:buNone/>
            </a:pPr>
            <a:r>
              <a:rPr lang="en-US" sz="2500" b="1" dirty="0">
                <a:solidFill>
                  <a:srgbClr val="293352"/>
                </a:solidFill>
                <a:latin typeface="Arial" pitchFamily="34" charset="0"/>
                <a:ea typeface="Cambria" pitchFamily="34" charset="-122"/>
                <a:cs typeface="Cambria" pitchFamily="34" charset="-120"/>
              </a:rPr>
              <a:t>A quick orientation to OpenRouter</a:t>
            </a:r>
            <a:endParaRPr lang="en-US" sz="2500" dirty="0"/>
          </a:p>
        </p:txBody>
      </p:sp>
      <p:sp>
        <p:nvSpPr>
          <p:cNvPr id="5" name="Text 2"/>
          <p:cNvSpPr/>
          <p:nvPr/>
        </p:nvSpPr>
        <p:spPr>
          <a:xfrm>
            <a:off x="548640" y="1280160"/>
            <a:ext cx="10972800" cy="822960"/>
          </a:xfrm>
          <a:prstGeom prst="rect">
            <a:avLst/>
          </a:prstGeom>
          <a:noFill/>
          <a:ln/>
        </p:spPr>
        <p:txBody>
          <a:bodyPr wrap="square" rtlCol="0" anchor="ctr"/>
          <a:lstStyle/>
          <a:p>
            <a:pPr marL="0" indent="0">
              <a:buNone/>
            </a:pPr>
            <a:r>
              <a:rPr lang="en-US" sz="1450" dirty="0">
                <a:solidFill>
                  <a:srgbClr val="293352"/>
                </a:solidFill>
                <a:latin typeface="Arial" pitchFamily="34" charset="0"/>
                <a:ea typeface="Calibri" pitchFamily="34" charset="-122"/>
                <a:cs typeface="Calibri" pitchFamily="34" charset="-120"/>
              </a:rPr>
              <a:t>OpenRouter is a single API that can reach many different AI models. Instead of separate accounts for every model provider, one key and one endpoint reaches whichever model you name in the request.</a:t>
            </a:r>
            <a:endParaRPr lang="en-US" sz="1450" dirty="0"/>
          </a:p>
        </p:txBody>
      </p:sp>
      <p:sp>
        <p:nvSpPr>
          <p:cNvPr id="6" name="Shape 3"/>
          <p:cNvSpPr/>
          <p:nvPr/>
        </p:nvSpPr>
        <p:spPr>
          <a:xfrm>
            <a:off x="548640" y="2286000"/>
            <a:ext cx="11064240" cy="1463040"/>
          </a:xfrm>
          <a:prstGeom prst="roundRect">
            <a:avLst>
              <a:gd name="adj" fmla="val 5000"/>
            </a:avLst>
          </a:prstGeom>
          <a:solidFill>
            <a:srgbClr val="293352"/>
          </a:solidFill>
          <a:ln/>
        </p:spPr>
      </p:sp>
      <p:sp>
        <p:nvSpPr>
          <p:cNvPr id="7" name="Shape 4"/>
          <p:cNvSpPr/>
          <p:nvPr/>
        </p:nvSpPr>
        <p:spPr>
          <a:xfrm>
            <a:off x="822960" y="2487168"/>
            <a:ext cx="457200" cy="457200"/>
          </a:xfrm>
          <a:prstGeom prst="ellipse">
            <a:avLst/>
          </a:prstGeom>
          <a:solidFill>
            <a:srgbClr val="C4961A"/>
          </a:solidFill>
          <a:ln/>
        </p:spPr>
      </p:sp>
      <p:pic>
        <p:nvPicPr>
          <p:cNvPr id="8" name="Image 1" descr="preencoded.png"/>
          <p:cNvPicPr>
            <a:picLocks noChangeAspect="1"/>
          </p:cNvPicPr>
          <p:nvPr/>
        </p:nvPicPr>
        <p:blipFill>
          <a:blip r:embed="rId3"/>
          <a:stretch>
            <a:fillRect/>
          </a:stretch>
        </p:blipFill>
        <p:spPr>
          <a:xfrm>
            <a:off x="877824" y="2542032"/>
            <a:ext cx="347472" cy="347472"/>
          </a:xfrm>
          <a:prstGeom prst="rect">
            <a:avLst/>
          </a:prstGeom>
        </p:spPr>
      </p:pic>
      <p:sp>
        <p:nvSpPr>
          <p:cNvPr id="9" name="Text 5"/>
          <p:cNvSpPr/>
          <p:nvPr/>
        </p:nvSpPr>
        <p:spPr>
          <a:xfrm>
            <a:off x="1463040" y="2514600"/>
            <a:ext cx="7315200" cy="365760"/>
          </a:xfrm>
          <a:prstGeom prst="rect">
            <a:avLst/>
          </a:prstGeom>
          <a:noFill/>
          <a:ln/>
        </p:spPr>
        <p:txBody>
          <a:bodyPr wrap="square" rtlCol="0" anchor="ctr"/>
          <a:lstStyle/>
          <a:p>
            <a:pPr marL="0" indent="0">
              <a:buNone/>
            </a:pPr>
            <a:r>
              <a:rPr lang="en-US" sz="1450" b="1" dirty="0">
                <a:solidFill>
                  <a:srgbClr val="C4961A"/>
                </a:solidFill>
                <a:latin typeface="Arial" pitchFamily="34" charset="0"/>
                <a:ea typeface="Cambria" pitchFamily="34" charset="-122"/>
                <a:cs typeface="Cambria" pitchFamily="34" charset="-120"/>
              </a:rPr>
              <a:t>A shared class key, for our class only</a:t>
            </a:r>
            <a:endParaRPr lang="en-US" sz="1450" dirty="0"/>
          </a:p>
        </p:txBody>
      </p:sp>
      <p:sp>
        <p:nvSpPr>
          <p:cNvPr id="10" name="Text 6"/>
          <p:cNvSpPr/>
          <p:nvPr/>
        </p:nvSpPr>
        <p:spPr>
          <a:xfrm>
            <a:off x="1463040" y="2880360"/>
            <a:ext cx="9966960" cy="777240"/>
          </a:xfrm>
          <a:prstGeom prst="rect">
            <a:avLst/>
          </a:prstGeom>
          <a:noFill/>
          <a:ln/>
        </p:spPr>
        <p:txBody>
          <a:bodyPr wrap="square" rtlCol="0" anchor="ctr"/>
          <a:lstStyle/>
          <a:p>
            <a:pPr marL="0" indent="0">
              <a:buNone/>
            </a:pPr>
            <a:r>
              <a:rPr lang="en-US" sz="1250" dirty="0">
                <a:solidFill>
                  <a:srgbClr val="F3F3F1"/>
                </a:solidFill>
                <a:latin typeface="Arial" pitchFamily="34" charset="0"/>
                <a:ea typeface="Calibri" pitchFamily="34" charset="-122"/>
                <a:cs typeface="Calibri" pitchFamily="34" charset="-120"/>
              </a:rPr>
              <a:t>Your instructor will share a temporary OpenRouter key for in class use this week. Use it with </a:t>
            </a:r>
            <a:r>
              <a:rPr lang="en-US" sz="1250" dirty="0" err="1">
                <a:solidFill>
                  <a:srgbClr val="F3F3F1"/>
                </a:solidFill>
                <a:latin typeface="Arial" pitchFamily="34" charset="0"/>
                <a:ea typeface="Calibri" pitchFamily="34" charset="-122"/>
                <a:cs typeface="Calibri" pitchFamily="34" charset="-120"/>
              </a:rPr>
              <a:t>claude</a:t>
            </a:r>
            <a:r>
              <a:rPr lang="en-US" sz="1250" dirty="0">
                <a:solidFill>
                  <a:srgbClr val="F3F3F1"/>
                </a:solidFill>
                <a:latin typeface="Arial" pitchFamily="34" charset="0"/>
                <a:ea typeface="Calibri" pitchFamily="34" charset="-122"/>
                <a:cs typeface="Calibri" pitchFamily="34" charset="-120"/>
              </a:rPr>
              <a:t>-sonnet-latest or </a:t>
            </a:r>
            <a:r>
              <a:rPr lang="en-US" sz="1250" dirty="0" err="1">
                <a:solidFill>
                  <a:srgbClr val="F3F3F1"/>
                </a:solidFill>
                <a:latin typeface="Arial" pitchFamily="34" charset="0"/>
                <a:ea typeface="Calibri" pitchFamily="34" charset="-122"/>
                <a:cs typeface="Calibri" pitchFamily="34" charset="-120"/>
              </a:rPr>
              <a:t>gemini</a:t>
            </a:r>
            <a:r>
              <a:rPr lang="en-US" sz="1250" dirty="0">
                <a:solidFill>
                  <a:srgbClr val="F3F3F1"/>
                </a:solidFill>
                <a:latin typeface="Arial" pitchFamily="34" charset="0"/>
                <a:ea typeface="Calibri" pitchFamily="34" charset="-122"/>
                <a:cs typeface="Calibri" pitchFamily="34" charset="-120"/>
              </a:rPr>
              <a:t>-flash as the model. For pre module and independent work outside class you can easily fund your own API key with a few dollars.</a:t>
            </a:r>
            <a:endParaRPr lang="en-US" sz="1250" dirty="0"/>
          </a:p>
        </p:txBody>
      </p:sp>
      <p:sp>
        <p:nvSpPr>
          <p:cNvPr id="11" name="Text 7"/>
          <p:cNvSpPr/>
          <p:nvPr/>
        </p:nvSpPr>
        <p:spPr>
          <a:xfrm>
            <a:off x="548640" y="4023360"/>
            <a:ext cx="10972800" cy="457200"/>
          </a:xfrm>
          <a:prstGeom prst="rect">
            <a:avLst/>
          </a:prstGeom>
          <a:noFill/>
          <a:ln/>
        </p:spPr>
        <p:txBody>
          <a:bodyPr wrap="square" rtlCol="0" anchor="ctr"/>
          <a:lstStyle/>
          <a:p>
            <a:pPr marL="0" indent="0">
              <a:buNone/>
            </a:pPr>
            <a:r>
              <a:rPr lang="en-US" sz="1300" i="1" dirty="0">
                <a:solidFill>
                  <a:srgbClr val="FF0000"/>
                </a:solidFill>
                <a:latin typeface="Arial" pitchFamily="34" charset="0"/>
                <a:cs typeface="Calibri" pitchFamily="34" charset="-120"/>
              </a:rPr>
              <a:t>Our application users will be calling </a:t>
            </a:r>
            <a:r>
              <a:rPr lang="en-US" sz="1300" i="1" dirty="0" err="1">
                <a:solidFill>
                  <a:srgbClr val="FF0000"/>
                </a:solidFill>
                <a:latin typeface="Arial" pitchFamily="34" charset="0"/>
                <a:cs typeface="Calibri" pitchFamily="34" charset="-120"/>
              </a:rPr>
              <a:t>openrouter</a:t>
            </a:r>
            <a:r>
              <a:rPr lang="en-US" sz="1300" i="1" dirty="0">
                <a:solidFill>
                  <a:srgbClr val="FF0000"/>
                </a:solidFill>
                <a:latin typeface="Arial" pitchFamily="34" charset="0"/>
                <a:cs typeface="Calibri" pitchFamily="34" charset="-120"/>
              </a:rPr>
              <a:t> but we are going to use google ai-studio to vibe code the application.  This is done to ensure everyone has access to an IDE with a chat bot for coding but other platforms like Claude, </a:t>
            </a:r>
            <a:r>
              <a:rPr lang="en-US" sz="1300" i="1" dirty="0" err="1">
                <a:solidFill>
                  <a:srgbClr val="FF0000"/>
                </a:solidFill>
                <a:latin typeface="Arial" pitchFamily="34" charset="0"/>
                <a:cs typeface="Calibri" pitchFamily="34" charset="-120"/>
              </a:rPr>
              <a:t>Github</a:t>
            </a:r>
            <a:r>
              <a:rPr lang="en-US" sz="1300" i="1" dirty="0">
                <a:solidFill>
                  <a:srgbClr val="FF0000"/>
                </a:solidFill>
                <a:latin typeface="Arial" pitchFamily="34" charset="0"/>
                <a:cs typeface="Calibri" pitchFamily="34" charset="-120"/>
              </a:rPr>
              <a:t> Copilot, and </a:t>
            </a:r>
            <a:r>
              <a:rPr lang="en-US" sz="1300" i="1" dirty="0" err="1">
                <a:solidFill>
                  <a:srgbClr val="FF0000"/>
                </a:solidFill>
                <a:latin typeface="Arial" pitchFamily="34" charset="0"/>
                <a:cs typeface="Calibri" pitchFamily="34" charset="-120"/>
              </a:rPr>
              <a:t>Replit</a:t>
            </a:r>
            <a:r>
              <a:rPr lang="en-US" sz="1300" i="1" dirty="0">
                <a:solidFill>
                  <a:srgbClr val="FF0000"/>
                </a:solidFill>
                <a:latin typeface="Arial" pitchFamily="34" charset="0"/>
                <a:cs typeface="Calibri" pitchFamily="34" charset="-120"/>
              </a:rPr>
              <a:t> also do this. </a:t>
            </a:r>
            <a:endParaRPr lang="en-US" sz="1300" dirty="0">
              <a:solidFill>
                <a:srgbClr val="FF0000"/>
              </a:solidFill>
            </a:endParaRPr>
          </a:p>
        </p:txBody>
      </p:sp>
      <p:sp>
        <p:nvSpPr>
          <p:cNvPr id="12" name="Harvard Footer"/>
          <p:cNvSpPr txBox="1"/>
          <p:nvPr/>
        </p:nvSpPr>
        <p:spPr>
          <a:xfrm>
            <a:off x="137319" y="6446043"/>
            <a:ext cx="1326387" cy="274638"/>
          </a:xfrm>
          <a:prstGeom prst="rect">
            <a:avLst/>
          </a:prstGeom>
          <a:noFill/>
        </p:spPr>
        <p:txBody>
          <a:bodyPr wrap="none" lIns="0" tIns="0" rIns="0" bIns="0">
            <a:noAutofit/>
          </a:bodyPr>
          <a:lstStyle/>
          <a:p>
            <a:pPr algn="l"/>
            <a:r>
              <a:rPr sz="1000">
                <a:solidFill>
                  <a:srgbClr val="8996A0"/>
                </a:solidFill>
                <a:latin typeface="Arial"/>
              </a:rPr>
              <a:t>© 2026 Ted Kwartler</a:t>
            </a:r>
          </a:p>
        </p:txBody>
      </p:sp>
      <p:sp>
        <p:nvSpPr>
          <p:cNvPr id="13" name="Harvard Page Number"/>
          <p:cNvSpPr txBox="1"/>
          <p:nvPr/>
        </p:nvSpPr>
        <p:spPr>
          <a:xfrm>
            <a:off x="11730577" y="6446043"/>
            <a:ext cx="324104" cy="274638"/>
          </a:xfrm>
          <a:prstGeom prst="rect">
            <a:avLst/>
          </a:prstGeom>
          <a:noFill/>
        </p:spPr>
        <p:txBody>
          <a:bodyPr wrap="none" lIns="0" tIns="0" rIns="0" bIns="0">
            <a:noAutofit/>
          </a:bodyPr>
          <a:lstStyle/>
          <a:p>
            <a:pPr algn="r"/>
            <a:fld id="{9FB83E14-921A-4A3C-960D-5AA942DD05D1}" type="slidenum">
              <a:rPr lang="en-US" sz="1000">
                <a:solidFill>
                  <a:srgbClr val="8996A0"/>
                </a:solidFill>
                <a:latin typeface="Arial"/>
              </a:rPr>
              <a:t>34</a:t>
            </a:fld>
            <a:endParaRPr lang="en-US" sz="1000">
              <a:solidFill>
                <a:srgbClr val="8996A0"/>
              </a:solidFill>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Try it: same task, more constraints</a:t>
            </a:r>
            <a:endParaRPr lang="en-US" sz="2600" dirty="0"/>
          </a:p>
        </p:txBody>
      </p:sp>
      <p:sp>
        <p:nvSpPr>
          <p:cNvPr id="3" name="Shape 1"/>
          <p:cNvSpPr/>
          <p:nvPr/>
        </p:nvSpPr>
        <p:spPr>
          <a:xfrm>
            <a:off x="548640" y="1188720"/>
            <a:ext cx="11064240" cy="1417320"/>
          </a:xfrm>
          <a:prstGeom prst="roundRect">
            <a:avLst>
              <a:gd name="adj" fmla="val 5161"/>
            </a:avLst>
          </a:prstGeom>
          <a:solidFill>
            <a:srgbClr val="FFFFFF"/>
          </a:solidFill>
          <a:ln/>
          <a:effectLst>
            <a:outerShdw blurRad="63500" dist="25400" dir="5400000" algn="bl" rotWithShape="0">
              <a:srgbClr val="000000">
                <a:alpha val="8000"/>
              </a:srgbClr>
            </a:outerShdw>
          </a:effectLst>
        </p:spPr>
      </p:sp>
      <p:sp>
        <p:nvSpPr>
          <p:cNvPr id="4" name="Text 2"/>
          <p:cNvSpPr/>
          <p:nvPr/>
        </p:nvSpPr>
        <p:spPr>
          <a:xfrm>
            <a:off x="822960" y="1371600"/>
            <a:ext cx="10515600" cy="365760"/>
          </a:xfrm>
          <a:prstGeom prst="rect">
            <a:avLst/>
          </a:prstGeom>
          <a:noFill/>
          <a:ln/>
        </p:spPr>
        <p:txBody>
          <a:bodyPr wrap="square" rtlCol="0" anchor="ctr"/>
          <a:lstStyle/>
          <a:p>
            <a:pPr marL="0" indent="0">
              <a:buNone/>
            </a:pPr>
            <a:r>
              <a:rPr lang="en-US" sz="1400" i="1" dirty="0">
                <a:solidFill>
                  <a:srgbClr val="3A3F4B"/>
                </a:solidFill>
                <a:latin typeface="Cambria" pitchFamily="34" charset="0"/>
                <a:ea typeface="Cambria" pitchFamily="34" charset="-122"/>
                <a:cs typeface="Cambria" pitchFamily="34" charset="-120"/>
              </a:rPr>
              <a:t>Bare request:  “Recommend 5 ETFs I might like.”</a:t>
            </a:r>
            <a:endParaRPr lang="en-US" sz="1400" dirty="0"/>
          </a:p>
        </p:txBody>
      </p:sp>
      <p:sp>
        <p:nvSpPr>
          <p:cNvPr id="5" name="Text 3"/>
          <p:cNvSpPr/>
          <p:nvPr/>
        </p:nvSpPr>
        <p:spPr>
          <a:xfrm>
            <a:off x="822960" y="1783080"/>
            <a:ext cx="10515600" cy="731520"/>
          </a:xfrm>
          <a:prstGeom prst="rect">
            <a:avLst/>
          </a:prstGeom>
          <a:noFill/>
          <a:ln/>
        </p:spPr>
        <p:txBody>
          <a:bodyPr wrap="square" rtlCol="0" anchor="ctr"/>
          <a:lstStyle/>
          <a:p>
            <a:pPr marL="0" indent="0">
              <a:buNone/>
            </a:pPr>
            <a:r>
              <a:rPr lang="en-US" sz="1400" i="1" dirty="0">
                <a:solidFill>
                  <a:srgbClr val="14213D"/>
                </a:solidFill>
                <a:latin typeface="Cambria" pitchFamily="34" charset="0"/>
                <a:ea typeface="Cambria" pitchFamily="34" charset="-122"/>
                <a:cs typeface="Cambria" pitchFamily="34" charset="-120"/>
              </a:rPr>
              <a:t>With positive and negative examples:  “I like low cost, broad market index funds such as VOO and SCHB. I avoid actively managed funds and anything with high turnover. Recommend 5 ETFs.”</a:t>
            </a:r>
            <a:endParaRPr lang="en-US" sz="1400" dirty="0"/>
          </a:p>
        </p:txBody>
      </p:sp>
      <p:sp>
        <p:nvSpPr>
          <p:cNvPr id="6" name="Text 4"/>
          <p:cNvSpPr/>
          <p:nvPr/>
        </p:nvSpPr>
        <p:spPr>
          <a:xfrm>
            <a:off x="548640" y="2880359"/>
            <a:ext cx="9144000" cy="684773"/>
          </a:xfrm>
          <a:prstGeom prst="rect">
            <a:avLst/>
          </a:prstGeom>
          <a:noFill/>
          <a:ln/>
        </p:spPr>
        <p:txBody>
          <a:bodyPr wrap="square" rtlCol="0" anchor="ctr"/>
          <a:lstStyle/>
          <a:p>
            <a:r>
              <a:rPr lang="en-US" sz="1700" b="1" dirty="0">
                <a:solidFill>
                  <a:srgbClr val="14213D"/>
                </a:solidFill>
                <a:latin typeface="Cambria" pitchFamily="34" charset="0"/>
                <a:ea typeface="Cambria" pitchFamily="34" charset="-122"/>
                <a:cs typeface="Cambria" pitchFamily="34" charset="-120"/>
              </a:rPr>
              <a:t>Open </a:t>
            </a:r>
            <a:r>
              <a:rPr lang="en-US" dirty="0" err="1">
                <a:solidFill>
                  <a:srgbClr val="3A3F4B"/>
                </a:solidFill>
                <a:latin typeface="Consolas" panose="020B0609020204030204" pitchFamily="49" charset="0"/>
                <a:ea typeface="Calibri" pitchFamily="34" charset="-122"/>
                <a:cs typeface="Consolas" panose="020B0609020204030204" pitchFamily="49" charset="0"/>
              </a:rPr>
              <a:t>F_openrouter_prompting_final.R</a:t>
            </a:r>
            <a:r>
              <a:rPr lang="en-US" sz="1700" b="1" dirty="0">
                <a:solidFill>
                  <a:srgbClr val="14213D"/>
                </a:solidFill>
                <a:latin typeface="Cambria" pitchFamily="34" charset="0"/>
                <a:ea typeface="Cambria" pitchFamily="34" charset="-122"/>
                <a:cs typeface="Cambria" pitchFamily="34" charset="-120"/>
              </a:rPr>
              <a:t> script and try yourself.  Adjust max tokens &amp; temperature to explore differences.</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CC32F-4815-413F-F4E2-36EFE08A1F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B978A89-7D9A-C768-D14A-AC3CF207D497}"/>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Try it: same task, more constraints</a:t>
            </a:r>
            <a:endParaRPr lang="en-US" sz="2600" dirty="0"/>
          </a:p>
        </p:txBody>
      </p:sp>
      <p:sp>
        <p:nvSpPr>
          <p:cNvPr id="6" name="Text 4">
            <a:extLst>
              <a:ext uri="{FF2B5EF4-FFF2-40B4-BE49-F238E27FC236}">
                <a16:creationId xmlns:a16="http://schemas.microsoft.com/office/drawing/2014/main" id="{E13CB571-3A64-A933-0625-D894CC36D199}"/>
              </a:ext>
            </a:extLst>
          </p:cNvPr>
          <p:cNvSpPr/>
          <p:nvPr/>
        </p:nvSpPr>
        <p:spPr>
          <a:xfrm>
            <a:off x="548640" y="2880360"/>
            <a:ext cx="9144000" cy="365760"/>
          </a:xfrm>
          <a:prstGeom prst="rect">
            <a:avLst/>
          </a:prstGeom>
          <a:noFill/>
          <a:ln/>
        </p:spPr>
        <p:txBody>
          <a:bodyPr wrap="square" rtlCol="0" anchor="ctr"/>
          <a:lstStyle/>
          <a:p>
            <a:pPr marL="0" indent="0">
              <a:buNone/>
            </a:pPr>
            <a:r>
              <a:rPr lang="en-US" sz="1700" b="1" dirty="0">
                <a:solidFill>
                  <a:srgbClr val="14213D"/>
                </a:solidFill>
                <a:latin typeface="Cambria" pitchFamily="34" charset="0"/>
                <a:ea typeface="Cambria" pitchFamily="34" charset="-122"/>
                <a:cs typeface="Cambria" pitchFamily="34" charset="-120"/>
              </a:rPr>
              <a:t>Chain of thought, then contrast on a small model</a:t>
            </a:r>
            <a:endParaRPr lang="en-US" sz="1700" dirty="0"/>
          </a:p>
        </p:txBody>
      </p:sp>
      <p:sp>
        <p:nvSpPr>
          <p:cNvPr id="7" name="Shape 5">
            <a:extLst>
              <a:ext uri="{FF2B5EF4-FFF2-40B4-BE49-F238E27FC236}">
                <a16:creationId xmlns:a16="http://schemas.microsoft.com/office/drawing/2014/main" id="{B13CC800-89CA-A46C-9440-240935036A08}"/>
              </a:ext>
            </a:extLst>
          </p:cNvPr>
          <p:cNvSpPr/>
          <p:nvPr/>
        </p:nvSpPr>
        <p:spPr>
          <a:xfrm>
            <a:off x="548640" y="3337560"/>
            <a:ext cx="11064240" cy="1828800"/>
          </a:xfrm>
          <a:prstGeom prst="roundRect">
            <a:avLst>
              <a:gd name="adj" fmla="val 4000"/>
            </a:avLst>
          </a:prstGeom>
          <a:solidFill>
            <a:srgbClr val="14213D"/>
          </a:solidFill>
          <a:ln/>
        </p:spPr>
      </p:sp>
      <p:sp>
        <p:nvSpPr>
          <p:cNvPr id="8" name="Text 6">
            <a:extLst>
              <a:ext uri="{FF2B5EF4-FFF2-40B4-BE49-F238E27FC236}">
                <a16:creationId xmlns:a16="http://schemas.microsoft.com/office/drawing/2014/main" id="{791DDBCC-4A30-A184-2281-FF09641A8D26}"/>
              </a:ext>
            </a:extLst>
          </p:cNvPr>
          <p:cNvSpPr/>
          <p:nvPr/>
        </p:nvSpPr>
        <p:spPr>
          <a:xfrm>
            <a:off x="822960" y="3520440"/>
            <a:ext cx="10515600" cy="640080"/>
          </a:xfrm>
          <a:prstGeom prst="rect">
            <a:avLst/>
          </a:prstGeom>
          <a:noFill/>
          <a:ln/>
        </p:spPr>
        <p:txBody>
          <a:bodyPr wrap="square" rtlCol="0" anchor="ctr"/>
          <a:lstStyle/>
          <a:p>
            <a:pPr marL="0" indent="0">
              <a:buNone/>
            </a:pPr>
            <a:r>
              <a:rPr lang="en-US" sz="1300" i="1" dirty="0">
                <a:solidFill>
                  <a:srgbClr val="E4E9F5"/>
                </a:solidFill>
                <a:latin typeface="Calibri" pitchFamily="34" charset="0"/>
                <a:ea typeface="Calibri" pitchFamily="34" charset="-122"/>
                <a:cs typeface="Calibri" pitchFamily="34" charset="-120"/>
              </a:rPr>
              <a:t>A portfolio held 40 shares. The investor sold 15 to rebalance, then bought 8 more after a dip. How many shares now? Please explain your logic in steps.</a:t>
            </a:r>
            <a:endParaRPr lang="en-US" sz="1300" dirty="0"/>
          </a:p>
        </p:txBody>
      </p:sp>
      <p:sp>
        <p:nvSpPr>
          <p:cNvPr id="9" name="Text 7">
            <a:extLst>
              <a:ext uri="{FF2B5EF4-FFF2-40B4-BE49-F238E27FC236}">
                <a16:creationId xmlns:a16="http://schemas.microsoft.com/office/drawing/2014/main" id="{F0A32640-0401-59DE-7918-FA1484EEAF67}"/>
              </a:ext>
            </a:extLst>
          </p:cNvPr>
          <p:cNvSpPr/>
          <p:nvPr/>
        </p:nvSpPr>
        <p:spPr>
          <a:xfrm>
            <a:off x="822960" y="4160520"/>
            <a:ext cx="10515600" cy="548640"/>
          </a:xfrm>
          <a:prstGeom prst="rect">
            <a:avLst/>
          </a:prstGeom>
          <a:noFill/>
          <a:ln/>
        </p:spPr>
        <p:txBody>
          <a:bodyPr wrap="square" rtlCol="0" anchor="ctr"/>
          <a:lstStyle/>
          <a:p>
            <a:pPr marL="0" indent="0">
              <a:buNone/>
            </a:pPr>
            <a:r>
              <a:rPr lang="en-US" sz="1300" i="1" dirty="0">
                <a:solidFill>
                  <a:srgbClr val="9A6B2C"/>
                </a:solidFill>
                <a:latin typeface="Calibri" pitchFamily="34" charset="0"/>
                <a:ea typeface="Calibri" pitchFamily="34" charset="-122"/>
                <a:cs typeface="Calibri" pitchFamily="34" charset="-120"/>
              </a:rPr>
              <a:t>Contrast:  “...How many shares now? Do not give me any information except the final number.”</a:t>
            </a:r>
            <a:endParaRPr lang="en-US" sz="1300" dirty="0"/>
          </a:p>
        </p:txBody>
      </p:sp>
      <p:sp>
        <p:nvSpPr>
          <p:cNvPr id="10" name="Text 8">
            <a:extLst>
              <a:ext uri="{FF2B5EF4-FFF2-40B4-BE49-F238E27FC236}">
                <a16:creationId xmlns:a16="http://schemas.microsoft.com/office/drawing/2014/main" id="{14C90825-A34E-D795-6C5E-66037BBA1148}"/>
              </a:ext>
            </a:extLst>
          </p:cNvPr>
          <p:cNvSpPr/>
          <p:nvPr/>
        </p:nvSpPr>
        <p:spPr>
          <a:xfrm>
            <a:off x="822960" y="4709160"/>
            <a:ext cx="1042416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Run both on a small model (llama-3.2-1b-instruct) at temperature 1, several times. Watch whether skipping the reasoning step changes correctness, not just length.</a:t>
            </a:r>
            <a:endParaRPr lang="en-US" sz="1150" dirty="0"/>
          </a:p>
        </p:txBody>
      </p:sp>
      <p:sp>
        <p:nvSpPr>
          <p:cNvPr id="12" name="Text 4">
            <a:extLst>
              <a:ext uri="{FF2B5EF4-FFF2-40B4-BE49-F238E27FC236}">
                <a16:creationId xmlns:a16="http://schemas.microsoft.com/office/drawing/2014/main" id="{4ED697FD-17B1-37D6-43A9-860EB5EFA155}"/>
              </a:ext>
            </a:extLst>
          </p:cNvPr>
          <p:cNvSpPr/>
          <p:nvPr/>
        </p:nvSpPr>
        <p:spPr>
          <a:xfrm>
            <a:off x="548640" y="1234440"/>
            <a:ext cx="9144000" cy="707376"/>
          </a:xfrm>
          <a:prstGeom prst="rect">
            <a:avLst/>
          </a:prstGeom>
          <a:noFill/>
          <a:ln/>
        </p:spPr>
        <p:txBody>
          <a:bodyPr wrap="square" rtlCol="0" anchor="ctr"/>
          <a:lstStyle/>
          <a:p>
            <a:r>
              <a:rPr lang="en-US" sz="1700" b="1" dirty="0">
                <a:solidFill>
                  <a:srgbClr val="14213D"/>
                </a:solidFill>
                <a:latin typeface="Cambria" pitchFamily="34" charset="0"/>
                <a:ea typeface="Cambria" pitchFamily="34" charset="-122"/>
                <a:cs typeface="Cambria" pitchFamily="34" charset="-120"/>
              </a:rPr>
              <a:t>Open </a:t>
            </a:r>
            <a:r>
              <a:rPr lang="en-US" sz="1700" dirty="0" err="1">
                <a:solidFill>
                  <a:srgbClr val="14213D"/>
                </a:solidFill>
                <a:latin typeface="Consolas" panose="020B0609020204030204" pitchFamily="49" charset="0"/>
                <a:ea typeface="Cambria" pitchFamily="34" charset="-122"/>
                <a:cs typeface="Consolas" panose="020B0609020204030204" pitchFamily="49" charset="0"/>
              </a:rPr>
              <a:t>F_openrouter_prompting_final.R</a:t>
            </a:r>
            <a:r>
              <a:rPr lang="en-US" sz="1700" b="1" dirty="0">
                <a:solidFill>
                  <a:srgbClr val="14213D"/>
                </a:solidFill>
                <a:latin typeface="Cambria" pitchFamily="34" charset="0"/>
                <a:ea typeface="Cambria" pitchFamily="34" charset="-122"/>
                <a:cs typeface="Cambria" pitchFamily="34" charset="-120"/>
              </a:rPr>
              <a:t> script and then explore using </a:t>
            </a:r>
            <a:r>
              <a:rPr lang="en-US" dirty="0" err="1">
                <a:solidFill>
                  <a:srgbClr val="8A8577"/>
                </a:solidFill>
                <a:latin typeface="Consolas" panose="020B0609020204030204" pitchFamily="49" charset="0"/>
                <a:ea typeface="Calibri" pitchFamily="34" charset="-122"/>
                <a:cs typeface="Consolas" panose="020B0609020204030204" pitchFamily="49" charset="0"/>
              </a:rPr>
              <a:t>G_examplePrompts_finance.txt</a:t>
            </a:r>
            <a:r>
              <a:rPr lang="en-US" sz="1700" b="1" dirty="0">
                <a:solidFill>
                  <a:srgbClr val="14213D"/>
                </a:solidFill>
                <a:latin typeface="Consolas" panose="020B0609020204030204" pitchFamily="49" charset="0"/>
                <a:ea typeface="Cambria" pitchFamily="34" charset="-122"/>
                <a:cs typeface="Consolas" panose="020B0609020204030204" pitchFamily="49" charset="0"/>
              </a:rPr>
              <a:t>.</a:t>
            </a:r>
            <a:endParaRPr lang="en-US" sz="17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35233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F6524-776C-FC45-62E2-C81BEEC83B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A5EE38-03D2-0845-29BD-649BCD53E135}"/>
              </a:ext>
            </a:extLst>
          </p:cNvPr>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One more to try: Be careful what you ask!</a:t>
            </a:r>
            <a:endParaRPr lang="en-US" sz="2600" dirty="0"/>
          </a:p>
        </p:txBody>
      </p:sp>
      <p:sp>
        <p:nvSpPr>
          <p:cNvPr id="3" name="Shape 1">
            <a:extLst>
              <a:ext uri="{FF2B5EF4-FFF2-40B4-BE49-F238E27FC236}">
                <a16:creationId xmlns:a16="http://schemas.microsoft.com/office/drawing/2014/main" id="{82E60269-57DB-D7F4-2A8C-800C74FFB1D0}"/>
              </a:ext>
            </a:extLst>
          </p:cNvPr>
          <p:cNvSpPr/>
          <p:nvPr/>
        </p:nvSpPr>
        <p:spPr>
          <a:xfrm>
            <a:off x="548639" y="1188721"/>
            <a:ext cx="10913929" cy="594360"/>
          </a:xfrm>
          <a:prstGeom prst="roundRect">
            <a:avLst>
              <a:gd name="adj" fmla="val 5161"/>
            </a:avLst>
          </a:prstGeom>
          <a:solidFill>
            <a:srgbClr val="FFFFFF"/>
          </a:solidFill>
          <a:ln/>
          <a:effectLst>
            <a:outerShdw blurRad="63500" dist="25400" dir="5400000" algn="bl" rotWithShape="0">
              <a:srgbClr val="000000">
                <a:alpha val="8000"/>
              </a:srgbClr>
            </a:outerShdw>
          </a:effectLst>
        </p:spPr>
      </p:sp>
      <p:sp>
        <p:nvSpPr>
          <p:cNvPr id="4" name="Text 2">
            <a:extLst>
              <a:ext uri="{FF2B5EF4-FFF2-40B4-BE49-F238E27FC236}">
                <a16:creationId xmlns:a16="http://schemas.microsoft.com/office/drawing/2014/main" id="{5446E482-CE9B-2C02-958D-BDF601314924}"/>
              </a:ext>
            </a:extLst>
          </p:cNvPr>
          <p:cNvSpPr/>
          <p:nvPr/>
        </p:nvSpPr>
        <p:spPr>
          <a:xfrm>
            <a:off x="822959" y="1258866"/>
            <a:ext cx="10913929" cy="365760"/>
          </a:xfrm>
          <a:prstGeom prst="rect">
            <a:avLst/>
          </a:prstGeom>
          <a:noFill/>
          <a:ln/>
        </p:spPr>
        <p:txBody>
          <a:bodyPr wrap="square" rtlCol="0" anchor="ctr"/>
          <a:lstStyle/>
          <a:p>
            <a:pPr marL="0" indent="0">
              <a:buNone/>
            </a:pPr>
            <a:r>
              <a:rPr lang="en-US" sz="2000" dirty="0">
                <a:solidFill>
                  <a:srgbClr val="3A3F4B"/>
                </a:solidFill>
                <a:latin typeface="Cambria" pitchFamily="34" charset="0"/>
                <a:ea typeface="Cambria" pitchFamily="34" charset="-122"/>
                <a:cs typeface="Cambria" pitchFamily="34" charset="-120"/>
              </a:rPr>
              <a:t>Your Prompt</a:t>
            </a:r>
          </a:p>
          <a:p>
            <a:pPr marL="0" indent="0">
              <a:buNone/>
            </a:pPr>
            <a:r>
              <a:rPr lang="en-US" sz="2000" dirty="0">
                <a:solidFill>
                  <a:srgbClr val="3A3F4B"/>
                </a:solidFill>
                <a:latin typeface="Cambria" pitchFamily="34" charset="0"/>
                <a:ea typeface="Cambria" pitchFamily="34" charset="-122"/>
                <a:cs typeface="Cambria" pitchFamily="34" charset="-120"/>
              </a:rPr>
              <a:t>“Give me a random number between 1-50.”</a:t>
            </a:r>
            <a:endParaRPr lang="en-US" sz="2000" dirty="0"/>
          </a:p>
        </p:txBody>
      </p:sp>
      <p:sp>
        <p:nvSpPr>
          <p:cNvPr id="7" name="Shape 5">
            <a:extLst>
              <a:ext uri="{FF2B5EF4-FFF2-40B4-BE49-F238E27FC236}">
                <a16:creationId xmlns:a16="http://schemas.microsoft.com/office/drawing/2014/main" id="{620D7F52-BC22-1BBF-C945-FF4445BA9666}"/>
              </a:ext>
            </a:extLst>
          </p:cNvPr>
          <p:cNvSpPr/>
          <p:nvPr/>
        </p:nvSpPr>
        <p:spPr>
          <a:xfrm>
            <a:off x="444358" y="5809249"/>
            <a:ext cx="10913928" cy="800110"/>
          </a:xfrm>
          <a:prstGeom prst="roundRect">
            <a:avLst>
              <a:gd name="adj" fmla="val 4000"/>
            </a:avLst>
          </a:prstGeom>
          <a:solidFill>
            <a:srgbClr val="14213D"/>
          </a:solidFill>
          <a:ln/>
        </p:spPr>
        <p:txBody>
          <a:bodyPr/>
          <a:lstStyle/>
          <a:p>
            <a:endParaRPr lang="en-US" sz="4000" dirty="0"/>
          </a:p>
        </p:txBody>
      </p:sp>
      <p:sp>
        <p:nvSpPr>
          <p:cNvPr id="8" name="Text 6">
            <a:extLst>
              <a:ext uri="{FF2B5EF4-FFF2-40B4-BE49-F238E27FC236}">
                <a16:creationId xmlns:a16="http://schemas.microsoft.com/office/drawing/2014/main" id="{79889F8C-2AFE-8A48-6609-6B32D4EF2F8D}"/>
              </a:ext>
            </a:extLst>
          </p:cNvPr>
          <p:cNvSpPr/>
          <p:nvPr/>
        </p:nvSpPr>
        <p:spPr>
          <a:xfrm>
            <a:off x="919094" y="5916972"/>
            <a:ext cx="10152870" cy="541084"/>
          </a:xfrm>
          <a:prstGeom prst="rect">
            <a:avLst/>
          </a:prstGeom>
          <a:noFill/>
          <a:ln/>
        </p:spPr>
        <p:txBody>
          <a:bodyPr wrap="square" rtlCol="0" anchor="ctr"/>
          <a:lstStyle/>
          <a:p>
            <a:pPr marL="0" indent="0">
              <a:buNone/>
            </a:pPr>
            <a:r>
              <a:rPr lang="en-US" sz="2800" i="1" dirty="0">
                <a:solidFill>
                  <a:srgbClr val="E4E9F5"/>
                </a:solidFill>
                <a:latin typeface="Calibri" pitchFamily="34" charset="0"/>
                <a:ea typeface="Calibri" pitchFamily="34" charset="-122"/>
                <a:cs typeface="Calibri" pitchFamily="34" charset="-120"/>
              </a:rPr>
              <a:t>What did we observe? Why did this happen?</a:t>
            </a:r>
            <a:endParaRPr lang="en-US" sz="2800" dirty="0"/>
          </a:p>
        </p:txBody>
      </p:sp>
      <p:pic>
        <p:nvPicPr>
          <p:cNvPr id="6" name="Picture 5" descr="MATH aint nobody got time for that - Kermit Drinking Tea Meme Generator">
            <a:extLst>
              <a:ext uri="{FF2B5EF4-FFF2-40B4-BE49-F238E27FC236}">
                <a16:creationId xmlns:a16="http://schemas.microsoft.com/office/drawing/2014/main" id="{CA8147AC-600D-E90C-AE59-1FC157C64E67}"/>
              </a:ext>
            </a:extLst>
          </p:cNvPr>
          <p:cNvPicPr>
            <a:picLocks noChangeAspect="1"/>
          </p:cNvPicPr>
          <p:nvPr/>
        </p:nvPicPr>
        <p:blipFill>
          <a:blip r:embed="rId3"/>
          <a:stretch>
            <a:fillRect/>
          </a:stretch>
        </p:blipFill>
        <p:spPr>
          <a:xfrm>
            <a:off x="6588690" y="2090376"/>
            <a:ext cx="4483274" cy="3048626"/>
          </a:xfrm>
          <a:prstGeom prst="rect">
            <a:avLst/>
          </a:prstGeom>
          <a:ln>
            <a:solidFill>
              <a:schemeClr val="accent1"/>
            </a:solidFill>
          </a:ln>
        </p:spPr>
      </p:pic>
      <p:pic>
        <p:nvPicPr>
          <p:cNvPr id="10" name="Picture 9">
            <a:extLst>
              <a:ext uri="{FF2B5EF4-FFF2-40B4-BE49-F238E27FC236}">
                <a16:creationId xmlns:a16="http://schemas.microsoft.com/office/drawing/2014/main" id="{B065ABB2-EEB9-9505-5DCF-AC0C1D41B805}"/>
              </a:ext>
            </a:extLst>
          </p:cNvPr>
          <p:cNvPicPr>
            <a:picLocks noChangeAspect="1"/>
          </p:cNvPicPr>
          <p:nvPr/>
        </p:nvPicPr>
        <p:blipFill>
          <a:blip r:embed="rId4"/>
          <a:stretch>
            <a:fillRect/>
          </a:stretch>
        </p:blipFill>
        <p:spPr>
          <a:xfrm>
            <a:off x="444358" y="2090376"/>
            <a:ext cx="4977016" cy="2920461"/>
          </a:xfrm>
          <a:prstGeom prst="rect">
            <a:avLst/>
          </a:prstGeom>
          <a:ln>
            <a:solidFill>
              <a:schemeClr val="accent1"/>
            </a:solidFill>
          </a:ln>
        </p:spPr>
      </p:pic>
    </p:spTree>
    <p:extLst>
      <p:ext uri="{BB962C8B-B14F-4D97-AF65-F5344CB8AC3E}">
        <p14:creationId xmlns:p14="http://schemas.microsoft.com/office/powerpoint/2010/main" val="2343848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Going deeper: the COSTAR framework</a:t>
            </a:r>
            <a:endParaRPr lang="en-US" sz="26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One of several structured frameworks online. Worth the extra effort for system prompts especially.</a:t>
            </a:r>
            <a:endParaRPr lang="en-US" sz="1350" dirty="0"/>
          </a:p>
        </p:txBody>
      </p:sp>
      <p:sp>
        <p:nvSpPr>
          <p:cNvPr id="4" name="Shape 2"/>
          <p:cNvSpPr/>
          <p:nvPr/>
        </p:nvSpPr>
        <p:spPr>
          <a:xfrm>
            <a:off x="548640" y="150876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5" name="Text 3"/>
          <p:cNvSpPr/>
          <p:nvPr/>
        </p:nvSpPr>
        <p:spPr>
          <a:xfrm>
            <a:off x="731520" y="164592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Context</a:t>
            </a:r>
            <a:endParaRPr lang="en-US" sz="1500" dirty="0"/>
          </a:p>
        </p:txBody>
      </p:sp>
      <p:sp>
        <p:nvSpPr>
          <p:cNvPr id="6" name="Text 4"/>
          <p:cNvSpPr/>
          <p:nvPr/>
        </p:nvSpPr>
        <p:spPr>
          <a:xfrm>
            <a:off x="731520" y="201168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Background that helps the model understand the specific scenario.</a:t>
            </a:r>
            <a:endParaRPr lang="en-US" sz="1150" dirty="0"/>
          </a:p>
        </p:txBody>
      </p:sp>
      <p:sp>
        <p:nvSpPr>
          <p:cNvPr id="7" name="Shape 5"/>
          <p:cNvSpPr/>
          <p:nvPr/>
        </p:nvSpPr>
        <p:spPr>
          <a:xfrm>
            <a:off x="4325112" y="150876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8" name="Text 6"/>
          <p:cNvSpPr/>
          <p:nvPr/>
        </p:nvSpPr>
        <p:spPr>
          <a:xfrm>
            <a:off x="4507992" y="164592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Objective</a:t>
            </a:r>
            <a:endParaRPr lang="en-US" sz="1500" dirty="0"/>
          </a:p>
        </p:txBody>
      </p:sp>
      <p:sp>
        <p:nvSpPr>
          <p:cNvPr id="9" name="Text 7"/>
          <p:cNvSpPr/>
          <p:nvPr/>
        </p:nvSpPr>
        <p:spPr>
          <a:xfrm>
            <a:off x="4507992" y="201168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task, stated clearly enough to focus the model.</a:t>
            </a:r>
            <a:endParaRPr lang="en-US" sz="1150" dirty="0"/>
          </a:p>
        </p:txBody>
      </p:sp>
      <p:sp>
        <p:nvSpPr>
          <p:cNvPr id="10" name="Shape 8"/>
          <p:cNvSpPr/>
          <p:nvPr/>
        </p:nvSpPr>
        <p:spPr>
          <a:xfrm>
            <a:off x="8101584" y="150876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11" name="Text 9"/>
          <p:cNvSpPr/>
          <p:nvPr/>
        </p:nvSpPr>
        <p:spPr>
          <a:xfrm>
            <a:off x="8284464" y="164592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Style</a:t>
            </a:r>
            <a:endParaRPr lang="en-US" sz="1500" dirty="0"/>
          </a:p>
        </p:txBody>
      </p:sp>
      <p:sp>
        <p:nvSpPr>
          <p:cNvPr id="12" name="Text 10"/>
          <p:cNvSpPr/>
          <p:nvPr/>
        </p:nvSpPr>
        <p:spPr>
          <a:xfrm>
            <a:off x="8284464" y="201168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writing style the response should follow.</a:t>
            </a:r>
            <a:endParaRPr lang="en-US" sz="1150" dirty="0"/>
          </a:p>
        </p:txBody>
      </p:sp>
      <p:sp>
        <p:nvSpPr>
          <p:cNvPr id="13" name="Shape 11"/>
          <p:cNvSpPr/>
          <p:nvPr/>
        </p:nvSpPr>
        <p:spPr>
          <a:xfrm>
            <a:off x="548640" y="306324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14" name="Text 12"/>
          <p:cNvSpPr/>
          <p:nvPr/>
        </p:nvSpPr>
        <p:spPr>
          <a:xfrm>
            <a:off x="731520" y="320040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Tone</a:t>
            </a:r>
            <a:endParaRPr lang="en-US" sz="1500" dirty="0"/>
          </a:p>
        </p:txBody>
      </p:sp>
      <p:sp>
        <p:nvSpPr>
          <p:cNvPr id="15" name="Text 13"/>
          <p:cNvSpPr/>
          <p:nvPr/>
        </p:nvSpPr>
        <p:spPr>
          <a:xfrm>
            <a:off x="731520" y="356616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sentiment the response should carry.</a:t>
            </a:r>
            <a:endParaRPr lang="en-US" sz="1150" dirty="0"/>
          </a:p>
        </p:txBody>
      </p:sp>
      <p:sp>
        <p:nvSpPr>
          <p:cNvPr id="16" name="Shape 14"/>
          <p:cNvSpPr/>
          <p:nvPr/>
        </p:nvSpPr>
        <p:spPr>
          <a:xfrm>
            <a:off x="4325112" y="306324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17" name="Text 15"/>
          <p:cNvSpPr/>
          <p:nvPr/>
        </p:nvSpPr>
        <p:spPr>
          <a:xfrm>
            <a:off x="4507992" y="320040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Audience</a:t>
            </a:r>
            <a:endParaRPr lang="en-US" sz="1500" dirty="0"/>
          </a:p>
        </p:txBody>
      </p:sp>
      <p:sp>
        <p:nvSpPr>
          <p:cNvPr id="18" name="Text 16"/>
          <p:cNvSpPr/>
          <p:nvPr/>
        </p:nvSpPr>
        <p:spPr>
          <a:xfrm>
            <a:off x="4507992" y="356616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Who will read the response, so it is targeted correctly.</a:t>
            </a:r>
            <a:endParaRPr lang="en-US" sz="1150" dirty="0"/>
          </a:p>
        </p:txBody>
      </p:sp>
      <p:sp>
        <p:nvSpPr>
          <p:cNvPr id="19" name="Shape 17"/>
          <p:cNvSpPr/>
          <p:nvPr/>
        </p:nvSpPr>
        <p:spPr>
          <a:xfrm>
            <a:off x="8101584" y="3063240"/>
            <a:ext cx="3611880" cy="1417320"/>
          </a:xfrm>
          <a:prstGeom prst="roundRect">
            <a:avLst>
              <a:gd name="adj" fmla="val 4516"/>
            </a:avLst>
          </a:prstGeom>
          <a:solidFill>
            <a:srgbClr val="FFFFFF"/>
          </a:solidFill>
          <a:ln/>
          <a:effectLst>
            <a:outerShdw blurRad="63500" dist="25400" dir="5400000" algn="bl" rotWithShape="0">
              <a:srgbClr val="000000">
                <a:alpha val="7000"/>
              </a:srgbClr>
            </a:outerShdw>
          </a:effectLst>
        </p:spPr>
      </p:sp>
      <p:sp>
        <p:nvSpPr>
          <p:cNvPr id="20" name="Text 18"/>
          <p:cNvSpPr/>
          <p:nvPr/>
        </p:nvSpPr>
        <p:spPr>
          <a:xfrm>
            <a:off x="8284464" y="3200400"/>
            <a:ext cx="324612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Response</a:t>
            </a:r>
            <a:endParaRPr lang="en-US" sz="1500" dirty="0"/>
          </a:p>
        </p:txBody>
      </p:sp>
      <p:sp>
        <p:nvSpPr>
          <p:cNvPr id="21" name="Text 19"/>
          <p:cNvSpPr/>
          <p:nvPr/>
        </p:nvSpPr>
        <p:spPr>
          <a:xfrm>
            <a:off x="8284464" y="3566160"/>
            <a:ext cx="3246120" cy="822960"/>
          </a:xfrm>
          <a:prstGeom prst="rect">
            <a:avLst/>
          </a:prstGeom>
          <a:noFill/>
          <a:ln/>
        </p:spPr>
        <p:txBody>
          <a:bodyPr wrap="square" rtlCol="0" anchor="ctr"/>
          <a:lstStyle/>
          <a:p>
            <a:pPr marL="0" indent="0">
              <a:buNone/>
            </a:pPr>
            <a:r>
              <a:rPr lang="en-US" sz="1150" dirty="0">
                <a:solidFill>
                  <a:srgbClr val="3A3F4B"/>
                </a:solidFill>
                <a:latin typeface="Calibri" pitchFamily="34" charset="0"/>
                <a:ea typeface="Calibri" pitchFamily="34" charset="-122"/>
                <a:cs typeface="Calibri" pitchFamily="34" charset="-120"/>
              </a:rPr>
              <a:t>The output format: text, a list, JSON, so it plugs into a pipeline.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Worked example: a research note COSTAR prompt</a:t>
            </a:r>
            <a:endParaRPr lang="en-US" sz="2400" dirty="0"/>
          </a:p>
        </p:txBody>
      </p:sp>
      <p:sp>
        <p:nvSpPr>
          <p:cNvPr id="3" name="Text 1"/>
          <p:cNvSpPr/>
          <p:nvPr/>
        </p:nvSpPr>
        <p:spPr>
          <a:xfrm>
            <a:off x="548640" y="960120"/>
            <a:ext cx="1051560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Adapted for a portfolio analyst preparing a note for an investment committee</a:t>
            </a:r>
            <a:endParaRPr lang="en-US" sz="1300" dirty="0"/>
          </a:p>
        </p:txBody>
      </p:sp>
      <p:sp>
        <p:nvSpPr>
          <p:cNvPr id="4" name="Text 2"/>
          <p:cNvSpPr/>
          <p:nvPr/>
        </p:nvSpPr>
        <p:spPr>
          <a:xfrm>
            <a:off x="640080" y="1645920"/>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CONTEXT</a:t>
            </a:r>
            <a:endParaRPr lang="en-US" sz="1300" dirty="0"/>
          </a:p>
        </p:txBody>
      </p:sp>
      <p:sp>
        <p:nvSpPr>
          <p:cNvPr id="5" name="Text 3"/>
          <p:cNvSpPr/>
          <p:nvPr/>
        </p:nvSpPr>
        <p:spPr>
          <a:xfrm>
            <a:off x="2743200" y="1554480"/>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I am a portfolio analyst preparing a research note for an investment committee with limited time per submission.</a:t>
            </a:r>
            <a:endParaRPr lang="en-US" sz="1300" dirty="0"/>
          </a:p>
        </p:txBody>
      </p:sp>
      <p:sp>
        <p:nvSpPr>
          <p:cNvPr id="6" name="Text 4"/>
          <p:cNvSpPr/>
          <p:nvPr/>
        </p:nvSpPr>
        <p:spPr>
          <a:xfrm>
            <a:off x="640080" y="2450592"/>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OBJECTIVE</a:t>
            </a:r>
            <a:endParaRPr lang="en-US" sz="1300" dirty="0"/>
          </a:p>
        </p:txBody>
      </p:sp>
      <p:sp>
        <p:nvSpPr>
          <p:cNvPr id="7" name="Text 5"/>
          <p:cNvSpPr/>
          <p:nvPr/>
        </p:nvSpPr>
        <p:spPr>
          <a:xfrm>
            <a:off x="2743200" y="2359152"/>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Guide me in producing a research note structure for one equity: thesis, signals, risks.</a:t>
            </a:r>
            <a:endParaRPr lang="en-US" sz="1300" dirty="0"/>
          </a:p>
        </p:txBody>
      </p:sp>
      <p:sp>
        <p:nvSpPr>
          <p:cNvPr id="8" name="Text 6"/>
          <p:cNvSpPr/>
          <p:nvPr/>
        </p:nvSpPr>
        <p:spPr>
          <a:xfrm>
            <a:off x="640080" y="3255264"/>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STYLE / TONE</a:t>
            </a:r>
            <a:endParaRPr lang="en-US" sz="1300" dirty="0"/>
          </a:p>
        </p:txBody>
      </p:sp>
      <p:sp>
        <p:nvSpPr>
          <p:cNvPr id="9" name="Text 7"/>
          <p:cNvSpPr/>
          <p:nvPr/>
        </p:nvSpPr>
        <p:spPr>
          <a:xfrm>
            <a:off x="2743200" y="3163824"/>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Analytical, direct, confident but not overstated. State uncertainty plainly.</a:t>
            </a:r>
            <a:endParaRPr lang="en-US" sz="1300" dirty="0"/>
          </a:p>
        </p:txBody>
      </p:sp>
      <p:sp>
        <p:nvSpPr>
          <p:cNvPr id="10" name="Text 8"/>
          <p:cNvSpPr/>
          <p:nvPr/>
        </p:nvSpPr>
        <p:spPr>
          <a:xfrm>
            <a:off x="640080" y="4059936"/>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AUDIENCE</a:t>
            </a:r>
            <a:endParaRPr lang="en-US" sz="1300" dirty="0"/>
          </a:p>
        </p:txBody>
      </p:sp>
      <p:sp>
        <p:nvSpPr>
          <p:cNvPr id="11" name="Text 9"/>
          <p:cNvSpPr/>
          <p:nvPr/>
        </p:nvSpPr>
        <p:spPr>
          <a:xfrm>
            <a:off x="2743200" y="3968496"/>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A financially literate committee that has not looked at this equity recently.</a:t>
            </a:r>
            <a:endParaRPr lang="en-US" sz="1300" dirty="0"/>
          </a:p>
        </p:txBody>
      </p:sp>
      <p:sp>
        <p:nvSpPr>
          <p:cNvPr id="12" name="Text 10"/>
          <p:cNvSpPr/>
          <p:nvPr/>
        </p:nvSpPr>
        <p:spPr>
          <a:xfrm>
            <a:off x="640080" y="4864608"/>
            <a:ext cx="2011680" cy="502920"/>
          </a:xfrm>
          <a:prstGeom prst="rect">
            <a:avLst/>
          </a:prstGeom>
          <a:noFill/>
          <a:ln/>
        </p:spPr>
        <p:txBody>
          <a:bodyPr wrap="square" rtlCol="0" anchor="ctr"/>
          <a:lstStyle/>
          <a:p>
            <a:pPr marL="0" indent="0">
              <a:buNone/>
            </a:pPr>
            <a:r>
              <a:rPr lang="en-US" sz="1300" b="1" dirty="0">
                <a:solidFill>
                  <a:srgbClr val="9A6B2C"/>
                </a:solidFill>
                <a:latin typeface="Cambria" pitchFamily="34" charset="0"/>
                <a:ea typeface="Cambria" pitchFamily="34" charset="-122"/>
                <a:cs typeface="Cambria" pitchFamily="34" charset="-120"/>
              </a:rPr>
              <a:t>RESPONSE</a:t>
            </a:r>
            <a:endParaRPr lang="en-US" sz="1300" dirty="0"/>
          </a:p>
        </p:txBody>
      </p:sp>
      <p:sp>
        <p:nvSpPr>
          <p:cNvPr id="13" name="Text 11"/>
          <p:cNvSpPr/>
          <p:nvPr/>
        </p:nvSpPr>
        <p:spPr>
          <a:xfrm>
            <a:off x="2743200" y="4773168"/>
            <a:ext cx="8686800" cy="685800"/>
          </a:xfrm>
          <a:prstGeom prst="rect">
            <a:avLst/>
          </a:prstGeom>
          <a:noFill/>
          <a:ln/>
        </p:spPr>
        <p:txBody>
          <a:bodyPr wrap="square" rtlCol="0" anchor="ctr"/>
          <a:lstStyle/>
          <a:p>
            <a:pPr marL="0" indent="0">
              <a:buNone/>
            </a:pPr>
            <a:r>
              <a:rPr lang="en-US" sz="1300" dirty="0">
                <a:solidFill>
                  <a:srgbClr val="E4E9F5"/>
                </a:solidFill>
                <a:latin typeface="Calibri" pitchFamily="34" charset="0"/>
                <a:ea typeface="Calibri" pitchFamily="34" charset="-122"/>
                <a:cs typeface="Calibri" pitchFamily="34" charset="-120"/>
              </a:rPr>
              <a:t>Thesis (one sentence), Supporting Signals, Risk Factors, Recommendation line.</a:t>
            </a:r>
            <a:endParaRPr lang="en-US" sz="1300" dirty="0"/>
          </a:p>
        </p:txBody>
      </p:sp>
      <p:sp>
        <p:nvSpPr>
          <p:cNvPr id="14" name="Text 12"/>
          <p:cNvSpPr/>
          <p:nvPr/>
        </p:nvSpPr>
        <p:spPr>
          <a:xfrm>
            <a:off x="640080" y="5394960"/>
            <a:ext cx="7315200" cy="365760"/>
          </a:xfrm>
          <a:prstGeom prst="rect">
            <a:avLst/>
          </a:prstGeom>
          <a:noFill/>
          <a:ln/>
        </p:spPr>
        <p:txBody>
          <a:bodyPr wrap="square" rtlCol="0" anchor="ctr"/>
          <a:lstStyle/>
          <a:p>
            <a:pPr marL="0" indent="0">
              <a:buNone/>
            </a:pPr>
            <a:r>
              <a:rPr lang="en-US" i="1" dirty="0">
                <a:solidFill>
                  <a:srgbClr val="8FA3C9"/>
                </a:solidFill>
                <a:latin typeface="Calibri" pitchFamily="34" charset="0"/>
                <a:ea typeface="Calibri" pitchFamily="34" charset="-122"/>
                <a:cs typeface="Calibri" pitchFamily="34" charset="-120"/>
              </a:rPr>
              <a:t>File: </a:t>
            </a:r>
            <a:r>
              <a:rPr lang="en-US" i="1" dirty="0" err="1">
                <a:solidFill>
                  <a:srgbClr val="8FA3C9"/>
                </a:solidFill>
                <a:latin typeface="Calibri" pitchFamily="34" charset="0"/>
                <a:ea typeface="Calibri" pitchFamily="34" charset="-122"/>
                <a:cs typeface="Calibri" pitchFamily="34" charset="-120"/>
              </a:rPr>
              <a:t>H_costar_prompt_finance.txt</a:t>
            </a:r>
            <a:endParaRPr lang="en-US" dirty="0"/>
          </a:p>
        </p:txBody>
      </p:sp>
      <p:sp>
        <p:nvSpPr>
          <p:cNvPr id="15" name="Rounded Rectangle 14">
            <a:extLst>
              <a:ext uri="{FF2B5EF4-FFF2-40B4-BE49-F238E27FC236}">
                <a16:creationId xmlns:a16="http://schemas.microsoft.com/office/drawing/2014/main" id="{27C872B5-BDF6-A7EB-7B3A-0409948AD18C}"/>
              </a:ext>
            </a:extLst>
          </p:cNvPr>
          <p:cNvSpPr/>
          <p:nvPr/>
        </p:nvSpPr>
        <p:spPr>
          <a:xfrm>
            <a:off x="729465" y="6000108"/>
            <a:ext cx="10791975" cy="56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Time permitting, go back &amp; try COSTAR at </a:t>
            </a:r>
            <a:r>
              <a:rPr lang="en-US" dirty="0" err="1"/>
              <a:t>hagll.com</a:t>
            </a:r>
            <a:r>
              <a:rPr lang="en-US" dirty="0"/>
              <a:t> for your system prompt.  You may get better results.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73152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System prompt anatomy</a:t>
            </a:r>
            <a:endParaRPr lang="en-US" sz="2600" dirty="0"/>
          </a:p>
        </p:txBody>
      </p:sp>
      <p:sp>
        <p:nvSpPr>
          <p:cNvPr id="5" name="Text 2"/>
          <p:cNvSpPr/>
          <p:nvPr/>
        </p:nvSpPr>
        <p:spPr>
          <a:xfrm>
            <a:off x="1280160" y="1051560"/>
            <a:ext cx="10058400" cy="365760"/>
          </a:xfrm>
          <a:prstGeom prst="rect">
            <a:avLst/>
          </a:prstGeom>
          <a:noFill/>
          <a:ln/>
        </p:spPr>
        <p:txBody>
          <a:bodyPr wrap="square" rtlCol="0" anchor="ctr"/>
          <a:lstStyle/>
          <a:p>
            <a:pPr marL="0" indent="0">
              <a:buNone/>
            </a:pPr>
            <a:r>
              <a:rPr lang="en-US" sz="1350" i="1" dirty="0">
                <a:solidFill>
                  <a:srgbClr val="3A3F4B"/>
                </a:solidFill>
                <a:latin typeface="Calibri" pitchFamily="34" charset="0"/>
                <a:ea typeface="Calibri" pitchFamily="34" charset="-122"/>
                <a:cs typeface="Calibri" pitchFamily="34" charset="-120"/>
              </a:rPr>
              <a:t>A system prompt sets role, behavior, and rules before the user's message ever arrives.</a:t>
            </a:r>
            <a:endParaRPr lang="en-US" sz="1350" dirty="0"/>
          </a:p>
        </p:txBody>
      </p:sp>
      <p:sp>
        <p:nvSpPr>
          <p:cNvPr id="6" name="Shape 3"/>
          <p:cNvSpPr/>
          <p:nvPr/>
        </p:nvSpPr>
        <p:spPr>
          <a:xfrm>
            <a:off x="548640" y="1691640"/>
            <a:ext cx="3566160" cy="2103120"/>
          </a:xfrm>
          <a:prstGeom prst="roundRect">
            <a:avLst>
              <a:gd name="adj" fmla="val 3478"/>
            </a:avLst>
          </a:prstGeom>
          <a:solidFill>
            <a:srgbClr val="FFFFFF"/>
          </a:solidFill>
          <a:ln/>
          <a:effectLst>
            <a:outerShdw blurRad="63500" dist="25400" dir="5400000" algn="bl" rotWithShape="0">
              <a:srgbClr val="000000">
                <a:alpha val="8000"/>
              </a:srgbClr>
            </a:outerShdw>
          </a:effectLst>
        </p:spPr>
      </p:sp>
      <p:sp>
        <p:nvSpPr>
          <p:cNvPr id="7" name="Text 4"/>
          <p:cNvSpPr/>
          <p:nvPr/>
        </p:nvSpPr>
        <p:spPr>
          <a:xfrm>
            <a:off x="777240" y="1920240"/>
            <a:ext cx="3108960" cy="41148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Persona</a:t>
            </a:r>
            <a:endParaRPr lang="en-US" sz="1600" dirty="0"/>
          </a:p>
        </p:txBody>
      </p:sp>
      <p:sp>
        <p:nvSpPr>
          <p:cNvPr id="8" name="Text 5"/>
          <p:cNvSpPr/>
          <p:nvPr/>
        </p:nvSpPr>
        <p:spPr>
          <a:xfrm>
            <a:off x="777240" y="2377440"/>
            <a:ext cx="3108960" cy="128016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Who is the model, for this application? A concise assistant, a research analyst, a cautious tutor.</a:t>
            </a:r>
            <a:endParaRPr lang="en-US" sz="1250" dirty="0"/>
          </a:p>
        </p:txBody>
      </p:sp>
      <p:sp>
        <p:nvSpPr>
          <p:cNvPr id="9" name="Shape 6"/>
          <p:cNvSpPr/>
          <p:nvPr/>
        </p:nvSpPr>
        <p:spPr>
          <a:xfrm>
            <a:off x="4297680" y="1691640"/>
            <a:ext cx="3566160" cy="2103120"/>
          </a:xfrm>
          <a:prstGeom prst="roundRect">
            <a:avLst>
              <a:gd name="adj" fmla="val 3478"/>
            </a:avLst>
          </a:prstGeom>
          <a:solidFill>
            <a:srgbClr val="FFFFFF"/>
          </a:solidFill>
          <a:ln/>
          <a:effectLst>
            <a:outerShdw blurRad="63500" dist="25400" dir="5400000" algn="bl" rotWithShape="0">
              <a:srgbClr val="000000">
                <a:alpha val="8000"/>
              </a:srgbClr>
            </a:outerShdw>
          </a:effectLst>
        </p:spPr>
      </p:sp>
      <p:sp>
        <p:nvSpPr>
          <p:cNvPr id="10" name="Text 7"/>
          <p:cNvSpPr/>
          <p:nvPr/>
        </p:nvSpPr>
        <p:spPr>
          <a:xfrm>
            <a:off x="4526280" y="1920240"/>
            <a:ext cx="3108960" cy="41148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Boundaries</a:t>
            </a:r>
            <a:endParaRPr lang="en-US" sz="1600" dirty="0"/>
          </a:p>
        </p:txBody>
      </p:sp>
      <p:sp>
        <p:nvSpPr>
          <p:cNvPr id="11" name="Text 8"/>
          <p:cNvSpPr/>
          <p:nvPr/>
        </p:nvSpPr>
        <p:spPr>
          <a:xfrm>
            <a:off x="4526280" y="2377440"/>
            <a:ext cx="3108960" cy="128016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What should it refuse or avoid? What topics, tones, or actions are out of scope?</a:t>
            </a:r>
            <a:endParaRPr lang="en-US" sz="1250" dirty="0"/>
          </a:p>
        </p:txBody>
      </p:sp>
      <p:sp>
        <p:nvSpPr>
          <p:cNvPr id="12" name="Shape 9"/>
          <p:cNvSpPr/>
          <p:nvPr/>
        </p:nvSpPr>
        <p:spPr>
          <a:xfrm>
            <a:off x="8046720" y="1691640"/>
            <a:ext cx="3566160" cy="2103120"/>
          </a:xfrm>
          <a:prstGeom prst="roundRect">
            <a:avLst>
              <a:gd name="adj" fmla="val 3478"/>
            </a:avLst>
          </a:prstGeom>
          <a:solidFill>
            <a:srgbClr val="FFFFFF"/>
          </a:solidFill>
          <a:ln/>
          <a:effectLst>
            <a:outerShdw blurRad="63500" dist="25400" dir="5400000" algn="bl" rotWithShape="0">
              <a:srgbClr val="000000">
                <a:alpha val="8000"/>
              </a:srgbClr>
            </a:outerShdw>
          </a:effectLst>
        </p:spPr>
      </p:sp>
      <p:sp>
        <p:nvSpPr>
          <p:cNvPr id="13" name="Text 10"/>
          <p:cNvSpPr/>
          <p:nvPr/>
        </p:nvSpPr>
        <p:spPr>
          <a:xfrm>
            <a:off x="8275320" y="1920240"/>
            <a:ext cx="3108960" cy="411480"/>
          </a:xfrm>
          <a:prstGeom prst="rect">
            <a:avLst/>
          </a:prstGeom>
          <a:noFill/>
          <a:ln/>
        </p:spPr>
        <p:txBody>
          <a:bodyPr wrap="square" rtlCol="0" anchor="ctr"/>
          <a:lstStyle/>
          <a:p>
            <a:pPr marL="0" indent="0">
              <a:buNone/>
            </a:pPr>
            <a:r>
              <a:rPr lang="en-US" sz="1600" b="1" dirty="0">
                <a:solidFill>
                  <a:srgbClr val="9A6B2C"/>
                </a:solidFill>
                <a:latin typeface="Cambria" pitchFamily="34" charset="0"/>
                <a:ea typeface="Cambria" pitchFamily="34" charset="-122"/>
                <a:cs typeface="Cambria" pitchFamily="34" charset="-120"/>
              </a:rPr>
              <a:t>Output format</a:t>
            </a:r>
            <a:endParaRPr lang="en-US" sz="1600" dirty="0"/>
          </a:p>
        </p:txBody>
      </p:sp>
      <p:sp>
        <p:nvSpPr>
          <p:cNvPr id="14" name="Text 11"/>
          <p:cNvSpPr/>
          <p:nvPr/>
        </p:nvSpPr>
        <p:spPr>
          <a:xfrm>
            <a:off x="8275320" y="2377440"/>
            <a:ext cx="3108960" cy="1280160"/>
          </a:xfrm>
          <a:prstGeom prst="rect">
            <a:avLst/>
          </a:prstGeom>
          <a:noFill/>
          <a:ln/>
        </p:spPr>
        <p:txBody>
          <a:bodyPr wrap="square" rtlCol="0" anchor="ctr"/>
          <a:lstStyle/>
          <a:p>
            <a:pPr marL="0" indent="0">
              <a:buNone/>
            </a:pPr>
            <a:r>
              <a:rPr lang="en-US" sz="1250" dirty="0">
                <a:solidFill>
                  <a:srgbClr val="3A3F4B"/>
                </a:solidFill>
                <a:latin typeface="Calibri" pitchFamily="34" charset="0"/>
                <a:ea typeface="Calibri" pitchFamily="34" charset="-122"/>
                <a:cs typeface="Calibri" pitchFamily="34" charset="-120"/>
              </a:rPr>
              <a:t>What shape must every response take, so downstream code can parse it reliably?</a:t>
            </a:r>
            <a:endParaRPr lang="en-US" sz="1250" dirty="0"/>
          </a:p>
        </p:txBody>
      </p:sp>
      <p:sp>
        <p:nvSpPr>
          <p:cNvPr id="15" name="Text 12"/>
          <p:cNvSpPr/>
          <p:nvPr/>
        </p:nvSpPr>
        <p:spPr>
          <a:xfrm>
            <a:off x="548640" y="4023360"/>
            <a:ext cx="9144000" cy="365760"/>
          </a:xfrm>
          <a:prstGeom prst="rect">
            <a:avLst/>
          </a:prstGeom>
          <a:noFill/>
          <a:ln/>
        </p:spPr>
        <p:txBody>
          <a:bodyPr wrap="square" rtlCol="0" anchor="ctr"/>
          <a:lstStyle/>
          <a:p>
            <a:pPr marL="0" indent="0">
              <a:buNone/>
            </a:pPr>
            <a:r>
              <a:rPr lang="en-US" sz="1600" b="1" dirty="0">
                <a:solidFill>
                  <a:srgbClr val="14213D"/>
                </a:solidFill>
                <a:latin typeface="Cambria" pitchFamily="34" charset="0"/>
                <a:ea typeface="Cambria" pitchFamily="34" charset="-122"/>
                <a:cs typeface="Cambria" pitchFamily="34" charset="-120"/>
              </a:rPr>
              <a:t>Five habits that make system prompts work</a:t>
            </a:r>
            <a:endParaRPr lang="en-US" sz="1600" dirty="0"/>
          </a:p>
        </p:txBody>
      </p:sp>
      <p:sp>
        <p:nvSpPr>
          <p:cNvPr id="16" name="Shape 13"/>
          <p:cNvSpPr/>
          <p:nvPr/>
        </p:nvSpPr>
        <p:spPr>
          <a:xfrm>
            <a:off x="548640" y="4480560"/>
            <a:ext cx="2148840" cy="502920"/>
          </a:xfrm>
          <a:prstGeom prst="roundRect">
            <a:avLst>
              <a:gd name="adj" fmla="val 50909"/>
            </a:avLst>
          </a:prstGeom>
          <a:solidFill>
            <a:srgbClr val="F1EEE3"/>
          </a:solidFill>
          <a:ln/>
        </p:spPr>
      </p:sp>
      <p:sp>
        <p:nvSpPr>
          <p:cNvPr id="17" name="Text 14"/>
          <p:cNvSpPr/>
          <p:nvPr/>
        </p:nvSpPr>
        <p:spPr>
          <a:xfrm>
            <a:off x="548640"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Give context</a:t>
            </a:r>
            <a:endParaRPr lang="en-US" sz="1100" dirty="0"/>
          </a:p>
        </p:txBody>
      </p:sp>
      <p:sp>
        <p:nvSpPr>
          <p:cNvPr id="18" name="Shape 15"/>
          <p:cNvSpPr/>
          <p:nvPr/>
        </p:nvSpPr>
        <p:spPr>
          <a:xfrm>
            <a:off x="2807208" y="4480560"/>
            <a:ext cx="2148840" cy="502920"/>
          </a:xfrm>
          <a:prstGeom prst="roundRect">
            <a:avLst>
              <a:gd name="adj" fmla="val 50909"/>
            </a:avLst>
          </a:prstGeom>
          <a:solidFill>
            <a:srgbClr val="F1EEE3"/>
          </a:solidFill>
          <a:ln/>
        </p:spPr>
      </p:sp>
      <p:sp>
        <p:nvSpPr>
          <p:cNvPr id="19" name="Text 16"/>
          <p:cNvSpPr/>
          <p:nvPr/>
        </p:nvSpPr>
        <p:spPr>
          <a:xfrm>
            <a:off x="2807208"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Specify the response format</a:t>
            </a:r>
            <a:endParaRPr lang="en-US" sz="1100" dirty="0"/>
          </a:p>
        </p:txBody>
      </p:sp>
      <p:sp>
        <p:nvSpPr>
          <p:cNvPr id="20" name="Shape 17"/>
          <p:cNvSpPr/>
          <p:nvPr/>
        </p:nvSpPr>
        <p:spPr>
          <a:xfrm>
            <a:off x="5065776" y="4480560"/>
            <a:ext cx="2148840" cy="502920"/>
          </a:xfrm>
          <a:prstGeom prst="roundRect">
            <a:avLst>
              <a:gd name="adj" fmla="val 50909"/>
            </a:avLst>
          </a:prstGeom>
          <a:solidFill>
            <a:srgbClr val="F1EEE3"/>
          </a:solidFill>
          <a:ln/>
        </p:spPr>
      </p:sp>
      <p:sp>
        <p:nvSpPr>
          <p:cNvPr id="21" name="Text 18"/>
          <p:cNvSpPr/>
          <p:nvPr/>
        </p:nvSpPr>
        <p:spPr>
          <a:xfrm>
            <a:off x="5065776"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Be clear and specific</a:t>
            </a:r>
            <a:endParaRPr lang="en-US" sz="1100" dirty="0"/>
          </a:p>
        </p:txBody>
      </p:sp>
      <p:sp>
        <p:nvSpPr>
          <p:cNvPr id="22" name="Shape 19"/>
          <p:cNvSpPr/>
          <p:nvPr/>
        </p:nvSpPr>
        <p:spPr>
          <a:xfrm>
            <a:off x="7324344" y="4480560"/>
            <a:ext cx="2148840" cy="502920"/>
          </a:xfrm>
          <a:prstGeom prst="roundRect">
            <a:avLst>
              <a:gd name="adj" fmla="val 50909"/>
            </a:avLst>
          </a:prstGeom>
          <a:solidFill>
            <a:srgbClr val="F1EEE3"/>
          </a:solidFill>
          <a:ln/>
        </p:spPr>
      </p:sp>
      <p:sp>
        <p:nvSpPr>
          <p:cNvPr id="23" name="Text 20"/>
          <p:cNvSpPr/>
          <p:nvPr/>
        </p:nvSpPr>
        <p:spPr>
          <a:xfrm>
            <a:off x="7324344"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Include an example or two</a:t>
            </a:r>
            <a:endParaRPr lang="en-US" sz="1100" dirty="0"/>
          </a:p>
        </p:txBody>
      </p:sp>
      <p:sp>
        <p:nvSpPr>
          <p:cNvPr id="24" name="Shape 21"/>
          <p:cNvSpPr/>
          <p:nvPr/>
        </p:nvSpPr>
        <p:spPr>
          <a:xfrm>
            <a:off x="9582912" y="4480560"/>
            <a:ext cx="2148840" cy="502920"/>
          </a:xfrm>
          <a:prstGeom prst="roundRect">
            <a:avLst>
              <a:gd name="adj" fmla="val 50909"/>
            </a:avLst>
          </a:prstGeom>
          <a:solidFill>
            <a:srgbClr val="F1EEE3"/>
          </a:solidFill>
          <a:ln/>
        </p:spPr>
      </p:sp>
      <p:sp>
        <p:nvSpPr>
          <p:cNvPr id="25" name="Text 22"/>
          <p:cNvSpPr/>
          <p:nvPr/>
        </p:nvSpPr>
        <p:spPr>
          <a:xfrm>
            <a:off x="9582912" y="4480560"/>
            <a:ext cx="2148840" cy="502920"/>
          </a:xfrm>
          <a:prstGeom prst="rect">
            <a:avLst/>
          </a:prstGeom>
          <a:noFill/>
          <a:ln/>
        </p:spPr>
        <p:txBody>
          <a:bodyPr wrap="square" rtlCol="0" anchor="ctr"/>
          <a:lstStyle/>
          <a:p>
            <a:pPr marL="0" indent="0" algn="ctr">
              <a:buNone/>
            </a:pPr>
            <a:r>
              <a:rPr lang="en-US" sz="1100" b="1" dirty="0">
                <a:solidFill>
                  <a:srgbClr val="14213D"/>
                </a:solidFill>
                <a:latin typeface="Calibri" pitchFamily="34" charset="0"/>
                <a:ea typeface="Calibri" pitchFamily="34" charset="-122"/>
                <a:cs typeface="Calibri" pitchFamily="34" charset="-120"/>
              </a:rPr>
              <a:t>Break the task into steps</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Hands on: force a structured JSON response</a:t>
            </a:r>
            <a:endParaRPr lang="en-US" sz="2400" dirty="0"/>
          </a:p>
        </p:txBody>
      </p:sp>
      <p:sp>
        <p:nvSpPr>
          <p:cNvPr id="5" name="Text 2"/>
          <p:cNvSpPr/>
          <p:nvPr/>
        </p:nvSpPr>
        <p:spPr>
          <a:xfrm>
            <a:off x="1280160" y="1051560"/>
            <a:ext cx="10058400" cy="365760"/>
          </a:xfrm>
          <a:prstGeom prst="rect">
            <a:avLst/>
          </a:prstGeom>
          <a:noFill/>
          <a:ln/>
        </p:spPr>
        <p:txBody>
          <a:bodyPr wrap="square" rtlCol="0" anchor="ctr"/>
          <a:lstStyle/>
          <a:p>
            <a:pPr marL="0" indent="0">
              <a:buNone/>
            </a:pPr>
            <a:r>
              <a:rPr lang="en-US" sz="1300" i="1" dirty="0">
                <a:solidFill>
                  <a:srgbClr val="3A3F4B"/>
                </a:solidFill>
                <a:latin typeface="Calibri" pitchFamily="34" charset="0"/>
                <a:ea typeface="Calibri" pitchFamily="34" charset="-122"/>
                <a:cs typeface="Calibri" pitchFamily="34" charset="-120"/>
              </a:rPr>
              <a:t>This is the pattern Repo 1 needs: a system prompt that returns parseable JSON, every time.</a:t>
            </a:r>
            <a:endParaRPr lang="en-US" sz="1300" dirty="0"/>
          </a:p>
        </p:txBody>
      </p:sp>
      <p:sp>
        <p:nvSpPr>
          <p:cNvPr id="6" name="Shape 3"/>
          <p:cNvSpPr/>
          <p:nvPr/>
        </p:nvSpPr>
        <p:spPr>
          <a:xfrm>
            <a:off x="548640" y="1600200"/>
            <a:ext cx="11064240" cy="1371600"/>
          </a:xfrm>
          <a:prstGeom prst="roundRect">
            <a:avLst>
              <a:gd name="adj" fmla="val 5333"/>
            </a:avLst>
          </a:prstGeom>
          <a:solidFill>
            <a:srgbClr val="14213D"/>
          </a:solidFill>
          <a:ln/>
        </p:spPr>
      </p:sp>
      <p:sp>
        <p:nvSpPr>
          <p:cNvPr id="7" name="Text 4"/>
          <p:cNvSpPr/>
          <p:nvPr/>
        </p:nvSpPr>
        <p:spPr>
          <a:xfrm>
            <a:off x="822960" y="1737360"/>
            <a:ext cx="10424160" cy="320040"/>
          </a:xfrm>
          <a:prstGeom prst="rect">
            <a:avLst/>
          </a:prstGeom>
          <a:noFill/>
          <a:ln/>
        </p:spPr>
        <p:txBody>
          <a:bodyPr wrap="square" rtlCol="0" anchor="ctr"/>
          <a:lstStyle/>
          <a:p>
            <a:pPr marL="0" indent="0">
              <a:buNone/>
            </a:pPr>
            <a:r>
              <a:rPr lang="en-US" sz="1200" i="1" dirty="0">
                <a:solidFill>
                  <a:srgbClr val="8FA3C9"/>
                </a:solidFill>
                <a:latin typeface="Calibri" pitchFamily="34" charset="0"/>
                <a:ea typeface="Calibri" pitchFamily="34" charset="-122"/>
                <a:cs typeface="Calibri" pitchFamily="34" charset="-120"/>
              </a:rPr>
              <a:t>System prompt:</a:t>
            </a:r>
            <a:endParaRPr lang="en-US" sz="1200" dirty="0"/>
          </a:p>
        </p:txBody>
      </p:sp>
      <p:sp>
        <p:nvSpPr>
          <p:cNvPr id="8" name="Text 5"/>
          <p:cNvSpPr/>
          <p:nvPr/>
        </p:nvSpPr>
        <p:spPr>
          <a:xfrm>
            <a:off x="822960" y="2057400"/>
            <a:ext cx="10424160" cy="822960"/>
          </a:xfrm>
          <a:prstGeom prst="rect">
            <a:avLst/>
          </a:prstGeom>
          <a:noFill/>
          <a:ln/>
        </p:spPr>
        <p:txBody>
          <a:bodyPr wrap="square" rtlCol="0" anchor="ctr"/>
          <a:lstStyle/>
          <a:p>
            <a:pPr marL="0" indent="0">
              <a:buNone/>
            </a:pPr>
            <a:r>
              <a:rPr lang="en-US" sz="1400" i="1" dirty="0">
                <a:solidFill>
                  <a:srgbClr val="FFFFFF"/>
                </a:solidFill>
                <a:latin typeface="Cambria" pitchFamily="34" charset="0"/>
                <a:ea typeface="Cambria" pitchFamily="34" charset="-122"/>
                <a:cs typeface="Cambria" pitchFamily="34" charset="-120"/>
              </a:rPr>
              <a:t>“You are a financial signal explainer. Respond only with valid JSON matching this shape: {ticker, signal, confidence, one_sentence_reason}. No text outside the JSON.”</a:t>
            </a:r>
            <a:endParaRPr lang="en-US" sz="1400" dirty="0"/>
          </a:p>
        </p:txBody>
      </p:sp>
      <p:sp>
        <p:nvSpPr>
          <p:cNvPr id="9" name="Text 6"/>
          <p:cNvSpPr/>
          <p:nvPr/>
        </p:nvSpPr>
        <p:spPr>
          <a:xfrm>
            <a:off x="548640" y="3200400"/>
            <a:ext cx="7315200" cy="365760"/>
          </a:xfrm>
          <a:prstGeom prst="rect">
            <a:avLst/>
          </a:prstGeom>
          <a:noFill/>
          <a:ln/>
        </p:spPr>
        <p:txBody>
          <a:bodyPr wrap="square" rtlCol="0" anchor="ctr"/>
          <a:lstStyle/>
          <a:p>
            <a:pPr marL="0" indent="0">
              <a:buNone/>
            </a:pPr>
            <a:r>
              <a:rPr lang="en-US" sz="1600" b="1" dirty="0">
                <a:solidFill>
                  <a:srgbClr val="14213D"/>
                </a:solidFill>
                <a:latin typeface="Cambria" pitchFamily="34" charset="0"/>
                <a:ea typeface="Cambria" pitchFamily="34" charset="-122"/>
                <a:cs typeface="Cambria" pitchFamily="34" charset="-120"/>
              </a:rPr>
              <a:t>Try this, then break it</a:t>
            </a:r>
            <a:endParaRPr lang="en-US" sz="1600" dirty="0"/>
          </a:p>
        </p:txBody>
      </p:sp>
      <p:sp>
        <p:nvSpPr>
          <p:cNvPr id="10" name="Text 7"/>
          <p:cNvSpPr/>
          <p:nvPr/>
        </p:nvSpPr>
        <p:spPr>
          <a:xfrm>
            <a:off x="548640" y="365760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Send a user prompt with a ticker and a moving average signal. Confirm the JSON parses cleanly.</a:t>
            </a:r>
            <a:endParaRPr lang="en-US" sz="1350" dirty="0"/>
          </a:p>
        </p:txBody>
      </p:sp>
      <p:sp>
        <p:nvSpPr>
          <p:cNvPr id="11" name="Text 8"/>
          <p:cNvSpPr/>
          <p:nvPr/>
        </p:nvSpPr>
        <p:spPr>
          <a:xfrm>
            <a:off x="548640" y="425196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Lower max_tokens until the response gets cut off mid JSON. Notice it is truncated, not summarized.</a:t>
            </a:r>
            <a:endParaRPr lang="en-US" sz="1350" dirty="0"/>
          </a:p>
        </p:txBody>
      </p:sp>
      <p:sp>
        <p:nvSpPr>
          <p:cNvPr id="12" name="Text 9"/>
          <p:cNvSpPr/>
          <p:nvPr/>
        </p:nvSpPr>
        <p:spPr>
          <a:xfrm>
            <a:off x="548640" y="4846320"/>
            <a:ext cx="10972800" cy="502920"/>
          </a:xfrm>
          <a:prstGeom prst="rect">
            <a:avLst/>
          </a:prstGeom>
          <a:noFill/>
          <a:ln/>
        </p:spPr>
        <p:txBody>
          <a:bodyPr wrap="square" rtlCol="0" anchor="ctr"/>
          <a:lstStyle/>
          <a:p>
            <a:pPr marL="342900" indent="-342900">
              <a:buSzPct val="100000"/>
              <a:buChar char="•"/>
            </a:pPr>
            <a:r>
              <a:rPr lang="en-US" sz="1350" dirty="0">
                <a:solidFill>
                  <a:srgbClr val="3A3F4B"/>
                </a:solidFill>
                <a:latin typeface="Calibri" pitchFamily="34" charset="0"/>
                <a:ea typeface="Calibri" pitchFamily="34" charset="-122"/>
                <a:cs typeface="Calibri" pitchFamily="34" charset="-120"/>
              </a:rPr>
              <a:t>Remove the “no text outside the JSON” constraint and resend. Compare what comes back.</a:t>
            </a:r>
            <a:endParaRPr lang="en-US" sz="1350" dirty="0"/>
          </a:p>
        </p:txBody>
      </p:sp>
      <p:sp>
        <p:nvSpPr>
          <p:cNvPr id="13" name="Text 10"/>
          <p:cNvSpPr/>
          <p:nvPr/>
        </p:nvSpPr>
        <p:spPr>
          <a:xfrm>
            <a:off x="548640" y="5623560"/>
            <a:ext cx="10972800" cy="411480"/>
          </a:xfrm>
          <a:prstGeom prst="rect">
            <a:avLst/>
          </a:prstGeom>
          <a:noFill/>
          <a:ln/>
        </p:spPr>
        <p:txBody>
          <a:bodyPr wrap="square" rtlCol="0" anchor="ctr"/>
          <a:lstStyle/>
          <a:p>
            <a:pPr marL="0" indent="0">
              <a:buNone/>
            </a:pPr>
            <a:r>
              <a:rPr lang="en-US" sz="1300" i="1" dirty="0">
                <a:solidFill>
                  <a:srgbClr val="9A6B2C"/>
                </a:solidFill>
                <a:latin typeface="Calibri" pitchFamily="34" charset="0"/>
                <a:ea typeface="Calibri" pitchFamily="34" charset="-122"/>
                <a:cs typeface="Calibri" pitchFamily="34" charset="-120"/>
              </a:rPr>
              <a:t>Deliverable: save the system prompt version that survived all three tests to your repo.</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icPr>
            <a:picLocks noChangeAspect="1"/>
          </p:cNvPicPr>
          <p:nvPr/>
        </p:nvPicPr>
        <p:blipFill>
          <a:blip r:embed="rId3"/>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Prompt injection risks and responsible design</a:t>
            </a:r>
            <a:endParaRPr lang="en-US" sz="2400" dirty="0"/>
          </a:p>
        </p:txBody>
      </p:sp>
      <p:sp>
        <p:nvSpPr>
          <p:cNvPr id="5" name="Text 2"/>
          <p:cNvSpPr/>
          <p:nvPr/>
        </p:nvSpPr>
        <p:spPr>
          <a:xfrm>
            <a:off x="640080" y="1207008"/>
            <a:ext cx="10789920" cy="365760"/>
          </a:xfrm>
          <a:prstGeom prst="rect">
            <a:avLst/>
          </a:prstGeom>
          <a:noFill/>
          <a:ln/>
        </p:spPr>
        <p:txBody>
          <a:bodyPr wrap="square" rtlCol="0" anchor="ctr"/>
          <a:lstStyle/>
          <a:p>
            <a:pPr marL="0" indent="0">
              <a:buNone/>
            </a:pPr>
            <a:r>
              <a:rPr lang="en-US" sz="1450" dirty="0">
                <a:solidFill>
                  <a:srgbClr val="CADCFC"/>
                </a:solidFill>
                <a:latin typeface="Calibri" pitchFamily="34" charset="0"/>
                <a:ea typeface="Calibri" pitchFamily="34" charset="-122"/>
                <a:cs typeface="Calibri" pitchFamily="34" charset="-120"/>
              </a:rPr>
              <a:t>A system prompt is not a security boundary. Anything a user can type can attempt to override, extract, or distract from your instructions.</a:t>
            </a:r>
            <a:endParaRPr lang="en-US" sz="1450" dirty="0"/>
          </a:p>
        </p:txBody>
      </p:sp>
      <p:sp>
        <p:nvSpPr>
          <p:cNvPr id="6" name="Shape 3"/>
          <p:cNvSpPr/>
          <p:nvPr/>
        </p:nvSpPr>
        <p:spPr>
          <a:xfrm>
            <a:off x="640080" y="2286000"/>
            <a:ext cx="5455920" cy="1600200"/>
          </a:xfrm>
          <a:prstGeom prst="roundRect">
            <a:avLst>
              <a:gd name="adj" fmla="val 4571"/>
            </a:avLst>
          </a:prstGeom>
          <a:solidFill>
            <a:srgbClr val="1C2B52"/>
          </a:solidFill>
          <a:ln/>
        </p:spPr>
      </p:sp>
      <p:sp>
        <p:nvSpPr>
          <p:cNvPr id="7" name="Text 4"/>
          <p:cNvSpPr/>
          <p:nvPr/>
        </p:nvSpPr>
        <p:spPr>
          <a:xfrm>
            <a:off x="914400" y="2468880"/>
            <a:ext cx="7315200" cy="365760"/>
          </a:xfrm>
          <a:prstGeom prst="rect">
            <a:avLst/>
          </a:prstGeom>
          <a:noFill/>
          <a:ln/>
        </p:spPr>
        <p:txBody>
          <a:bodyPr wrap="square" rtlCol="0" anchor="ctr"/>
          <a:lstStyle/>
          <a:p>
            <a:pPr marL="0" indent="0">
              <a:buNone/>
            </a:pPr>
            <a:r>
              <a:rPr lang="en-US" sz="1500" b="1" dirty="0">
                <a:solidFill>
                  <a:srgbClr val="9A6B2C"/>
                </a:solidFill>
                <a:latin typeface="Cambria" pitchFamily="34" charset="0"/>
                <a:ea typeface="Cambria" pitchFamily="34" charset="-122"/>
                <a:cs typeface="Cambria" pitchFamily="34" charset="-120"/>
              </a:rPr>
              <a:t>A pattern to recognize, not to use</a:t>
            </a:r>
            <a:endParaRPr lang="en-US" sz="1500" dirty="0"/>
          </a:p>
        </p:txBody>
      </p:sp>
      <p:sp>
        <p:nvSpPr>
          <p:cNvPr id="8" name="Text 5"/>
          <p:cNvSpPr/>
          <p:nvPr/>
        </p:nvSpPr>
        <p:spPr>
          <a:xfrm>
            <a:off x="914400" y="2880360"/>
            <a:ext cx="5075434" cy="914400"/>
          </a:xfrm>
          <a:prstGeom prst="rect">
            <a:avLst/>
          </a:prstGeom>
          <a:noFill/>
          <a:ln/>
        </p:spPr>
        <p:txBody>
          <a:bodyPr wrap="square" rtlCol="0" anchor="ctr"/>
          <a:lstStyle/>
          <a:p>
            <a:pPr marL="0" indent="0">
              <a:lnSpc>
                <a:spcPct val="125000"/>
              </a:lnSpc>
              <a:buNone/>
            </a:pPr>
            <a:r>
              <a:rPr lang="en-US" sz="1250" dirty="0">
                <a:solidFill>
                  <a:srgbClr val="E4E9F5"/>
                </a:solidFill>
                <a:latin typeface="Calibri" pitchFamily="34" charset="0"/>
                <a:ea typeface="Calibri" pitchFamily="34" charset="-122"/>
                <a:cs typeface="Calibri" pitchFamily="34" charset="-120"/>
              </a:rPr>
              <a:t>Some attacks split a disallowed request into smaller, innocuous looking sub questions, then ask the model to combine the answers into the original request. Nothing in any single piece looks like a violation on its own. This is why boundaries need to describe intent, not just list forbidden keywords.</a:t>
            </a:r>
            <a:endParaRPr lang="en-US" sz="1250" dirty="0"/>
          </a:p>
        </p:txBody>
      </p:sp>
      <p:sp>
        <p:nvSpPr>
          <p:cNvPr id="9" name="Text 6"/>
          <p:cNvSpPr/>
          <p:nvPr/>
        </p:nvSpPr>
        <p:spPr>
          <a:xfrm>
            <a:off x="640080" y="4160520"/>
            <a:ext cx="4990158" cy="45720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Never trust a system prompt alone to enforce safety or business rules, validate on the backend too.</a:t>
            </a:r>
            <a:endParaRPr lang="en-US" sz="1350" dirty="0"/>
          </a:p>
        </p:txBody>
      </p:sp>
      <p:sp>
        <p:nvSpPr>
          <p:cNvPr id="10" name="Text 7"/>
          <p:cNvSpPr/>
          <p:nvPr/>
        </p:nvSpPr>
        <p:spPr>
          <a:xfrm>
            <a:off x="640080" y="4727448"/>
            <a:ext cx="4990158" cy="45720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Log and review unusual inputs the way you would review unusual trades.</a:t>
            </a:r>
            <a:endParaRPr lang="en-US" sz="1350" dirty="0"/>
          </a:p>
        </p:txBody>
      </p:sp>
      <p:sp>
        <p:nvSpPr>
          <p:cNvPr id="11" name="Text 8"/>
          <p:cNvSpPr/>
          <p:nvPr/>
        </p:nvSpPr>
        <p:spPr>
          <a:xfrm>
            <a:off x="640080" y="5294376"/>
            <a:ext cx="4990158" cy="457200"/>
          </a:xfrm>
          <a:prstGeom prst="rect">
            <a:avLst/>
          </a:prstGeom>
          <a:noFill/>
          <a:ln/>
        </p:spPr>
        <p:txBody>
          <a:bodyPr wrap="square" rtlCol="0" anchor="ctr"/>
          <a:lstStyle/>
          <a:p>
            <a:pPr marL="342900" indent="-342900">
              <a:buSzPct val="100000"/>
              <a:buChar char="•"/>
            </a:pPr>
            <a:r>
              <a:rPr lang="en-US" sz="1350" dirty="0">
                <a:solidFill>
                  <a:srgbClr val="FFFFFF"/>
                </a:solidFill>
                <a:latin typeface="Calibri" pitchFamily="34" charset="0"/>
                <a:ea typeface="Calibri" pitchFamily="34" charset="-122"/>
                <a:cs typeface="Calibri" pitchFamily="34" charset="-120"/>
              </a:rPr>
              <a:t>If your app touches money or personal data, treat prompt handling with the same care as authentication.</a:t>
            </a:r>
            <a:endParaRPr lang="en-US" sz="1350" dirty="0"/>
          </a:p>
        </p:txBody>
      </p:sp>
      <p:pic>
        <p:nvPicPr>
          <p:cNvPr id="14" name="Picture 13">
            <a:extLst>
              <a:ext uri="{FF2B5EF4-FFF2-40B4-BE49-F238E27FC236}">
                <a16:creationId xmlns:a16="http://schemas.microsoft.com/office/drawing/2014/main" id="{E06FFE95-3CF3-1553-A0EB-DC45A92FDB32}"/>
              </a:ext>
            </a:extLst>
          </p:cNvPr>
          <p:cNvPicPr>
            <a:picLocks noChangeAspect="1"/>
          </p:cNvPicPr>
          <p:nvPr/>
        </p:nvPicPr>
        <p:blipFill>
          <a:blip r:embed="rId4"/>
          <a:stretch>
            <a:fillRect/>
          </a:stretch>
        </p:blipFill>
        <p:spPr>
          <a:xfrm>
            <a:off x="6561764" y="2146129"/>
            <a:ext cx="5221476" cy="375446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1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icPr>
            <a:picLocks noChangeAspect="1"/>
          </p:cNvPicPr>
          <p:nvPr/>
        </p:nvPicPr>
        <p:blipFill>
          <a:blip r:embed="rId3"/>
          <a:stretch>
            <a:fillRect/>
          </a:stretch>
        </p:blipFill>
        <p:spPr>
          <a:xfrm>
            <a:off x="614477" y="523037"/>
            <a:ext cx="416966" cy="416966"/>
          </a:xfrm>
          <a:prstGeom prst="rect">
            <a:avLst/>
          </a:prstGeom>
        </p:spPr>
      </p:pic>
      <p:sp>
        <p:nvSpPr>
          <p:cNvPr id="4" name="Text 1"/>
          <p:cNvSpPr/>
          <p:nvPr/>
        </p:nvSpPr>
        <p:spPr>
          <a:xfrm>
            <a:off x="1280160" y="502920"/>
            <a:ext cx="8229600" cy="54864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Before you break for lunch</a:t>
            </a:r>
            <a:endParaRPr lang="en-US" sz="2600" dirty="0"/>
          </a:p>
        </p:txBody>
      </p:sp>
      <p:sp>
        <p:nvSpPr>
          <p:cNvPr id="5" name="Shape 2"/>
          <p:cNvSpPr/>
          <p:nvPr/>
        </p:nvSpPr>
        <p:spPr>
          <a:xfrm>
            <a:off x="548640" y="1371600"/>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6" name="Shape 3"/>
          <p:cNvSpPr/>
          <p:nvPr/>
        </p:nvSpPr>
        <p:spPr>
          <a:xfrm>
            <a:off x="731520" y="1508760"/>
            <a:ext cx="502920" cy="502920"/>
          </a:xfrm>
          <a:prstGeom prst="ellipse">
            <a:avLst/>
          </a:prstGeom>
          <a:solidFill>
            <a:srgbClr val="F1EEE3"/>
          </a:solidFill>
          <a:ln/>
        </p:spPr>
      </p:sp>
      <p:pic>
        <p:nvPicPr>
          <p:cNvPr id="7" name="Image 1" descr="preencoded.png"/>
          <p:cNvPicPr>
            <a:picLocks noChangeAspect="1"/>
          </p:cNvPicPr>
          <p:nvPr/>
        </p:nvPicPr>
        <p:blipFill>
          <a:blip r:embed="rId4"/>
          <a:stretch>
            <a:fillRect/>
          </a:stretch>
        </p:blipFill>
        <p:spPr>
          <a:xfrm>
            <a:off x="791870" y="1569110"/>
            <a:ext cx="382219" cy="382219"/>
          </a:xfrm>
          <a:prstGeom prst="rect">
            <a:avLst/>
          </a:prstGeom>
        </p:spPr>
      </p:pic>
      <p:sp>
        <p:nvSpPr>
          <p:cNvPr id="8" name="Text 4"/>
          <p:cNvSpPr/>
          <p:nvPr/>
        </p:nvSpPr>
        <p:spPr>
          <a:xfrm>
            <a:off x="1417320" y="1463040"/>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Save your best system prompt from the JSON exercise to your repo.</a:t>
            </a:r>
            <a:endParaRPr lang="en-US" sz="1400" dirty="0"/>
          </a:p>
        </p:txBody>
      </p:sp>
      <p:sp>
        <p:nvSpPr>
          <p:cNvPr id="9" name="Shape 5"/>
          <p:cNvSpPr/>
          <p:nvPr/>
        </p:nvSpPr>
        <p:spPr>
          <a:xfrm>
            <a:off x="548640" y="2267712"/>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10" name="Shape 6"/>
          <p:cNvSpPr/>
          <p:nvPr/>
        </p:nvSpPr>
        <p:spPr>
          <a:xfrm>
            <a:off x="731520" y="2404872"/>
            <a:ext cx="502920" cy="502920"/>
          </a:xfrm>
          <a:prstGeom prst="ellipse">
            <a:avLst/>
          </a:prstGeom>
          <a:solidFill>
            <a:srgbClr val="F1EEE3"/>
          </a:solidFill>
          <a:ln/>
        </p:spPr>
      </p:sp>
      <p:pic>
        <p:nvPicPr>
          <p:cNvPr id="11" name="Image 2" descr="preencoded.png"/>
          <p:cNvPicPr>
            <a:picLocks noChangeAspect="1"/>
          </p:cNvPicPr>
          <p:nvPr/>
        </p:nvPicPr>
        <p:blipFill>
          <a:blip r:embed="rId4"/>
          <a:stretch>
            <a:fillRect/>
          </a:stretch>
        </p:blipFill>
        <p:spPr>
          <a:xfrm>
            <a:off x="791870" y="2465222"/>
            <a:ext cx="382219" cy="382219"/>
          </a:xfrm>
          <a:prstGeom prst="rect">
            <a:avLst/>
          </a:prstGeom>
        </p:spPr>
      </p:pic>
      <p:sp>
        <p:nvSpPr>
          <p:cNvPr id="12" name="Text 7"/>
          <p:cNvSpPr/>
          <p:nvPr/>
        </p:nvSpPr>
        <p:spPr>
          <a:xfrm>
            <a:off x="1417320" y="2359152"/>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Name what changed if you revised it: what did not work in the first version?</a:t>
            </a:r>
            <a:endParaRPr lang="en-US" sz="1400" dirty="0"/>
          </a:p>
        </p:txBody>
      </p:sp>
      <p:sp>
        <p:nvSpPr>
          <p:cNvPr id="13" name="Shape 8"/>
          <p:cNvSpPr/>
          <p:nvPr/>
        </p:nvSpPr>
        <p:spPr>
          <a:xfrm>
            <a:off x="548640" y="3163824"/>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14" name="Shape 9"/>
          <p:cNvSpPr/>
          <p:nvPr/>
        </p:nvSpPr>
        <p:spPr>
          <a:xfrm>
            <a:off x="731520" y="3300984"/>
            <a:ext cx="502920" cy="502920"/>
          </a:xfrm>
          <a:prstGeom prst="ellipse">
            <a:avLst/>
          </a:prstGeom>
          <a:solidFill>
            <a:srgbClr val="F1EEE3"/>
          </a:solidFill>
          <a:ln/>
        </p:spPr>
      </p:sp>
      <p:pic>
        <p:nvPicPr>
          <p:cNvPr id="15" name="Image 3" descr="preencoded.png"/>
          <p:cNvPicPr>
            <a:picLocks noChangeAspect="1"/>
          </p:cNvPicPr>
          <p:nvPr/>
        </p:nvPicPr>
        <p:blipFill>
          <a:blip r:embed="rId4"/>
          <a:stretch>
            <a:fillRect/>
          </a:stretch>
        </p:blipFill>
        <p:spPr>
          <a:xfrm>
            <a:off x="791870" y="3361334"/>
            <a:ext cx="382219" cy="382219"/>
          </a:xfrm>
          <a:prstGeom prst="rect">
            <a:avLst/>
          </a:prstGeom>
        </p:spPr>
      </p:pic>
      <p:sp>
        <p:nvSpPr>
          <p:cNvPr id="16" name="Text 10"/>
          <p:cNvSpPr/>
          <p:nvPr/>
        </p:nvSpPr>
        <p:spPr>
          <a:xfrm>
            <a:off x="1417320" y="3255264"/>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Keep role, context, task, format, and constraints in mind for every prompt this afternoon.</a:t>
            </a:r>
            <a:endParaRPr lang="en-US" sz="1400" dirty="0"/>
          </a:p>
        </p:txBody>
      </p:sp>
      <p:sp>
        <p:nvSpPr>
          <p:cNvPr id="17" name="Shape 11"/>
          <p:cNvSpPr/>
          <p:nvPr/>
        </p:nvSpPr>
        <p:spPr>
          <a:xfrm>
            <a:off x="548640" y="4059936"/>
            <a:ext cx="11064240" cy="777240"/>
          </a:xfrm>
          <a:prstGeom prst="roundRect">
            <a:avLst>
              <a:gd name="adj" fmla="val 8235"/>
            </a:avLst>
          </a:prstGeom>
          <a:solidFill>
            <a:srgbClr val="FFFFFF"/>
          </a:solidFill>
          <a:ln/>
          <a:effectLst>
            <a:outerShdw blurRad="63500" dist="25400" dir="5400000" algn="bl" rotWithShape="0">
              <a:srgbClr val="000000">
                <a:alpha val="8000"/>
              </a:srgbClr>
            </a:outerShdw>
          </a:effectLst>
        </p:spPr>
      </p:sp>
      <p:sp>
        <p:nvSpPr>
          <p:cNvPr id="18" name="Shape 12"/>
          <p:cNvSpPr/>
          <p:nvPr/>
        </p:nvSpPr>
        <p:spPr>
          <a:xfrm>
            <a:off x="731520" y="4197096"/>
            <a:ext cx="502920" cy="502920"/>
          </a:xfrm>
          <a:prstGeom prst="ellipse">
            <a:avLst/>
          </a:prstGeom>
          <a:solidFill>
            <a:srgbClr val="F1EEE3"/>
          </a:solidFill>
          <a:ln/>
        </p:spPr>
      </p:sp>
      <p:pic>
        <p:nvPicPr>
          <p:cNvPr id="19" name="Image 4" descr="preencoded.png"/>
          <p:cNvPicPr>
            <a:picLocks noChangeAspect="1"/>
          </p:cNvPicPr>
          <p:nvPr/>
        </p:nvPicPr>
        <p:blipFill>
          <a:blip r:embed="rId4"/>
          <a:stretch>
            <a:fillRect/>
          </a:stretch>
        </p:blipFill>
        <p:spPr>
          <a:xfrm>
            <a:off x="791870" y="4257446"/>
            <a:ext cx="382219" cy="382219"/>
          </a:xfrm>
          <a:prstGeom prst="rect">
            <a:avLst/>
          </a:prstGeom>
        </p:spPr>
      </p:pic>
      <p:sp>
        <p:nvSpPr>
          <p:cNvPr id="20" name="Text 13"/>
          <p:cNvSpPr/>
          <p:nvPr/>
        </p:nvSpPr>
        <p:spPr>
          <a:xfrm>
            <a:off x="1417320" y="4151376"/>
            <a:ext cx="9966960" cy="594360"/>
          </a:xfrm>
          <a:prstGeom prst="rect">
            <a:avLst/>
          </a:prstGeom>
          <a:noFill/>
          <a:ln/>
        </p:spPr>
        <p:txBody>
          <a:bodyPr wrap="square" rtlCol="0" anchor="ctr"/>
          <a:lstStyle/>
          <a:p>
            <a:pPr marL="0" indent="0">
              <a:buNone/>
            </a:pPr>
            <a:r>
              <a:rPr lang="en-US" sz="1400" dirty="0">
                <a:solidFill>
                  <a:srgbClr val="14213D"/>
                </a:solidFill>
                <a:latin typeface="Calibri" pitchFamily="34" charset="0"/>
                <a:ea typeface="Calibri" pitchFamily="34" charset="-122"/>
                <a:cs typeface="Calibri" pitchFamily="34" charset="-120"/>
              </a:rPr>
              <a:t>Remember: a system prompt shapes behavior, it does not guarantee safety.</a:t>
            </a:r>
            <a:endParaRPr lang="en-US" sz="1400" dirty="0"/>
          </a:p>
        </p:txBody>
      </p:sp>
      <p:sp>
        <p:nvSpPr>
          <p:cNvPr id="21" name="Text 14"/>
          <p:cNvSpPr/>
          <p:nvPr/>
        </p:nvSpPr>
        <p:spPr>
          <a:xfrm>
            <a:off x="548640" y="5257800"/>
            <a:ext cx="10972800" cy="457200"/>
          </a:xfrm>
          <a:prstGeom prst="rect">
            <a:avLst/>
          </a:prstGeom>
          <a:noFill/>
          <a:ln/>
        </p:spPr>
        <p:txBody>
          <a:bodyPr wrap="square" rtlCol="0" anchor="ctr"/>
          <a:lstStyle/>
          <a:p>
            <a:pPr marL="0" indent="0">
              <a:buNone/>
            </a:pPr>
            <a:r>
              <a:rPr lang="en-US" sz="1450" i="1" dirty="0">
                <a:solidFill>
                  <a:srgbClr val="9A6B2C"/>
                </a:solidFill>
                <a:latin typeface="Cambria" pitchFamily="34" charset="0"/>
                <a:ea typeface="Cambria" pitchFamily="34" charset="-122"/>
                <a:cs typeface="Cambria" pitchFamily="34" charset="-120"/>
              </a:rPr>
              <a:t>Next: Vibe Coding Best Practices, then the Repo 1 Build this afternoon.</a:t>
            </a:r>
            <a:endParaRPr lang="en-US" sz="14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DT 2023">
      <a:dk1>
        <a:srgbClr val="808080"/>
      </a:dk1>
      <a:lt1>
        <a:srgbClr val="0672CB"/>
      </a:lt1>
      <a:dk2>
        <a:srgbClr val="FFFFFF"/>
      </a:dk2>
      <a:lt2>
        <a:srgbClr val="000000"/>
      </a:lt2>
      <a:accent1>
        <a:srgbClr val="0D2155"/>
      </a:accent1>
      <a:accent2>
        <a:srgbClr val="247554"/>
      </a:accent2>
      <a:accent3>
        <a:srgbClr val="F4BB5E"/>
      </a:accent3>
      <a:accent4>
        <a:srgbClr val="E5F8FF"/>
      </a:accent4>
      <a:accent5>
        <a:srgbClr val="691D3F"/>
      </a:accent5>
      <a:accent6>
        <a:srgbClr val="0C32A4"/>
      </a:accent6>
      <a:hlink>
        <a:srgbClr val="0672CB"/>
      </a:hlink>
      <a:folHlink>
        <a:srgbClr val="612CB0"/>
      </a:folHlink>
    </a:clrScheme>
    <a:fontScheme name="Custom 1">
      <a:majorFont>
        <a:latin typeface="Arial Nova 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bg2"/>
          </a:solidFill>
        </a:ln>
      </a:spPr>
      <a:bodyPr rtlCol="0" anchor="ctr"/>
      <a:lstStyle>
        <a:defPPr algn="ctr">
          <a:defRPr sz="12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ctr">
          <a:defRPr dirty="0" smtClean="0">
            <a:solidFill>
              <a:schemeClr val="bg2"/>
            </a:solidFill>
          </a:defRPr>
        </a:defPPr>
      </a:lstStyle>
    </a:txDef>
  </a:objectDefaults>
  <a:extraClrSchemeLst/>
  <a:extLst>
    <a:ext uri="{05A4C25C-085E-4340-85A3-A5531E510DB2}">
      <thm15:themeFamily xmlns:thm15="http://schemas.microsoft.com/office/thememl/2012/main" name="Office Theme" id="{2BBBCF5D-C9F2-43A8-A9F4-217604593F8D}" vid="{7EADAB52-8EFB-4C0A-8D56-13CF97080345}"/>
    </a:ext>
  </a:extLst>
</a:theme>
</file>

<file path=ppt/theme/theme4.xml><?xml version="1.0" encoding="utf-8"?>
<a:theme xmlns:a="http://schemas.openxmlformats.org/drawingml/2006/main" name="DataRobot – Presentation Master Dark">
  <a:themeElements>
    <a:clrScheme name="DataRobot – Presentation Master Dark">
      <a:dk1>
        <a:srgbClr val="000000"/>
      </a:dk1>
      <a:lt1>
        <a:srgbClr val="0A0A0C"/>
      </a:lt1>
      <a:dk2>
        <a:srgbClr val="A7A7A7"/>
      </a:dk2>
      <a:lt2>
        <a:srgbClr val="535353"/>
      </a:lt2>
      <a:accent1>
        <a:srgbClr val="0099FF"/>
      </a:accent1>
      <a:accent2>
        <a:srgbClr val="FF2E3C"/>
      </a:accent2>
      <a:accent3>
        <a:srgbClr val="762CA0"/>
      </a:accent3>
      <a:accent4>
        <a:srgbClr val="FFC000"/>
      </a:accent4>
      <a:accent5>
        <a:srgbClr val="92CA18"/>
      </a:accent5>
      <a:accent6>
        <a:srgbClr val="27AFF4"/>
      </a:accent6>
      <a:hlink>
        <a:srgbClr val="0000FF"/>
      </a:hlink>
      <a:folHlink>
        <a:srgbClr val="FF00FF"/>
      </a:folHlink>
    </a:clrScheme>
    <a:fontScheme name="DataRobot – Presentation Master Dark">
      <a:majorFont>
        <a:latin typeface="Arial"/>
        <a:ea typeface="Arial"/>
        <a:cs typeface="Arial"/>
      </a:majorFont>
      <a:minorFont>
        <a:latin typeface="Helvetica"/>
        <a:ea typeface="Helvetica"/>
        <a:cs typeface="Helvetica"/>
      </a:minorFont>
    </a:fontScheme>
    <a:fmtScheme name="DataRobot – Presentation Master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6399</TotalTime>
  <Words>4977</Words>
  <Application>Microsoft Macintosh PowerPoint</Application>
  <PresentationFormat>Widescreen</PresentationFormat>
  <Paragraphs>559</Paragraphs>
  <Slides>43</Slides>
  <Notes>36</Notes>
  <HiddenSlides>1</HiddenSlides>
  <MMClips>3</MMClips>
  <ScaleCrop>false</ScaleCrop>
  <HeadingPairs>
    <vt:vector size="8" baseType="variant">
      <vt:variant>
        <vt:lpstr>Fonts Used</vt:lpstr>
      </vt:variant>
      <vt:variant>
        <vt:i4>14</vt:i4>
      </vt:variant>
      <vt:variant>
        <vt:lpstr>Theme</vt:lpstr>
      </vt:variant>
      <vt:variant>
        <vt:i4>4</vt:i4>
      </vt:variant>
      <vt:variant>
        <vt:lpstr>Embedded OLE Servers</vt:lpstr>
      </vt:variant>
      <vt:variant>
        <vt:i4>1</vt:i4>
      </vt:variant>
      <vt:variant>
        <vt:lpstr>Slide Titles</vt:lpstr>
      </vt:variant>
      <vt:variant>
        <vt:i4>43</vt:i4>
      </vt:variant>
    </vt:vector>
  </HeadingPairs>
  <TitlesOfParts>
    <vt:vector size="62" baseType="lpstr">
      <vt:lpstr>Aptos</vt:lpstr>
      <vt:lpstr>Aptos Display</vt:lpstr>
      <vt:lpstr>Arial</vt:lpstr>
      <vt:lpstr>Arial Black</vt:lpstr>
      <vt:lpstr>Arial Nova Light</vt:lpstr>
      <vt:lpstr>Calibri</vt:lpstr>
      <vt:lpstr>Cambria</vt:lpstr>
      <vt:lpstr>Consolas</vt:lpstr>
      <vt:lpstr>Courier New</vt:lpstr>
      <vt:lpstr>Helvetica</vt:lpstr>
      <vt:lpstr>Palatino Linotype</vt:lpstr>
      <vt:lpstr>Roboto</vt:lpstr>
      <vt:lpstr>Roboto Light</vt:lpstr>
      <vt:lpstr>Wingdings</vt:lpstr>
      <vt:lpstr>Office Theme</vt:lpstr>
      <vt:lpstr>1_Office Theme</vt:lpstr>
      <vt:lpstr>2_Office Theme</vt:lpstr>
      <vt:lpstr>DataRobot – Presentation Master Dark</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Fundamental differences </vt:lpstr>
      <vt:lpstr>What's going on in the background? </vt:lpstr>
      <vt:lpstr>Core concept of LLMs: Models have different weights</vt:lpstr>
      <vt:lpstr>Words are represented as vectors of numbers (embeddings) that place similar meanings near each other, learned from how tokens co-occur across training data. The model's weights are the learned parameters that predict the next token.</vt:lpstr>
      <vt:lpstr>In a hyperspace words &amp; concepts are identified in close proximity.</vt:lpstr>
      <vt:lpstr>In the background, models are made of weights making probabilistic predictions of the next token. </vt:lpstr>
      <vt:lpstr>We see variability since AI output is probabilistic token by token. </vt:lpstr>
      <vt:lpstr>Frontier vs Open-Weight — the Gap is Closing Fast </vt:lpstr>
      <vt:lpstr>Is Generative AI a new frontier for the business world?</vt:lpstr>
      <vt:lpstr>AI is currently in a hyperbolic capability curve.</vt:lpstr>
      <vt:lpstr>And organizations are choking on the bills</vt:lpstr>
      <vt:lpstr>Model Distillation (Weight Copying) is affecting the industry.</vt:lpstr>
      <vt:lpstr>If you rent your model you pay for consumption in tokens.</vt:lpstr>
      <vt:lpstr>PowerPoint Presentation</vt:lpstr>
      <vt:lpstr>PowerPoint Presentation</vt:lpstr>
      <vt:lpstr>PowerPoint Presentation</vt:lpstr>
      <vt:lpstr>Organizations can save with caching &amp; self-hosting  [besides moving to cheaper/open-weight models]</vt:lpstr>
      <vt:lpstr>Organizations can reduce costs in various ways</vt:lpstr>
      <vt:lpstr>PowerPoint Presentation</vt:lpstr>
      <vt:lpstr>PowerPoint Presentation</vt:lpstr>
      <vt:lpstr>PowerPoint Presentation</vt:lpstr>
      <vt:lpstr>PowerPoint Presentation</vt:lpstr>
      <vt:lpstr>Now let’s talk about user interactions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and System Prompt Best Practices</dc:title>
  <dc:subject>PptxGenJS Presentation</dc:subject>
  <dc:creator>Ted Kwartler</dc:creator>
  <cp:lastModifiedBy>Ted Kwartler</cp:lastModifiedBy>
  <cp:revision>35</cp:revision>
  <dcterms:created xsi:type="dcterms:W3CDTF">2026-07-06T13:30:53Z</dcterms:created>
  <dcterms:modified xsi:type="dcterms:W3CDTF">2026-08-01T21:33:07Z</dcterms:modified>
</cp:coreProperties>
</file>