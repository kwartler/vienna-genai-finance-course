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mov" ContentType="video/quicktime"/>
  <Default Extension="mp4" ContentType="video/mp4"/>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63" r:id="rId3"/>
    <p:sldMasterId id="2147483690" r:id="rId4"/>
  </p:sldMasterIdLst>
  <p:notesMasterIdLst>
    <p:notesMasterId r:id="rId48"/>
  </p:notesMasterIdLst>
  <p:sldIdLst>
    <p:sldId id="256" r:id="rId5"/>
    <p:sldId id="257" r:id="rId6"/>
    <p:sldId id="271" r:id="rId7"/>
    <p:sldId id="286" r:id="rId8"/>
    <p:sldId id="287" r:id="rId9"/>
    <p:sldId id="289" r:id="rId10"/>
    <p:sldId id="300" r:id="rId11"/>
    <p:sldId id="303" r:id="rId12"/>
    <p:sldId id="2147483596" r:id="rId13"/>
    <p:sldId id="283" r:id="rId14"/>
    <p:sldId id="288" r:id="rId15"/>
    <p:sldId id="2147483630" r:id="rId16"/>
    <p:sldId id="2147483593" r:id="rId17"/>
    <p:sldId id="2147483594" r:id="rId18"/>
    <p:sldId id="2147483620" r:id="rId19"/>
    <p:sldId id="2147483609" r:id="rId20"/>
    <p:sldId id="2147483610" r:id="rId21"/>
    <p:sldId id="2147483633" r:id="rId22"/>
    <p:sldId id="2147483621" r:id="rId23"/>
    <p:sldId id="2147483632" r:id="rId24"/>
    <p:sldId id="2147483622" r:id="rId25"/>
    <p:sldId id="2147483623" r:id="rId26"/>
    <p:sldId id="2147483624" r:id="rId27"/>
    <p:sldId id="2147483640" r:id="rId28"/>
    <p:sldId id="2147483636" r:id="rId29"/>
    <p:sldId id="2147483626" r:id="rId30"/>
    <p:sldId id="2147483627" r:id="rId31"/>
    <p:sldId id="2147483629" r:id="rId32"/>
    <p:sldId id="2147483638" r:id="rId33"/>
    <p:sldId id="2147483639" r:id="rId34"/>
    <p:sldId id="258" r:id="rId35"/>
    <p:sldId id="259" r:id="rId36"/>
    <p:sldId id="260" r:id="rId37"/>
    <p:sldId id="2147483641" r:id="rId38"/>
    <p:sldId id="261" r:id="rId39"/>
    <p:sldId id="268" r:id="rId40"/>
    <p:sldId id="270" r:id="rId41"/>
    <p:sldId id="262" r:id="rId42"/>
    <p:sldId id="263" r:id="rId43"/>
    <p:sldId id="264" r:id="rId44"/>
    <p:sldId id="265" r:id="rId45"/>
    <p:sldId id="266" r:id="rId46"/>
    <p:sldId id="267"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33E5F03-EA3D-7565-B94E-82167EF8F528}" name="Author" initials="A" userId="S::author::615b8107-de2e-4290-b4af-dd4d206bbfb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313"/>
  </p:normalViewPr>
  <p:slideViewPr>
    <p:cSldViewPr snapToGrid="0" snapToObjects="1">
      <p:cViewPr varScale="1">
        <p:scale>
          <a:sx n="100" d="100"/>
          <a:sy n="100" d="100"/>
        </p:scale>
        <p:origin x="1448"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1F1F"/>
                </a:solidFill>
                <a:latin typeface="Arial"/>
              </a:defRPr>
            </a:pPr>
            <a:r>
              <a:rPr lang="en-US" sz="1300" b="0" i="0" u="none" strike="noStrike">
                <a:solidFill>
                  <a:srgbClr val="1F1F1F"/>
                </a:solidFill>
                <a:latin typeface="Arial"/>
              </a:rPr>
              <a:t>Cumulative session cost</a:t>
            </a:r>
          </a:p>
        </c:rich>
      </c:tx>
      <c:overlay val="0"/>
    </c:title>
    <c:autoTitleDeleted val="0"/>
    <c:plotArea>
      <c:layout/>
      <c:barChart>
        <c:barDir val="col"/>
        <c:grouping val="clustered"/>
        <c:varyColors val="0"/>
        <c:ser>
          <c:idx val="0"/>
          <c:order val="0"/>
          <c:tx>
            <c:strRef>
              <c:f>Sheet1!$B$1</c:f>
              <c:strCache>
                <c:ptCount val="1"/>
                <c:pt idx="0">
                  <c:v>Cumulative</c:v>
                </c:pt>
              </c:strCache>
            </c:strRef>
          </c:tx>
          <c:spPr>
            <a:solidFill>
              <a:srgbClr val="A51C30"/>
            </a:solidFill>
            <a:effectLst/>
          </c:spPr>
          <c:invertIfNegative val="0"/>
          <c:dLbls>
            <c:numFmt formatCode="\$0.00" sourceLinked="0"/>
            <c:spPr>
              <a:noFill/>
              <a:ln>
                <a:noFill/>
              </a:ln>
              <a:effectLst/>
            </c:spPr>
            <c:txPr>
              <a:bodyPr/>
              <a:lstStyle/>
              <a:p>
                <a:pPr>
                  <a:defRPr sz="1200" b="1" i="0" u="none" strike="noStrike">
                    <a:solidFill>
                      <a:srgbClr val="1F1F1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Turn N</c:v>
                </c:pt>
                <c:pt idx="1">
                  <c:v>Turn N+1</c:v>
                </c:pt>
                <c:pt idx="2">
                  <c:v>Turn N+2</c:v>
                </c:pt>
              </c:strCache>
            </c:strRef>
          </c:cat>
          <c:val>
            <c:numRef>
              <c:f>Sheet1!$B$2:$B$4</c:f>
              <c:numCache>
                <c:formatCode>General</c:formatCode>
                <c:ptCount val="3"/>
                <c:pt idx="0">
                  <c:v>5</c:v>
                </c:pt>
                <c:pt idx="1">
                  <c:v>10.4</c:v>
                </c:pt>
                <c:pt idx="2">
                  <c:v>16.100000000000001</c:v>
                </c:pt>
              </c:numCache>
            </c:numRef>
          </c:val>
          <c:extLst>
            <c:ext xmlns:c16="http://schemas.microsoft.com/office/drawing/2014/chart" uri="{C3380CC4-5D6E-409C-BE32-E72D297353CC}">
              <c16:uniqueId val="{00000000-8DDD-854B-A759-BE34FFFD34D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max val="19"/>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alpha val="8000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Context (with compaction)</c:v>
                </c:pt>
              </c:strCache>
            </c:strRef>
          </c:tx>
          <c:spPr>
            <a:ln w="31750" cap="flat">
              <a:solidFill>
                <a:srgbClr val="A51C30"/>
              </a:solidFill>
              <a:prstDash val="solid"/>
              <a:round/>
            </a:ln>
            <a:effectLst/>
          </c:spPr>
          <c:marker>
            <c:symbol val="none"/>
          </c:marker>
          <c:cat>
            <c:strRef>
              <c:f>Sheet1!$A$2:$A$32</c:f>
              <c:strCache>
                <c:ptCount val="31"/>
                <c:pt idx="0">
                  <c:v>0</c:v>
                </c:pt>
                <c:pt idx="5">
                  <c:v>5</c:v>
                </c:pt>
                <c:pt idx="10">
                  <c:v>10</c:v>
                </c:pt>
                <c:pt idx="15">
                  <c:v>15</c:v>
                </c:pt>
                <c:pt idx="20">
                  <c:v>20</c:v>
                </c:pt>
                <c:pt idx="25">
                  <c:v>25</c:v>
                </c:pt>
                <c:pt idx="30">
                  <c:v>30</c:v>
                </c:pt>
              </c:strCache>
            </c:strRef>
          </c:cat>
          <c:val>
            <c:numRef>
              <c:f>Sheet1!$B$2:$B$32</c:f>
              <c:numCache>
                <c:formatCode>General</c:formatCode>
                <c:ptCount val="31"/>
                <c:pt idx="0">
                  <c:v>50</c:v>
                </c:pt>
                <c:pt idx="1">
                  <c:v>331</c:v>
                </c:pt>
                <c:pt idx="2">
                  <c:v>528</c:v>
                </c:pt>
                <c:pt idx="3">
                  <c:v>668</c:v>
                </c:pt>
                <c:pt idx="4">
                  <c:v>766</c:v>
                </c:pt>
                <c:pt idx="5">
                  <c:v>835</c:v>
                </c:pt>
                <c:pt idx="6">
                  <c:v>884</c:v>
                </c:pt>
                <c:pt idx="7">
                  <c:v>918</c:v>
                </c:pt>
                <c:pt idx="8">
                  <c:v>942</c:v>
                </c:pt>
                <c:pt idx="9">
                  <c:v>959</c:v>
                </c:pt>
                <c:pt idx="10">
                  <c:v>50</c:v>
                </c:pt>
                <c:pt idx="11">
                  <c:v>331</c:v>
                </c:pt>
                <c:pt idx="12">
                  <c:v>528</c:v>
                </c:pt>
                <c:pt idx="13">
                  <c:v>668</c:v>
                </c:pt>
                <c:pt idx="14">
                  <c:v>766</c:v>
                </c:pt>
                <c:pt idx="15">
                  <c:v>835</c:v>
                </c:pt>
                <c:pt idx="16">
                  <c:v>884</c:v>
                </c:pt>
                <c:pt idx="17">
                  <c:v>918</c:v>
                </c:pt>
                <c:pt idx="18">
                  <c:v>942</c:v>
                </c:pt>
                <c:pt idx="19">
                  <c:v>959</c:v>
                </c:pt>
                <c:pt idx="20">
                  <c:v>50</c:v>
                </c:pt>
                <c:pt idx="21">
                  <c:v>331</c:v>
                </c:pt>
                <c:pt idx="22">
                  <c:v>528</c:v>
                </c:pt>
                <c:pt idx="23">
                  <c:v>668</c:v>
                </c:pt>
                <c:pt idx="24">
                  <c:v>766</c:v>
                </c:pt>
                <c:pt idx="25">
                  <c:v>835</c:v>
                </c:pt>
                <c:pt idx="26">
                  <c:v>884</c:v>
                </c:pt>
                <c:pt idx="27">
                  <c:v>918</c:v>
                </c:pt>
                <c:pt idx="28">
                  <c:v>942</c:v>
                </c:pt>
                <c:pt idx="29">
                  <c:v>959</c:v>
                </c:pt>
                <c:pt idx="30">
                  <c:v>50</c:v>
                </c:pt>
              </c:numCache>
            </c:numRef>
          </c:val>
          <c:smooth val="0"/>
          <c:extLst>
            <c:ext xmlns:c16="http://schemas.microsoft.com/office/drawing/2014/chart" uri="{C3380CC4-5D6E-409C-BE32-E72D297353CC}">
              <c16:uniqueId val="{00000000-4D9A-C14C-8EB8-30710E95F539}"/>
            </c:ext>
          </c:extLst>
        </c:ser>
        <c:ser>
          <c:idx val="1"/>
          <c:order val="1"/>
          <c:tx>
            <c:strRef>
              <c:f>Sheet1!$C$1</c:f>
              <c:strCache>
                <c:ptCount val="1"/>
                <c:pt idx="0">
                  <c:v>Window limit (1M)</c:v>
                </c:pt>
              </c:strCache>
            </c:strRef>
          </c:tx>
          <c:spPr>
            <a:ln w="31750" cap="flat">
              <a:solidFill>
                <a:srgbClr val="C7C2C4"/>
              </a:solidFill>
              <a:prstDash val="solid"/>
              <a:round/>
            </a:ln>
            <a:effectLst/>
          </c:spPr>
          <c:marker>
            <c:symbol val="none"/>
          </c:marker>
          <c:cat>
            <c:strRef>
              <c:f>Sheet1!$A$2:$A$32</c:f>
              <c:strCache>
                <c:ptCount val="31"/>
                <c:pt idx="0">
                  <c:v>0</c:v>
                </c:pt>
                <c:pt idx="5">
                  <c:v>5</c:v>
                </c:pt>
                <c:pt idx="10">
                  <c:v>10</c:v>
                </c:pt>
                <c:pt idx="15">
                  <c:v>15</c:v>
                </c:pt>
                <c:pt idx="20">
                  <c:v>20</c:v>
                </c:pt>
                <c:pt idx="25">
                  <c:v>25</c:v>
                </c:pt>
                <c:pt idx="30">
                  <c:v>30</c:v>
                </c:pt>
              </c:strCache>
            </c:strRef>
          </c:cat>
          <c:val>
            <c:numRef>
              <c:f>Sheet1!$C$2:$C$32</c:f>
              <c:numCache>
                <c:formatCode>General</c:formatCode>
                <c:ptCount val="31"/>
                <c:pt idx="0">
                  <c:v>1000</c:v>
                </c:pt>
                <c:pt idx="1">
                  <c:v>1000</c:v>
                </c:pt>
                <c:pt idx="2">
                  <c:v>1000</c:v>
                </c:pt>
                <c:pt idx="3">
                  <c:v>1000</c:v>
                </c:pt>
                <c:pt idx="4">
                  <c:v>1000</c:v>
                </c:pt>
                <c:pt idx="5">
                  <c:v>1000</c:v>
                </c:pt>
                <c:pt idx="6">
                  <c:v>1000</c:v>
                </c:pt>
                <c:pt idx="7">
                  <c:v>1000</c:v>
                </c:pt>
                <c:pt idx="8">
                  <c:v>1000</c:v>
                </c:pt>
                <c:pt idx="9">
                  <c:v>1000</c:v>
                </c:pt>
                <c:pt idx="10">
                  <c:v>1000</c:v>
                </c:pt>
                <c:pt idx="11">
                  <c:v>1000</c:v>
                </c:pt>
                <c:pt idx="12">
                  <c:v>1000</c:v>
                </c:pt>
                <c:pt idx="13">
                  <c:v>1000</c:v>
                </c:pt>
                <c:pt idx="14">
                  <c:v>1000</c:v>
                </c:pt>
                <c:pt idx="15">
                  <c:v>1000</c:v>
                </c:pt>
                <c:pt idx="16">
                  <c:v>1000</c:v>
                </c:pt>
                <c:pt idx="17">
                  <c:v>1000</c:v>
                </c:pt>
                <c:pt idx="18">
                  <c:v>1000</c:v>
                </c:pt>
                <c:pt idx="19">
                  <c:v>1000</c:v>
                </c:pt>
                <c:pt idx="20">
                  <c:v>1000</c:v>
                </c:pt>
                <c:pt idx="21">
                  <c:v>1000</c:v>
                </c:pt>
                <c:pt idx="22">
                  <c:v>1000</c:v>
                </c:pt>
                <c:pt idx="23">
                  <c:v>1000</c:v>
                </c:pt>
                <c:pt idx="24">
                  <c:v>1000</c:v>
                </c:pt>
                <c:pt idx="25">
                  <c:v>1000</c:v>
                </c:pt>
                <c:pt idx="26">
                  <c:v>1000</c:v>
                </c:pt>
                <c:pt idx="27">
                  <c:v>1000</c:v>
                </c:pt>
                <c:pt idx="28">
                  <c:v>1000</c:v>
                </c:pt>
                <c:pt idx="29">
                  <c:v>1000</c:v>
                </c:pt>
                <c:pt idx="30">
                  <c:v>1000</c:v>
                </c:pt>
              </c:numCache>
            </c:numRef>
          </c:val>
          <c:smooth val="0"/>
          <c:extLst>
            <c:ext xmlns:c16="http://schemas.microsoft.com/office/drawing/2014/chart" uri="{C3380CC4-5D6E-409C-BE32-E72D297353CC}">
              <c16:uniqueId val="{00000001-4D9A-C14C-8EB8-30710E95F539}"/>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6B6B6B"/>
                    </a:solidFill>
                    <a:latin typeface="Arial"/>
                  </a:defRPr>
                </a:pPr>
                <a:r>
                  <a:rPr lang="en-US" sz="900" b="0" i="0" u="none" strike="noStrike">
                    <a:solidFill>
                      <a:srgbClr val="6B6B6B"/>
                    </a:solidFill>
                    <a:latin typeface="Arial"/>
                  </a:rPr>
                  <a:t>Turn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max val="1050"/>
          <c:min val="0"/>
        </c:scaling>
        <c:delete val="0"/>
        <c:axPos val="l"/>
        <c:majorGridlines>
          <c:spPr>
            <a:ln w="6350" cap="flat">
              <a:solidFill>
                <a:srgbClr val="E6E2E3"/>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majorUnit val="250"/>
      </c:valAx>
      <c:spPr>
        <a:noFill/>
        <a:ln>
          <a:noFill/>
        </a:ln>
        <a:effectLst/>
      </c:spPr>
    </c:plotArea>
    <c:legend>
      <c:legendPos val="b"/>
      <c:overlay val="0"/>
      <c:txPr>
        <a:bodyPr/>
        <a:lstStyle/>
        <a:p>
          <a:pPr>
            <a:defRPr sz="900">
              <a:solidFill>
                <a:srgbClr val="222222"/>
              </a:solidFill>
            </a:defRPr>
          </a:pPr>
          <a:endParaRPr lang="en-US"/>
        </a:p>
      </c:txPr>
    </c:legend>
    <c:plotVisOnly val="1"/>
    <c:dispBlanksAs val="span"/>
    <c:showDLblsOverMax val="1"/>
  </c:chart>
  <c:spPr>
    <a:solidFill>
      <a:srgbClr val="FFFFFF">
        <a:alpha val="8500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With compaction</c:v>
                </c:pt>
              </c:strCache>
            </c:strRef>
          </c:tx>
          <c:spPr>
            <a:ln w="31750" cap="flat">
              <a:solidFill>
                <a:srgbClr val="A51C30"/>
              </a:solidFill>
              <a:prstDash val="solid"/>
              <a:round/>
            </a:ln>
            <a:effectLst/>
          </c:spPr>
          <c:marker>
            <c:symbol val="none"/>
          </c:marker>
          <c:cat>
            <c:strRef>
              <c:f>Sheet1!$A$2:$A$32</c:f>
              <c:strCache>
                <c:ptCount val="31"/>
                <c:pt idx="0">
                  <c:v>0</c:v>
                </c:pt>
                <c:pt idx="5">
                  <c:v>5</c:v>
                </c:pt>
                <c:pt idx="10">
                  <c:v>10</c:v>
                </c:pt>
                <c:pt idx="15">
                  <c:v>15</c:v>
                </c:pt>
                <c:pt idx="20">
                  <c:v>20</c:v>
                </c:pt>
                <c:pt idx="25">
                  <c:v>25</c:v>
                </c:pt>
                <c:pt idx="30">
                  <c:v>30</c:v>
                </c:pt>
              </c:strCache>
            </c:strRef>
          </c:cat>
          <c:val>
            <c:numRef>
              <c:f>Sheet1!$B$2:$B$32</c:f>
              <c:numCache>
                <c:formatCode>General</c:formatCode>
                <c:ptCount val="31"/>
                <c:pt idx="0">
                  <c:v>1</c:v>
                </c:pt>
                <c:pt idx="1">
                  <c:v>3.4</c:v>
                </c:pt>
                <c:pt idx="2">
                  <c:v>6.79</c:v>
                </c:pt>
                <c:pt idx="3">
                  <c:v>10.88</c:v>
                </c:pt>
                <c:pt idx="4">
                  <c:v>15.46</c:v>
                </c:pt>
                <c:pt idx="5">
                  <c:v>20.38</c:v>
                </c:pt>
                <c:pt idx="6">
                  <c:v>25.55</c:v>
                </c:pt>
                <c:pt idx="7">
                  <c:v>30.89</c:v>
                </c:pt>
                <c:pt idx="8">
                  <c:v>36.35</c:v>
                </c:pt>
                <c:pt idx="9">
                  <c:v>41.9</c:v>
                </c:pt>
                <c:pt idx="10">
                  <c:v>48.95</c:v>
                </c:pt>
                <c:pt idx="11">
                  <c:v>51.35</c:v>
                </c:pt>
                <c:pt idx="12">
                  <c:v>54.74</c:v>
                </c:pt>
                <c:pt idx="13">
                  <c:v>58.83</c:v>
                </c:pt>
                <c:pt idx="14">
                  <c:v>63.41</c:v>
                </c:pt>
                <c:pt idx="15">
                  <c:v>68.33</c:v>
                </c:pt>
                <c:pt idx="16">
                  <c:v>73.5</c:v>
                </c:pt>
                <c:pt idx="17">
                  <c:v>78.84</c:v>
                </c:pt>
                <c:pt idx="18">
                  <c:v>84.3</c:v>
                </c:pt>
                <c:pt idx="19">
                  <c:v>89.85</c:v>
                </c:pt>
                <c:pt idx="20">
                  <c:v>96.89</c:v>
                </c:pt>
                <c:pt idx="21">
                  <c:v>99.3</c:v>
                </c:pt>
                <c:pt idx="22">
                  <c:v>102.69</c:v>
                </c:pt>
                <c:pt idx="23">
                  <c:v>106.78</c:v>
                </c:pt>
                <c:pt idx="24">
                  <c:v>111.36</c:v>
                </c:pt>
                <c:pt idx="25">
                  <c:v>116.28</c:v>
                </c:pt>
                <c:pt idx="26">
                  <c:v>121.45</c:v>
                </c:pt>
                <c:pt idx="27">
                  <c:v>126.79</c:v>
                </c:pt>
                <c:pt idx="28">
                  <c:v>132.25</c:v>
                </c:pt>
                <c:pt idx="29">
                  <c:v>137.80000000000001</c:v>
                </c:pt>
                <c:pt idx="30">
                  <c:v>144.84</c:v>
                </c:pt>
              </c:numCache>
            </c:numRef>
          </c:val>
          <c:smooth val="0"/>
          <c:extLst>
            <c:ext xmlns:c16="http://schemas.microsoft.com/office/drawing/2014/chart" uri="{C3380CC4-5D6E-409C-BE32-E72D297353CC}">
              <c16:uniqueId val="{00000000-5FAB-5449-A74E-A4F436B5B502}"/>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6B6B6B"/>
                    </a:solidFill>
                    <a:latin typeface="Arial"/>
                  </a:defRPr>
                </a:pPr>
                <a:r>
                  <a:rPr lang="en-US" sz="900" b="0" i="0" u="none" strike="noStrike">
                    <a:solidFill>
                      <a:srgbClr val="6B6B6B"/>
                    </a:solidFill>
                    <a:latin typeface="Arial"/>
                  </a:rPr>
                  <a:t>Turn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max val="160"/>
          <c:min val="0"/>
        </c:scaling>
        <c:delete val="0"/>
        <c:axPos val="l"/>
        <c:majorGridlines>
          <c:spPr>
            <a:ln w="6350" cap="flat">
              <a:solidFill>
                <a:srgbClr val="E6E2E3"/>
              </a:solidFill>
              <a:prstDash val="solid"/>
              <a:round/>
            </a:ln>
          </c:spPr>
        </c:majorGridlines>
        <c:numFmt formatCode="&quot;$&quot;#,##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majorUnit val="40"/>
      </c:valAx>
      <c:spPr>
        <a:noFill/>
        <a:ln>
          <a:noFill/>
        </a:ln>
        <a:effectLst/>
      </c:spPr>
    </c:plotArea>
    <c:legend>
      <c:legendPos val="b"/>
      <c:overlay val="0"/>
      <c:txPr>
        <a:bodyPr/>
        <a:lstStyle/>
        <a:p>
          <a:pPr>
            <a:defRPr sz="900">
              <a:solidFill>
                <a:srgbClr val="222222"/>
              </a:solidFill>
            </a:defRPr>
          </a:pPr>
          <a:endParaRPr lang="en-US"/>
        </a:p>
      </c:txPr>
    </c:legend>
    <c:plotVisOnly val="1"/>
    <c:dispBlanksAs val="span"/>
    <c:showDLblsOverMax val="1"/>
  </c:chart>
  <c:spPr>
    <a:solidFill>
      <a:srgbClr val="FFFFFF">
        <a:alpha val="8500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With compaction</c:v>
                </c:pt>
              </c:strCache>
            </c:strRef>
          </c:tx>
          <c:spPr>
            <a:ln w="38100" cap="flat">
              <a:solidFill>
                <a:srgbClr val="7A1220"/>
              </a:solidFill>
              <a:prstDash val="solid"/>
              <a:round/>
            </a:ln>
            <a:effectLst/>
          </c:spPr>
          <c:marker>
            <c:symbol val="none"/>
          </c:marker>
          <c:cat>
            <c:strRef>
              <c:f>Sheet1!$A$2:$A$14</c:f>
              <c:strCache>
                <c:ptCount val="13"/>
                <c:pt idx="0">
                  <c:v>0</c:v>
                </c:pt>
                <c:pt idx="1">
                  <c:v>2</c:v>
                </c:pt>
                <c:pt idx="2">
                  <c:v>4</c:v>
                </c:pt>
                <c:pt idx="3">
                  <c:v>6</c:v>
                </c:pt>
                <c:pt idx="4">
                  <c:v>8</c:v>
                </c:pt>
                <c:pt idx="5">
                  <c:v>10</c:v>
                </c:pt>
                <c:pt idx="6">
                  <c:v>12</c:v>
                </c:pt>
                <c:pt idx="7">
                  <c:v>14</c:v>
                </c:pt>
                <c:pt idx="8">
                  <c:v>16</c:v>
                </c:pt>
                <c:pt idx="9">
                  <c:v>18</c:v>
                </c:pt>
                <c:pt idx="10">
                  <c:v>20</c:v>
                </c:pt>
                <c:pt idx="11">
                  <c:v>22</c:v>
                </c:pt>
                <c:pt idx="12">
                  <c:v>24</c:v>
                </c:pt>
              </c:strCache>
            </c:strRef>
          </c:cat>
          <c:val>
            <c:numRef>
              <c:f>Sheet1!$B$2:$B$14</c:f>
              <c:numCache>
                <c:formatCode>General</c:formatCode>
                <c:ptCount val="13"/>
                <c:pt idx="0">
                  <c:v>0</c:v>
                </c:pt>
                <c:pt idx="1">
                  <c:v>0.01</c:v>
                </c:pt>
                <c:pt idx="2">
                  <c:v>4.2000000000000003E-2</c:v>
                </c:pt>
                <c:pt idx="3">
                  <c:v>9.4E-2</c:v>
                </c:pt>
                <c:pt idx="4">
                  <c:v>0.16600000000000001</c:v>
                </c:pt>
                <c:pt idx="5">
                  <c:v>0.26</c:v>
                </c:pt>
                <c:pt idx="6">
                  <c:v>0.374</c:v>
                </c:pt>
                <c:pt idx="7">
                  <c:v>0.51</c:v>
                </c:pt>
                <c:pt idx="8">
                  <c:v>0.66600000000000004</c:v>
                </c:pt>
                <c:pt idx="9">
                  <c:v>0.84199999999999997</c:v>
                </c:pt>
                <c:pt idx="10">
                  <c:v>1.04</c:v>
                </c:pt>
                <c:pt idx="11">
                  <c:v>1.258</c:v>
                </c:pt>
                <c:pt idx="12">
                  <c:v>1.498</c:v>
                </c:pt>
              </c:numCache>
            </c:numRef>
          </c:val>
          <c:smooth val="0"/>
          <c:extLst>
            <c:ext xmlns:c16="http://schemas.microsoft.com/office/drawing/2014/chart" uri="{C3380CC4-5D6E-409C-BE32-E72D297353CC}">
              <c16:uniqueId val="{00000000-C1E4-104E-817D-D111850EC0B5}"/>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5F5E5A"/>
                    </a:solidFill>
                    <a:latin typeface="Arial"/>
                  </a:defRPr>
                </a:pPr>
                <a:r>
                  <a:rPr lang="en-US" sz="1100" b="0" i="0" u="none" strike="noStrike">
                    <a:solidFill>
                      <a:srgbClr val="5F5E5A"/>
                    </a:solidFill>
                    <a:latin typeface="Arial"/>
                  </a:rPr>
                  <a:t>Conversation turns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2"/>
        <c:crosses val="autoZero"/>
        <c:auto val="1"/>
        <c:lblAlgn val="ctr"/>
        <c:lblOffset val="100"/>
        <c:noMultiLvlLbl val="1"/>
      </c:catAx>
      <c:valAx>
        <c:axId val="2094734552"/>
        <c:scaling>
          <c:orientation val="minMax"/>
          <c:max val="1.6"/>
          <c:min val="0"/>
        </c:scaling>
        <c:delete val="0"/>
        <c:axPos val="l"/>
        <c:title>
          <c:tx>
            <c:rich>
              <a:bodyPr/>
              <a:lstStyle/>
              <a:p>
                <a:pPr>
                  <a:defRPr sz="1100" b="0" i="0" u="none" strike="noStrike">
                    <a:solidFill>
                      <a:srgbClr val="5F5E5A"/>
                    </a:solidFill>
                    <a:latin typeface="Arial"/>
                  </a:defRPr>
                </a:pPr>
                <a:r>
                  <a:rPr lang="en-US" sz="1100" b="0" i="0" u="none" strike="noStrike">
                    <a:solidFill>
                      <a:srgbClr val="5F5E5A"/>
                    </a:solidFill>
                    <a:latin typeface="Arial"/>
                  </a:rPr>
                  <a:t>Cost per conversation</a:t>
                </a:r>
              </a:p>
            </c:rich>
          </c:tx>
          <c:overlay val="0"/>
        </c:title>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4"/>
        <c:crosses val="autoZero"/>
        <c:crossBetween val="between"/>
        <c:majorUnit val="0.4"/>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No cache</c:v>
                </c:pt>
              </c:strCache>
            </c:strRef>
          </c:tx>
          <c:spPr>
            <a:ln w="38100" cap="flat">
              <a:solidFill>
                <a:srgbClr val="7A1220"/>
              </a:solidFill>
              <a:prstDash val="dash"/>
              <a:round/>
            </a:ln>
            <a:effectLst/>
          </c:spPr>
          <c:marker>
            <c:symbol val="none"/>
          </c:marker>
          <c:cat>
            <c:strRef>
              <c:f>Sheet1!$A$2:$A$14</c:f>
              <c:strCache>
                <c:ptCount val="13"/>
                <c:pt idx="0">
                  <c:v>0</c:v>
                </c:pt>
                <c:pt idx="1">
                  <c:v>2</c:v>
                </c:pt>
                <c:pt idx="2">
                  <c:v>4</c:v>
                </c:pt>
                <c:pt idx="3">
                  <c:v>6</c:v>
                </c:pt>
                <c:pt idx="4">
                  <c:v>8</c:v>
                </c:pt>
                <c:pt idx="5">
                  <c:v>10</c:v>
                </c:pt>
                <c:pt idx="6">
                  <c:v>12</c:v>
                </c:pt>
                <c:pt idx="7">
                  <c:v>14</c:v>
                </c:pt>
                <c:pt idx="8">
                  <c:v>16</c:v>
                </c:pt>
                <c:pt idx="9">
                  <c:v>18</c:v>
                </c:pt>
                <c:pt idx="10">
                  <c:v>20</c:v>
                </c:pt>
                <c:pt idx="11">
                  <c:v>22</c:v>
                </c:pt>
                <c:pt idx="12">
                  <c:v>24</c:v>
                </c:pt>
              </c:strCache>
            </c:strRef>
          </c:cat>
          <c:val>
            <c:numRef>
              <c:f>Sheet1!$B$2:$B$14</c:f>
              <c:numCache>
                <c:formatCode>General</c:formatCode>
                <c:ptCount val="13"/>
                <c:pt idx="0">
                  <c:v>0</c:v>
                </c:pt>
                <c:pt idx="1">
                  <c:v>0.01</c:v>
                </c:pt>
                <c:pt idx="2">
                  <c:v>4.2000000000000003E-2</c:v>
                </c:pt>
                <c:pt idx="3">
                  <c:v>9.4E-2</c:v>
                </c:pt>
                <c:pt idx="4">
                  <c:v>0.16600000000000001</c:v>
                </c:pt>
                <c:pt idx="5">
                  <c:v>0.26</c:v>
                </c:pt>
                <c:pt idx="6">
                  <c:v>0.374</c:v>
                </c:pt>
                <c:pt idx="7">
                  <c:v>0.51</c:v>
                </c:pt>
                <c:pt idx="8">
                  <c:v>0.66600000000000004</c:v>
                </c:pt>
                <c:pt idx="9">
                  <c:v>0.84199999999999997</c:v>
                </c:pt>
                <c:pt idx="10">
                  <c:v>1.04</c:v>
                </c:pt>
                <c:pt idx="11">
                  <c:v>1.258</c:v>
                </c:pt>
                <c:pt idx="12">
                  <c:v>1.498</c:v>
                </c:pt>
              </c:numCache>
            </c:numRef>
          </c:val>
          <c:smooth val="0"/>
          <c:extLst>
            <c:ext xmlns:c16="http://schemas.microsoft.com/office/drawing/2014/chart" uri="{C3380CC4-5D6E-409C-BE32-E72D297353CC}">
              <c16:uniqueId val="{00000000-23B4-E340-9F8E-A3D9E4D37CE0}"/>
            </c:ext>
          </c:extLst>
        </c:ser>
        <c:ser>
          <c:idx val="1"/>
          <c:order val="1"/>
          <c:tx>
            <c:strRef>
              <c:f>Sheet1!$C$1</c:f>
              <c:strCache>
                <c:ptCount val="1"/>
                <c:pt idx="0">
                  <c:v>With cache</c:v>
                </c:pt>
              </c:strCache>
            </c:strRef>
          </c:tx>
          <c:spPr>
            <a:ln w="38100" cap="flat">
              <a:solidFill>
                <a:srgbClr val="14213D"/>
              </a:solidFill>
              <a:prstDash val="solid"/>
              <a:round/>
            </a:ln>
            <a:effectLst/>
          </c:spPr>
          <c:marker>
            <c:symbol val="none"/>
          </c:marker>
          <c:cat>
            <c:strRef>
              <c:f>Sheet1!$A$2:$A$14</c:f>
              <c:strCache>
                <c:ptCount val="13"/>
                <c:pt idx="0">
                  <c:v>0</c:v>
                </c:pt>
                <c:pt idx="1">
                  <c:v>2</c:v>
                </c:pt>
                <c:pt idx="2">
                  <c:v>4</c:v>
                </c:pt>
                <c:pt idx="3">
                  <c:v>6</c:v>
                </c:pt>
                <c:pt idx="4">
                  <c:v>8</c:v>
                </c:pt>
                <c:pt idx="5">
                  <c:v>10</c:v>
                </c:pt>
                <c:pt idx="6">
                  <c:v>12</c:v>
                </c:pt>
                <c:pt idx="7">
                  <c:v>14</c:v>
                </c:pt>
                <c:pt idx="8">
                  <c:v>16</c:v>
                </c:pt>
                <c:pt idx="9">
                  <c:v>18</c:v>
                </c:pt>
                <c:pt idx="10">
                  <c:v>20</c:v>
                </c:pt>
                <c:pt idx="11">
                  <c:v>22</c:v>
                </c:pt>
                <c:pt idx="12">
                  <c:v>24</c:v>
                </c:pt>
              </c:strCache>
            </c:strRef>
          </c:cat>
          <c:val>
            <c:numRef>
              <c:f>Sheet1!$C$2:$C$14</c:f>
              <c:numCache>
                <c:formatCode>General</c:formatCode>
                <c:ptCount val="13"/>
                <c:pt idx="0">
                  <c:v>0</c:v>
                </c:pt>
                <c:pt idx="1">
                  <c:v>6.4000000000000001E-2</c:v>
                </c:pt>
                <c:pt idx="2">
                  <c:v>0.13600000000000001</c:v>
                </c:pt>
                <c:pt idx="3">
                  <c:v>0.216</c:v>
                </c:pt>
                <c:pt idx="4">
                  <c:v>0.30399999999999999</c:v>
                </c:pt>
                <c:pt idx="5">
                  <c:v>0.4</c:v>
                </c:pt>
                <c:pt idx="6">
                  <c:v>0.504</c:v>
                </c:pt>
                <c:pt idx="7">
                  <c:v>0.61599999999999999</c:v>
                </c:pt>
                <c:pt idx="8">
                  <c:v>0.73599999999999999</c:v>
                </c:pt>
                <c:pt idx="9">
                  <c:v>0.86399999999999999</c:v>
                </c:pt>
                <c:pt idx="10">
                  <c:v>1</c:v>
                </c:pt>
                <c:pt idx="11">
                  <c:v>1.1439999999999999</c:v>
                </c:pt>
                <c:pt idx="12">
                  <c:v>1.296</c:v>
                </c:pt>
              </c:numCache>
            </c:numRef>
          </c:val>
          <c:smooth val="0"/>
          <c:extLst>
            <c:ext xmlns:c16="http://schemas.microsoft.com/office/drawing/2014/chart" uri="{C3380CC4-5D6E-409C-BE32-E72D297353CC}">
              <c16:uniqueId val="{00000001-23B4-E340-9F8E-A3D9E4D37CE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5F5E5A"/>
                    </a:solidFill>
                    <a:latin typeface="Arial"/>
                  </a:defRPr>
                </a:pPr>
                <a:r>
                  <a:rPr lang="en-US" sz="1100" b="0" i="0" u="none" strike="noStrike">
                    <a:solidFill>
                      <a:srgbClr val="5F5E5A"/>
                    </a:solidFill>
                    <a:latin typeface="Arial"/>
                  </a:rPr>
                  <a:t>Conversation turns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2"/>
        <c:crosses val="autoZero"/>
        <c:auto val="1"/>
        <c:lblAlgn val="ctr"/>
        <c:lblOffset val="100"/>
        <c:noMultiLvlLbl val="1"/>
      </c:catAx>
      <c:valAx>
        <c:axId val="2094734552"/>
        <c:scaling>
          <c:orientation val="minMax"/>
          <c:max val="1.6"/>
          <c:min val="0"/>
        </c:scaling>
        <c:delete val="0"/>
        <c:axPos val="l"/>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4"/>
        <c:crosses val="autoZero"/>
        <c:crossBetween val="between"/>
        <c:majorUnit val="0.4"/>
      </c:valAx>
      <c:spPr>
        <a:noFill/>
        <a:ln>
          <a:noFill/>
        </a:ln>
        <a:effectLst/>
      </c:spPr>
    </c:plotArea>
    <c:legend>
      <c:legendPos val="b"/>
      <c:overlay val="0"/>
      <c:txPr>
        <a:bodyPr/>
        <a:lstStyle/>
        <a:p>
          <a:pPr>
            <a:defRPr sz="1000">
              <a:solidFill>
                <a:srgbClr val="5F5E5A"/>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Cost per conversation</c:v>
                </c:pt>
              </c:strCache>
            </c:strRef>
          </c:tx>
          <c:spPr>
            <a:ln w="38100" cap="flat">
              <a:solidFill>
                <a:srgbClr val="0F6E56"/>
              </a:solidFill>
              <a:prstDash val="solid"/>
              <a:round/>
            </a:ln>
            <a:effectLst/>
          </c:spPr>
          <c:marker>
            <c:symbol val="none"/>
          </c:marker>
          <c:cat>
            <c:strRef>
              <c:f>Sheet1!$A$2:$A$8</c:f>
              <c:strCache>
                <c:ptCount val="7"/>
                <c:pt idx="0">
                  <c:v>10</c:v>
                </c:pt>
                <c:pt idx="1">
                  <c:v>25</c:v>
                </c:pt>
                <c:pt idx="2">
                  <c:v>40</c:v>
                </c:pt>
                <c:pt idx="3">
                  <c:v>55</c:v>
                </c:pt>
                <c:pt idx="4">
                  <c:v>70</c:v>
                </c:pt>
                <c:pt idx="5">
                  <c:v>85</c:v>
                </c:pt>
                <c:pt idx="6">
                  <c:v>100</c:v>
                </c:pt>
              </c:strCache>
            </c:strRef>
          </c:cat>
          <c:val>
            <c:numRef>
              <c:f>Sheet1!$B$2:$B$8</c:f>
              <c:numCache>
                <c:formatCode>General</c:formatCode>
                <c:ptCount val="7"/>
                <c:pt idx="0">
                  <c:v>1.5</c:v>
                </c:pt>
                <c:pt idx="1">
                  <c:v>0.72</c:v>
                </c:pt>
                <c:pt idx="2">
                  <c:v>0.46</c:v>
                </c:pt>
                <c:pt idx="3">
                  <c:v>0.35</c:v>
                </c:pt>
                <c:pt idx="4">
                  <c:v>0.28000000000000003</c:v>
                </c:pt>
                <c:pt idx="5">
                  <c:v>0.24</c:v>
                </c:pt>
                <c:pt idx="6">
                  <c:v>0.21</c:v>
                </c:pt>
              </c:numCache>
            </c:numRef>
          </c:val>
          <c:smooth val="0"/>
          <c:extLst>
            <c:ext xmlns:c16="http://schemas.microsoft.com/office/drawing/2014/chart" uri="{C3380CC4-5D6E-409C-BE32-E72D297353CC}">
              <c16:uniqueId val="{00000000-173E-CF46-B776-01D33B40FD9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5F5E5A"/>
                    </a:solidFill>
                    <a:latin typeface="Arial"/>
                  </a:defRPr>
                </a:pPr>
                <a:r>
                  <a:rPr lang="en-US" sz="1100" b="0" i="0" u="none" strike="noStrike">
                    <a:solidFill>
                      <a:srgbClr val="5F5E5A"/>
                    </a:solidFill>
                    <a:latin typeface="Arial"/>
                  </a:rPr>
                  <a:t>Utilization (active users)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2"/>
        <c:crosses val="autoZero"/>
        <c:auto val="1"/>
        <c:lblAlgn val="ctr"/>
        <c:lblOffset val="100"/>
        <c:noMultiLvlLbl val="1"/>
      </c:catAx>
      <c:valAx>
        <c:axId val="2094734552"/>
        <c:scaling>
          <c:orientation val="minMax"/>
          <c:max val="1.6"/>
          <c:min val="0"/>
        </c:scaling>
        <c:delete val="0"/>
        <c:axPos val="l"/>
        <c:title>
          <c:tx>
            <c:rich>
              <a:bodyPr/>
              <a:lstStyle/>
              <a:p>
                <a:pPr>
                  <a:defRPr sz="1100" b="0" i="0" u="none" strike="noStrike">
                    <a:solidFill>
                      <a:srgbClr val="5F5E5A"/>
                    </a:solidFill>
                    <a:latin typeface="Arial"/>
                  </a:defRPr>
                </a:pPr>
                <a:r>
                  <a:rPr lang="en-US" sz="1100" b="0" i="0" u="none" strike="noStrike">
                    <a:solidFill>
                      <a:srgbClr val="5F5E5A"/>
                    </a:solidFill>
                    <a:latin typeface="Arial"/>
                  </a:rPr>
                  <a:t>Cost per conversation</a:t>
                </a:r>
              </a:p>
            </c:rich>
          </c:tx>
          <c:overlay val="0"/>
        </c:title>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4"/>
        <c:crosses val="autoZero"/>
        <c:crossBetween val="between"/>
        <c:majorUnit val="0.4"/>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492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9286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27864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3082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4171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86753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3831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D05EB-EB4F-15C0-F666-81A44E33A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ADCD4-DD55-5634-FC71-602DD08EF6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7031E0-6916-58C0-E8E7-5630DD5355DD}"/>
              </a:ext>
            </a:extLst>
          </p:cNvPr>
          <p:cNvSpPr>
            <a:spLocks noGrp="1"/>
          </p:cNvSpPr>
          <p:nvPr>
            <p:ph type="body" idx="1"/>
          </p:nvPr>
        </p:nvSpPr>
        <p:spPr/>
        <p:txBody>
          <a:bodyPr/>
          <a:lstStyle/>
          <a:p>
            <a:pPr marL="0" marR="0" lvl="0" indent="0" algn="l" defTabSz="914400">
              <a:lnSpc>
                <a:spcPct val="100000"/>
              </a:lnSpc>
              <a:spcBef>
                <a:spcPts val="0"/>
              </a:spcBef>
              <a:spcAft>
                <a:spcPts val="0"/>
              </a:spcAft>
              <a:buNone/>
              <a:tabLst/>
              <a:defRPr/>
            </a:pPr>
            <a:r>
              <a:rPr lang="en-US" b="1" dirty="0">
                <a:solidFill>
                  <a:srgbClr val="101010"/>
                </a:solidFill>
                <a:latin typeface="Calibri"/>
              </a:rPr>
              <a:t>Ted</a:t>
            </a:r>
            <a:endParaRPr lang="en-US" dirty="0"/>
          </a:p>
          <a:p>
            <a:endParaRPr lang="en-US" dirty="0"/>
          </a:p>
        </p:txBody>
      </p:sp>
      <p:sp>
        <p:nvSpPr>
          <p:cNvPr id="4" name="Slide Number Placeholder 3">
            <a:extLst>
              <a:ext uri="{FF2B5EF4-FFF2-40B4-BE49-F238E27FC236}">
                <a16:creationId xmlns:a16="http://schemas.microsoft.com/office/drawing/2014/main" id="{A94C1B6E-B37F-63C8-F6D5-04BDB1111AD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8683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BE0F1-7A8D-8D34-E052-7CC52B3D97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BD36D-4603-576A-164C-53ADF56B3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9F7CE-D73B-2E86-2DAC-EE60009EE6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101010"/>
                </a:solidFill>
                <a:latin typeface="Calibri"/>
              </a:rPr>
              <a:t>Ted</a:t>
            </a:r>
            <a:endParaRPr lang="en-US" sz="1200" b="1" i="0" dirty="0">
              <a:solidFill>
                <a:srgbClr val="101010"/>
              </a:solidFill>
              <a:latin typeface="Calibri"/>
            </a:endParaRPr>
          </a:p>
          <a:p>
            <a:endParaRPr lang="en-US" dirty="0"/>
          </a:p>
        </p:txBody>
      </p:sp>
      <p:sp>
        <p:nvSpPr>
          <p:cNvPr id="4" name="Slide Number Placeholder 3">
            <a:extLst>
              <a:ext uri="{FF2B5EF4-FFF2-40B4-BE49-F238E27FC236}">
                <a16:creationId xmlns:a16="http://schemas.microsoft.com/office/drawing/2014/main" id="{765E665E-B2E1-3EE7-2DFB-00F05FDDFE2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004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using my laptop fire up </a:t>
            </a:r>
            <a:r>
              <a:rPr lang="en-US" dirty="0" err="1"/>
              <a:t>lm</a:t>
            </a:r>
            <a:r>
              <a:rPr lang="en-US" dirty="0"/>
              <a:t> studio</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101010"/>
                </a:solidFill>
                <a:latin typeface="Calibri"/>
              </a:rPr>
              <a:t>Ted</a:t>
            </a:r>
            <a:endParaRPr lang="en-US" sz="1200" b="1" i="0" dirty="0">
              <a:solidFill>
                <a:srgbClr val="101010"/>
              </a:solidFill>
              <a:latin typeface="Calibri"/>
              <a:ea typeface="Calibri"/>
              <a:cs typeface="Calibri"/>
            </a:endParaRP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60908-D4F9-846F-2053-34E73565C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54044-A509-C3A3-A873-0110DC57A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66384F-615A-6F0F-1F9B-FD7DC31FCD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101010"/>
                </a:solidFill>
                <a:latin typeface="Calibri"/>
              </a:rPr>
              <a:t>Ted</a:t>
            </a:r>
            <a:endParaRPr lang="en-US" sz="1200" b="1" i="0" dirty="0">
              <a:solidFill>
                <a:srgbClr val="101010"/>
              </a:solidFill>
              <a:latin typeface="Calibri"/>
              <a:ea typeface="Calibri"/>
              <a:cs typeface="Calibri"/>
            </a:endParaRPr>
          </a:p>
          <a:p>
            <a:endParaRPr lang="en-US" dirty="0"/>
          </a:p>
        </p:txBody>
      </p:sp>
      <p:sp>
        <p:nvSpPr>
          <p:cNvPr id="4" name="Slide Number Placeholder 3">
            <a:extLst>
              <a:ext uri="{FF2B5EF4-FFF2-40B4-BE49-F238E27FC236}">
                <a16:creationId xmlns:a16="http://schemas.microsoft.com/office/drawing/2014/main" id="{2F1480D7-876A-A681-7EBB-D472D17C458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9753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7ACC2-7CBB-D68E-B196-62D8C98CC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5A475-E95E-028A-8E81-1977E88CD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D5417-3C97-4972-18B5-55DC09C782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98C120-2E1C-FBE5-A200-A4D87186330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825412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241A33"/>
                </a:solidFill>
                <a:latin typeface="Courier New" pitchFamily="34" charset="0"/>
                <a:ea typeface="Courier New" pitchFamily="34" charset="-122"/>
                <a:cs typeface="Courier New" pitchFamily="34" charset="-120"/>
              </a:rPr>
              <a:t>C(t) = </a:t>
            </a:r>
            <a:r>
              <a:rPr lang="en-US" sz="1200" b="1" dirty="0" err="1">
                <a:solidFill>
                  <a:srgbClr val="241A33"/>
                </a:solidFill>
                <a:latin typeface="Courier New" pitchFamily="34" charset="0"/>
                <a:ea typeface="Courier New" pitchFamily="34" charset="-122"/>
                <a:cs typeface="Courier New" pitchFamily="34" charset="-120"/>
              </a:rPr>
              <a:t>Cmax</a:t>
            </a:r>
            <a:r>
              <a:rPr lang="en-US" sz="1200" b="1" dirty="0">
                <a:solidFill>
                  <a:srgbClr val="241A33"/>
                </a:solidFill>
                <a:latin typeface="Courier New" pitchFamily="34" charset="0"/>
                <a:ea typeface="Courier New" pitchFamily="34" charset="-122"/>
                <a:cs typeface="Courier New" pitchFamily="34" charset="-120"/>
              </a:rPr>
              <a:t> - (</a:t>
            </a:r>
            <a:r>
              <a:rPr lang="en-US" sz="1200" b="1" dirty="0" err="1">
                <a:solidFill>
                  <a:srgbClr val="241A33"/>
                </a:solidFill>
                <a:latin typeface="Courier New" pitchFamily="34" charset="0"/>
                <a:ea typeface="Courier New" pitchFamily="34" charset="-122"/>
                <a:cs typeface="Courier New" pitchFamily="34" charset="-120"/>
              </a:rPr>
              <a:t>Cmax</a:t>
            </a:r>
            <a:r>
              <a:rPr lang="en-US" sz="1200" b="1" dirty="0">
                <a:solidFill>
                  <a:srgbClr val="241A33"/>
                </a:solidFill>
                <a:latin typeface="Courier New" pitchFamily="34" charset="0"/>
                <a:ea typeface="Courier New" pitchFamily="34" charset="-122"/>
                <a:cs typeface="Courier New" pitchFamily="34" charset="-120"/>
              </a:rPr>
              <a:t> - </a:t>
            </a:r>
            <a:r>
              <a:rPr lang="en-US" sz="1200" b="1" dirty="0" err="1">
                <a:solidFill>
                  <a:srgbClr val="241A33"/>
                </a:solidFill>
                <a:latin typeface="Courier New" pitchFamily="34" charset="0"/>
                <a:ea typeface="Courier New" pitchFamily="34" charset="-122"/>
                <a:cs typeface="Courier New" pitchFamily="34" charset="-120"/>
              </a:rPr>
              <a:t>Cmin</a:t>
            </a:r>
            <a:r>
              <a:rPr lang="en-US" sz="1200" b="1" dirty="0">
                <a:solidFill>
                  <a:srgbClr val="241A33"/>
                </a:solidFill>
                <a:latin typeface="Courier New" pitchFamily="34" charset="0"/>
                <a:ea typeface="Courier New" pitchFamily="34" charset="-122"/>
                <a:cs typeface="Courier New" pitchFamily="34" charset="-120"/>
              </a:rPr>
              <a:t>) * e^(-r * t')</a:t>
            </a:r>
            <a:br>
              <a:rPr lang="en-US" dirty="0"/>
            </a:br>
            <a:r>
              <a:rPr lang="en-US" dirty="0"/>
              <a:t>At turn t, context size equals the max size minus the span from minimum to max, scaled by an exponential decay term (Euler's number, about 2.718, raised to negative rate times turns since the last compaction), which makes the context start low after each compaction and rise toward the maximum</a:t>
            </a:r>
            <a:br>
              <a:rPr lang="en-US" dirty="0"/>
            </a:br>
            <a:br>
              <a:rPr lang="en-US" dirty="0"/>
            </a:br>
            <a:r>
              <a:rPr lang="en-US" dirty="0"/>
              <a:t>C(t) = The context size in tokens at turn t (the value the equation solves for)</a:t>
            </a:r>
          </a:p>
          <a:p>
            <a:r>
              <a:rPr lang="en-US" dirty="0" err="1"/>
              <a:t>Cmax</a:t>
            </a:r>
            <a:r>
              <a:rPr lang="en-US" dirty="0"/>
              <a:t> = The maximum context size, the ceiling the curve grows toward (1,000,000 tokens in the slide)</a:t>
            </a:r>
          </a:p>
          <a:p>
            <a:r>
              <a:rPr lang="en-US" dirty="0" err="1"/>
              <a:t>Cmin</a:t>
            </a:r>
            <a:r>
              <a:rPr lang="en-US" dirty="0"/>
              <a:t> = The post-compaction minimum context size, the floor C(t) starts from right after each compaction (50,000 tokens in the slide)</a:t>
            </a:r>
          </a:p>
          <a:p>
            <a:r>
              <a:rPr lang="en-US" dirty="0"/>
              <a:t>(</a:t>
            </a:r>
            <a:r>
              <a:rPr lang="en-US" dirty="0" err="1"/>
              <a:t>Cmax</a:t>
            </a:r>
            <a:r>
              <a:rPr lang="en-US" dirty="0"/>
              <a:t> - </a:t>
            </a:r>
            <a:r>
              <a:rPr lang="en-US" dirty="0" err="1"/>
              <a:t>Cmin</a:t>
            </a:r>
            <a:r>
              <a:rPr lang="en-US" dirty="0"/>
              <a:t>) = The growth span, the total range the context can climb across in one cycle, from the floor up to the ceiling (950,000 tokens in the slide)</a:t>
            </a:r>
          </a:p>
          <a:p>
            <a:r>
              <a:rPr lang="en-US" dirty="0"/>
              <a:t>e  = Euler's number, about 2.718, the base of the natural exponential</a:t>
            </a:r>
          </a:p>
          <a:p>
            <a:r>
              <a:rPr lang="en-US" dirty="0"/>
              <a:t>-r = The negative growth rate, the constant that sets how fast the context climbs toward </a:t>
            </a:r>
            <a:r>
              <a:rPr lang="en-US" dirty="0" err="1"/>
              <a:t>Cmax</a:t>
            </a:r>
            <a:r>
              <a:rPr lang="en-US" dirty="0"/>
              <a:t> (r = 0.35 per turn in the slide; negative because it drives exponential decay of the gap to the ceiling)</a:t>
            </a:r>
          </a:p>
          <a:p>
            <a:r>
              <a:rPr lang="en-US" dirty="0"/>
              <a:t>t’ = Turns since the last compaction, which resets to 0 each time compaction fires (not the absolute turn number)</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br>
              <a:rPr lang="en-US" dirty="0"/>
            </a:br>
            <a:r>
              <a:rPr lang="en-US" sz="1200" b="1" dirty="0">
                <a:solidFill>
                  <a:srgbClr val="241A33"/>
                </a:solidFill>
                <a:latin typeface="Courier New" pitchFamily="34" charset="0"/>
                <a:ea typeface="Courier New" pitchFamily="34" charset="-122"/>
                <a:cs typeface="Courier New" pitchFamily="34" charset="-120"/>
              </a:rPr>
              <a:t>Cost(N) = SUM[t=1..N] ( 5*C(t) + 25*O ) / 1e6</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Cumulative cost through turn N is the sum over every turn of that turn's input tokens times $5 plus its output tokens times $25, divided by one million, so each turn re-adds the cost of the whole context plus the new output.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Cost(N) = The cumulative cost in dollars through turn N (the value the equation solves for)</a:t>
            </a:r>
          </a:p>
          <a:p>
            <a:r>
              <a:rPr lang="en-US" dirty="0"/>
              <a:t>SUM[t=1..N] = Sum over every turn from the first (t = 1) through turn N, adding up each turn's cost</a:t>
            </a:r>
          </a:p>
          <a:p>
            <a:r>
              <a:rPr lang="en-US" dirty="0"/>
              <a:t>t = The turn index being summed over, running from 1 to N</a:t>
            </a:r>
          </a:p>
          <a:p>
            <a:r>
              <a:rPr lang="en-US" dirty="0"/>
              <a:t>N = The turn through which the cost is accumulated (the last turn in the sum)</a:t>
            </a:r>
          </a:p>
          <a:p>
            <a:r>
              <a:rPr lang="en-US" dirty="0"/>
              <a:t>5 = The input price, $5 per million tokens</a:t>
            </a:r>
          </a:p>
          <a:p>
            <a:r>
              <a:rPr lang="en-US" dirty="0"/>
              <a:t>C(t) = The input tokens at turn t, equal to the context size re-sent that turn (from the other equation)</a:t>
            </a:r>
          </a:p>
          <a:p>
            <a:r>
              <a:rPr lang="en-US" dirty="0"/>
              <a:t>5 * C(t) = That turn's input cost, before scaling, in dollars per million tokens</a:t>
            </a:r>
          </a:p>
          <a:p>
            <a:r>
              <a:rPr lang="en-US" dirty="0"/>
              <a:t>25 = The output price, $25 per million tokens</a:t>
            </a:r>
          </a:p>
          <a:p>
            <a:r>
              <a:rPr lang="en-US" dirty="0"/>
              <a:t>O = The output tokens generated that turn (a constant 30,000 in the slide)</a:t>
            </a:r>
          </a:p>
          <a:p>
            <a:r>
              <a:rPr lang="en-US" dirty="0"/>
              <a:t>25 * O = That turn's output cost, before scaling, in dollars per million tokens</a:t>
            </a:r>
          </a:p>
          <a:p>
            <a:r>
              <a:rPr lang="en-US" dirty="0"/>
              <a:t>1e6 = One million (10^6), the divisor that converts the per-million prices into actual dollars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panels deliberately do not share one cost model. Panels 1 and 2 are consumption-world per-conversation cost: no cache vs cached KV at the same API rate. Panel 3 changes the axis on purpose: for fixed GPU capex, per-conversation cost falls as utilization rises, so the objective flips from consume less to utilize more. Numbers are current ballpark figures as of mid-2026.</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FA703-F8CB-616A-93F7-81C980A37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487FC-55E3-5C8A-1F83-7B44B9E77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B0EF7-47E7-0210-FB39-39F8112624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D82D5F-49DA-4B2E-D5D4-A3FBB27DBAF1}"/>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837110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08C81-F54B-E993-2DCB-24BD7401F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17476C-67F5-5804-81B7-FA21FB57F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772AF-CDC8-1F7A-13FC-E7E4ACF683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FD0CE5-C58A-05D9-CD02-AAD357FBF89B}"/>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6616129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Doone at 33:30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lunch. Remind students the system prompt they save here is the one they will extend in the Repo 1 Build this afternoon.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xml"/><Relationship Id="rId4" Type="http://schemas.openxmlformats.org/officeDocument/2006/relationships/image" Target="../media/image3.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mp; Subtitl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nchor="t">
            <a:spAutoFit/>
          </a:bodyPr>
          <a:lstStyle>
            <a:lvl1pPr>
              <a:defRPr sz="3200">
                <a:solidFill>
                  <a:schemeClr val="bg1"/>
                </a:solidFill>
                <a:latin typeface="Arial"/>
              </a:defRPr>
            </a:lvl1pPr>
          </a:lstStyle>
          <a:p>
            <a:r>
              <a:rPr lang="en-US"/>
              <a:t>Click to edit Master title style</a:t>
            </a:r>
          </a:p>
        </p:txBody>
      </p:sp>
      <p:sp>
        <p:nvSpPr>
          <p:cNvPr id="3" name="Subtitle 2"/>
          <p:cNvSpPr>
            <a:spLocks noGrp="1"/>
          </p:cNvSpPr>
          <p:nvPr>
            <p:ph type="subTitle" idx="1"/>
          </p:nvPr>
        </p:nvSpPr>
        <p:spPr>
          <a:xfrm>
            <a:off x="381000" y="857250"/>
            <a:ext cx="11430000" cy="246221"/>
          </a:xfrm>
          <a:prstGeom prst="rect">
            <a:avLst/>
          </a:prstGeom>
        </p:spPr>
        <p:txBody>
          <a:bodyPr wrap="square" lIns="0" tIns="0" rIns="0" bIns="0">
            <a:spAutoFit/>
          </a:bodyPr>
          <a:lstStyle>
            <a:lvl1pPr marL="0" indent="0" algn="l">
              <a:lnSpc>
                <a:spcPct val="100000"/>
              </a:lnSpc>
              <a:spcBef>
                <a:spcPts val="0"/>
              </a:spcBef>
              <a:buNone/>
              <a:defRPr sz="1600">
                <a:solidFill>
                  <a:schemeClr val="bg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60561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E3816-F2C0-B26C-72BD-B53B8DDDFA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05A158-5ACD-5467-C43B-DFF19A5FA1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026530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BD87-B7CE-57F0-82CF-67DA40FBB4F5}"/>
              </a:ext>
            </a:extLst>
          </p:cNvPr>
          <p:cNvSpPr>
            <a:spLocks noGrp="1"/>
          </p:cNvSpPr>
          <p:nvPr>
            <p:ph type="title"/>
          </p:nvPr>
        </p:nvSpPr>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450F9AB4-7712-6123-3CED-9B6FC7F6AD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6791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41927-74BE-CF14-98ED-4C9B9726B8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86ED14-E5C5-E9EB-DCA9-92995D4325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3985795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41D1B-02AB-BCC8-F7B4-AA79ED58B942}"/>
              </a:ext>
            </a:extLst>
          </p:cNvPr>
          <p:cNvSpPr>
            <a:spLocks noGrp="1"/>
          </p:cNvSpPr>
          <p:nvPr>
            <p:ph type="title"/>
          </p:nvPr>
        </p:nvSpPr>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B3C07E1E-4883-06E3-B166-5DF78402D4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A2F557-FF29-0159-15B2-7F8B6DD7FF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9870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48BCF-5711-CA03-0A00-80F20B1956BE}"/>
              </a:ext>
            </a:extLst>
          </p:cNvPr>
          <p:cNvSpPr>
            <a:spLocks noGrp="1"/>
          </p:cNvSpPr>
          <p:nvPr>
            <p:ph type="title"/>
          </p:nvPr>
        </p:nvSpPr>
        <p:spPr>
          <a:xfrm>
            <a:off x="839788" y="365125"/>
            <a:ext cx="10515600" cy="1005840"/>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0251D69A-B0A0-2034-2A98-E6C78992C0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3F8756-22A1-BC79-8C37-0AFD11100A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04228D-44ED-F589-A177-091BC1FDC1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6CEA1D-F584-39E9-859D-1EAE05B6AA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6938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9EA80-9FA0-F622-0656-A169CCDD1DCC}"/>
              </a:ext>
            </a:extLst>
          </p:cNvPr>
          <p:cNvSpPr>
            <a:spLocks noGrp="1"/>
          </p:cNvSpPr>
          <p:nvPr>
            <p:ph type="title"/>
          </p:nvPr>
        </p:nvSpPr>
        <p:spPr/>
        <p:txBody>
          <a:bodyPr anchor="t"/>
          <a:lstStyle/>
          <a:p>
            <a:r>
              <a:rPr lang="en-US"/>
              <a:t>Click to edit Master title style</a:t>
            </a:r>
          </a:p>
        </p:txBody>
      </p:sp>
    </p:spTree>
    <p:extLst>
      <p:ext uri="{BB962C8B-B14F-4D97-AF65-F5344CB8AC3E}">
        <p14:creationId xmlns:p14="http://schemas.microsoft.com/office/powerpoint/2010/main" val="2799117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3555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56769-E817-9F9A-E2E1-1E646991F2CD}"/>
              </a:ext>
            </a:extLst>
          </p:cNvPr>
          <p:cNvSpPr>
            <a:spLocks noGrp="1"/>
          </p:cNvSpPr>
          <p:nvPr>
            <p:ph type="title"/>
          </p:nvPr>
        </p:nvSpPr>
        <p:spPr>
          <a:xfrm>
            <a:off x="839788" y="457200"/>
            <a:ext cx="3932237" cy="1005840"/>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28DE6E-D519-839B-CC35-1BAF0BFA87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AAC8C3-16B4-8A91-3188-E4CDA78023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26276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ED969-23DC-90E5-5DC4-8B9697F2F3D8}"/>
              </a:ext>
            </a:extLst>
          </p:cNvPr>
          <p:cNvSpPr>
            <a:spLocks noGrp="1"/>
          </p:cNvSpPr>
          <p:nvPr>
            <p:ph type="title"/>
          </p:nvPr>
        </p:nvSpPr>
        <p:spPr>
          <a:xfrm>
            <a:off x="839788" y="457200"/>
            <a:ext cx="3932237" cy="1005840"/>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11E4F2-D02E-0296-8171-1E1AC89632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E10EFC-F315-2AA9-8B52-6750DA23CE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44165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A695B-9F32-0674-2C08-4D2754A1B492}"/>
              </a:ext>
            </a:extLst>
          </p:cNvPr>
          <p:cNvSpPr>
            <a:spLocks noGrp="1"/>
          </p:cNvSpPr>
          <p:nvPr>
            <p:ph type="title"/>
          </p:nvPr>
        </p:nvSpPr>
        <p:spPr/>
        <p:txBody>
          <a:bodyPr anchor="t"/>
          <a:lstStyle/>
          <a:p>
            <a:r>
              <a:rPr lang="en-US"/>
              <a:t>Click to edit Master title style</a:t>
            </a:r>
          </a:p>
        </p:txBody>
      </p:sp>
      <p:sp>
        <p:nvSpPr>
          <p:cNvPr id="3" name="Vertical Text Placeholder 2">
            <a:extLst>
              <a:ext uri="{FF2B5EF4-FFF2-40B4-BE49-F238E27FC236}">
                <a16:creationId xmlns:a16="http://schemas.microsoft.com/office/drawing/2014/main" id="{DECF1D59-AC73-1336-984F-89FFD55337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5960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F16CA5-D812-C092-1D99-9B1E97674BD1}"/>
              </a:ext>
            </a:extLst>
          </p:cNvPr>
          <p:cNvSpPr>
            <a:spLocks noGrp="1"/>
          </p:cNvSpPr>
          <p:nvPr>
            <p:ph type="title" orient="vert"/>
          </p:nvPr>
        </p:nvSpPr>
        <p:spPr>
          <a:xfrm>
            <a:off x="8724900" y="365125"/>
            <a:ext cx="2628900" cy="1005840"/>
          </a:xfrm>
        </p:spPr>
        <p:txBody>
          <a:bodyPr vert="eaVert" anchor="t"/>
          <a:lstStyle/>
          <a:p>
            <a:r>
              <a:rPr lang="en-US"/>
              <a:t>Click to edit Master title style</a:t>
            </a:r>
          </a:p>
        </p:txBody>
      </p:sp>
      <p:sp>
        <p:nvSpPr>
          <p:cNvPr id="3" name="Vertical Text Placeholder 2">
            <a:extLst>
              <a:ext uri="{FF2B5EF4-FFF2-40B4-BE49-F238E27FC236}">
                <a16:creationId xmlns:a16="http://schemas.microsoft.com/office/drawing/2014/main" id="{C34BFE93-4602-A41E-9A28-B676576B33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7859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Agenda">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95DA-6F2D-4DB9-A4B6-50D3D1C65809}"/>
              </a:ext>
            </a:extLst>
          </p:cNvPr>
          <p:cNvSpPr>
            <a:spLocks noGrp="1"/>
          </p:cNvSpPr>
          <p:nvPr>
            <p:ph type="title"/>
          </p:nvPr>
        </p:nvSpPr>
        <p:spPr>
          <a:xfrm>
            <a:off x="378759" y="5090333"/>
            <a:ext cx="9715500" cy="747897"/>
          </a:xfrm>
          <a:prstGeom prst="rect">
            <a:avLst/>
          </a:prstGeom>
        </p:spPr>
        <p:txBody>
          <a:bodyPr wrap="square" lIns="0" tIns="0" rIns="0" bIns="0" anchor="t" anchorCtr="0">
            <a:spAutoFit/>
          </a:bodyPr>
          <a:lstStyle>
            <a:lvl1pPr>
              <a:lnSpc>
                <a:spcPct val="90000"/>
              </a:lnSpc>
              <a:defRPr sz="5400">
                <a:solidFill>
                  <a:srgbClr val="E5F8FF"/>
                </a:solidFill>
                <a:latin typeface="Arial" panose="020B03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5C487A85-65B5-4371-833A-AD6EFF69F55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ext Placeholder 4">
            <a:extLst>
              <a:ext uri="{FF2B5EF4-FFF2-40B4-BE49-F238E27FC236}">
                <a16:creationId xmlns:a16="http://schemas.microsoft.com/office/drawing/2014/main" id="{31E00A8F-8F29-4705-8469-E9075A8C1BA9}"/>
              </a:ext>
            </a:extLst>
          </p:cNvPr>
          <p:cNvSpPr>
            <a:spLocks noGrp="1"/>
          </p:cNvSpPr>
          <p:nvPr>
            <p:ph type="body" sz="quarter" idx="10"/>
          </p:nvPr>
        </p:nvSpPr>
        <p:spPr>
          <a:xfrm>
            <a:off x="8343900" y="914400"/>
            <a:ext cx="3467100" cy="2514600"/>
          </a:xfrm>
          <a:prstGeom prst="rect">
            <a:avLst/>
          </a:prstGeom>
        </p:spPr>
        <p:txBody>
          <a:bodyPr lIns="0" tIns="0" rIns="0" bIns="0"/>
          <a:lstStyle>
            <a:lvl1pPr>
              <a:lnSpc>
                <a:spcPct val="100000"/>
              </a:lnSpc>
              <a:spcBef>
                <a:spcPts val="1200"/>
              </a:spcBef>
              <a:buClr>
                <a:schemeClr val="bg1"/>
              </a:buClr>
              <a:defRPr sz="2000">
                <a:solidFill>
                  <a:schemeClr val="tx2"/>
                </a:solidFill>
              </a:defRPr>
            </a:lvl1pPr>
            <a:lvl2pPr marL="741363" indent="-284163">
              <a:lnSpc>
                <a:spcPct val="100000"/>
              </a:lnSpc>
              <a:spcBef>
                <a:spcPts val="600"/>
              </a:spcBef>
              <a:buClr>
                <a:schemeClr val="bg1"/>
              </a:buClr>
              <a:buFont typeface="Arial" panose="020B0604020202020204" pitchFamily="34" charset="0"/>
              <a:buChar char="–"/>
              <a:defRPr sz="1800">
                <a:solidFill>
                  <a:schemeClr val="tx2"/>
                </a:solidFill>
              </a:defRPr>
            </a:lvl2pPr>
            <a:lvl3pPr marL="1142971" indent="-228594">
              <a:lnSpc>
                <a:spcPct val="100000"/>
              </a:lnSpc>
              <a:spcBef>
                <a:spcPts val="600"/>
              </a:spcBef>
              <a:buClr>
                <a:schemeClr val="bg1"/>
              </a:buClr>
              <a:buFont typeface="Wingdings" panose="05000000000000000000" pitchFamily="2" charset="2"/>
              <a:buChar cha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747571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ver">
    <p:bg>
      <p:bgPr>
        <a:solidFill>
          <a:srgbClr val="FFFFFF"/>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A49A41B-9CF1-4CD6-B1E3-F736C63833B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01171" y="6172200"/>
            <a:ext cx="2743200" cy="356618"/>
          </a:xfrm>
          <a:prstGeom prst="rect">
            <a:avLst/>
          </a:prstGeom>
        </p:spPr>
      </p:pic>
      <p:sp>
        <p:nvSpPr>
          <p:cNvPr id="11" name="Subtitle 2">
            <a:extLst>
              <a:ext uri="{FF2B5EF4-FFF2-40B4-BE49-F238E27FC236}">
                <a16:creationId xmlns:a16="http://schemas.microsoft.com/office/drawing/2014/main" id="{A67014B0-AEAB-4CC8-BCED-661FF1CA2731}"/>
              </a:ext>
            </a:extLst>
          </p:cNvPr>
          <p:cNvSpPr>
            <a:spLocks noGrp="1"/>
          </p:cNvSpPr>
          <p:nvPr>
            <p:ph type="subTitle" idx="1"/>
          </p:nvPr>
        </p:nvSpPr>
        <p:spPr>
          <a:xfrm>
            <a:off x="381000" y="4204926"/>
            <a:ext cx="7971108" cy="723900"/>
          </a:xfrm>
          <a:prstGeom prst="rect">
            <a:avLst/>
          </a:prstGeom>
        </p:spPr>
        <p:txBody>
          <a:bodyPr lIns="0" tIns="0" rIns="0" bIns="0"/>
          <a:lstStyle>
            <a:lvl1pPr marL="0" indent="0" algn="l">
              <a:lnSpc>
                <a:spcPct val="100000"/>
              </a:lnSpc>
              <a:spcBef>
                <a:spcPts val="0"/>
              </a:spcBef>
              <a:buNone/>
              <a:defRPr sz="1800">
                <a:solidFill>
                  <a:schemeClr val="tx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6" name="Rectangle 5">
            <a:extLst>
              <a:ext uri="{FF2B5EF4-FFF2-40B4-BE49-F238E27FC236}">
                <a16:creationId xmlns:a16="http://schemas.microsoft.com/office/drawing/2014/main" id="{2E5D8143-A159-4278-916B-DB3850ADE74C}"/>
              </a:ext>
              <a:ext uri="{C183D7F6-B498-43B3-948B-1728B52AA6E4}">
                <adec:decorative xmlns:adec="http://schemas.microsoft.com/office/drawing/2017/decorative" val="1"/>
              </a:ext>
            </a:extLst>
          </p:cNvPr>
          <p:cNvSpPr>
            <a:spLocks noChangeAspect="1"/>
          </p:cNvSpPr>
          <p:nvPr/>
        </p:nvSpPr>
        <p:spPr>
          <a:xfrm>
            <a:off x="381000" y="342900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8" name="Title 1">
            <a:extLst>
              <a:ext uri="{FF2B5EF4-FFF2-40B4-BE49-F238E27FC236}">
                <a16:creationId xmlns:a16="http://schemas.microsoft.com/office/drawing/2014/main" id="{47F5323D-6831-4D66-AAB2-4C1920E06475}"/>
              </a:ext>
            </a:extLst>
          </p:cNvPr>
          <p:cNvSpPr>
            <a:spLocks noGrp="1"/>
          </p:cNvSpPr>
          <p:nvPr>
            <p:ph type="title"/>
          </p:nvPr>
        </p:nvSpPr>
        <p:spPr>
          <a:xfrm>
            <a:off x="381000" y="1738312"/>
            <a:ext cx="7969282" cy="1005840"/>
          </a:xfrm>
          <a:prstGeom prst="rect">
            <a:avLst/>
          </a:prstGeom>
        </p:spPr>
        <p:txBody>
          <a:bodyPr wrap="square" lIns="0" tIns="0" rIns="0" bIns="0" anchor="t" anchorCtr="0">
            <a:spAutoFit/>
          </a:bodyPr>
          <a:lstStyle>
            <a:lvl1pPr>
              <a:defRPr lang="en-US" sz="5400" dirty="0">
                <a:solidFill>
                  <a:srgbClr val="E5F8FF"/>
                </a:solidFill>
                <a:latin typeface="Arial" panose="020B0304020202020204" pitchFamily="34" charset="0"/>
              </a:defRPr>
            </a:lvl1pPr>
          </a:lstStyle>
          <a:p>
            <a:pPr marL="0" lvl="0"/>
            <a:r>
              <a:rPr lang="en-US"/>
              <a:t>Click to edit Master title style</a:t>
            </a:r>
          </a:p>
        </p:txBody>
      </p:sp>
    </p:spTree>
    <p:extLst>
      <p:ext uri="{BB962C8B-B14F-4D97-AF65-F5344CB8AC3E}">
        <p14:creationId xmlns:p14="http://schemas.microsoft.com/office/powerpoint/2010/main" val="1043772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ver2">
    <p:bg>
      <p:bgPr>
        <a:solidFill>
          <a:srgbClr val="FFFFFF"/>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A49A41B-9CF1-4CD6-B1E3-F736C63833B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01171" y="6172200"/>
            <a:ext cx="2743200" cy="356618"/>
          </a:xfrm>
          <a:prstGeom prst="rect">
            <a:avLst/>
          </a:prstGeom>
        </p:spPr>
      </p:pic>
      <p:sp>
        <p:nvSpPr>
          <p:cNvPr id="11" name="Subtitle 2">
            <a:extLst>
              <a:ext uri="{FF2B5EF4-FFF2-40B4-BE49-F238E27FC236}">
                <a16:creationId xmlns:a16="http://schemas.microsoft.com/office/drawing/2014/main" id="{A67014B0-AEAB-4CC8-BCED-661FF1CA2731}"/>
              </a:ext>
            </a:extLst>
          </p:cNvPr>
          <p:cNvSpPr>
            <a:spLocks noGrp="1"/>
          </p:cNvSpPr>
          <p:nvPr>
            <p:ph type="subTitle" idx="1"/>
          </p:nvPr>
        </p:nvSpPr>
        <p:spPr>
          <a:xfrm>
            <a:off x="381000" y="4204926"/>
            <a:ext cx="7971108" cy="723900"/>
          </a:xfrm>
          <a:prstGeom prst="rect">
            <a:avLst/>
          </a:prstGeom>
        </p:spPr>
        <p:txBody>
          <a:bodyPr lIns="0" tIns="0" rIns="0" bIns="0"/>
          <a:lstStyle>
            <a:lvl1pPr marL="0" indent="0" algn="l">
              <a:lnSpc>
                <a:spcPct val="100000"/>
              </a:lnSpc>
              <a:spcBef>
                <a:spcPts val="0"/>
              </a:spcBef>
              <a:buNone/>
              <a:defRPr sz="1800">
                <a:solidFill>
                  <a:schemeClr val="tx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6" name="Rectangle 5">
            <a:extLst>
              <a:ext uri="{FF2B5EF4-FFF2-40B4-BE49-F238E27FC236}">
                <a16:creationId xmlns:a16="http://schemas.microsoft.com/office/drawing/2014/main" id="{2E5D8143-A159-4278-916B-DB3850ADE74C}"/>
              </a:ext>
              <a:ext uri="{C183D7F6-B498-43B3-948B-1728B52AA6E4}">
                <adec:decorative xmlns:adec="http://schemas.microsoft.com/office/drawing/2017/decorative" val="1"/>
              </a:ext>
            </a:extLst>
          </p:cNvPr>
          <p:cNvSpPr>
            <a:spLocks noChangeAspect="1"/>
          </p:cNvSpPr>
          <p:nvPr/>
        </p:nvSpPr>
        <p:spPr>
          <a:xfrm>
            <a:off x="381000" y="342900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8" name="Title 1">
            <a:extLst>
              <a:ext uri="{FF2B5EF4-FFF2-40B4-BE49-F238E27FC236}">
                <a16:creationId xmlns:a16="http://schemas.microsoft.com/office/drawing/2014/main" id="{47F5323D-6831-4D66-AAB2-4C1920E06475}"/>
              </a:ext>
            </a:extLst>
          </p:cNvPr>
          <p:cNvSpPr>
            <a:spLocks noGrp="1"/>
          </p:cNvSpPr>
          <p:nvPr>
            <p:ph type="title"/>
          </p:nvPr>
        </p:nvSpPr>
        <p:spPr>
          <a:xfrm>
            <a:off x="381000" y="1738312"/>
            <a:ext cx="7969282" cy="1005840"/>
          </a:xfrm>
          <a:prstGeom prst="rect">
            <a:avLst/>
          </a:prstGeom>
        </p:spPr>
        <p:txBody>
          <a:bodyPr wrap="square" lIns="0" tIns="0" rIns="0" bIns="0" anchor="t" anchorCtr="0">
            <a:spAutoFit/>
          </a:bodyPr>
          <a:lstStyle>
            <a:lvl1pPr>
              <a:defRPr lang="en-US" sz="5400" dirty="0">
                <a:solidFill>
                  <a:srgbClr val="E5F8FF"/>
                </a:solidFill>
                <a:effectLst>
                  <a:glow rad="127000">
                    <a:srgbClr val="0D32A4"/>
                  </a:glow>
                </a:effectLst>
                <a:latin typeface="Arial" panose="020B0304020202020204" pitchFamily="34" charset="0"/>
              </a:defRPr>
            </a:lvl1pPr>
          </a:lstStyle>
          <a:p>
            <a:pPr marL="0" lvl="0"/>
            <a:r>
              <a:rPr lang="en-US"/>
              <a:t>Click to edit Master title style</a:t>
            </a:r>
          </a:p>
        </p:txBody>
      </p:sp>
    </p:spTree>
    <p:extLst>
      <p:ext uri="{BB962C8B-B14F-4D97-AF65-F5344CB8AC3E}">
        <p14:creationId xmlns:p14="http://schemas.microsoft.com/office/powerpoint/2010/main" val="1768654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95DA-6F2D-4DB9-A4B6-50D3D1C65809}"/>
              </a:ext>
            </a:extLst>
          </p:cNvPr>
          <p:cNvSpPr>
            <a:spLocks noGrp="1"/>
          </p:cNvSpPr>
          <p:nvPr>
            <p:ph type="title"/>
          </p:nvPr>
        </p:nvSpPr>
        <p:spPr>
          <a:xfrm>
            <a:off x="378759" y="5090333"/>
            <a:ext cx="9715500" cy="747897"/>
          </a:xfrm>
          <a:prstGeom prst="rect">
            <a:avLst/>
          </a:prstGeom>
        </p:spPr>
        <p:txBody>
          <a:bodyPr wrap="square" lIns="0" tIns="0" rIns="0" bIns="0" anchor="t" anchorCtr="0">
            <a:spAutoFit/>
          </a:bodyPr>
          <a:lstStyle>
            <a:lvl1pPr>
              <a:lnSpc>
                <a:spcPct val="90000"/>
              </a:lnSpc>
              <a:defRPr sz="5400">
                <a:solidFill>
                  <a:srgbClr val="E5F8FF"/>
                </a:solidFill>
                <a:latin typeface="Arial" panose="020B03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5C487A85-65B5-4371-833A-AD6EFF69F55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ext Placeholder 4">
            <a:extLst>
              <a:ext uri="{FF2B5EF4-FFF2-40B4-BE49-F238E27FC236}">
                <a16:creationId xmlns:a16="http://schemas.microsoft.com/office/drawing/2014/main" id="{31E00A8F-8F29-4705-8469-E9075A8C1BA9}"/>
              </a:ext>
            </a:extLst>
          </p:cNvPr>
          <p:cNvSpPr>
            <a:spLocks noGrp="1"/>
          </p:cNvSpPr>
          <p:nvPr>
            <p:ph type="body" sz="quarter" idx="10"/>
          </p:nvPr>
        </p:nvSpPr>
        <p:spPr>
          <a:xfrm>
            <a:off x="8343900" y="914400"/>
            <a:ext cx="3467100" cy="2514600"/>
          </a:xfrm>
          <a:prstGeom prst="rect">
            <a:avLst/>
          </a:prstGeom>
        </p:spPr>
        <p:txBody>
          <a:bodyPr lIns="0" tIns="0" rIns="0" bIns="0"/>
          <a:lstStyle>
            <a:lvl1pPr>
              <a:lnSpc>
                <a:spcPct val="100000"/>
              </a:lnSpc>
              <a:spcBef>
                <a:spcPts val="1200"/>
              </a:spcBef>
              <a:buClr>
                <a:schemeClr val="bg1"/>
              </a:buClr>
              <a:defRPr sz="2000">
                <a:solidFill>
                  <a:schemeClr val="tx2"/>
                </a:solidFill>
              </a:defRPr>
            </a:lvl1pPr>
            <a:lvl2pPr marL="741363" indent="-284163">
              <a:lnSpc>
                <a:spcPct val="100000"/>
              </a:lnSpc>
              <a:spcBef>
                <a:spcPts val="600"/>
              </a:spcBef>
              <a:buClr>
                <a:schemeClr val="bg1"/>
              </a:buClr>
              <a:buFont typeface="Arial" panose="020B0604020202020204" pitchFamily="34" charset="0"/>
              <a:buChar char="–"/>
              <a:defRPr sz="1800">
                <a:solidFill>
                  <a:schemeClr val="tx2"/>
                </a:solidFill>
              </a:defRPr>
            </a:lvl2pPr>
            <a:lvl3pPr marL="1142971" indent="-228594">
              <a:lnSpc>
                <a:spcPct val="100000"/>
              </a:lnSpc>
              <a:spcBef>
                <a:spcPts val="600"/>
              </a:spcBef>
              <a:buClr>
                <a:schemeClr val="bg1"/>
              </a:buClr>
              <a:buFont typeface="Wingdings" panose="05000000000000000000" pitchFamily="2" charset="2"/>
              <a:buChar cha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380376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vider blue">
    <p:bg>
      <p:bgPr>
        <a:solidFill>
          <a:srgbClr val="FFFFFF"/>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itle 1">
            <a:extLst>
              <a:ext uri="{FF2B5EF4-FFF2-40B4-BE49-F238E27FC236}">
                <a16:creationId xmlns:a16="http://schemas.microsoft.com/office/drawing/2014/main" id="{D7D3C83F-1685-4A4A-8993-74D3219027D6}"/>
              </a:ext>
            </a:extLst>
          </p:cNvPr>
          <p:cNvSpPr>
            <a:spLocks noGrp="1"/>
          </p:cNvSpPr>
          <p:nvPr>
            <p:ph type="title"/>
          </p:nvPr>
        </p:nvSpPr>
        <p:spPr>
          <a:xfrm>
            <a:off x="381000" y="4343400"/>
            <a:ext cx="8027894" cy="1495794"/>
          </a:xfrm>
          <a:prstGeom prst="rect">
            <a:avLst/>
          </a:prstGeom>
        </p:spPr>
        <p:txBody>
          <a:bodyPr wrap="square" lIns="0" tIns="0" rIns="0" bIns="0" anchor="b" anchorCtr="0">
            <a:spAutoFit/>
          </a:bodyPr>
          <a:lstStyle>
            <a:lvl1pPr>
              <a:defRPr lang="en-US" sz="5400" dirty="0">
                <a:solidFill>
                  <a:srgbClr val="E5F8FF"/>
                </a:solidFill>
                <a:latin typeface="Arial" panose="020B0304020202020204" pitchFamily="34" charset="0"/>
              </a:defRPr>
            </a:lvl1pPr>
          </a:lstStyle>
          <a:p>
            <a:pPr lvl="0"/>
            <a:r>
              <a:rPr lang="en-US"/>
              <a:t>Click to edit Master title style</a:t>
            </a:r>
          </a:p>
        </p:txBody>
      </p:sp>
      <p:sp>
        <p:nvSpPr>
          <p:cNvPr id="7" name="Rectangle 6">
            <a:extLst>
              <a:ext uri="{FF2B5EF4-FFF2-40B4-BE49-F238E27FC236}">
                <a16:creationId xmlns:a16="http://schemas.microsoft.com/office/drawing/2014/main" id="{B5B0BFDB-C4BC-4E6F-8090-A00E82B41E85}"/>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3" name="Text Placeholder 2">
            <a:extLst>
              <a:ext uri="{FF2B5EF4-FFF2-40B4-BE49-F238E27FC236}">
                <a16:creationId xmlns:a16="http://schemas.microsoft.com/office/drawing/2014/main" id="{9AF30D4F-5FE4-4AA6-812B-A00AFC98112E}"/>
              </a:ext>
            </a:extLst>
          </p:cNvPr>
          <p:cNvSpPr>
            <a:spLocks noGrp="1"/>
          </p:cNvSpPr>
          <p:nvPr>
            <p:ph type="body" sz="quarter" idx="10"/>
          </p:nvPr>
        </p:nvSpPr>
        <p:spPr>
          <a:xfrm>
            <a:off x="1066799" y="349478"/>
            <a:ext cx="7315201" cy="215444"/>
          </a:xfrm>
          <a:prstGeom prst="rect">
            <a:avLst/>
          </a:prstGeom>
        </p:spPr>
        <p:txBody>
          <a:bodyPr lIns="0" tIns="0" rIns="0" bIns="0">
            <a:spAutoFit/>
          </a:bodyPr>
          <a:lstStyle>
            <a:lvl1pPr marL="0" indent="0">
              <a:lnSpc>
                <a:spcPct val="100000"/>
              </a:lnSpc>
              <a:buNone/>
              <a:defRPr sz="1400" cap="all" spc="300" baseline="0">
                <a:solidFill>
                  <a:schemeClr val="tx2"/>
                </a:solidFill>
              </a:defRPr>
            </a:lvl1pPr>
            <a:lvl2pPr marL="457189" indent="0">
              <a:buNone/>
              <a:defRPr/>
            </a:lvl2pPr>
            <a:lvl3pPr marL="914377" indent="0">
              <a:buNone/>
              <a:defRPr/>
            </a:lvl3pPr>
            <a:lvl4pPr marL="1371566" indent="0">
              <a:buNone/>
              <a:defRPr/>
            </a:lvl4pPr>
            <a:lvl5pPr marL="1828755" indent="0">
              <a:buNone/>
              <a:defRPr/>
            </a:lvl5pPr>
          </a:lstStyle>
          <a:p>
            <a:pPr lvl="0"/>
            <a:r>
              <a:rPr lang="en-US"/>
              <a:t>Click to edit Master text styles</a:t>
            </a:r>
          </a:p>
        </p:txBody>
      </p:sp>
    </p:spTree>
    <p:extLst>
      <p:ext uri="{BB962C8B-B14F-4D97-AF65-F5344CB8AC3E}">
        <p14:creationId xmlns:p14="http://schemas.microsoft.com/office/powerpoint/2010/main" val="1405201022"/>
      </p:ext>
    </p:extLst>
  </p:cSld>
  <p:clrMapOvr>
    <a:masterClrMapping/>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blue2">
    <p:bg>
      <p:bgPr>
        <a:solidFill>
          <a:srgbClr val="FFFFFF"/>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itle 1">
            <a:extLst>
              <a:ext uri="{FF2B5EF4-FFF2-40B4-BE49-F238E27FC236}">
                <a16:creationId xmlns:a16="http://schemas.microsoft.com/office/drawing/2014/main" id="{D7D3C83F-1685-4A4A-8993-74D3219027D6}"/>
              </a:ext>
            </a:extLst>
          </p:cNvPr>
          <p:cNvSpPr>
            <a:spLocks noGrp="1"/>
          </p:cNvSpPr>
          <p:nvPr>
            <p:ph type="title"/>
          </p:nvPr>
        </p:nvSpPr>
        <p:spPr>
          <a:xfrm>
            <a:off x="381000" y="3595503"/>
            <a:ext cx="4457700" cy="2243691"/>
          </a:xfrm>
          <a:prstGeom prst="rect">
            <a:avLst/>
          </a:prstGeom>
        </p:spPr>
        <p:txBody>
          <a:bodyPr wrap="square" lIns="0" tIns="0" rIns="0" bIns="0" anchor="b" anchorCtr="0">
            <a:spAutoFit/>
          </a:bodyPr>
          <a:lstStyle>
            <a:lvl1pPr>
              <a:defRPr lang="en-US" sz="5400" dirty="0">
                <a:solidFill>
                  <a:srgbClr val="E5F8FF"/>
                </a:solidFill>
                <a:latin typeface="Arial" panose="020B0304020202020204" pitchFamily="34" charset="0"/>
              </a:defRPr>
            </a:lvl1pPr>
          </a:lstStyle>
          <a:p>
            <a:pPr lvl="0"/>
            <a:r>
              <a:rPr lang="en-US"/>
              <a:t>Click to edit Master title style</a:t>
            </a:r>
          </a:p>
        </p:txBody>
      </p:sp>
      <p:sp>
        <p:nvSpPr>
          <p:cNvPr id="7" name="Rectangle 6">
            <a:extLst>
              <a:ext uri="{FF2B5EF4-FFF2-40B4-BE49-F238E27FC236}">
                <a16:creationId xmlns:a16="http://schemas.microsoft.com/office/drawing/2014/main" id="{B5B0BFDB-C4BC-4E6F-8090-A00E82B41E85}"/>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3" name="Text Placeholder 2">
            <a:extLst>
              <a:ext uri="{FF2B5EF4-FFF2-40B4-BE49-F238E27FC236}">
                <a16:creationId xmlns:a16="http://schemas.microsoft.com/office/drawing/2014/main" id="{9AF30D4F-5FE4-4AA6-812B-A00AFC98112E}"/>
              </a:ext>
            </a:extLst>
          </p:cNvPr>
          <p:cNvSpPr>
            <a:spLocks noGrp="1"/>
          </p:cNvSpPr>
          <p:nvPr>
            <p:ph type="body" sz="quarter" idx="10"/>
          </p:nvPr>
        </p:nvSpPr>
        <p:spPr>
          <a:xfrm>
            <a:off x="1066799" y="349478"/>
            <a:ext cx="3771901" cy="430887"/>
          </a:xfrm>
          <a:prstGeom prst="rect">
            <a:avLst/>
          </a:prstGeom>
        </p:spPr>
        <p:txBody>
          <a:bodyPr wrap="square" lIns="0" tIns="0" rIns="0" bIns="0">
            <a:spAutoFit/>
          </a:bodyPr>
          <a:lstStyle>
            <a:lvl1pPr marL="0" indent="0">
              <a:lnSpc>
                <a:spcPct val="100000"/>
              </a:lnSpc>
              <a:buNone/>
              <a:defRPr sz="1400" cap="all" spc="300" baseline="0">
                <a:solidFill>
                  <a:schemeClr val="tx2"/>
                </a:solidFill>
              </a:defRPr>
            </a:lvl1pPr>
            <a:lvl2pPr marL="457189" indent="0">
              <a:buNone/>
              <a:defRPr/>
            </a:lvl2pPr>
            <a:lvl3pPr marL="914377" indent="0">
              <a:buNone/>
              <a:defRPr/>
            </a:lvl3pPr>
            <a:lvl4pPr marL="1371566" indent="0">
              <a:buNone/>
              <a:defRPr/>
            </a:lvl4pPr>
            <a:lvl5pPr marL="1828755" indent="0">
              <a:buNone/>
              <a:defRPr/>
            </a:lvl5pPr>
          </a:lstStyle>
          <a:p>
            <a:pPr lvl="0"/>
            <a:r>
              <a:rPr lang="en-US"/>
              <a:t>Click to edit Master text styles</a:t>
            </a:r>
          </a:p>
        </p:txBody>
      </p:sp>
    </p:spTree>
    <p:extLst>
      <p:ext uri="{BB962C8B-B14F-4D97-AF65-F5344CB8AC3E}">
        <p14:creationId xmlns:p14="http://schemas.microsoft.com/office/powerpoint/2010/main" val="1079211278"/>
      </p:ext>
    </p:extLst>
  </p:cSld>
  <p:clrMapOvr>
    <a:masterClrMapping/>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ide bar blu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801183"/>
            <a:ext cx="2286000" cy="1005840"/>
          </a:xfrm>
          <a:prstGeom prst="rect">
            <a:avLst/>
          </a:prstGeom>
        </p:spPr>
        <p:txBody>
          <a:bodyPr wrap="square" lIns="0" tIns="0" rIns="0" bIns="0" anchor="t">
            <a:spAutoFit/>
          </a:bodyPr>
          <a:lstStyle>
            <a:lvl1pPr>
              <a:defRPr sz="3200">
                <a:solidFill>
                  <a:srgbClr val="E5F8FF"/>
                </a:solidFill>
                <a:latin typeface="Arial"/>
              </a:defRPr>
            </a:lvl1pPr>
          </a:lstStyle>
          <a:p>
            <a:r>
              <a:rPr lang="en-US"/>
              <a:t>Click to edit Master title style</a:t>
            </a:r>
          </a:p>
        </p:txBody>
      </p:sp>
      <p:sp>
        <p:nvSpPr>
          <p:cNvPr id="3" name="Content Placeholder 2"/>
          <p:cNvSpPr>
            <a:spLocks noGrp="1"/>
          </p:cNvSpPr>
          <p:nvPr>
            <p:ph idx="1"/>
          </p:nvPr>
        </p:nvSpPr>
        <p:spPr>
          <a:xfrm>
            <a:off x="3467100" y="400050"/>
            <a:ext cx="8343900" cy="5829300"/>
          </a:xfrm>
          <a:prstGeom prst="rect">
            <a:avLst/>
          </a:prstGeom>
        </p:spPr>
        <p:txBody>
          <a:bodyPr lIns="0" tIns="0" rIns="0" bIns="0" anchor="ctr" anchorCtr="0"/>
          <a:lstStyle>
            <a:lvl1pPr marL="228594" indent="-228594">
              <a:lnSpc>
                <a:spcPct val="100000"/>
              </a:lnSpc>
              <a:spcBef>
                <a:spcPts val="1200"/>
              </a:spcBef>
              <a:buClr>
                <a:srgbClr val="808080"/>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latin typeface="Arial" panose="020B0604020202020204" pitchFamily="34" charset="0"/>
              </a:defRPr>
            </a:lvl2pPr>
            <a:lvl3pPr marL="1066773" indent="-152396">
              <a:lnSpc>
                <a:spcPct val="100000"/>
              </a:lnSpc>
              <a:spcBef>
                <a:spcPts val="600"/>
              </a:spcBef>
              <a:buClr>
                <a:srgbClr val="808080"/>
              </a:buClr>
              <a:buFont typeface="Arial" panose="020B0604020202020204" pitchFamily="34" charset="0"/>
              <a:buChar char="▪"/>
              <a:defRPr sz="1400">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F7E372F5-2EC7-4733-8384-2D4149AFD478}"/>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6" name="Subtitle 2">
            <a:extLst>
              <a:ext uri="{FF2B5EF4-FFF2-40B4-BE49-F238E27FC236}">
                <a16:creationId xmlns:a16="http://schemas.microsoft.com/office/drawing/2014/main" id="{DD84B0B8-7C41-4C04-9E5E-65F066217219}"/>
              </a:ext>
            </a:extLst>
          </p:cNvPr>
          <p:cNvSpPr>
            <a:spLocks noGrp="1"/>
          </p:cNvSpPr>
          <p:nvPr>
            <p:ph type="subTitle" idx="10"/>
          </p:nvPr>
        </p:nvSpPr>
        <p:spPr>
          <a:xfrm>
            <a:off x="381000" y="2514600"/>
            <a:ext cx="2286000" cy="3714750"/>
          </a:xfrm>
          <a:prstGeom prst="rect">
            <a:avLst/>
          </a:prstGeom>
        </p:spPr>
        <p:txBody>
          <a:bodyPr wrap="square" lIns="0" tIns="0" rIns="0" bIns="0">
            <a:noAutofit/>
          </a:bodyPr>
          <a:lstStyle>
            <a:lvl1pPr marL="0" indent="0" algn="l">
              <a:lnSpc>
                <a:spcPct val="100000"/>
              </a:lnSpc>
              <a:spcBef>
                <a:spcPts val="1200"/>
              </a:spcBef>
              <a:buNone/>
              <a:defRPr sz="1600">
                <a:solidFill>
                  <a:srgbClr val="80C7FB"/>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554035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ide bar blue w photo">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801183"/>
            <a:ext cx="2286000" cy="1005840"/>
          </a:xfrm>
          <a:prstGeom prst="rect">
            <a:avLst/>
          </a:prstGeom>
        </p:spPr>
        <p:txBody>
          <a:bodyPr wrap="square" lIns="0" tIns="0" rIns="0" bIns="0" anchor="t">
            <a:spAutoFit/>
          </a:bodyPr>
          <a:lstStyle>
            <a:lvl1pPr>
              <a:defRPr sz="3200">
                <a:solidFill>
                  <a:srgbClr val="E5F8FF"/>
                </a:solidFill>
                <a:latin typeface="Arial"/>
              </a:defRPr>
            </a:lvl1pPr>
          </a:lstStyle>
          <a:p>
            <a:r>
              <a:rPr lang="en-US"/>
              <a:t>Click to edit Master title style</a:t>
            </a:r>
          </a:p>
        </p:txBody>
      </p:sp>
      <p:sp>
        <p:nvSpPr>
          <p:cNvPr id="4" name="Rectangle 3">
            <a:extLst>
              <a:ext uri="{FF2B5EF4-FFF2-40B4-BE49-F238E27FC236}">
                <a16:creationId xmlns:a16="http://schemas.microsoft.com/office/drawing/2014/main" id="{F7E372F5-2EC7-4733-8384-2D4149AFD478}"/>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80C7FB"/>
              </a:solidFill>
            </a:endParaRPr>
          </a:p>
        </p:txBody>
      </p:sp>
      <p:sp>
        <p:nvSpPr>
          <p:cNvPr id="6" name="Subtitle 2">
            <a:extLst>
              <a:ext uri="{FF2B5EF4-FFF2-40B4-BE49-F238E27FC236}">
                <a16:creationId xmlns:a16="http://schemas.microsoft.com/office/drawing/2014/main" id="{DD84B0B8-7C41-4C04-9E5E-65F066217219}"/>
              </a:ext>
            </a:extLst>
          </p:cNvPr>
          <p:cNvSpPr>
            <a:spLocks noGrp="1"/>
          </p:cNvSpPr>
          <p:nvPr>
            <p:ph type="subTitle" idx="10"/>
          </p:nvPr>
        </p:nvSpPr>
        <p:spPr>
          <a:xfrm>
            <a:off x="381000" y="2514600"/>
            <a:ext cx="2286000" cy="3714750"/>
          </a:xfrm>
          <a:prstGeom prst="rect">
            <a:avLst/>
          </a:prstGeom>
        </p:spPr>
        <p:txBody>
          <a:bodyPr wrap="square" lIns="0" tIns="0" rIns="0" bIns="0">
            <a:noAutofit/>
          </a:bodyPr>
          <a:lstStyle>
            <a:lvl1pPr marL="0" indent="0" algn="l">
              <a:lnSpc>
                <a:spcPct val="100000"/>
              </a:lnSpc>
              <a:spcBef>
                <a:spcPts val="1200"/>
              </a:spcBef>
              <a:buNone/>
              <a:defRPr sz="1600">
                <a:solidFill>
                  <a:srgbClr val="80C7FB"/>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7" name="Picture Placeholder 6">
            <a:extLst>
              <a:ext uri="{FF2B5EF4-FFF2-40B4-BE49-F238E27FC236}">
                <a16:creationId xmlns:a16="http://schemas.microsoft.com/office/drawing/2014/main" id="{E8FAF2F2-81F0-496C-EB9C-AD35CB49960B}"/>
              </a:ext>
            </a:extLst>
          </p:cNvPr>
          <p:cNvSpPr>
            <a:spLocks noGrp="1"/>
          </p:cNvSpPr>
          <p:nvPr>
            <p:ph type="pic" sz="quarter" idx="11"/>
          </p:nvPr>
        </p:nvSpPr>
        <p:spPr>
          <a:xfrm>
            <a:off x="3009900" y="0"/>
            <a:ext cx="9182100" cy="6858000"/>
          </a:xfrm>
          <a:prstGeom prst="rect">
            <a:avLst/>
          </a:prstGeom>
          <a:noFill/>
          <a:ln>
            <a:noFill/>
          </a:ln>
        </p:spPr>
        <p:txBody>
          <a:bodyPr lIns="0" tIns="0" rIns="0" bIns="0" anchor="ctr" anchorCtr="1"/>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31091736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p bar blue">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370DD2-DBFE-499C-8B5D-257216661960}"/>
              </a:ext>
              <a:ext uri="{C183D7F6-B498-43B3-948B-1728B52AA6E4}">
                <adec:decorative xmlns:adec="http://schemas.microsoft.com/office/drawing/2017/decorative" val="1"/>
              </a:ext>
            </a:extLst>
          </p:cNvPr>
          <p:cNvSpPr/>
          <p:nvPr/>
        </p:nvSpPr>
        <p:spPr>
          <a:xfrm>
            <a:off x="0" y="0"/>
            <a:ext cx="12192000" cy="3429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2"/>
              </a:solidFill>
            </a:endParaRPr>
          </a:p>
        </p:txBody>
      </p:sp>
      <p:sp>
        <p:nvSpPr>
          <p:cNvPr id="2" name="Title 1"/>
          <p:cNvSpPr>
            <a:spLocks noGrp="1"/>
          </p:cNvSpPr>
          <p:nvPr>
            <p:ph type="title"/>
          </p:nvPr>
        </p:nvSpPr>
        <p:spPr>
          <a:xfrm>
            <a:off x="382483" y="800100"/>
            <a:ext cx="3999017" cy="886397"/>
          </a:xfrm>
          <a:prstGeom prst="rect">
            <a:avLst/>
          </a:prstGeom>
        </p:spPr>
        <p:txBody>
          <a:bodyPr wrap="square" lIns="0" tIns="0" rIns="0" bIns="0" anchor="t">
            <a:spAutoFit/>
          </a:bodyPr>
          <a:lstStyle>
            <a:lvl1pPr>
              <a:defRPr sz="3200">
                <a:solidFill>
                  <a:schemeClr val="tx2"/>
                </a:solidFill>
                <a:latin typeface="Arial"/>
              </a:defRPr>
            </a:lvl1pPr>
          </a:lstStyle>
          <a:p>
            <a:r>
              <a:rPr lang="en-US"/>
              <a:t>Click to edit Master title style</a:t>
            </a:r>
          </a:p>
        </p:txBody>
      </p:sp>
      <p:sp>
        <p:nvSpPr>
          <p:cNvPr id="12" name="Content Placeholder 11">
            <a:extLst>
              <a:ext uri="{FF2B5EF4-FFF2-40B4-BE49-F238E27FC236}">
                <a16:creationId xmlns:a16="http://schemas.microsoft.com/office/drawing/2014/main" id="{2F25C9EF-E3D6-4E9D-83B4-E16E0BAD9154}"/>
              </a:ext>
            </a:extLst>
          </p:cNvPr>
          <p:cNvSpPr>
            <a:spLocks noGrp="1" noChangeAspect="1"/>
          </p:cNvSpPr>
          <p:nvPr>
            <p:ph sz="quarter" idx="11"/>
          </p:nvPr>
        </p:nvSpPr>
        <p:spPr>
          <a:xfrm>
            <a:off x="4438650" y="2228850"/>
            <a:ext cx="3314700" cy="3314700"/>
          </a:xfrm>
          <a:prstGeom prst="rect">
            <a:avLst/>
          </a:prstGeom>
          <a:solidFill>
            <a:srgbClr val="E5F8FF"/>
          </a:solidFill>
        </p:spPr>
        <p:txBody>
          <a:bodyPr tIns="91440" bIns="91440" anchor="ctr" anchorCtr="0"/>
          <a:lstStyle>
            <a:lvl1pPr marL="0" indent="0" algn="ctr">
              <a:buNone/>
              <a:defRPr sz="1800">
                <a:solidFill>
                  <a:schemeClr val="bg2"/>
                </a:solidFill>
              </a:defRPr>
            </a:lvl1pPr>
            <a:lvl2pPr>
              <a:defRPr sz="1600">
                <a:solidFill>
                  <a:schemeClr val="bg2"/>
                </a:solidFill>
              </a:defRPr>
            </a:lvl2pPr>
            <a:lvl3pPr>
              <a:defRPr sz="1400">
                <a:solidFill>
                  <a:schemeClr val="bg2"/>
                </a:solidFill>
              </a:defRPr>
            </a:lvl3pPr>
            <a:lvl4pPr>
              <a:defRPr sz="1200">
                <a:solidFill>
                  <a:schemeClr val="bg2"/>
                </a:solidFill>
              </a:defRPr>
            </a:lvl4pPr>
            <a:lvl5pPr>
              <a:defRPr sz="1200">
                <a:solidFill>
                  <a:schemeClr val="bg2"/>
                </a:solidFill>
              </a:defRPr>
            </a:lvl5pPr>
          </a:lstStyle>
          <a:p>
            <a:pPr lvl="0"/>
            <a:r>
              <a:rPr lang="en-US"/>
              <a:t>Click to edit Master text styles</a:t>
            </a:r>
          </a:p>
        </p:txBody>
      </p:sp>
      <p:sp>
        <p:nvSpPr>
          <p:cNvPr id="13" name="Content Placeholder 11">
            <a:extLst>
              <a:ext uri="{FF2B5EF4-FFF2-40B4-BE49-F238E27FC236}">
                <a16:creationId xmlns:a16="http://schemas.microsoft.com/office/drawing/2014/main" id="{CC9ADC35-0177-4D0A-A2B4-6BE8CB97A65E}"/>
              </a:ext>
            </a:extLst>
          </p:cNvPr>
          <p:cNvSpPr>
            <a:spLocks noGrp="1" noChangeAspect="1"/>
          </p:cNvSpPr>
          <p:nvPr>
            <p:ph sz="quarter" idx="12"/>
          </p:nvPr>
        </p:nvSpPr>
        <p:spPr>
          <a:xfrm>
            <a:off x="552450" y="2228850"/>
            <a:ext cx="3314700" cy="3314700"/>
          </a:xfrm>
          <a:prstGeom prst="rect">
            <a:avLst/>
          </a:prstGeom>
          <a:solidFill>
            <a:srgbClr val="E5F8FF"/>
          </a:solidFill>
        </p:spPr>
        <p:txBody>
          <a:bodyPr tIns="91440" bIns="91440" anchor="ctr" anchorCtr="0"/>
          <a:lstStyle>
            <a:lvl1pPr marL="0" indent="0" algn="ctr">
              <a:buNone/>
              <a:defRPr sz="1800">
                <a:solidFill>
                  <a:schemeClr val="bg2"/>
                </a:solidFill>
              </a:defRPr>
            </a:lvl1pPr>
            <a:lvl2pPr>
              <a:defRPr sz="1600">
                <a:solidFill>
                  <a:schemeClr val="bg2"/>
                </a:solidFill>
              </a:defRPr>
            </a:lvl2pPr>
            <a:lvl3pPr>
              <a:defRPr sz="1400">
                <a:solidFill>
                  <a:schemeClr val="bg2"/>
                </a:solidFill>
              </a:defRPr>
            </a:lvl3pPr>
            <a:lvl4pPr>
              <a:defRPr sz="1200">
                <a:solidFill>
                  <a:schemeClr val="bg2"/>
                </a:solidFill>
              </a:defRPr>
            </a:lvl4pPr>
            <a:lvl5pPr>
              <a:defRPr sz="1200">
                <a:solidFill>
                  <a:schemeClr val="bg2"/>
                </a:solidFill>
              </a:defRPr>
            </a:lvl5pPr>
          </a:lstStyle>
          <a:p>
            <a:pPr lvl="0"/>
            <a:r>
              <a:rPr lang="en-US"/>
              <a:t>Click to edit Master text styles</a:t>
            </a:r>
          </a:p>
        </p:txBody>
      </p:sp>
      <p:sp>
        <p:nvSpPr>
          <p:cNvPr id="14" name="Content Placeholder 11">
            <a:extLst>
              <a:ext uri="{FF2B5EF4-FFF2-40B4-BE49-F238E27FC236}">
                <a16:creationId xmlns:a16="http://schemas.microsoft.com/office/drawing/2014/main" id="{887CCC8C-1CBB-4FA5-AC41-F8CE31E2C100}"/>
              </a:ext>
            </a:extLst>
          </p:cNvPr>
          <p:cNvSpPr>
            <a:spLocks noGrp="1" noChangeAspect="1"/>
          </p:cNvSpPr>
          <p:nvPr>
            <p:ph sz="quarter" idx="13"/>
          </p:nvPr>
        </p:nvSpPr>
        <p:spPr>
          <a:xfrm>
            <a:off x="8324850" y="2228850"/>
            <a:ext cx="3314700" cy="3314700"/>
          </a:xfrm>
          <a:prstGeom prst="rect">
            <a:avLst/>
          </a:prstGeom>
          <a:solidFill>
            <a:srgbClr val="E5F8FF"/>
          </a:solidFill>
        </p:spPr>
        <p:txBody>
          <a:bodyPr tIns="91440" bIns="91440" anchor="ctr" anchorCtr="0"/>
          <a:lstStyle>
            <a:lvl1pPr marL="0" indent="0" algn="ctr">
              <a:buNone/>
              <a:defRPr sz="1800">
                <a:solidFill>
                  <a:schemeClr val="bg2"/>
                </a:solidFill>
              </a:defRPr>
            </a:lvl1pPr>
            <a:lvl2pPr>
              <a:defRPr sz="1600">
                <a:solidFill>
                  <a:schemeClr val="bg2"/>
                </a:solidFill>
              </a:defRPr>
            </a:lvl2pPr>
            <a:lvl3pPr>
              <a:defRPr sz="1400">
                <a:solidFill>
                  <a:schemeClr val="bg2"/>
                </a:solidFill>
              </a:defRPr>
            </a:lvl3pPr>
            <a:lvl4pPr>
              <a:defRPr sz="1200">
                <a:solidFill>
                  <a:schemeClr val="bg2"/>
                </a:solidFill>
              </a:defRPr>
            </a:lvl4pPr>
            <a:lvl5pPr>
              <a:defRPr sz="1200">
                <a:solidFill>
                  <a:schemeClr val="bg2"/>
                </a:solidFill>
              </a:defRPr>
            </a:lvl5pPr>
          </a:lstStyle>
          <a:p>
            <a:pPr lvl="0"/>
            <a:r>
              <a:rPr lang="en-US"/>
              <a:t>Click to edit Master text styles</a:t>
            </a:r>
          </a:p>
        </p:txBody>
      </p:sp>
      <p:sp>
        <p:nvSpPr>
          <p:cNvPr id="15" name="Rectangle 14">
            <a:extLst>
              <a:ext uri="{FF2B5EF4-FFF2-40B4-BE49-F238E27FC236}">
                <a16:creationId xmlns:a16="http://schemas.microsoft.com/office/drawing/2014/main" id="{65E98A6F-4362-4A68-979C-B344868D9B85}"/>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a:solidFill>
                <a:schemeClr val="tx2"/>
              </a:solidFill>
            </a:endParaRPr>
          </a:p>
        </p:txBody>
      </p:sp>
    </p:spTree>
    <p:extLst>
      <p:ext uri="{BB962C8B-B14F-4D97-AF65-F5344CB8AC3E}">
        <p14:creationId xmlns:p14="http://schemas.microsoft.com/office/powerpoint/2010/main" val="28488040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tatement blu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95DA-6F2D-4DB9-A4B6-50D3D1C65809}"/>
              </a:ext>
            </a:extLst>
          </p:cNvPr>
          <p:cNvSpPr>
            <a:spLocks noGrp="1"/>
          </p:cNvSpPr>
          <p:nvPr>
            <p:ph type="title"/>
          </p:nvPr>
        </p:nvSpPr>
        <p:spPr>
          <a:xfrm>
            <a:off x="398556" y="3438303"/>
            <a:ext cx="9201150" cy="1005840"/>
          </a:xfrm>
          <a:prstGeom prst="rect">
            <a:avLst/>
          </a:prstGeom>
        </p:spPr>
        <p:txBody>
          <a:bodyPr wrap="square" lIns="0" tIns="0" rIns="0" bIns="0" anchor="t" anchorCtr="0">
            <a:noAutofit/>
          </a:bodyPr>
          <a:lstStyle>
            <a:lvl1pPr>
              <a:lnSpc>
                <a:spcPct val="90000"/>
              </a:lnSpc>
              <a:defRPr sz="5400">
                <a:solidFill>
                  <a:srgbClr val="E5F8FF"/>
                </a:solidFill>
                <a:latin typeface="Arial" panose="020B03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5C487A85-65B5-4371-833A-AD6EFF69F55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10" name="Rectangle 9">
            <a:extLst>
              <a:ext uri="{FF2B5EF4-FFF2-40B4-BE49-F238E27FC236}">
                <a16:creationId xmlns:a16="http://schemas.microsoft.com/office/drawing/2014/main" id="{06CBAE8D-A442-4706-952E-6CCFA561BE14}"/>
              </a:ext>
              <a:ext uri="{C183D7F6-B498-43B3-948B-1728B52AA6E4}">
                <adec:decorative xmlns:adec="http://schemas.microsoft.com/office/drawing/2017/decorative" val="1"/>
              </a:ext>
            </a:extLst>
          </p:cNvPr>
          <p:cNvSpPr>
            <a:spLocks noChangeAspect="1"/>
          </p:cNvSpPr>
          <p:nvPr/>
        </p:nvSpPr>
        <p:spPr>
          <a:xfrm>
            <a:off x="398556" y="29146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Tree>
    <p:extLst>
      <p:ext uri="{BB962C8B-B14F-4D97-AF65-F5344CB8AC3E}">
        <p14:creationId xmlns:p14="http://schemas.microsoft.com/office/powerpoint/2010/main" val="3394200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op bar w/pattern blu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800100"/>
            <a:ext cx="4800600" cy="886397"/>
          </a:xfrm>
          <a:prstGeom prst="rect">
            <a:avLst/>
          </a:prstGeom>
        </p:spPr>
        <p:txBody>
          <a:bodyPr wrap="square" lIns="0" tIns="0" rIns="0" bIns="0" anchor="t" anchorCtr="0">
            <a:spAutoFit/>
          </a:bodyPr>
          <a:lstStyle>
            <a:lvl1pPr>
              <a:defRPr lang="en-US" sz="3200" dirty="0">
                <a:solidFill>
                  <a:schemeClr val="tx2"/>
                </a:solidFill>
              </a:defRPr>
            </a:lvl1pPr>
          </a:lstStyle>
          <a:p>
            <a:pPr marL="0" lvl="0"/>
            <a:r>
              <a:rPr lang="en-US"/>
              <a:t>Click to edit Master title style</a:t>
            </a:r>
          </a:p>
        </p:txBody>
      </p:sp>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18" name="Rectangle 17">
            <a:extLst>
              <a:ext uri="{FF2B5EF4-FFF2-40B4-BE49-F238E27FC236}">
                <a16:creationId xmlns:a16="http://schemas.microsoft.com/office/drawing/2014/main" id="{961E767C-1F50-4D42-AF6A-E15CED75F7A5}"/>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accent6"/>
              </a:solidFill>
            </a:endParaRPr>
          </a:p>
        </p:txBody>
      </p:sp>
    </p:spTree>
    <p:extLst>
      <p:ext uri="{BB962C8B-B14F-4D97-AF65-F5344CB8AC3E}">
        <p14:creationId xmlns:p14="http://schemas.microsoft.com/office/powerpoint/2010/main" val="4168665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bar w/photo half blue">
    <p:bg>
      <p:bgPr>
        <a:solidFill>
          <a:srgbClr val="FFFFFF"/>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6" name="Rectangle 5">
            <a:extLst>
              <a:ext uri="{FF2B5EF4-FFF2-40B4-BE49-F238E27FC236}">
                <a16:creationId xmlns:a16="http://schemas.microsoft.com/office/drawing/2014/main" id="{BEADD02D-4E86-18B9-EC0D-5EFAF43C6BBB}"/>
              </a:ext>
            </a:extLst>
          </p:cNvPr>
          <p:cNvSpPr/>
          <p:nvPr/>
        </p:nvSpPr>
        <p:spPr>
          <a:xfrm>
            <a:off x="0" y="0"/>
            <a:ext cx="12192000" cy="3429000"/>
          </a:xfrm>
          <a:prstGeom prst="rect">
            <a:avLst/>
          </a:prstGeom>
          <a:solidFill>
            <a:srgbClr val="0D32A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2"/>
              </a:solidFill>
            </a:endParaRPr>
          </a:p>
        </p:txBody>
      </p:sp>
      <p:sp>
        <p:nvSpPr>
          <p:cNvPr id="5" name="Picture Placeholder 6">
            <a:extLst>
              <a:ext uri="{FF2B5EF4-FFF2-40B4-BE49-F238E27FC236}">
                <a16:creationId xmlns:a16="http://schemas.microsoft.com/office/drawing/2014/main" id="{96F27EC7-A1F5-878A-4E9C-42D9EE7F3BF5}"/>
              </a:ext>
            </a:extLst>
          </p:cNvPr>
          <p:cNvSpPr>
            <a:spLocks noGrp="1"/>
          </p:cNvSpPr>
          <p:nvPr>
            <p:ph type="pic" sz="quarter" idx="11"/>
          </p:nvPr>
        </p:nvSpPr>
        <p:spPr>
          <a:xfrm>
            <a:off x="0" y="0"/>
            <a:ext cx="12192000" cy="3429000"/>
          </a:xfrm>
          <a:prstGeom prst="rect">
            <a:avLst/>
          </a:prstGeom>
          <a:noFill/>
          <a:ln>
            <a:noFill/>
          </a:ln>
        </p:spPr>
        <p:txBody>
          <a:bodyPr lIns="0" tIns="0" rIns="0" bIns="0" anchor="ctr" anchorCtr="1"/>
          <a:lstStyle>
            <a:lvl1pPr marL="0" indent="0">
              <a:buNone/>
              <a:defRPr>
                <a:solidFill>
                  <a:schemeClr val="tx2"/>
                </a:solidFill>
              </a:defRPr>
            </a:lvl1pPr>
          </a:lstStyle>
          <a:p>
            <a:r>
              <a:rPr lang="en-US"/>
              <a:t>Click icon to add picture</a:t>
            </a:r>
          </a:p>
        </p:txBody>
      </p:sp>
      <p:sp>
        <p:nvSpPr>
          <p:cNvPr id="7" name="Rectangle 6">
            <a:extLst>
              <a:ext uri="{FF2B5EF4-FFF2-40B4-BE49-F238E27FC236}">
                <a16:creationId xmlns:a16="http://schemas.microsoft.com/office/drawing/2014/main" id="{08033FDC-55EF-42E8-40A1-2BDB05C1834C}"/>
              </a:ext>
              <a:ext uri="{C183D7F6-B498-43B3-948B-1728B52AA6E4}">
                <adec:decorative xmlns:adec="http://schemas.microsoft.com/office/drawing/2017/decorative" val="1"/>
              </a:ext>
            </a:extLst>
          </p:cNvPr>
          <p:cNvSpPr>
            <a:spLocks noChangeAspect="1"/>
          </p:cNvSpPr>
          <p:nvPr/>
        </p:nvSpPr>
        <p:spPr>
          <a:xfrm>
            <a:off x="381000" y="3829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accent6"/>
              </a:solidFill>
            </a:endParaRPr>
          </a:p>
        </p:txBody>
      </p:sp>
      <p:sp>
        <p:nvSpPr>
          <p:cNvPr id="2" name="Title 1"/>
          <p:cNvSpPr>
            <a:spLocks noGrp="1"/>
          </p:cNvSpPr>
          <p:nvPr>
            <p:ph type="title"/>
          </p:nvPr>
        </p:nvSpPr>
        <p:spPr>
          <a:xfrm>
            <a:off x="381569" y="4229100"/>
            <a:ext cx="4800600" cy="886397"/>
          </a:xfrm>
          <a:prstGeom prst="rect">
            <a:avLst/>
          </a:prstGeom>
        </p:spPr>
        <p:txBody>
          <a:bodyPr wrap="square" lIns="0" tIns="0" rIns="0" bIns="0" anchor="t" anchorCtr="0">
            <a:spAutoFit/>
          </a:bodyPr>
          <a:lstStyle>
            <a:lvl1pPr>
              <a:defRPr lang="en-US" sz="3200" dirty="0">
                <a:solidFill>
                  <a:schemeClr val="tx2"/>
                </a:solidFill>
              </a:defRPr>
            </a:lvl1pPr>
          </a:lstStyle>
          <a:p>
            <a:pPr marL="0" lvl="0"/>
            <a:r>
              <a:rPr lang="en-US"/>
              <a:t>Click to edit Master title style</a:t>
            </a:r>
          </a:p>
        </p:txBody>
      </p:sp>
      <p:sp>
        <p:nvSpPr>
          <p:cNvPr id="9" name="Content Placeholder 9">
            <a:extLst>
              <a:ext uri="{FF2B5EF4-FFF2-40B4-BE49-F238E27FC236}">
                <a16:creationId xmlns:a16="http://schemas.microsoft.com/office/drawing/2014/main" id="{22707C3E-AA17-F74E-2CC0-F61663C5E36B}"/>
              </a:ext>
            </a:extLst>
          </p:cNvPr>
          <p:cNvSpPr>
            <a:spLocks noGrp="1"/>
          </p:cNvSpPr>
          <p:nvPr>
            <p:ph sz="quarter" idx="14"/>
          </p:nvPr>
        </p:nvSpPr>
        <p:spPr>
          <a:xfrm>
            <a:off x="6096000" y="3829050"/>
            <a:ext cx="5715000" cy="2343150"/>
          </a:xfrm>
          <a:prstGeom prst="rect">
            <a:avLst/>
          </a:prstGeom>
        </p:spPr>
        <p:txBody>
          <a:bodyPr lIns="0" tIns="0" rIns="0" bIns="0"/>
          <a:lstStyle>
            <a:lvl1pPr marL="0" indent="0">
              <a:lnSpc>
                <a:spcPct val="100000"/>
              </a:lnSpc>
              <a:spcBef>
                <a:spcPts val="1800"/>
              </a:spcBef>
              <a:buClr>
                <a:srgbClr val="808080"/>
              </a:buClr>
              <a:buNone/>
              <a:defRPr sz="1800" b="0">
                <a:solidFill>
                  <a:schemeClr val="tx2"/>
                </a:solidFill>
              </a:defRPr>
            </a:lvl1pPr>
            <a:lvl2pPr marL="228594" indent="-228594">
              <a:lnSpc>
                <a:spcPct val="100000"/>
              </a:lnSpc>
              <a:spcBef>
                <a:spcPts val="1200"/>
              </a:spcBef>
              <a:buClr>
                <a:srgbClr val="80C7FB"/>
              </a:buClr>
              <a:buFont typeface="Arial" panose="020B0604020202020204" pitchFamily="34" charset="0"/>
              <a:buChar char="•"/>
              <a:defRPr sz="1600" b="0">
                <a:solidFill>
                  <a:schemeClr val="tx2"/>
                </a:solidFill>
              </a:defRPr>
            </a:lvl2pPr>
            <a:lvl3pPr marL="685783" indent="-228594">
              <a:lnSpc>
                <a:spcPct val="100000"/>
              </a:lnSpc>
              <a:spcBef>
                <a:spcPts val="600"/>
              </a:spcBef>
              <a:buClr>
                <a:srgbClr val="80C7FB"/>
              </a:buClr>
              <a:buFont typeface="Arial" panose="020B0604020202020204" pitchFamily="34" charset="0"/>
              <a:buChar char="–"/>
              <a:defRPr sz="1200" b="0">
                <a:solidFill>
                  <a:schemeClr val="tx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2" name="Subtitle 2">
            <a:extLst>
              <a:ext uri="{FF2B5EF4-FFF2-40B4-BE49-F238E27FC236}">
                <a16:creationId xmlns:a16="http://schemas.microsoft.com/office/drawing/2014/main" id="{7EC10F5B-4C21-AEA3-115E-942A040690DC}"/>
              </a:ext>
            </a:extLst>
          </p:cNvPr>
          <p:cNvSpPr>
            <a:spLocks noGrp="1"/>
          </p:cNvSpPr>
          <p:nvPr>
            <p:ph type="subTitle" idx="10"/>
          </p:nvPr>
        </p:nvSpPr>
        <p:spPr>
          <a:xfrm>
            <a:off x="381000" y="5600700"/>
            <a:ext cx="4800600" cy="571500"/>
          </a:xfrm>
          <a:prstGeom prst="rect">
            <a:avLst/>
          </a:prstGeom>
        </p:spPr>
        <p:txBody>
          <a:bodyPr wrap="square" lIns="0" tIns="0" rIns="0" bIns="0" anchor="t" anchorCtr="0">
            <a:noAutofit/>
          </a:bodyPr>
          <a:lstStyle>
            <a:lvl1pPr marL="0" indent="0" algn="l">
              <a:lnSpc>
                <a:spcPct val="100000"/>
              </a:lnSpc>
              <a:spcBef>
                <a:spcPts val="1200"/>
              </a:spcBef>
              <a:buNone/>
              <a:defRPr sz="1800">
                <a:solidFill>
                  <a:srgbClr val="80C7FB"/>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30684745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nchor="t">
            <a:spAutoFit/>
          </a:bodyPr>
          <a:lstStyle>
            <a:lvl1pPr>
              <a:defRPr sz="3200">
                <a:solidFill>
                  <a:schemeClr val="bg1"/>
                </a:solidFill>
                <a:latin typeface="Arial"/>
              </a:defRPr>
            </a:lvl1pPr>
          </a:lstStyle>
          <a:p>
            <a:r>
              <a:rPr lang="en-US"/>
              <a:t>Click to edit Master title style</a:t>
            </a:r>
          </a:p>
        </p:txBody>
      </p:sp>
    </p:spTree>
    <p:extLst>
      <p:ext uri="{BB962C8B-B14F-4D97-AF65-F5344CB8AC3E}">
        <p14:creationId xmlns:p14="http://schemas.microsoft.com/office/powerpoint/2010/main" val="32910925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mp; Subtitl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nchor="t">
            <a:spAutoFit/>
          </a:bodyPr>
          <a:lstStyle>
            <a:lvl1pPr>
              <a:defRPr sz="3200">
                <a:solidFill>
                  <a:schemeClr val="bg1"/>
                </a:solidFill>
                <a:latin typeface="Arial"/>
              </a:defRPr>
            </a:lvl1pPr>
          </a:lstStyle>
          <a:p>
            <a:r>
              <a:rPr lang="en-US"/>
              <a:t>Click to edit Master title style</a:t>
            </a:r>
          </a:p>
        </p:txBody>
      </p:sp>
      <p:sp>
        <p:nvSpPr>
          <p:cNvPr id="3" name="Subtitle 2"/>
          <p:cNvSpPr>
            <a:spLocks noGrp="1"/>
          </p:cNvSpPr>
          <p:nvPr>
            <p:ph type="subTitle" idx="1"/>
          </p:nvPr>
        </p:nvSpPr>
        <p:spPr>
          <a:xfrm>
            <a:off x="381000" y="857250"/>
            <a:ext cx="11430000" cy="246221"/>
          </a:xfrm>
          <a:prstGeom prst="rect">
            <a:avLst/>
          </a:prstGeom>
        </p:spPr>
        <p:txBody>
          <a:bodyPr wrap="square" lIns="0" tIns="0" rIns="0" bIns="0">
            <a:spAutoFit/>
          </a:bodyPr>
          <a:lstStyle>
            <a:lvl1pPr marL="0" indent="0" algn="l">
              <a:lnSpc>
                <a:spcPct val="100000"/>
              </a:lnSpc>
              <a:spcBef>
                <a:spcPts val="0"/>
              </a:spcBef>
              <a:buNone/>
              <a:defRPr sz="1600">
                <a:solidFill>
                  <a:schemeClr val="bg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33943750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mp; Conten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nchor="t">
            <a:spAutoFit/>
          </a:bodyPr>
          <a:lstStyle>
            <a:lvl1pPr>
              <a:defRPr sz="3200">
                <a:solidFill>
                  <a:schemeClr val="bg1"/>
                </a:solidFill>
                <a:latin typeface="Arial"/>
              </a:defRPr>
            </a:lvl1pPr>
          </a:lstStyle>
          <a:p>
            <a:r>
              <a:rPr lang="en-US"/>
              <a:t>Click to edit Master title style</a:t>
            </a:r>
          </a:p>
        </p:txBody>
      </p:sp>
      <p:sp>
        <p:nvSpPr>
          <p:cNvPr id="3" name="Content Placeholder 2"/>
          <p:cNvSpPr>
            <a:spLocks noGrp="1"/>
          </p:cNvSpPr>
          <p:nvPr>
            <p:ph idx="1"/>
          </p:nvPr>
        </p:nvSpPr>
        <p:spPr>
          <a:xfrm>
            <a:off x="381000" y="1600200"/>
            <a:ext cx="11430000" cy="4572000"/>
          </a:xfrm>
          <a:prstGeom prst="rect">
            <a:avLst/>
          </a:prstGeom>
        </p:spPr>
        <p:txBody>
          <a:bodyPr lIns="0" tIns="0" rIns="0" bIns="0"/>
          <a:lstStyle>
            <a:lvl1pPr marL="228594" indent="-228594">
              <a:lnSpc>
                <a:spcPct val="100000"/>
              </a:lnSpc>
              <a:spcBef>
                <a:spcPts val="1200"/>
              </a:spcBef>
              <a:buClr>
                <a:srgbClr val="808080"/>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latin typeface="Arial" panose="020B0604020202020204" pitchFamily="34" charset="0"/>
              </a:defRPr>
            </a:lvl2pPr>
            <a:lvl3pPr marL="1066773" indent="-152396">
              <a:lnSpc>
                <a:spcPct val="100000"/>
              </a:lnSpc>
              <a:spcBef>
                <a:spcPts val="600"/>
              </a:spcBef>
              <a:buClr>
                <a:srgbClr val="808080"/>
              </a:buClr>
              <a:buFont typeface="Arial" panose="020B0604020202020204" pitchFamily="34" charset="0"/>
              <a:buChar char="▪"/>
              <a:defRPr sz="1400">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901918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amp; conten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1" y="342900"/>
            <a:ext cx="11430000" cy="443198"/>
          </a:xfrm>
          <a:prstGeom prst="rect">
            <a:avLst/>
          </a:prstGeom>
        </p:spPr>
        <p:txBody>
          <a:bodyPr wrap="square" lIns="0" tIns="0" rIns="0" bIns="0" anchor="t">
            <a:spAutoFit/>
          </a:bodyPr>
          <a:lstStyle>
            <a:lvl1pPr>
              <a:defRPr sz="3200">
                <a:solidFill>
                  <a:schemeClr val="bg1"/>
                </a:solidFill>
                <a:latin typeface="Arial"/>
              </a:defRPr>
            </a:lvl1pPr>
          </a:lstStyle>
          <a:p>
            <a:r>
              <a:rPr lang="en-US"/>
              <a:t>Click to edit Master title style</a:t>
            </a:r>
          </a:p>
        </p:txBody>
      </p:sp>
      <p:sp>
        <p:nvSpPr>
          <p:cNvPr id="3" name="Subtitle 2"/>
          <p:cNvSpPr>
            <a:spLocks noGrp="1"/>
          </p:cNvSpPr>
          <p:nvPr>
            <p:ph type="subTitle" idx="1"/>
          </p:nvPr>
        </p:nvSpPr>
        <p:spPr>
          <a:xfrm>
            <a:off x="385486" y="857250"/>
            <a:ext cx="11425529" cy="246221"/>
          </a:xfrm>
          <a:prstGeom prst="rect">
            <a:avLst/>
          </a:prstGeom>
        </p:spPr>
        <p:txBody>
          <a:bodyPr wrap="square" lIns="0" tIns="0" rIns="0" bIns="0">
            <a:spAutoFit/>
          </a:bodyPr>
          <a:lstStyle>
            <a:lvl1pPr marL="0" indent="0" algn="l">
              <a:lnSpc>
                <a:spcPct val="100000"/>
              </a:lnSpc>
              <a:spcBef>
                <a:spcPts val="0"/>
              </a:spcBef>
              <a:buNone/>
              <a:defRPr sz="1600">
                <a:solidFill>
                  <a:schemeClr val="bg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Content Placeholder 2"/>
          <p:cNvSpPr>
            <a:spLocks noGrp="1"/>
          </p:cNvSpPr>
          <p:nvPr>
            <p:ph idx="10"/>
          </p:nvPr>
        </p:nvSpPr>
        <p:spPr>
          <a:xfrm>
            <a:off x="385486" y="1600200"/>
            <a:ext cx="11425529" cy="4572000"/>
          </a:xfrm>
          <a:prstGeom prst="rect">
            <a:avLst/>
          </a:prstGeom>
        </p:spPr>
        <p:txBody>
          <a:bodyPr lIns="0" tIns="0" rIns="0" bIns="0"/>
          <a:lstStyle>
            <a:lvl1pPr marL="228594" indent="-228594">
              <a:lnSpc>
                <a:spcPct val="100000"/>
              </a:lnSpc>
              <a:spcBef>
                <a:spcPts val="1200"/>
              </a:spcBef>
              <a:buClr>
                <a:srgbClr val="808080"/>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latin typeface="Arial" panose="020B0604020202020204" pitchFamily="34" charset="0"/>
              </a:defRPr>
            </a:lvl2pPr>
            <a:lvl3pPr marL="1066773" indent="-152396">
              <a:lnSpc>
                <a:spcPct val="100000"/>
              </a:lnSpc>
              <a:spcBef>
                <a:spcPts val="600"/>
              </a:spcBef>
              <a:buClr>
                <a:srgbClr val="808080"/>
              </a:buClr>
              <a:buFont typeface="Arial" panose="020B0604020202020204" pitchFamily="34" charset="0"/>
              <a:buChar char="▪"/>
              <a:defRPr sz="1400">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220445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 columns">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nchor="t">
            <a:spAutoFit/>
          </a:bodyPr>
          <a:lstStyle>
            <a:lvl1pPr>
              <a:defRPr lang="en-US" sz="3200" dirty="0">
                <a:solidFill>
                  <a:schemeClr val="bg1"/>
                </a:solidFill>
                <a:latin typeface="Arial"/>
              </a:defRPr>
            </a:lvl1pPr>
          </a:lstStyle>
          <a:p>
            <a:pPr lvl="0"/>
            <a:r>
              <a:rPr lang="en-US"/>
              <a:t>Click to edit Master title style</a:t>
            </a:r>
          </a:p>
        </p:txBody>
      </p:sp>
      <p:sp>
        <p:nvSpPr>
          <p:cNvPr id="10" name="Content Placeholder 9"/>
          <p:cNvSpPr>
            <a:spLocks noGrp="1"/>
          </p:cNvSpPr>
          <p:nvPr>
            <p:ph sz="quarter" idx="10"/>
          </p:nvPr>
        </p:nvSpPr>
        <p:spPr>
          <a:xfrm>
            <a:off x="381000" y="1600200"/>
            <a:ext cx="5486400" cy="4572000"/>
          </a:xfrm>
          <a:prstGeom prst="rect">
            <a:avLst/>
          </a:prstGeom>
        </p:spPr>
        <p:txBody>
          <a:bodyPr lIns="0" tIns="0" rIns="0" bIns="0"/>
          <a:lstStyle>
            <a:lvl1pPr>
              <a:lnSpc>
                <a:spcPct val="100000"/>
              </a:lnSpc>
              <a:spcBef>
                <a:spcPts val="1200"/>
              </a:spcBef>
              <a:buClr>
                <a:srgbClr val="808080"/>
              </a:buClr>
              <a:defRPr sz="2400">
                <a:solidFill>
                  <a:schemeClr val="bg2"/>
                </a:solidFill>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defRPr>
            </a:lvl2pPr>
            <a:lvl3pPr marL="1142971" indent="-228594">
              <a:lnSpc>
                <a:spcPct val="100000"/>
              </a:lnSpc>
              <a:spcBef>
                <a:spcPts val="600"/>
              </a:spcBef>
              <a:buClr>
                <a:srgbClr val="808080"/>
              </a:buClr>
              <a:buFont typeface="Wingdings" panose="05000000000000000000" pitchFamily="2" charset="2"/>
              <a:buChar char="§"/>
              <a:defRPr sz="14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1" name="Content Placeholder 9"/>
          <p:cNvSpPr>
            <a:spLocks noGrp="1"/>
          </p:cNvSpPr>
          <p:nvPr>
            <p:ph sz="quarter" idx="11"/>
          </p:nvPr>
        </p:nvSpPr>
        <p:spPr>
          <a:xfrm>
            <a:off x="6324600" y="1600200"/>
            <a:ext cx="5486400" cy="4572000"/>
          </a:xfrm>
          <a:prstGeom prst="rect">
            <a:avLst/>
          </a:prstGeom>
        </p:spPr>
        <p:txBody>
          <a:bodyPr lIns="0" tIns="0" rIns="0" bIns="0"/>
          <a:lstStyle>
            <a:lvl1pPr>
              <a:lnSpc>
                <a:spcPct val="100000"/>
              </a:lnSpc>
              <a:spcBef>
                <a:spcPts val="1200"/>
              </a:spcBef>
              <a:buClr>
                <a:srgbClr val="808080"/>
              </a:buClr>
              <a:defRPr sz="2400">
                <a:solidFill>
                  <a:schemeClr val="bg2"/>
                </a:solidFill>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defRPr>
            </a:lvl2pPr>
            <a:lvl3pPr marL="1142971" indent="-228594">
              <a:lnSpc>
                <a:spcPct val="100000"/>
              </a:lnSpc>
              <a:spcBef>
                <a:spcPts val="600"/>
              </a:spcBef>
              <a:buClr>
                <a:srgbClr val="808080"/>
              </a:buClr>
              <a:buFont typeface="Wingdings" panose="05000000000000000000" pitchFamily="2" charset="2"/>
              <a:buChar char="§"/>
              <a:defRPr sz="14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898059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lumns w subtitles">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nchor="t">
            <a:spAutoFit/>
          </a:bodyPr>
          <a:lstStyle>
            <a:lvl1pPr>
              <a:defRPr lang="en-US" sz="3200" dirty="0">
                <a:solidFill>
                  <a:schemeClr val="bg1"/>
                </a:solidFill>
                <a:latin typeface="Arial"/>
              </a:defRPr>
            </a:lvl1pPr>
          </a:lstStyle>
          <a:p>
            <a:pPr lvl="0"/>
            <a:r>
              <a:rPr lang="en-US"/>
              <a:t>Click to edit Master title style</a:t>
            </a:r>
          </a:p>
        </p:txBody>
      </p:sp>
      <p:sp>
        <p:nvSpPr>
          <p:cNvPr id="4" name="Content Placeholder 3">
            <a:extLst>
              <a:ext uri="{FF2B5EF4-FFF2-40B4-BE49-F238E27FC236}">
                <a16:creationId xmlns:a16="http://schemas.microsoft.com/office/drawing/2014/main" id="{C1F1CEAD-C06E-4DD6-958D-A69C28387D94}"/>
              </a:ext>
            </a:extLst>
          </p:cNvPr>
          <p:cNvSpPr>
            <a:spLocks noGrp="1"/>
          </p:cNvSpPr>
          <p:nvPr>
            <p:ph sz="quarter" idx="13"/>
          </p:nvPr>
        </p:nvSpPr>
        <p:spPr>
          <a:xfrm>
            <a:off x="381000" y="1374370"/>
            <a:ext cx="5486400" cy="4797829"/>
          </a:xfrm>
          <a:prstGeom prst="rect">
            <a:avLst/>
          </a:prstGeom>
        </p:spPr>
        <p:txBody>
          <a:bodyPr lIns="0" tIns="0" rIns="0" bIns="91440"/>
          <a:lstStyle>
            <a:lvl1pPr marL="0" indent="0">
              <a:lnSpc>
                <a:spcPct val="100000"/>
              </a:lnSpc>
              <a:spcBef>
                <a:spcPts val="1800"/>
              </a:spcBef>
              <a:buNone/>
              <a:defRPr sz="2000" b="1" baseline="0">
                <a:solidFill>
                  <a:schemeClr val="bg1"/>
                </a:solidFill>
              </a:defRPr>
            </a:lvl1pPr>
            <a:lvl2pPr marL="230712" indent="-230712">
              <a:lnSpc>
                <a:spcPct val="100000"/>
              </a:lnSpc>
              <a:spcBef>
                <a:spcPts val="1200"/>
              </a:spcBef>
              <a:buClr>
                <a:srgbClr val="808080"/>
              </a:buClr>
              <a:defRPr sz="1800">
                <a:solidFill>
                  <a:schemeClr val="bg2"/>
                </a:solidFill>
              </a:defRPr>
            </a:lvl2pPr>
            <a:lvl3pPr marL="685783" indent="-230712">
              <a:lnSpc>
                <a:spcPct val="100000"/>
              </a:lnSpc>
              <a:spcBef>
                <a:spcPts val="600"/>
              </a:spcBef>
              <a:buClr>
                <a:srgbClr val="808080"/>
              </a:buClr>
              <a:buFont typeface="Arial" panose="020B0604020202020204" pitchFamily="34" charset="0"/>
              <a:buChar char="–"/>
              <a:defRPr sz="1400">
                <a:solidFill>
                  <a:schemeClr val="bg2"/>
                </a:solidFill>
              </a:defRPr>
            </a:lvl3pPr>
            <a:lvl4pPr marL="1140855" indent="-224361">
              <a:lnSpc>
                <a:spcPct val="100000"/>
              </a:lnSpc>
              <a:spcBef>
                <a:spcPts val="600"/>
              </a:spcBef>
              <a:buClr>
                <a:srgbClr val="808080"/>
              </a:buClr>
              <a:buFont typeface="Wingdings" panose="05000000000000000000" pitchFamily="2" charset="2"/>
              <a:buChar char="§"/>
              <a:defRPr sz="1200">
                <a:solidFill>
                  <a:schemeClr val="bg2"/>
                </a:solidFill>
              </a:defRPr>
            </a:lvl4pPr>
            <a:lvl5pPr>
              <a:lnSpc>
                <a:spcPct val="100000"/>
              </a:lnSpc>
              <a:spcBef>
                <a:spcPts val="400"/>
              </a:spcBef>
              <a:buClr>
                <a:srgbClr val="808080"/>
              </a:buClr>
              <a:defRPr sz="18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Content Placeholder 3">
            <a:extLst>
              <a:ext uri="{FF2B5EF4-FFF2-40B4-BE49-F238E27FC236}">
                <a16:creationId xmlns:a16="http://schemas.microsoft.com/office/drawing/2014/main" id="{A0C49344-5A94-4BB8-B1F8-EC9EB43874D0}"/>
              </a:ext>
            </a:extLst>
          </p:cNvPr>
          <p:cNvSpPr>
            <a:spLocks noGrp="1"/>
          </p:cNvSpPr>
          <p:nvPr>
            <p:ph sz="quarter" idx="14"/>
          </p:nvPr>
        </p:nvSpPr>
        <p:spPr>
          <a:xfrm>
            <a:off x="6324600" y="1374370"/>
            <a:ext cx="5486400" cy="4797829"/>
          </a:xfrm>
          <a:prstGeom prst="rect">
            <a:avLst/>
          </a:prstGeom>
        </p:spPr>
        <p:txBody>
          <a:bodyPr lIns="0" tIns="0" rIns="0" bIns="91440"/>
          <a:lstStyle>
            <a:lvl1pPr marL="0" indent="0">
              <a:lnSpc>
                <a:spcPct val="100000"/>
              </a:lnSpc>
              <a:spcBef>
                <a:spcPts val="1800"/>
              </a:spcBef>
              <a:buNone/>
              <a:defRPr sz="2000" b="1" baseline="0">
                <a:solidFill>
                  <a:schemeClr val="bg1"/>
                </a:solidFill>
              </a:defRPr>
            </a:lvl1pPr>
            <a:lvl2pPr marL="230712" indent="-230712">
              <a:lnSpc>
                <a:spcPct val="100000"/>
              </a:lnSpc>
              <a:spcBef>
                <a:spcPts val="1200"/>
              </a:spcBef>
              <a:buClr>
                <a:srgbClr val="808080"/>
              </a:buClr>
              <a:defRPr sz="1800">
                <a:solidFill>
                  <a:schemeClr val="bg2"/>
                </a:solidFill>
              </a:defRPr>
            </a:lvl2pPr>
            <a:lvl3pPr marL="685783" indent="-230712">
              <a:lnSpc>
                <a:spcPct val="100000"/>
              </a:lnSpc>
              <a:spcBef>
                <a:spcPts val="600"/>
              </a:spcBef>
              <a:buClr>
                <a:srgbClr val="808080"/>
              </a:buClr>
              <a:buFont typeface="Arial" panose="020B0604020202020204" pitchFamily="34" charset="0"/>
              <a:buChar char="–"/>
              <a:defRPr sz="1400">
                <a:solidFill>
                  <a:schemeClr val="bg2"/>
                </a:solidFill>
              </a:defRPr>
            </a:lvl3pPr>
            <a:lvl4pPr marL="1140855" indent="-224361">
              <a:lnSpc>
                <a:spcPct val="100000"/>
              </a:lnSpc>
              <a:spcBef>
                <a:spcPts val="600"/>
              </a:spcBef>
              <a:buClr>
                <a:srgbClr val="808080"/>
              </a:buClr>
              <a:buFont typeface="Wingdings" panose="05000000000000000000" pitchFamily="2" charset="2"/>
              <a:buChar char="§"/>
              <a:defRPr sz="1200">
                <a:solidFill>
                  <a:schemeClr val="bg2"/>
                </a:solidFill>
              </a:defRPr>
            </a:lvl4pPr>
            <a:lvl5pPr>
              <a:lnSpc>
                <a:spcPct val="100000"/>
              </a:lnSpc>
              <a:spcBef>
                <a:spcPts val="400"/>
              </a:spcBef>
              <a:buClr>
                <a:srgbClr val="808080"/>
              </a:buClr>
              <a:defRPr sz="18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779220378"/>
      </p:ext>
    </p:extLst>
  </p:cSld>
  <p:clrMapOvr>
    <a:masterClrMapping/>
  </p:clrMapOvr>
  <p:extLst>
    <p:ext uri="{DCECCB84-F9BA-43D5-87BE-67443E8EF086}">
      <p15:sldGuideLst xmlns:p15="http://schemas.microsoft.com/office/powerpoint/2012/main">
        <p15:guide id="1" orient="horz" pos="120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lumns w subtitles">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nchor="t">
            <a:spAutoFit/>
          </a:bodyPr>
          <a:lstStyle>
            <a:lvl1pPr>
              <a:defRPr lang="en-US" sz="3200" dirty="0">
                <a:solidFill>
                  <a:schemeClr val="bg1"/>
                </a:solidFill>
                <a:latin typeface="Arial"/>
              </a:defRPr>
            </a:lvl1pPr>
          </a:lstStyle>
          <a:p>
            <a:pPr lvl="0"/>
            <a:r>
              <a:rPr lang="en-US"/>
              <a:t>Click to edit Master title style</a:t>
            </a:r>
          </a:p>
        </p:txBody>
      </p:sp>
      <p:sp>
        <p:nvSpPr>
          <p:cNvPr id="9" name="Content Placeholder 9"/>
          <p:cNvSpPr>
            <a:spLocks noGrp="1"/>
          </p:cNvSpPr>
          <p:nvPr>
            <p:ph sz="quarter" idx="13"/>
          </p:nvPr>
        </p:nvSpPr>
        <p:spPr>
          <a:xfrm>
            <a:off x="381000" y="1371600"/>
            <a:ext cx="3526327" cy="4800600"/>
          </a:xfrm>
          <a:prstGeom prst="rect">
            <a:avLst/>
          </a:prstGeom>
        </p:spPr>
        <p:txBody>
          <a:bodyPr lIns="0" tIns="0" rIns="0" bIns="0"/>
          <a:lstStyle>
            <a:lvl1pPr marL="0" indent="0">
              <a:lnSpc>
                <a:spcPct val="100000"/>
              </a:lnSpc>
              <a:spcBef>
                <a:spcPts val="1800"/>
              </a:spcBef>
              <a:buClr>
                <a:srgbClr val="808080"/>
              </a:buClr>
              <a:buNone/>
              <a:defRPr sz="1800" b="1">
                <a:solidFill>
                  <a:schemeClr val="bg1"/>
                </a:solidFill>
              </a:defRPr>
            </a:lvl1pPr>
            <a:lvl2pPr marL="228594" indent="-228594">
              <a:lnSpc>
                <a:spcPct val="100000"/>
              </a:lnSpc>
              <a:spcBef>
                <a:spcPts val="1200"/>
              </a:spcBef>
              <a:buClr>
                <a:srgbClr val="808080"/>
              </a:buClr>
              <a:buFont typeface="Arial" panose="020B0604020202020204" pitchFamily="34" charset="0"/>
              <a:buChar char="•"/>
              <a:defRPr sz="1600">
                <a:solidFill>
                  <a:schemeClr val="bg2"/>
                </a:solidFill>
              </a:defRPr>
            </a:lvl2pPr>
            <a:lvl3pPr marL="685783" indent="-228594">
              <a:lnSpc>
                <a:spcPct val="100000"/>
              </a:lnSpc>
              <a:spcBef>
                <a:spcPts val="600"/>
              </a:spcBef>
              <a:buClr>
                <a:srgbClr val="808080"/>
              </a:buClr>
              <a:buFont typeface="Arial" panose="020B0604020202020204" pitchFamily="34" charset="0"/>
              <a:buChar char="–"/>
              <a:defRPr sz="12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2" name="Content Placeholder 9">
            <a:extLst>
              <a:ext uri="{FF2B5EF4-FFF2-40B4-BE49-F238E27FC236}">
                <a16:creationId xmlns:a16="http://schemas.microsoft.com/office/drawing/2014/main" id="{3C9CA1AB-E8E8-4338-8BB5-4C9F95D3899A}"/>
              </a:ext>
            </a:extLst>
          </p:cNvPr>
          <p:cNvSpPr>
            <a:spLocks noGrp="1"/>
          </p:cNvSpPr>
          <p:nvPr>
            <p:ph sz="quarter" idx="14"/>
          </p:nvPr>
        </p:nvSpPr>
        <p:spPr>
          <a:xfrm>
            <a:off x="4332836" y="1371600"/>
            <a:ext cx="3526327" cy="4800600"/>
          </a:xfrm>
          <a:prstGeom prst="rect">
            <a:avLst/>
          </a:prstGeom>
        </p:spPr>
        <p:txBody>
          <a:bodyPr lIns="0" tIns="0" rIns="0" bIns="0"/>
          <a:lstStyle>
            <a:lvl1pPr marL="0" indent="0">
              <a:lnSpc>
                <a:spcPct val="100000"/>
              </a:lnSpc>
              <a:spcBef>
                <a:spcPts val="1800"/>
              </a:spcBef>
              <a:buClr>
                <a:srgbClr val="808080"/>
              </a:buClr>
              <a:buNone/>
              <a:defRPr sz="1800" b="1">
                <a:solidFill>
                  <a:schemeClr val="bg1"/>
                </a:solidFill>
              </a:defRPr>
            </a:lvl1pPr>
            <a:lvl2pPr marL="228594" indent="-228594">
              <a:lnSpc>
                <a:spcPct val="100000"/>
              </a:lnSpc>
              <a:spcBef>
                <a:spcPts val="1200"/>
              </a:spcBef>
              <a:buClr>
                <a:srgbClr val="808080"/>
              </a:buClr>
              <a:buFont typeface="Arial" panose="020B0604020202020204" pitchFamily="34" charset="0"/>
              <a:buChar char="•"/>
              <a:defRPr sz="1600">
                <a:solidFill>
                  <a:schemeClr val="bg2"/>
                </a:solidFill>
              </a:defRPr>
            </a:lvl2pPr>
            <a:lvl3pPr marL="685783" indent="-228594">
              <a:lnSpc>
                <a:spcPct val="100000"/>
              </a:lnSpc>
              <a:spcBef>
                <a:spcPts val="600"/>
              </a:spcBef>
              <a:buClr>
                <a:srgbClr val="808080"/>
              </a:buClr>
              <a:buFont typeface="Arial" panose="020B0604020202020204" pitchFamily="34" charset="0"/>
              <a:buChar char="–"/>
              <a:defRPr sz="12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3" name="Content Placeholder 9">
            <a:extLst>
              <a:ext uri="{FF2B5EF4-FFF2-40B4-BE49-F238E27FC236}">
                <a16:creationId xmlns:a16="http://schemas.microsoft.com/office/drawing/2014/main" id="{B6586213-13AB-4801-9939-C1924B01D7D1}"/>
              </a:ext>
            </a:extLst>
          </p:cNvPr>
          <p:cNvSpPr>
            <a:spLocks noGrp="1"/>
          </p:cNvSpPr>
          <p:nvPr>
            <p:ph sz="quarter" idx="15"/>
          </p:nvPr>
        </p:nvSpPr>
        <p:spPr>
          <a:xfrm>
            <a:off x="8284230" y="1371600"/>
            <a:ext cx="3526327" cy="4800600"/>
          </a:xfrm>
          <a:prstGeom prst="rect">
            <a:avLst/>
          </a:prstGeom>
        </p:spPr>
        <p:txBody>
          <a:bodyPr lIns="0" tIns="0" rIns="0" bIns="0"/>
          <a:lstStyle>
            <a:lvl1pPr marL="0" indent="0">
              <a:lnSpc>
                <a:spcPct val="100000"/>
              </a:lnSpc>
              <a:spcBef>
                <a:spcPts val="1800"/>
              </a:spcBef>
              <a:buClr>
                <a:srgbClr val="808080"/>
              </a:buClr>
              <a:buNone/>
              <a:defRPr sz="1800" b="1">
                <a:solidFill>
                  <a:schemeClr val="bg1"/>
                </a:solidFill>
              </a:defRPr>
            </a:lvl1pPr>
            <a:lvl2pPr marL="228594" indent="-228594">
              <a:lnSpc>
                <a:spcPct val="100000"/>
              </a:lnSpc>
              <a:spcBef>
                <a:spcPts val="1200"/>
              </a:spcBef>
              <a:buClr>
                <a:srgbClr val="808080"/>
              </a:buClr>
              <a:buFont typeface="Arial" panose="020B0604020202020204" pitchFamily="34" charset="0"/>
              <a:buChar char="•"/>
              <a:defRPr sz="1600">
                <a:solidFill>
                  <a:schemeClr val="bg2"/>
                </a:solidFill>
              </a:defRPr>
            </a:lvl2pPr>
            <a:lvl3pPr marL="685783" indent="-228594">
              <a:lnSpc>
                <a:spcPct val="100000"/>
              </a:lnSpc>
              <a:spcBef>
                <a:spcPts val="600"/>
              </a:spcBef>
              <a:buClr>
                <a:srgbClr val="808080"/>
              </a:buClr>
              <a:buFont typeface="Arial" panose="020B0604020202020204" pitchFamily="34" charset="0"/>
              <a:buChar char="–"/>
              <a:defRPr sz="12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78276633"/>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21CDB-95CE-458B-A911-027A05894B80}"/>
              </a:ext>
            </a:extLst>
          </p:cNvPr>
          <p:cNvSpPr>
            <a:spLocks noGrp="1"/>
          </p:cNvSpPr>
          <p:nvPr>
            <p:ph type="title"/>
          </p:nvPr>
        </p:nvSpPr>
        <p:spPr>
          <a:xfrm>
            <a:off x="838200" y="-457200"/>
            <a:ext cx="10515600" cy="395816"/>
          </a:xfrm>
          <a:prstGeom prst="rect">
            <a:avLst/>
          </a:prstGeom>
        </p:spPr>
        <p:txBody>
          <a:bodyPr anchor="t"/>
          <a:lstStyle>
            <a:lvl1pPr algn="ctr">
              <a:defRPr sz="2400">
                <a:solidFill>
                  <a:schemeClr val="tx1"/>
                </a:solidFill>
              </a:defRPr>
            </a:lvl1pPr>
          </a:lstStyle>
          <a:p>
            <a:r>
              <a:rPr lang="en-US"/>
              <a:t>Click to edit Master title style</a:t>
            </a:r>
          </a:p>
        </p:txBody>
      </p:sp>
    </p:spTree>
    <p:extLst>
      <p:ext uri="{BB962C8B-B14F-4D97-AF65-F5344CB8AC3E}">
        <p14:creationId xmlns:p14="http://schemas.microsoft.com/office/powerpoint/2010/main" val="11945313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End logo slid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0B410-C7E4-4036-89E5-3C58E91B269B}"/>
              </a:ext>
            </a:extLst>
          </p:cNvPr>
          <p:cNvSpPr>
            <a:spLocks noGrp="1"/>
          </p:cNvSpPr>
          <p:nvPr>
            <p:ph type="title"/>
          </p:nvPr>
        </p:nvSpPr>
        <p:spPr>
          <a:xfrm>
            <a:off x="838200" y="-457200"/>
            <a:ext cx="10515600" cy="395816"/>
          </a:xfrm>
          <a:prstGeom prst="rect">
            <a:avLst/>
          </a:prstGeom>
        </p:spPr>
        <p:txBody>
          <a:bodyPr anchor="t"/>
          <a:lstStyle>
            <a:lvl1pPr algn="ctr">
              <a:defRPr sz="2400"/>
            </a:lvl1pPr>
          </a:lstStyle>
          <a:p>
            <a:r>
              <a:rPr lang="en-US"/>
              <a:t>Click to edit Master title style</a:t>
            </a:r>
          </a:p>
        </p:txBody>
      </p:sp>
      <p:sp>
        <p:nvSpPr>
          <p:cNvPr id="209" name="Rectangle 208">
            <a:extLst>
              <a:ext uri="{FF2B5EF4-FFF2-40B4-BE49-F238E27FC236}">
                <a16:creationId xmlns:a16="http://schemas.microsoft.com/office/drawing/2014/main" id="{5BC7EE9C-562A-4519-B67A-EB99114D5C54}"/>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pic>
        <p:nvPicPr>
          <p:cNvPr id="210" name="Picture 209">
            <a:extLst>
              <a:ext uri="{FF2B5EF4-FFF2-40B4-BE49-F238E27FC236}">
                <a16:creationId xmlns:a16="http://schemas.microsoft.com/office/drawing/2014/main" id="{9F395D62-9AFB-429C-85A8-BAAB83043A5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01171" y="6172200"/>
            <a:ext cx="2743200" cy="356618"/>
          </a:xfrm>
          <a:prstGeom prst="rect">
            <a:avLst/>
          </a:prstGeom>
        </p:spPr>
      </p:pic>
    </p:spTree>
    <p:extLst>
      <p:ext uri="{BB962C8B-B14F-4D97-AF65-F5344CB8AC3E}">
        <p14:creationId xmlns:p14="http://schemas.microsoft.com/office/powerpoint/2010/main" val="35827766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DEFAULT">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9665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Long Headline Only">
    <p:bg>
      <p:bgPr>
        <a:solidFill>
          <a:srgbClr val="FFFF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nchor="t"/>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22142652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Only 1">
    <p:bg>
      <p:bgPr>
        <a:solidFill>
          <a:srgbClr val="FFFFFF"/>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nchor="t"/>
          <a:lstStyle>
            <a:lvl1pPr>
              <a:defRPr/>
            </a:lvl1pPr>
          </a:lstStyle>
          <a:p>
            <a:r>
              <a:rPr lang="en-US"/>
              <a:t>Click to edit Master title style</a:t>
            </a:r>
          </a:p>
        </p:txBody>
      </p:sp>
    </p:spTree>
    <p:extLst>
      <p:ext uri="{BB962C8B-B14F-4D97-AF65-F5344CB8AC3E}">
        <p14:creationId xmlns:p14="http://schemas.microsoft.com/office/powerpoint/2010/main" val="3993649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I_Blank">
    <p:bg>
      <p:bgPr>
        <a:solidFill>
          <a:srgbClr val="FFFFFF"/>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3B4747D-4C45-621F-69A3-84E52035A95C}"/>
              </a:ext>
            </a:extLst>
          </p:cNvPr>
          <p:cNvSpPr>
            <a:spLocks noGrp="1"/>
          </p:cNvSpPr>
          <p:nvPr>
            <p:ph type="title"/>
          </p:nvPr>
        </p:nvSpPr>
        <p:spPr>
          <a:xfrm>
            <a:off x="454532" y="152400"/>
            <a:ext cx="11198752" cy="485335"/>
          </a:xfrm>
        </p:spPr>
        <p:txBody>
          <a:bodyPr anchor="t"/>
          <a:lstStyle>
            <a:lvl1pPr>
              <a:defRPr>
                <a:solidFill>
                  <a:schemeClr val="accent1"/>
                </a:solidFill>
              </a:defRPr>
            </a:lvl1pPr>
          </a:lstStyle>
          <a:p>
            <a:r>
              <a:rPr lang="en-US"/>
              <a:t>Click to edit Master title style</a:t>
            </a:r>
            <a:endParaRPr/>
          </a:p>
        </p:txBody>
      </p:sp>
      <p:sp>
        <p:nvSpPr>
          <p:cNvPr id="13" name="Content Placeholder 6">
            <a:extLst>
              <a:ext uri="{FF2B5EF4-FFF2-40B4-BE49-F238E27FC236}">
                <a16:creationId xmlns:a16="http://schemas.microsoft.com/office/drawing/2014/main" id="{3AF8E267-A055-E4B5-7C83-C9E7263CD716}"/>
              </a:ext>
            </a:extLst>
          </p:cNvPr>
          <p:cNvSpPr>
            <a:spLocks noGrp="1"/>
          </p:cNvSpPr>
          <p:nvPr>
            <p:ph sz="quarter" idx="13" hasCustomPrompt="1"/>
          </p:nvPr>
        </p:nvSpPr>
        <p:spPr>
          <a:xfrm>
            <a:off x="454530" y="1447800"/>
            <a:ext cx="6307777" cy="4636008"/>
          </a:xfrm>
        </p:spPr>
        <p:txBody>
          <a:bodyPr/>
          <a:lstStyle>
            <a:lvl1pPr>
              <a:defRPr/>
            </a:lvl1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4" name="Text Placeholder 53">
            <a:extLst>
              <a:ext uri="{FF2B5EF4-FFF2-40B4-BE49-F238E27FC236}">
                <a16:creationId xmlns:a16="http://schemas.microsoft.com/office/drawing/2014/main" id="{5286239C-17D4-055D-7506-54C72635A7B6}"/>
              </a:ext>
            </a:extLst>
          </p:cNvPr>
          <p:cNvSpPr>
            <a:spLocks noGrp="1"/>
          </p:cNvSpPr>
          <p:nvPr>
            <p:ph type="body" sz="quarter" idx="14" hasCustomPrompt="1"/>
          </p:nvPr>
        </p:nvSpPr>
        <p:spPr>
          <a:xfrm>
            <a:off x="454532" y="731530"/>
            <a:ext cx="11198745" cy="365739"/>
          </a:xfrm>
        </p:spPr>
        <p:txBody>
          <a:bodyPr/>
          <a:lstStyle>
            <a:lvl1pPr marL="0" indent="0">
              <a:spcBef>
                <a:spcPts val="0"/>
              </a:spcBef>
              <a:buNone/>
              <a:defRPr sz="2000">
                <a:solidFill>
                  <a:schemeClr val="tx1"/>
                </a:solidFill>
              </a:defRPr>
            </a:lvl1pPr>
            <a:lvl2pPr marL="0" indent="0">
              <a:spcBef>
                <a:spcPts val="0"/>
              </a:spcBef>
              <a:buNone/>
              <a:defRPr sz="2000">
                <a:solidFill>
                  <a:srgbClr val="724D8D"/>
                </a:solidFill>
              </a:defRPr>
            </a:lvl2pPr>
            <a:lvl3pPr marL="0" indent="0">
              <a:spcBef>
                <a:spcPts val="0"/>
              </a:spcBef>
              <a:buNone/>
              <a:defRPr sz="2000">
                <a:solidFill>
                  <a:srgbClr val="724D8D"/>
                </a:solidFill>
              </a:defRPr>
            </a:lvl3pPr>
            <a:lvl4pPr marL="0" indent="0">
              <a:spcBef>
                <a:spcPts val="0"/>
              </a:spcBef>
              <a:buNone/>
              <a:defRPr sz="2000">
                <a:solidFill>
                  <a:srgbClr val="724D8D"/>
                </a:solidFill>
              </a:defRPr>
            </a:lvl4pPr>
            <a:lvl5pPr marL="0" indent="0">
              <a:spcBef>
                <a:spcPts val="0"/>
              </a:spcBef>
              <a:buNone/>
              <a:defRPr sz="2000">
                <a:solidFill>
                  <a:srgbClr val="724D8D"/>
                </a:solidFill>
              </a:defRPr>
            </a:lvl5pPr>
            <a:lvl6pPr marL="0" indent="0">
              <a:spcBef>
                <a:spcPts val="0"/>
              </a:spcBef>
              <a:buNone/>
              <a:defRPr sz="2000">
                <a:solidFill>
                  <a:srgbClr val="724D8D"/>
                </a:solidFill>
              </a:defRPr>
            </a:lvl6pPr>
            <a:lvl7pPr marL="0" indent="0">
              <a:spcBef>
                <a:spcPts val="0"/>
              </a:spcBef>
              <a:buNone/>
              <a:defRPr sz="2000">
                <a:solidFill>
                  <a:srgbClr val="724D8D"/>
                </a:solidFill>
              </a:defRPr>
            </a:lvl7pPr>
            <a:lvl8pPr marL="0" indent="0">
              <a:spcBef>
                <a:spcPts val="0"/>
              </a:spcBef>
              <a:buNone/>
              <a:defRPr sz="2000">
                <a:solidFill>
                  <a:srgbClr val="724D8D"/>
                </a:solidFill>
              </a:defRPr>
            </a:lvl8pPr>
            <a:lvl9pPr marL="0" indent="0">
              <a:spcBef>
                <a:spcPts val="0"/>
              </a:spcBef>
              <a:buNone/>
              <a:defRPr sz="2000">
                <a:solidFill>
                  <a:srgbClr val="724D8D"/>
                </a:solidFill>
              </a:defRPr>
            </a:lvl9pPr>
          </a:lstStyle>
          <a:p>
            <a:pPr lvl="0"/>
            <a:r>
              <a:t>Click to add subtitle</a:t>
            </a:r>
          </a:p>
        </p:txBody>
      </p:sp>
    </p:spTree>
    <p:extLst>
      <p:ext uri="{BB962C8B-B14F-4D97-AF65-F5344CB8AC3E}">
        <p14:creationId xmlns:p14="http://schemas.microsoft.com/office/powerpoint/2010/main" val="37142344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Subtitle, Content">
    <p:bg>
      <p:bgPr>
        <a:solidFill>
          <a:srgbClr val="FFFFFF"/>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6710D8F-0C63-AC41-AED8-7250F0DC1BE5}"/>
              </a:ext>
            </a:extLst>
          </p:cNvPr>
          <p:cNvGraphicFramePr>
            <a:graphicFrameLocks noChangeAspect="1"/>
          </p:cNvGraphicFramePr>
          <p:nvPr>
            <p:custDataLst>
              <p:tags r:id="rId1"/>
            </p:custDataLst>
            <p:extLst>
              <p:ext uri="{D42A27DB-BD31-4B8C-83A1-F6EECF244321}">
                <p14:modId xmlns:p14="http://schemas.microsoft.com/office/powerpoint/2010/main" val="1090509469"/>
              </p:ext>
            </p:extLst>
          </p:nvPr>
        </p:nvGraphicFramePr>
        <p:xfrm>
          <a:off x="1589"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F6710D8F-0C63-AC41-AED8-7250F0DC1BE5}"/>
                          </a:ext>
                        </a:extLst>
                      </p:cNvPr>
                      <p:cNvPicPr/>
                      <p:nvPr/>
                    </p:nvPicPr>
                    <p:blipFill>
                      <a:blip r:embed="rId4"/>
                      <a:stretch>
                        <a:fillRect/>
                      </a:stretch>
                    </p:blipFill>
                    <p:spPr>
                      <a:xfrm>
                        <a:off x="1589"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B793E11-CA7F-4409-AF5F-4334AE726D78}"/>
              </a:ext>
            </a:extLst>
          </p:cNvPr>
          <p:cNvSpPr>
            <a:spLocks noGrp="1"/>
          </p:cNvSpPr>
          <p:nvPr>
            <p:ph type="title" hasCustomPrompt="1"/>
          </p:nvPr>
        </p:nvSpPr>
        <p:spPr>
          <a:xfrm>
            <a:off x="457200" y="384049"/>
            <a:ext cx="11274552" cy="364097"/>
          </a:xfrm>
        </p:spPr>
        <p:txBody>
          <a:bodyPr vert="horz" anchor="t"/>
          <a:lstStyle/>
          <a:p>
            <a:r>
              <a:rPr lang="en-US"/>
              <a:t>Click to edit master title style</a:t>
            </a:r>
          </a:p>
        </p:txBody>
      </p:sp>
      <p:sp>
        <p:nvSpPr>
          <p:cNvPr id="3" name="Content Placeholder 2">
            <a:extLst>
              <a:ext uri="{FF2B5EF4-FFF2-40B4-BE49-F238E27FC236}">
                <a16:creationId xmlns:a16="http://schemas.microsoft.com/office/drawing/2014/main" id="{24FC1E18-3994-4821-BBED-2E435EACD903}"/>
              </a:ext>
            </a:extLst>
          </p:cNvPr>
          <p:cNvSpPr>
            <a:spLocks noGrp="1"/>
          </p:cNvSpPr>
          <p:nvPr>
            <p:ph idx="1" hasCustomPrompt="1"/>
          </p:nvPr>
        </p:nvSpPr>
        <p:spPr/>
        <p:txBody>
          <a:bodyPr/>
          <a:lstStyle>
            <a:lvl1pPr>
              <a:spcBef>
                <a:spcPts val="0"/>
              </a:spcBef>
              <a:defRPr sz="1600"/>
            </a:lvl1pPr>
            <a:lvl2pPr>
              <a:spcBef>
                <a:spcPts val="0"/>
              </a:spcBef>
              <a:defRPr sz="1600"/>
            </a:lvl2pPr>
            <a:lvl3pPr>
              <a:spcBef>
                <a:spcPts val="0"/>
              </a:spcBef>
              <a:defRPr sz="1600"/>
            </a:lvl3pPr>
            <a:lvl4pPr>
              <a:spcBef>
                <a:spcPts val="0"/>
              </a:spcBef>
              <a:defRPr sz="1600"/>
            </a:lvl4pPr>
            <a:lvl5pPr>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8">
            <a:extLst>
              <a:ext uri="{FF2B5EF4-FFF2-40B4-BE49-F238E27FC236}">
                <a16:creationId xmlns:a16="http://schemas.microsoft.com/office/drawing/2014/main" id="{CF42219C-BCA8-76FE-3C4F-1BE9F057E36D}"/>
              </a:ext>
            </a:extLst>
          </p:cNvPr>
          <p:cNvSpPr>
            <a:spLocks noGrp="1"/>
          </p:cNvSpPr>
          <p:nvPr>
            <p:ph type="body" sz="quarter" idx="13" hasCustomPrompt="1"/>
          </p:nvPr>
        </p:nvSpPr>
        <p:spPr>
          <a:xfrm>
            <a:off x="457200" y="822363"/>
            <a:ext cx="11264901"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960735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rgbClr val="FFFFFF"/>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2BD75D-9591-3B43-9FB3-01B3C14778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C5229D4E-8206-D746-9436-18533241309F}"/>
              </a:ext>
            </a:extLst>
          </p:cNvPr>
          <p:cNvSpPr>
            <a:spLocks noGrp="1"/>
          </p:cNvSpPr>
          <p:nvPr>
            <p:ph type="title"/>
          </p:nvPr>
        </p:nvSpPr>
        <p:spPr>
          <a:xfrm>
            <a:off x="407988" y="536078"/>
            <a:ext cx="10412412" cy="510402"/>
          </a:xfrm>
        </p:spPr>
        <p:txBody>
          <a:bodyPr anchor="t"/>
          <a:lstStyle>
            <a:lvl1pPr>
              <a:defRPr>
                <a:solidFill>
                  <a:schemeClr val="tx1"/>
                </a:solidFill>
              </a:defRPr>
            </a:lvl1pPr>
          </a:lstStyle>
          <a:p>
            <a:r>
              <a:rPr lang="en-US"/>
              <a:t>Click to edit Master title style</a:t>
            </a:r>
          </a:p>
        </p:txBody>
      </p:sp>
      <p:sp>
        <p:nvSpPr>
          <p:cNvPr id="8" name="Text Placeholder 11">
            <a:extLst>
              <a:ext uri="{FF2B5EF4-FFF2-40B4-BE49-F238E27FC236}">
                <a16:creationId xmlns:a16="http://schemas.microsoft.com/office/drawing/2014/main" id="{C21587DB-9D7C-4742-8570-FE759455D929}"/>
              </a:ext>
            </a:extLst>
          </p:cNvPr>
          <p:cNvSpPr>
            <a:spLocks noGrp="1"/>
          </p:cNvSpPr>
          <p:nvPr>
            <p:ph type="body" sz="quarter" idx="14"/>
          </p:nvPr>
        </p:nvSpPr>
        <p:spPr>
          <a:xfrm>
            <a:off x="407989" y="166564"/>
            <a:ext cx="6990339" cy="201737"/>
          </a:xfrm>
        </p:spPr>
        <p:txBody>
          <a:bodyPr>
            <a:noAutofit/>
          </a:bodyPr>
          <a:lstStyle>
            <a:lvl1pPr>
              <a:defRPr sz="1050" b="1">
                <a:solidFill>
                  <a:schemeClr val="tx1">
                    <a:lumMod val="60000"/>
                    <a:lumOff val="40000"/>
                  </a:schemeClr>
                </a:solidFill>
              </a:defRPr>
            </a:lvl1pPr>
          </a:lstStyle>
          <a:p>
            <a:pPr lvl="0"/>
            <a:r>
              <a:rPr lang="en-US"/>
              <a:t>Click to edit Master text styles</a:t>
            </a:r>
          </a:p>
        </p:txBody>
      </p:sp>
    </p:spTree>
    <p:extLst>
      <p:ext uri="{BB962C8B-B14F-4D97-AF65-F5344CB8AC3E}">
        <p14:creationId xmlns:p14="http://schemas.microsoft.com/office/powerpoint/2010/main" val="35965078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Title Slide">
    <p:bg>
      <p:bgPr>
        <a:solidFill>
          <a:srgbClr val="FFFFFF"/>
        </a:solidFill>
        <a:effectLst/>
      </p:bgPr>
    </p:bg>
    <p:spTree>
      <p:nvGrpSpPr>
        <p:cNvPr id="1" name=""/>
        <p:cNvGrpSpPr/>
        <p:nvPr/>
      </p:nvGrpSpPr>
      <p:grpSpPr>
        <a:xfrm>
          <a:off x="0" y="0"/>
          <a:ext cx="0" cy="0"/>
          <a:chOff x="0" y="0"/>
          <a:chExt cx="0" cy="0"/>
        </a:xfrm>
      </p:grpSpPr>
      <p:sp>
        <p:nvSpPr>
          <p:cNvPr id="11" name="Title Text"/>
          <p:cNvSpPr txBox="1">
            <a:spLocks noGrp="1"/>
          </p:cNvSpPr>
          <p:nvPr>
            <p:ph type="title"/>
          </p:nvPr>
        </p:nvSpPr>
        <p:spPr>
          <a:xfrm>
            <a:off x="800034" y="1828800"/>
            <a:ext cx="7560401" cy="1970800"/>
          </a:xfrm>
          <a:prstGeom prst="rect">
            <a:avLst/>
          </a:prstGeom>
        </p:spPr>
        <p:txBody>
          <a:bodyPr/>
          <a:lstStyle>
            <a:lvl1pPr>
              <a:defRPr sz="6933"/>
            </a:lvl1pPr>
          </a:lstStyle>
          <a:p>
            <a:r>
              <a:t>Title Text</a:t>
            </a:r>
          </a:p>
        </p:txBody>
      </p:sp>
      <p:sp>
        <p:nvSpPr>
          <p:cNvPr id="12" name="Body Level One…"/>
          <p:cNvSpPr txBox="1">
            <a:spLocks noGrp="1"/>
          </p:cNvSpPr>
          <p:nvPr>
            <p:ph type="body" sz="quarter" idx="1"/>
          </p:nvPr>
        </p:nvSpPr>
        <p:spPr>
          <a:xfrm>
            <a:off x="800034" y="4106866"/>
            <a:ext cx="7483601" cy="1547201"/>
          </a:xfrm>
          <a:prstGeom prst="rect">
            <a:avLst/>
          </a:prstGeom>
        </p:spPr>
        <p:txBody>
          <a:bodyPr>
            <a:normAutofit/>
          </a:bodyPr>
          <a:lstStyle>
            <a:lvl1pPr marL="457189" indent="-304792">
              <a:buClrTx/>
              <a:buSzTx/>
              <a:buFontTx/>
              <a:buNone/>
              <a:defRPr sz="3733" b="0">
                <a:solidFill>
                  <a:srgbClr val="2D8FE2"/>
                </a:solidFill>
              </a:defRPr>
            </a:lvl1pPr>
            <a:lvl2pPr marL="457189" indent="330192">
              <a:buClrTx/>
              <a:buSzTx/>
              <a:buFontTx/>
              <a:buNone/>
              <a:defRPr sz="3733" b="0">
                <a:solidFill>
                  <a:srgbClr val="2D8FE2"/>
                </a:solidFill>
              </a:defRPr>
            </a:lvl2pPr>
            <a:lvl3pPr marL="457189" indent="965176">
              <a:buClrTx/>
              <a:buSzTx/>
              <a:buFontTx/>
              <a:buNone/>
              <a:defRPr sz="3733" b="0">
                <a:solidFill>
                  <a:srgbClr val="2D8FE2"/>
                </a:solidFill>
              </a:defRPr>
            </a:lvl3pPr>
            <a:lvl4pPr marL="457189" indent="1574761">
              <a:buClrTx/>
              <a:buSzTx/>
              <a:buFontTx/>
              <a:buNone/>
              <a:defRPr sz="3733" b="0">
                <a:solidFill>
                  <a:srgbClr val="2D8FE2"/>
                </a:solidFill>
              </a:defRPr>
            </a:lvl4pPr>
            <a:lvl5pPr marL="457189" indent="2184345">
              <a:buClrTx/>
              <a:buSzTx/>
              <a:buFontTx/>
              <a:buNone/>
              <a:defRPr sz="3733" b="0">
                <a:solidFill>
                  <a:srgbClr val="2D8FE2"/>
                </a:solidFill>
              </a:defRPr>
            </a:lvl5pPr>
          </a:lstStyle>
          <a:p>
            <a:r>
              <a:t>Body Level One</a:t>
            </a:r>
          </a:p>
          <a:p>
            <a:pPr lvl="1"/>
            <a:r>
              <a:t>Body Level Two</a:t>
            </a:r>
          </a:p>
          <a:p>
            <a:pPr lvl="2"/>
            <a:r>
              <a:t>Body Level Three</a:t>
            </a:r>
          </a:p>
          <a:p>
            <a:pPr lvl="3"/>
            <a:r>
              <a:t>Body Level Four</a:t>
            </a:r>
          </a:p>
          <a:p>
            <a:pPr lvl="4"/>
            <a:r>
              <a:t>Body Level Five</a:t>
            </a:r>
          </a:p>
        </p:txBody>
      </p:sp>
      <p:sp>
        <p:nvSpPr>
          <p:cNvPr id="13" name="Google Shape;20;p3"/>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Tree>
    <p:extLst>
      <p:ext uri="{BB962C8B-B14F-4D97-AF65-F5344CB8AC3E}">
        <p14:creationId xmlns:p14="http://schemas.microsoft.com/office/powerpoint/2010/main" val="2213969690"/>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White-Blank_1">
    <p:bg>
      <p:bgPr>
        <a:solidFill>
          <a:srgbClr val="FFFFFF"/>
        </a:solidFill>
        <a:effectLst/>
      </p:bgPr>
    </p:bg>
    <p:spTree>
      <p:nvGrpSpPr>
        <p:cNvPr id="1" name=""/>
        <p:cNvGrpSpPr/>
        <p:nvPr/>
      </p:nvGrpSpPr>
      <p:grpSpPr>
        <a:xfrm>
          <a:off x="0" y="0"/>
          <a:ext cx="0" cy="0"/>
          <a:chOff x="0" y="0"/>
          <a:chExt cx="0" cy="0"/>
        </a:xfrm>
      </p:grpSpPr>
      <p:sp>
        <p:nvSpPr>
          <p:cNvPr id="31" name="Title Text"/>
          <p:cNvSpPr txBox="1">
            <a:spLocks noGrp="1"/>
          </p:cNvSpPr>
          <p:nvPr>
            <p:ph type="title"/>
          </p:nvPr>
        </p:nvSpPr>
        <p:spPr>
          <a:xfrm>
            <a:off x="800032" y="2503666"/>
            <a:ext cx="2522001" cy="1005840"/>
          </a:xfrm>
          <a:prstGeom prst="rect">
            <a:avLst/>
          </a:prstGeom>
        </p:spPr>
        <p:txBody>
          <a:bodyPr anchor="t"/>
          <a:lstStyle>
            <a:lvl1pPr>
              <a:defRPr sz="4400"/>
            </a:lvl1pPr>
          </a:lstStyle>
          <a:p>
            <a:r>
              <a:t>Title Text</a:t>
            </a:r>
          </a:p>
        </p:txBody>
      </p:sp>
      <p:sp>
        <p:nvSpPr>
          <p:cNvPr id="32" name="Body Level One…"/>
          <p:cNvSpPr txBox="1">
            <a:spLocks noGrp="1"/>
          </p:cNvSpPr>
          <p:nvPr>
            <p:ph type="body" sz="quarter" idx="1"/>
          </p:nvPr>
        </p:nvSpPr>
        <p:spPr>
          <a:xfrm>
            <a:off x="5181600" y="2833366"/>
            <a:ext cx="6133600" cy="1191201"/>
          </a:xfrm>
          <a:prstGeom prst="rect">
            <a:avLst/>
          </a:prstGeom>
        </p:spPr>
        <p:txBody>
          <a:bodyPr anchor="ctr">
            <a:normAutofit/>
          </a:bodyPr>
          <a:lstStyle>
            <a:lvl1pPr indent="-482588">
              <a:buSzPts val="2100"/>
              <a:buFontTx/>
              <a:buAutoNum type="arabicPeriod"/>
              <a:defRPr sz="2800"/>
            </a:lvl1pPr>
            <a:lvl2pPr marL="1430831" indent="-634984">
              <a:buSzPts val="2100"/>
              <a:buFontTx/>
              <a:buAutoNum type="alphaLcPeriod"/>
              <a:defRPr sz="2800"/>
            </a:lvl2pPr>
            <a:lvl3pPr marL="2040416" indent="-634984">
              <a:buSzPts val="2100"/>
              <a:buFontTx/>
              <a:buAutoNum type="romanLcPeriod"/>
              <a:defRPr sz="2800"/>
            </a:lvl3pPr>
            <a:lvl4pPr marL="2650000" indent="-634984">
              <a:buSzPts val="2100"/>
              <a:buFontTx/>
              <a:buAutoNum type="arabicPeriod"/>
              <a:defRPr sz="2800"/>
            </a:lvl4pPr>
            <a:lvl5pPr marL="3259585" indent="-634984">
              <a:buSzPts val="2100"/>
              <a:buFontTx/>
              <a:buAutoNum type="alphaLcPeriod"/>
              <a:defRPr sz="2800"/>
            </a:lvl5pPr>
          </a:lstStyle>
          <a:p>
            <a:r>
              <a:t>Body Level One</a:t>
            </a:r>
          </a:p>
          <a:p>
            <a:pPr lvl="1"/>
            <a:r>
              <a:t>Body Level Two</a:t>
            </a:r>
          </a:p>
          <a:p>
            <a:pPr lvl="2"/>
            <a:r>
              <a:t>Body Level Three</a:t>
            </a:r>
          </a:p>
          <a:p>
            <a:pPr lvl="3"/>
            <a:r>
              <a:t>Body Level Four</a:t>
            </a:r>
          </a:p>
          <a:p>
            <a:pPr lvl="4"/>
            <a:r>
              <a:t>Body Level Five</a:t>
            </a:r>
          </a:p>
        </p:txBody>
      </p:sp>
      <p:sp>
        <p:nvSpPr>
          <p:cNvPr id="33" name="Google Shape;33;p5"/>
          <p:cNvSpPr/>
          <p:nvPr/>
        </p:nvSpPr>
        <p:spPr>
          <a:xfrm flipH="1">
            <a:off x="3657599" y="1451112"/>
            <a:ext cx="3" cy="3956000"/>
          </a:xfrm>
          <a:prstGeom prst="line">
            <a:avLst/>
          </a:prstGeom>
          <a:ln w="12700">
            <a:solidFill>
              <a:srgbClr val="E3E7F0"/>
            </a:solidFill>
            <a:miter/>
          </a:ln>
        </p:spPr>
        <p:txBody>
          <a:bodyPr lIns="60959" rIns="60959"/>
          <a:lstStyle/>
          <a:p>
            <a:endParaRPr sz="2400"/>
          </a:p>
        </p:txBody>
      </p:sp>
    </p:spTree>
    <p:extLst>
      <p:ext uri="{BB962C8B-B14F-4D97-AF65-F5344CB8AC3E}">
        <p14:creationId xmlns:p14="http://schemas.microsoft.com/office/powerpoint/2010/main" val="2977283094"/>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Plain Slide 1">
    <p:bg>
      <p:bgPr>
        <a:solidFill>
          <a:srgbClr val="FFFFFF"/>
        </a:solidFill>
        <a:effectLst/>
      </p:bgPr>
    </p:bg>
    <p:spTree>
      <p:nvGrpSpPr>
        <p:cNvPr id="1" name=""/>
        <p:cNvGrpSpPr/>
        <p:nvPr/>
      </p:nvGrpSpPr>
      <p:grpSpPr>
        <a:xfrm>
          <a:off x="0" y="0"/>
          <a:ext cx="0" cy="0"/>
          <a:chOff x="0" y="0"/>
          <a:chExt cx="0" cy="0"/>
        </a:xfrm>
      </p:grpSpPr>
      <p:sp>
        <p:nvSpPr>
          <p:cNvPr id="41" name="Title Text"/>
          <p:cNvSpPr txBox="1">
            <a:spLocks noGrp="1"/>
          </p:cNvSpPr>
          <p:nvPr>
            <p:ph type="title"/>
          </p:nvPr>
        </p:nvSpPr>
        <p:spPr>
          <a:xfrm>
            <a:off x="304801" y="182880"/>
            <a:ext cx="10040401" cy="792000"/>
          </a:xfrm>
          <a:prstGeom prst="rect">
            <a:avLst/>
          </a:prstGeom>
        </p:spPr>
        <p:txBody>
          <a:bodyPr anchor="t"/>
          <a:lstStyle>
            <a:lvl1pPr>
              <a:defRPr sz="3867"/>
            </a:lvl1pPr>
          </a:lstStyle>
          <a:p>
            <a:r>
              <a:t>Title Text</a:t>
            </a:r>
          </a:p>
        </p:txBody>
      </p:sp>
      <p:sp>
        <p:nvSpPr>
          <p:cNvPr id="42" name="Body Level One…"/>
          <p:cNvSpPr txBox="1">
            <a:spLocks noGrp="1"/>
          </p:cNvSpPr>
          <p:nvPr>
            <p:ph type="body" sz="half" idx="1"/>
          </p:nvPr>
        </p:nvSpPr>
        <p:spPr>
          <a:xfrm>
            <a:off x="304800" y="1341120"/>
            <a:ext cx="10166400" cy="2249601"/>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3" name="Google Shape;40;p6"/>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Tree>
    <p:extLst>
      <p:ext uri="{BB962C8B-B14F-4D97-AF65-F5344CB8AC3E}">
        <p14:creationId xmlns:p14="http://schemas.microsoft.com/office/powerpoint/2010/main" val="1576079992"/>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Plain Slide 1_1_1">
    <p:bg>
      <p:bgPr>
        <a:solidFill>
          <a:srgbClr val="FFFFFF"/>
        </a:solidFill>
        <a:effectLst/>
      </p:bgPr>
    </p:bg>
    <p:spTree>
      <p:nvGrpSpPr>
        <p:cNvPr id="1" name=""/>
        <p:cNvGrpSpPr/>
        <p:nvPr/>
      </p:nvGrpSpPr>
      <p:grpSpPr>
        <a:xfrm>
          <a:off x="0" y="0"/>
          <a:ext cx="0" cy="0"/>
          <a:chOff x="0" y="0"/>
          <a:chExt cx="0" cy="0"/>
        </a:xfrm>
      </p:grpSpPr>
      <p:sp>
        <p:nvSpPr>
          <p:cNvPr id="62" name="Title Text"/>
          <p:cNvSpPr txBox="1">
            <a:spLocks noGrp="1"/>
          </p:cNvSpPr>
          <p:nvPr>
            <p:ph type="title"/>
          </p:nvPr>
        </p:nvSpPr>
        <p:spPr>
          <a:xfrm>
            <a:off x="304801" y="182880"/>
            <a:ext cx="10040401" cy="792000"/>
          </a:xfrm>
          <a:prstGeom prst="rect">
            <a:avLst/>
          </a:prstGeom>
        </p:spPr>
        <p:txBody>
          <a:bodyPr anchor="t"/>
          <a:lstStyle>
            <a:lvl1pPr>
              <a:defRPr sz="3867"/>
            </a:lvl1pPr>
          </a:lstStyle>
          <a:p>
            <a:r>
              <a:t>Title Text</a:t>
            </a:r>
          </a:p>
        </p:txBody>
      </p:sp>
      <p:sp>
        <p:nvSpPr>
          <p:cNvPr id="63" name="Body Level One…"/>
          <p:cNvSpPr txBox="1">
            <a:spLocks noGrp="1"/>
          </p:cNvSpPr>
          <p:nvPr>
            <p:ph type="body" sz="quarter" idx="1"/>
          </p:nvPr>
        </p:nvSpPr>
        <p:spPr>
          <a:xfrm>
            <a:off x="304801" y="1341133"/>
            <a:ext cx="3801201" cy="2249600"/>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64" name="Google Shape;55;p8"/>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65" name="Google Shape;57;p8"/>
          <p:cNvSpPr txBox="1">
            <a:spLocks noGrp="1"/>
          </p:cNvSpPr>
          <p:nvPr>
            <p:ph type="body" sz="quarter" idx="21"/>
          </p:nvPr>
        </p:nvSpPr>
        <p:spPr>
          <a:xfrm>
            <a:off x="4106237" y="1341133"/>
            <a:ext cx="3801201" cy="2249600"/>
          </a:xfrm>
          <a:prstGeom prst="rect">
            <a:avLst/>
          </a:prstGeom>
        </p:spPr>
        <p:txBody>
          <a:bodyPr>
            <a:normAutofit/>
          </a:bodyPr>
          <a:lstStyle/>
          <a:p>
            <a:endParaRPr/>
          </a:p>
        </p:txBody>
      </p:sp>
      <p:sp>
        <p:nvSpPr>
          <p:cNvPr id="66" name="Google Shape;58;p8"/>
          <p:cNvSpPr txBox="1">
            <a:spLocks noGrp="1"/>
          </p:cNvSpPr>
          <p:nvPr>
            <p:ph type="body" sz="quarter" idx="22"/>
          </p:nvPr>
        </p:nvSpPr>
        <p:spPr>
          <a:xfrm>
            <a:off x="7907676" y="1341133"/>
            <a:ext cx="3801201" cy="2249600"/>
          </a:xfrm>
          <a:prstGeom prst="rect">
            <a:avLst/>
          </a:prstGeom>
        </p:spPr>
        <p:txBody>
          <a:bodyPr>
            <a:normAutofit/>
          </a:bodyPr>
          <a:lstStyle/>
          <a:p>
            <a:endParaRPr/>
          </a:p>
        </p:txBody>
      </p:sp>
    </p:spTree>
    <p:extLst>
      <p:ext uri="{BB962C8B-B14F-4D97-AF65-F5344CB8AC3E}">
        <p14:creationId xmlns:p14="http://schemas.microsoft.com/office/powerpoint/2010/main" val="160725163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type="tx">
  <p:cSld name="Plain Slide 2">
    <p:bg>
      <p:bgPr>
        <a:solidFill>
          <a:srgbClr val="FFFFFF"/>
        </a:solidFill>
        <a:effectLst/>
      </p:bgPr>
    </p:bg>
    <p:spTree>
      <p:nvGrpSpPr>
        <p:cNvPr id="1" name=""/>
        <p:cNvGrpSpPr/>
        <p:nvPr/>
      </p:nvGrpSpPr>
      <p:grpSpPr>
        <a:xfrm>
          <a:off x="0" y="0"/>
          <a:ext cx="0" cy="0"/>
          <a:chOff x="0" y="0"/>
          <a:chExt cx="0" cy="0"/>
        </a:xfrm>
      </p:grpSpPr>
      <p:sp>
        <p:nvSpPr>
          <p:cNvPr id="74" name="Body Level One…"/>
          <p:cNvSpPr txBox="1">
            <a:spLocks noGrp="1"/>
          </p:cNvSpPr>
          <p:nvPr>
            <p:ph type="body" sz="quarter" idx="1"/>
          </p:nvPr>
        </p:nvSpPr>
        <p:spPr>
          <a:xfrm>
            <a:off x="304800" y="1335525"/>
            <a:ext cx="4626000" cy="2249601"/>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75" name="Google Shape;63;p9"/>
          <p:cNvSpPr txBox="1">
            <a:spLocks noGrp="1"/>
          </p:cNvSpPr>
          <p:nvPr>
            <p:ph type="body" sz="quarter" idx="21"/>
          </p:nvPr>
        </p:nvSpPr>
        <p:spPr>
          <a:xfrm>
            <a:off x="5883825" y="1335526"/>
            <a:ext cx="4626001" cy="2249599"/>
          </a:xfrm>
          <a:prstGeom prst="rect">
            <a:avLst/>
          </a:prstGeom>
        </p:spPr>
        <p:txBody>
          <a:bodyPr>
            <a:normAutofit/>
          </a:bodyPr>
          <a:lstStyle/>
          <a:p>
            <a:endParaRPr/>
          </a:p>
        </p:txBody>
      </p:sp>
      <p:sp>
        <p:nvSpPr>
          <p:cNvPr id="76" name="Google Shape;64;p9"/>
          <p:cNvSpPr txBox="1">
            <a:spLocks noGrp="1"/>
          </p:cNvSpPr>
          <p:nvPr>
            <p:ph type="body" sz="quarter" idx="22"/>
          </p:nvPr>
        </p:nvSpPr>
        <p:spPr>
          <a:xfrm>
            <a:off x="304799" y="4113300"/>
            <a:ext cx="4626001" cy="2249600"/>
          </a:xfrm>
          <a:prstGeom prst="rect">
            <a:avLst/>
          </a:prstGeom>
        </p:spPr>
        <p:txBody>
          <a:bodyPr>
            <a:normAutofit/>
          </a:bodyPr>
          <a:lstStyle/>
          <a:p>
            <a:endParaRPr/>
          </a:p>
        </p:txBody>
      </p:sp>
      <p:sp>
        <p:nvSpPr>
          <p:cNvPr id="77" name="Google Shape;65;p9"/>
          <p:cNvSpPr txBox="1">
            <a:spLocks noGrp="1"/>
          </p:cNvSpPr>
          <p:nvPr>
            <p:ph type="body" sz="quarter" idx="23"/>
          </p:nvPr>
        </p:nvSpPr>
        <p:spPr>
          <a:xfrm>
            <a:off x="5883825" y="4113300"/>
            <a:ext cx="4626001" cy="2249600"/>
          </a:xfrm>
          <a:prstGeom prst="rect">
            <a:avLst/>
          </a:prstGeom>
        </p:spPr>
        <p:txBody>
          <a:bodyPr>
            <a:normAutofit/>
          </a:bodyPr>
          <a:lstStyle/>
          <a:p>
            <a:endParaRPr/>
          </a:p>
        </p:txBody>
      </p:sp>
      <p:sp>
        <p:nvSpPr>
          <p:cNvPr id="78" name="Title Text"/>
          <p:cNvSpPr txBox="1">
            <a:spLocks noGrp="1"/>
          </p:cNvSpPr>
          <p:nvPr>
            <p:ph type="title"/>
          </p:nvPr>
        </p:nvSpPr>
        <p:spPr>
          <a:xfrm>
            <a:off x="304801" y="182880"/>
            <a:ext cx="10040401" cy="792000"/>
          </a:xfrm>
          <a:prstGeom prst="rect">
            <a:avLst/>
          </a:prstGeom>
        </p:spPr>
        <p:txBody>
          <a:bodyPr anchor="t"/>
          <a:lstStyle>
            <a:lvl1pPr>
              <a:defRPr sz="3867"/>
            </a:lvl1pPr>
          </a:lstStyle>
          <a:p>
            <a:r>
              <a:t>Title Text</a:t>
            </a:r>
          </a:p>
        </p:txBody>
      </p:sp>
      <p:sp>
        <p:nvSpPr>
          <p:cNvPr id="79" name="Google Shape;67;p9"/>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Tree>
    <p:extLst>
      <p:ext uri="{BB962C8B-B14F-4D97-AF65-F5344CB8AC3E}">
        <p14:creationId xmlns:p14="http://schemas.microsoft.com/office/powerpoint/2010/main" val="3452525174"/>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name="1_Blue Bar Text">
    <p:bg>
      <p:bgPr>
        <a:solidFill>
          <a:srgbClr val="FFFFFF"/>
        </a:solidFill>
        <a:effectLst/>
      </p:bgPr>
    </p:bg>
    <p:spTree>
      <p:nvGrpSpPr>
        <p:cNvPr id="1" name=""/>
        <p:cNvGrpSpPr/>
        <p:nvPr/>
      </p:nvGrpSpPr>
      <p:grpSpPr>
        <a:xfrm>
          <a:off x="0" y="0"/>
          <a:ext cx="0" cy="0"/>
          <a:chOff x="0" y="0"/>
          <a:chExt cx="0" cy="0"/>
        </a:xfrm>
      </p:grpSpPr>
      <p:sp>
        <p:nvSpPr>
          <p:cNvPr id="87" name="Google Shape;72;p10"/>
          <p:cNvSpPr/>
          <p:nvPr/>
        </p:nvSpPr>
        <p:spPr>
          <a:xfrm>
            <a:off x="0" y="-2"/>
            <a:ext cx="4724400" cy="6858001"/>
          </a:xfrm>
          <a:prstGeom prst="rect">
            <a:avLst/>
          </a:prstGeom>
          <a:solidFill>
            <a:srgbClr val="2D8FE2"/>
          </a:solidFill>
          <a:ln w="12700">
            <a:miter lim="400000"/>
          </a:ln>
        </p:spPr>
        <p:txBody>
          <a:bodyPr lIns="60959" rIns="60959" anchor="ctr"/>
          <a:lstStyle/>
          <a:p>
            <a:pPr algn="ctr">
              <a:defRPr sz="1800">
                <a:solidFill>
                  <a:srgbClr val="FFFFFF"/>
                </a:solidFill>
              </a:defRPr>
            </a:pPr>
            <a:endParaRPr sz="2400"/>
          </a:p>
        </p:txBody>
      </p:sp>
      <p:sp>
        <p:nvSpPr>
          <p:cNvPr id="88" name="Body Level One…"/>
          <p:cNvSpPr txBox="1">
            <a:spLocks noGrp="1"/>
          </p:cNvSpPr>
          <p:nvPr>
            <p:ph type="body" idx="1"/>
          </p:nvPr>
        </p:nvSpPr>
        <p:spPr>
          <a:xfrm>
            <a:off x="4991100" y="987552"/>
            <a:ext cx="6572400" cy="5410401"/>
          </a:xfrm>
          <a:prstGeom prst="rect">
            <a:avLst/>
          </a:prstGeom>
        </p:spPr>
        <p:txBody>
          <a:bodyPr>
            <a:normAutofit/>
          </a:bodyPr>
          <a:lstStyle>
            <a:lvl1pPr>
              <a:buFont typeface="Arial"/>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89" name="Title Text"/>
          <p:cNvSpPr txBox="1">
            <a:spLocks noGrp="1"/>
          </p:cNvSpPr>
          <p:nvPr>
            <p:ph type="title"/>
          </p:nvPr>
        </p:nvSpPr>
        <p:spPr>
          <a:xfrm>
            <a:off x="408825" y="1020801"/>
            <a:ext cx="3802400" cy="100584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1923855742"/>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Grey Bar text">
    <p:bg>
      <p:bgPr>
        <a:solidFill>
          <a:srgbClr val="FFFFFF"/>
        </a:solidFill>
        <a:effectLst/>
      </p:bgPr>
    </p:bg>
    <p:spTree>
      <p:nvGrpSpPr>
        <p:cNvPr id="1" name=""/>
        <p:cNvGrpSpPr/>
        <p:nvPr/>
      </p:nvGrpSpPr>
      <p:grpSpPr>
        <a:xfrm>
          <a:off x="0" y="0"/>
          <a:ext cx="0" cy="0"/>
          <a:chOff x="0" y="0"/>
          <a:chExt cx="0" cy="0"/>
        </a:xfrm>
      </p:grpSpPr>
      <p:sp>
        <p:nvSpPr>
          <p:cNvPr id="97" name="Google Shape;80;p11"/>
          <p:cNvSpPr/>
          <p:nvPr/>
        </p:nvSpPr>
        <p:spPr>
          <a:xfrm>
            <a:off x="0" y="-2"/>
            <a:ext cx="4724400" cy="6858001"/>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98" name="Body Level One…"/>
          <p:cNvSpPr txBox="1">
            <a:spLocks noGrp="1"/>
          </p:cNvSpPr>
          <p:nvPr>
            <p:ph type="body" idx="1"/>
          </p:nvPr>
        </p:nvSpPr>
        <p:spPr>
          <a:xfrm>
            <a:off x="4991100" y="987552"/>
            <a:ext cx="6572000" cy="5410401"/>
          </a:xfrm>
          <a:prstGeom prst="rect">
            <a:avLst/>
          </a:prstGeom>
        </p:spPr>
        <p:txBody>
          <a:bodyPr>
            <a:normAutofit/>
          </a:bodyPr>
          <a:lstStyle>
            <a:lvl1pPr>
              <a:buFont typeface="Arial"/>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99" name="Title Text"/>
          <p:cNvSpPr txBox="1">
            <a:spLocks noGrp="1"/>
          </p:cNvSpPr>
          <p:nvPr>
            <p:ph type="title"/>
          </p:nvPr>
        </p:nvSpPr>
        <p:spPr>
          <a:xfrm>
            <a:off x="408825" y="1020801"/>
            <a:ext cx="3802400" cy="100584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95281530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1_Black Bar text">
    <p:bg>
      <p:bgPr>
        <a:solidFill>
          <a:srgbClr val="FFFFFF"/>
        </a:solidFill>
        <a:effectLst/>
      </p:bgPr>
    </p:bg>
    <p:spTree>
      <p:nvGrpSpPr>
        <p:cNvPr id="1" name=""/>
        <p:cNvGrpSpPr/>
        <p:nvPr/>
      </p:nvGrpSpPr>
      <p:grpSpPr>
        <a:xfrm>
          <a:off x="0" y="0"/>
          <a:ext cx="0" cy="0"/>
          <a:chOff x="0" y="0"/>
          <a:chExt cx="0" cy="0"/>
        </a:xfrm>
      </p:grpSpPr>
      <p:sp>
        <p:nvSpPr>
          <p:cNvPr id="107" name="Google Shape;88;p12"/>
          <p:cNvSpPr/>
          <p:nvPr/>
        </p:nvSpPr>
        <p:spPr>
          <a:xfrm>
            <a:off x="0" y="-2"/>
            <a:ext cx="4724400" cy="6858001"/>
          </a:xfrm>
          <a:prstGeom prst="rect">
            <a:avLst/>
          </a:prstGeom>
          <a:solidFill>
            <a:srgbClr val="0A0A0C"/>
          </a:solidFill>
          <a:ln w="12700">
            <a:miter lim="400000"/>
          </a:ln>
        </p:spPr>
        <p:txBody>
          <a:bodyPr lIns="60959" rIns="60959" anchor="ctr"/>
          <a:lstStyle/>
          <a:p>
            <a:pPr algn="ctr">
              <a:defRPr>
                <a:solidFill>
                  <a:srgbClr val="FFFFFF"/>
                </a:solidFill>
              </a:defRPr>
            </a:pPr>
            <a:endParaRPr sz="2400"/>
          </a:p>
        </p:txBody>
      </p:sp>
      <p:sp>
        <p:nvSpPr>
          <p:cNvPr id="108" name="Body Level One…"/>
          <p:cNvSpPr txBox="1">
            <a:spLocks noGrp="1"/>
          </p:cNvSpPr>
          <p:nvPr>
            <p:ph type="body" idx="1"/>
          </p:nvPr>
        </p:nvSpPr>
        <p:spPr>
          <a:xfrm>
            <a:off x="4991100" y="987552"/>
            <a:ext cx="6572000" cy="5410401"/>
          </a:xfrm>
          <a:prstGeom prst="rect">
            <a:avLst/>
          </a:prstGeom>
        </p:spPr>
        <p:txBody>
          <a:bodyPr>
            <a:normAutofit/>
          </a:bodyPr>
          <a:lstStyle>
            <a:lvl1pPr>
              <a:buFont typeface="Arial"/>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109" name="Title Text"/>
          <p:cNvSpPr txBox="1">
            <a:spLocks noGrp="1"/>
          </p:cNvSpPr>
          <p:nvPr>
            <p:ph type="title"/>
          </p:nvPr>
        </p:nvSpPr>
        <p:spPr>
          <a:xfrm>
            <a:off x="408825" y="1020801"/>
            <a:ext cx="3802400" cy="100584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1080797166"/>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1_White Bar Text">
    <p:bg>
      <p:bgPr>
        <a:solidFill>
          <a:srgbClr val="FFFFFF"/>
        </a:solidFill>
        <a:effectLst/>
      </p:bgPr>
    </p:bg>
    <p:spTree>
      <p:nvGrpSpPr>
        <p:cNvPr id="1" name=""/>
        <p:cNvGrpSpPr/>
        <p:nvPr/>
      </p:nvGrpSpPr>
      <p:grpSpPr>
        <a:xfrm>
          <a:off x="0" y="0"/>
          <a:ext cx="0" cy="0"/>
          <a:chOff x="0" y="0"/>
          <a:chExt cx="0" cy="0"/>
        </a:xfrm>
      </p:grpSpPr>
      <p:sp>
        <p:nvSpPr>
          <p:cNvPr id="117" name="Google Shape;96;p13"/>
          <p:cNvSpPr/>
          <p:nvPr/>
        </p:nvSpPr>
        <p:spPr>
          <a:xfrm>
            <a:off x="4724402" y="-2"/>
            <a:ext cx="74676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118" name="Body Level One…"/>
          <p:cNvSpPr txBox="1">
            <a:spLocks noGrp="1"/>
          </p:cNvSpPr>
          <p:nvPr>
            <p:ph type="body" idx="1"/>
          </p:nvPr>
        </p:nvSpPr>
        <p:spPr>
          <a:xfrm>
            <a:off x="4991100" y="987552"/>
            <a:ext cx="6572000" cy="5410401"/>
          </a:xfrm>
          <a:prstGeom prst="rect">
            <a:avLst/>
          </a:prstGeom>
        </p:spPr>
        <p:txBody>
          <a:bodyPr>
            <a:normAutofit/>
          </a:bodyPr>
          <a:lstStyle>
            <a:lvl1pPr>
              <a:buFont typeface="Arial"/>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119"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2713871831"/>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White-Single Word">
    <p:bg>
      <p:bgPr>
        <a:solidFill>
          <a:srgbClr val="FFFFFF"/>
        </a:solidFill>
        <a:effectLst/>
      </p:bgPr>
    </p:bg>
    <p:spTree>
      <p:nvGrpSpPr>
        <p:cNvPr id="1" name=""/>
        <p:cNvGrpSpPr/>
        <p:nvPr/>
      </p:nvGrpSpPr>
      <p:grpSpPr>
        <a:xfrm>
          <a:off x="0" y="0"/>
          <a:ext cx="0" cy="0"/>
          <a:chOff x="0" y="0"/>
          <a:chExt cx="0" cy="0"/>
        </a:xfrm>
      </p:grpSpPr>
      <p:sp>
        <p:nvSpPr>
          <p:cNvPr id="127" name="Title Text"/>
          <p:cNvSpPr txBox="1">
            <a:spLocks noGrp="1"/>
          </p:cNvSpPr>
          <p:nvPr>
            <p:ph type="title"/>
          </p:nvPr>
        </p:nvSpPr>
        <p:spPr>
          <a:prstGeom prst="rect">
            <a:avLst/>
          </a:prstGeom>
        </p:spPr>
        <p:txBody>
          <a:bodyPr anchor="t"/>
          <a:lstStyle/>
          <a:p>
            <a:r>
              <a:t>Title Text</a:t>
            </a:r>
          </a:p>
        </p:txBody>
      </p:sp>
    </p:spTree>
    <p:extLst>
      <p:ext uri="{BB962C8B-B14F-4D97-AF65-F5344CB8AC3E}">
        <p14:creationId xmlns:p14="http://schemas.microsoft.com/office/powerpoint/2010/main" val="3273491078"/>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Grey-Blank_1">
    <p:bg>
      <p:bgPr>
        <a:solidFill>
          <a:srgbClr val="FFFFFF"/>
        </a:solidFill>
        <a:effectLst/>
      </p:bgPr>
    </p:bg>
    <p:spTree>
      <p:nvGrpSpPr>
        <p:cNvPr id="1" name=""/>
        <p:cNvGrpSpPr/>
        <p:nvPr/>
      </p:nvGrpSpPr>
      <p:grpSpPr>
        <a:xfrm>
          <a:off x="0" y="0"/>
          <a:ext cx="0" cy="0"/>
          <a:chOff x="0" y="0"/>
          <a:chExt cx="0" cy="0"/>
        </a:xfrm>
      </p:grpSpPr>
      <p:sp>
        <p:nvSpPr>
          <p:cNvPr id="135" name="Google Shape;110;p15"/>
          <p:cNvSpPr/>
          <p:nvPr/>
        </p:nvSpPr>
        <p:spPr>
          <a:xfrm>
            <a:off x="-2" y="-2"/>
            <a:ext cx="12192001" cy="6858001"/>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136" name="Title Text"/>
          <p:cNvSpPr txBox="1">
            <a:spLocks noGrp="1"/>
          </p:cNvSpPr>
          <p:nvPr>
            <p:ph type="title"/>
          </p:nvPr>
        </p:nvSpPr>
        <p:spPr>
          <a:prstGeom prst="rect">
            <a:avLst/>
          </a:prstGeom>
        </p:spPr>
        <p:txBody>
          <a:bodyPr anchor="t"/>
          <a:lstStyle/>
          <a:p>
            <a:r>
              <a:t>Title Text</a:t>
            </a:r>
          </a:p>
        </p:txBody>
      </p:sp>
    </p:spTree>
    <p:extLst>
      <p:ext uri="{BB962C8B-B14F-4D97-AF65-F5344CB8AC3E}">
        <p14:creationId xmlns:p14="http://schemas.microsoft.com/office/powerpoint/2010/main" val="3571590131"/>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Blue-Blank_1">
    <p:bg>
      <p:bgPr>
        <a:solidFill>
          <a:srgbClr val="FFFFFF"/>
        </a:solidFill>
        <a:effectLst/>
      </p:bgPr>
    </p:bg>
    <p:spTree>
      <p:nvGrpSpPr>
        <p:cNvPr id="1" name=""/>
        <p:cNvGrpSpPr/>
        <p:nvPr/>
      </p:nvGrpSpPr>
      <p:grpSpPr>
        <a:xfrm>
          <a:off x="0" y="0"/>
          <a:ext cx="0" cy="0"/>
          <a:chOff x="0" y="0"/>
          <a:chExt cx="0" cy="0"/>
        </a:xfrm>
      </p:grpSpPr>
      <p:sp>
        <p:nvSpPr>
          <p:cNvPr id="144" name="Google Shape;116;p16"/>
          <p:cNvSpPr/>
          <p:nvPr/>
        </p:nvSpPr>
        <p:spPr>
          <a:xfrm>
            <a:off x="-2" y="-2"/>
            <a:ext cx="121920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145" name="Title Text"/>
          <p:cNvSpPr txBox="1">
            <a:spLocks noGrp="1"/>
          </p:cNvSpPr>
          <p:nvPr>
            <p:ph type="title"/>
          </p:nvPr>
        </p:nvSpPr>
        <p:spPr>
          <a:prstGeom prst="rect">
            <a:avLst/>
          </a:prstGeom>
        </p:spPr>
        <p:txBody>
          <a:bodyPr anchor="t"/>
          <a:lstStyle/>
          <a:p>
            <a:r>
              <a:t>Title Text</a:t>
            </a:r>
          </a:p>
        </p:txBody>
      </p:sp>
    </p:spTree>
    <p:extLst>
      <p:ext uri="{BB962C8B-B14F-4D97-AF65-F5344CB8AC3E}">
        <p14:creationId xmlns:p14="http://schemas.microsoft.com/office/powerpoint/2010/main" val="2607982669"/>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type="tx">
  <p:cSld name="Black-Blank_1">
    <p:bg>
      <p:bgPr>
        <a:solidFill>
          <a:srgbClr val="FFFFFF"/>
        </a:solidFill>
        <a:effectLst/>
      </p:bgPr>
    </p:bg>
    <p:spTree>
      <p:nvGrpSpPr>
        <p:cNvPr id="1" name=""/>
        <p:cNvGrpSpPr/>
        <p:nvPr/>
      </p:nvGrpSpPr>
      <p:grpSpPr>
        <a:xfrm>
          <a:off x="0" y="0"/>
          <a:ext cx="0" cy="0"/>
          <a:chOff x="0" y="0"/>
          <a:chExt cx="0" cy="0"/>
        </a:xfrm>
      </p:grpSpPr>
      <p:sp>
        <p:nvSpPr>
          <p:cNvPr id="153" name="Title Text"/>
          <p:cNvSpPr txBox="1">
            <a:spLocks noGrp="1"/>
          </p:cNvSpPr>
          <p:nvPr>
            <p:ph type="title"/>
          </p:nvPr>
        </p:nvSpPr>
        <p:spPr>
          <a:prstGeom prst="rect">
            <a:avLst/>
          </a:prstGeom>
        </p:spPr>
        <p:txBody>
          <a:bodyPr anchor="t"/>
          <a:lstStyle/>
          <a:p>
            <a:r>
              <a:t>Title Text</a:t>
            </a:r>
          </a:p>
        </p:txBody>
      </p:sp>
    </p:spTree>
    <p:extLst>
      <p:ext uri="{BB962C8B-B14F-4D97-AF65-F5344CB8AC3E}">
        <p14:creationId xmlns:p14="http://schemas.microsoft.com/office/powerpoint/2010/main" val="4011936512"/>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type="tx">
  <p:cSld name="Non-US">
    <p:bg>
      <p:bgPr>
        <a:solidFill>
          <a:srgbClr val="FFFFFF"/>
        </a:solidFill>
        <a:effectLst/>
      </p:bgPr>
    </p:bg>
    <p:spTree>
      <p:nvGrpSpPr>
        <p:cNvPr id="1" name=""/>
        <p:cNvGrpSpPr/>
        <p:nvPr/>
      </p:nvGrpSpPr>
      <p:grpSpPr>
        <a:xfrm>
          <a:off x="0" y="0"/>
          <a:ext cx="0" cy="0"/>
          <a:chOff x="0" y="0"/>
          <a:chExt cx="0" cy="0"/>
        </a:xfrm>
      </p:grpSpPr>
      <p:sp>
        <p:nvSpPr>
          <p:cNvPr id="16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6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163" name="Google Shape;130;p18" descr="Google Shape;130;p18"/>
          <p:cNvPicPr>
            <a:picLocks noChangeAspect="1"/>
          </p:cNvPicPr>
          <p:nvPr/>
        </p:nvPicPr>
        <p:blipFill>
          <a:blip r:embed="rId2"/>
          <a:stretch>
            <a:fillRect/>
          </a:stretch>
        </p:blipFill>
        <p:spPr>
          <a:xfrm>
            <a:off x="5334000" y="0"/>
            <a:ext cx="6858000" cy="6858000"/>
          </a:xfrm>
          <a:prstGeom prst="rect">
            <a:avLst/>
          </a:prstGeom>
          <a:ln w="12700">
            <a:miter lim="400000"/>
          </a:ln>
        </p:spPr>
      </p:pic>
    </p:spTree>
    <p:extLst>
      <p:ext uri="{BB962C8B-B14F-4D97-AF65-F5344CB8AC3E}">
        <p14:creationId xmlns:p14="http://schemas.microsoft.com/office/powerpoint/2010/main" val="2389153850"/>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name="United States">
    <p:bg>
      <p:bgPr>
        <a:solidFill>
          <a:srgbClr val="FFFFFF"/>
        </a:solidFill>
        <a:effectLst/>
      </p:bgPr>
    </p:bg>
    <p:spTree>
      <p:nvGrpSpPr>
        <p:cNvPr id="1" name=""/>
        <p:cNvGrpSpPr/>
        <p:nvPr/>
      </p:nvGrpSpPr>
      <p:grpSpPr>
        <a:xfrm>
          <a:off x="0" y="0"/>
          <a:ext cx="0" cy="0"/>
          <a:chOff x="0" y="0"/>
          <a:chExt cx="0" cy="0"/>
        </a:xfrm>
      </p:grpSpPr>
      <p:sp>
        <p:nvSpPr>
          <p:cNvPr id="17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7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173" name="Google Shape;137;p19" descr="Google Shape;137;p19"/>
          <p:cNvPicPr>
            <a:picLocks noChangeAspect="1"/>
          </p:cNvPicPr>
          <p:nvPr/>
        </p:nvPicPr>
        <p:blipFill>
          <a:blip r:embed="rId2"/>
          <a:stretch>
            <a:fillRect/>
          </a:stretch>
        </p:blipFill>
        <p:spPr>
          <a:xfrm>
            <a:off x="5334000" y="17"/>
            <a:ext cx="6858000" cy="6858001"/>
          </a:xfrm>
          <a:prstGeom prst="rect">
            <a:avLst/>
          </a:prstGeom>
          <a:ln w="12700">
            <a:miter lim="400000"/>
          </a:ln>
        </p:spPr>
      </p:pic>
    </p:spTree>
    <p:extLst>
      <p:ext uri="{BB962C8B-B14F-4D97-AF65-F5344CB8AC3E}">
        <p14:creationId xmlns:p14="http://schemas.microsoft.com/office/powerpoint/2010/main" val="3321983524"/>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World Map">
    <p:bg>
      <p:bgPr>
        <a:solidFill>
          <a:srgbClr val="FFFFFF"/>
        </a:solidFill>
        <a:effectLst/>
      </p:bgPr>
    </p:bg>
    <p:spTree>
      <p:nvGrpSpPr>
        <p:cNvPr id="1" name=""/>
        <p:cNvGrpSpPr/>
        <p:nvPr/>
      </p:nvGrpSpPr>
      <p:grpSpPr>
        <a:xfrm>
          <a:off x="0" y="0"/>
          <a:ext cx="0" cy="0"/>
          <a:chOff x="0" y="0"/>
          <a:chExt cx="0" cy="0"/>
        </a:xfrm>
      </p:grpSpPr>
      <p:sp>
        <p:nvSpPr>
          <p:cNvPr id="18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8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183" name="Google Shape;145;p20" descr="Google Shape;145;p20"/>
          <p:cNvPicPr>
            <a:picLocks noChangeAspect="1"/>
          </p:cNvPicPr>
          <p:nvPr/>
        </p:nvPicPr>
        <p:blipFill>
          <a:blip r:embed="rId2"/>
          <a:stretch>
            <a:fillRect/>
          </a:stretch>
        </p:blipFill>
        <p:spPr>
          <a:xfrm>
            <a:off x="5161026" y="0"/>
            <a:ext cx="6858001" cy="6858000"/>
          </a:xfrm>
          <a:prstGeom prst="rect">
            <a:avLst/>
          </a:prstGeom>
          <a:ln w="12700">
            <a:miter lim="400000"/>
          </a:ln>
        </p:spPr>
      </p:pic>
    </p:spTree>
    <p:extLst>
      <p:ext uri="{BB962C8B-B14F-4D97-AF65-F5344CB8AC3E}">
        <p14:creationId xmlns:p14="http://schemas.microsoft.com/office/powerpoint/2010/main" val="4022180575"/>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type="tx">
  <p:cSld name="North American Union">
    <p:bg>
      <p:bgPr>
        <a:solidFill>
          <a:srgbClr val="FFFFFF"/>
        </a:solidFill>
        <a:effectLst/>
      </p:bgPr>
    </p:bg>
    <p:spTree>
      <p:nvGrpSpPr>
        <p:cNvPr id="1" name=""/>
        <p:cNvGrpSpPr/>
        <p:nvPr/>
      </p:nvGrpSpPr>
      <p:grpSpPr>
        <a:xfrm>
          <a:off x="0" y="0"/>
          <a:ext cx="0" cy="0"/>
          <a:chOff x="0" y="0"/>
          <a:chExt cx="0" cy="0"/>
        </a:xfrm>
      </p:grpSpPr>
      <p:sp>
        <p:nvSpPr>
          <p:cNvPr id="19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9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193" name="Google Shape;152;p21" descr="Google Shape;152;p21"/>
          <p:cNvPicPr>
            <a:picLocks noChangeAspect="1"/>
          </p:cNvPicPr>
          <p:nvPr/>
        </p:nvPicPr>
        <p:blipFill>
          <a:blip r:embed="rId2"/>
          <a:stretch>
            <a:fillRect/>
          </a:stretch>
        </p:blipFill>
        <p:spPr>
          <a:xfrm>
            <a:off x="5334000" y="0"/>
            <a:ext cx="6858000" cy="6858000"/>
          </a:xfrm>
          <a:prstGeom prst="rect">
            <a:avLst/>
          </a:prstGeom>
          <a:ln w="12700">
            <a:miter lim="400000"/>
          </a:ln>
        </p:spPr>
      </p:pic>
    </p:spTree>
    <p:extLst>
      <p:ext uri="{BB962C8B-B14F-4D97-AF65-F5344CB8AC3E}">
        <p14:creationId xmlns:p14="http://schemas.microsoft.com/office/powerpoint/2010/main" val="2119504289"/>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name="APAC">
    <p:bg>
      <p:bgPr>
        <a:solidFill>
          <a:srgbClr val="FFFFFF"/>
        </a:solidFill>
        <a:effectLst/>
      </p:bgPr>
    </p:bg>
    <p:spTree>
      <p:nvGrpSpPr>
        <p:cNvPr id="1" name=""/>
        <p:cNvGrpSpPr/>
        <p:nvPr/>
      </p:nvGrpSpPr>
      <p:grpSpPr>
        <a:xfrm>
          <a:off x="0" y="0"/>
          <a:ext cx="0" cy="0"/>
          <a:chOff x="0" y="0"/>
          <a:chExt cx="0" cy="0"/>
        </a:xfrm>
      </p:grpSpPr>
      <p:sp>
        <p:nvSpPr>
          <p:cNvPr id="20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0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203" name="Google Shape;159;p22" descr="Google Shape;159;p22"/>
          <p:cNvPicPr>
            <a:picLocks noChangeAspect="1"/>
          </p:cNvPicPr>
          <p:nvPr/>
        </p:nvPicPr>
        <p:blipFill>
          <a:blip r:embed="rId2"/>
          <a:stretch>
            <a:fillRect/>
          </a:stretch>
        </p:blipFill>
        <p:spPr>
          <a:xfrm>
            <a:off x="5334000" y="0"/>
            <a:ext cx="6858000" cy="6858000"/>
          </a:xfrm>
          <a:prstGeom prst="rect">
            <a:avLst/>
          </a:prstGeom>
          <a:ln w="12700">
            <a:miter lim="400000"/>
          </a:ln>
        </p:spPr>
      </p:pic>
    </p:spTree>
    <p:extLst>
      <p:ext uri="{BB962C8B-B14F-4D97-AF65-F5344CB8AC3E}">
        <p14:creationId xmlns:p14="http://schemas.microsoft.com/office/powerpoint/2010/main" val="1432784672"/>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type="tx">
  <p:cSld name="South America">
    <p:bg>
      <p:bgPr>
        <a:solidFill>
          <a:srgbClr val="FFFFFF"/>
        </a:solidFill>
        <a:effectLst/>
      </p:bgPr>
    </p:bg>
    <p:spTree>
      <p:nvGrpSpPr>
        <p:cNvPr id="1" name=""/>
        <p:cNvGrpSpPr/>
        <p:nvPr/>
      </p:nvGrpSpPr>
      <p:grpSpPr>
        <a:xfrm>
          <a:off x="0" y="0"/>
          <a:ext cx="0" cy="0"/>
          <a:chOff x="0" y="0"/>
          <a:chExt cx="0" cy="0"/>
        </a:xfrm>
      </p:grpSpPr>
      <p:sp>
        <p:nvSpPr>
          <p:cNvPr id="21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1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213" name="Google Shape;166;p23" descr="Google Shape;166;p23"/>
          <p:cNvPicPr>
            <a:picLocks noChangeAspect="1"/>
          </p:cNvPicPr>
          <p:nvPr/>
        </p:nvPicPr>
        <p:blipFill>
          <a:blip r:embed="rId2"/>
          <a:stretch>
            <a:fillRect/>
          </a:stretch>
        </p:blipFill>
        <p:spPr>
          <a:xfrm>
            <a:off x="5334000" y="0"/>
            <a:ext cx="6858000" cy="6858000"/>
          </a:xfrm>
          <a:prstGeom prst="rect">
            <a:avLst/>
          </a:prstGeom>
          <a:ln w="12700">
            <a:miter lim="400000"/>
          </a:ln>
        </p:spPr>
      </p:pic>
    </p:spTree>
    <p:extLst>
      <p:ext uri="{BB962C8B-B14F-4D97-AF65-F5344CB8AC3E}">
        <p14:creationId xmlns:p14="http://schemas.microsoft.com/office/powerpoint/2010/main" val="2489744612"/>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Africa">
    <p:bg>
      <p:bgPr>
        <a:solidFill>
          <a:srgbClr val="FFFFFF"/>
        </a:solidFill>
        <a:effectLst/>
      </p:bgPr>
    </p:bg>
    <p:spTree>
      <p:nvGrpSpPr>
        <p:cNvPr id="1" name=""/>
        <p:cNvGrpSpPr/>
        <p:nvPr/>
      </p:nvGrpSpPr>
      <p:grpSpPr>
        <a:xfrm>
          <a:off x="0" y="0"/>
          <a:ext cx="0" cy="0"/>
          <a:chOff x="0" y="0"/>
          <a:chExt cx="0" cy="0"/>
        </a:xfrm>
      </p:grpSpPr>
      <p:sp>
        <p:nvSpPr>
          <p:cNvPr id="22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2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223" name="Google Shape;173;p24" descr="Google Shape;173;p24"/>
          <p:cNvPicPr>
            <a:picLocks noChangeAspect="1"/>
          </p:cNvPicPr>
          <p:nvPr/>
        </p:nvPicPr>
        <p:blipFill>
          <a:blip r:embed="rId2"/>
          <a:stretch>
            <a:fillRect/>
          </a:stretch>
        </p:blipFill>
        <p:spPr>
          <a:xfrm>
            <a:off x="5334000" y="0"/>
            <a:ext cx="6858000" cy="6858000"/>
          </a:xfrm>
          <a:prstGeom prst="rect">
            <a:avLst/>
          </a:prstGeom>
          <a:ln w="12700">
            <a:miter lim="400000"/>
          </a:ln>
        </p:spPr>
      </p:pic>
    </p:spTree>
    <p:extLst>
      <p:ext uri="{BB962C8B-B14F-4D97-AF65-F5344CB8AC3E}">
        <p14:creationId xmlns:p14="http://schemas.microsoft.com/office/powerpoint/2010/main" val="3583008811"/>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type="tx">
  <p:cSld name="Europe">
    <p:bg>
      <p:bgPr>
        <a:solidFill>
          <a:srgbClr val="FFFFFF"/>
        </a:solidFill>
        <a:effectLst/>
      </p:bgPr>
    </p:bg>
    <p:spTree>
      <p:nvGrpSpPr>
        <p:cNvPr id="1" name=""/>
        <p:cNvGrpSpPr/>
        <p:nvPr/>
      </p:nvGrpSpPr>
      <p:grpSpPr>
        <a:xfrm>
          <a:off x="0" y="0"/>
          <a:ext cx="0" cy="0"/>
          <a:chOff x="0" y="0"/>
          <a:chExt cx="0" cy="0"/>
        </a:xfrm>
      </p:grpSpPr>
      <p:pic>
        <p:nvPicPr>
          <p:cNvPr id="231" name="Google Shape;177;p25" descr="Google Shape;177;p25"/>
          <p:cNvPicPr>
            <a:picLocks noChangeAspect="1"/>
          </p:cNvPicPr>
          <p:nvPr/>
        </p:nvPicPr>
        <p:blipFill>
          <a:blip r:embed="rId2"/>
          <a:stretch>
            <a:fillRect/>
          </a:stretch>
        </p:blipFill>
        <p:spPr>
          <a:xfrm>
            <a:off x="5334000" y="23801"/>
            <a:ext cx="6858000" cy="6858001"/>
          </a:xfrm>
          <a:prstGeom prst="rect">
            <a:avLst/>
          </a:prstGeom>
          <a:ln w="12700">
            <a:miter lim="400000"/>
          </a:ln>
        </p:spPr>
      </p:pic>
      <p:sp>
        <p:nvSpPr>
          <p:cNvPr id="232"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33"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1199234324"/>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type="tx">
  <p:cSld name="Europe_1">
    <p:bg>
      <p:bgPr>
        <a:solidFill>
          <a:srgbClr val="FFFFFF"/>
        </a:solidFill>
        <a:effectLst/>
      </p:bgPr>
    </p:bg>
    <p:spTree>
      <p:nvGrpSpPr>
        <p:cNvPr id="1" name=""/>
        <p:cNvGrpSpPr/>
        <p:nvPr/>
      </p:nvGrpSpPr>
      <p:grpSpPr>
        <a:xfrm>
          <a:off x="0" y="0"/>
          <a:ext cx="0" cy="0"/>
          <a:chOff x="0" y="0"/>
          <a:chExt cx="0" cy="0"/>
        </a:xfrm>
      </p:grpSpPr>
      <p:sp>
        <p:nvSpPr>
          <p:cNvPr id="24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4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243" name="Google Shape;187;p26" descr="Google Shape;187;p26"/>
          <p:cNvPicPr>
            <a:picLocks noChangeAspect="1"/>
          </p:cNvPicPr>
          <p:nvPr/>
        </p:nvPicPr>
        <p:blipFill>
          <a:blip r:embed="rId2"/>
          <a:stretch>
            <a:fillRect/>
          </a:stretch>
        </p:blipFill>
        <p:spPr>
          <a:xfrm>
            <a:off x="5334007" y="0"/>
            <a:ext cx="6858001" cy="6858000"/>
          </a:xfrm>
          <a:prstGeom prst="rect">
            <a:avLst/>
          </a:prstGeom>
          <a:ln w="12700">
            <a:miter lim="400000"/>
          </a:ln>
        </p:spPr>
      </p:pic>
    </p:spTree>
    <p:extLst>
      <p:ext uri="{BB962C8B-B14F-4D97-AF65-F5344CB8AC3E}">
        <p14:creationId xmlns:p14="http://schemas.microsoft.com/office/powerpoint/2010/main" val="2310747205"/>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name="Non-US_1">
    <p:bg>
      <p:bgPr>
        <a:solidFill>
          <a:srgbClr val="FFFFFF"/>
        </a:solidFill>
        <a:effectLst/>
      </p:bgPr>
    </p:bg>
    <p:spTree>
      <p:nvGrpSpPr>
        <p:cNvPr id="1" name=""/>
        <p:cNvGrpSpPr/>
        <p:nvPr/>
      </p:nvGrpSpPr>
      <p:grpSpPr>
        <a:xfrm>
          <a:off x="0" y="0"/>
          <a:ext cx="0" cy="0"/>
          <a:chOff x="0" y="0"/>
          <a:chExt cx="0" cy="0"/>
        </a:xfrm>
      </p:grpSpPr>
      <p:pic>
        <p:nvPicPr>
          <p:cNvPr id="251" name="Google Shape;191;p27" descr="Google Shape;191;p27"/>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52"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53"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517874426"/>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type="tx">
  <p:cSld name="United States_1">
    <p:bg>
      <p:bgPr>
        <a:solidFill>
          <a:srgbClr val="FFFFFF"/>
        </a:solidFill>
        <a:effectLst/>
      </p:bgPr>
    </p:bg>
    <p:spTree>
      <p:nvGrpSpPr>
        <p:cNvPr id="1" name=""/>
        <p:cNvGrpSpPr/>
        <p:nvPr/>
      </p:nvGrpSpPr>
      <p:grpSpPr>
        <a:xfrm>
          <a:off x="0" y="0"/>
          <a:ext cx="0" cy="0"/>
          <a:chOff x="0" y="0"/>
          <a:chExt cx="0" cy="0"/>
        </a:xfrm>
      </p:grpSpPr>
      <p:sp>
        <p:nvSpPr>
          <p:cNvPr id="26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6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263" name="Google Shape;201;p28" descr="Google Shape;201;p28"/>
          <p:cNvPicPr>
            <a:picLocks noChangeAspect="1"/>
          </p:cNvPicPr>
          <p:nvPr/>
        </p:nvPicPr>
        <p:blipFill>
          <a:blip r:embed="rId2"/>
          <a:stretch>
            <a:fillRect/>
          </a:stretch>
        </p:blipFill>
        <p:spPr>
          <a:xfrm>
            <a:off x="5334000" y="0"/>
            <a:ext cx="6858000" cy="6858000"/>
          </a:xfrm>
          <a:prstGeom prst="rect">
            <a:avLst/>
          </a:prstGeom>
          <a:ln w="12700">
            <a:miter lim="400000"/>
          </a:ln>
        </p:spPr>
      </p:pic>
    </p:spTree>
    <p:extLst>
      <p:ext uri="{BB962C8B-B14F-4D97-AF65-F5344CB8AC3E}">
        <p14:creationId xmlns:p14="http://schemas.microsoft.com/office/powerpoint/2010/main" val="2364916768"/>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type="tx">
  <p:cSld name="World Map_1">
    <p:bg>
      <p:bgPr>
        <a:solidFill>
          <a:srgbClr val="FFFFFF"/>
        </a:solidFill>
        <a:effectLst/>
      </p:bgPr>
    </p:bg>
    <p:spTree>
      <p:nvGrpSpPr>
        <p:cNvPr id="1" name=""/>
        <p:cNvGrpSpPr/>
        <p:nvPr/>
      </p:nvGrpSpPr>
      <p:grpSpPr>
        <a:xfrm>
          <a:off x="0" y="0"/>
          <a:ext cx="0" cy="0"/>
          <a:chOff x="0" y="0"/>
          <a:chExt cx="0" cy="0"/>
        </a:xfrm>
      </p:grpSpPr>
      <p:sp>
        <p:nvSpPr>
          <p:cNvPr id="27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7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273" name="Google Shape;208;p29" descr="Google Shape;208;p29"/>
          <p:cNvPicPr>
            <a:picLocks noChangeAspect="1"/>
          </p:cNvPicPr>
          <p:nvPr/>
        </p:nvPicPr>
        <p:blipFill>
          <a:blip r:embed="rId2"/>
          <a:stretch>
            <a:fillRect/>
          </a:stretch>
        </p:blipFill>
        <p:spPr>
          <a:xfrm>
            <a:off x="5334000" y="0"/>
            <a:ext cx="6858000" cy="6858000"/>
          </a:xfrm>
          <a:prstGeom prst="rect">
            <a:avLst/>
          </a:prstGeom>
          <a:ln w="12700">
            <a:miter lim="400000"/>
          </a:ln>
        </p:spPr>
      </p:pic>
    </p:spTree>
    <p:extLst>
      <p:ext uri="{BB962C8B-B14F-4D97-AF65-F5344CB8AC3E}">
        <p14:creationId xmlns:p14="http://schemas.microsoft.com/office/powerpoint/2010/main" val="3595538530"/>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type="tx">
  <p:cSld name="North American Union_1">
    <p:bg>
      <p:bgPr>
        <a:solidFill>
          <a:srgbClr val="FFFFFF"/>
        </a:solidFill>
        <a:effectLst/>
      </p:bgPr>
    </p:bg>
    <p:spTree>
      <p:nvGrpSpPr>
        <p:cNvPr id="1" name=""/>
        <p:cNvGrpSpPr/>
        <p:nvPr/>
      </p:nvGrpSpPr>
      <p:grpSpPr>
        <a:xfrm>
          <a:off x="0" y="0"/>
          <a:ext cx="0" cy="0"/>
          <a:chOff x="0" y="0"/>
          <a:chExt cx="0" cy="0"/>
        </a:xfrm>
      </p:grpSpPr>
      <p:sp>
        <p:nvSpPr>
          <p:cNvPr id="28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8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283" name="Google Shape;215;p30" descr="Google Shape;215;p30"/>
          <p:cNvPicPr>
            <a:picLocks noChangeAspect="1"/>
          </p:cNvPicPr>
          <p:nvPr/>
        </p:nvPicPr>
        <p:blipFill>
          <a:blip r:embed="rId2"/>
          <a:stretch>
            <a:fillRect/>
          </a:stretch>
        </p:blipFill>
        <p:spPr>
          <a:xfrm>
            <a:off x="5334000" y="0"/>
            <a:ext cx="6858000" cy="6858000"/>
          </a:xfrm>
          <a:prstGeom prst="rect">
            <a:avLst/>
          </a:prstGeom>
          <a:ln w="12700">
            <a:miter lim="400000"/>
          </a:ln>
        </p:spPr>
      </p:pic>
    </p:spTree>
    <p:extLst>
      <p:ext uri="{BB962C8B-B14F-4D97-AF65-F5344CB8AC3E}">
        <p14:creationId xmlns:p14="http://schemas.microsoft.com/office/powerpoint/2010/main" val="628707468"/>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type="tx">
  <p:cSld name="APAC_1">
    <p:bg>
      <p:bgPr>
        <a:solidFill>
          <a:srgbClr val="FFFFFF"/>
        </a:solidFill>
        <a:effectLst/>
      </p:bgPr>
    </p:bg>
    <p:spTree>
      <p:nvGrpSpPr>
        <p:cNvPr id="1" name=""/>
        <p:cNvGrpSpPr/>
        <p:nvPr/>
      </p:nvGrpSpPr>
      <p:grpSpPr>
        <a:xfrm>
          <a:off x="0" y="0"/>
          <a:ext cx="0" cy="0"/>
          <a:chOff x="0" y="0"/>
          <a:chExt cx="0" cy="0"/>
        </a:xfrm>
      </p:grpSpPr>
      <p:sp>
        <p:nvSpPr>
          <p:cNvPr id="29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9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293" name="Google Shape;222;p31" descr="Google Shape;222;p31"/>
          <p:cNvPicPr>
            <a:picLocks noChangeAspect="1"/>
          </p:cNvPicPr>
          <p:nvPr/>
        </p:nvPicPr>
        <p:blipFill>
          <a:blip r:embed="rId2"/>
          <a:stretch>
            <a:fillRect/>
          </a:stretch>
        </p:blipFill>
        <p:spPr>
          <a:xfrm>
            <a:off x="5334000" y="23801"/>
            <a:ext cx="6858000" cy="6858001"/>
          </a:xfrm>
          <a:prstGeom prst="rect">
            <a:avLst/>
          </a:prstGeom>
          <a:ln w="12700">
            <a:miter lim="400000"/>
          </a:ln>
        </p:spPr>
      </p:pic>
    </p:spTree>
    <p:extLst>
      <p:ext uri="{BB962C8B-B14F-4D97-AF65-F5344CB8AC3E}">
        <p14:creationId xmlns:p14="http://schemas.microsoft.com/office/powerpoint/2010/main" val="3717103478"/>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type="tx">
  <p:cSld name="South America_1">
    <p:bg>
      <p:bgPr>
        <a:solidFill>
          <a:srgbClr val="FFFFFF"/>
        </a:solidFill>
        <a:effectLst/>
      </p:bgPr>
    </p:bg>
    <p:spTree>
      <p:nvGrpSpPr>
        <p:cNvPr id="1" name=""/>
        <p:cNvGrpSpPr/>
        <p:nvPr/>
      </p:nvGrpSpPr>
      <p:grpSpPr>
        <a:xfrm>
          <a:off x="0" y="0"/>
          <a:ext cx="0" cy="0"/>
          <a:chOff x="0" y="0"/>
          <a:chExt cx="0" cy="0"/>
        </a:xfrm>
      </p:grpSpPr>
      <p:sp>
        <p:nvSpPr>
          <p:cNvPr id="30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0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303" name="Google Shape;229;p32" descr="Google Shape;229;p32"/>
          <p:cNvPicPr>
            <a:picLocks noChangeAspect="1"/>
          </p:cNvPicPr>
          <p:nvPr/>
        </p:nvPicPr>
        <p:blipFill>
          <a:blip r:embed="rId2"/>
          <a:stretch>
            <a:fillRect/>
          </a:stretch>
        </p:blipFill>
        <p:spPr>
          <a:xfrm>
            <a:off x="5334000" y="0"/>
            <a:ext cx="6858000" cy="6858000"/>
          </a:xfrm>
          <a:prstGeom prst="rect">
            <a:avLst/>
          </a:prstGeom>
          <a:ln w="12700">
            <a:miter lim="400000"/>
          </a:ln>
        </p:spPr>
      </p:pic>
    </p:spTree>
    <p:extLst>
      <p:ext uri="{BB962C8B-B14F-4D97-AF65-F5344CB8AC3E}">
        <p14:creationId xmlns:p14="http://schemas.microsoft.com/office/powerpoint/2010/main" val="4171190281"/>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type="tx">
  <p:cSld name="Africa_1">
    <p:bg>
      <p:bgPr>
        <a:solidFill>
          <a:srgbClr val="FFFFFF"/>
        </a:solidFill>
        <a:effectLst/>
      </p:bgPr>
    </p:bg>
    <p:spTree>
      <p:nvGrpSpPr>
        <p:cNvPr id="1" name=""/>
        <p:cNvGrpSpPr/>
        <p:nvPr/>
      </p:nvGrpSpPr>
      <p:grpSpPr>
        <a:xfrm>
          <a:off x="0" y="0"/>
          <a:ext cx="0" cy="0"/>
          <a:chOff x="0" y="0"/>
          <a:chExt cx="0" cy="0"/>
        </a:xfrm>
      </p:grpSpPr>
      <p:sp>
        <p:nvSpPr>
          <p:cNvPr id="31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1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313" name="Google Shape;236;p33" descr="Google Shape;236;p33"/>
          <p:cNvPicPr>
            <a:picLocks noChangeAspect="1"/>
          </p:cNvPicPr>
          <p:nvPr/>
        </p:nvPicPr>
        <p:blipFill>
          <a:blip r:embed="rId2"/>
          <a:stretch>
            <a:fillRect/>
          </a:stretch>
        </p:blipFill>
        <p:spPr>
          <a:xfrm>
            <a:off x="5334000" y="0"/>
            <a:ext cx="6858000" cy="6858000"/>
          </a:xfrm>
          <a:prstGeom prst="rect">
            <a:avLst/>
          </a:prstGeom>
          <a:ln w="12700">
            <a:miter lim="400000"/>
          </a:ln>
        </p:spPr>
      </p:pic>
    </p:spTree>
    <p:extLst>
      <p:ext uri="{BB962C8B-B14F-4D97-AF65-F5344CB8AC3E}">
        <p14:creationId xmlns:p14="http://schemas.microsoft.com/office/powerpoint/2010/main" val="91829702"/>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type="tx">
  <p:cSld name="Europe_2">
    <p:bg>
      <p:bgPr>
        <a:solidFill>
          <a:srgbClr val="FFFFFF"/>
        </a:solidFill>
        <a:effectLst/>
      </p:bgPr>
    </p:bg>
    <p:spTree>
      <p:nvGrpSpPr>
        <p:cNvPr id="1" name=""/>
        <p:cNvGrpSpPr/>
        <p:nvPr/>
      </p:nvGrpSpPr>
      <p:grpSpPr>
        <a:xfrm>
          <a:off x="0" y="0"/>
          <a:ext cx="0" cy="0"/>
          <a:chOff x="0" y="0"/>
          <a:chExt cx="0" cy="0"/>
        </a:xfrm>
      </p:grpSpPr>
      <p:sp>
        <p:nvSpPr>
          <p:cNvPr id="32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2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323" name="Google Shape;243;p34" descr="Google Shape;243;p34"/>
          <p:cNvPicPr>
            <a:picLocks noChangeAspect="1"/>
          </p:cNvPicPr>
          <p:nvPr/>
        </p:nvPicPr>
        <p:blipFill>
          <a:blip r:embed="rId2"/>
          <a:stretch>
            <a:fillRect/>
          </a:stretch>
        </p:blipFill>
        <p:spPr>
          <a:xfrm>
            <a:off x="5334000" y="0"/>
            <a:ext cx="6858000" cy="6858000"/>
          </a:xfrm>
          <a:prstGeom prst="rect">
            <a:avLst/>
          </a:prstGeom>
          <a:ln w="12700">
            <a:miter lim="400000"/>
          </a:ln>
        </p:spPr>
      </p:pic>
    </p:spTree>
    <p:extLst>
      <p:ext uri="{BB962C8B-B14F-4D97-AF65-F5344CB8AC3E}">
        <p14:creationId xmlns:p14="http://schemas.microsoft.com/office/powerpoint/2010/main" val="597772728"/>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Europe_1_2">
    <p:bg>
      <p:bgPr>
        <a:solidFill>
          <a:srgbClr val="FFFFFF"/>
        </a:solidFill>
        <a:effectLst/>
      </p:bgPr>
    </p:bg>
    <p:spTree>
      <p:nvGrpSpPr>
        <p:cNvPr id="1" name=""/>
        <p:cNvGrpSpPr/>
        <p:nvPr/>
      </p:nvGrpSpPr>
      <p:grpSpPr>
        <a:xfrm>
          <a:off x="0" y="0"/>
          <a:ext cx="0" cy="0"/>
          <a:chOff x="0" y="0"/>
          <a:chExt cx="0" cy="0"/>
        </a:xfrm>
      </p:grpSpPr>
      <p:sp>
        <p:nvSpPr>
          <p:cNvPr id="33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3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333" name="Google Shape;250;p35" descr="Google Shape;250;p35"/>
          <p:cNvPicPr>
            <a:picLocks noChangeAspect="1"/>
          </p:cNvPicPr>
          <p:nvPr/>
        </p:nvPicPr>
        <p:blipFill>
          <a:blip r:embed="rId2"/>
          <a:stretch>
            <a:fillRect/>
          </a:stretch>
        </p:blipFill>
        <p:spPr>
          <a:xfrm>
            <a:off x="5334007" y="0"/>
            <a:ext cx="6858001" cy="6858000"/>
          </a:xfrm>
          <a:prstGeom prst="rect">
            <a:avLst/>
          </a:prstGeom>
          <a:ln w="12700">
            <a:miter lim="400000"/>
          </a:ln>
        </p:spPr>
      </p:pic>
    </p:spTree>
    <p:extLst>
      <p:ext uri="{BB962C8B-B14F-4D97-AF65-F5344CB8AC3E}">
        <p14:creationId xmlns:p14="http://schemas.microsoft.com/office/powerpoint/2010/main" val="1181012290"/>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Europe_1_1">
    <p:bg>
      <p:bgPr>
        <a:solidFill>
          <a:srgbClr val="FFFFFF"/>
        </a:solidFill>
        <a:effectLst/>
      </p:bgPr>
    </p:bg>
    <p:spTree>
      <p:nvGrpSpPr>
        <p:cNvPr id="1" name=""/>
        <p:cNvGrpSpPr/>
        <p:nvPr/>
      </p:nvGrpSpPr>
      <p:grpSpPr>
        <a:xfrm>
          <a:off x="0" y="0"/>
          <a:ext cx="0" cy="0"/>
          <a:chOff x="0" y="0"/>
          <a:chExt cx="0" cy="0"/>
        </a:xfrm>
      </p:grpSpPr>
      <p:sp>
        <p:nvSpPr>
          <p:cNvPr id="34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42"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pic>
        <p:nvPicPr>
          <p:cNvPr id="343" name="Google Shape;259;p36" descr="Google Shape;259;p36"/>
          <p:cNvPicPr>
            <a:picLocks noChangeAspect="1"/>
          </p:cNvPicPr>
          <p:nvPr/>
        </p:nvPicPr>
        <p:blipFill>
          <a:blip r:embed="rId2"/>
          <a:stretch>
            <a:fillRect/>
          </a:stretch>
        </p:blipFill>
        <p:spPr>
          <a:xfrm rot="20447192">
            <a:off x="7280453" y="1067385"/>
            <a:ext cx="4688233" cy="4688235"/>
          </a:xfrm>
          <a:prstGeom prst="rect">
            <a:avLst/>
          </a:prstGeom>
          <a:ln w="12700">
            <a:miter lim="400000"/>
          </a:ln>
        </p:spPr>
      </p:pic>
    </p:spTree>
    <p:extLst>
      <p:ext uri="{BB962C8B-B14F-4D97-AF65-F5344CB8AC3E}">
        <p14:creationId xmlns:p14="http://schemas.microsoft.com/office/powerpoint/2010/main" val="245127845"/>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type="tx">
  <p:cSld name="Chart Slide 1">
    <p:bg>
      <p:bgPr>
        <a:solidFill>
          <a:srgbClr val="FFFFFF"/>
        </a:solidFill>
        <a:effectLst/>
      </p:bgPr>
    </p:bg>
    <p:spTree>
      <p:nvGrpSpPr>
        <p:cNvPr id="1" name=""/>
        <p:cNvGrpSpPr/>
        <p:nvPr/>
      </p:nvGrpSpPr>
      <p:grpSpPr>
        <a:xfrm>
          <a:off x="0" y="0"/>
          <a:ext cx="0" cy="0"/>
          <a:chOff x="0" y="0"/>
          <a:chExt cx="0" cy="0"/>
        </a:xfrm>
      </p:grpSpPr>
      <p:sp>
        <p:nvSpPr>
          <p:cNvPr id="351" name="Google Shape;261;p37"/>
          <p:cNvSpPr/>
          <p:nvPr/>
        </p:nvSpPr>
        <p:spPr>
          <a:xfrm>
            <a:off x="7467600" y="-2"/>
            <a:ext cx="4724400"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352" name="Body Level One…"/>
          <p:cNvSpPr txBox="1">
            <a:spLocks noGrp="1"/>
          </p:cNvSpPr>
          <p:nvPr>
            <p:ph type="body" sz="quarter" idx="1"/>
          </p:nvPr>
        </p:nvSpPr>
        <p:spPr>
          <a:xfrm>
            <a:off x="7852501" y="3598665"/>
            <a:ext cx="3856401" cy="2364803"/>
          </a:xfrm>
          <a:prstGeom prst="rect">
            <a:avLst/>
          </a:prstGeom>
        </p:spPr>
        <p:txBody>
          <a:bodyPr>
            <a:normAutofit/>
          </a:bodyPr>
          <a:lstStyle>
            <a:lvl1pPr marL="457189" indent="-304792">
              <a:buClrTx/>
              <a:buSzTx/>
              <a:buFontTx/>
              <a:buNone/>
              <a:defRPr sz="1600"/>
            </a:lvl1pPr>
            <a:lvl2pPr marL="457189" indent="330192">
              <a:buClrTx/>
              <a:buSzTx/>
              <a:buFontTx/>
              <a:buNone/>
              <a:defRPr sz="1600"/>
            </a:lvl2pPr>
            <a:lvl3pPr marL="457189" indent="965176">
              <a:buClrTx/>
              <a:buSzTx/>
              <a:buFontTx/>
              <a:buNone/>
              <a:defRPr sz="1600"/>
            </a:lvl3pPr>
            <a:lvl4pPr marL="457189" indent="1574761">
              <a:buClrTx/>
              <a:buSzTx/>
              <a:buFontTx/>
              <a:buNone/>
              <a:defRPr sz="1600"/>
            </a:lvl4pPr>
            <a:lvl5pPr marL="457189" indent="2184345">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53" name="Title Text"/>
          <p:cNvSpPr txBox="1">
            <a:spLocks noGrp="1"/>
          </p:cNvSpPr>
          <p:nvPr>
            <p:ph type="title"/>
          </p:nvPr>
        </p:nvSpPr>
        <p:spPr>
          <a:xfrm>
            <a:off x="7876034" y="1024134"/>
            <a:ext cx="3832801" cy="100584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1549263562"/>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name="Chart Slide 2">
    <p:bg>
      <p:bgPr>
        <a:solidFill>
          <a:srgbClr val="FFFFFF"/>
        </a:solidFill>
        <a:effectLst/>
      </p:bgPr>
    </p:bg>
    <p:spTree>
      <p:nvGrpSpPr>
        <p:cNvPr id="1" name=""/>
        <p:cNvGrpSpPr/>
        <p:nvPr/>
      </p:nvGrpSpPr>
      <p:grpSpPr>
        <a:xfrm>
          <a:off x="0" y="0"/>
          <a:ext cx="0" cy="0"/>
          <a:chOff x="0" y="0"/>
          <a:chExt cx="0" cy="0"/>
        </a:xfrm>
      </p:grpSpPr>
      <p:sp>
        <p:nvSpPr>
          <p:cNvPr id="361" name="Google Shape;268;p38"/>
          <p:cNvSpPr/>
          <p:nvPr/>
        </p:nvSpPr>
        <p:spPr>
          <a:xfrm>
            <a:off x="0" y="-2"/>
            <a:ext cx="4724400"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362"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a:lvl1pPr>
            <a:lvl2pPr marL="457189" indent="330192">
              <a:buClrTx/>
              <a:buSzTx/>
              <a:buFontTx/>
              <a:buNone/>
              <a:defRPr sz="1600"/>
            </a:lvl2pPr>
            <a:lvl3pPr marL="457189" indent="965176">
              <a:buClrTx/>
              <a:buSzTx/>
              <a:buFontTx/>
              <a:buNone/>
              <a:defRPr sz="1600"/>
            </a:lvl3pPr>
            <a:lvl4pPr marL="457189" indent="1574761">
              <a:buClrTx/>
              <a:buSzTx/>
              <a:buFontTx/>
              <a:buNone/>
              <a:defRPr sz="1600"/>
            </a:lvl4pPr>
            <a:lvl5pPr marL="457189" indent="2184345">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63"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3099871631"/>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type="tx">
  <p:cSld name="Chart Slide 3">
    <p:bg>
      <p:bgPr>
        <a:solidFill>
          <a:srgbClr val="FFFFFF"/>
        </a:solidFill>
        <a:effectLst/>
      </p:bgPr>
    </p:bg>
    <p:spTree>
      <p:nvGrpSpPr>
        <p:cNvPr id="1" name=""/>
        <p:cNvGrpSpPr/>
        <p:nvPr/>
      </p:nvGrpSpPr>
      <p:grpSpPr>
        <a:xfrm>
          <a:off x="0" y="0"/>
          <a:ext cx="0" cy="0"/>
          <a:chOff x="0" y="0"/>
          <a:chExt cx="0" cy="0"/>
        </a:xfrm>
      </p:grpSpPr>
      <p:sp>
        <p:nvSpPr>
          <p:cNvPr id="371" name="Body Level One…"/>
          <p:cNvSpPr txBox="1">
            <a:spLocks noGrp="1"/>
          </p:cNvSpPr>
          <p:nvPr>
            <p:ph type="body" sz="quarter" idx="1"/>
          </p:nvPr>
        </p:nvSpPr>
        <p:spPr>
          <a:xfrm>
            <a:off x="7876034" y="3598665"/>
            <a:ext cx="3832801" cy="2364803"/>
          </a:xfrm>
          <a:prstGeom prst="rect">
            <a:avLst/>
          </a:prstGeom>
        </p:spPr>
        <p:txBody>
          <a:bodyPr>
            <a:normAutofit/>
          </a:bodyPr>
          <a:lstStyle>
            <a:lvl1pPr marL="457189" indent="-304792">
              <a:buClrTx/>
              <a:buSzTx/>
              <a:buFontTx/>
              <a:buNone/>
              <a:defRPr sz="1600" b="0">
                <a:solidFill>
                  <a:srgbClr val="1E1E1E"/>
                </a:solidFill>
              </a:defRPr>
            </a:lvl1pPr>
            <a:lvl2pPr marL="457189" indent="330192">
              <a:buClrTx/>
              <a:buSzTx/>
              <a:buFontTx/>
              <a:buNone/>
              <a:defRPr sz="1600" b="0">
                <a:solidFill>
                  <a:srgbClr val="1E1E1E"/>
                </a:solidFill>
              </a:defRPr>
            </a:lvl2pPr>
            <a:lvl3pPr marL="457189" indent="965176">
              <a:buClrTx/>
              <a:buSzTx/>
              <a:buFontTx/>
              <a:buNone/>
              <a:defRPr sz="1600" b="0">
                <a:solidFill>
                  <a:srgbClr val="1E1E1E"/>
                </a:solidFill>
              </a:defRPr>
            </a:lvl3pPr>
            <a:lvl4pPr marL="457189" indent="1574761">
              <a:buClrTx/>
              <a:buSzTx/>
              <a:buFontTx/>
              <a:buNone/>
              <a:defRPr sz="1600" b="0">
                <a:solidFill>
                  <a:srgbClr val="1E1E1E"/>
                </a:solidFill>
              </a:defRPr>
            </a:lvl4pPr>
            <a:lvl5pPr marL="457189" indent="2184345">
              <a:buClrTx/>
              <a:buSzTx/>
              <a:buFontTx/>
              <a:buNone/>
              <a:defRPr sz="1600" b="0">
                <a:solidFill>
                  <a:srgbClr val="1E1E1E"/>
                </a:solidFill>
              </a:defRPr>
            </a:lvl5pPr>
          </a:lstStyle>
          <a:p>
            <a:r>
              <a:t>Body Level One</a:t>
            </a:r>
          </a:p>
          <a:p>
            <a:pPr lvl="1"/>
            <a:r>
              <a:t>Body Level Two</a:t>
            </a:r>
          </a:p>
          <a:p>
            <a:pPr lvl="2"/>
            <a:r>
              <a:t>Body Level Three</a:t>
            </a:r>
          </a:p>
          <a:p>
            <a:pPr lvl="3"/>
            <a:r>
              <a:t>Body Level Four</a:t>
            </a:r>
          </a:p>
          <a:p>
            <a:pPr lvl="4"/>
            <a:r>
              <a:t>Body Level Five</a:t>
            </a:r>
          </a:p>
        </p:txBody>
      </p:sp>
      <p:sp>
        <p:nvSpPr>
          <p:cNvPr id="372" name="Title Text"/>
          <p:cNvSpPr txBox="1">
            <a:spLocks noGrp="1"/>
          </p:cNvSpPr>
          <p:nvPr>
            <p:ph type="title"/>
          </p:nvPr>
        </p:nvSpPr>
        <p:spPr>
          <a:xfrm>
            <a:off x="7876034" y="1024134"/>
            <a:ext cx="3832801" cy="100584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2478816435"/>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type="tx">
  <p:cSld name="Chart Slide 4">
    <p:bg>
      <p:bgPr>
        <a:solidFill>
          <a:srgbClr val="FFFFFF"/>
        </a:solidFill>
        <a:effectLst/>
      </p:bgPr>
    </p:bg>
    <p:spTree>
      <p:nvGrpSpPr>
        <p:cNvPr id="1" name=""/>
        <p:cNvGrpSpPr/>
        <p:nvPr/>
      </p:nvGrpSpPr>
      <p:grpSpPr>
        <a:xfrm>
          <a:off x="0" y="0"/>
          <a:ext cx="0" cy="0"/>
          <a:chOff x="0" y="0"/>
          <a:chExt cx="0" cy="0"/>
        </a:xfrm>
      </p:grpSpPr>
      <p:sp>
        <p:nvSpPr>
          <p:cNvPr id="380"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sp>
        <p:nvSpPr>
          <p:cNvPr id="38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1221686667"/>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type="tx">
  <p:cSld name="Chart Slide 6">
    <p:bg>
      <p:bgPr>
        <a:solidFill>
          <a:srgbClr val="FFFFFF"/>
        </a:solidFill>
        <a:effectLst/>
      </p:bgPr>
    </p:bg>
    <p:spTree>
      <p:nvGrpSpPr>
        <p:cNvPr id="1" name=""/>
        <p:cNvGrpSpPr/>
        <p:nvPr/>
      </p:nvGrpSpPr>
      <p:grpSpPr>
        <a:xfrm>
          <a:off x="0" y="0"/>
          <a:ext cx="0" cy="0"/>
          <a:chOff x="0" y="0"/>
          <a:chExt cx="0" cy="0"/>
        </a:xfrm>
      </p:grpSpPr>
      <p:sp>
        <p:nvSpPr>
          <p:cNvPr id="389" name="Title Text"/>
          <p:cNvSpPr txBox="1">
            <a:spLocks noGrp="1"/>
          </p:cNvSpPr>
          <p:nvPr>
            <p:ph type="title"/>
          </p:nvPr>
        </p:nvSpPr>
        <p:spPr>
          <a:xfrm>
            <a:off x="301099" y="182880"/>
            <a:ext cx="10252801" cy="79200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1540469390"/>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type="tx">
  <p:cSld name="1_Blue Bar Text_1_1">
    <p:bg>
      <p:bgPr>
        <a:solidFill>
          <a:srgbClr val="FFFFFF"/>
        </a:solidFill>
        <a:effectLst/>
      </p:bgPr>
    </p:bg>
    <p:spTree>
      <p:nvGrpSpPr>
        <p:cNvPr id="1" name=""/>
        <p:cNvGrpSpPr/>
        <p:nvPr/>
      </p:nvGrpSpPr>
      <p:grpSpPr>
        <a:xfrm>
          <a:off x="0" y="0"/>
          <a:ext cx="0" cy="0"/>
          <a:chOff x="0" y="0"/>
          <a:chExt cx="0" cy="0"/>
        </a:xfrm>
      </p:grpSpPr>
      <p:sp>
        <p:nvSpPr>
          <p:cNvPr id="397"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sp>
        <p:nvSpPr>
          <p:cNvPr id="398"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2849636449"/>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type="tx">
  <p:cSld name="1_Grey Bar text_1">
    <p:bg>
      <p:bgPr>
        <a:solidFill>
          <a:srgbClr val="FFFFFF"/>
        </a:solidFill>
        <a:effectLst/>
      </p:bgPr>
    </p:bg>
    <p:spTree>
      <p:nvGrpSpPr>
        <p:cNvPr id="1" name=""/>
        <p:cNvGrpSpPr/>
        <p:nvPr/>
      </p:nvGrpSpPr>
      <p:grpSpPr>
        <a:xfrm>
          <a:off x="0" y="0"/>
          <a:ext cx="0" cy="0"/>
          <a:chOff x="0" y="0"/>
          <a:chExt cx="0" cy="0"/>
        </a:xfrm>
      </p:grpSpPr>
      <p:sp>
        <p:nvSpPr>
          <p:cNvPr id="406" name="Google Shape;304;p43"/>
          <p:cNvSpPr/>
          <p:nvPr/>
        </p:nvSpPr>
        <p:spPr>
          <a:xfrm>
            <a:off x="0" y="-2"/>
            <a:ext cx="4724400" cy="6858001"/>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407"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lvl1pPr>
            <a:lvl2pPr marL="457189" indent="330192">
              <a:buClrTx/>
              <a:buSzTx/>
              <a:buFontTx/>
              <a:buNone/>
              <a:defRPr sz="1600" b="0"/>
            </a:lvl2pPr>
            <a:lvl3pPr marL="457189" indent="965176">
              <a:buClrTx/>
              <a:buSzTx/>
              <a:buFontTx/>
              <a:buNone/>
              <a:defRPr sz="1600" b="0"/>
            </a:lvl3pPr>
            <a:lvl4pPr marL="457189" indent="1574761">
              <a:buClrTx/>
              <a:buSzTx/>
              <a:buFontTx/>
              <a:buNone/>
              <a:defRPr sz="1600" b="0"/>
            </a:lvl4pPr>
            <a:lvl5pPr marL="457189" indent="2184345">
              <a:buClrTx/>
              <a:buSzTx/>
              <a:buFontTx/>
              <a:buNone/>
              <a:defRPr sz="1600" b="0"/>
            </a:lvl5pPr>
          </a:lstStyle>
          <a:p>
            <a:r>
              <a:t>Body Level One</a:t>
            </a:r>
          </a:p>
          <a:p>
            <a:pPr lvl="1"/>
            <a:r>
              <a:t>Body Level Two</a:t>
            </a:r>
          </a:p>
          <a:p>
            <a:pPr lvl="2"/>
            <a:r>
              <a:t>Body Level Three</a:t>
            </a:r>
          </a:p>
          <a:p>
            <a:pPr lvl="3"/>
            <a:r>
              <a:t>Body Level Four</a:t>
            </a:r>
          </a:p>
          <a:p>
            <a:pPr lvl="4"/>
            <a:r>
              <a:t>Body Level Five</a:t>
            </a:r>
          </a:p>
        </p:txBody>
      </p:sp>
      <p:sp>
        <p:nvSpPr>
          <p:cNvPr id="408"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71537593"/>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type="tx">
  <p:cSld name="1_Blue Bar Text_1">
    <p:bg>
      <p:bgPr>
        <a:solidFill>
          <a:srgbClr val="FFFFFF"/>
        </a:solidFill>
        <a:effectLst/>
      </p:bgPr>
    </p:bg>
    <p:spTree>
      <p:nvGrpSpPr>
        <p:cNvPr id="1" name=""/>
        <p:cNvGrpSpPr/>
        <p:nvPr/>
      </p:nvGrpSpPr>
      <p:grpSpPr>
        <a:xfrm>
          <a:off x="0" y="0"/>
          <a:ext cx="0" cy="0"/>
          <a:chOff x="0" y="0"/>
          <a:chExt cx="0" cy="0"/>
        </a:xfrm>
      </p:grpSpPr>
      <p:sp>
        <p:nvSpPr>
          <p:cNvPr id="416" name="Google Shape;317;p44"/>
          <p:cNvSpPr/>
          <p:nvPr/>
        </p:nvSpPr>
        <p:spPr>
          <a:xfrm>
            <a:off x="0" y="-2"/>
            <a:ext cx="4724400" cy="6858001"/>
          </a:xfrm>
          <a:prstGeom prst="rect">
            <a:avLst/>
          </a:prstGeom>
          <a:solidFill>
            <a:srgbClr val="2D8FE2"/>
          </a:solidFill>
          <a:ln w="12700">
            <a:miter lim="400000"/>
          </a:ln>
        </p:spPr>
        <p:txBody>
          <a:bodyPr lIns="60959" rIns="60959" anchor="ctr"/>
          <a:lstStyle/>
          <a:p>
            <a:pPr algn="ctr">
              <a:defRPr sz="1800">
                <a:solidFill>
                  <a:srgbClr val="FFFFFF"/>
                </a:solidFill>
              </a:defRPr>
            </a:pPr>
            <a:endParaRPr sz="2400"/>
          </a:p>
        </p:txBody>
      </p:sp>
      <p:sp>
        <p:nvSpPr>
          <p:cNvPr id="417"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a:lvl1pPr>
            <a:lvl2pPr marL="457189" indent="330192">
              <a:buClrTx/>
              <a:buSzTx/>
              <a:buFontTx/>
              <a:buNone/>
              <a:defRPr sz="1600"/>
            </a:lvl2pPr>
            <a:lvl3pPr marL="457189" indent="965176">
              <a:buClrTx/>
              <a:buSzTx/>
              <a:buFontTx/>
              <a:buNone/>
              <a:defRPr sz="1600"/>
            </a:lvl3pPr>
            <a:lvl4pPr marL="457189" indent="1574761">
              <a:buClrTx/>
              <a:buSzTx/>
              <a:buFontTx/>
              <a:buNone/>
              <a:defRPr sz="1600"/>
            </a:lvl4pPr>
            <a:lvl5pPr marL="457189" indent="2184345">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418"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2338041427"/>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type="tx">
  <p:cSld name="1_Black Bar text_1">
    <p:bg>
      <p:bgPr>
        <a:solidFill>
          <a:srgbClr val="FFFFFF"/>
        </a:solidFill>
        <a:effectLst/>
      </p:bgPr>
    </p:bg>
    <p:spTree>
      <p:nvGrpSpPr>
        <p:cNvPr id="1" name=""/>
        <p:cNvGrpSpPr/>
        <p:nvPr/>
      </p:nvGrpSpPr>
      <p:grpSpPr>
        <a:xfrm>
          <a:off x="0" y="0"/>
          <a:ext cx="0" cy="0"/>
          <a:chOff x="0" y="0"/>
          <a:chExt cx="0" cy="0"/>
        </a:xfrm>
      </p:grpSpPr>
      <p:sp>
        <p:nvSpPr>
          <p:cNvPr id="426" name="Google Shape;330;p45"/>
          <p:cNvSpPr/>
          <p:nvPr/>
        </p:nvSpPr>
        <p:spPr>
          <a:xfrm>
            <a:off x="0" y="-2"/>
            <a:ext cx="4724400" cy="6858001"/>
          </a:xfrm>
          <a:prstGeom prst="rect">
            <a:avLst/>
          </a:prstGeom>
          <a:solidFill>
            <a:srgbClr val="0A0A0C"/>
          </a:solidFill>
          <a:ln w="12700">
            <a:miter lim="400000"/>
          </a:ln>
        </p:spPr>
        <p:txBody>
          <a:bodyPr lIns="60959" rIns="60959" anchor="ctr"/>
          <a:lstStyle/>
          <a:p>
            <a:pPr algn="ctr">
              <a:defRPr>
                <a:solidFill>
                  <a:srgbClr val="FFFFFF"/>
                </a:solidFill>
              </a:defRPr>
            </a:pPr>
            <a:endParaRPr sz="2400"/>
          </a:p>
        </p:txBody>
      </p:sp>
      <p:sp>
        <p:nvSpPr>
          <p:cNvPr id="427"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lvl1pPr>
            <a:lvl2pPr marL="457189" indent="330192">
              <a:buClrTx/>
              <a:buSzTx/>
              <a:buFontTx/>
              <a:buNone/>
              <a:defRPr sz="1600" b="0"/>
            </a:lvl2pPr>
            <a:lvl3pPr marL="457189" indent="965176">
              <a:buClrTx/>
              <a:buSzTx/>
              <a:buFontTx/>
              <a:buNone/>
              <a:defRPr sz="1600" b="0"/>
            </a:lvl3pPr>
            <a:lvl4pPr marL="457189" indent="1574761">
              <a:buClrTx/>
              <a:buSzTx/>
              <a:buFontTx/>
              <a:buNone/>
              <a:defRPr sz="1600" b="0"/>
            </a:lvl4pPr>
            <a:lvl5pPr marL="457189" indent="2184345">
              <a:buClrTx/>
              <a:buSzTx/>
              <a:buFontTx/>
              <a:buNone/>
              <a:defRPr sz="1600" b="0"/>
            </a:lvl5pPr>
          </a:lstStyle>
          <a:p>
            <a:r>
              <a:t>Body Level One</a:t>
            </a:r>
          </a:p>
          <a:p>
            <a:pPr lvl="1"/>
            <a:r>
              <a:t>Body Level Two</a:t>
            </a:r>
          </a:p>
          <a:p>
            <a:pPr lvl="2"/>
            <a:r>
              <a:t>Body Level Three</a:t>
            </a:r>
          </a:p>
          <a:p>
            <a:pPr lvl="3"/>
            <a:r>
              <a:t>Body Level Four</a:t>
            </a:r>
          </a:p>
          <a:p>
            <a:pPr lvl="4"/>
            <a:r>
              <a:t>Body Level Five</a:t>
            </a:r>
          </a:p>
        </p:txBody>
      </p:sp>
      <p:sp>
        <p:nvSpPr>
          <p:cNvPr id="428"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spTree>
    <p:extLst>
      <p:ext uri="{BB962C8B-B14F-4D97-AF65-F5344CB8AC3E}">
        <p14:creationId xmlns:p14="http://schemas.microsoft.com/office/powerpoint/2010/main" val="3406047536"/>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type="tx">
  <p:cSld name="Team Members">
    <p:bg>
      <p:bgPr>
        <a:solidFill>
          <a:srgbClr val="FFFFFF"/>
        </a:solidFill>
        <a:effectLst/>
      </p:bgPr>
    </p:bg>
    <p:spTree>
      <p:nvGrpSpPr>
        <p:cNvPr id="1" name=""/>
        <p:cNvGrpSpPr/>
        <p:nvPr/>
      </p:nvGrpSpPr>
      <p:grpSpPr>
        <a:xfrm>
          <a:off x="0" y="0"/>
          <a:ext cx="0" cy="0"/>
          <a:chOff x="0" y="0"/>
          <a:chExt cx="0" cy="0"/>
        </a:xfrm>
      </p:grpSpPr>
      <p:sp>
        <p:nvSpPr>
          <p:cNvPr id="436" name="Title Text"/>
          <p:cNvSpPr txBox="1">
            <a:spLocks noGrp="1"/>
          </p:cNvSpPr>
          <p:nvPr>
            <p:ph type="title"/>
          </p:nvPr>
        </p:nvSpPr>
        <p:spPr>
          <a:xfrm>
            <a:off x="301099" y="182880"/>
            <a:ext cx="10252801" cy="792000"/>
          </a:xfrm>
          <a:prstGeom prst="rect">
            <a:avLst/>
          </a:prstGeom>
        </p:spPr>
        <p:txBody>
          <a:bodyPr anchor="t"/>
          <a:lstStyle>
            <a:lvl1pPr>
              <a:defRPr sz="3200"/>
            </a:lvl1pPr>
          </a:lstStyle>
          <a:p>
            <a:r>
              <a:t>Title Text</a:t>
            </a:r>
          </a:p>
        </p:txBody>
      </p:sp>
      <p:sp>
        <p:nvSpPr>
          <p:cNvPr id="437" name="Body Level One…"/>
          <p:cNvSpPr txBox="1">
            <a:spLocks noGrp="1"/>
          </p:cNvSpPr>
          <p:nvPr>
            <p:ph type="body" sz="quarter" idx="1"/>
          </p:nvPr>
        </p:nvSpPr>
        <p:spPr>
          <a:xfrm>
            <a:off x="1084566" y="1219201"/>
            <a:ext cx="4093601" cy="444801"/>
          </a:xfrm>
          <a:prstGeom prst="rect">
            <a:avLst/>
          </a:prstGeom>
        </p:spPr>
        <p:txBody>
          <a:bodyPr>
            <a:normAutofit/>
          </a:bodyPr>
          <a:lstStyle>
            <a:lvl1pPr marL="457189" indent="-304792">
              <a:buClrTx/>
              <a:buSzTx/>
              <a:buFontTx/>
              <a:buNone/>
              <a:defRPr sz="2000">
                <a:solidFill>
                  <a:srgbClr val="2D8FE2"/>
                </a:solidFill>
              </a:defRPr>
            </a:lvl1pPr>
            <a:lvl2pPr marL="457189" indent="330192">
              <a:buClrTx/>
              <a:buSzTx/>
              <a:buFontTx/>
              <a:buNone/>
              <a:defRPr sz="2000">
                <a:solidFill>
                  <a:srgbClr val="2D8FE2"/>
                </a:solidFill>
              </a:defRPr>
            </a:lvl2pPr>
            <a:lvl3pPr marL="457189" indent="965176">
              <a:buClrTx/>
              <a:buSzTx/>
              <a:buFontTx/>
              <a:buNone/>
              <a:defRPr sz="2000">
                <a:solidFill>
                  <a:srgbClr val="2D8FE2"/>
                </a:solidFill>
              </a:defRPr>
            </a:lvl3pPr>
            <a:lvl4pPr marL="457189" indent="1574761">
              <a:buClrTx/>
              <a:buSzTx/>
              <a:buFontTx/>
              <a:buNone/>
              <a:defRPr sz="2000">
                <a:solidFill>
                  <a:srgbClr val="2D8FE2"/>
                </a:solidFill>
              </a:defRPr>
            </a:lvl4pPr>
            <a:lvl5pPr marL="457189" indent="2184345">
              <a:buClrTx/>
              <a:buSzTx/>
              <a:buFontTx/>
              <a:buNone/>
              <a:defRPr sz="2000">
                <a:solidFill>
                  <a:srgbClr val="2D8FE2"/>
                </a:solidFill>
              </a:defRPr>
            </a:lvl5pPr>
          </a:lstStyle>
          <a:p>
            <a:r>
              <a:t>Body Level One</a:t>
            </a:r>
          </a:p>
          <a:p>
            <a:pPr lvl="1"/>
            <a:r>
              <a:t>Body Level Two</a:t>
            </a:r>
          </a:p>
          <a:p>
            <a:pPr lvl="2"/>
            <a:r>
              <a:t>Body Level Three</a:t>
            </a:r>
          </a:p>
          <a:p>
            <a:pPr lvl="3"/>
            <a:r>
              <a:t>Body Level Four</a:t>
            </a:r>
          </a:p>
          <a:p>
            <a:pPr lvl="4"/>
            <a:r>
              <a:t>Body Level Five</a:t>
            </a:r>
          </a:p>
        </p:txBody>
      </p:sp>
      <p:sp>
        <p:nvSpPr>
          <p:cNvPr id="438" name="Google Shape;353;p46"/>
          <p:cNvSpPr/>
          <p:nvPr/>
        </p:nvSpPr>
        <p:spPr>
          <a:xfrm>
            <a:off x="320034" y="1360440"/>
            <a:ext cx="609601" cy="609601"/>
          </a:xfrm>
          <a:prstGeom prst="ellipse">
            <a:avLst/>
          </a:prstGeom>
          <a:solidFill>
            <a:srgbClr val="E3E7F0"/>
          </a:solidFill>
          <a:ln>
            <a:solidFill>
              <a:srgbClr val="F2F0EE"/>
            </a:solidFill>
          </a:ln>
        </p:spPr>
        <p:txBody>
          <a:bodyPr lIns="60959" rIns="60959" anchor="ctr"/>
          <a:lstStyle/>
          <a:p>
            <a:endParaRPr sz="2400"/>
          </a:p>
        </p:txBody>
      </p:sp>
      <p:sp>
        <p:nvSpPr>
          <p:cNvPr id="439" name="Google Shape;354;p46"/>
          <p:cNvSpPr/>
          <p:nvPr/>
        </p:nvSpPr>
        <p:spPr>
          <a:xfrm>
            <a:off x="320034" y="2620308"/>
            <a:ext cx="609601" cy="609601"/>
          </a:xfrm>
          <a:prstGeom prst="ellipse">
            <a:avLst/>
          </a:prstGeom>
          <a:solidFill>
            <a:srgbClr val="E3E7F0"/>
          </a:solidFill>
          <a:ln>
            <a:solidFill>
              <a:srgbClr val="F2F0EE"/>
            </a:solidFill>
          </a:ln>
        </p:spPr>
        <p:txBody>
          <a:bodyPr lIns="60959" rIns="60959" anchor="ctr"/>
          <a:lstStyle/>
          <a:p>
            <a:endParaRPr sz="2400"/>
          </a:p>
        </p:txBody>
      </p:sp>
      <p:sp>
        <p:nvSpPr>
          <p:cNvPr id="440" name="Google Shape;355;p46"/>
          <p:cNvSpPr/>
          <p:nvPr/>
        </p:nvSpPr>
        <p:spPr>
          <a:xfrm>
            <a:off x="320034" y="3830641"/>
            <a:ext cx="609601" cy="609601"/>
          </a:xfrm>
          <a:prstGeom prst="ellipse">
            <a:avLst/>
          </a:prstGeom>
          <a:solidFill>
            <a:srgbClr val="E3E7F0"/>
          </a:solidFill>
          <a:ln>
            <a:solidFill>
              <a:srgbClr val="F2F0EE"/>
            </a:solidFill>
          </a:ln>
        </p:spPr>
        <p:txBody>
          <a:bodyPr lIns="60959" rIns="60959" anchor="ctr"/>
          <a:lstStyle/>
          <a:p>
            <a:endParaRPr sz="2400"/>
          </a:p>
        </p:txBody>
      </p:sp>
      <p:sp>
        <p:nvSpPr>
          <p:cNvPr id="441" name="Google Shape;356;p46"/>
          <p:cNvSpPr/>
          <p:nvPr/>
        </p:nvSpPr>
        <p:spPr>
          <a:xfrm>
            <a:off x="320034" y="5028306"/>
            <a:ext cx="609601" cy="609601"/>
          </a:xfrm>
          <a:prstGeom prst="ellipse">
            <a:avLst/>
          </a:prstGeom>
          <a:solidFill>
            <a:srgbClr val="E3E7F0"/>
          </a:solidFill>
          <a:ln>
            <a:solidFill>
              <a:srgbClr val="F2F0EE"/>
            </a:solidFill>
          </a:ln>
        </p:spPr>
        <p:txBody>
          <a:bodyPr lIns="60959" rIns="60959" anchor="ctr"/>
          <a:lstStyle/>
          <a:p>
            <a:endParaRPr sz="2400"/>
          </a:p>
        </p:txBody>
      </p:sp>
      <p:sp>
        <p:nvSpPr>
          <p:cNvPr id="442" name="Google Shape;365;p46"/>
          <p:cNvSpPr/>
          <p:nvPr/>
        </p:nvSpPr>
        <p:spPr>
          <a:xfrm>
            <a:off x="6096000" y="1360440"/>
            <a:ext cx="609600" cy="609601"/>
          </a:xfrm>
          <a:prstGeom prst="ellipse">
            <a:avLst/>
          </a:prstGeom>
          <a:solidFill>
            <a:srgbClr val="E3E7F0"/>
          </a:solidFill>
          <a:ln>
            <a:solidFill>
              <a:srgbClr val="F2F0EE"/>
            </a:solidFill>
          </a:ln>
        </p:spPr>
        <p:txBody>
          <a:bodyPr lIns="60959" rIns="60959" anchor="ctr"/>
          <a:lstStyle/>
          <a:p>
            <a:endParaRPr sz="2400"/>
          </a:p>
        </p:txBody>
      </p:sp>
      <p:sp>
        <p:nvSpPr>
          <p:cNvPr id="443" name="Google Shape;366;p46"/>
          <p:cNvSpPr/>
          <p:nvPr/>
        </p:nvSpPr>
        <p:spPr>
          <a:xfrm>
            <a:off x="6096000" y="2620308"/>
            <a:ext cx="609600" cy="609601"/>
          </a:xfrm>
          <a:prstGeom prst="ellipse">
            <a:avLst/>
          </a:prstGeom>
          <a:solidFill>
            <a:srgbClr val="E3E7F0"/>
          </a:solidFill>
          <a:ln>
            <a:solidFill>
              <a:srgbClr val="F2F0EE"/>
            </a:solidFill>
          </a:ln>
        </p:spPr>
        <p:txBody>
          <a:bodyPr lIns="60959" rIns="60959" anchor="ctr"/>
          <a:lstStyle/>
          <a:p>
            <a:endParaRPr sz="2400"/>
          </a:p>
        </p:txBody>
      </p:sp>
      <p:sp>
        <p:nvSpPr>
          <p:cNvPr id="444" name="Google Shape;367;p46"/>
          <p:cNvSpPr/>
          <p:nvPr/>
        </p:nvSpPr>
        <p:spPr>
          <a:xfrm>
            <a:off x="6096000" y="3830641"/>
            <a:ext cx="609600" cy="609601"/>
          </a:xfrm>
          <a:prstGeom prst="ellipse">
            <a:avLst/>
          </a:prstGeom>
          <a:solidFill>
            <a:srgbClr val="E3E7F0"/>
          </a:solidFill>
          <a:ln>
            <a:solidFill>
              <a:srgbClr val="F2F0EE"/>
            </a:solidFill>
          </a:ln>
        </p:spPr>
        <p:txBody>
          <a:bodyPr lIns="60959" rIns="60959" anchor="ctr"/>
          <a:lstStyle/>
          <a:p>
            <a:endParaRPr sz="2400"/>
          </a:p>
        </p:txBody>
      </p:sp>
      <p:sp>
        <p:nvSpPr>
          <p:cNvPr id="445" name="Google Shape;368;p46"/>
          <p:cNvSpPr/>
          <p:nvPr/>
        </p:nvSpPr>
        <p:spPr>
          <a:xfrm>
            <a:off x="6096000" y="5028306"/>
            <a:ext cx="609600" cy="609601"/>
          </a:xfrm>
          <a:prstGeom prst="ellipse">
            <a:avLst/>
          </a:prstGeom>
          <a:solidFill>
            <a:srgbClr val="E3E7F0"/>
          </a:solidFill>
          <a:ln>
            <a:solidFill>
              <a:srgbClr val="F2F0EE"/>
            </a:solidFill>
          </a:ln>
        </p:spPr>
        <p:txBody>
          <a:bodyPr lIns="60959" rIns="60959" anchor="ctr"/>
          <a:lstStyle/>
          <a:p>
            <a:endParaRPr sz="2400"/>
          </a:p>
        </p:txBody>
      </p:sp>
    </p:spTree>
    <p:extLst>
      <p:ext uri="{BB962C8B-B14F-4D97-AF65-F5344CB8AC3E}">
        <p14:creationId xmlns:p14="http://schemas.microsoft.com/office/powerpoint/2010/main" val="2814336203"/>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type="tx">
  <p:cSld name="Quote 1">
    <p:bg>
      <p:bgPr>
        <a:solidFill>
          <a:srgbClr val="FFFFFF"/>
        </a:solidFill>
        <a:effectLst/>
      </p:bgPr>
    </p:bg>
    <p:spTree>
      <p:nvGrpSpPr>
        <p:cNvPr id="1" name=""/>
        <p:cNvGrpSpPr/>
        <p:nvPr/>
      </p:nvGrpSpPr>
      <p:grpSpPr>
        <a:xfrm>
          <a:off x="0" y="0"/>
          <a:ext cx="0" cy="0"/>
          <a:chOff x="0" y="0"/>
          <a:chExt cx="0" cy="0"/>
        </a:xfrm>
      </p:grpSpPr>
      <p:sp>
        <p:nvSpPr>
          <p:cNvPr id="453" name="Google Shape;372;p47"/>
          <p:cNvSpPr/>
          <p:nvPr/>
        </p:nvSpPr>
        <p:spPr>
          <a:xfrm flipH="1">
            <a:off x="4604954" y="1130653"/>
            <a:ext cx="1" cy="4591201"/>
          </a:xfrm>
          <a:prstGeom prst="line">
            <a:avLst/>
          </a:prstGeom>
          <a:ln w="12700">
            <a:solidFill>
              <a:srgbClr val="A5A5A5"/>
            </a:solidFill>
            <a:miter/>
          </a:ln>
        </p:spPr>
        <p:txBody>
          <a:bodyPr lIns="60959" rIns="60959"/>
          <a:lstStyle/>
          <a:p>
            <a:endParaRPr sz="2400"/>
          </a:p>
        </p:txBody>
      </p:sp>
      <p:sp>
        <p:nvSpPr>
          <p:cNvPr id="454" name="Body Level One…"/>
          <p:cNvSpPr txBox="1">
            <a:spLocks noGrp="1"/>
          </p:cNvSpPr>
          <p:nvPr>
            <p:ph type="body" sz="quarter" idx="1"/>
          </p:nvPr>
        </p:nvSpPr>
        <p:spPr>
          <a:xfrm>
            <a:off x="4991749" y="1825574"/>
            <a:ext cx="6323603" cy="1755201"/>
          </a:xfrm>
          <a:prstGeom prst="rect">
            <a:avLst/>
          </a:prstGeom>
        </p:spPr>
        <p:txBody>
          <a:bodyPr>
            <a:normAutofit/>
          </a:bodyPr>
          <a:lstStyle>
            <a:lvl1pPr marL="457189" indent="-304792">
              <a:buClrTx/>
              <a:buSzTx/>
              <a:buFontTx/>
              <a:buNone/>
              <a:defRPr sz="4000" b="0">
                <a:solidFill>
                  <a:srgbClr val="23232D"/>
                </a:solidFill>
              </a:defRPr>
            </a:lvl1pPr>
            <a:lvl2pPr marL="457189" indent="330192">
              <a:buClrTx/>
              <a:buSzTx/>
              <a:buFontTx/>
              <a:buNone/>
              <a:defRPr sz="4000" b="0">
                <a:solidFill>
                  <a:srgbClr val="23232D"/>
                </a:solidFill>
              </a:defRPr>
            </a:lvl2pPr>
            <a:lvl3pPr marL="457189" indent="965176">
              <a:buClrTx/>
              <a:buSzTx/>
              <a:buFontTx/>
              <a:buNone/>
              <a:defRPr sz="4000" b="0">
                <a:solidFill>
                  <a:srgbClr val="23232D"/>
                </a:solidFill>
              </a:defRPr>
            </a:lvl3pPr>
            <a:lvl4pPr marL="457189" indent="1574761">
              <a:buClrTx/>
              <a:buSzTx/>
              <a:buFontTx/>
              <a:buNone/>
              <a:defRPr sz="4000" b="0">
                <a:solidFill>
                  <a:srgbClr val="23232D"/>
                </a:solidFill>
              </a:defRPr>
            </a:lvl4pPr>
            <a:lvl5pPr marL="457189" indent="2184345">
              <a:buClrTx/>
              <a:buSzTx/>
              <a:buFontTx/>
              <a:buNone/>
              <a:defRPr sz="4000" b="0">
                <a:solidFill>
                  <a:srgbClr val="23232D"/>
                </a:solidFill>
              </a:defRPr>
            </a:lvl5p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4275995980"/>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name="Quote 1_1_1">
    <p:bg>
      <p:bgPr>
        <a:solidFill>
          <a:srgbClr val="FFFFFF"/>
        </a:solidFill>
        <a:effectLst/>
      </p:bgPr>
    </p:bg>
    <p:spTree>
      <p:nvGrpSpPr>
        <p:cNvPr id="1" name=""/>
        <p:cNvGrpSpPr/>
        <p:nvPr/>
      </p:nvGrpSpPr>
      <p:grpSpPr>
        <a:xfrm>
          <a:off x="0" y="0"/>
          <a:ext cx="0" cy="0"/>
          <a:chOff x="0" y="0"/>
          <a:chExt cx="0" cy="0"/>
        </a:xfrm>
      </p:grpSpPr>
      <p:sp>
        <p:nvSpPr>
          <p:cNvPr id="471" name="Google Shape;386;p49"/>
          <p:cNvSpPr/>
          <p:nvPr/>
        </p:nvSpPr>
        <p:spPr>
          <a:xfrm>
            <a:off x="0" y="0"/>
            <a:ext cx="12192000" cy="6858000"/>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472" name="Body Level One…"/>
          <p:cNvSpPr txBox="1">
            <a:spLocks noGrp="1"/>
          </p:cNvSpPr>
          <p:nvPr>
            <p:ph type="body" sz="half" idx="1"/>
          </p:nvPr>
        </p:nvSpPr>
        <p:spPr>
          <a:xfrm>
            <a:off x="1071809" y="1665866"/>
            <a:ext cx="10048401" cy="1755201"/>
          </a:xfrm>
          <a:prstGeom prst="rect">
            <a:avLst/>
          </a:prstGeom>
        </p:spPr>
        <p:txBody>
          <a:bodyPr>
            <a:normAutofit/>
          </a:bodyPr>
          <a:lstStyle>
            <a:lvl1pPr marL="457189" indent="-304792">
              <a:buClrTx/>
              <a:buSzTx/>
              <a:buFontTx/>
              <a:buNone/>
              <a:defRPr sz="4800" b="0">
                <a:latin typeface="Arial"/>
                <a:ea typeface="Roboto Light"/>
                <a:cs typeface="Roboto Light"/>
                <a:sym typeface="Roboto Light"/>
              </a:defRPr>
            </a:lvl1pPr>
            <a:lvl2pPr marL="457189" indent="330192">
              <a:buClrTx/>
              <a:buSzTx/>
              <a:buFontTx/>
              <a:buNone/>
              <a:defRPr sz="4800" b="0">
                <a:latin typeface="Arial"/>
                <a:ea typeface="Roboto Light"/>
                <a:cs typeface="Roboto Light"/>
                <a:sym typeface="Roboto Light"/>
              </a:defRPr>
            </a:lvl2pPr>
            <a:lvl3pPr marL="457189" indent="965176">
              <a:buClrTx/>
              <a:buSzTx/>
              <a:buFontTx/>
              <a:buNone/>
              <a:defRPr sz="4800" b="0">
                <a:latin typeface="Arial"/>
                <a:ea typeface="Roboto Light"/>
                <a:cs typeface="Roboto Light"/>
                <a:sym typeface="Roboto Light"/>
              </a:defRPr>
            </a:lvl3pPr>
            <a:lvl4pPr marL="457189" indent="1574761">
              <a:buClrTx/>
              <a:buSzTx/>
              <a:buFontTx/>
              <a:buNone/>
              <a:defRPr sz="4800" b="0">
                <a:latin typeface="Arial"/>
                <a:ea typeface="Roboto Light"/>
                <a:cs typeface="Roboto Light"/>
                <a:sym typeface="Roboto Light"/>
              </a:defRPr>
            </a:lvl4pPr>
            <a:lvl5pPr marL="457189" indent="2184345">
              <a:buClrTx/>
              <a:buSzTx/>
              <a:buFontTx/>
              <a:buNone/>
              <a:defRPr sz="4800" b="0">
                <a:latin typeface="Arial"/>
                <a:ea typeface="Roboto Light"/>
                <a:cs typeface="Roboto Light"/>
                <a:sym typeface="Roboto Light"/>
              </a:defRPr>
            </a:lvl5p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2549920588"/>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type="tx">
  <p:cSld name="Quote 1_1_1_1">
    <p:bg>
      <p:bgPr>
        <a:solidFill>
          <a:srgbClr val="FFFFFF"/>
        </a:solidFill>
        <a:effectLst/>
      </p:bgPr>
    </p:bg>
    <p:spTree>
      <p:nvGrpSpPr>
        <p:cNvPr id="1" name=""/>
        <p:cNvGrpSpPr/>
        <p:nvPr/>
      </p:nvGrpSpPr>
      <p:grpSpPr>
        <a:xfrm>
          <a:off x="0" y="0"/>
          <a:ext cx="0" cy="0"/>
          <a:chOff x="0" y="0"/>
          <a:chExt cx="0" cy="0"/>
        </a:xfrm>
      </p:grpSpPr>
      <p:sp>
        <p:nvSpPr>
          <p:cNvPr id="480" name="Google Shape;393;p50"/>
          <p:cNvSpPr/>
          <p:nvPr/>
        </p:nvSpPr>
        <p:spPr>
          <a:xfrm>
            <a:off x="0" y="0"/>
            <a:ext cx="12192000" cy="6858000"/>
          </a:xfrm>
          <a:prstGeom prst="rect">
            <a:avLst/>
          </a:prstGeom>
          <a:solidFill>
            <a:srgbClr val="2D8FE2"/>
          </a:solidFill>
          <a:ln w="12700">
            <a:miter lim="400000"/>
          </a:ln>
        </p:spPr>
        <p:txBody>
          <a:bodyPr lIns="60959" rIns="60959" anchor="ctr"/>
          <a:lstStyle/>
          <a:p>
            <a:pPr algn="ctr">
              <a:defRPr>
                <a:solidFill>
                  <a:srgbClr val="2D8FE2"/>
                </a:solidFill>
              </a:defRPr>
            </a:pPr>
            <a:endParaRPr sz="2400"/>
          </a:p>
        </p:txBody>
      </p:sp>
      <p:sp>
        <p:nvSpPr>
          <p:cNvPr id="481" name="Body Level One…"/>
          <p:cNvSpPr txBox="1">
            <a:spLocks noGrp="1"/>
          </p:cNvSpPr>
          <p:nvPr>
            <p:ph type="body" sz="half" idx="1"/>
          </p:nvPr>
        </p:nvSpPr>
        <p:spPr>
          <a:xfrm>
            <a:off x="1071809" y="1665866"/>
            <a:ext cx="10048401" cy="1755201"/>
          </a:xfrm>
          <a:prstGeom prst="rect">
            <a:avLst/>
          </a:prstGeom>
        </p:spPr>
        <p:txBody>
          <a:bodyPr>
            <a:normAutofit/>
          </a:bodyPr>
          <a:lstStyle>
            <a:lvl1pPr marL="457189" indent="-304792">
              <a:buClrTx/>
              <a:buSzTx/>
              <a:buFontTx/>
              <a:buNone/>
              <a:defRPr sz="4800" b="0">
                <a:latin typeface="Arial"/>
                <a:ea typeface="Roboto Light"/>
                <a:cs typeface="Roboto Light"/>
                <a:sym typeface="Roboto Light"/>
              </a:defRPr>
            </a:lvl1pPr>
            <a:lvl2pPr marL="457189" indent="330192">
              <a:buClrTx/>
              <a:buSzTx/>
              <a:buFontTx/>
              <a:buNone/>
              <a:defRPr sz="4800" b="0">
                <a:latin typeface="Arial"/>
                <a:ea typeface="Roboto Light"/>
                <a:cs typeface="Roboto Light"/>
                <a:sym typeface="Roboto Light"/>
              </a:defRPr>
            </a:lvl2pPr>
            <a:lvl3pPr marL="457189" indent="965176">
              <a:buClrTx/>
              <a:buSzTx/>
              <a:buFontTx/>
              <a:buNone/>
              <a:defRPr sz="4800" b="0">
                <a:latin typeface="Arial"/>
                <a:ea typeface="Roboto Light"/>
                <a:cs typeface="Roboto Light"/>
                <a:sym typeface="Roboto Light"/>
              </a:defRPr>
            </a:lvl3pPr>
            <a:lvl4pPr marL="457189" indent="1574761">
              <a:buClrTx/>
              <a:buSzTx/>
              <a:buFontTx/>
              <a:buNone/>
              <a:defRPr sz="4800" b="0">
                <a:latin typeface="Arial"/>
                <a:ea typeface="Roboto Light"/>
                <a:cs typeface="Roboto Light"/>
                <a:sym typeface="Roboto Light"/>
              </a:defRPr>
            </a:lvl4pPr>
            <a:lvl5pPr marL="457189" indent="2184345">
              <a:buClrTx/>
              <a:buSzTx/>
              <a:buFontTx/>
              <a:buNone/>
              <a:defRPr sz="4800" b="0">
                <a:latin typeface="Arial"/>
                <a:ea typeface="Roboto Light"/>
                <a:cs typeface="Roboto Light"/>
                <a:sym typeface="Roboto Light"/>
              </a:defRPr>
            </a:lvl5p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655309926"/>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type="tx">
  <p:cSld name="Image 1">
    <p:bg>
      <p:bgPr>
        <a:solidFill>
          <a:srgbClr val="FFFFFF"/>
        </a:solidFill>
        <a:effectLst/>
      </p:bgPr>
    </p:bg>
    <p:spTree>
      <p:nvGrpSpPr>
        <p:cNvPr id="1" name=""/>
        <p:cNvGrpSpPr/>
        <p:nvPr/>
      </p:nvGrpSpPr>
      <p:grpSpPr>
        <a:xfrm>
          <a:off x="0" y="0"/>
          <a:ext cx="0" cy="0"/>
          <a:chOff x="0" y="0"/>
          <a:chExt cx="0" cy="0"/>
        </a:xfrm>
      </p:grpSpPr>
      <p:sp>
        <p:nvSpPr>
          <p:cNvPr id="497" name="Google Shape;406;p52"/>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498"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sp>
        <p:nvSpPr>
          <p:cNvPr id="499"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500" name="Google Shape;409;p52"/>
          <p:cNvSpPr/>
          <p:nvPr/>
        </p:nvSpPr>
        <p:spPr>
          <a:xfrm>
            <a:off x="6105600" y="1096851"/>
            <a:ext cx="4790801" cy="4803200"/>
          </a:xfrm>
          <a:prstGeom prst="rect">
            <a:avLst/>
          </a:prstGeom>
          <a:solidFill>
            <a:srgbClr val="E3E7F0"/>
          </a:solidFill>
          <a:ln>
            <a:solidFill>
              <a:srgbClr val="F2F0EE"/>
            </a:solidFill>
          </a:ln>
        </p:spPr>
        <p:txBody>
          <a:bodyPr lIns="60959" rIns="60959" anchor="ctr"/>
          <a:lstStyle/>
          <a:p>
            <a:endParaRPr sz="2400"/>
          </a:p>
        </p:txBody>
      </p:sp>
    </p:spTree>
    <p:extLst>
      <p:ext uri="{BB962C8B-B14F-4D97-AF65-F5344CB8AC3E}">
        <p14:creationId xmlns:p14="http://schemas.microsoft.com/office/powerpoint/2010/main" val="1513532657"/>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type="tx">
  <p:cSld name="Image 2">
    <p:bg>
      <p:bgPr>
        <a:solidFill>
          <a:srgbClr val="FFFFFF"/>
        </a:solidFill>
        <a:effectLst/>
      </p:bgPr>
    </p:bg>
    <p:spTree>
      <p:nvGrpSpPr>
        <p:cNvPr id="1" name=""/>
        <p:cNvGrpSpPr/>
        <p:nvPr/>
      </p:nvGrpSpPr>
      <p:grpSpPr>
        <a:xfrm>
          <a:off x="0" y="0"/>
          <a:ext cx="0" cy="0"/>
          <a:chOff x="0" y="0"/>
          <a:chExt cx="0" cy="0"/>
        </a:xfrm>
      </p:grpSpPr>
      <p:sp>
        <p:nvSpPr>
          <p:cNvPr id="508" name="Title Text"/>
          <p:cNvSpPr txBox="1">
            <a:spLocks noGrp="1"/>
          </p:cNvSpPr>
          <p:nvPr>
            <p:ph type="title"/>
          </p:nvPr>
        </p:nvSpPr>
        <p:spPr>
          <a:xfrm>
            <a:off x="7879934" y="1024134"/>
            <a:ext cx="3829201" cy="1005840"/>
          </a:xfrm>
          <a:prstGeom prst="rect">
            <a:avLst/>
          </a:prstGeom>
        </p:spPr>
        <p:txBody>
          <a:bodyPr anchor="t"/>
          <a:lstStyle>
            <a:lvl1pPr>
              <a:defRPr sz="3200"/>
            </a:lvl1pPr>
          </a:lstStyle>
          <a:p>
            <a:r>
              <a:t>Title Text</a:t>
            </a:r>
          </a:p>
        </p:txBody>
      </p:sp>
      <p:sp>
        <p:nvSpPr>
          <p:cNvPr id="509" name="Body Level One…"/>
          <p:cNvSpPr txBox="1">
            <a:spLocks noGrp="1"/>
          </p:cNvSpPr>
          <p:nvPr>
            <p:ph type="body" sz="quarter" idx="1"/>
          </p:nvPr>
        </p:nvSpPr>
        <p:spPr>
          <a:xfrm>
            <a:off x="7879934" y="3598665"/>
            <a:ext cx="3829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510" name="Google Shape;416;p53"/>
          <p:cNvSpPr/>
          <p:nvPr/>
        </p:nvSpPr>
        <p:spPr>
          <a:xfrm>
            <a:off x="-1" y="0"/>
            <a:ext cx="7328803" cy="6858000"/>
          </a:xfrm>
          <a:prstGeom prst="rect">
            <a:avLst/>
          </a:prstGeom>
          <a:solidFill>
            <a:srgbClr val="E3E7F0"/>
          </a:solidFill>
          <a:ln>
            <a:solidFill>
              <a:srgbClr val="F2F0EE"/>
            </a:solidFill>
          </a:ln>
        </p:spPr>
        <p:txBody>
          <a:bodyPr lIns="60959" rIns="60959" anchor="ctr"/>
          <a:lstStyle/>
          <a:p>
            <a:endParaRPr sz="2400"/>
          </a:p>
        </p:txBody>
      </p:sp>
    </p:spTree>
    <p:extLst>
      <p:ext uri="{BB962C8B-B14F-4D97-AF65-F5344CB8AC3E}">
        <p14:creationId xmlns:p14="http://schemas.microsoft.com/office/powerpoint/2010/main" val="3544417924"/>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type="tx">
  <p:cSld name="Image 3">
    <p:bg>
      <p:bgPr>
        <a:solidFill>
          <a:srgbClr val="FFFFFF"/>
        </a:solidFill>
        <a:effectLst/>
      </p:bgPr>
    </p:bg>
    <p:spTree>
      <p:nvGrpSpPr>
        <p:cNvPr id="1" name=""/>
        <p:cNvGrpSpPr/>
        <p:nvPr/>
      </p:nvGrpSpPr>
      <p:grpSpPr>
        <a:xfrm>
          <a:off x="0" y="0"/>
          <a:ext cx="0" cy="0"/>
          <a:chOff x="0" y="0"/>
          <a:chExt cx="0" cy="0"/>
        </a:xfrm>
      </p:grpSpPr>
      <p:sp>
        <p:nvSpPr>
          <p:cNvPr id="518" name="Title Text"/>
          <p:cNvSpPr txBox="1">
            <a:spLocks noGrp="1"/>
          </p:cNvSpPr>
          <p:nvPr>
            <p:ph type="title"/>
          </p:nvPr>
        </p:nvSpPr>
        <p:spPr>
          <a:xfrm>
            <a:off x="408825" y="1024127"/>
            <a:ext cx="3802400" cy="1005840"/>
          </a:xfrm>
          <a:prstGeom prst="rect">
            <a:avLst/>
          </a:prstGeom>
        </p:spPr>
        <p:txBody>
          <a:bodyPr anchor="t"/>
          <a:lstStyle>
            <a:lvl1pPr>
              <a:defRPr sz="3200"/>
            </a:lvl1pPr>
          </a:lstStyle>
          <a:p>
            <a:r>
              <a:t>Title Text</a:t>
            </a:r>
          </a:p>
        </p:txBody>
      </p:sp>
      <p:sp>
        <p:nvSpPr>
          <p:cNvPr id="519"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520" name="Google Shape;423;p54"/>
          <p:cNvSpPr/>
          <p:nvPr/>
        </p:nvSpPr>
        <p:spPr>
          <a:xfrm>
            <a:off x="4891375" y="0"/>
            <a:ext cx="7328801" cy="6858000"/>
          </a:xfrm>
          <a:prstGeom prst="rect">
            <a:avLst/>
          </a:prstGeom>
          <a:solidFill>
            <a:srgbClr val="E3E7F0"/>
          </a:solidFill>
          <a:ln>
            <a:solidFill>
              <a:srgbClr val="F2F0EE"/>
            </a:solidFill>
          </a:ln>
        </p:spPr>
        <p:txBody>
          <a:bodyPr lIns="60959" rIns="60959" anchor="ctr"/>
          <a:lstStyle/>
          <a:p>
            <a:endParaRPr sz="2400"/>
          </a:p>
        </p:txBody>
      </p:sp>
    </p:spTree>
    <p:extLst>
      <p:ext uri="{BB962C8B-B14F-4D97-AF65-F5344CB8AC3E}">
        <p14:creationId xmlns:p14="http://schemas.microsoft.com/office/powerpoint/2010/main" val="2762200484"/>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type="tx">
  <p:cSld name="Blue Bar-Left">
    <p:bg>
      <p:bgPr>
        <a:solidFill>
          <a:srgbClr val="FFFFFF"/>
        </a:solidFill>
        <a:effectLst/>
      </p:bgPr>
    </p:bg>
    <p:spTree>
      <p:nvGrpSpPr>
        <p:cNvPr id="1" name=""/>
        <p:cNvGrpSpPr/>
        <p:nvPr/>
      </p:nvGrpSpPr>
      <p:grpSpPr>
        <a:xfrm>
          <a:off x="0" y="0"/>
          <a:ext cx="0" cy="0"/>
          <a:chOff x="0" y="0"/>
          <a:chExt cx="0" cy="0"/>
        </a:xfrm>
      </p:grpSpPr>
      <p:sp>
        <p:nvSpPr>
          <p:cNvPr id="535" name="Google Shape;429;p56"/>
          <p:cNvSpPr/>
          <p:nvPr/>
        </p:nvSpPr>
        <p:spPr>
          <a:xfrm flipH="1">
            <a:off x="-172" y="-2"/>
            <a:ext cx="5007600"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Tree>
    <p:extLst>
      <p:ext uri="{BB962C8B-B14F-4D97-AF65-F5344CB8AC3E}">
        <p14:creationId xmlns:p14="http://schemas.microsoft.com/office/powerpoint/2010/main" val="2586141514"/>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type="tx">
  <p:cSld name="Grey Bar-Left">
    <p:bg>
      <p:bgPr>
        <a:solidFill>
          <a:srgbClr val="FFFFFF"/>
        </a:solidFill>
        <a:effectLst/>
      </p:bgPr>
    </p:bg>
    <p:spTree>
      <p:nvGrpSpPr>
        <p:cNvPr id="1" name=""/>
        <p:cNvGrpSpPr/>
        <p:nvPr/>
      </p:nvGrpSpPr>
      <p:grpSpPr>
        <a:xfrm>
          <a:off x="0" y="0"/>
          <a:ext cx="0" cy="0"/>
          <a:chOff x="0" y="0"/>
          <a:chExt cx="0" cy="0"/>
        </a:xfrm>
      </p:grpSpPr>
      <p:sp>
        <p:nvSpPr>
          <p:cNvPr id="543" name="Google Shape;434;p57"/>
          <p:cNvSpPr/>
          <p:nvPr/>
        </p:nvSpPr>
        <p:spPr>
          <a:xfrm flipH="1">
            <a:off x="-172" y="-2"/>
            <a:ext cx="5007600" cy="6858001"/>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Tree>
    <p:extLst>
      <p:ext uri="{BB962C8B-B14F-4D97-AF65-F5344CB8AC3E}">
        <p14:creationId xmlns:p14="http://schemas.microsoft.com/office/powerpoint/2010/main" val="1430119927"/>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type="tx">
  <p:cSld name="Black Bar-Left">
    <p:bg>
      <p:bgPr>
        <a:solidFill>
          <a:srgbClr val="FFFFFF"/>
        </a:solidFill>
        <a:effectLst/>
      </p:bgPr>
    </p:bg>
    <p:spTree>
      <p:nvGrpSpPr>
        <p:cNvPr id="1" name=""/>
        <p:cNvGrpSpPr/>
        <p:nvPr/>
      </p:nvGrpSpPr>
      <p:grpSpPr>
        <a:xfrm>
          <a:off x="0" y="0"/>
          <a:ext cx="0" cy="0"/>
          <a:chOff x="0" y="0"/>
          <a:chExt cx="0" cy="0"/>
        </a:xfrm>
      </p:grpSpPr>
      <p:sp>
        <p:nvSpPr>
          <p:cNvPr id="551" name="Google Shape;439;p58"/>
          <p:cNvSpPr/>
          <p:nvPr/>
        </p:nvSpPr>
        <p:spPr>
          <a:xfrm flipH="1">
            <a:off x="-172" y="-2"/>
            <a:ext cx="5007600" cy="6858001"/>
          </a:xfrm>
          <a:prstGeom prst="rect">
            <a:avLst/>
          </a:prstGeom>
          <a:solidFill>
            <a:srgbClr val="FFFFFF"/>
          </a:solidFill>
          <a:ln w="12700">
            <a:miter lim="400000"/>
          </a:ln>
        </p:spPr>
        <p:txBody>
          <a:bodyPr lIns="60959" rIns="60959" anchor="ctr"/>
          <a:lstStyle/>
          <a:p>
            <a:pPr algn="ctr">
              <a:defRPr>
                <a:solidFill>
                  <a:srgbClr val="FFFFFF"/>
                </a:solidFill>
              </a:defRPr>
            </a:pPr>
            <a:endParaRPr sz="2400"/>
          </a:p>
        </p:txBody>
      </p:sp>
    </p:spTree>
    <p:extLst>
      <p:ext uri="{BB962C8B-B14F-4D97-AF65-F5344CB8AC3E}">
        <p14:creationId xmlns:p14="http://schemas.microsoft.com/office/powerpoint/2010/main" val="3963129622"/>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type="tx">
  <p:cSld name="White Bar-Left">
    <p:bg>
      <p:bgPr>
        <a:solidFill>
          <a:srgbClr val="FFFFFF"/>
        </a:solidFill>
        <a:effectLst/>
      </p:bgPr>
    </p:bg>
    <p:spTree>
      <p:nvGrpSpPr>
        <p:cNvPr id="1" name=""/>
        <p:cNvGrpSpPr/>
        <p:nvPr/>
      </p:nvGrpSpPr>
      <p:grpSpPr>
        <a:xfrm>
          <a:off x="0" y="0"/>
          <a:ext cx="0" cy="0"/>
          <a:chOff x="0" y="0"/>
          <a:chExt cx="0" cy="0"/>
        </a:xfrm>
      </p:grpSpPr>
      <p:sp>
        <p:nvSpPr>
          <p:cNvPr id="559" name="Google Shape;444;p59"/>
          <p:cNvSpPr/>
          <p:nvPr/>
        </p:nvSpPr>
        <p:spPr>
          <a:xfrm flipH="1">
            <a:off x="5007599" y="0"/>
            <a:ext cx="7184403" cy="6858000"/>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Tree>
    <p:extLst>
      <p:ext uri="{BB962C8B-B14F-4D97-AF65-F5344CB8AC3E}">
        <p14:creationId xmlns:p14="http://schemas.microsoft.com/office/powerpoint/2010/main" val="3373510574"/>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type="tx">
  <p:cSld name="White Line-Left">
    <p:bg>
      <p:bgPr>
        <a:solidFill>
          <a:srgbClr val="FFFFFF"/>
        </a:solidFill>
        <a:effectLst/>
      </p:bgPr>
    </p:bg>
    <p:spTree>
      <p:nvGrpSpPr>
        <p:cNvPr id="1" name=""/>
        <p:cNvGrpSpPr/>
        <p:nvPr/>
      </p:nvGrpSpPr>
      <p:grpSpPr>
        <a:xfrm>
          <a:off x="0" y="0"/>
          <a:ext cx="0" cy="0"/>
          <a:chOff x="0" y="0"/>
          <a:chExt cx="0" cy="0"/>
        </a:xfrm>
      </p:grpSpPr>
      <p:sp>
        <p:nvSpPr>
          <p:cNvPr id="567" name="Google Shape;449;p60"/>
          <p:cNvSpPr/>
          <p:nvPr/>
        </p:nvSpPr>
        <p:spPr>
          <a:xfrm flipH="1">
            <a:off x="5007429" y="1"/>
            <a:ext cx="1" cy="6858001"/>
          </a:xfrm>
          <a:prstGeom prst="line">
            <a:avLst/>
          </a:prstGeom>
          <a:ln w="12700">
            <a:solidFill>
              <a:srgbClr val="7F8FA4"/>
            </a:solidFill>
            <a:miter/>
          </a:ln>
        </p:spPr>
        <p:txBody>
          <a:bodyPr lIns="60959" rIns="60959"/>
          <a:lstStyle/>
          <a:p>
            <a:endParaRPr sz="2400"/>
          </a:p>
        </p:txBody>
      </p:sp>
      <p:sp>
        <p:nvSpPr>
          <p:cNvPr id="568" name="Title Text"/>
          <p:cNvSpPr txBox="1">
            <a:spLocks noGrp="1"/>
          </p:cNvSpPr>
          <p:nvPr>
            <p:ph type="title"/>
          </p:nvPr>
        </p:nvSpPr>
        <p:spPr>
          <a:xfrm>
            <a:off x="426720" y="1024127"/>
            <a:ext cx="3802400" cy="1005840"/>
          </a:xfrm>
          <a:prstGeom prst="rect">
            <a:avLst/>
          </a:prstGeom>
        </p:spPr>
        <p:txBody>
          <a:bodyPr anchor="t"/>
          <a:lstStyle>
            <a:lvl1pPr>
              <a:defRPr sz="3200"/>
            </a:lvl1pPr>
          </a:lstStyle>
          <a:p>
            <a:r>
              <a:t>Title Text</a:t>
            </a:r>
          </a:p>
        </p:txBody>
      </p:sp>
      <p:sp>
        <p:nvSpPr>
          <p:cNvPr id="569"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2454277140"/>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type="tx">
  <p:cSld name="TITLE">
    <p:bg>
      <p:bgPr>
        <a:solidFill>
          <a:srgbClr val="FFFFFF"/>
        </a:solidFill>
        <a:effectLst/>
      </p:bgPr>
    </p:bg>
    <p:spTree>
      <p:nvGrpSpPr>
        <p:cNvPr id="1" name=""/>
        <p:cNvGrpSpPr/>
        <p:nvPr/>
      </p:nvGrpSpPr>
      <p:grpSpPr>
        <a:xfrm>
          <a:off x="0" y="0"/>
          <a:ext cx="0" cy="0"/>
          <a:chOff x="0" y="0"/>
          <a:chExt cx="0" cy="0"/>
        </a:xfrm>
      </p:grpSpPr>
      <p:sp>
        <p:nvSpPr>
          <p:cNvPr id="577" name="Title Text"/>
          <p:cNvSpPr txBox="1">
            <a:spLocks noGrp="1"/>
          </p:cNvSpPr>
          <p:nvPr>
            <p:ph type="title"/>
          </p:nvPr>
        </p:nvSpPr>
        <p:spPr>
          <a:xfrm>
            <a:off x="415611" y="992766"/>
            <a:ext cx="11360801" cy="1005840"/>
          </a:xfrm>
          <a:prstGeom prst="rect">
            <a:avLst/>
          </a:prstGeom>
        </p:spPr>
        <p:txBody>
          <a:bodyPr anchor="t"/>
          <a:lstStyle>
            <a:lvl1pPr algn="ctr">
              <a:defRPr sz="6933"/>
            </a:lvl1pPr>
          </a:lstStyle>
          <a:p>
            <a:r>
              <a:t>Title Text</a:t>
            </a:r>
          </a:p>
        </p:txBody>
      </p:sp>
      <p:sp>
        <p:nvSpPr>
          <p:cNvPr id="578" name="Body Level One…"/>
          <p:cNvSpPr txBox="1">
            <a:spLocks noGrp="1"/>
          </p:cNvSpPr>
          <p:nvPr>
            <p:ph type="body" sz="quarter" idx="1"/>
          </p:nvPr>
        </p:nvSpPr>
        <p:spPr>
          <a:xfrm>
            <a:off x="415599" y="3778834"/>
            <a:ext cx="11360803" cy="1056801"/>
          </a:xfrm>
          <a:prstGeom prst="rect">
            <a:avLst/>
          </a:prstGeom>
        </p:spPr>
        <p:txBody>
          <a:bodyPr>
            <a:normAutofit/>
          </a:bodyPr>
          <a:lstStyle>
            <a:lvl1pPr marL="457189" indent="-304792" algn="ctr">
              <a:lnSpc>
                <a:spcPct val="100000"/>
              </a:lnSpc>
              <a:buClrTx/>
              <a:buSzTx/>
              <a:buFontTx/>
              <a:buNone/>
              <a:defRPr sz="3733" b="0">
                <a:solidFill>
                  <a:srgbClr val="2D8FE2"/>
                </a:solidFill>
              </a:defRPr>
            </a:lvl1pPr>
            <a:lvl2pPr marL="457189" indent="330192" algn="ctr">
              <a:lnSpc>
                <a:spcPct val="100000"/>
              </a:lnSpc>
              <a:buClrTx/>
              <a:buSzTx/>
              <a:buFontTx/>
              <a:buNone/>
              <a:defRPr sz="3733" b="0">
                <a:solidFill>
                  <a:srgbClr val="2D8FE2"/>
                </a:solidFill>
              </a:defRPr>
            </a:lvl2pPr>
            <a:lvl3pPr marL="457189" indent="965176" algn="ctr">
              <a:lnSpc>
                <a:spcPct val="100000"/>
              </a:lnSpc>
              <a:buClrTx/>
              <a:buSzTx/>
              <a:buFontTx/>
              <a:buNone/>
              <a:defRPr sz="3733" b="0">
                <a:solidFill>
                  <a:srgbClr val="2D8FE2"/>
                </a:solidFill>
              </a:defRPr>
            </a:lvl3pPr>
            <a:lvl4pPr marL="457189" indent="1574761" algn="ctr">
              <a:lnSpc>
                <a:spcPct val="100000"/>
              </a:lnSpc>
              <a:buClrTx/>
              <a:buSzTx/>
              <a:buFontTx/>
              <a:buNone/>
              <a:defRPr sz="3733" b="0">
                <a:solidFill>
                  <a:srgbClr val="2D8FE2"/>
                </a:solidFill>
              </a:defRPr>
            </a:lvl4pPr>
            <a:lvl5pPr marL="457189" indent="2184345" algn="ctr">
              <a:lnSpc>
                <a:spcPct val="100000"/>
              </a:lnSpc>
              <a:buClrTx/>
              <a:buSzTx/>
              <a:buFontTx/>
              <a:buNone/>
              <a:defRPr sz="3733" b="0">
                <a:solidFill>
                  <a:srgbClr val="2D8FE2"/>
                </a:solidFill>
              </a:defRPr>
            </a:lvl5pPr>
          </a:lstStyle>
          <a:p>
            <a:r>
              <a:t>Body Level One</a:t>
            </a:r>
          </a:p>
          <a:p>
            <a:pPr lvl="1"/>
            <a:r>
              <a:t>Body Level Two</a:t>
            </a:r>
          </a:p>
          <a:p>
            <a:pPr lvl="2"/>
            <a:r>
              <a:t>Body Level Three</a:t>
            </a:r>
          </a:p>
          <a:p>
            <a:pPr lvl="3"/>
            <a:r>
              <a:t>Body Level Four</a:t>
            </a:r>
          </a:p>
          <a:p>
            <a:pPr lvl="4"/>
            <a:r>
              <a:t>Body Level Five</a:t>
            </a:r>
          </a:p>
        </p:txBody>
      </p:sp>
      <p:sp>
        <p:nvSpPr>
          <p:cNvPr id="579" name="Google Shape;458;p61"/>
          <p:cNvSpPr/>
          <p:nvPr/>
        </p:nvSpPr>
        <p:spPr>
          <a:xfrm>
            <a:off x="8733" y="6482334"/>
            <a:ext cx="3852800" cy="375601"/>
          </a:xfrm>
          <a:prstGeom prst="rect">
            <a:avLst/>
          </a:prstGeom>
          <a:solidFill>
            <a:srgbClr val="0A0A0C"/>
          </a:solidFill>
          <a:ln w="12700">
            <a:miter lim="400000"/>
          </a:ln>
        </p:spPr>
        <p:txBody>
          <a:bodyPr lIns="60959" rIns="60959" anchor="ctr"/>
          <a:lstStyle/>
          <a:p>
            <a:endParaRPr sz="2400"/>
          </a:p>
        </p:txBody>
      </p:sp>
    </p:spTree>
    <p:extLst>
      <p:ext uri="{BB962C8B-B14F-4D97-AF65-F5344CB8AC3E}">
        <p14:creationId xmlns:p14="http://schemas.microsoft.com/office/powerpoint/2010/main" val="3354826332"/>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image" Target="../media/image1.png"/><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53.xml"/><Relationship Id="rId18" Type="http://schemas.openxmlformats.org/officeDocument/2006/relationships/slideLayout" Target="../slideLayouts/slideLayout58.xml"/><Relationship Id="rId26" Type="http://schemas.openxmlformats.org/officeDocument/2006/relationships/slideLayout" Target="../slideLayouts/slideLayout66.xml"/><Relationship Id="rId39" Type="http://schemas.openxmlformats.org/officeDocument/2006/relationships/slideLayout" Target="../slideLayouts/slideLayout79.xml"/><Relationship Id="rId21" Type="http://schemas.openxmlformats.org/officeDocument/2006/relationships/slideLayout" Target="../slideLayouts/slideLayout61.xml"/><Relationship Id="rId34" Type="http://schemas.openxmlformats.org/officeDocument/2006/relationships/slideLayout" Target="../slideLayouts/slideLayout74.xml"/><Relationship Id="rId42" Type="http://schemas.openxmlformats.org/officeDocument/2006/relationships/slideLayout" Target="../slideLayouts/slideLayout82.xml"/><Relationship Id="rId47" Type="http://schemas.openxmlformats.org/officeDocument/2006/relationships/slideLayout" Target="../slideLayouts/slideLayout87.xml"/><Relationship Id="rId50" Type="http://schemas.openxmlformats.org/officeDocument/2006/relationships/slideLayout" Target="../slideLayouts/slideLayout90.xml"/><Relationship Id="rId55" Type="http://schemas.openxmlformats.org/officeDocument/2006/relationships/theme" Target="../theme/theme4.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9" Type="http://schemas.openxmlformats.org/officeDocument/2006/relationships/slideLayout" Target="../slideLayouts/slideLayout69.xml"/><Relationship Id="rId11" Type="http://schemas.openxmlformats.org/officeDocument/2006/relationships/slideLayout" Target="../slideLayouts/slideLayout51.xml"/><Relationship Id="rId24" Type="http://schemas.openxmlformats.org/officeDocument/2006/relationships/slideLayout" Target="../slideLayouts/slideLayout64.xml"/><Relationship Id="rId32" Type="http://schemas.openxmlformats.org/officeDocument/2006/relationships/slideLayout" Target="../slideLayouts/slideLayout72.xml"/><Relationship Id="rId37" Type="http://schemas.openxmlformats.org/officeDocument/2006/relationships/slideLayout" Target="../slideLayouts/slideLayout77.xml"/><Relationship Id="rId40" Type="http://schemas.openxmlformats.org/officeDocument/2006/relationships/slideLayout" Target="../slideLayouts/slideLayout80.xml"/><Relationship Id="rId45" Type="http://schemas.openxmlformats.org/officeDocument/2006/relationships/slideLayout" Target="../slideLayouts/slideLayout85.xml"/><Relationship Id="rId53" Type="http://schemas.openxmlformats.org/officeDocument/2006/relationships/slideLayout" Target="../slideLayouts/slideLayout93.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31" Type="http://schemas.openxmlformats.org/officeDocument/2006/relationships/slideLayout" Target="../slideLayouts/slideLayout71.xml"/><Relationship Id="rId44" Type="http://schemas.openxmlformats.org/officeDocument/2006/relationships/slideLayout" Target="../slideLayouts/slideLayout84.xml"/><Relationship Id="rId52" Type="http://schemas.openxmlformats.org/officeDocument/2006/relationships/slideLayout" Target="../slideLayouts/slideLayout92.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 Id="rId27" Type="http://schemas.openxmlformats.org/officeDocument/2006/relationships/slideLayout" Target="../slideLayouts/slideLayout67.xml"/><Relationship Id="rId30" Type="http://schemas.openxmlformats.org/officeDocument/2006/relationships/slideLayout" Target="../slideLayouts/slideLayout70.xml"/><Relationship Id="rId35" Type="http://schemas.openxmlformats.org/officeDocument/2006/relationships/slideLayout" Target="../slideLayouts/slideLayout75.xml"/><Relationship Id="rId43" Type="http://schemas.openxmlformats.org/officeDocument/2006/relationships/slideLayout" Target="../slideLayouts/slideLayout83.xml"/><Relationship Id="rId48" Type="http://schemas.openxmlformats.org/officeDocument/2006/relationships/slideLayout" Target="../slideLayouts/slideLayout88.xml"/><Relationship Id="rId8" Type="http://schemas.openxmlformats.org/officeDocument/2006/relationships/slideLayout" Target="../slideLayouts/slideLayout48.xml"/><Relationship Id="rId51" Type="http://schemas.openxmlformats.org/officeDocument/2006/relationships/slideLayout" Target="../slideLayouts/slideLayout91.xml"/><Relationship Id="rId3" Type="http://schemas.openxmlformats.org/officeDocument/2006/relationships/slideLayout" Target="../slideLayouts/slideLayout43.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slideLayout" Target="../slideLayouts/slideLayout65.xml"/><Relationship Id="rId33" Type="http://schemas.openxmlformats.org/officeDocument/2006/relationships/slideLayout" Target="../slideLayouts/slideLayout73.xml"/><Relationship Id="rId38" Type="http://schemas.openxmlformats.org/officeDocument/2006/relationships/slideLayout" Target="../slideLayouts/slideLayout78.xml"/><Relationship Id="rId46" Type="http://schemas.openxmlformats.org/officeDocument/2006/relationships/slideLayout" Target="../slideLayouts/slideLayout86.xml"/><Relationship Id="rId20" Type="http://schemas.openxmlformats.org/officeDocument/2006/relationships/slideLayout" Target="../slideLayouts/slideLayout60.xml"/><Relationship Id="rId41" Type="http://schemas.openxmlformats.org/officeDocument/2006/relationships/slideLayout" Target="../slideLayouts/slideLayout81.xml"/><Relationship Id="rId54" Type="http://schemas.openxmlformats.org/officeDocument/2006/relationships/slideLayout" Target="../slideLayouts/slideLayout94.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slideLayout" Target="../slideLayouts/slideLayout68.xml"/><Relationship Id="rId36" Type="http://schemas.openxmlformats.org/officeDocument/2006/relationships/slideLayout" Target="../slideLayouts/slideLayout76.xml"/><Relationship Id="rId49"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745" r:id="rId2"/>
  </p:sldLayoutIdLst>
  <p:hf sldNum="0" hdr="0" ftr="0" dt="0"/>
  <p:txStyles>
    <p:titleStyle>
      <a:lvl1pPr algn="ctr" defTabSz="914400" rtl="0" eaLnBrk="1" latinLnBrk="0" hangingPunct="1">
        <a:spcBef>
          <a:spcPct val="0"/>
        </a:spcBef>
        <a:buNone/>
        <a:defRPr sz="4400" kern="1200">
          <a:solidFill>
            <a:schemeClr val="tx1"/>
          </a:solidFill>
          <a:latin typeface="Arial"/>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Arial"/>
          <a:ea typeface="+mn-ea"/>
          <a:cs typeface="+mn-cs"/>
        </a:defRPr>
      </a:lvl9pPr>
    </p:bodyStyle>
    <p:otherStyle>
      <a:defPPr>
        <a:defRPr lang="en-US"/>
      </a:defPPr>
      <a:lvl1pPr marL="0" algn="l" defTabSz="914400" rtl="0" eaLnBrk="1" latinLnBrk="0" hangingPunct="1">
        <a:defRPr sz="1800" kern="1200">
          <a:solidFill>
            <a:schemeClr val="tx1"/>
          </a:solidFill>
          <a:latin typeface="Arial"/>
          <a:ea typeface="+mn-ea"/>
          <a:cs typeface="+mn-cs"/>
        </a:defRPr>
      </a:lvl1pPr>
      <a:lvl2pPr marL="457200" algn="l" defTabSz="914400" rtl="0" eaLnBrk="1" latinLnBrk="0" hangingPunct="1">
        <a:defRPr sz="1800" kern="1200">
          <a:solidFill>
            <a:schemeClr val="tx1"/>
          </a:solidFill>
          <a:latin typeface="Arial"/>
          <a:ea typeface="+mn-ea"/>
          <a:cs typeface="+mn-cs"/>
        </a:defRPr>
      </a:lvl2pPr>
      <a:lvl3pPr marL="914400" algn="l" defTabSz="914400" rtl="0" eaLnBrk="1" latinLnBrk="0" hangingPunct="1">
        <a:defRPr sz="1800" kern="1200">
          <a:solidFill>
            <a:schemeClr val="tx1"/>
          </a:solidFill>
          <a:latin typeface="Arial"/>
          <a:ea typeface="+mn-ea"/>
          <a:cs typeface="+mn-cs"/>
        </a:defRPr>
      </a:lvl3pPr>
      <a:lvl4pPr marL="1371600" algn="l" defTabSz="914400" rtl="0" eaLnBrk="1" latinLnBrk="0" hangingPunct="1">
        <a:defRPr sz="1800" kern="1200">
          <a:solidFill>
            <a:schemeClr val="tx1"/>
          </a:solidFill>
          <a:latin typeface="Arial"/>
          <a:ea typeface="+mn-ea"/>
          <a:cs typeface="+mn-cs"/>
        </a:defRPr>
      </a:lvl4pPr>
      <a:lvl5pPr marL="1828800" algn="l" defTabSz="914400" rtl="0" eaLnBrk="1" latinLnBrk="0" hangingPunct="1">
        <a:defRPr sz="18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Arial"/>
          <a:ea typeface="+mn-ea"/>
          <a:cs typeface="+mn-cs"/>
        </a:defRPr>
      </a:lvl6pPr>
      <a:lvl7pPr marL="2743200" algn="l" defTabSz="914400" rtl="0" eaLnBrk="1" latinLnBrk="0" hangingPunct="1">
        <a:defRPr sz="1800" kern="1200">
          <a:solidFill>
            <a:schemeClr val="tx1"/>
          </a:solidFill>
          <a:latin typeface="Arial"/>
          <a:ea typeface="+mn-ea"/>
          <a:cs typeface="+mn-cs"/>
        </a:defRPr>
      </a:lvl7pPr>
      <a:lvl8pPr marL="3200400" algn="l" defTabSz="914400" rtl="0" eaLnBrk="1" latinLnBrk="0" hangingPunct="1">
        <a:defRPr sz="1800" kern="1200">
          <a:solidFill>
            <a:schemeClr val="tx1"/>
          </a:solidFill>
          <a:latin typeface="Arial"/>
          <a:ea typeface="+mn-ea"/>
          <a:cs typeface="+mn-cs"/>
        </a:defRPr>
      </a:lvl8pPr>
      <a:lvl9pPr marL="3657600" algn="l" defTabSz="914400" rtl="0" eaLnBrk="1" latinLnBrk="0" hangingPunct="1">
        <a:defRPr sz="1800" kern="1200">
          <a:solidFill>
            <a:schemeClr val="tx1"/>
          </a:solidFill>
          <a:latin typeface="Arial"/>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D69ADB-A529-0005-E22E-897E07817166}"/>
              </a:ext>
            </a:extLst>
          </p:cNvPr>
          <p:cNvSpPr>
            <a:spLocks noGrp="1"/>
          </p:cNvSpPr>
          <p:nvPr>
            <p:ph type="title"/>
          </p:nvPr>
        </p:nvSpPr>
        <p:spPr>
          <a:xfrm>
            <a:off x="838200" y="365125"/>
            <a:ext cx="10515600" cy="100584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B8964A7E-7DB7-5720-BE8B-C16AC77A00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38988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Arial"/>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p:bodyStyle>
    <p:otherStyle>
      <a:defPPr>
        <a:defRPr lang="en-US"/>
      </a:defPPr>
      <a:lvl1pPr marL="0" algn="l" defTabSz="914400" rtl="0" eaLnBrk="1" latinLnBrk="0" hangingPunct="1">
        <a:defRPr sz="1800" kern="1200">
          <a:solidFill>
            <a:schemeClr val="tx1"/>
          </a:solidFill>
          <a:latin typeface="Arial"/>
          <a:ea typeface="+mn-ea"/>
          <a:cs typeface="+mn-cs"/>
        </a:defRPr>
      </a:lvl1pPr>
      <a:lvl2pPr marL="457200" algn="l" defTabSz="914400" rtl="0" eaLnBrk="1" latinLnBrk="0" hangingPunct="1">
        <a:defRPr sz="1800" kern="1200">
          <a:solidFill>
            <a:schemeClr val="tx1"/>
          </a:solidFill>
          <a:latin typeface="Arial"/>
          <a:ea typeface="+mn-ea"/>
          <a:cs typeface="+mn-cs"/>
        </a:defRPr>
      </a:lvl2pPr>
      <a:lvl3pPr marL="914400" algn="l" defTabSz="914400" rtl="0" eaLnBrk="1" latinLnBrk="0" hangingPunct="1">
        <a:defRPr sz="1800" kern="1200">
          <a:solidFill>
            <a:schemeClr val="tx1"/>
          </a:solidFill>
          <a:latin typeface="Arial"/>
          <a:ea typeface="+mn-ea"/>
          <a:cs typeface="+mn-cs"/>
        </a:defRPr>
      </a:lvl3pPr>
      <a:lvl4pPr marL="1371600" algn="l" defTabSz="914400" rtl="0" eaLnBrk="1" latinLnBrk="0" hangingPunct="1">
        <a:defRPr sz="1800" kern="1200">
          <a:solidFill>
            <a:schemeClr val="tx1"/>
          </a:solidFill>
          <a:latin typeface="Arial"/>
          <a:ea typeface="+mn-ea"/>
          <a:cs typeface="+mn-cs"/>
        </a:defRPr>
      </a:lvl4pPr>
      <a:lvl5pPr marL="1828800" algn="l" defTabSz="914400" rtl="0" eaLnBrk="1" latinLnBrk="0" hangingPunct="1">
        <a:defRPr sz="18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Arial"/>
          <a:ea typeface="+mn-ea"/>
          <a:cs typeface="+mn-cs"/>
        </a:defRPr>
      </a:lvl6pPr>
      <a:lvl7pPr marL="2743200" algn="l" defTabSz="914400" rtl="0" eaLnBrk="1" latinLnBrk="0" hangingPunct="1">
        <a:defRPr sz="1800" kern="1200">
          <a:solidFill>
            <a:schemeClr val="tx1"/>
          </a:solidFill>
          <a:latin typeface="Arial"/>
          <a:ea typeface="+mn-ea"/>
          <a:cs typeface="+mn-cs"/>
        </a:defRPr>
      </a:lvl7pPr>
      <a:lvl8pPr marL="3200400" algn="l" defTabSz="914400" rtl="0" eaLnBrk="1" latinLnBrk="0" hangingPunct="1">
        <a:defRPr sz="1800" kern="1200">
          <a:solidFill>
            <a:schemeClr val="tx1"/>
          </a:solidFill>
          <a:latin typeface="Arial"/>
          <a:ea typeface="+mn-ea"/>
          <a:cs typeface="+mn-cs"/>
        </a:defRPr>
      </a:lvl8pPr>
      <a:lvl9pPr marL="3657600" algn="l" defTabSz="914400" rtl="0" eaLnBrk="1" latinLnBrk="0" hangingPunct="1">
        <a:defRPr sz="1800" kern="1200">
          <a:solidFill>
            <a:schemeClr val="tx1"/>
          </a:solidFill>
          <a:latin typeface="Arial"/>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8">
            <a:extLst>
              <a:ext uri="{28A0092B-C50C-407E-A947-70E740481C1C}">
                <a14:useLocalDpi xmlns:a14="http://schemas.microsoft.com/office/drawing/2010/main"/>
              </a:ext>
            </a:extLst>
          </a:blip>
          <a:stretch>
            <a:fillRect/>
          </a:stretch>
        </p:blipFill>
        <p:spPr>
          <a:xfrm>
            <a:off x="10403079" y="6451744"/>
            <a:ext cx="1438656" cy="187024"/>
          </a:xfrm>
          <a:prstGeom prst="rect">
            <a:avLst/>
          </a:prstGeom>
        </p:spPr>
      </p:pic>
      <p:sp>
        <p:nvSpPr>
          <p:cNvPr id="7" name="fl" descr="                              &#10;"/>
          <p:cNvSpPr txBox="1"/>
          <p:nvPr/>
        </p:nvSpPr>
        <p:spPr>
          <a:xfrm>
            <a:off x="5381061" y="6701002"/>
            <a:ext cx="1429879" cy="83100"/>
          </a:xfrm>
          <a:prstGeom prst="rect">
            <a:avLst/>
          </a:prstGeom>
          <a:noFill/>
        </p:spPr>
        <p:txBody>
          <a:bodyPr vert="horz" wrap="none" lIns="0" tIns="0" rIns="0" bIns="0" rtlCol="0" anchor="ctr" anchorCtr="0">
            <a:spAutoFit/>
          </a:bodyPr>
          <a:lstStyle/>
          <a:p>
            <a:pPr marL="0" marR="0" indent="0" algn="ctr" defTabSz="1219170" rtl="0" eaLnBrk="1" fontAlgn="base" latinLnBrk="0" hangingPunct="1">
              <a:lnSpc>
                <a:spcPct val="90000"/>
              </a:lnSpc>
              <a:spcBef>
                <a:spcPts val="133"/>
              </a:spcBef>
              <a:spcAft>
                <a:spcPts val="133"/>
              </a:spcAft>
              <a:buClrTx/>
              <a:buSzTx/>
              <a:buFontTx/>
              <a:buNone/>
              <a:tabLst/>
              <a:defRPr/>
            </a:pPr>
            <a:endParaRPr/>
          </a:p>
        </p:txBody>
      </p:sp>
      <p:sp>
        <p:nvSpPr>
          <p:cNvPr id="6" name="TextBox 19"/>
          <p:cNvSpPr txBox="1"/>
          <p:nvPr/>
        </p:nvSpPr>
        <p:spPr>
          <a:xfrm>
            <a:off x="5120251" y="6702028"/>
            <a:ext cx="94577" cy="83100"/>
          </a:xfrm>
          <a:prstGeom prst="rect">
            <a:avLst/>
          </a:prstGeom>
        </p:spPr>
        <p:txBody>
          <a:bodyPr vert="horz" wrap="none" lIns="0" tIns="0" rIns="0" bIns="0" rtlCol="0" anchor="ctr" anchorCtr="0">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gn="r" rtl="0" fontAlgn="base">
              <a:lnSpc>
                <a:spcPct val="90000"/>
              </a:lnSpc>
              <a:spcBef>
                <a:spcPct val="0"/>
              </a:spcBef>
              <a:spcAft>
                <a:spcPct val="0"/>
              </a:spcAft>
              <a:buClr>
                <a:schemeClr val="bg1"/>
              </a:buClr>
            </a:pPr>
            <a:fld id="{58EC7406-F4CC-4ABF-902E-2AF4E70E5C0F}" type="slidenum">
              <a:rPr lang="en-US" sz="600" b="0" kern="1200" smtClean="0">
                <a:solidFill>
                  <a:srgbClr val="808080"/>
                </a:solidFill>
                <a:latin typeface="Arial" panose="020B0604020202020204" pitchFamily="34" charset="0"/>
                <a:ea typeface="+mn-ea"/>
                <a:cs typeface="+mn-cs"/>
              </a:rPr>
              <a:pPr algn="r" rtl="0" fontAlgn="base">
                <a:lnSpc>
                  <a:spcPct val="90000"/>
                </a:lnSpc>
                <a:spcBef>
                  <a:spcPct val="0"/>
                </a:spcBef>
                <a:spcAft>
                  <a:spcPct val="0"/>
                </a:spcAft>
                <a:buClr>
                  <a:schemeClr val="bg1"/>
                </a:buClr>
              </a:pPr>
              <a:t>‹#›</a:t>
            </a:fld>
            <a:endParaRPr lang="en-US" sz="600" b="0" kern="1200" err="1">
              <a:solidFill>
                <a:srgbClr val="808080"/>
              </a:solidFill>
              <a:latin typeface="Arial" panose="020B0604020202020204" pitchFamily="34" charset="0"/>
              <a:ea typeface="+mn-ea"/>
              <a:cs typeface="+mn-cs"/>
            </a:endParaRPr>
          </a:p>
        </p:txBody>
      </p:sp>
    </p:spTree>
    <p:extLst>
      <p:ext uri="{BB962C8B-B14F-4D97-AF65-F5344CB8AC3E}">
        <p14:creationId xmlns:p14="http://schemas.microsoft.com/office/powerpoint/2010/main" val="104019808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Lst>
  <p:txStyles>
    <p:titleStyle>
      <a:lvl1pPr algn="l" defTabSz="914377" rtl="0" eaLnBrk="1" latinLnBrk="0" hangingPunct="1">
        <a:lnSpc>
          <a:spcPct val="90000"/>
        </a:lnSpc>
        <a:spcBef>
          <a:spcPct val="0"/>
        </a:spcBef>
        <a:buNone/>
        <a:defRPr sz="4400" kern="1200">
          <a:solidFill>
            <a:schemeClr val="tx1"/>
          </a:solidFill>
          <a:latin typeface="Arial"/>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p:bodyStyle>
    <p:otherStyle>
      <a:defPPr>
        <a:defRPr lang="en-US"/>
      </a:defPPr>
      <a:lvl1pPr marL="0" algn="l" defTabSz="914377" rtl="0" eaLnBrk="1" latinLnBrk="0" hangingPunct="1">
        <a:defRPr sz="1800" kern="1200">
          <a:solidFill>
            <a:schemeClr val="tx1"/>
          </a:solidFill>
          <a:latin typeface="Arial"/>
          <a:ea typeface="+mn-ea"/>
          <a:cs typeface="+mn-cs"/>
        </a:defRPr>
      </a:lvl1pPr>
      <a:lvl2pPr marL="457189" algn="l" defTabSz="914377" rtl="0" eaLnBrk="1" latinLnBrk="0" hangingPunct="1">
        <a:defRPr sz="1800" kern="1200">
          <a:solidFill>
            <a:schemeClr val="tx1"/>
          </a:solidFill>
          <a:latin typeface="Arial"/>
          <a:ea typeface="+mn-ea"/>
          <a:cs typeface="+mn-cs"/>
        </a:defRPr>
      </a:lvl2pPr>
      <a:lvl3pPr marL="914377" algn="l" defTabSz="914377" rtl="0" eaLnBrk="1" latinLnBrk="0" hangingPunct="1">
        <a:defRPr sz="1800" kern="1200">
          <a:solidFill>
            <a:schemeClr val="tx1"/>
          </a:solidFill>
          <a:latin typeface="Arial"/>
          <a:ea typeface="+mn-ea"/>
          <a:cs typeface="+mn-cs"/>
        </a:defRPr>
      </a:lvl3pPr>
      <a:lvl4pPr marL="1371566" algn="l" defTabSz="914377" rtl="0" eaLnBrk="1" latinLnBrk="0" hangingPunct="1">
        <a:defRPr sz="1800" kern="1200">
          <a:solidFill>
            <a:schemeClr val="tx1"/>
          </a:solidFill>
          <a:latin typeface="Arial"/>
          <a:ea typeface="+mn-ea"/>
          <a:cs typeface="+mn-cs"/>
        </a:defRPr>
      </a:lvl4pPr>
      <a:lvl5pPr marL="1828754" algn="l" defTabSz="914377" rtl="0" eaLnBrk="1" latinLnBrk="0" hangingPunct="1">
        <a:defRPr sz="1800" kern="1200">
          <a:solidFill>
            <a:schemeClr val="tx1"/>
          </a:solidFill>
          <a:latin typeface="Arial"/>
          <a:ea typeface="+mn-ea"/>
          <a:cs typeface="+mn-cs"/>
        </a:defRPr>
      </a:lvl5pPr>
      <a:lvl6pPr marL="2285943" algn="l" defTabSz="914377" rtl="0" eaLnBrk="1" latinLnBrk="0" hangingPunct="1">
        <a:defRPr sz="1800" kern="1200">
          <a:solidFill>
            <a:schemeClr val="tx1"/>
          </a:solidFill>
          <a:latin typeface="Arial"/>
          <a:ea typeface="+mn-ea"/>
          <a:cs typeface="+mn-cs"/>
        </a:defRPr>
      </a:lvl6pPr>
      <a:lvl7pPr marL="2743131" algn="l" defTabSz="914377" rtl="0" eaLnBrk="1" latinLnBrk="0" hangingPunct="1">
        <a:defRPr sz="1800" kern="1200">
          <a:solidFill>
            <a:schemeClr val="tx1"/>
          </a:solidFill>
          <a:latin typeface="Arial"/>
          <a:ea typeface="+mn-ea"/>
          <a:cs typeface="+mn-cs"/>
        </a:defRPr>
      </a:lvl7pPr>
      <a:lvl8pPr marL="3200320" algn="l" defTabSz="914377" rtl="0" eaLnBrk="1" latinLnBrk="0" hangingPunct="1">
        <a:defRPr sz="1800" kern="1200">
          <a:solidFill>
            <a:schemeClr val="tx1"/>
          </a:solidFill>
          <a:latin typeface="Arial"/>
          <a:ea typeface="+mn-ea"/>
          <a:cs typeface="+mn-cs"/>
        </a:defRPr>
      </a:lvl8pPr>
      <a:lvl9pPr marL="3657509" algn="l" defTabSz="914377" rtl="0" eaLnBrk="1" latinLnBrk="0" hangingPunct="1">
        <a:defRPr sz="1800" kern="1200">
          <a:solidFill>
            <a:schemeClr val="tx1"/>
          </a:solidFill>
          <a:latin typeface="Arial"/>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240">
          <p15:clr>
            <a:srgbClr val="F26B43"/>
          </p15:clr>
        </p15:guide>
        <p15:guide id="4" pos="74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56574" y="4279392"/>
            <a:ext cx="10893201" cy="1005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75" tIns="34275" rIns="34275" bIns="34275" anchor="t">
            <a:normAutofit/>
          </a:bodyPr>
          <a:lstStyle/>
          <a:p>
            <a:r>
              <a:t>Title Text</a:t>
            </a:r>
          </a:p>
        </p:txBody>
      </p:sp>
      <p:sp>
        <p:nvSpPr>
          <p:cNvPr id="3" name="Body Level One…"/>
          <p:cNvSpPr txBox="1">
            <a:spLocks noGrp="1"/>
          </p:cNvSpPr>
          <p:nvPr>
            <p:ph type="body" idx="1"/>
          </p:nvPr>
        </p:nvSpPr>
        <p:spPr>
          <a:xfrm>
            <a:off x="609600" y="1600200"/>
            <a:ext cx="109728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75" tIns="34275" rIns="34275" bIns="34275"/>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117923789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 id="2147483714" r:id="rId24"/>
    <p:sldLayoutId id="2147483715" r:id="rId25"/>
    <p:sldLayoutId id="2147483716" r:id="rId26"/>
    <p:sldLayoutId id="2147483717" r:id="rId27"/>
    <p:sldLayoutId id="2147483718" r:id="rId28"/>
    <p:sldLayoutId id="2147483719" r:id="rId29"/>
    <p:sldLayoutId id="2147483720" r:id="rId30"/>
    <p:sldLayoutId id="2147483721" r:id="rId31"/>
    <p:sldLayoutId id="2147483722" r:id="rId32"/>
    <p:sldLayoutId id="2147483723" r:id="rId33"/>
    <p:sldLayoutId id="2147483724" r:id="rId34"/>
    <p:sldLayoutId id="2147483725" r:id="rId35"/>
    <p:sldLayoutId id="2147483726" r:id="rId36"/>
    <p:sldLayoutId id="2147483727" r:id="rId37"/>
    <p:sldLayoutId id="2147483728" r:id="rId38"/>
    <p:sldLayoutId id="2147483729" r:id="rId39"/>
    <p:sldLayoutId id="2147483730" r:id="rId40"/>
    <p:sldLayoutId id="2147483731" r:id="rId41"/>
    <p:sldLayoutId id="2147483732" r:id="rId42"/>
    <p:sldLayoutId id="2147483733" r:id="rId43"/>
    <p:sldLayoutId id="2147483734" r:id="rId44"/>
    <p:sldLayoutId id="2147483735" r:id="rId45"/>
    <p:sldLayoutId id="2147483736" r:id="rId46"/>
    <p:sldLayoutId id="2147483737" r:id="rId47"/>
    <p:sldLayoutId id="2147483738" r:id="rId48"/>
    <p:sldLayoutId id="2147483739" r:id="rId49"/>
    <p:sldLayoutId id="2147483740" r:id="rId50"/>
    <p:sldLayoutId id="2147483741" r:id="rId51"/>
    <p:sldLayoutId id="2147483742" r:id="rId52"/>
    <p:sldLayoutId id="2147483743" r:id="rId53"/>
    <p:sldLayoutId id="2147483744" r:id="rId54"/>
  </p:sldLayoutIdLst>
  <p:transition spd="med"/>
  <p:txStyles>
    <p:titleStyle>
      <a:lvl1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Arial"/>
          <a:ea typeface="Roboto"/>
          <a:cs typeface="Roboto"/>
          <a:sym typeface="Roboto"/>
        </a:defRPr>
      </a:lvl1pPr>
      <a:lvl2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Arial"/>
          <a:ea typeface="Roboto"/>
          <a:cs typeface="Roboto"/>
          <a:sym typeface="Roboto"/>
        </a:defRPr>
      </a:lvl2pPr>
      <a:lvl3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Arial"/>
          <a:ea typeface="Roboto"/>
          <a:cs typeface="Roboto"/>
          <a:sym typeface="Roboto"/>
        </a:defRPr>
      </a:lvl3pPr>
      <a:lvl4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Arial"/>
          <a:ea typeface="Roboto"/>
          <a:cs typeface="Roboto"/>
          <a:sym typeface="Roboto"/>
        </a:defRPr>
      </a:lvl4pPr>
      <a:lvl5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Arial"/>
          <a:ea typeface="Roboto"/>
          <a:cs typeface="Roboto"/>
          <a:sym typeface="Roboto"/>
        </a:defRPr>
      </a:lvl5pPr>
      <a:lvl6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Arial"/>
          <a:ea typeface="Roboto"/>
          <a:cs typeface="Roboto"/>
          <a:sym typeface="Roboto"/>
        </a:defRPr>
      </a:lvl6pPr>
      <a:lvl7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Arial"/>
          <a:ea typeface="Roboto"/>
          <a:cs typeface="Roboto"/>
          <a:sym typeface="Roboto"/>
        </a:defRPr>
      </a:lvl7pPr>
      <a:lvl8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Arial"/>
          <a:ea typeface="Roboto"/>
          <a:cs typeface="Roboto"/>
          <a:sym typeface="Roboto"/>
        </a:defRPr>
      </a:lvl8pPr>
      <a:lvl9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Arial"/>
          <a:ea typeface="Roboto"/>
          <a:cs typeface="Roboto"/>
          <a:sym typeface="Roboto"/>
        </a:defRPr>
      </a:lvl9pPr>
    </p:titleStyle>
    <p:bodyStyle>
      <a:lvl1pPr marL="609585" marR="0" indent="-457189"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Arial"/>
          <a:ea typeface="Roboto"/>
          <a:cs typeface="Roboto"/>
          <a:sym typeface="Roboto"/>
        </a:defRPr>
      </a:lvl1pPr>
      <a:lvl2pPr marL="1305526" marR="0" indent="-518146"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Arial"/>
          <a:ea typeface="Roboto"/>
          <a:cs typeface="Roboto"/>
          <a:sym typeface="Roboto"/>
        </a:defRPr>
      </a:lvl2pPr>
      <a:lvl3pPr marL="2031949"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Arial"/>
          <a:ea typeface="Roboto"/>
          <a:cs typeface="Roboto"/>
          <a:sym typeface="Roboto"/>
        </a:defRPr>
      </a:lvl3pPr>
      <a:lvl4pPr marL="2641534"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Arial"/>
          <a:ea typeface="Roboto"/>
          <a:cs typeface="Roboto"/>
          <a:sym typeface="Roboto"/>
        </a:defRPr>
      </a:lvl4pPr>
      <a:lvl5pPr marL="3251119"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Arial"/>
          <a:ea typeface="Roboto"/>
          <a:cs typeface="Roboto"/>
          <a:sym typeface="Roboto"/>
        </a:defRPr>
      </a:lvl5pPr>
      <a:lvl6pPr marL="3860703"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Arial"/>
          <a:ea typeface="Roboto"/>
          <a:cs typeface="Roboto"/>
          <a:sym typeface="Roboto"/>
        </a:defRPr>
      </a:lvl6pPr>
      <a:lvl7pPr marL="4470288"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Arial"/>
          <a:ea typeface="Roboto"/>
          <a:cs typeface="Roboto"/>
          <a:sym typeface="Roboto"/>
        </a:defRPr>
      </a:lvl7pPr>
      <a:lvl8pPr marL="5079873"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Arial"/>
          <a:ea typeface="Roboto"/>
          <a:cs typeface="Roboto"/>
          <a:sym typeface="Roboto"/>
        </a:defRPr>
      </a:lvl8pPr>
      <a:lvl9pPr marL="5689458"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Arial"/>
          <a:ea typeface="Roboto"/>
          <a:cs typeface="Roboto"/>
          <a:sym typeface="Roboto"/>
        </a:defRPr>
      </a:lvl9pPr>
    </p:bodyStyle>
    <p:otherStyle>
      <a:lvl1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Arial"/>
          <a:ea typeface="+mn-ea"/>
          <a:cs typeface="+mn-cs"/>
          <a:sym typeface="Roboto"/>
        </a:defRPr>
      </a:lvl1pPr>
      <a:lvl2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Arial"/>
          <a:ea typeface="+mn-ea"/>
          <a:cs typeface="+mn-cs"/>
          <a:sym typeface="Roboto"/>
        </a:defRPr>
      </a:lvl2pPr>
      <a:lvl3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Arial"/>
          <a:ea typeface="+mn-ea"/>
          <a:cs typeface="+mn-cs"/>
          <a:sym typeface="Roboto"/>
        </a:defRPr>
      </a:lvl3pPr>
      <a:lvl4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Arial"/>
          <a:ea typeface="+mn-ea"/>
          <a:cs typeface="+mn-cs"/>
          <a:sym typeface="Roboto"/>
        </a:defRPr>
      </a:lvl4pPr>
      <a:lvl5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Arial"/>
          <a:ea typeface="+mn-ea"/>
          <a:cs typeface="+mn-cs"/>
          <a:sym typeface="Roboto"/>
        </a:defRPr>
      </a:lvl5pPr>
      <a:lvl6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Arial"/>
          <a:ea typeface="+mn-ea"/>
          <a:cs typeface="+mn-cs"/>
          <a:sym typeface="Roboto"/>
        </a:defRPr>
      </a:lvl6pPr>
      <a:lvl7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Arial"/>
          <a:ea typeface="+mn-ea"/>
          <a:cs typeface="+mn-cs"/>
          <a:sym typeface="Roboto"/>
        </a:defRPr>
      </a:lvl7pPr>
      <a:lvl8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Arial"/>
          <a:ea typeface="+mn-ea"/>
          <a:cs typeface="+mn-cs"/>
          <a:sym typeface="Roboto"/>
        </a:defRPr>
      </a:lvl8pPr>
      <a:lvl9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Arial"/>
          <a:ea typeface="+mn-ea"/>
          <a:cs typeface="+mn-cs"/>
          <a:sym typeface="Roboto"/>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24.jpeg"/></Relationships>
</file>

<file path=ppt/slides/_rels/slide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7.xml"/><Relationship Id="rId4" Type="http://schemas.openxmlformats.org/officeDocument/2006/relationships/image" Target="../media/image30.jpeg"/></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slideLayout" Target="../slideLayouts/slideLayout26.xml"/><Relationship Id="rId7" Type="http://schemas.openxmlformats.org/officeDocument/2006/relationships/image" Target="../media/image35.png"/><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34.jpeg"/><Relationship Id="rId5" Type="http://schemas.openxmlformats.org/officeDocument/2006/relationships/image" Target="../media/image33.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2.xml"/><Relationship Id="rId1" Type="http://schemas.openxmlformats.org/officeDocument/2006/relationships/slideLayout" Target="../slideLayouts/slideLayout27.xml"/><Relationship Id="rId4" Type="http://schemas.openxmlformats.org/officeDocument/2006/relationships/image" Target="../media/image38.jpeg"/></Relationships>
</file>

<file path=ppt/slides/_rels/slide1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svg"/><Relationship Id="rId2" Type="http://schemas.openxmlformats.org/officeDocument/2006/relationships/notesSlide" Target="../notesSlides/notesSlide14.xml"/><Relationship Id="rId1" Type="http://schemas.openxmlformats.org/officeDocument/2006/relationships/slideLayout" Target="../slideLayouts/slideLayout27.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jpeg"/><Relationship Id="rId9" Type="http://schemas.openxmlformats.org/officeDocument/2006/relationships/image" Target="../media/image46.png"/></Relationships>
</file>

<file path=ppt/slides/_rels/slide17.xml.rels><?xml version="1.0" encoding="UTF-8" standalone="yes"?>
<Relationships xmlns="http://schemas.openxmlformats.org/package/2006/relationships"><Relationship Id="rId8" Type="http://schemas.openxmlformats.org/officeDocument/2006/relationships/image" Target="../media/image52.jpeg"/><Relationship Id="rId3" Type="http://schemas.microsoft.com/office/2007/relationships/media" Target="../media/media3.mp4"/><Relationship Id="rId7" Type="http://schemas.openxmlformats.org/officeDocument/2006/relationships/image" Target="../media/image51.jpe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notesSlide" Target="../notesSlides/notesSlide15.xml"/><Relationship Id="rId5" Type="http://schemas.openxmlformats.org/officeDocument/2006/relationships/slideLayout" Target="../slideLayouts/slideLayout27.xml"/><Relationship Id="rId4" Type="http://schemas.openxmlformats.org/officeDocument/2006/relationships/video" Target="../media/media3.mp4"/></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7.xml"/><Relationship Id="rId4" Type="http://schemas.openxmlformats.org/officeDocument/2006/relationships/image" Target="../media/image55.jpeg"/></Relationships>
</file>

<file path=ppt/slides/_rels/slide19.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chart" Target="../charts/chart6.xml"/><Relationship Id="rId4" Type="http://schemas.openxmlformats.org/officeDocument/2006/relationships/chart" Target="../charts/char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4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51C30"/>
        </a:solidFill>
        <a:effectLst/>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9A6B2C">
              <a:alpha val="12000"/>
            </a:srgbClr>
          </a:solidFill>
          <a:ln/>
        </p:spPr>
      </p:sp>
      <p:sp>
        <p:nvSpPr>
          <p:cNvPr id="3" name="Shape 1"/>
          <p:cNvSpPr/>
          <p:nvPr/>
        </p:nvSpPr>
        <p:spPr>
          <a:xfrm>
            <a:off x="-1463040" y="4937760"/>
            <a:ext cx="3291840" cy="3291840"/>
          </a:xfrm>
          <a:prstGeom prst="ellipse">
            <a:avLst/>
          </a:prstGeom>
          <a:solidFill>
            <a:srgbClr val="9A6B2C">
              <a:alpha val="12000"/>
            </a:srgbClr>
          </a:solidFill>
          <a:ln/>
        </p:spPr>
      </p:sp>
      <p:sp>
        <p:nvSpPr>
          <p:cNvPr id="6" name="Text 3"/>
          <p:cNvSpPr/>
          <p:nvPr/>
        </p:nvSpPr>
        <p:spPr>
          <a:xfrm>
            <a:off x="640080" y="1325880"/>
            <a:ext cx="5486400" cy="365760"/>
          </a:xfrm>
          <a:prstGeom prst="rect">
            <a:avLst/>
          </a:prstGeom>
          <a:noFill/>
          <a:ln/>
        </p:spPr>
        <p:txBody>
          <a:bodyPr wrap="square" rtlCol="0" anchor="ctr"/>
          <a:lstStyle/>
          <a:p>
            <a:pPr marL="0" indent="0">
              <a:buNone/>
            </a:pPr>
            <a:r>
              <a:rPr lang="en-US" sz="1300" b="1" kern="0" spc="200" dirty="0">
                <a:solidFill>
                  <a:srgbClr val="FFFFFF"/>
                </a:solidFill>
                <a:latin typeface="Arial" pitchFamily="34" charset="0"/>
                <a:ea typeface="Calibri" pitchFamily="34" charset="-122"/>
                <a:cs typeface="Calibri" pitchFamily="34" charset="-120"/>
              </a:rPr>
              <a:t>DAY 1  ·  Third Session</a:t>
            </a:r>
            <a:endParaRPr lang="en-US" sz="1300" dirty="0"/>
          </a:p>
        </p:txBody>
      </p:sp>
      <p:sp>
        <p:nvSpPr>
          <p:cNvPr id="7" name="Text 4"/>
          <p:cNvSpPr/>
          <p:nvPr/>
        </p:nvSpPr>
        <p:spPr>
          <a:xfrm>
            <a:off x="594360" y="1737360"/>
            <a:ext cx="9601200" cy="2011680"/>
          </a:xfrm>
          <a:prstGeom prst="rect">
            <a:avLst/>
          </a:prstGeom>
          <a:noFill/>
          <a:ln/>
        </p:spPr>
        <p:txBody>
          <a:bodyPr wrap="square" rtlCol="0" anchor="ctr"/>
          <a:lstStyle/>
          <a:p>
            <a:pPr marL="0" indent="0">
              <a:lnSpc>
                <a:spcPct val="105000"/>
              </a:lnSpc>
              <a:buNone/>
            </a:pPr>
            <a:r>
              <a:rPr lang="en-US" sz="3800" b="1" dirty="0">
                <a:solidFill>
                  <a:srgbClr val="FFFFFF"/>
                </a:solidFill>
                <a:latin typeface="Arial" pitchFamily="34" charset="0"/>
                <a:ea typeface="Cambria" pitchFamily="34" charset="-122"/>
                <a:cs typeface="Cambria" pitchFamily="34" charset="-120"/>
              </a:rPr>
              <a:t>Prompt Engineering &amp;</a:t>
            </a:r>
            <a:endParaRPr lang="en-US" sz="3800" dirty="0"/>
          </a:p>
          <a:p>
            <a:pPr marL="0" indent="0">
              <a:lnSpc>
                <a:spcPct val="105000"/>
              </a:lnSpc>
              <a:buNone/>
            </a:pPr>
            <a:r>
              <a:rPr lang="en-US" sz="3800" b="1" dirty="0">
                <a:solidFill>
                  <a:srgbClr val="FFFFFF"/>
                </a:solidFill>
                <a:latin typeface="Arial" pitchFamily="34" charset="0"/>
                <a:ea typeface="Cambria" pitchFamily="34" charset="-122"/>
                <a:cs typeface="Cambria" pitchFamily="34" charset="-120"/>
              </a:rPr>
              <a:t>System Prompt Best Practices</a:t>
            </a:r>
            <a:endParaRPr lang="en-US" sz="3800" dirty="0"/>
          </a:p>
        </p:txBody>
      </p:sp>
      <p:sp>
        <p:nvSpPr>
          <p:cNvPr id="8" name="Text 5"/>
          <p:cNvSpPr/>
          <p:nvPr/>
        </p:nvSpPr>
        <p:spPr>
          <a:xfrm>
            <a:off x="640080" y="3794760"/>
            <a:ext cx="8686800" cy="731520"/>
          </a:xfrm>
          <a:prstGeom prst="rect">
            <a:avLst/>
          </a:prstGeom>
          <a:noFill/>
          <a:ln/>
        </p:spPr>
        <p:txBody>
          <a:bodyPr wrap="square" rtlCol="0" anchor="ctr"/>
          <a:lstStyle/>
          <a:p>
            <a:pPr marL="0" indent="0">
              <a:buNone/>
            </a:pPr>
            <a:r>
              <a:rPr lang="en-US" sz="1600" i="1" dirty="0">
                <a:solidFill>
                  <a:srgbClr val="FFFFFF"/>
                </a:solidFill>
                <a:latin typeface="Arial" pitchFamily="34" charset="0"/>
                <a:ea typeface="Calibri" pitchFamily="34" charset="-122"/>
                <a:cs typeface="Calibri" pitchFamily="34" charset="-120"/>
              </a:rPr>
              <a:t>The instructions you write are the interface. Learn to shape them on purpose, not by accident.</a:t>
            </a:r>
            <a:endParaRPr lang="en-US" sz="1600" dirty="0"/>
          </a:p>
        </p:txBody>
      </p:sp>
      <p:sp>
        <p:nvSpPr>
          <p:cNvPr id="9" name="Text 6"/>
          <p:cNvSpPr/>
          <p:nvPr/>
        </p:nvSpPr>
        <p:spPr>
          <a:xfrm>
            <a:off x="640080" y="6126480"/>
            <a:ext cx="10058400" cy="365760"/>
          </a:xfrm>
          <a:prstGeom prst="rect">
            <a:avLst/>
          </a:prstGeom>
          <a:noFill/>
          <a:ln/>
        </p:spPr>
        <p:txBody>
          <a:bodyPr wrap="square" rtlCol="0" anchor="ctr"/>
          <a:lstStyle/>
          <a:p>
            <a:pPr marL="0" indent="0">
              <a:buNone/>
            </a:pPr>
            <a:r>
              <a:rPr lang="en-US" sz="1200" dirty="0">
                <a:solidFill>
                  <a:srgbClr val="8FA3C9"/>
                </a:solidFill>
                <a:latin typeface="Arial" pitchFamily="34" charset="0"/>
                <a:ea typeface="Calibri" pitchFamily="34" charset="-122"/>
                <a:cs typeface="Calibri" pitchFamily="34" charset="-120"/>
              </a:rPr>
              <a:t>Generative AI in Finance   |   EA Executive MBA   |   Finance Masters + Data Science Masters</a:t>
            </a:r>
            <a:endParaRPr lang="en-US" sz="1200" dirty="0"/>
          </a:p>
        </p:txBody>
      </p:sp>
      <p:sp>
        <p:nvSpPr>
          <p:cNvPr id="10" name="Harvard Footer"/>
          <p:cNvSpPr txBox="1"/>
          <p:nvPr/>
        </p:nvSpPr>
        <p:spPr>
          <a:xfrm>
            <a:off x="1966119" y="649176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4213D"/>
                </a:solidFill>
                <a:latin typeface="Arial" pitchFamily="34" charset="0"/>
                <a:ea typeface="Cambria" pitchFamily="34" charset="-122"/>
                <a:cs typeface="Cambria" pitchFamily="34" charset="-120"/>
              </a:rPr>
              <a:t>What we cover this session</a:t>
            </a:r>
            <a:endParaRPr lang="en-US" sz="3000" dirty="0"/>
          </a:p>
        </p:txBody>
      </p:sp>
      <p:sp>
        <p:nvSpPr>
          <p:cNvPr id="3" name="Shape 1"/>
          <p:cNvSpPr/>
          <p:nvPr/>
        </p:nvSpPr>
        <p:spPr>
          <a:xfrm>
            <a:off x="548640" y="1943355"/>
            <a:ext cx="11064240" cy="658368"/>
          </a:xfrm>
          <a:prstGeom prst="roundRect">
            <a:avLst>
              <a:gd name="adj" fmla="val 8333"/>
            </a:avLst>
          </a:prstGeom>
          <a:solidFill>
            <a:srgbClr val="FFFFFF"/>
          </a:solidFill>
          <a:ln/>
          <a:effectLst>
            <a:outerShdw blurRad="63500" dist="25400" dir="5400000" algn="bl" rotWithShape="0">
              <a:srgbClr val="1E1E1E">
                <a:alpha val="8000"/>
              </a:srgbClr>
            </a:outerShdw>
          </a:effectLst>
        </p:spPr>
      </p:sp>
      <p:sp>
        <p:nvSpPr>
          <p:cNvPr id="4" name="Shape 2"/>
          <p:cNvSpPr/>
          <p:nvPr/>
        </p:nvSpPr>
        <p:spPr>
          <a:xfrm>
            <a:off x="777240" y="2062227"/>
            <a:ext cx="420624" cy="420624"/>
          </a:xfrm>
          <a:prstGeom prst="ellipse">
            <a:avLst/>
          </a:prstGeom>
          <a:solidFill>
            <a:srgbClr val="F1EEE3"/>
          </a:solidFill>
          <a:ln/>
        </p:spPr>
      </p:sp>
      <p:sp>
        <p:nvSpPr>
          <p:cNvPr id="5" name="Text 3"/>
          <p:cNvSpPr/>
          <p:nvPr/>
        </p:nvSpPr>
        <p:spPr>
          <a:xfrm>
            <a:off x="777240" y="2062227"/>
            <a:ext cx="420624" cy="420624"/>
          </a:xfrm>
          <a:prstGeom prst="rect">
            <a:avLst/>
          </a:prstGeom>
          <a:noFill/>
          <a:ln/>
        </p:spPr>
        <p:txBody>
          <a:bodyPr wrap="square" rtlCol="0" anchor="ctr"/>
          <a:lstStyle/>
          <a:p>
            <a:pPr marL="0" indent="0" algn="ctr">
              <a:buNone/>
            </a:pPr>
            <a:r>
              <a:rPr lang="en-US" sz="1600" b="1" dirty="0">
                <a:solidFill>
                  <a:srgbClr val="9A6B2C"/>
                </a:solidFill>
                <a:latin typeface="Arial" pitchFamily="34" charset="0"/>
              </a:rPr>
              <a:t>2</a:t>
            </a:r>
            <a:endParaRPr lang="en-US" sz="1600" dirty="0"/>
          </a:p>
        </p:txBody>
      </p:sp>
      <p:sp>
        <p:nvSpPr>
          <p:cNvPr id="6" name="Text 4"/>
          <p:cNvSpPr/>
          <p:nvPr/>
        </p:nvSpPr>
        <p:spPr>
          <a:xfrm>
            <a:off x="1417320" y="2016507"/>
            <a:ext cx="9966960" cy="512064"/>
          </a:xfrm>
          <a:prstGeom prst="rect">
            <a:avLst/>
          </a:prstGeom>
          <a:noFill/>
          <a:ln/>
        </p:spPr>
        <p:txBody>
          <a:bodyPr wrap="square" rtlCol="0" anchor="ctr"/>
          <a:lstStyle/>
          <a:p>
            <a:pPr marL="0" indent="0">
              <a:buNone/>
            </a:pPr>
            <a:r>
              <a:rPr lang="en-US" sz="1500" dirty="0">
                <a:solidFill>
                  <a:srgbClr val="14213D"/>
                </a:solidFill>
                <a:latin typeface="Arial" pitchFamily="34" charset="0"/>
                <a:ea typeface="Calibri" pitchFamily="34" charset="-122"/>
                <a:cs typeface="Calibri" pitchFamily="34" charset="-120"/>
              </a:rPr>
              <a:t>Debrief your haggl.com system prompt experiment</a:t>
            </a:r>
            <a:endParaRPr lang="en-US" sz="1500" dirty="0"/>
          </a:p>
        </p:txBody>
      </p:sp>
      <p:sp>
        <p:nvSpPr>
          <p:cNvPr id="7" name="Shape 5"/>
          <p:cNvSpPr/>
          <p:nvPr/>
        </p:nvSpPr>
        <p:spPr>
          <a:xfrm>
            <a:off x="548640" y="2720595"/>
            <a:ext cx="11064240" cy="658368"/>
          </a:xfrm>
          <a:prstGeom prst="roundRect">
            <a:avLst>
              <a:gd name="adj" fmla="val 8333"/>
            </a:avLst>
          </a:prstGeom>
          <a:solidFill>
            <a:srgbClr val="FFFFFF"/>
          </a:solidFill>
          <a:ln/>
          <a:effectLst>
            <a:outerShdw blurRad="63500" dist="25400" dir="5400000" algn="bl" rotWithShape="0">
              <a:srgbClr val="1E1E1E">
                <a:alpha val="8000"/>
              </a:srgbClr>
            </a:outerShdw>
          </a:effectLst>
        </p:spPr>
      </p:sp>
      <p:sp>
        <p:nvSpPr>
          <p:cNvPr id="8" name="Shape 6"/>
          <p:cNvSpPr/>
          <p:nvPr/>
        </p:nvSpPr>
        <p:spPr>
          <a:xfrm>
            <a:off x="777240" y="2839467"/>
            <a:ext cx="420624" cy="420624"/>
          </a:xfrm>
          <a:prstGeom prst="ellipse">
            <a:avLst/>
          </a:prstGeom>
          <a:solidFill>
            <a:srgbClr val="F1EEE3"/>
          </a:solidFill>
          <a:ln/>
        </p:spPr>
      </p:sp>
      <p:sp>
        <p:nvSpPr>
          <p:cNvPr id="9" name="Text 7"/>
          <p:cNvSpPr/>
          <p:nvPr/>
        </p:nvSpPr>
        <p:spPr>
          <a:xfrm>
            <a:off x="777240" y="2839467"/>
            <a:ext cx="420624" cy="420624"/>
          </a:xfrm>
          <a:prstGeom prst="rect">
            <a:avLst/>
          </a:prstGeom>
          <a:noFill/>
          <a:ln/>
        </p:spPr>
        <p:txBody>
          <a:bodyPr wrap="square" rtlCol="0" anchor="ctr"/>
          <a:lstStyle/>
          <a:p>
            <a:pPr marL="0" indent="0" algn="ctr">
              <a:buNone/>
            </a:pPr>
            <a:r>
              <a:rPr lang="en-US" sz="1600" b="1" dirty="0">
                <a:solidFill>
                  <a:srgbClr val="9A6B2C"/>
                </a:solidFill>
                <a:latin typeface="Arial" pitchFamily="34" charset="0"/>
              </a:rPr>
              <a:t>3</a:t>
            </a:r>
            <a:endParaRPr lang="en-US" sz="1600" dirty="0"/>
          </a:p>
        </p:txBody>
      </p:sp>
      <p:sp>
        <p:nvSpPr>
          <p:cNvPr id="10" name="Text 8"/>
          <p:cNvSpPr/>
          <p:nvPr/>
        </p:nvSpPr>
        <p:spPr>
          <a:xfrm>
            <a:off x="1417320" y="2793747"/>
            <a:ext cx="9966960" cy="512064"/>
          </a:xfrm>
          <a:prstGeom prst="rect">
            <a:avLst/>
          </a:prstGeom>
          <a:noFill/>
          <a:ln/>
        </p:spPr>
        <p:txBody>
          <a:bodyPr wrap="square" rtlCol="0" anchor="ctr"/>
          <a:lstStyle/>
          <a:p>
            <a:pPr marL="0" indent="0">
              <a:buNone/>
            </a:pPr>
            <a:r>
              <a:rPr lang="en-US" sz="1500" dirty="0">
                <a:solidFill>
                  <a:srgbClr val="14213D"/>
                </a:solidFill>
                <a:latin typeface="Arial" pitchFamily="34" charset="0"/>
                <a:ea typeface="Calibri" pitchFamily="34" charset="-122"/>
                <a:cs typeface="Calibri" pitchFamily="34" charset="-120"/>
              </a:rPr>
              <a:t>Prompt structure: role, context, task, format, constraints</a:t>
            </a:r>
            <a:endParaRPr lang="en-US" sz="1500" dirty="0"/>
          </a:p>
        </p:txBody>
      </p:sp>
      <p:sp>
        <p:nvSpPr>
          <p:cNvPr id="11" name="Shape 9"/>
          <p:cNvSpPr/>
          <p:nvPr/>
        </p:nvSpPr>
        <p:spPr>
          <a:xfrm>
            <a:off x="548640" y="3497835"/>
            <a:ext cx="11064240" cy="658368"/>
          </a:xfrm>
          <a:prstGeom prst="roundRect">
            <a:avLst>
              <a:gd name="adj" fmla="val 8333"/>
            </a:avLst>
          </a:prstGeom>
          <a:solidFill>
            <a:srgbClr val="FFFFFF"/>
          </a:solidFill>
          <a:ln/>
          <a:effectLst>
            <a:outerShdw blurRad="63500" dist="25400" dir="5400000" algn="bl" rotWithShape="0">
              <a:srgbClr val="1E1E1E">
                <a:alpha val="8000"/>
              </a:srgbClr>
            </a:outerShdw>
          </a:effectLst>
        </p:spPr>
      </p:sp>
      <p:sp>
        <p:nvSpPr>
          <p:cNvPr id="12" name="Shape 10"/>
          <p:cNvSpPr/>
          <p:nvPr/>
        </p:nvSpPr>
        <p:spPr>
          <a:xfrm>
            <a:off x="777240" y="3616707"/>
            <a:ext cx="420624" cy="420624"/>
          </a:xfrm>
          <a:prstGeom prst="ellipse">
            <a:avLst/>
          </a:prstGeom>
          <a:solidFill>
            <a:srgbClr val="F1EEE3"/>
          </a:solidFill>
          <a:ln/>
        </p:spPr>
      </p:sp>
      <p:sp>
        <p:nvSpPr>
          <p:cNvPr id="13" name="Text 11"/>
          <p:cNvSpPr/>
          <p:nvPr/>
        </p:nvSpPr>
        <p:spPr>
          <a:xfrm>
            <a:off x="777240" y="3616707"/>
            <a:ext cx="420624" cy="420624"/>
          </a:xfrm>
          <a:prstGeom prst="rect">
            <a:avLst/>
          </a:prstGeom>
          <a:noFill/>
          <a:ln/>
        </p:spPr>
        <p:txBody>
          <a:bodyPr wrap="square" rtlCol="0" anchor="ctr"/>
          <a:lstStyle/>
          <a:p>
            <a:pPr marL="0" indent="0" algn="ctr">
              <a:buNone/>
            </a:pPr>
            <a:r>
              <a:rPr lang="en-US" sz="1600" b="1" dirty="0">
                <a:solidFill>
                  <a:srgbClr val="9A6B2C"/>
                </a:solidFill>
                <a:latin typeface="Arial" pitchFamily="34" charset="0"/>
              </a:rPr>
              <a:t>4</a:t>
            </a:r>
            <a:endParaRPr lang="en-US" sz="1600" dirty="0"/>
          </a:p>
        </p:txBody>
      </p:sp>
      <p:sp>
        <p:nvSpPr>
          <p:cNvPr id="14" name="Text 12"/>
          <p:cNvSpPr/>
          <p:nvPr/>
        </p:nvSpPr>
        <p:spPr>
          <a:xfrm>
            <a:off x="1417320" y="3570987"/>
            <a:ext cx="9966960" cy="512064"/>
          </a:xfrm>
          <a:prstGeom prst="rect">
            <a:avLst/>
          </a:prstGeom>
          <a:noFill/>
          <a:ln/>
        </p:spPr>
        <p:txBody>
          <a:bodyPr wrap="square" rtlCol="0" anchor="ctr"/>
          <a:lstStyle/>
          <a:p>
            <a:pPr marL="0" indent="0">
              <a:buNone/>
            </a:pPr>
            <a:r>
              <a:rPr lang="en-US" sz="1500" dirty="0">
                <a:solidFill>
                  <a:srgbClr val="14213D"/>
                </a:solidFill>
                <a:latin typeface="Arial" pitchFamily="34" charset="0"/>
                <a:ea typeface="Calibri" pitchFamily="34" charset="-122"/>
                <a:cs typeface="Calibri" pitchFamily="34" charset="-120"/>
              </a:rPr>
              <a:t>System prompt anatomy: persona, boundaries, output format</a:t>
            </a:r>
            <a:endParaRPr lang="en-US" sz="1500" dirty="0"/>
          </a:p>
        </p:txBody>
      </p:sp>
      <p:sp>
        <p:nvSpPr>
          <p:cNvPr id="15" name="Shape 13"/>
          <p:cNvSpPr/>
          <p:nvPr/>
        </p:nvSpPr>
        <p:spPr>
          <a:xfrm>
            <a:off x="548640" y="4275075"/>
            <a:ext cx="11064240" cy="658368"/>
          </a:xfrm>
          <a:prstGeom prst="roundRect">
            <a:avLst>
              <a:gd name="adj" fmla="val 8333"/>
            </a:avLst>
          </a:prstGeom>
          <a:solidFill>
            <a:srgbClr val="FFFFFF"/>
          </a:solidFill>
          <a:ln/>
          <a:effectLst>
            <a:outerShdw blurRad="63500" dist="25400" dir="5400000" algn="bl" rotWithShape="0">
              <a:srgbClr val="1E1E1E">
                <a:alpha val="8000"/>
              </a:srgbClr>
            </a:outerShdw>
          </a:effectLst>
        </p:spPr>
      </p:sp>
      <p:sp>
        <p:nvSpPr>
          <p:cNvPr id="16" name="Shape 14"/>
          <p:cNvSpPr/>
          <p:nvPr/>
        </p:nvSpPr>
        <p:spPr>
          <a:xfrm>
            <a:off x="777240" y="4393947"/>
            <a:ext cx="420624" cy="420624"/>
          </a:xfrm>
          <a:prstGeom prst="ellipse">
            <a:avLst/>
          </a:prstGeom>
          <a:solidFill>
            <a:srgbClr val="F1EEE3"/>
          </a:solidFill>
          <a:ln/>
        </p:spPr>
      </p:sp>
      <p:sp>
        <p:nvSpPr>
          <p:cNvPr id="17" name="Text 15"/>
          <p:cNvSpPr/>
          <p:nvPr/>
        </p:nvSpPr>
        <p:spPr>
          <a:xfrm>
            <a:off x="777240" y="4393947"/>
            <a:ext cx="420624" cy="420624"/>
          </a:xfrm>
          <a:prstGeom prst="rect">
            <a:avLst/>
          </a:prstGeom>
          <a:noFill/>
          <a:ln/>
        </p:spPr>
        <p:txBody>
          <a:bodyPr wrap="square" rtlCol="0" anchor="ctr"/>
          <a:lstStyle/>
          <a:p>
            <a:pPr marL="0" indent="0" algn="ctr">
              <a:buNone/>
            </a:pPr>
            <a:r>
              <a:rPr lang="en-US" sz="1600" b="1" dirty="0">
                <a:solidFill>
                  <a:srgbClr val="9A6B2C"/>
                </a:solidFill>
                <a:latin typeface="Arial" pitchFamily="34" charset="0"/>
              </a:rPr>
              <a:t>5</a:t>
            </a:r>
            <a:endParaRPr lang="en-US" sz="1600" dirty="0"/>
          </a:p>
        </p:txBody>
      </p:sp>
      <p:sp>
        <p:nvSpPr>
          <p:cNvPr id="18" name="Text 16"/>
          <p:cNvSpPr/>
          <p:nvPr/>
        </p:nvSpPr>
        <p:spPr>
          <a:xfrm>
            <a:off x="1417320" y="4348227"/>
            <a:ext cx="9966960" cy="512064"/>
          </a:xfrm>
          <a:prstGeom prst="rect">
            <a:avLst/>
          </a:prstGeom>
          <a:noFill/>
          <a:ln/>
        </p:spPr>
        <p:txBody>
          <a:bodyPr wrap="square" rtlCol="0" anchor="ctr"/>
          <a:lstStyle/>
          <a:p>
            <a:pPr marL="0" indent="0">
              <a:buNone/>
            </a:pPr>
            <a:r>
              <a:rPr lang="en-US" sz="1500" dirty="0">
                <a:solidFill>
                  <a:srgbClr val="14213D"/>
                </a:solidFill>
                <a:latin typeface="Arial" pitchFamily="34" charset="0"/>
                <a:ea typeface="Calibri" pitchFamily="34" charset="-122"/>
                <a:cs typeface="Calibri" pitchFamily="34" charset="-120"/>
              </a:rPr>
              <a:t>Hands on: prompts that return structured JSON</a:t>
            </a:r>
            <a:endParaRPr lang="en-US" sz="1500" dirty="0"/>
          </a:p>
        </p:txBody>
      </p:sp>
      <p:sp>
        <p:nvSpPr>
          <p:cNvPr id="19" name="Shape 17"/>
          <p:cNvSpPr/>
          <p:nvPr/>
        </p:nvSpPr>
        <p:spPr>
          <a:xfrm>
            <a:off x="548640" y="5052315"/>
            <a:ext cx="11064240" cy="658368"/>
          </a:xfrm>
          <a:prstGeom prst="roundRect">
            <a:avLst>
              <a:gd name="adj" fmla="val 8333"/>
            </a:avLst>
          </a:prstGeom>
          <a:solidFill>
            <a:srgbClr val="FFFFFF"/>
          </a:solidFill>
          <a:ln/>
          <a:effectLst>
            <a:outerShdw blurRad="63500" dist="25400" dir="5400000" algn="bl" rotWithShape="0">
              <a:srgbClr val="1E1E1E">
                <a:alpha val="8000"/>
              </a:srgbClr>
            </a:outerShdw>
          </a:effectLst>
        </p:spPr>
      </p:sp>
      <p:sp>
        <p:nvSpPr>
          <p:cNvPr id="20" name="Shape 18"/>
          <p:cNvSpPr/>
          <p:nvPr/>
        </p:nvSpPr>
        <p:spPr>
          <a:xfrm>
            <a:off x="777240" y="5171187"/>
            <a:ext cx="420624" cy="420624"/>
          </a:xfrm>
          <a:prstGeom prst="ellipse">
            <a:avLst/>
          </a:prstGeom>
          <a:solidFill>
            <a:srgbClr val="F1EEE3"/>
          </a:solidFill>
          <a:ln/>
        </p:spPr>
      </p:sp>
      <p:sp>
        <p:nvSpPr>
          <p:cNvPr id="21" name="Text 19"/>
          <p:cNvSpPr/>
          <p:nvPr/>
        </p:nvSpPr>
        <p:spPr>
          <a:xfrm>
            <a:off x="777240" y="5171187"/>
            <a:ext cx="420624" cy="420624"/>
          </a:xfrm>
          <a:prstGeom prst="rect">
            <a:avLst/>
          </a:prstGeom>
          <a:noFill/>
          <a:ln/>
        </p:spPr>
        <p:txBody>
          <a:bodyPr wrap="square" rtlCol="0" anchor="ctr"/>
          <a:lstStyle/>
          <a:p>
            <a:pPr marL="0" indent="0" algn="ctr">
              <a:buNone/>
            </a:pPr>
            <a:r>
              <a:rPr lang="en-US" sz="1600" b="1" dirty="0">
                <a:solidFill>
                  <a:srgbClr val="9A6B2C"/>
                </a:solidFill>
                <a:latin typeface="Arial" pitchFamily="34" charset="0"/>
              </a:rPr>
              <a:t>6</a:t>
            </a:r>
            <a:endParaRPr lang="en-US" sz="1600" dirty="0"/>
          </a:p>
        </p:txBody>
      </p:sp>
      <p:sp>
        <p:nvSpPr>
          <p:cNvPr id="22" name="Text 20"/>
          <p:cNvSpPr/>
          <p:nvPr/>
        </p:nvSpPr>
        <p:spPr>
          <a:xfrm>
            <a:off x="1417320" y="5125467"/>
            <a:ext cx="9966960" cy="512064"/>
          </a:xfrm>
          <a:prstGeom prst="rect">
            <a:avLst/>
          </a:prstGeom>
          <a:noFill/>
          <a:ln/>
        </p:spPr>
        <p:txBody>
          <a:bodyPr wrap="square" rtlCol="0" anchor="ctr"/>
          <a:lstStyle/>
          <a:p>
            <a:pPr marL="0" indent="0">
              <a:buNone/>
            </a:pPr>
            <a:r>
              <a:rPr lang="en-US" sz="1500" dirty="0">
                <a:solidFill>
                  <a:srgbClr val="14213D"/>
                </a:solidFill>
                <a:latin typeface="Arial" pitchFamily="34" charset="0"/>
                <a:ea typeface="Calibri" pitchFamily="34" charset="-122"/>
                <a:cs typeface="Calibri" pitchFamily="34" charset="-120"/>
              </a:rPr>
              <a:t>Prompt injection risks and responsible prompt design</a:t>
            </a:r>
            <a:endParaRPr lang="en-US" sz="1500" dirty="0"/>
          </a:p>
        </p:txBody>
      </p:sp>
      <p:sp>
        <p:nvSpPr>
          <p:cNvPr id="23" name="Shape 21"/>
          <p:cNvSpPr/>
          <p:nvPr/>
        </p:nvSpPr>
        <p:spPr>
          <a:xfrm>
            <a:off x="548640" y="5829555"/>
            <a:ext cx="11064240" cy="658368"/>
          </a:xfrm>
          <a:prstGeom prst="roundRect">
            <a:avLst>
              <a:gd name="adj" fmla="val 8333"/>
            </a:avLst>
          </a:prstGeom>
          <a:solidFill>
            <a:srgbClr val="FFFFFF"/>
          </a:solidFill>
          <a:ln/>
          <a:effectLst>
            <a:outerShdw blurRad="63500" dist="25400" dir="5400000" algn="bl" rotWithShape="0">
              <a:srgbClr val="1E1E1E">
                <a:alpha val="8000"/>
              </a:srgbClr>
            </a:outerShdw>
          </a:effectLst>
        </p:spPr>
      </p:sp>
      <p:sp>
        <p:nvSpPr>
          <p:cNvPr id="24" name="Shape 22"/>
          <p:cNvSpPr/>
          <p:nvPr/>
        </p:nvSpPr>
        <p:spPr>
          <a:xfrm>
            <a:off x="777240" y="5948427"/>
            <a:ext cx="420624" cy="420624"/>
          </a:xfrm>
          <a:prstGeom prst="ellipse">
            <a:avLst/>
          </a:prstGeom>
          <a:solidFill>
            <a:srgbClr val="F1EEE3"/>
          </a:solidFill>
          <a:ln/>
        </p:spPr>
      </p:sp>
      <p:sp>
        <p:nvSpPr>
          <p:cNvPr id="25" name="Text 23"/>
          <p:cNvSpPr/>
          <p:nvPr/>
        </p:nvSpPr>
        <p:spPr>
          <a:xfrm>
            <a:off x="777240" y="5948427"/>
            <a:ext cx="420624" cy="420624"/>
          </a:xfrm>
          <a:prstGeom prst="rect">
            <a:avLst/>
          </a:prstGeom>
          <a:noFill/>
          <a:ln/>
        </p:spPr>
        <p:txBody>
          <a:bodyPr wrap="square" rtlCol="0" anchor="ctr"/>
          <a:lstStyle/>
          <a:p>
            <a:pPr marL="0" indent="0" algn="ctr">
              <a:buNone/>
            </a:pPr>
            <a:r>
              <a:rPr lang="en-US" sz="1600" b="1" dirty="0">
                <a:solidFill>
                  <a:srgbClr val="9A6B2C"/>
                </a:solidFill>
                <a:latin typeface="Arial" pitchFamily="34" charset="0"/>
              </a:rPr>
              <a:t>7</a:t>
            </a:r>
            <a:endParaRPr lang="en-US" sz="1600" dirty="0"/>
          </a:p>
        </p:txBody>
      </p:sp>
      <p:sp>
        <p:nvSpPr>
          <p:cNvPr id="26" name="Text 24"/>
          <p:cNvSpPr/>
          <p:nvPr/>
        </p:nvSpPr>
        <p:spPr>
          <a:xfrm>
            <a:off x="1417320" y="5902707"/>
            <a:ext cx="9966960" cy="512064"/>
          </a:xfrm>
          <a:prstGeom prst="rect">
            <a:avLst/>
          </a:prstGeom>
          <a:noFill/>
          <a:ln/>
        </p:spPr>
        <p:txBody>
          <a:bodyPr wrap="square" rtlCol="0" anchor="ctr"/>
          <a:lstStyle/>
          <a:p>
            <a:pPr marL="0" indent="0">
              <a:buNone/>
            </a:pPr>
            <a:r>
              <a:rPr lang="en-US" sz="1500" dirty="0">
                <a:solidFill>
                  <a:srgbClr val="14213D"/>
                </a:solidFill>
                <a:latin typeface="Arial" pitchFamily="34" charset="0"/>
                <a:ea typeface="Calibri" pitchFamily="34" charset="-122"/>
                <a:cs typeface="Calibri" pitchFamily="34" charset="-120"/>
              </a:rPr>
              <a:t>Save your best system prompt to your repo</a:t>
            </a:r>
            <a:endParaRPr lang="en-US" sz="1500" dirty="0"/>
          </a:p>
        </p:txBody>
      </p:sp>
      <p:sp>
        <p:nvSpPr>
          <p:cNvPr id="28" name="Shape 1">
            <a:extLst>
              <a:ext uri="{FF2B5EF4-FFF2-40B4-BE49-F238E27FC236}">
                <a16:creationId xmlns:a16="http://schemas.microsoft.com/office/drawing/2014/main" id="{933FCFD5-4434-350A-A749-FDF190908070}"/>
              </a:ext>
            </a:extLst>
          </p:cNvPr>
          <p:cNvSpPr/>
          <p:nvPr/>
        </p:nvSpPr>
        <p:spPr>
          <a:xfrm>
            <a:off x="536655" y="1088891"/>
            <a:ext cx="11064240" cy="658368"/>
          </a:xfrm>
          <a:prstGeom prst="roundRect">
            <a:avLst>
              <a:gd name="adj" fmla="val 8333"/>
            </a:avLst>
          </a:prstGeom>
          <a:solidFill>
            <a:srgbClr val="FFFFFF"/>
          </a:solidFill>
          <a:ln/>
          <a:effectLst>
            <a:outerShdw blurRad="63500" dist="25400" dir="5400000" algn="bl" rotWithShape="0">
              <a:srgbClr val="1E1E1E">
                <a:alpha val="8000"/>
              </a:srgbClr>
            </a:outerShdw>
          </a:effectLst>
        </p:spPr>
      </p:sp>
      <p:sp>
        <p:nvSpPr>
          <p:cNvPr id="29" name="Shape 2">
            <a:extLst>
              <a:ext uri="{FF2B5EF4-FFF2-40B4-BE49-F238E27FC236}">
                <a16:creationId xmlns:a16="http://schemas.microsoft.com/office/drawing/2014/main" id="{A322ACA4-1167-9223-0BD5-AB3D8671361D}"/>
              </a:ext>
            </a:extLst>
          </p:cNvPr>
          <p:cNvSpPr/>
          <p:nvPr/>
        </p:nvSpPr>
        <p:spPr>
          <a:xfrm>
            <a:off x="765255" y="1207763"/>
            <a:ext cx="420624" cy="420624"/>
          </a:xfrm>
          <a:prstGeom prst="ellipse">
            <a:avLst/>
          </a:prstGeom>
          <a:solidFill>
            <a:srgbClr val="F1EEE3"/>
          </a:solidFill>
          <a:ln/>
        </p:spPr>
      </p:sp>
      <p:sp>
        <p:nvSpPr>
          <p:cNvPr id="30" name="Text 3">
            <a:extLst>
              <a:ext uri="{FF2B5EF4-FFF2-40B4-BE49-F238E27FC236}">
                <a16:creationId xmlns:a16="http://schemas.microsoft.com/office/drawing/2014/main" id="{515BC3B7-A59D-22AF-934D-6BC97855747F}"/>
              </a:ext>
            </a:extLst>
          </p:cNvPr>
          <p:cNvSpPr/>
          <p:nvPr/>
        </p:nvSpPr>
        <p:spPr>
          <a:xfrm>
            <a:off x="765255" y="1207763"/>
            <a:ext cx="420624" cy="420624"/>
          </a:xfrm>
          <a:prstGeom prst="rect">
            <a:avLst/>
          </a:prstGeom>
          <a:noFill/>
          <a:ln/>
        </p:spPr>
        <p:txBody>
          <a:bodyPr wrap="square" rtlCol="0" anchor="ctr"/>
          <a:lstStyle/>
          <a:p>
            <a:pPr marL="0" indent="0" algn="ctr">
              <a:buNone/>
            </a:pPr>
            <a:r>
              <a:rPr lang="en-US" sz="1600" b="1" dirty="0">
                <a:solidFill>
                  <a:srgbClr val="9A6B2C"/>
                </a:solidFill>
                <a:latin typeface="Arial" pitchFamily="34" charset="0"/>
                <a:ea typeface="Cambria" pitchFamily="34" charset="-122"/>
                <a:cs typeface="Cambria" pitchFamily="34" charset="-120"/>
              </a:rPr>
              <a:t>1</a:t>
            </a:r>
            <a:endParaRPr lang="en-US" sz="1600" dirty="0"/>
          </a:p>
        </p:txBody>
      </p:sp>
      <p:sp>
        <p:nvSpPr>
          <p:cNvPr id="31" name="Text 4">
            <a:extLst>
              <a:ext uri="{FF2B5EF4-FFF2-40B4-BE49-F238E27FC236}">
                <a16:creationId xmlns:a16="http://schemas.microsoft.com/office/drawing/2014/main" id="{3DAAFA5A-1B84-0470-5D87-D34D37EAC901}"/>
              </a:ext>
            </a:extLst>
          </p:cNvPr>
          <p:cNvSpPr/>
          <p:nvPr/>
        </p:nvSpPr>
        <p:spPr>
          <a:xfrm>
            <a:off x="1405335" y="1162043"/>
            <a:ext cx="9966960" cy="512064"/>
          </a:xfrm>
          <a:prstGeom prst="rect">
            <a:avLst/>
          </a:prstGeom>
          <a:noFill/>
          <a:ln/>
        </p:spPr>
        <p:txBody>
          <a:bodyPr wrap="square" rtlCol="0" anchor="ctr"/>
          <a:lstStyle/>
          <a:p>
            <a:pPr marL="0" indent="0">
              <a:buNone/>
            </a:pPr>
            <a:r>
              <a:rPr lang="en-US" sz="1500" dirty="0">
                <a:solidFill>
                  <a:srgbClr val="14213D"/>
                </a:solidFill>
                <a:latin typeface="Arial" pitchFamily="34" charset="0"/>
                <a:ea typeface="Calibri" pitchFamily="34" charset="-122"/>
                <a:cs typeface="Calibri" pitchFamily="34" charset="-120"/>
              </a:rPr>
              <a:t>Deep-dive on the mechanics &amp; characteristics of generative AI</a:t>
            </a:r>
            <a:endParaRPr lang="en-US" sz="1500" dirty="0"/>
          </a:p>
        </p:txBody>
      </p:sp>
      <p:sp>
        <p:nvSpPr>
          <p:cNvPr id="32" name="Harvard Footer"/>
          <p:cNvSpPr txBox="1"/>
          <p:nvPr/>
        </p:nvSpPr>
        <p:spPr>
          <a:xfrm>
            <a:off x="137319" y="649176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33" name="Harvard Page Number"/>
          <p:cNvSpPr txBox="1"/>
          <p:nvPr/>
        </p:nvSpPr>
        <p:spPr>
          <a:xfrm>
            <a:off x="11801189" y="6446043"/>
            <a:ext cx="253492" cy="274638"/>
          </a:xfrm>
          <a:prstGeom prst="rect">
            <a:avLst/>
          </a:prstGeom>
          <a:noFill/>
        </p:spPr>
        <p:txBody>
          <a:bodyPr wrap="none" lIns="0" tIns="0" rIns="0" bIns="0">
            <a:noAutofit/>
          </a:bodyPr>
          <a:lstStyle/>
          <a:p>
            <a:pPr algn="r"/>
            <a:fld id="{1CAB4B1B-9DA1-404C-8EEC-E0E90BAA5498}" type="slidenum">
              <a:rPr lang="en-US" sz="1000">
                <a:solidFill>
                  <a:srgbClr val="8996A0"/>
                </a:solidFill>
                <a:latin typeface="Arial"/>
              </a:rPr>
              <a:t>2</a:t>
            </a:fld>
            <a:endParaRPr lang="en-US" sz="1000">
              <a:solidFill>
                <a:srgbClr val="8996A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51C30"/>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28AE1460-B040-697B-CC78-CD160A91D5A0}"/>
              </a:ext>
            </a:extLst>
          </p:cNvPr>
          <p:cNvSpPr/>
          <p:nvPr/>
        </p:nvSpPr>
        <p:spPr>
          <a:xfrm>
            <a:off x="609600" y="1950720"/>
            <a:ext cx="5178014" cy="2926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5333" b="1" i="0" u="none" strike="noStrike" kern="1200" cap="none" spc="0" normalizeH="0" baseline="0" noProof="0">
                <a:ln>
                  <a:noFill/>
                </a:ln>
                <a:solidFill>
                  <a:srgbClr val="FFFFFF"/>
                </a:solidFill>
                <a:effectLst/>
                <a:uLnTx/>
                <a:uFillTx/>
                <a:latin typeface="Arial" pitchFamily="34" charset="0"/>
                <a:ea typeface="Arial Black" pitchFamily="34" charset="-122"/>
                <a:cs typeface="Arial Black" pitchFamily="34" charset="-120"/>
              </a:rPr>
              <a:t>What animal is walking on the fence?</a:t>
            </a:r>
            <a:endParaRPr kumimoji="0" lang="en-US" sz="5333"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 name="Text 1">
            <a:extLst>
              <a:ext uri="{FF2B5EF4-FFF2-40B4-BE49-F238E27FC236}">
                <a16:creationId xmlns:a16="http://schemas.microsoft.com/office/drawing/2014/main" id="{935EED49-735D-2A16-2315-AE657B7B1B4B}"/>
              </a:ext>
            </a:extLst>
          </p:cNvPr>
          <p:cNvSpPr/>
          <p:nvPr/>
        </p:nvSpPr>
        <p:spPr>
          <a:xfrm>
            <a:off x="853440" y="4876800"/>
            <a:ext cx="5242560" cy="73152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FFFFFF"/>
                </a:solidFill>
                <a:effectLst/>
                <a:uLnTx/>
                <a:uFillTx/>
                <a:latin typeface="Arial" pitchFamily="34" charset="0"/>
                <a:ea typeface="Palatino Linotype" pitchFamily="34" charset="-122"/>
                <a:cs typeface="Palatino Linotype" pitchFamily="34" charset="-120"/>
              </a:rPr>
              <a:t>Look closely before you answer.</a:t>
            </a: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pic>
        <p:nvPicPr>
          <p:cNvPr id="6" name="Picture 5" descr="A cat walking on a fence  Description automatically generated">
            <a:extLst>
              <a:ext uri="{FF2B5EF4-FFF2-40B4-BE49-F238E27FC236}">
                <a16:creationId xmlns:a16="http://schemas.microsoft.com/office/drawing/2014/main" id="{4FCB30F9-80D4-1337-1B74-C4B56B3B5DD3}"/>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715421" y="1324595"/>
            <a:ext cx="4603158" cy="4721669"/>
          </a:xfrm>
          <a:prstGeom prst="roundRect">
            <a:avLst/>
          </a:prstGeom>
          <a:noFill/>
        </p:spPr>
      </p:pic>
      <p:sp>
        <p:nvSpPr>
          <p:cNvPr id="7" name="Rounded Rectangle 21">
            <a:extLst>
              <a:ext uri="{FF2B5EF4-FFF2-40B4-BE49-F238E27FC236}">
                <a16:creationId xmlns:a16="http://schemas.microsoft.com/office/drawing/2014/main" id="{5F1166F2-F49E-5C3C-2F4E-B56BADA65835}"/>
              </a:ext>
            </a:extLst>
          </p:cNvPr>
          <p:cNvSpPr/>
          <p:nvPr/>
        </p:nvSpPr>
        <p:spPr>
          <a:xfrm>
            <a:off x="8360229" y="2508570"/>
            <a:ext cx="1574418" cy="15744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110004020202020204"/>
              <a:ea typeface="+mn-ea"/>
              <a:cs typeface="+mn-cs"/>
            </a:endParaRPr>
          </a:p>
        </p:txBody>
      </p:sp>
      <p:sp>
        <p:nvSpPr>
          <p:cNvPr id="8"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extLst>
      <p:ext uri="{BB962C8B-B14F-4D97-AF65-F5344CB8AC3E}">
        <p14:creationId xmlns:p14="http://schemas.microsoft.com/office/powerpoint/2010/main" val="9539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51C30"/>
        </a:solidFill>
        <a:effectLst/>
      </p:bgPr>
    </p:bg>
    <p:spTree>
      <p:nvGrpSpPr>
        <p:cNvPr id="1" name="">
          <a:extLst>
            <a:ext uri="{FF2B5EF4-FFF2-40B4-BE49-F238E27FC236}">
              <a16:creationId xmlns:a16="http://schemas.microsoft.com/office/drawing/2014/main" id="{FA1479D1-C129-6CBA-9D42-01FE7654B6E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FBAC15F-4199-3CD6-E026-68DF45FBAC5B}"/>
              </a:ext>
            </a:extLst>
          </p:cNvPr>
          <p:cNvSpPr/>
          <p:nvPr/>
        </p:nvSpPr>
        <p:spPr>
          <a:xfrm>
            <a:off x="609600" y="1950720"/>
            <a:ext cx="5178014" cy="2926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5333" b="1" i="0" u="none" strike="noStrike" kern="1200" cap="none" spc="0" normalizeH="0" baseline="0" noProof="0">
                <a:ln>
                  <a:noFill/>
                </a:ln>
                <a:solidFill>
                  <a:srgbClr val="FFFFFF"/>
                </a:solidFill>
                <a:effectLst/>
                <a:uLnTx/>
                <a:uFillTx/>
                <a:latin typeface="Arial" pitchFamily="34" charset="0"/>
                <a:ea typeface="Arial Black" pitchFamily="34" charset="-122"/>
                <a:cs typeface="Arial Black" pitchFamily="34" charset="-120"/>
              </a:rPr>
              <a:t>It’s a cat.</a:t>
            </a:r>
            <a:endParaRPr kumimoji="0" lang="en-US" sz="5333"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 name="Text 1">
            <a:extLst>
              <a:ext uri="{FF2B5EF4-FFF2-40B4-BE49-F238E27FC236}">
                <a16:creationId xmlns:a16="http://schemas.microsoft.com/office/drawing/2014/main" id="{A929D30C-DE6C-3205-FEA4-C0B6868888F4}"/>
              </a:ext>
            </a:extLst>
          </p:cNvPr>
          <p:cNvSpPr/>
          <p:nvPr/>
        </p:nvSpPr>
        <p:spPr>
          <a:xfrm>
            <a:off x="853440" y="4876800"/>
            <a:ext cx="5242560" cy="73152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FFFFFF"/>
                </a:solidFill>
                <a:effectLst/>
                <a:uLnTx/>
                <a:uFillTx/>
                <a:latin typeface="Arial" pitchFamily="34" charset="0"/>
                <a:ea typeface="Palatino Linotype" pitchFamily="34" charset="-122"/>
                <a:cs typeface="Palatino Linotype" pitchFamily="34" charset="-120"/>
              </a:rPr>
              <a:t>Your eye finished the picture from the parts you could see.</a:t>
            </a:r>
            <a:endParaRPr kumimoji="0" lang="en-US" sz="2400" b="0" i="0" u="none" strike="noStrike" kern="1200" cap="none" spc="0" normalizeH="0" baseline="0" noProof="0">
              <a:ln>
                <a:noFill/>
              </a:ln>
              <a:solidFill>
                <a:prstClr val="black"/>
              </a:solidFill>
              <a:effectLst/>
              <a:uLnTx/>
              <a:uFillTx/>
              <a:latin typeface="Arial" panose="02110004020202020204"/>
              <a:ea typeface="+mn-ea"/>
              <a:cs typeface="+mn-cs"/>
            </a:endParaRPr>
          </a:p>
        </p:txBody>
      </p:sp>
      <p:pic>
        <p:nvPicPr>
          <p:cNvPr id="9" name="Picture 8" descr="A cat walking on a fence  Description automatically generated">
            <a:extLst>
              <a:ext uri="{FF2B5EF4-FFF2-40B4-BE49-F238E27FC236}">
                <a16:creationId xmlns:a16="http://schemas.microsoft.com/office/drawing/2014/main" id="{E4B4C410-68BA-EAB7-4058-3E26A870E15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715421" y="1324595"/>
            <a:ext cx="4603158" cy="4721669"/>
          </a:xfrm>
          <a:prstGeom prst="roundRect">
            <a:avLst/>
          </a:prstGeom>
          <a:noFill/>
        </p:spPr>
      </p:pic>
      <p:sp>
        <p:nvSpPr>
          <p:cNvPr id="10"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extLst>
      <p:ext uri="{BB962C8B-B14F-4D97-AF65-F5344CB8AC3E}">
        <p14:creationId xmlns:p14="http://schemas.microsoft.com/office/powerpoint/2010/main" val="1818471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51C30"/>
        </a:solidFill>
        <a:effectLst/>
      </p:bgPr>
    </p:bg>
    <p:spTree>
      <p:nvGrpSpPr>
        <p:cNvPr id="1" name="">
          <a:extLst>
            <a:ext uri="{FF2B5EF4-FFF2-40B4-BE49-F238E27FC236}">
              <a16:creationId xmlns:a16="http://schemas.microsoft.com/office/drawing/2014/main" id="{ED67B357-72BC-8088-55D0-3219A80F4C80}"/>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A0F84B21-56A4-D6BE-40F0-154B4F2664DA}"/>
              </a:ext>
            </a:extLst>
          </p:cNvPr>
          <p:cNvSpPr/>
          <p:nvPr/>
        </p:nvSpPr>
        <p:spPr>
          <a:xfrm>
            <a:off x="609600" y="1950720"/>
            <a:ext cx="5178014" cy="2926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5333" b="1" i="0" u="none" strike="noStrike" kern="1200" cap="none" spc="0" normalizeH="0" baseline="0" noProof="0">
                <a:ln>
                  <a:noFill/>
                </a:ln>
                <a:solidFill>
                  <a:srgbClr val="FFFFFF"/>
                </a:solidFill>
                <a:effectLst/>
                <a:uLnTx/>
                <a:uFillTx/>
                <a:latin typeface="Arial" pitchFamily="34" charset="0"/>
                <a:ea typeface="Arial Black" pitchFamily="34" charset="-122"/>
                <a:cs typeface="Arial Black" pitchFamily="34" charset="-120"/>
              </a:rPr>
              <a:t>Sometimes the pattern is wrong.</a:t>
            </a:r>
            <a:endParaRPr kumimoji="0" lang="en-US" sz="5333"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 name="Text 1">
            <a:extLst>
              <a:ext uri="{FF2B5EF4-FFF2-40B4-BE49-F238E27FC236}">
                <a16:creationId xmlns:a16="http://schemas.microsoft.com/office/drawing/2014/main" id="{80D0E1EB-9126-6BD1-221F-F32CDDD021CC}"/>
              </a:ext>
            </a:extLst>
          </p:cNvPr>
          <p:cNvSpPr/>
          <p:nvPr/>
        </p:nvSpPr>
        <p:spPr>
          <a:xfrm>
            <a:off x="853440" y="4876800"/>
            <a:ext cx="5242560" cy="73152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FFFFFF"/>
                </a:solidFill>
                <a:effectLst/>
                <a:uLnTx/>
                <a:uFillTx/>
                <a:latin typeface="Arial" pitchFamily="34" charset="0"/>
                <a:ea typeface="Palatino Linotype" pitchFamily="34" charset="-122"/>
                <a:cs typeface="Palatino Linotype" pitchFamily="34" charset="-120"/>
              </a:rPr>
              <a:t>AI does the same thing — confidently. Treat its output as a signal, not authority.</a:t>
            </a:r>
            <a:endParaRPr kumimoji="0" lang="en-US" sz="2400" b="0" i="0" u="none" strike="noStrike" kern="1200" cap="none" spc="0" normalizeH="0" baseline="0" noProof="0">
              <a:ln>
                <a:noFill/>
              </a:ln>
              <a:solidFill>
                <a:prstClr val="black"/>
              </a:solidFill>
              <a:effectLst/>
              <a:uLnTx/>
              <a:uFillTx/>
              <a:latin typeface="Arial" panose="02110004020202020204"/>
              <a:ea typeface="+mn-ea"/>
              <a:cs typeface="+mn-cs"/>
            </a:endParaRPr>
          </a:p>
        </p:txBody>
      </p:sp>
      <p:pic>
        <p:nvPicPr>
          <p:cNvPr id="6" name="Picture 5" descr="A cat walking on a fence  Description automatically generated">
            <a:extLst>
              <a:ext uri="{FF2B5EF4-FFF2-40B4-BE49-F238E27FC236}">
                <a16:creationId xmlns:a16="http://schemas.microsoft.com/office/drawing/2014/main" id="{97E356F7-BE69-210F-7A6B-7827258DDFBC}"/>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715421" y="1324595"/>
            <a:ext cx="4603158" cy="4721669"/>
          </a:xfrm>
          <a:prstGeom prst="roundRect">
            <a:avLst/>
          </a:prstGeom>
          <a:noFill/>
        </p:spPr>
      </p:pic>
      <p:pic>
        <p:nvPicPr>
          <p:cNvPr id="7" name="Picture 6">
            <a:extLst>
              <a:ext uri="{FF2B5EF4-FFF2-40B4-BE49-F238E27FC236}">
                <a16:creationId xmlns:a16="http://schemas.microsoft.com/office/drawing/2014/main" id="{5104C5BC-A185-5BAE-73AF-8219FA82C759}"/>
              </a:ext>
            </a:extLst>
          </p:cNvPr>
          <p:cNvPicPr>
            <a:picLocks noChangeAspect="1"/>
          </p:cNvPicPr>
          <p:nvPr/>
        </p:nvPicPr>
        <p:blipFill>
          <a:blip r:embed="rId4">
            <a:extLst>
              <a:ext uri="{28A0092B-C50C-407E-A947-70E740481C1C}">
                <a14:useLocalDpi xmlns:a14="http://schemas.microsoft.com/office/drawing/2010/main" val="0"/>
              </a:ext>
            </a:extLst>
          </a:blip>
          <a:srcRect t="2" b="2"/>
          <a:stretch/>
        </p:blipFill>
        <p:spPr>
          <a:xfrm>
            <a:off x="6735402" y="1324595"/>
            <a:ext cx="4603158" cy="4721669"/>
          </a:xfrm>
          <a:prstGeom prst="roundRect">
            <a:avLst/>
          </a:prstGeom>
          <a:noFill/>
        </p:spPr>
      </p:pic>
      <p:sp>
        <p:nvSpPr>
          <p:cNvPr id="8"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extLst>
      <p:ext uri="{BB962C8B-B14F-4D97-AF65-F5344CB8AC3E}">
        <p14:creationId xmlns:p14="http://schemas.microsoft.com/office/powerpoint/2010/main" val="3291755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A51C30"/>
        </a:solidFill>
        <a:effectLst/>
      </p:bgPr>
    </p:bg>
    <p:spTree>
      <p:nvGrpSpPr>
        <p:cNvPr id="1" name="">
          <a:extLst>
            <a:ext uri="{FF2B5EF4-FFF2-40B4-BE49-F238E27FC236}">
              <a16:creationId xmlns:a16="http://schemas.microsoft.com/office/drawing/2014/main" id="{3A85C663-298F-50D1-587D-5877CE77BF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C2D55E4-4338-167B-383D-817944984C0C}"/>
              </a:ext>
            </a:extLst>
          </p:cNvPr>
          <p:cNvSpPr/>
          <p:nvPr/>
        </p:nvSpPr>
        <p:spPr>
          <a:xfrm>
            <a:off x="609600" y="2249444"/>
            <a:ext cx="5048922" cy="1922033"/>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Arial" pitchFamily="34" charset="0"/>
                <a:ea typeface="Arial Black" pitchFamily="34" charset="-122"/>
                <a:cs typeface="Arial Black" pitchFamily="34" charset="-120"/>
              </a:rPr>
              <a:t>Generative AI is a form of data compression.</a:t>
            </a:r>
            <a:endParaRPr kumimoji="0" lang="en-US" sz="4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 name="Text 1">
            <a:extLst>
              <a:ext uri="{FF2B5EF4-FFF2-40B4-BE49-F238E27FC236}">
                <a16:creationId xmlns:a16="http://schemas.microsoft.com/office/drawing/2014/main" id="{EA384AEA-8B9C-EB10-F05B-E523558C6C6A}"/>
              </a:ext>
            </a:extLst>
          </p:cNvPr>
          <p:cNvSpPr/>
          <p:nvPr/>
        </p:nvSpPr>
        <p:spPr>
          <a:xfrm>
            <a:off x="609600" y="4260427"/>
            <a:ext cx="5048922" cy="3657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rgbClr val="FFFFFF"/>
                </a:solidFill>
                <a:effectLst/>
                <a:uLnTx/>
                <a:uFillTx/>
                <a:latin typeface="Arial" pitchFamily="34" charset="0"/>
                <a:ea typeface="Palatino Linotype" pitchFamily="34" charset="-122"/>
                <a:cs typeface="Palatino Linotype" pitchFamily="34" charset="-120"/>
              </a:rPr>
              <a:t>Compress the world. Decompress on demand.</a:t>
            </a:r>
            <a:endParaRPr kumimoji="0" lang="en-US"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pic>
        <p:nvPicPr>
          <p:cNvPr id="9" name="Picture 8">
            <a:extLst>
              <a:ext uri="{FF2B5EF4-FFF2-40B4-BE49-F238E27FC236}">
                <a16:creationId xmlns:a16="http://schemas.microsoft.com/office/drawing/2014/main" id="{3701CE65-DA59-B669-4DFE-C7D5770725B7}"/>
              </a:ext>
            </a:extLst>
          </p:cNvPr>
          <p:cNvPicPr>
            <a:picLocks noChangeAspect="1"/>
          </p:cNvPicPr>
          <p:nvPr/>
        </p:nvPicPr>
        <p:blipFill>
          <a:blip r:embed="rId3"/>
          <a:stretch>
            <a:fillRect/>
          </a:stretch>
        </p:blipFill>
        <p:spPr>
          <a:xfrm>
            <a:off x="6096000" y="1950720"/>
            <a:ext cx="5655733" cy="2675467"/>
          </a:xfrm>
          <a:prstGeom prst="rect">
            <a:avLst/>
          </a:prstGeom>
        </p:spPr>
      </p:pic>
      <p:sp>
        <p:nvSpPr>
          <p:cNvPr id="10"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extLst>
      <p:ext uri="{BB962C8B-B14F-4D97-AF65-F5344CB8AC3E}">
        <p14:creationId xmlns:p14="http://schemas.microsoft.com/office/powerpoint/2010/main" val="1785242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51C30"/>
        </a:solidFill>
        <a:effectLst/>
      </p:bgPr>
    </p:bg>
    <p:spTree>
      <p:nvGrpSpPr>
        <p:cNvPr id="1" name="">
          <a:extLst>
            <a:ext uri="{FF2B5EF4-FFF2-40B4-BE49-F238E27FC236}">
              <a16:creationId xmlns:a16="http://schemas.microsoft.com/office/drawing/2014/main" id="{E0B210CA-1D94-D3CF-658D-799A3C5066FB}"/>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9CF61B02-07B4-D717-86A7-390A5C876A02}"/>
              </a:ext>
            </a:extLst>
          </p:cNvPr>
          <p:cNvSpPr/>
          <p:nvPr/>
        </p:nvSpPr>
        <p:spPr>
          <a:xfrm>
            <a:off x="609600" y="1950720"/>
            <a:ext cx="4661647" cy="17068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pitchFamily="34" charset="0"/>
                <a:ea typeface="Arial Black" pitchFamily="34" charset="-122"/>
                <a:cs typeface="Arial Black" pitchFamily="34" charset="-120"/>
              </a:rPr>
              <a:t>2T tokens compressed into 208B parameters is a lossy compression.</a:t>
            </a:r>
            <a:endParaRPr kumimoji="0" lang="en-US" sz="2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 name="Text 1">
            <a:extLst>
              <a:ext uri="{FF2B5EF4-FFF2-40B4-BE49-F238E27FC236}">
                <a16:creationId xmlns:a16="http://schemas.microsoft.com/office/drawing/2014/main" id="{E6150120-759D-21AC-7725-D425B182F919}"/>
              </a:ext>
            </a:extLst>
          </p:cNvPr>
          <p:cNvSpPr/>
          <p:nvPr/>
        </p:nvSpPr>
        <p:spPr>
          <a:xfrm>
            <a:off x="839096" y="3757773"/>
            <a:ext cx="4202654" cy="73152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rgbClr val="FFFFFF"/>
                </a:solidFill>
                <a:effectLst/>
                <a:uLnTx/>
                <a:uFillTx/>
                <a:latin typeface="Arial" pitchFamily="34" charset="0"/>
                <a:ea typeface="Palatino Linotype" pitchFamily="34" charset="-122"/>
                <a:cs typeface="Palatino Linotype" pitchFamily="34" charset="-120"/>
              </a:rPr>
              <a:t>Which is why it sometimes hallucinates the cat where there isn't one.</a:t>
            </a:r>
            <a:endParaRPr kumimoji="0" lang="en-US"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pic>
        <p:nvPicPr>
          <p:cNvPr id="6" name="Picture 5">
            <a:extLst>
              <a:ext uri="{FF2B5EF4-FFF2-40B4-BE49-F238E27FC236}">
                <a16:creationId xmlns:a16="http://schemas.microsoft.com/office/drawing/2014/main" id="{ADB90A27-C004-AD58-C76B-964886E7CAD3}"/>
              </a:ext>
            </a:extLst>
          </p:cNvPr>
          <p:cNvPicPr>
            <a:picLocks noChangeAspect="1"/>
          </p:cNvPicPr>
          <p:nvPr/>
        </p:nvPicPr>
        <p:blipFill>
          <a:blip r:embed="rId3"/>
          <a:stretch>
            <a:fillRect/>
          </a:stretch>
        </p:blipFill>
        <p:spPr>
          <a:xfrm>
            <a:off x="5761716" y="2091266"/>
            <a:ext cx="5655733" cy="2675467"/>
          </a:xfrm>
          <a:prstGeom prst="rect">
            <a:avLst/>
          </a:prstGeom>
        </p:spPr>
      </p:pic>
      <p:sp>
        <p:nvSpPr>
          <p:cNvPr id="7"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extLst>
      <p:ext uri="{BB962C8B-B14F-4D97-AF65-F5344CB8AC3E}">
        <p14:creationId xmlns:p14="http://schemas.microsoft.com/office/powerpoint/2010/main" val="4255200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5EC59-EBC9-034A-84B6-D802B8364C45}"/>
              </a:ext>
            </a:extLst>
          </p:cNvPr>
          <p:cNvSpPr>
            <a:spLocks noGrp="1"/>
          </p:cNvSpPr>
          <p:nvPr>
            <p:ph type="title"/>
          </p:nvPr>
        </p:nvSpPr>
        <p:spPr>
          <a:xfrm>
            <a:off x="381000" y="342901"/>
            <a:ext cx="11430000" cy="494400"/>
          </a:xfrm>
        </p:spPr>
        <p:txBody>
          <a:bodyPr/>
          <a:lstStyle/>
          <a:p>
            <a:r>
              <a:rPr lang="en-US" dirty="0">
                <a:solidFill>
                  <a:schemeClr val="accent1"/>
                </a:solidFill>
              </a:rPr>
              <a:t>Fundamental differences</a:t>
            </a:r>
            <a:br>
              <a:rPr lang="en-US" dirty="0">
                <a:solidFill>
                  <a:schemeClr val="accent1"/>
                </a:solidFill>
              </a:rPr>
            </a:br>
            <a:endParaRPr lang="en-US" dirty="0">
              <a:solidFill>
                <a:schemeClr val="accent1"/>
              </a:solidFill>
            </a:endParaRPr>
          </a:p>
        </p:txBody>
      </p:sp>
      <p:sp>
        <p:nvSpPr>
          <p:cNvPr id="3" name="Subtitle 2">
            <a:extLst>
              <a:ext uri="{FF2B5EF4-FFF2-40B4-BE49-F238E27FC236}">
                <a16:creationId xmlns:a16="http://schemas.microsoft.com/office/drawing/2014/main" id="{C02D2FF1-43BF-3F72-4ECE-80CD102B419D}"/>
              </a:ext>
            </a:extLst>
          </p:cNvPr>
          <p:cNvSpPr>
            <a:spLocks noGrp="1"/>
          </p:cNvSpPr>
          <p:nvPr>
            <p:ph type="subTitle" idx="1"/>
          </p:nvPr>
        </p:nvSpPr>
        <p:spPr>
          <a:xfrm>
            <a:off x="381000" y="857250"/>
            <a:ext cx="11430000" cy="246221"/>
          </a:xfrm>
        </p:spPr>
        <p:txBody>
          <a:bodyPr/>
          <a:lstStyle/>
          <a:p>
            <a:r>
              <a:rPr lang="en-US" dirty="0">
                <a:solidFill>
                  <a:schemeClr val="accent1"/>
                </a:solidFill>
              </a:rPr>
              <a:t>From the “old” way to ”new”</a:t>
            </a:r>
          </a:p>
        </p:txBody>
      </p:sp>
      <p:sp>
        <p:nvSpPr>
          <p:cNvPr id="4" name="Shape 4">
            <a:extLst>
              <a:ext uri="{FF2B5EF4-FFF2-40B4-BE49-F238E27FC236}">
                <a16:creationId xmlns:a16="http://schemas.microsoft.com/office/drawing/2014/main" id="{C29B1B39-497A-A4A5-B7A8-5CB0C7ACF857}"/>
              </a:ext>
            </a:extLst>
          </p:cNvPr>
          <p:cNvSpPr/>
          <p:nvPr/>
        </p:nvSpPr>
        <p:spPr>
          <a:xfrm>
            <a:off x="609600" y="1620578"/>
            <a:ext cx="5364480" cy="4646659"/>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 name="Text 6">
            <a:extLst>
              <a:ext uri="{FF2B5EF4-FFF2-40B4-BE49-F238E27FC236}">
                <a16:creationId xmlns:a16="http://schemas.microsoft.com/office/drawing/2014/main" id="{3AC0F9C2-7EC1-969E-31AB-13FB9DBFF4C6}"/>
              </a:ext>
            </a:extLst>
          </p:cNvPr>
          <p:cNvSpPr/>
          <p:nvPr/>
        </p:nvSpPr>
        <p:spPr>
          <a:xfrm>
            <a:off x="914400" y="1803459"/>
            <a:ext cx="487680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1E1E1E"/>
                </a:solidFill>
                <a:effectLst/>
                <a:uLnTx/>
                <a:uFillTx/>
                <a:latin typeface="Arial" pitchFamily="34" charset="0"/>
                <a:ea typeface="Arial Black" pitchFamily="34" charset="-122"/>
                <a:cs typeface="Arial Black" pitchFamily="34" charset="-120"/>
              </a:rPr>
              <a:t>2 + 2 = 4</a:t>
            </a:r>
            <a:endParaRPr kumimoji="0" lang="en-US" sz="2133"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7" name="Text 7">
            <a:extLst>
              <a:ext uri="{FF2B5EF4-FFF2-40B4-BE49-F238E27FC236}">
                <a16:creationId xmlns:a16="http://schemas.microsoft.com/office/drawing/2014/main" id="{FA2C060E-99D0-0449-D82D-5D4FF8470BE5}"/>
              </a:ext>
            </a:extLst>
          </p:cNvPr>
          <p:cNvSpPr/>
          <p:nvPr/>
        </p:nvSpPr>
        <p:spPr>
          <a:xfrm>
            <a:off x="975360" y="4626235"/>
            <a:ext cx="4815840" cy="1436804"/>
          </a:xfrm>
          <a:prstGeom prst="rect">
            <a:avLst/>
          </a:prstGeom>
          <a:noFill/>
          <a:ln/>
        </p:spPr>
        <p:txBody>
          <a:bodyPr wrap="square" lIns="0" tIns="0" rIns="0" bIns="0" rtlCol="0" anchor="t"/>
          <a:lstStyle/>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Calculators, traditional rules engines.</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Same input always produces the same output.</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Bugs are reproducible. Tests are deterministic. Audit is straightforward.</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Engineers debug by reading the code.</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8" name="Shape 8">
            <a:extLst>
              <a:ext uri="{FF2B5EF4-FFF2-40B4-BE49-F238E27FC236}">
                <a16:creationId xmlns:a16="http://schemas.microsoft.com/office/drawing/2014/main" id="{4E3DB81A-43F5-6D80-6D07-15D67F4548C9}"/>
              </a:ext>
            </a:extLst>
          </p:cNvPr>
          <p:cNvSpPr/>
          <p:nvPr/>
        </p:nvSpPr>
        <p:spPr>
          <a:xfrm>
            <a:off x="6217920" y="1620579"/>
            <a:ext cx="5364480" cy="4646658"/>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9" name="Shape 9">
            <a:extLst>
              <a:ext uri="{FF2B5EF4-FFF2-40B4-BE49-F238E27FC236}">
                <a16:creationId xmlns:a16="http://schemas.microsoft.com/office/drawing/2014/main" id="{755AABDA-D06D-3C57-1B5A-E04A2A387756}"/>
              </a:ext>
            </a:extLst>
          </p:cNvPr>
          <p:cNvSpPr/>
          <p:nvPr/>
        </p:nvSpPr>
        <p:spPr>
          <a:xfrm>
            <a:off x="6217920" y="1620579"/>
            <a:ext cx="97536" cy="4646658"/>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0" name="Text 10">
            <a:extLst>
              <a:ext uri="{FF2B5EF4-FFF2-40B4-BE49-F238E27FC236}">
                <a16:creationId xmlns:a16="http://schemas.microsoft.com/office/drawing/2014/main" id="{BB90EA4D-3EA3-EF02-F548-8944FA3D89CC}"/>
              </a:ext>
            </a:extLst>
          </p:cNvPr>
          <p:cNvSpPr/>
          <p:nvPr/>
        </p:nvSpPr>
        <p:spPr>
          <a:xfrm>
            <a:off x="6522720" y="1803459"/>
            <a:ext cx="487680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1E1E1E"/>
                </a:solidFill>
                <a:effectLst/>
                <a:uLnTx/>
                <a:uFillTx/>
                <a:latin typeface="Arial" pitchFamily="34" charset="0"/>
                <a:ea typeface="Arial Black" pitchFamily="34" charset="-122"/>
                <a:cs typeface="Arial Black" pitchFamily="34" charset="-120"/>
              </a:rPr>
              <a:t>2 + 2 = 99.99% probability of 4</a:t>
            </a:r>
            <a:endParaRPr kumimoji="0" lang="en-US" sz="2133"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1" name="Text 11">
            <a:extLst>
              <a:ext uri="{FF2B5EF4-FFF2-40B4-BE49-F238E27FC236}">
                <a16:creationId xmlns:a16="http://schemas.microsoft.com/office/drawing/2014/main" id="{8C45D627-11A9-F833-1B2D-00465E2ADA57}"/>
              </a:ext>
            </a:extLst>
          </p:cNvPr>
          <p:cNvSpPr/>
          <p:nvPr/>
        </p:nvSpPr>
        <p:spPr>
          <a:xfrm>
            <a:off x="6583680" y="4606285"/>
            <a:ext cx="4815840" cy="1606006"/>
          </a:xfrm>
          <a:prstGeom prst="rect">
            <a:avLst/>
          </a:prstGeom>
          <a:noFill/>
          <a:ln/>
        </p:spPr>
        <p:txBody>
          <a:bodyPr wrap="square" lIns="0" tIns="0" rIns="0" bIns="0" rtlCol="0" anchor="t"/>
          <a:lstStyle/>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ML &amp; generative AI — decision trees, random forests, neural nets, LLMs.</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Same input may produce different outputs</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Failure modes are statistical. Evaluation is quality control, not unit tests.</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You debug by reading the data.</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2" name="Text 6">
            <a:extLst>
              <a:ext uri="{FF2B5EF4-FFF2-40B4-BE49-F238E27FC236}">
                <a16:creationId xmlns:a16="http://schemas.microsoft.com/office/drawing/2014/main" id="{81B1969B-D917-A8B4-C069-7F8942CF7A9D}"/>
              </a:ext>
            </a:extLst>
          </p:cNvPr>
          <p:cNvSpPr/>
          <p:nvPr/>
        </p:nvSpPr>
        <p:spPr>
          <a:xfrm>
            <a:off x="609600" y="1285299"/>
            <a:ext cx="4876800" cy="33528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1E1E1E"/>
                </a:solidFill>
                <a:effectLst/>
                <a:uLnTx/>
                <a:uFillTx/>
                <a:latin typeface="Arial" pitchFamily="34" charset="0"/>
                <a:ea typeface="Arial Black" pitchFamily="34" charset="-122"/>
                <a:cs typeface="Arial Black" pitchFamily="34" charset="-120"/>
              </a:rPr>
              <a:t>Deterministic</a:t>
            </a:r>
            <a:endParaRPr kumimoji="0" lang="en-US" sz="2133"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3" name="Text 6">
            <a:extLst>
              <a:ext uri="{FF2B5EF4-FFF2-40B4-BE49-F238E27FC236}">
                <a16:creationId xmlns:a16="http://schemas.microsoft.com/office/drawing/2014/main" id="{2E9110AC-CDC0-F6F6-6BCF-787914DFB30D}"/>
              </a:ext>
            </a:extLst>
          </p:cNvPr>
          <p:cNvSpPr/>
          <p:nvPr/>
        </p:nvSpPr>
        <p:spPr>
          <a:xfrm>
            <a:off x="6217920" y="1285299"/>
            <a:ext cx="4876800" cy="33528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1E1E1E"/>
                </a:solidFill>
                <a:effectLst/>
                <a:uLnTx/>
                <a:uFillTx/>
                <a:latin typeface="Arial" pitchFamily="34" charset="0"/>
                <a:ea typeface="Arial Black" pitchFamily="34" charset="-122"/>
                <a:cs typeface="Arial Black" pitchFamily="34" charset="-120"/>
              </a:rPr>
              <a:t>Probabilistic</a:t>
            </a:r>
            <a:endParaRPr kumimoji="0" lang="en-US" sz="2133" b="0" i="0" u="none" strike="noStrike" kern="1200" cap="none" spc="0" normalizeH="0" baseline="0" noProof="0">
              <a:ln>
                <a:noFill/>
              </a:ln>
              <a:solidFill>
                <a:prstClr val="black"/>
              </a:solidFill>
              <a:effectLst/>
              <a:uLnTx/>
              <a:uFillTx/>
              <a:latin typeface="Arial" panose="020F0502020204030204"/>
              <a:ea typeface="+mn-ea"/>
              <a:cs typeface="+mn-cs"/>
            </a:endParaRPr>
          </a:p>
        </p:txBody>
      </p:sp>
      <p:pic>
        <p:nvPicPr>
          <p:cNvPr id="16" name="Picture 15">
            <a:extLst>
              <a:ext uri="{FF2B5EF4-FFF2-40B4-BE49-F238E27FC236}">
                <a16:creationId xmlns:a16="http://schemas.microsoft.com/office/drawing/2014/main" id="{3F56A938-B8E0-2A22-4DA9-4452EB9D5637}"/>
              </a:ext>
            </a:extLst>
          </p:cNvPr>
          <p:cNvPicPr>
            <a:picLocks noChangeAspect="1"/>
          </p:cNvPicPr>
          <p:nvPr/>
        </p:nvPicPr>
        <p:blipFill>
          <a:blip r:embed="rId3"/>
          <a:stretch>
            <a:fillRect/>
          </a:stretch>
        </p:blipFill>
        <p:spPr>
          <a:xfrm>
            <a:off x="902208" y="2108259"/>
            <a:ext cx="4584192" cy="2498026"/>
          </a:xfrm>
          <a:prstGeom prst="rect">
            <a:avLst/>
          </a:prstGeom>
        </p:spPr>
      </p:pic>
      <p:pic>
        <p:nvPicPr>
          <p:cNvPr id="17" name="Picture 16">
            <a:extLst>
              <a:ext uri="{FF2B5EF4-FFF2-40B4-BE49-F238E27FC236}">
                <a16:creationId xmlns:a16="http://schemas.microsoft.com/office/drawing/2014/main" id="{5B4A8289-5085-35FE-FE5E-9D5387BCE495}"/>
              </a:ext>
            </a:extLst>
          </p:cNvPr>
          <p:cNvPicPr>
            <a:picLocks noChangeAspect="1"/>
          </p:cNvPicPr>
          <p:nvPr/>
        </p:nvPicPr>
        <p:blipFill>
          <a:blip r:embed="rId4"/>
          <a:stretch>
            <a:fillRect/>
          </a:stretch>
        </p:blipFill>
        <p:spPr>
          <a:xfrm>
            <a:off x="6496547" y="2100640"/>
            <a:ext cx="4598173" cy="2505645"/>
          </a:xfrm>
          <a:prstGeom prst="rect">
            <a:avLst/>
          </a:prstGeom>
        </p:spPr>
      </p:pic>
      <p:sp>
        <p:nvSpPr>
          <p:cNvPr id="18"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9" name="Harvard Page Number"/>
          <p:cNvSpPr txBox="1"/>
          <p:nvPr/>
        </p:nvSpPr>
        <p:spPr>
          <a:xfrm>
            <a:off x="9972389" y="6446043"/>
            <a:ext cx="253492" cy="274638"/>
          </a:xfrm>
          <a:prstGeom prst="rect">
            <a:avLst/>
          </a:prstGeom>
          <a:noFill/>
        </p:spPr>
        <p:txBody>
          <a:bodyPr wrap="none" lIns="0" tIns="0" rIns="0" bIns="0">
            <a:noAutofit/>
          </a:bodyPr>
          <a:lstStyle/>
          <a:p>
            <a:pPr algn="r"/>
            <a:fld id="{462DF27D-347B-425D-9333-9EDE9A719330}" type="slidenum">
              <a:rPr lang="en-US" sz="1000">
                <a:solidFill>
                  <a:srgbClr val="8996A0"/>
                </a:solidFill>
                <a:latin typeface="Arial"/>
              </a:rPr>
              <a:t>8</a:t>
            </a:fld>
            <a:endParaRPr lang="en-US" sz="1000">
              <a:solidFill>
                <a:srgbClr val="8996A0"/>
              </a:solidFill>
              <a:latin typeface="Arial"/>
            </a:endParaRPr>
          </a:p>
        </p:txBody>
      </p:sp>
    </p:spTree>
    <p:extLst>
      <p:ext uri="{BB962C8B-B14F-4D97-AF65-F5344CB8AC3E}">
        <p14:creationId xmlns:p14="http://schemas.microsoft.com/office/powerpoint/2010/main" val="2004520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p:cNvSpPr/>
          <p:nvPr/>
        </p:nvSpPr>
        <p:spPr>
          <a:xfrm>
            <a:off x="3181738" y="2345932"/>
            <a:ext cx="2341823" cy="3048000"/>
          </a:xfrm>
          <a:prstGeom prst="rect">
            <a:avLst/>
          </a:prstGeom>
          <a:solidFill>
            <a:schemeClr val="accent1">
              <a:lumMod val="25000"/>
              <a:lumOff val="75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 name="Text 5"/>
          <p:cNvSpPr/>
          <p:nvPr/>
        </p:nvSpPr>
        <p:spPr>
          <a:xfrm>
            <a:off x="3335850" y="2589772"/>
            <a:ext cx="218771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460073"/>
                </a:solidFill>
                <a:effectLst/>
                <a:uLnTx/>
                <a:uFillTx/>
                <a:latin typeface="Arial" pitchFamily="34" charset="0"/>
                <a:ea typeface="Arial Black" pitchFamily="34" charset="-122"/>
                <a:cs typeface="Arial Black" pitchFamily="34" charset="-120"/>
              </a:rPr>
              <a:t>PROMPT</a:t>
            </a:r>
            <a:endParaRPr kumimoji="0" lang="en-US" sz="2133"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9" name="Text 6"/>
          <p:cNvSpPr/>
          <p:nvPr/>
        </p:nvSpPr>
        <p:spPr>
          <a:xfrm>
            <a:off x="3335850" y="3382252"/>
            <a:ext cx="2004831" cy="18288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srgbClr val="460073"/>
                </a:solidFill>
                <a:effectLst/>
                <a:uLnTx/>
                <a:uFillTx/>
                <a:latin typeface="Arial" pitchFamily="34" charset="0"/>
                <a:ea typeface="Arial" pitchFamily="34" charset="-122"/>
                <a:cs typeface="Arial" pitchFamily="34" charset="-120"/>
              </a:rPr>
              <a:t>What you ask. The model conditions every prediction on this context.</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0" name="Text 7"/>
          <p:cNvSpPr/>
          <p:nvPr/>
        </p:nvSpPr>
        <p:spPr>
          <a:xfrm>
            <a:off x="5492051" y="3443212"/>
            <a:ext cx="609600" cy="85344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672CB"/>
                </a:solidFill>
                <a:effectLst/>
                <a:uLnTx/>
                <a:uFillTx/>
                <a:latin typeface="Arial" pitchFamily="34" charset="0"/>
                <a:ea typeface="Arial Black" pitchFamily="34" charset="-122"/>
                <a:cs typeface="Arial Black" pitchFamily="34" charset="-120"/>
              </a:rPr>
              <a:t>›</a:t>
            </a:r>
            <a:endParaRPr kumimoji="0" lang="en-US" sz="4800" b="0" i="0" u="none" strike="noStrike" kern="1200" cap="none" spc="0" normalizeH="0" baseline="0" noProof="0" dirty="0">
              <a:ln>
                <a:noFill/>
              </a:ln>
              <a:solidFill>
                <a:srgbClr val="0672CB"/>
              </a:solidFill>
              <a:effectLst/>
              <a:uLnTx/>
              <a:uFillTx/>
              <a:latin typeface="Arial" panose="020F0502020204030204"/>
              <a:ea typeface="+mn-ea"/>
              <a:cs typeface="+mn-cs"/>
            </a:endParaRPr>
          </a:p>
        </p:txBody>
      </p:sp>
      <p:sp>
        <p:nvSpPr>
          <p:cNvPr id="11" name="Shape 8"/>
          <p:cNvSpPr/>
          <p:nvPr/>
        </p:nvSpPr>
        <p:spPr>
          <a:xfrm>
            <a:off x="5972202" y="2345932"/>
            <a:ext cx="2341823" cy="3048000"/>
          </a:xfrm>
          <a:prstGeom prst="rect">
            <a:avLst/>
          </a:prstGeom>
          <a:solidFill>
            <a:schemeClr val="accent1">
              <a:lumMod val="50000"/>
              <a:lumOff val="50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2" name="Text 9"/>
          <p:cNvSpPr/>
          <p:nvPr/>
        </p:nvSpPr>
        <p:spPr>
          <a:xfrm>
            <a:off x="6126313" y="2589772"/>
            <a:ext cx="2187711"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FFFFF"/>
                </a:solidFill>
                <a:effectLst/>
                <a:uLnTx/>
                <a:uFillTx/>
                <a:latin typeface="Arial" pitchFamily="34" charset="0"/>
                <a:ea typeface="Arial Black" pitchFamily="34" charset="-122"/>
                <a:cs typeface="Arial Black" pitchFamily="34" charset="-120"/>
              </a:rPr>
              <a:t>MODEL IN ACTION</a:t>
            </a:r>
            <a:endParaRPr kumimoji="0" lang="en-US" sz="2133"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3" name="Text 10"/>
          <p:cNvSpPr/>
          <p:nvPr/>
        </p:nvSpPr>
        <p:spPr>
          <a:xfrm>
            <a:off x="6126314" y="3382252"/>
            <a:ext cx="2004831" cy="18288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Rapidly predicting the next token, then the next, building the response one piece at a time.</a:t>
            </a:r>
            <a:endParaRPr kumimoji="0" lang="en-US" sz="1467"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4" name="Text 11"/>
          <p:cNvSpPr/>
          <p:nvPr/>
        </p:nvSpPr>
        <p:spPr>
          <a:xfrm>
            <a:off x="8292789" y="3443212"/>
            <a:ext cx="609600" cy="85344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672CB"/>
                </a:solidFill>
                <a:effectLst/>
                <a:uLnTx/>
                <a:uFillTx/>
                <a:latin typeface="Arial" pitchFamily="34" charset="0"/>
                <a:ea typeface="Arial Black" pitchFamily="34" charset="-122"/>
                <a:cs typeface="Arial Black" pitchFamily="34" charset="-120"/>
              </a:rPr>
              <a:t>›</a:t>
            </a:r>
            <a:endParaRPr kumimoji="0" lang="en-US" sz="4800" b="0" i="0" u="none" strike="noStrike" kern="1200" cap="none" spc="0" normalizeH="0" baseline="0" noProof="0" dirty="0">
              <a:ln>
                <a:noFill/>
              </a:ln>
              <a:solidFill>
                <a:srgbClr val="0672CB"/>
              </a:solidFill>
              <a:effectLst/>
              <a:uLnTx/>
              <a:uFillTx/>
              <a:latin typeface="Arial" panose="020F0502020204030204"/>
              <a:ea typeface="+mn-ea"/>
              <a:cs typeface="+mn-cs"/>
            </a:endParaRPr>
          </a:p>
        </p:txBody>
      </p:sp>
      <p:sp>
        <p:nvSpPr>
          <p:cNvPr id="15" name="Shape 12"/>
          <p:cNvSpPr/>
          <p:nvPr/>
        </p:nvSpPr>
        <p:spPr>
          <a:xfrm>
            <a:off x="8772940" y="2345932"/>
            <a:ext cx="2341823" cy="3048000"/>
          </a:xfrm>
          <a:prstGeom prst="rect">
            <a:avLst/>
          </a:prstGeom>
          <a:solidFill>
            <a:schemeClr val="accent1">
              <a:lumMod val="90000"/>
              <a:lumOff val="10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6" name="Text 13"/>
          <p:cNvSpPr/>
          <p:nvPr/>
        </p:nvSpPr>
        <p:spPr>
          <a:xfrm>
            <a:off x="8927051" y="2589772"/>
            <a:ext cx="2187711"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FFFFF"/>
                </a:solidFill>
                <a:effectLst/>
                <a:uLnTx/>
                <a:uFillTx/>
                <a:latin typeface="Arial" pitchFamily="34" charset="0"/>
                <a:ea typeface="Arial Black" pitchFamily="34" charset="-122"/>
                <a:cs typeface="Arial Black" pitchFamily="34" charset="-120"/>
              </a:rPr>
              <a:t>OUTPUT</a:t>
            </a:r>
            <a:endParaRPr kumimoji="0" lang="en-US" sz="2133"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7" name="Text 14"/>
          <p:cNvSpPr/>
          <p:nvPr/>
        </p:nvSpPr>
        <p:spPr>
          <a:xfrm>
            <a:off x="8927052" y="3382252"/>
            <a:ext cx="2004831" cy="18288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An original answer assembled token-by-token from what the model has learned.</a:t>
            </a:r>
            <a:endParaRPr kumimoji="0" lang="en-US" sz="1467"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 name="Title 3">
            <a:extLst>
              <a:ext uri="{FF2B5EF4-FFF2-40B4-BE49-F238E27FC236}">
                <a16:creationId xmlns:a16="http://schemas.microsoft.com/office/drawing/2014/main" id="{EC74B135-4DDB-4796-FEEB-B9B620CAA0BC}"/>
              </a:ext>
            </a:extLst>
          </p:cNvPr>
          <p:cNvSpPr>
            <a:spLocks noGrp="1"/>
          </p:cNvSpPr>
          <p:nvPr>
            <p:ph type="title"/>
          </p:nvPr>
        </p:nvSpPr>
        <p:spPr>
          <a:xfrm>
            <a:off x="381000" y="342900"/>
            <a:ext cx="11430000" cy="886397"/>
          </a:xfrm>
        </p:spPr>
        <p:txBody>
          <a:bodyPr/>
          <a:lstStyle/>
          <a:p>
            <a:r>
              <a:rPr lang="en-US">
                <a:solidFill>
                  <a:schemeClr val="accent1"/>
                </a:solidFill>
              </a:rPr>
              <a:t>What's going on in the background?</a:t>
            </a:r>
            <a:br>
              <a:rPr lang="en-US">
                <a:solidFill>
                  <a:schemeClr val="accent1"/>
                </a:solidFill>
              </a:rPr>
            </a:br>
            <a:endParaRPr lang="en-US">
              <a:solidFill>
                <a:schemeClr val="accent1"/>
              </a:solidFill>
            </a:endParaRPr>
          </a:p>
        </p:txBody>
      </p:sp>
      <p:sp>
        <p:nvSpPr>
          <p:cNvPr id="19" name="Subtitle 18">
            <a:extLst>
              <a:ext uri="{FF2B5EF4-FFF2-40B4-BE49-F238E27FC236}">
                <a16:creationId xmlns:a16="http://schemas.microsoft.com/office/drawing/2014/main" id="{93A5D19B-135F-CDC9-6C4B-B3A75FB154FC}"/>
              </a:ext>
            </a:extLst>
          </p:cNvPr>
          <p:cNvSpPr>
            <a:spLocks noGrp="1"/>
          </p:cNvSpPr>
          <p:nvPr>
            <p:ph type="subTitle" idx="1"/>
          </p:nvPr>
        </p:nvSpPr>
        <p:spPr>
          <a:xfrm>
            <a:off x="381000" y="857250"/>
            <a:ext cx="11430000" cy="492443"/>
          </a:xfrm>
        </p:spPr>
        <p:txBody>
          <a:bodyPr/>
          <a:lstStyle/>
          <a:p>
            <a:r>
              <a:rPr lang="en-US" dirty="0">
                <a:solidFill>
                  <a:schemeClr val="accent1"/>
                </a:solidFill>
              </a:rPr>
              <a:t>An LLM is a </a:t>
            </a:r>
            <a:r>
              <a:rPr lang="en-US" dirty="0" err="1">
                <a:solidFill>
                  <a:schemeClr val="accent1"/>
                </a:solidFill>
              </a:rPr>
              <a:t>vlookup</a:t>
            </a:r>
            <a:r>
              <a:rPr lang="en-US" dirty="0">
                <a:solidFill>
                  <a:schemeClr val="accent1"/>
                </a:solidFill>
              </a:rPr>
              <a:t> table, predicting one token (~4 characters) at a time, conditioned on everything before it.</a:t>
            </a:r>
          </a:p>
          <a:p>
            <a:endParaRPr lang="en-US" dirty="0">
              <a:solidFill>
                <a:schemeClr val="accent1"/>
              </a:solidFill>
            </a:endParaRPr>
          </a:p>
        </p:txBody>
      </p:sp>
      <p:sp>
        <p:nvSpPr>
          <p:cNvPr id="3" name="Shape 4">
            <a:extLst>
              <a:ext uri="{FF2B5EF4-FFF2-40B4-BE49-F238E27FC236}">
                <a16:creationId xmlns:a16="http://schemas.microsoft.com/office/drawing/2014/main" id="{F7D63473-19D6-B672-A7BC-C04210DD1669}"/>
              </a:ext>
            </a:extLst>
          </p:cNvPr>
          <p:cNvSpPr/>
          <p:nvPr/>
        </p:nvSpPr>
        <p:spPr>
          <a:xfrm>
            <a:off x="381000" y="2345932"/>
            <a:ext cx="2341823" cy="3048000"/>
          </a:xfrm>
          <a:prstGeom prst="rect">
            <a:avLst/>
          </a:prstGeom>
          <a:solidFill>
            <a:schemeClr val="accent1">
              <a:lumMod val="25000"/>
              <a:lumOff val="75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 name="Text 5">
            <a:extLst>
              <a:ext uri="{FF2B5EF4-FFF2-40B4-BE49-F238E27FC236}">
                <a16:creationId xmlns:a16="http://schemas.microsoft.com/office/drawing/2014/main" id="{700502BF-3F3E-CB83-B677-11DE4D1CF69E}"/>
              </a:ext>
            </a:extLst>
          </p:cNvPr>
          <p:cNvSpPr/>
          <p:nvPr/>
        </p:nvSpPr>
        <p:spPr>
          <a:xfrm>
            <a:off x="535112" y="2589772"/>
            <a:ext cx="218771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2133" b="1" dirty="0">
                <a:solidFill>
                  <a:srgbClr val="460073"/>
                </a:solidFill>
                <a:latin typeface="Arial" pitchFamily="34" charset="0"/>
                <a:ea typeface="Arial Black" pitchFamily="34" charset="-122"/>
                <a:cs typeface="Arial Black" pitchFamily="34" charset="-120"/>
              </a:rPr>
              <a:t>SYSTEM </a:t>
            </a:r>
            <a:r>
              <a:rPr kumimoji="0" lang="en-US" sz="2133" b="1" i="0" u="none" strike="noStrike" kern="1200" cap="none" spc="0" normalizeH="0" baseline="0" noProof="0" dirty="0">
                <a:ln>
                  <a:noFill/>
                </a:ln>
                <a:solidFill>
                  <a:srgbClr val="460073"/>
                </a:solidFill>
                <a:effectLst/>
                <a:uLnTx/>
                <a:uFillTx/>
                <a:latin typeface="Arial" pitchFamily="34" charset="0"/>
                <a:ea typeface="Arial Black" pitchFamily="34" charset="-122"/>
                <a:cs typeface="Arial Black" pitchFamily="34" charset="-120"/>
              </a:rPr>
              <a:t>PROMPT</a:t>
            </a:r>
            <a:endParaRPr kumimoji="0" lang="en-US" sz="2133"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 name="Text 6">
            <a:extLst>
              <a:ext uri="{FF2B5EF4-FFF2-40B4-BE49-F238E27FC236}">
                <a16:creationId xmlns:a16="http://schemas.microsoft.com/office/drawing/2014/main" id="{13A21CF9-720F-E639-F2F2-01346D54719A}"/>
              </a:ext>
            </a:extLst>
          </p:cNvPr>
          <p:cNvSpPr/>
          <p:nvPr/>
        </p:nvSpPr>
        <p:spPr>
          <a:xfrm>
            <a:off x="535112" y="3382252"/>
            <a:ext cx="2004831" cy="18288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srgbClr val="460073"/>
                </a:solidFill>
                <a:effectLst/>
                <a:uLnTx/>
                <a:uFillTx/>
                <a:latin typeface="Arial" pitchFamily="34" charset="0"/>
                <a:ea typeface="Arial" pitchFamily="34" charset="-122"/>
                <a:cs typeface="Arial" pitchFamily="34" charset="-120"/>
              </a:rPr>
              <a:t>The preamble to the model that is appended to each incoming prompt.  </a:t>
            </a:r>
            <a:r>
              <a:rPr lang="en-US" sz="1467" dirty="0">
                <a:solidFill>
                  <a:srgbClr val="460073"/>
                </a:solidFill>
                <a:latin typeface="Arial" pitchFamily="34" charset="0"/>
                <a:ea typeface="Arial" pitchFamily="34" charset="-122"/>
                <a:cs typeface="Arial" pitchFamily="34" charset="-120"/>
              </a:rPr>
              <a:t>The system prompt adds context &amp; instructions.</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8" name="Text 7">
            <a:extLst>
              <a:ext uri="{FF2B5EF4-FFF2-40B4-BE49-F238E27FC236}">
                <a16:creationId xmlns:a16="http://schemas.microsoft.com/office/drawing/2014/main" id="{5DA94BC9-FE0D-E3EB-3946-DA87B13E7D93}"/>
              </a:ext>
            </a:extLst>
          </p:cNvPr>
          <p:cNvSpPr/>
          <p:nvPr/>
        </p:nvSpPr>
        <p:spPr>
          <a:xfrm>
            <a:off x="2642344" y="3429000"/>
            <a:ext cx="609600" cy="85344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672CB"/>
                </a:solidFill>
                <a:effectLst/>
                <a:uLnTx/>
                <a:uFillTx/>
                <a:latin typeface="Arial" pitchFamily="34" charset="0"/>
                <a:ea typeface="Arial Black" pitchFamily="34" charset="-122"/>
                <a:cs typeface="Arial Black" pitchFamily="34" charset="-120"/>
              </a:rPr>
              <a:t>›</a:t>
            </a:r>
            <a:endParaRPr kumimoji="0" lang="en-US" sz="4800" b="0" i="0" u="none" strike="noStrike" kern="1200" cap="none" spc="0" normalizeH="0" baseline="0" noProof="0" dirty="0">
              <a:ln>
                <a:noFill/>
              </a:ln>
              <a:solidFill>
                <a:srgbClr val="0672CB"/>
              </a:solidFill>
              <a:effectLst/>
              <a:uLnTx/>
              <a:uFillTx/>
              <a:latin typeface="Arial" panose="020F0502020204030204"/>
              <a:ea typeface="+mn-ea"/>
              <a:cs typeface="+mn-cs"/>
            </a:endParaRPr>
          </a:p>
        </p:txBody>
      </p:sp>
      <p:sp>
        <p:nvSpPr>
          <p:cNvPr id="20"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1" name="Harvard Page Number"/>
          <p:cNvSpPr txBox="1"/>
          <p:nvPr/>
        </p:nvSpPr>
        <p:spPr>
          <a:xfrm>
            <a:off x="9972389" y="6446043"/>
            <a:ext cx="253492" cy="274638"/>
          </a:xfrm>
          <a:prstGeom prst="rect">
            <a:avLst/>
          </a:prstGeom>
          <a:noFill/>
        </p:spPr>
        <p:txBody>
          <a:bodyPr wrap="none" lIns="0" tIns="0" rIns="0" bIns="0">
            <a:noAutofit/>
          </a:bodyPr>
          <a:lstStyle/>
          <a:p>
            <a:pPr algn="r"/>
            <a:fld id="{6B00A0EC-AE7C-4403-989D-07B39F24BB0A}" type="slidenum">
              <a:rPr lang="en-US" sz="1000">
                <a:solidFill>
                  <a:srgbClr val="8996A0"/>
                </a:solidFill>
                <a:latin typeface="Arial"/>
              </a:rPr>
              <a:t>9</a:t>
            </a:fld>
            <a:endParaRPr lang="en-US" sz="1000">
              <a:solidFill>
                <a:srgbClr val="8996A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457200" y="2167128"/>
            <a:ext cx="28803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effectLst/>
                <a:uLnTx/>
                <a:uFillTx/>
                <a:latin typeface="Arial" pitchFamily="34" charset="0"/>
                <a:ea typeface="Arial" pitchFamily="34" charset="-122"/>
                <a:cs typeface="Arial" pitchFamily="34" charset="-120"/>
              </a:rPr>
              <a:t>What do I need to do today?</a:t>
            </a:r>
            <a:endParaRPr kumimoji="0" lang="en-US" sz="1200" b="0" i="0" u="none" strike="noStrike" kern="1200" cap="none" spc="0" normalizeH="0" baseline="0" noProof="0">
              <a:ln>
                <a:noFill/>
              </a:ln>
              <a:effectLst/>
              <a:uLnTx/>
              <a:uFillTx/>
              <a:latin typeface="Arial"/>
              <a:ea typeface="+mn-ea"/>
              <a:cs typeface="+mn-cs"/>
            </a:endParaRPr>
          </a:p>
        </p:txBody>
      </p:sp>
      <p:sp>
        <p:nvSpPr>
          <p:cNvPr id="6" name="Shape 4"/>
          <p:cNvSpPr/>
          <p:nvPr/>
        </p:nvSpPr>
        <p:spPr>
          <a:xfrm>
            <a:off x="3474720" y="2331720"/>
            <a:ext cx="1669551" cy="927528"/>
          </a:xfrm>
          <a:prstGeom prst="line">
            <a:avLst/>
          </a:prstGeom>
          <a:noFill/>
          <a:ln w="12700">
            <a:solidFill>
              <a:srgbClr val="99999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7" name="Shape 5"/>
          <p:cNvSpPr/>
          <p:nvPr/>
        </p:nvSpPr>
        <p:spPr>
          <a:xfrm>
            <a:off x="3822500" y="2501563"/>
            <a:ext cx="640080" cy="256032"/>
          </a:xfrm>
          <a:prstGeom prst="roundRect">
            <a:avLst>
              <a:gd name="adj" fmla="val 14286"/>
            </a:avLst>
          </a:prstGeom>
          <a:solidFill>
            <a:srgbClr val="FFFFFF"/>
          </a:solidFill>
          <a:ln w="9525">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8" name="Text 6"/>
          <p:cNvSpPr/>
          <p:nvPr/>
        </p:nvSpPr>
        <p:spPr>
          <a:xfrm>
            <a:off x="3822500" y="2501563"/>
            <a:ext cx="6400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effectLst/>
                <a:uLnTx/>
                <a:uFillTx/>
                <a:latin typeface="Arial" pitchFamily="34" charset="0"/>
                <a:ea typeface="Arial Black" pitchFamily="34" charset="-122"/>
                <a:cs typeface="Arial Black" pitchFamily="34" charset="-120"/>
              </a:rPr>
              <a:t>× 0.1</a:t>
            </a:r>
            <a:endParaRPr kumimoji="0" lang="en-US" sz="1000" b="0" i="0" u="none" strike="noStrike" kern="1200" cap="none" spc="0" normalizeH="0" baseline="0" noProof="0">
              <a:ln>
                <a:noFill/>
              </a:ln>
              <a:effectLst/>
              <a:uLnTx/>
              <a:uFillTx/>
              <a:latin typeface="Arial"/>
              <a:ea typeface="+mn-ea"/>
              <a:cs typeface="+mn-cs"/>
            </a:endParaRPr>
          </a:p>
        </p:txBody>
      </p:sp>
      <p:sp>
        <p:nvSpPr>
          <p:cNvPr id="9" name="Text 7"/>
          <p:cNvSpPr/>
          <p:nvPr/>
        </p:nvSpPr>
        <p:spPr>
          <a:xfrm>
            <a:off x="457200" y="2990088"/>
            <a:ext cx="28803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effectLst/>
                <a:uLnTx/>
                <a:uFillTx/>
                <a:latin typeface="Arial" pitchFamily="34" charset="0"/>
                <a:ea typeface="Arial" pitchFamily="34" charset="-122"/>
                <a:cs typeface="Arial" pitchFamily="34" charset="-120"/>
              </a:rPr>
              <a:t>I miss my dog.</a:t>
            </a:r>
            <a:endParaRPr kumimoji="0" lang="en-US" sz="1200" b="0" i="0" u="none" strike="noStrike" kern="1200" cap="none" spc="0" normalizeH="0" baseline="0" noProof="0">
              <a:ln>
                <a:noFill/>
              </a:ln>
              <a:effectLst/>
              <a:uLnTx/>
              <a:uFillTx/>
              <a:latin typeface="Arial"/>
              <a:ea typeface="+mn-ea"/>
              <a:cs typeface="+mn-cs"/>
            </a:endParaRPr>
          </a:p>
        </p:txBody>
      </p:sp>
      <p:sp>
        <p:nvSpPr>
          <p:cNvPr id="10" name="Shape 8"/>
          <p:cNvSpPr/>
          <p:nvPr/>
        </p:nvSpPr>
        <p:spPr>
          <a:xfrm>
            <a:off x="3474720" y="3154680"/>
            <a:ext cx="1576255" cy="350279"/>
          </a:xfrm>
          <a:prstGeom prst="line">
            <a:avLst/>
          </a:prstGeom>
          <a:noFill/>
          <a:ln w="12700">
            <a:solidFill>
              <a:srgbClr val="99999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11" name="Shape 9"/>
          <p:cNvSpPr/>
          <p:nvPr/>
        </p:nvSpPr>
        <p:spPr>
          <a:xfrm>
            <a:off x="3785182" y="3093624"/>
            <a:ext cx="640080" cy="256032"/>
          </a:xfrm>
          <a:prstGeom prst="roundRect">
            <a:avLst>
              <a:gd name="adj" fmla="val 14286"/>
            </a:avLst>
          </a:prstGeom>
          <a:solidFill>
            <a:srgbClr val="FFFFFF"/>
          </a:solidFill>
          <a:ln w="9525">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12" name="Text 10"/>
          <p:cNvSpPr/>
          <p:nvPr/>
        </p:nvSpPr>
        <p:spPr>
          <a:xfrm>
            <a:off x="3785182" y="3093624"/>
            <a:ext cx="6400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effectLst/>
                <a:uLnTx/>
                <a:uFillTx/>
                <a:latin typeface="Arial" pitchFamily="34" charset="0"/>
                <a:ea typeface="Arial Black" pitchFamily="34" charset="-122"/>
                <a:cs typeface="Arial Black" pitchFamily="34" charset="-120"/>
              </a:rPr>
              <a:t>× 0.1</a:t>
            </a:r>
            <a:endParaRPr kumimoji="0" lang="en-US" sz="1000" b="0" i="0" u="none" strike="noStrike" kern="1200" cap="none" spc="0" normalizeH="0" baseline="0" noProof="0">
              <a:ln>
                <a:noFill/>
              </a:ln>
              <a:effectLst/>
              <a:uLnTx/>
              <a:uFillTx/>
              <a:latin typeface="Arial"/>
              <a:ea typeface="+mn-ea"/>
              <a:cs typeface="+mn-cs"/>
            </a:endParaRPr>
          </a:p>
        </p:txBody>
      </p:sp>
      <p:sp>
        <p:nvSpPr>
          <p:cNvPr id="13" name="Text 11"/>
          <p:cNvSpPr/>
          <p:nvPr/>
        </p:nvSpPr>
        <p:spPr>
          <a:xfrm>
            <a:off x="457200" y="4087368"/>
            <a:ext cx="28803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effectLst/>
                <a:uLnTx/>
                <a:uFillTx/>
                <a:latin typeface="Arial" pitchFamily="34" charset="0"/>
                <a:ea typeface="Arial" pitchFamily="34" charset="-122"/>
                <a:cs typeface="Arial" pitchFamily="34" charset="-120"/>
              </a:rPr>
              <a:t>My favorite color is blue.</a:t>
            </a:r>
            <a:endParaRPr kumimoji="0" lang="en-US" sz="1200" b="0" i="0" u="none" strike="noStrike" kern="1200" cap="none" spc="0" normalizeH="0" baseline="0" noProof="0">
              <a:ln>
                <a:noFill/>
              </a:ln>
              <a:effectLst/>
              <a:uLnTx/>
              <a:uFillTx/>
              <a:latin typeface="Arial"/>
              <a:ea typeface="+mn-ea"/>
              <a:cs typeface="+mn-cs"/>
            </a:endParaRPr>
          </a:p>
        </p:txBody>
      </p:sp>
      <p:sp>
        <p:nvSpPr>
          <p:cNvPr id="14" name="Shape 12"/>
          <p:cNvSpPr/>
          <p:nvPr/>
        </p:nvSpPr>
        <p:spPr>
          <a:xfrm flipV="1">
            <a:off x="3474721" y="3806855"/>
            <a:ext cx="1508760" cy="445105"/>
          </a:xfrm>
          <a:prstGeom prst="line">
            <a:avLst/>
          </a:prstGeom>
          <a:noFill/>
          <a:ln w="9525">
            <a:solidFill>
              <a:srgbClr val="BBBBBB"/>
            </a:solidFill>
            <a:prstDash val="dash"/>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15" name="Shape 13"/>
          <p:cNvSpPr/>
          <p:nvPr/>
        </p:nvSpPr>
        <p:spPr>
          <a:xfrm>
            <a:off x="3785182" y="3910680"/>
            <a:ext cx="640080" cy="256032"/>
          </a:xfrm>
          <a:prstGeom prst="roundRect">
            <a:avLst>
              <a:gd name="adj" fmla="val 14286"/>
            </a:avLst>
          </a:prstGeom>
          <a:solidFill>
            <a:srgbClr val="FFFFFF"/>
          </a:solidFill>
          <a:ln w="9525">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16" name="Text 14"/>
          <p:cNvSpPr/>
          <p:nvPr/>
        </p:nvSpPr>
        <p:spPr>
          <a:xfrm>
            <a:off x="3785182" y="3910680"/>
            <a:ext cx="6400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effectLst/>
                <a:uLnTx/>
                <a:uFillTx/>
                <a:latin typeface="Arial" pitchFamily="34" charset="0"/>
                <a:ea typeface="Arial Black" pitchFamily="34" charset="-122"/>
                <a:cs typeface="Arial Black" pitchFamily="34" charset="-120"/>
              </a:rPr>
              <a:t>× 0.0</a:t>
            </a:r>
            <a:endParaRPr kumimoji="0" lang="en-US" sz="1000" b="0" i="0" u="none" strike="noStrike" kern="1200" cap="none" spc="0" normalizeH="0" baseline="0" noProof="0">
              <a:ln>
                <a:noFill/>
              </a:ln>
              <a:effectLst/>
              <a:uLnTx/>
              <a:uFillTx/>
              <a:latin typeface="Arial"/>
              <a:ea typeface="+mn-ea"/>
              <a:cs typeface="+mn-cs"/>
            </a:endParaRPr>
          </a:p>
        </p:txBody>
      </p:sp>
      <p:sp>
        <p:nvSpPr>
          <p:cNvPr id="17" name="Text 15"/>
          <p:cNvSpPr/>
          <p:nvPr/>
        </p:nvSpPr>
        <p:spPr>
          <a:xfrm>
            <a:off x="457200" y="4910328"/>
            <a:ext cx="28803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Arial" pitchFamily="34" charset="0"/>
                <a:ea typeface="Arial" pitchFamily="34" charset="-122"/>
                <a:cs typeface="Arial" pitchFamily="34" charset="-120"/>
              </a:rPr>
              <a:t>This is getting hot!</a:t>
            </a:r>
            <a:endParaRPr kumimoji="0" lang="en-US" sz="1200" b="0" i="0" u="none" strike="noStrike" kern="1200" cap="none" spc="0" normalizeH="0" baseline="0" noProof="0">
              <a:ln>
                <a:noFill/>
              </a:ln>
              <a:effectLst/>
              <a:uLnTx/>
              <a:uFillTx/>
              <a:latin typeface="Arial"/>
              <a:ea typeface="+mn-ea"/>
              <a:cs typeface="+mn-cs"/>
            </a:endParaRPr>
          </a:p>
        </p:txBody>
      </p:sp>
      <p:sp>
        <p:nvSpPr>
          <p:cNvPr id="18" name="Shape 16"/>
          <p:cNvSpPr/>
          <p:nvPr/>
        </p:nvSpPr>
        <p:spPr>
          <a:xfrm flipV="1">
            <a:off x="3474720" y="4063186"/>
            <a:ext cx="1669551" cy="1011734"/>
          </a:xfrm>
          <a:prstGeom prst="line">
            <a:avLst/>
          </a:prstGeom>
          <a:noFill/>
          <a:ln w="63500">
            <a:solidFill>
              <a:schemeClr val="bg1"/>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19" name="Shape 17"/>
          <p:cNvSpPr/>
          <p:nvPr/>
        </p:nvSpPr>
        <p:spPr>
          <a:xfrm>
            <a:off x="3753920" y="4489358"/>
            <a:ext cx="777240" cy="256032"/>
          </a:xfrm>
          <a:prstGeom prst="roundRect">
            <a:avLst>
              <a:gd name="adj" fmla="val 14286"/>
            </a:avLst>
          </a:prstGeom>
          <a:solidFill>
            <a:srgbClr val="FFFFFF"/>
          </a:solidFill>
          <a:ln w="9525">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21" name="Shape 19"/>
          <p:cNvSpPr/>
          <p:nvPr/>
        </p:nvSpPr>
        <p:spPr>
          <a:xfrm>
            <a:off x="5029200" y="2788920"/>
            <a:ext cx="1828800" cy="1828800"/>
          </a:xfrm>
          <a:prstGeom prst="ellipse">
            <a:avLst/>
          </a:prstGeom>
          <a:solidFill>
            <a:schemeClr val="bg1"/>
          </a:solidFill>
          <a:ln w="25400">
            <a:noFill/>
            <a:prstDash val="solid"/>
          </a:ln>
          <a:effectLst>
            <a:outerShdw blurRad="152400" dist="38100" dir="8100000" algn="bl" rotWithShape="0">
              <a:srgbClr val="1E1E1E">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22" name="Text 20"/>
          <p:cNvSpPr/>
          <p:nvPr/>
        </p:nvSpPr>
        <p:spPr>
          <a:xfrm>
            <a:off x="5029200" y="2788920"/>
            <a:ext cx="1828800" cy="1828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effectLst/>
                <a:uLnTx/>
                <a:uFillTx/>
                <a:latin typeface="Arial" pitchFamily="34" charset="0"/>
                <a:ea typeface="Arial Black" pitchFamily="34" charset="-122"/>
                <a:cs typeface="Arial Black" pitchFamily="34" charset="-120"/>
              </a:rPr>
              <a:t>Σ Weighted Sum</a:t>
            </a:r>
            <a:endParaRPr kumimoji="0" lang="en-US" sz="1300" b="0" i="0" u="none" strike="noStrike" kern="1200" cap="none" spc="0" normalizeH="0" baseline="0" noProof="0">
              <a:ln>
                <a:noFill/>
              </a:ln>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effectLst/>
                <a:uLnTx/>
                <a:uFillTx/>
                <a:latin typeface="Arial"/>
                <a:ea typeface="+mn-ea"/>
                <a:cs typeface="+mn-cs"/>
              </a:rPr>
              <a:t> </a:t>
            </a:r>
            <a:endParaRPr kumimoji="0" lang="en-US" sz="1300" b="0" i="0" u="none" strike="noStrike" kern="1200" cap="none" spc="0" normalizeH="0" baseline="0" noProof="0">
              <a:ln>
                <a:noFill/>
              </a:ln>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effectLst/>
                <a:uLnTx/>
                <a:uFillTx/>
                <a:latin typeface="Arial" pitchFamily="34" charset="0"/>
                <a:ea typeface="Arial" pitchFamily="34" charset="-122"/>
                <a:cs typeface="Arial" pitchFamily="34" charset="-120"/>
              </a:rPr>
              <a:t>Past threshold?</a:t>
            </a:r>
            <a:endParaRPr kumimoji="0" lang="en-US" sz="1300" b="0" i="0" u="none" strike="noStrike" kern="1200" cap="none" spc="0" normalizeH="0" baseline="0" noProof="0">
              <a:ln>
                <a:noFill/>
              </a:ln>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effectLst/>
                <a:uLnTx/>
                <a:uFillTx/>
                <a:latin typeface="Arial"/>
                <a:ea typeface="+mn-ea"/>
                <a:cs typeface="+mn-cs"/>
              </a:rPr>
              <a:t> </a:t>
            </a:r>
            <a:endParaRPr kumimoji="0" lang="en-US" sz="1300" b="0" i="0" u="none" strike="noStrike" kern="1200" cap="none" spc="0" normalizeH="0" baseline="0" noProof="0">
              <a:ln>
                <a:noFill/>
              </a:ln>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effectLst/>
                <a:uLnTx/>
                <a:uFillTx/>
                <a:latin typeface="Arial" pitchFamily="34" charset="0"/>
                <a:ea typeface="Arial Black" pitchFamily="34" charset="-122"/>
                <a:cs typeface="Arial Black" pitchFamily="34" charset="-120"/>
              </a:rPr>
              <a:t>→ ACTIVATE</a:t>
            </a:r>
            <a:endParaRPr kumimoji="0" lang="en-US" sz="1300" b="0" i="0" u="none" strike="noStrike" kern="1200" cap="none" spc="0" normalizeH="0" baseline="0" noProof="0">
              <a:ln>
                <a:noFill/>
              </a:ln>
              <a:effectLst/>
              <a:uLnTx/>
              <a:uFillTx/>
              <a:latin typeface="Arial"/>
              <a:ea typeface="+mn-ea"/>
              <a:cs typeface="+mn-cs"/>
            </a:endParaRPr>
          </a:p>
        </p:txBody>
      </p:sp>
      <p:sp>
        <p:nvSpPr>
          <p:cNvPr id="23" name="Shape 21"/>
          <p:cNvSpPr/>
          <p:nvPr/>
        </p:nvSpPr>
        <p:spPr>
          <a:xfrm>
            <a:off x="6903720" y="3703320"/>
            <a:ext cx="868680" cy="0"/>
          </a:xfrm>
          <a:prstGeom prst="line">
            <a:avLst/>
          </a:prstGeom>
          <a:noFill/>
          <a:ln w="50800">
            <a:solidFill>
              <a:schemeClr val="bg1"/>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24" name="Text 22"/>
          <p:cNvSpPr/>
          <p:nvPr/>
        </p:nvSpPr>
        <p:spPr>
          <a:xfrm>
            <a:off x="7178011" y="3349656"/>
            <a:ext cx="1755575"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effectLst/>
                <a:uLnTx/>
                <a:uFillTx/>
                <a:latin typeface="Arial" pitchFamily="34" charset="0"/>
                <a:ea typeface="Arial Black" pitchFamily="34" charset="-122"/>
                <a:cs typeface="Arial Black" pitchFamily="34" charset="-120"/>
              </a:rPr>
              <a:t>I need to move my hand!</a:t>
            </a:r>
            <a:endParaRPr kumimoji="0" lang="en-US" sz="1800" b="0" i="0" u="none" strike="noStrike" kern="1200" cap="none" spc="0" normalizeH="0" baseline="0" noProof="0" dirty="0">
              <a:ln>
                <a:noFill/>
              </a:ln>
              <a:effectLst/>
              <a:uLnTx/>
              <a:uFillTx/>
              <a:latin typeface="Arial"/>
              <a:ea typeface="+mn-ea"/>
              <a:cs typeface="+mn-cs"/>
            </a:endParaRPr>
          </a:p>
        </p:txBody>
      </p:sp>
      <p:sp>
        <p:nvSpPr>
          <p:cNvPr id="25" name="Shape 23"/>
          <p:cNvSpPr/>
          <p:nvPr/>
        </p:nvSpPr>
        <p:spPr>
          <a:xfrm>
            <a:off x="457200" y="5532120"/>
            <a:ext cx="3374136" cy="457200"/>
          </a:xfrm>
          <a:prstGeom prst="rect">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26" name="Shape 24"/>
          <p:cNvSpPr/>
          <p:nvPr/>
        </p:nvSpPr>
        <p:spPr>
          <a:xfrm>
            <a:off x="3831336" y="5532120"/>
            <a:ext cx="3374136" cy="457200"/>
          </a:xfrm>
          <a:prstGeom prst="rect">
            <a:avLst/>
          </a:prstGeom>
          <a:solidFill>
            <a:srgbClr val="FFE9B3"/>
          </a:solidFill>
          <a:ln w="12700">
            <a:solidFill>
              <a:srgbClr val="FFE9B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27" name="Shape 25"/>
          <p:cNvSpPr/>
          <p:nvPr/>
        </p:nvSpPr>
        <p:spPr>
          <a:xfrm>
            <a:off x="7205472" y="5532120"/>
            <a:ext cx="2811780" cy="457200"/>
          </a:xfrm>
          <a:prstGeom prst="rect">
            <a:avLst/>
          </a:prstGeom>
          <a:solidFill>
            <a:srgbClr val="FFB380"/>
          </a:solidFill>
          <a:ln w="12700">
            <a:solidFill>
              <a:srgbClr val="FFB3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28" name="Shape 26"/>
          <p:cNvSpPr/>
          <p:nvPr/>
        </p:nvSpPr>
        <p:spPr>
          <a:xfrm>
            <a:off x="10017252" y="5532120"/>
            <a:ext cx="1687068" cy="457200"/>
          </a:xfrm>
          <a:prstGeom prst="rect">
            <a:avLst/>
          </a:prstGeom>
          <a:solidFill>
            <a:schemeClr val="bg1"/>
          </a:solid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29" name="Shape 27"/>
          <p:cNvSpPr/>
          <p:nvPr/>
        </p:nvSpPr>
        <p:spPr>
          <a:xfrm>
            <a:off x="457200" y="5532120"/>
            <a:ext cx="11247120" cy="457200"/>
          </a:xfrm>
          <a:prstGeom prst="rect">
            <a:avLst/>
          </a:prstGeom>
          <a:solidFill>
            <a:schemeClr val="bg1">
              <a:alpha val="0"/>
            </a:schemeClr>
          </a:solidFill>
          <a:ln w="9525">
            <a:solidFill>
              <a:srgbClr val="8888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30" name="Shape 28"/>
          <p:cNvSpPr/>
          <p:nvPr/>
        </p:nvSpPr>
        <p:spPr>
          <a:xfrm>
            <a:off x="10017252" y="5394960"/>
            <a:ext cx="0" cy="731520"/>
          </a:xfrm>
          <a:prstGeom prst="line">
            <a:avLst/>
          </a:prstGeom>
          <a:noFill/>
          <a:ln w="25400">
            <a:solidFill>
              <a:schemeClr val="bg1"/>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31" name="Text 29"/>
          <p:cNvSpPr/>
          <p:nvPr/>
        </p:nvSpPr>
        <p:spPr>
          <a:xfrm>
            <a:off x="9240012" y="5315519"/>
            <a:ext cx="155448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200" normalizeH="0" baseline="0" noProof="0" dirty="0">
                <a:ln>
                  <a:noFill/>
                </a:ln>
                <a:effectLst/>
                <a:uLnTx/>
                <a:uFillTx/>
                <a:latin typeface="Arial" pitchFamily="34" charset="0"/>
                <a:ea typeface="Arial Black" pitchFamily="34" charset="-122"/>
                <a:cs typeface="Arial Black" pitchFamily="34" charset="-120"/>
              </a:rPr>
              <a:t>THRESHOLD</a:t>
            </a:r>
            <a:endParaRPr kumimoji="0" lang="en-US" sz="800" b="0" i="0" u="none" strike="noStrike" kern="1200" cap="none" spc="0" normalizeH="0" baseline="0" noProof="0" dirty="0">
              <a:ln>
                <a:noFill/>
              </a:ln>
              <a:effectLst/>
              <a:uLnTx/>
              <a:uFillTx/>
              <a:latin typeface="Arial"/>
              <a:ea typeface="+mn-ea"/>
              <a:cs typeface="+mn-cs"/>
            </a:endParaRPr>
          </a:p>
        </p:txBody>
      </p:sp>
      <p:sp>
        <p:nvSpPr>
          <p:cNvPr id="32" name="Text 30"/>
          <p:cNvSpPr/>
          <p:nvPr/>
        </p:nvSpPr>
        <p:spPr>
          <a:xfrm>
            <a:off x="548640" y="6035040"/>
            <a:ext cx="9144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50" normalizeH="0" baseline="0" noProof="0">
                <a:ln>
                  <a:noFill/>
                </a:ln>
                <a:effectLst/>
                <a:uLnTx/>
                <a:uFillTx/>
                <a:latin typeface="Arial" pitchFamily="34" charset="0"/>
                <a:ea typeface="Arial Black" pitchFamily="34" charset="-122"/>
                <a:cs typeface="Arial Black" pitchFamily="34" charset="-120"/>
              </a:rPr>
              <a:t>COOL</a:t>
            </a:r>
            <a:endParaRPr kumimoji="0" lang="en-US" sz="900" b="0" i="0" u="none" strike="noStrike" kern="1200" cap="none" spc="0" normalizeH="0" baseline="0" noProof="0">
              <a:ln>
                <a:noFill/>
              </a:ln>
              <a:effectLst/>
              <a:uLnTx/>
              <a:uFillTx/>
              <a:latin typeface="Arial"/>
              <a:ea typeface="+mn-ea"/>
              <a:cs typeface="+mn-cs"/>
            </a:endParaRPr>
          </a:p>
        </p:txBody>
      </p:sp>
      <p:sp>
        <p:nvSpPr>
          <p:cNvPr id="33" name="Text 31"/>
          <p:cNvSpPr/>
          <p:nvPr/>
        </p:nvSpPr>
        <p:spPr>
          <a:xfrm>
            <a:off x="5180990" y="6035040"/>
            <a:ext cx="91440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50" normalizeH="0" baseline="0" noProof="0">
                <a:ln>
                  <a:noFill/>
                </a:ln>
                <a:effectLst/>
                <a:uLnTx/>
                <a:uFillTx/>
                <a:latin typeface="Arial" pitchFamily="34" charset="0"/>
                <a:ea typeface="Arial Black" pitchFamily="34" charset="-122"/>
                <a:cs typeface="Arial Black" pitchFamily="34" charset="-120"/>
              </a:rPr>
              <a:t>WARM</a:t>
            </a:r>
            <a:endParaRPr kumimoji="0" lang="en-US" sz="900" b="0" i="0" u="none" strike="noStrike" kern="1200" cap="none" spc="0" normalizeH="0" baseline="0" noProof="0">
              <a:ln>
                <a:noFill/>
              </a:ln>
              <a:effectLst/>
              <a:uLnTx/>
              <a:uFillTx/>
              <a:latin typeface="Arial"/>
              <a:ea typeface="+mn-ea"/>
              <a:cs typeface="+mn-cs"/>
            </a:endParaRPr>
          </a:p>
        </p:txBody>
      </p:sp>
      <p:sp>
        <p:nvSpPr>
          <p:cNvPr id="34" name="Text 32"/>
          <p:cNvSpPr/>
          <p:nvPr/>
        </p:nvSpPr>
        <p:spPr>
          <a:xfrm>
            <a:off x="8105242" y="6035040"/>
            <a:ext cx="91440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50" normalizeH="0" baseline="0" noProof="0">
                <a:ln>
                  <a:noFill/>
                </a:ln>
                <a:effectLst/>
                <a:uLnTx/>
                <a:uFillTx/>
                <a:latin typeface="Arial" pitchFamily="34" charset="0"/>
                <a:ea typeface="Arial Black" pitchFamily="34" charset="-122"/>
                <a:cs typeface="Arial Black" pitchFamily="34" charset="-120"/>
              </a:rPr>
              <a:t>HOT</a:t>
            </a:r>
            <a:endParaRPr kumimoji="0" lang="en-US" sz="900" b="0" i="0" u="none" strike="noStrike" kern="1200" cap="none" spc="0" normalizeH="0" baseline="0" noProof="0">
              <a:ln>
                <a:noFill/>
              </a:ln>
              <a:effectLst/>
              <a:uLnTx/>
              <a:uFillTx/>
              <a:latin typeface="Arial"/>
              <a:ea typeface="+mn-ea"/>
              <a:cs typeface="+mn-cs"/>
            </a:endParaRPr>
          </a:p>
        </p:txBody>
      </p:sp>
      <p:pic>
        <p:nvPicPr>
          <p:cNvPr id="35" name="Image 0" descr="preencoded.png"/>
          <p:cNvPicPr>
            <a:picLocks noChangeAspect="1"/>
          </p:cNvPicPr>
          <p:nvPr/>
        </p:nvPicPr>
        <p:blipFill>
          <a:blip r:embed="rId3"/>
          <a:stretch>
            <a:fillRect/>
          </a:stretch>
        </p:blipFill>
        <p:spPr>
          <a:xfrm>
            <a:off x="11292840" y="5623560"/>
            <a:ext cx="274320" cy="274320"/>
          </a:xfrm>
          <a:prstGeom prst="rect">
            <a:avLst/>
          </a:prstGeom>
          <a:solidFill>
            <a:schemeClr val="bg1"/>
          </a:solidFill>
          <a:ln>
            <a:solidFill>
              <a:schemeClr val="bg1"/>
            </a:solidFill>
          </a:ln>
        </p:spPr>
      </p:pic>
      <p:sp>
        <p:nvSpPr>
          <p:cNvPr id="36" name="Text 33"/>
          <p:cNvSpPr/>
          <p:nvPr/>
        </p:nvSpPr>
        <p:spPr>
          <a:xfrm>
            <a:off x="10129723" y="6035040"/>
            <a:ext cx="155448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50" normalizeH="0" baseline="0" noProof="0">
                <a:ln>
                  <a:noFill/>
                </a:ln>
                <a:effectLst/>
                <a:uLnTx/>
                <a:uFillTx/>
                <a:latin typeface="Arial" pitchFamily="34" charset="0"/>
                <a:ea typeface="Arial Black" pitchFamily="34" charset="-122"/>
                <a:cs typeface="Arial Black" pitchFamily="34" charset="-120"/>
              </a:rPr>
              <a:t>ACTIVATED!</a:t>
            </a:r>
            <a:endParaRPr kumimoji="0" lang="en-US" sz="900" b="0" i="0" u="none" strike="noStrike" kern="1200" cap="none" spc="0" normalizeH="0" baseline="0" noProof="0">
              <a:ln>
                <a:noFill/>
              </a:ln>
              <a:effectLst/>
              <a:uLnTx/>
              <a:uFillTx/>
              <a:latin typeface="Arial"/>
              <a:ea typeface="+mn-ea"/>
              <a:cs typeface="+mn-cs"/>
            </a:endParaRPr>
          </a:p>
        </p:txBody>
      </p:sp>
      <p:sp>
        <p:nvSpPr>
          <p:cNvPr id="37" name="Text 34"/>
          <p:cNvSpPr/>
          <p:nvPr/>
        </p:nvSpPr>
        <p:spPr>
          <a:xfrm>
            <a:off x="457200" y="6263640"/>
            <a:ext cx="11247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effectLst/>
                <a:uLnTx/>
                <a:uFillTx/>
                <a:latin typeface="Arial" pitchFamily="34" charset="0"/>
                <a:ea typeface="Palatino Linotype" pitchFamily="34" charset="-122"/>
                <a:cs typeface="Palatino Linotype" pitchFamily="34" charset="-120"/>
              </a:rPr>
              <a:t>As heat grows and its weight is high, the weighted sum crosses the threshold — you're activated!</a:t>
            </a:r>
            <a:endParaRPr kumimoji="0" lang="en-US" sz="1200" b="0" i="0" u="none" strike="noStrike" kern="1200" cap="none" spc="0" normalizeH="0" baseline="0" noProof="0">
              <a:ln>
                <a:noFill/>
              </a:ln>
              <a:effectLst/>
              <a:uLnTx/>
              <a:uFillTx/>
              <a:latin typeface="Arial"/>
              <a:ea typeface="+mn-ea"/>
              <a:cs typeface="+mn-cs"/>
            </a:endParaRPr>
          </a:p>
        </p:txBody>
      </p:sp>
      <p:pic>
        <p:nvPicPr>
          <p:cNvPr id="42" name="Picture 41">
            <a:extLst>
              <a:ext uri="{FF2B5EF4-FFF2-40B4-BE49-F238E27FC236}">
                <a16:creationId xmlns:a16="http://schemas.microsoft.com/office/drawing/2014/main" id="{929FEBBB-9548-89D7-64E3-AE5CF555641E}"/>
              </a:ext>
            </a:extLst>
          </p:cNvPr>
          <p:cNvPicPr>
            <a:picLocks noChangeAspect="1"/>
          </p:cNvPicPr>
          <p:nvPr/>
        </p:nvPicPr>
        <p:blipFill>
          <a:blip r:embed="rId4"/>
          <a:stretch>
            <a:fillRect/>
          </a:stretch>
        </p:blipFill>
        <p:spPr>
          <a:xfrm>
            <a:off x="8854442" y="2116455"/>
            <a:ext cx="2880360" cy="2880360"/>
          </a:xfrm>
          <a:prstGeom prst="rect">
            <a:avLst/>
          </a:prstGeom>
        </p:spPr>
      </p:pic>
      <p:sp>
        <p:nvSpPr>
          <p:cNvPr id="4" name="Title 3">
            <a:extLst>
              <a:ext uri="{FF2B5EF4-FFF2-40B4-BE49-F238E27FC236}">
                <a16:creationId xmlns:a16="http://schemas.microsoft.com/office/drawing/2014/main" id="{96EBF07D-6A3A-C576-08DE-67BCCA91C5AB}"/>
              </a:ext>
            </a:extLst>
          </p:cNvPr>
          <p:cNvSpPr>
            <a:spLocks noGrp="1"/>
          </p:cNvSpPr>
          <p:nvPr>
            <p:ph type="title"/>
          </p:nvPr>
        </p:nvSpPr>
        <p:spPr>
          <a:xfrm>
            <a:off x="381000" y="342900"/>
            <a:ext cx="11430000" cy="443198"/>
          </a:xfrm>
        </p:spPr>
        <p:txBody>
          <a:bodyPr/>
          <a:lstStyle/>
          <a:p>
            <a:r>
              <a:rPr lang="en-US" dirty="0">
                <a:solidFill>
                  <a:schemeClr val="tx1"/>
                </a:solidFill>
              </a:rPr>
              <a:t>Core concept of LLMs: Models have different weights</a:t>
            </a:r>
          </a:p>
        </p:txBody>
      </p:sp>
      <p:sp>
        <p:nvSpPr>
          <p:cNvPr id="40" name="Subtitle 39">
            <a:extLst>
              <a:ext uri="{FF2B5EF4-FFF2-40B4-BE49-F238E27FC236}">
                <a16:creationId xmlns:a16="http://schemas.microsoft.com/office/drawing/2014/main" id="{F23BFD82-848B-D61C-0E9A-52E673516E94}"/>
              </a:ext>
            </a:extLst>
          </p:cNvPr>
          <p:cNvSpPr>
            <a:spLocks noGrp="1"/>
          </p:cNvSpPr>
          <p:nvPr>
            <p:ph type="subTitle" idx="1"/>
          </p:nvPr>
        </p:nvSpPr>
        <p:spPr>
          <a:xfrm>
            <a:off x="381000" y="857250"/>
            <a:ext cx="11430000" cy="984885"/>
          </a:xfrm>
        </p:spPr>
        <p:txBody>
          <a:bodyPr/>
          <a:lstStyle/>
          <a:p>
            <a:r>
              <a:rPr lang="en-US">
                <a:solidFill>
                  <a:schemeClr val="tx1"/>
                </a:solidFill>
              </a:rPr>
              <a:t>Weights are the learned numbers that decide how much each input matters. Weights are learned through repeated experience — every burn, every near-miss, every safe touch teaches the system to pay more attention to 'hot' and less to noise.  For LLMs the examples are text passages.</a:t>
            </a:r>
          </a:p>
          <a:p>
            <a:endParaRPr lang="en-US">
              <a:solidFill>
                <a:schemeClr val="tx1"/>
              </a:solidFill>
            </a:endParaRPr>
          </a:p>
        </p:txBody>
      </p:sp>
      <p:sp>
        <p:nvSpPr>
          <p:cNvPr id="43" name="Harvard Footer"/>
          <p:cNvSpPr txBox="1"/>
          <p:nvPr/>
        </p:nvSpPr>
        <p:spPr>
          <a:xfrm>
            <a:off x="137319" y="653748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44" name="Harvard Page Number"/>
          <p:cNvSpPr txBox="1"/>
          <p:nvPr/>
        </p:nvSpPr>
        <p:spPr>
          <a:xfrm>
            <a:off x="9901777" y="6537483"/>
            <a:ext cx="324104" cy="274638"/>
          </a:xfrm>
          <a:prstGeom prst="rect">
            <a:avLst/>
          </a:prstGeom>
          <a:noFill/>
        </p:spPr>
        <p:txBody>
          <a:bodyPr wrap="none" lIns="0" tIns="0" rIns="0" bIns="0">
            <a:noAutofit/>
          </a:bodyPr>
          <a:lstStyle/>
          <a:p>
            <a:pPr algn="r"/>
            <a:fld id="{67001AC3-FA37-487E-8D98-E4BAAE029847}" type="slidenum">
              <a:rPr lang="en-US" sz="1000">
                <a:solidFill>
                  <a:srgbClr val="8996A0"/>
                </a:solidFill>
                <a:latin typeface="Arial"/>
              </a:rPr>
              <a:t>10</a:t>
            </a:fld>
            <a:endParaRPr lang="en-US" sz="1000">
              <a:solidFill>
                <a:srgbClr val="8996A0"/>
              </a:solidFill>
              <a:latin typeface="Arial"/>
            </a:endParaRPr>
          </a:p>
        </p:txBody>
      </p:sp>
      <p:sp>
        <p:nvSpPr>
          <p:cNvPr id="2" name="Shape 4">
            <a:extLst>
              <a:ext uri="{FF2B5EF4-FFF2-40B4-BE49-F238E27FC236}">
                <a16:creationId xmlns:a16="http://schemas.microsoft.com/office/drawing/2014/main" id="{D59F60C4-1DF2-F424-115C-916ACC4D382E}"/>
              </a:ext>
            </a:extLst>
          </p:cNvPr>
          <p:cNvSpPr/>
          <p:nvPr/>
        </p:nvSpPr>
        <p:spPr>
          <a:xfrm flipV="1">
            <a:off x="3467872" y="4153594"/>
            <a:ext cx="1583103" cy="829886"/>
          </a:xfrm>
          <a:prstGeom prst="line">
            <a:avLst/>
          </a:prstGeom>
          <a:noFill/>
          <a:ln w="12700">
            <a:solidFill>
              <a:srgbClr val="99999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3" name="Shape 13">
            <a:extLst>
              <a:ext uri="{FF2B5EF4-FFF2-40B4-BE49-F238E27FC236}">
                <a16:creationId xmlns:a16="http://schemas.microsoft.com/office/drawing/2014/main" id="{31757560-E280-2820-1612-4BCAC4DF6D10}"/>
              </a:ext>
            </a:extLst>
          </p:cNvPr>
          <p:cNvSpPr/>
          <p:nvPr/>
        </p:nvSpPr>
        <p:spPr>
          <a:xfrm>
            <a:off x="3791015" y="4495896"/>
            <a:ext cx="640080" cy="256032"/>
          </a:xfrm>
          <a:prstGeom prst="roundRect">
            <a:avLst>
              <a:gd name="adj" fmla="val 14286"/>
            </a:avLst>
          </a:prstGeom>
          <a:solidFill>
            <a:srgbClr val="FFFFFF"/>
          </a:solidFill>
          <a:ln w="9525">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20" name="Text 18"/>
          <p:cNvSpPr/>
          <p:nvPr/>
        </p:nvSpPr>
        <p:spPr>
          <a:xfrm>
            <a:off x="3685340" y="4495896"/>
            <a:ext cx="7772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Arial" pitchFamily="34" charset="0"/>
                <a:ea typeface="Arial Black" pitchFamily="34" charset="-122"/>
                <a:cs typeface="Arial Black" pitchFamily="34" charset="-120"/>
              </a:rPr>
              <a:t>× 9.5</a:t>
            </a:r>
            <a:endParaRPr kumimoji="0" lang="en-US" sz="1200" b="0" i="0" u="none" strike="noStrike" kern="1200" cap="none" spc="0" normalizeH="0" baseline="0" noProof="0">
              <a:ln>
                <a:noFill/>
              </a:ln>
              <a:effectLst/>
              <a:uLnTx/>
              <a:uFillTx/>
              <a:latin typeface="Arial"/>
              <a:ea typeface="+mn-ea"/>
              <a:cs typeface="+mn-cs"/>
            </a:endParaRPr>
          </a:p>
        </p:txBody>
      </p:sp>
      <p:sp>
        <p:nvSpPr>
          <p:cNvPr id="38" name="Rectangle 37">
            <a:extLst>
              <a:ext uri="{FF2B5EF4-FFF2-40B4-BE49-F238E27FC236}">
                <a16:creationId xmlns:a16="http://schemas.microsoft.com/office/drawing/2014/main" id="{D1609D2D-1080-2339-5AC9-83887A5CEBDB}"/>
              </a:ext>
            </a:extLst>
          </p:cNvPr>
          <p:cNvSpPr/>
          <p:nvPr/>
        </p:nvSpPr>
        <p:spPr>
          <a:xfrm>
            <a:off x="3822500" y="5532120"/>
            <a:ext cx="3382972" cy="457200"/>
          </a:xfrm>
          <a:prstGeom prst="rect">
            <a:avLst/>
          </a:prstGeom>
          <a:solidFill>
            <a:schemeClr val="accent1">
              <a:lumMod val="40000"/>
              <a:lumOff val="60000"/>
            </a:schemeClr>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2"/>
              </a:solidFill>
            </a:endParaRPr>
          </a:p>
        </p:txBody>
      </p:sp>
      <p:sp>
        <p:nvSpPr>
          <p:cNvPr id="39" name="Rectangle 38">
            <a:extLst>
              <a:ext uri="{FF2B5EF4-FFF2-40B4-BE49-F238E27FC236}">
                <a16:creationId xmlns:a16="http://schemas.microsoft.com/office/drawing/2014/main" id="{F6EBB51C-4EF8-D1E8-71DF-AC7EF8CF0522}"/>
              </a:ext>
            </a:extLst>
          </p:cNvPr>
          <p:cNvSpPr/>
          <p:nvPr/>
        </p:nvSpPr>
        <p:spPr>
          <a:xfrm>
            <a:off x="7187800" y="5532120"/>
            <a:ext cx="2811780" cy="457200"/>
          </a:xfrm>
          <a:prstGeom prst="rect">
            <a:avLst/>
          </a:prstGeom>
          <a:solidFill>
            <a:schemeClr val="accent1">
              <a:lumMod val="60000"/>
              <a:lumOff val="40000"/>
            </a:schemeClr>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2"/>
              </a:solidFill>
            </a:endParaRPr>
          </a:p>
        </p:txBody>
      </p:sp>
      <p:sp>
        <p:nvSpPr>
          <p:cNvPr id="41" name="Rectangle 40">
            <a:extLst>
              <a:ext uri="{FF2B5EF4-FFF2-40B4-BE49-F238E27FC236}">
                <a16:creationId xmlns:a16="http://schemas.microsoft.com/office/drawing/2014/main" id="{7EBEB5A5-A262-3A3E-C2F7-74AA45A01C5E}"/>
              </a:ext>
            </a:extLst>
          </p:cNvPr>
          <p:cNvSpPr/>
          <p:nvPr/>
        </p:nvSpPr>
        <p:spPr>
          <a:xfrm>
            <a:off x="9999580" y="5532120"/>
            <a:ext cx="1713576" cy="457200"/>
          </a:xfrm>
          <a:prstGeom prst="rect">
            <a:avLst/>
          </a:prstGeom>
          <a:solidFill>
            <a:srgbClr val="C0000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F185-4135-2419-45B9-69DB0B46CDB0}"/>
              </a:ext>
            </a:extLst>
          </p:cNvPr>
          <p:cNvSpPr>
            <a:spLocks noGrp="1"/>
          </p:cNvSpPr>
          <p:nvPr>
            <p:ph type="title"/>
          </p:nvPr>
        </p:nvSpPr>
        <p:spPr>
          <a:xfrm>
            <a:off x="301099" y="182880"/>
            <a:ext cx="11678568" cy="792000"/>
          </a:xfrm>
        </p:spPr>
        <p:txBody>
          <a:bodyPr>
            <a:noAutofit/>
          </a:bodyPr>
          <a:lstStyle/>
          <a:p>
            <a:r>
              <a:rPr lang="en-US" sz="2000" dirty="0">
                <a:solidFill>
                  <a:srgbClr val="1E1E1E"/>
                </a:solidFill>
              </a:rPr>
              <a:t>Words are represented as vectors of numbers (embeddings) that place similar meanings near each other, learned from how tokens co-occur across training data. The model's weights are the learned parameters that predict the next token.</a:t>
            </a:r>
          </a:p>
        </p:txBody>
      </p:sp>
      <p:pic>
        <p:nvPicPr>
          <p:cNvPr id="3" name="Picture 2">
            <a:extLst>
              <a:ext uri="{FF2B5EF4-FFF2-40B4-BE49-F238E27FC236}">
                <a16:creationId xmlns:a16="http://schemas.microsoft.com/office/drawing/2014/main" id="{7477E037-24DB-5A79-2948-4AD6C3247453}"/>
              </a:ext>
            </a:extLst>
          </p:cNvPr>
          <p:cNvPicPr>
            <a:picLocks noChangeAspect="1"/>
          </p:cNvPicPr>
          <p:nvPr/>
        </p:nvPicPr>
        <p:blipFill>
          <a:blip r:embed="rId2"/>
          <a:stretch>
            <a:fillRect/>
          </a:stretch>
        </p:blipFill>
        <p:spPr>
          <a:xfrm>
            <a:off x="1759553" y="1628117"/>
            <a:ext cx="8186951" cy="4390996"/>
          </a:xfrm>
          <a:prstGeom prst="rect">
            <a:avLst/>
          </a:prstGeom>
        </p:spPr>
      </p:pic>
      <p:sp>
        <p:nvSpPr>
          <p:cNvPr id="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5" name="Harvard Page Number"/>
          <p:cNvSpPr txBox="1"/>
          <p:nvPr/>
        </p:nvSpPr>
        <p:spPr>
          <a:xfrm>
            <a:off x="11730577" y="6446043"/>
            <a:ext cx="324104" cy="274638"/>
          </a:xfrm>
          <a:prstGeom prst="rect">
            <a:avLst/>
          </a:prstGeom>
          <a:noFill/>
        </p:spPr>
        <p:txBody>
          <a:bodyPr wrap="none" lIns="0" tIns="0" rIns="0" bIns="0">
            <a:noAutofit/>
          </a:bodyPr>
          <a:lstStyle/>
          <a:p>
            <a:pPr algn="r"/>
            <a:fld id="{CC5343AF-CC21-4076-92DC-D431CC040AA9}" type="slidenum">
              <a:rPr lang="en-US" sz="1000">
                <a:solidFill>
                  <a:srgbClr val="8996A0"/>
                </a:solidFill>
                <a:latin typeface="Arial"/>
              </a:rPr>
              <a:t>11</a:t>
            </a:fld>
            <a:endParaRPr lang="en-US" sz="1000">
              <a:solidFill>
                <a:srgbClr val="8996A0"/>
              </a:solidFill>
              <a:latin typeface="Arial"/>
            </a:endParaRPr>
          </a:p>
        </p:txBody>
      </p:sp>
    </p:spTree>
    <p:extLst>
      <p:ext uri="{BB962C8B-B14F-4D97-AF65-F5344CB8AC3E}">
        <p14:creationId xmlns:p14="http://schemas.microsoft.com/office/powerpoint/2010/main" val="399856340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418C0-CBAE-06D8-0E22-E1A7546DE6E5}"/>
              </a:ext>
            </a:extLst>
          </p:cNvPr>
          <p:cNvSpPr>
            <a:spLocks noGrp="1"/>
          </p:cNvSpPr>
          <p:nvPr>
            <p:ph type="title"/>
          </p:nvPr>
        </p:nvSpPr>
        <p:spPr>
          <a:xfrm>
            <a:off x="301099" y="182880"/>
            <a:ext cx="11605323" cy="792000"/>
          </a:xfrm>
        </p:spPr>
        <p:txBody>
          <a:bodyPr>
            <a:noAutofit/>
          </a:bodyPr>
          <a:lstStyle/>
          <a:p>
            <a:r>
              <a:rPr lang="en-US" sz="2800" b="0" dirty="0">
                <a:solidFill>
                  <a:srgbClr val="1E1E1E"/>
                </a:solidFill>
              </a:rPr>
              <a:t>In a hyperspace words &amp; concepts are identified in close proximity.</a:t>
            </a:r>
          </a:p>
        </p:txBody>
      </p:sp>
      <p:pic>
        <p:nvPicPr>
          <p:cNvPr id="3" name="Picture 2">
            <a:extLst>
              <a:ext uri="{FF2B5EF4-FFF2-40B4-BE49-F238E27FC236}">
                <a16:creationId xmlns:a16="http://schemas.microsoft.com/office/drawing/2014/main" id="{2350FDA9-64A5-6975-8CB9-F008D6F5691C}"/>
              </a:ext>
            </a:extLst>
          </p:cNvPr>
          <p:cNvPicPr>
            <a:picLocks noChangeAspect="1"/>
          </p:cNvPicPr>
          <p:nvPr/>
        </p:nvPicPr>
        <p:blipFill>
          <a:blip r:embed="rId2"/>
          <a:stretch>
            <a:fillRect/>
          </a:stretch>
        </p:blipFill>
        <p:spPr>
          <a:xfrm>
            <a:off x="422876" y="1445308"/>
            <a:ext cx="7803979" cy="3967385"/>
          </a:xfrm>
          <a:prstGeom prst="rect">
            <a:avLst/>
          </a:prstGeom>
        </p:spPr>
      </p:pic>
      <p:sp>
        <p:nvSpPr>
          <p:cNvPr id="4" name="Rectangle 3">
            <a:extLst>
              <a:ext uri="{FF2B5EF4-FFF2-40B4-BE49-F238E27FC236}">
                <a16:creationId xmlns:a16="http://schemas.microsoft.com/office/drawing/2014/main" id="{DC6D6D8F-0382-C020-39A8-5B60D2E953B8}"/>
              </a:ext>
            </a:extLst>
          </p:cNvPr>
          <p:cNvSpPr/>
          <p:nvPr/>
        </p:nvSpPr>
        <p:spPr>
          <a:xfrm>
            <a:off x="422876" y="5831121"/>
            <a:ext cx="11346248" cy="369330"/>
          </a:xfrm>
          <a:prstGeom prst="rect">
            <a:avLst/>
          </a:prstGeom>
          <a:solidFill>
            <a:schemeClr val="accent1"/>
          </a:solidFill>
          <a:ln w="25400" cap="flat">
            <a:solidFill>
              <a:schemeClr val="accent1"/>
            </a:solidFill>
            <a:prstDash val="solid"/>
            <a:round/>
          </a:ln>
          <a:effectLst>
            <a:outerShdw blurRad="38100" dist="23000" dir="5400000" rotWithShape="0">
              <a:srgbClr val="1E1E1E">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spAutoFit/>
          </a:bodyPr>
          <a:lstStyle/>
          <a:p>
            <a:pPr defTabSz="1219170" hangingPunct="0"/>
            <a:r>
              <a:rPr lang="en-US" sz="1600" kern="0" dirty="0">
                <a:solidFill>
                  <a:schemeClr val="bg1"/>
                </a:solidFill>
                <a:latin typeface="Arial"/>
                <a:ea typeface="+mj-ea"/>
                <a:cs typeface="Arial"/>
                <a:sym typeface="Arial"/>
              </a:rPr>
              <a:t>Example: OpenAI embedding models will create 1536 sixteen digit numbers to represent a token (~4 characters).</a:t>
            </a:r>
          </a:p>
        </p:txBody>
      </p:sp>
      <p:sp>
        <p:nvSpPr>
          <p:cNvPr id="5"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6" name="Harvard Page Number"/>
          <p:cNvSpPr txBox="1"/>
          <p:nvPr/>
        </p:nvSpPr>
        <p:spPr>
          <a:xfrm>
            <a:off x="11730577" y="6446043"/>
            <a:ext cx="324104" cy="274638"/>
          </a:xfrm>
          <a:prstGeom prst="rect">
            <a:avLst/>
          </a:prstGeom>
          <a:noFill/>
        </p:spPr>
        <p:txBody>
          <a:bodyPr wrap="none" lIns="0" tIns="0" rIns="0" bIns="0">
            <a:noAutofit/>
          </a:bodyPr>
          <a:lstStyle/>
          <a:p>
            <a:pPr algn="r"/>
            <a:fld id="{BDD106AD-C229-4867-88C3-1696F892D668}" type="slidenum">
              <a:rPr lang="en-US" sz="1000">
                <a:solidFill>
                  <a:srgbClr val="8996A0"/>
                </a:solidFill>
                <a:latin typeface="Arial"/>
              </a:rPr>
              <a:t>12</a:t>
            </a:fld>
            <a:endParaRPr lang="en-US" sz="1000">
              <a:solidFill>
                <a:srgbClr val="8996A0"/>
              </a:solidFill>
              <a:latin typeface="Arial"/>
            </a:endParaRPr>
          </a:p>
        </p:txBody>
      </p:sp>
    </p:spTree>
    <p:extLst>
      <p:ext uri="{BB962C8B-B14F-4D97-AF65-F5344CB8AC3E}">
        <p14:creationId xmlns:p14="http://schemas.microsoft.com/office/powerpoint/2010/main" val="395784070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56F32-4C13-54B2-0E9C-73C099E4C230}"/>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0B26346E-8DA2-3E68-37B8-1DC20160EFB1}"/>
              </a:ext>
            </a:extLst>
          </p:cNvPr>
          <p:cNvSpPr txBox="1"/>
          <p:nvPr/>
        </p:nvSpPr>
        <p:spPr>
          <a:xfrm>
            <a:off x="572551" y="2034185"/>
            <a:ext cx="1718676" cy="523220"/>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dirty="0">
                <a:solidFill>
                  <a:srgbClr val="96968C"/>
                </a:solidFill>
                <a:latin typeface="Arial" panose="02110004020202020204"/>
              </a:rPr>
              <a:t>SYS </a:t>
            </a:r>
            <a:r>
              <a:rPr kumimoji="0" lang="en-US" sz="1400" b="0" i="0" u="none" strike="noStrike" kern="1200" cap="none" spc="0" normalizeH="0" baseline="0" noProof="0" dirty="0">
                <a:ln>
                  <a:noFill/>
                </a:ln>
                <a:solidFill>
                  <a:srgbClr val="96968C"/>
                </a:solidFill>
                <a:effectLst/>
                <a:uLnTx/>
                <a:uFillTx/>
                <a:latin typeface="Arial" panose="02110004020202020204"/>
                <a:ea typeface="+mn-ea"/>
                <a:cs typeface="+mn-cs"/>
              </a:rPr>
              <a:t>PROMPT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400" dirty="0">
                <a:solidFill>
                  <a:srgbClr val="96968C"/>
                </a:solidFill>
                <a:latin typeface="Arial" panose="02110004020202020204"/>
              </a:rPr>
              <a:t>&amp; USER PROMPT</a:t>
            </a:r>
            <a:r>
              <a:rPr kumimoji="0" lang="en-US" sz="1400" b="0" i="0" u="none" strike="noStrike" kern="1200" cap="none" spc="0" normalizeH="0" baseline="0" noProof="0" dirty="0">
                <a:ln>
                  <a:noFill/>
                </a:ln>
                <a:solidFill>
                  <a:srgbClr val="96968C"/>
                </a:solidFill>
                <a:effectLst/>
                <a:uLnTx/>
                <a:uFillTx/>
                <a:latin typeface="Arial" panose="02110004020202020204"/>
                <a:ea typeface="+mn-ea"/>
                <a:cs typeface="+mn-cs"/>
              </a:rPr>
              <a:t> </a:t>
            </a:r>
          </a:p>
        </p:txBody>
      </p:sp>
      <p:sp>
        <p:nvSpPr>
          <p:cNvPr id="16" name="TextBox 15">
            <a:extLst>
              <a:ext uri="{FF2B5EF4-FFF2-40B4-BE49-F238E27FC236}">
                <a16:creationId xmlns:a16="http://schemas.microsoft.com/office/drawing/2014/main" id="{85F2FD13-310E-43AD-18D1-085ADC7D6BA5}"/>
              </a:ext>
            </a:extLst>
          </p:cNvPr>
          <p:cNvSpPr txBox="1"/>
          <p:nvPr/>
        </p:nvSpPr>
        <p:spPr>
          <a:xfrm>
            <a:off x="665019" y="3287328"/>
            <a:ext cx="1757352" cy="7834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96968C"/>
                </a:solidFill>
                <a:effectLst/>
                <a:uLnTx/>
                <a:uFillTx/>
                <a:latin typeface="Arial" panose="02110004020202020204"/>
                <a:ea typeface="+mn-ea"/>
                <a:cs typeface="+mn-cs"/>
              </a:rPr>
              <a:t>THE MODEL IN ACTION</a:t>
            </a:r>
            <a:endParaRPr kumimoji="0" lang="en-US" sz="1400" b="0" i="0" u="none" strike="noStrike" kern="1200" cap="none" spc="0" normalizeH="0" baseline="0" noProof="0">
              <a:ln>
                <a:noFill/>
              </a:ln>
              <a:solidFill>
                <a:srgbClr val="FFFFFF"/>
              </a:solidFill>
              <a:effectLst/>
              <a:uLnTx/>
              <a:uFillTx/>
              <a:latin typeface="Arial" panose="0211000402020202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110004020202020204"/>
                <a:ea typeface="+mn-ea"/>
                <a:cs typeface="+mn-cs"/>
              </a:rPr>
              <a:t>Rapidly predicting line by line to build the response</a:t>
            </a:r>
          </a:p>
        </p:txBody>
      </p:sp>
      <p:sp>
        <p:nvSpPr>
          <p:cNvPr id="17" name="TextBox 16">
            <a:extLst>
              <a:ext uri="{FF2B5EF4-FFF2-40B4-BE49-F238E27FC236}">
                <a16:creationId xmlns:a16="http://schemas.microsoft.com/office/drawing/2014/main" id="{A820ACF9-3BF2-4B2F-ECB8-6801FE4A5E5D}"/>
              </a:ext>
            </a:extLst>
          </p:cNvPr>
          <p:cNvSpPr txBox="1"/>
          <p:nvPr/>
        </p:nvSpPr>
        <p:spPr>
          <a:xfrm>
            <a:off x="665019" y="5885080"/>
            <a:ext cx="1757352"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96968C"/>
                </a:solidFill>
                <a:effectLst/>
                <a:uLnTx/>
                <a:uFillTx/>
                <a:latin typeface="Arial" panose="02110004020202020204"/>
                <a:ea typeface="+mn-ea"/>
                <a:cs typeface="+mn-cs"/>
              </a:rPr>
              <a:t>OUTPUT</a:t>
            </a:r>
            <a:endParaRPr kumimoji="0" lang="en-US" sz="1400" b="0" i="0" u="none" strike="noStrike" kern="1200" cap="none" spc="0" normalizeH="0" baseline="0" noProof="0">
              <a:ln>
                <a:noFill/>
              </a:ln>
              <a:solidFill>
                <a:srgbClr val="FFFFFF"/>
              </a:solidFill>
              <a:effectLst/>
              <a:uLnTx/>
              <a:uFillTx/>
              <a:latin typeface="Arial" panose="0211000402020202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110004020202020204"/>
                <a:ea typeface="+mn-ea"/>
                <a:cs typeface="+mn-cs"/>
              </a:rPr>
              <a:t>An original output based on what it’s learned</a:t>
            </a:r>
          </a:p>
        </p:txBody>
      </p:sp>
      <p:pic>
        <p:nvPicPr>
          <p:cNvPr id="18" name="Picture 2">
            <a:extLst>
              <a:ext uri="{FF2B5EF4-FFF2-40B4-BE49-F238E27FC236}">
                <a16:creationId xmlns:a16="http://schemas.microsoft.com/office/drawing/2014/main" id="{03485B61-32FB-7575-37F2-B73B65966FB0}"/>
              </a:ext>
            </a:extLst>
          </p:cNvPr>
          <p:cNvPicPr>
            <a:picLocks noChangeAspect="1" noChangeArrowheads="1"/>
          </p:cNvPicPr>
          <p:nvPr/>
        </p:nvPicPr>
        <p:blipFill>
          <a:blip r:embed="rId5"/>
          <a:srcRect/>
          <a:stretch/>
        </p:blipFill>
        <p:spPr bwMode="auto">
          <a:xfrm>
            <a:off x="2506022" y="6006512"/>
            <a:ext cx="7517529" cy="68046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6398869E-92FE-9A3D-17C6-DBFBA4B65189}"/>
              </a:ext>
            </a:extLst>
          </p:cNvPr>
          <p:cNvPicPr>
            <a:picLocks noChangeAspect="1"/>
          </p:cNvPicPr>
          <p:nvPr/>
        </p:nvPicPr>
        <p:blipFill>
          <a:blip r:embed="rId6"/>
          <a:stretch>
            <a:fillRect/>
          </a:stretch>
        </p:blipFill>
        <p:spPr>
          <a:xfrm>
            <a:off x="2506022" y="2609764"/>
            <a:ext cx="5031319" cy="202061"/>
          </a:xfrm>
          <a:prstGeom prst="rect">
            <a:avLst/>
          </a:prstGeom>
        </p:spPr>
      </p:pic>
      <p:pic>
        <p:nvPicPr>
          <p:cNvPr id="20" name="data center LLM 1">
            <a:hlinkClick r:id="" action="ppaction://media"/>
            <a:extLst>
              <a:ext uri="{FF2B5EF4-FFF2-40B4-BE49-F238E27FC236}">
                <a16:creationId xmlns:a16="http://schemas.microsoft.com/office/drawing/2014/main" id="{3658DAC2-2358-88FE-6F0C-AD7DBE226F50}"/>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924127" y="3338105"/>
            <a:ext cx="8362089" cy="1817549"/>
          </a:xfrm>
          <a:prstGeom prst="rect">
            <a:avLst/>
          </a:prstGeom>
        </p:spPr>
      </p:pic>
      <p:cxnSp>
        <p:nvCxnSpPr>
          <p:cNvPr id="23" name="Straight Connector 22">
            <a:extLst>
              <a:ext uri="{FF2B5EF4-FFF2-40B4-BE49-F238E27FC236}">
                <a16:creationId xmlns:a16="http://schemas.microsoft.com/office/drawing/2014/main" id="{7E94B25F-8F8B-9A1B-BE1C-28B93DB665C9}"/>
              </a:ext>
            </a:extLst>
          </p:cNvPr>
          <p:cNvCxnSpPr/>
          <p:nvPr/>
        </p:nvCxnSpPr>
        <p:spPr>
          <a:xfrm>
            <a:off x="2506022" y="3012622"/>
            <a:ext cx="45182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7281F4-FDEA-0BEE-A1C6-EF4FB1C08172}"/>
              </a:ext>
            </a:extLst>
          </p:cNvPr>
          <p:cNvCxnSpPr/>
          <p:nvPr/>
        </p:nvCxnSpPr>
        <p:spPr>
          <a:xfrm>
            <a:off x="2506022" y="5612207"/>
            <a:ext cx="45182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744DEEA2-56F9-E4E3-3A92-FF9FF109CD6F}"/>
              </a:ext>
            </a:extLst>
          </p:cNvPr>
          <p:cNvSpPr>
            <a:spLocks noGrp="1"/>
          </p:cNvSpPr>
          <p:nvPr>
            <p:ph type="title"/>
          </p:nvPr>
        </p:nvSpPr>
        <p:spPr>
          <a:xfrm>
            <a:off x="381000" y="342901"/>
            <a:ext cx="11430000" cy="1329595"/>
          </a:xfrm>
        </p:spPr>
        <p:txBody>
          <a:bodyPr/>
          <a:lstStyle/>
          <a:p>
            <a:r>
              <a:rPr lang="en-US" dirty="0">
                <a:solidFill>
                  <a:schemeClr val="accent1"/>
                </a:solidFill>
              </a:rPr>
              <a:t>In the background, models are made of weights making probabilistic predictions of the next token.</a:t>
            </a:r>
            <a:br>
              <a:rPr lang="en-US" dirty="0">
                <a:solidFill>
                  <a:schemeClr val="accent1"/>
                </a:solidFill>
              </a:rPr>
            </a:br>
            <a:endParaRPr lang="en-US" dirty="0">
              <a:solidFill>
                <a:schemeClr val="accent1"/>
              </a:solidFill>
            </a:endParaRPr>
          </a:p>
        </p:txBody>
      </p:sp>
      <p:pic>
        <p:nvPicPr>
          <p:cNvPr id="7" name="Picture 6">
            <a:extLst>
              <a:ext uri="{FF2B5EF4-FFF2-40B4-BE49-F238E27FC236}">
                <a16:creationId xmlns:a16="http://schemas.microsoft.com/office/drawing/2014/main" id="{6C12478D-0870-2F68-4257-1AB742534A8F}"/>
              </a:ext>
            </a:extLst>
          </p:cNvPr>
          <p:cNvPicPr>
            <a:picLocks noChangeAspect="1"/>
          </p:cNvPicPr>
          <p:nvPr/>
        </p:nvPicPr>
        <p:blipFill>
          <a:blip r:embed="rId8"/>
          <a:stretch>
            <a:fillRect/>
          </a:stretch>
        </p:blipFill>
        <p:spPr>
          <a:xfrm>
            <a:off x="2422371" y="1991761"/>
            <a:ext cx="7772400" cy="430446"/>
          </a:xfrm>
          <a:prstGeom prst="rect">
            <a:avLst/>
          </a:prstGeom>
        </p:spPr>
      </p:pic>
      <p:sp>
        <p:nvSpPr>
          <p:cNvPr id="25" name="Harvard Footer"/>
          <p:cNvSpPr txBox="1"/>
          <p:nvPr/>
        </p:nvSpPr>
        <p:spPr>
          <a:xfrm>
            <a:off x="137319" y="653748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Tree>
    <p:extLst>
      <p:ext uri="{BB962C8B-B14F-4D97-AF65-F5344CB8AC3E}">
        <p14:creationId xmlns:p14="http://schemas.microsoft.com/office/powerpoint/2010/main" val="413759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667"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0"/>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0"/>
                                        </p:tgtEl>
                                      </p:cBhvr>
                                    </p:cmd>
                                  </p:childTnLst>
                                </p:cTn>
                              </p:par>
                            </p:childTnLst>
                          </p:cTn>
                        </p:par>
                      </p:childTnLst>
                    </p:cTn>
                  </p:par>
                </p:childTnLst>
              </p:cTn>
              <p:nextCondLst>
                <p:cond evt="onClick" delay="0">
                  <p:tgtEl>
                    <p:spTgt spid="20"/>
                  </p:tgtEl>
                </p:cond>
              </p:nextCondLst>
            </p:seq>
            <p:video>
              <p:cMediaNode vol="80000">
                <p:cTn id="12" fill="hold" display="0">
                  <p:stCondLst>
                    <p:cond delay="indefinite"/>
                  </p:stCondLst>
                </p:cTn>
                <p:tgtEl>
                  <p:spTgt spid="20"/>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5F1C1-504F-E10E-3C60-6C5D0150594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839E9FC-1295-5B95-501B-6C0A5D46C3D4}"/>
              </a:ext>
            </a:extLst>
          </p:cNvPr>
          <p:cNvPicPr>
            <a:picLocks noChangeAspect="1"/>
          </p:cNvPicPr>
          <p:nvPr/>
        </p:nvPicPr>
        <p:blipFill>
          <a:blip r:embed="rId3"/>
          <a:srcRect/>
          <a:stretch/>
        </p:blipFill>
        <p:spPr>
          <a:xfrm>
            <a:off x="546109" y="1785424"/>
            <a:ext cx="4721905" cy="4407933"/>
          </a:xfrm>
          <a:prstGeom prst="rect">
            <a:avLst/>
          </a:prstGeom>
        </p:spPr>
      </p:pic>
      <p:sp>
        <p:nvSpPr>
          <p:cNvPr id="3" name="TextBox 2">
            <a:extLst>
              <a:ext uri="{FF2B5EF4-FFF2-40B4-BE49-F238E27FC236}">
                <a16:creationId xmlns:a16="http://schemas.microsoft.com/office/drawing/2014/main" id="{7F491AE1-EFB9-0456-5825-239B2D14A937}"/>
              </a:ext>
            </a:extLst>
          </p:cNvPr>
          <p:cNvSpPr txBox="1"/>
          <p:nvPr/>
        </p:nvSpPr>
        <p:spPr>
          <a:xfrm>
            <a:off x="491226" y="1477647"/>
            <a:ext cx="388121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96968C"/>
                </a:solidFill>
                <a:effectLst/>
                <a:uLnTx/>
                <a:uFillTx/>
                <a:latin typeface="Arial" panose="00000700000000000000" pitchFamily="2" charset="0"/>
                <a:ea typeface="+mn-ea"/>
                <a:cs typeface="+mn-cs"/>
              </a:rPr>
              <a:t>Prompt: A Data Center is</a:t>
            </a:r>
            <a:endParaRPr kumimoji="0" lang="en-AU" sz="1400" b="0" i="0" u="none" strike="noStrike" kern="1200" cap="none" spc="0" normalizeH="0" baseline="0" noProof="0">
              <a:ln>
                <a:noFill/>
              </a:ln>
              <a:solidFill>
                <a:srgbClr val="96968C"/>
              </a:solidFill>
              <a:effectLst/>
              <a:uLnTx/>
              <a:uFillTx/>
              <a:latin typeface="Arial" panose="00000700000000000000" pitchFamily="2" charset="0"/>
              <a:ea typeface="+mn-ea"/>
              <a:cs typeface="+mn-cs"/>
            </a:endParaRPr>
          </a:p>
        </p:txBody>
      </p:sp>
      <p:sp>
        <p:nvSpPr>
          <p:cNvPr id="4" name="TextBox 3">
            <a:extLst>
              <a:ext uri="{FF2B5EF4-FFF2-40B4-BE49-F238E27FC236}">
                <a16:creationId xmlns:a16="http://schemas.microsoft.com/office/drawing/2014/main" id="{6FD918B3-3A88-D1F4-CAB1-B49CBA8E643C}"/>
              </a:ext>
            </a:extLst>
          </p:cNvPr>
          <p:cNvSpPr txBox="1"/>
          <p:nvPr/>
        </p:nvSpPr>
        <p:spPr>
          <a:xfrm>
            <a:off x="6339943" y="1477647"/>
            <a:ext cx="388121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96968C"/>
                </a:solidFill>
                <a:effectLst/>
                <a:uLnTx/>
                <a:uFillTx/>
                <a:latin typeface="Arial" panose="00000700000000000000" pitchFamily="2" charset="0"/>
                <a:ea typeface="+mn-ea"/>
                <a:cs typeface="+mn-cs"/>
              </a:rPr>
              <a:t>Prompt: A Data Center is</a:t>
            </a:r>
            <a:endParaRPr kumimoji="0" lang="en-AU" sz="1400" b="0" i="0" u="none" strike="noStrike" kern="1200" cap="none" spc="0" normalizeH="0" baseline="0" noProof="0">
              <a:ln>
                <a:noFill/>
              </a:ln>
              <a:solidFill>
                <a:srgbClr val="96968C"/>
              </a:solidFill>
              <a:effectLst/>
              <a:uLnTx/>
              <a:uFillTx/>
              <a:latin typeface="Arial" panose="00000700000000000000" pitchFamily="2" charset="0"/>
              <a:ea typeface="+mn-ea"/>
              <a:cs typeface="+mn-cs"/>
            </a:endParaRPr>
          </a:p>
        </p:txBody>
      </p:sp>
      <p:pic>
        <p:nvPicPr>
          <p:cNvPr id="5" name="Picture 4">
            <a:extLst>
              <a:ext uri="{FF2B5EF4-FFF2-40B4-BE49-F238E27FC236}">
                <a16:creationId xmlns:a16="http://schemas.microsoft.com/office/drawing/2014/main" id="{D8FFD327-599B-B351-7868-56996A50E7F9}"/>
              </a:ext>
            </a:extLst>
          </p:cNvPr>
          <p:cNvPicPr>
            <a:picLocks noChangeAspect="1"/>
          </p:cNvPicPr>
          <p:nvPr/>
        </p:nvPicPr>
        <p:blipFill>
          <a:blip r:embed="rId4"/>
          <a:srcRect t="82" b="82"/>
          <a:stretch/>
        </p:blipFill>
        <p:spPr>
          <a:xfrm>
            <a:off x="6512064" y="1785424"/>
            <a:ext cx="4729677" cy="4407933"/>
          </a:xfrm>
          <a:prstGeom prst="rect">
            <a:avLst/>
          </a:prstGeom>
        </p:spPr>
      </p:pic>
      <p:sp>
        <p:nvSpPr>
          <p:cNvPr id="6" name="Shape 9">
            <a:extLst>
              <a:ext uri="{FF2B5EF4-FFF2-40B4-BE49-F238E27FC236}">
                <a16:creationId xmlns:a16="http://schemas.microsoft.com/office/drawing/2014/main" id="{D06C5AF8-9E22-E889-EA90-9D08204F519D}"/>
              </a:ext>
            </a:extLst>
          </p:cNvPr>
          <p:cNvSpPr/>
          <p:nvPr/>
        </p:nvSpPr>
        <p:spPr>
          <a:xfrm>
            <a:off x="6433080" y="1785424"/>
            <a:ext cx="75306" cy="4407933"/>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7" name="Shape 9">
            <a:extLst>
              <a:ext uri="{FF2B5EF4-FFF2-40B4-BE49-F238E27FC236}">
                <a16:creationId xmlns:a16="http://schemas.microsoft.com/office/drawing/2014/main" id="{FB29CC92-BD29-9C0A-2FE2-158683A4ED7F}"/>
              </a:ext>
            </a:extLst>
          </p:cNvPr>
          <p:cNvSpPr/>
          <p:nvPr/>
        </p:nvSpPr>
        <p:spPr>
          <a:xfrm>
            <a:off x="491226" y="1785424"/>
            <a:ext cx="57409" cy="4407933"/>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0" name="Title 9">
            <a:extLst>
              <a:ext uri="{FF2B5EF4-FFF2-40B4-BE49-F238E27FC236}">
                <a16:creationId xmlns:a16="http://schemas.microsoft.com/office/drawing/2014/main" id="{10463F3E-313D-5F25-019B-2E74163D3254}"/>
              </a:ext>
            </a:extLst>
          </p:cNvPr>
          <p:cNvSpPr>
            <a:spLocks noGrp="1"/>
          </p:cNvSpPr>
          <p:nvPr>
            <p:ph type="title"/>
          </p:nvPr>
        </p:nvSpPr>
        <p:spPr>
          <a:xfrm>
            <a:off x="381000" y="342900"/>
            <a:ext cx="11430000" cy="775597"/>
          </a:xfrm>
        </p:spPr>
        <p:txBody>
          <a:bodyPr/>
          <a:lstStyle/>
          <a:p>
            <a:r>
              <a:rPr lang="en-US" sz="2800" dirty="0">
                <a:solidFill>
                  <a:schemeClr val="accent1"/>
                </a:solidFill>
              </a:rPr>
              <a:t>We see variability since AI output is probabilistic token by token.</a:t>
            </a:r>
            <a:br>
              <a:rPr lang="en-US" sz="2800" dirty="0">
                <a:solidFill>
                  <a:schemeClr val="accent1"/>
                </a:solidFill>
              </a:rPr>
            </a:br>
            <a:endParaRPr lang="en-US" sz="2800" dirty="0">
              <a:solidFill>
                <a:schemeClr val="accent1"/>
              </a:solidFill>
            </a:endParaRPr>
          </a:p>
        </p:txBody>
      </p:sp>
      <p:sp>
        <p:nvSpPr>
          <p:cNvPr id="11"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2" name="Harvard Page Number"/>
          <p:cNvSpPr txBox="1"/>
          <p:nvPr/>
        </p:nvSpPr>
        <p:spPr>
          <a:xfrm>
            <a:off x="9901777" y="6446043"/>
            <a:ext cx="324104" cy="274638"/>
          </a:xfrm>
          <a:prstGeom prst="rect">
            <a:avLst/>
          </a:prstGeom>
          <a:noFill/>
        </p:spPr>
        <p:txBody>
          <a:bodyPr wrap="none" lIns="0" tIns="0" rIns="0" bIns="0">
            <a:noAutofit/>
          </a:bodyPr>
          <a:lstStyle/>
          <a:p>
            <a:pPr algn="r"/>
            <a:fld id="{DCF11BAD-B572-4193-8EBF-32DBB009DA3D}" type="slidenum">
              <a:rPr lang="en-US" sz="1000">
                <a:solidFill>
                  <a:srgbClr val="8996A0"/>
                </a:solidFill>
                <a:latin typeface="Arial"/>
              </a:rPr>
              <a:t>14</a:t>
            </a:fld>
            <a:endParaRPr lang="en-US" sz="1000">
              <a:solidFill>
                <a:srgbClr val="8996A0"/>
              </a:solidFill>
              <a:latin typeface="Arial"/>
            </a:endParaRPr>
          </a:p>
        </p:txBody>
      </p:sp>
    </p:spTree>
    <p:extLst>
      <p:ext uri="{BB962C8B-B14F-4D97-AF65-F5344CB8AC3E}">
        <p14:creationId xmlns:p14="http://schemas.microsoft.com/office/powerpoint/2010/main" val="1833988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p:cNvSpPr/>
          <p:nvPr/>
        </p:nvSpPr>
        <p:spPr>
          <a:xfrm>
            <a:off x="609600" y="1702525"/>
            <a:ext cx="5364480" cy="4023360"/>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 name="Shape 5"/>
          <p:cNvSpPr/>
          <p:nvPr/>
        </p:nvSpPr>
        <p:spPr>
          <a:xfrm>
            <a:off x="609600" y="1702525"/>
            <a:ext cx="97536" cy="4023360"/>
          </a:xfrm>
          <a:prstGeom prst="rect">
            <a:avLst/>
          </a:prstGeom>
          <a:solidFill>
            <a:srgbClr val="C00000"/>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9" name="Text 6"/>
          <p:cNvSpPr/>
          <p:nvPr/>
        </p:nvSpPr>
        <p:spPr>
          <a:xfrm>
            <a:off x="914400" y="1885405"/>
            <a:ext cx="487680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1E1E1E"/>
                </a:solidFill>
                <a:effectLst/>
                <a:uLnTx/>
                <a:uFillTx/>
                <a:latin typeface="Arial" pitchFamily="34" charset="0"/>
                <a:ea typeface="Arial Black" pitchFamily="34" charset="-122"/>
                <a:cs typeface="Arial Black" pitchFamily="34" charset="-120"/>
              </a:rPr>
              <a:t>FRONTIER  •  CLOSED</a:t>
            </a:r>
            <a:endParaRPr kumimoji="0" lang="en-US" sz="2133"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0" name="Text 7"/>
          <p:cNvSpPr/>
          <p:nvPr/>
        </p:nvSpPr>
        <p:spPr>
          <a:xfrm>
            <a:off x="1036320" y="2555965"/>
            <a:ext cx="4815840" cy="3048000"/>
          </a:xfrm>
          <a:prstGeom prst="rect">
            <a:avLst/>
          </a:prstGeom>
          <a:noFill/>
          <a:ln/>
        </p:spPr>
        <p:txBody>
          <a:bodyPr wrap="square" lIns="0" tIns="0" rIns="0" bIns="0" rtlCol="0" anchor="t"/>
          <a:lstStyle/>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Hosted-only, top-tier capability, premium price.</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Claude Opus 4.8+ / Sonnet 4.5 (Anthropic).</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GPT-5.6 (OpenAI).</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Gemini 3+ (Google).</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Grok 4.1 (</a:t>
            </a:r>
            <a:r>
              <a:rPr kumimoji="0" lang="en-US" sz="1467" b="0" i="0" u="none" strike="noStrike" kern="1200" cap="none" spc="0" normalizeH="0" baseline="0" noProof="0" dirty="0" err="1">
                <a:ln>
                  <a:noFill/>
                </a:ln>
                <a:solidFill>
                  <a:srgbClr val="1E1E1E"/>
                </a:solidFill>
                <a:effectLst/>
                <a:uLnTx/>
                <a:uFillTx/>
                <a:latin typeface="Arial" pitchFamily="34" charset="0"/>
                <a:ea typeface="Arial" pitchFamily="34" charset="-122"/>
                <a:cs typeface="Arial" pitchFamily="34" charset="-120"/>
              </a:rPr>
              <a:t>xAI</a:t>
            </a:r>
            <a:r>
              <a:rPr kumimoji="0" lang="en-US" sz="1467" b="0" i="0" u="none" strike="noStrike" kern="1200" cap="none" spc="0" normalizeH="0" baseline="0" noProof="0" dirty="0">
                <a:ln>
                  <a:noFill/>
                </a:ln>
                <a:solidFill>
                  <a:srgbClr val="1E1E1E"/>
                </a:solidFill>
                <a:effectLst/>
                <a:uLnTx/>
                <a:uFillTx/>
                <a:latin typeface="Arial" pitchFamily="34" charset="0"/>
                <a:ea typeface="Arial" pitchFamily="34" charset="-122"/>
                <a:cs typeface="Arial" pitchFamily="34" charset="-120"/>
              </a:rPr>
              <a:t>).</a:t>
            </a:r>
            <a:endParaRPr kumimoji="0" lang="en-US" sz="1467"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1" name="Shape 8"/>
          <p:cNvSpPr/>
          <p:nvPr/>
        </p:nvSpPr>
        <p:spPr>
          <a:xfrm>
            <a:off x="6217920" y="1702525"/>
            <a:ext cx="5364480" cy="4023360"/>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2" name="Shape 9"/>
          <p:cNvSpPr/>
          <p:nvPr/>
        </p:nvSpPr>
        <p:spPr>
          <a:xfrm>
            <a:off x="6217920" y="1702525"/>
            <a:ext cx="97536" cy="4023360"/>
          </a:xfrm>
          <a:prstGeom prst="rect">
            <a:avLst/>
          </a:prstGeom>
          <a:solidFill>
            <a:srgbClr val="C00000"/>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3" name="Text 10"/>
          <p:cNvSpPr/>
          <p:nvPr/>
        </p:nvSpPr>
        <p:spPr>
          <a:xfrm>
            <a:off x="6522720" y="1885405"/>
            <a:ext cx="487680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1E1E1E"/>
                </a:solidFill>
                <a:effectLst/>
                <a:uLnTx/>
                <a:uFillTx/>
                <a:latin typeface="Arial" pitchFamily="34" charset="0"/>
                <a:ea typeface="Arial Black" pitchFamily="34" charset="-122"/>
                <a:cs typeface="Arial Black" pitchFamily="34" charset="-120"/>
              </a:rPr>
              <a:t>FRONTIER  •  OPEN WEIGHT</a:t>
            </a:r>
            <a:endParaRPr kumimoji="0" lang="en-US" sz="2133"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4" name="Text 11"/>
          <p:cNvSpPr/>
          <p:nvPr/>
        </p:nvSpPr>
        <p:spPr>
          <a:xfrm>
            <a:off x="6644640" y="2555965"/>
            <a:ext cx="4815840" cy="3048000"/>
          </a:xfrm>
          <a:prstGeom prst="rect">
            <a:avLst/>
          </a:prstGeom>
          <a:noFill/>
          <a:ln/>
        </p:spPr>
        <p:txBody>
          <a:bodyPr wrap="square" lIns="0" tIns="0" rIns="0" bIns="0" rtlCol="0" anchor="t"/>
          <a:lstStyle/>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1E1E1E"/>
                </a:solidFill>
                <a:effectLst/>
                <a:uLnTx/>
                <a:uFillTx/>
                <a:latin typeface="Arial" pitchFamily="34" charset="0"/>
                <a:ea typeface="Arial" pitchFamily="34" charset="-122"/>
                <a:cs typeface="Arial" pitchFamily="34" charset="-120"/>
              </a:rPr>
              <a:t>Deployable on-prem, capability rising, cost dropping.</a:t>
            </a:r>
            <a:endParaRPr kumimoji="0" lang="en-US" sz="1467" b="0" i="0" u="none" strike="noStrike" kern="1200" cap="none" spc="0" normalizeH="0" baseline="0" noProof="0">
              <a:ln>
                <a:noFill/>
              </a:ln>
              <a:solidFill>
                <a:prstClr val="black"/>
              </a:solidFill>
              <a:effectLst/>
              <a:uLnTx/>
              <a:uFillTx/>
              <a:latin typeface="Arial"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1E1E1E"/>
                </a:solidFill>
                <a:effectLst/>
                <a:uLnTx/>
                <a:uFillTx/>
                <a:latin typeface="Arial" pitchFamily="34" charset="0"/>
                <a:ea typeface="Arial" pitchFamily="34" charset="-122"/>
                <a:cs typeface="Arial" pitchFamily="34" charset="-120"/>
              </a:rPr>
              <a:t>Llama 4 Maverick (Meta).</a:t>
            </a:r>
            <a:endParaRPr kumimoji="0" lang="en-US" sz="1467" b="0" i="0" u="none" strike="noStrike" kern="1200" cap="none" spc="0" normalizeH="0" baseline="0" noProof="0">
              <a:ln>
                <a:noFill/>
              </a:ln>
              <a:solidFill>
                <a:prstClr val="black"/>
              </a:solidFill>
              <a:effectLst/>
              <a:uLnTx/>
              <a:uFillTx/>
              <a:latin typeface="Arial"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1E1E1E"/>
                </a:solidFill>
                <a:effectLst/>
                <a:uLnTx/>
                <a:uFillTx/>
                <a:latin typeface="Arial" pitchFamily="34" charset="0"/>
                <a:ea typeface="Arial" pitchFamily="34" charset="-122"/>
                <a:cs typeface="Arial" pitchFamily="34" charset="-120"/>
              </a:rPr>
              <a:t>DeepSeek V3.2 / R1 — 90% price drop in one move.</a:t>
            </a:r>
            <a:endParaRPr kumimoji="0" lang="en-US" sz="1467" b="0" i="0" u="none" strike="noStrike" kern="1200" cap="none" spc="0" normalizeH="0" baseline="0" noProof="0">
              <a:ln>
                <a:noFill/>
              </a:ln>
              <a:solidFill>
                <a:prstClr val="black"/>
              </a:solidFill>
              <a:effectLst/>
              <a:uLnTx/>
              <a:uFillTx/>
              <a:latin typeface="Arial"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1E1E1E"/>
                </a:solidFill>
                <a:effectLst/>
                <a:uLnTx/>
                <a:uFillTx/>
                <a:latin typeface="Arial" pitchFamily="34" charset="0"/>
                <a:ea typeface="Arial" pitchFamily="34" charset="-122"/>
                <a:cs typeface="Arial" pitchFamily="34" charset="-120"/>
              </a:rPr>
              <a:t>Mistral Large 3, Qwen 3.</a:t>
            </a:r>
            <a:endParaRPr kumimoji="0" lang="en-US" sz="1467" b="0" i="0" u="none" strike="noStrike" kern="1200" cap="none" spc="0" normalizeH="0" baseline="0" noProof="0">
              <a:ln>
                <a:noFill/>
              </a:ln>
              <a:solidFill>
                <a:prstClr val="black"/>
              </a:solidFill>
              <a:effectLst/>
              <a:uLnTx/>
              <a:uFillTx/>
              <a:latin typeface="Arial"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1E1E1E"/>
                </a:solidFill>
                <a:effectLst/>
                <a:uLnTx/>
                <a:uFillTx/>
                <a:latin typeface="Arial" pitchFamily="34" charset="0"/>
                <a:ea typeface="Arial" pitchFamily="34" charset="-122"/>
                <a:cs typeface="Arial" pitchFamily="34" charset="-120"/>
              </a:rPr>
              <a:t>GPT-OSS-120B/20B (Apache 2.0) — OpenAI's first open-weight since GPT-2.</a:t>
            </a:r>
            <a:endParaRPr kumimoji="0" lang="en-US" sz="1467"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 name="Title 2">
            <a:extLst>
              <a:ext uri="{FF2B5EF4-FFF2-40B4-BE49-F238E27FC236}">
                <a16:creationId xmlns:a16="http://schemas.microsoft.com/office/drawing/2014/main" id="{F7121DDA-AEC5-3199-C4E2-E38360C20506}"/>
              </a:ext>
            </a:extLst>
          </p:cNvPr>
          <p:cNvSpPr>
            <a:spLocks noGrp="1"/>
          </p:cNvSpPr>
          <p:nvPr>
            <p:ph type="title"/>
          </p:nvPr>
        </p:nvSpPr>
        <p:spPr>
          <a:xfrm>
            <a:off x="381000" y="342900"/>
            <a:ext cx="11430000" cy="886397"/>
          </a:xfrm>
        </p:spPr>
        <p:txBody>
          <a:bodyPr/>
          <a:lstStyle/>
          <a:p>
            <a:r>
              <a:rPr lang="en-US">
                <a:solidFill>
                  <a:schemeClr val="accent1"/>
                </a:solidFill>
              </a:rPr>
              <a:t>Frontier vs Open-Weight — the Gap is Closing Fast</a:t>
            </a:r>
            <a:br>
              <a:rPr lang="en-US">
                <a:solidFill>
                  <a:schemeClr val="accent1"/>
                </a:solidFill>
              </a:rPr>
            </a:br>
            <a:endParaRPr lang="en-US">
              <a:solidFill>
                <a:schemeClr val="accent1"/>
              </a:solidFill>
            </a:endParaRPr>
          </a:p>
        </p:txBody>
      </p:sp>
      <p:sp>
        <p:nvSpPr>
          <p:cNvPr id="4" name="Subtitle 3">
            <a:extLst>
              <a:ext uri="{FF2B5EF4-FFF2-40B4-BE49-F238E27FC236}">
                <a16:creationId xmlns:a16="http://schemas.microsoft.com/office/drawing/2014/main" id="{6260DFA7-83F1-15BA-B177-73C5A6682FE9}"/>
              </a:ext>
            </a:extLst>
          </p:cNvPr>
          <p:cNvSpPr>
            <a:spLocks noGrp="1"/>
          </p:cNvSpPr>
          <p:nvPr>
            <p:ph type="subTitle" idx="1"/>
          </p:nvPr>
        </p:nvSpPr>
        <p:spPr>
          <a:xfrm>
            <a:off x="381000" y="857250"/>
            <a:ext cx="11430000" cy="492443"/>
          </a:xfrm>
        </p:spPr>
        <p:txBody>
          <a:bodyPr/>
          <a:lstStyle/>
          <a:p>
            <a:r>
              <a:rPr lang="en-US" dirty="0">
                <a:solidFill>
                  <a:schemeClr val="accent1"/>
                </a:solidFill>
              </a:rPr>
              <a:t>The interesting business decision used to be "which model." It's becoming "where you run it."</a:t>
            </a:r>
          </a:p>
          <a:p>
            <a:endParaRPr lang="en-US" dirty="0">
              <a:solidFill>
                <a:schemeClr val="accent1"/>
              </a:solidFill>
            </a:endParaRPr>
          </a:p>
        </p:txBody>
      </p:sp>
      <p:pic>
        <p:nvPicPr>
          <p:cNvPr id="2" name="Picture 1" descr="Maxime Walzberg - Yollama">
            <a:extLst>
              <a:ext uri="{FF2B5EF4-FFF2-40B4-BE49-F238E27FC236}">
                <a16:creationId xmlns:a16="http://schemas.microsoft.com/office/drawing/2014/main" id="{F504230C-64BC-90F2-CBA9-2828CC94A8A1}"/>
              </a:ext>
            </a:extLst>
          </p:cNvPr>
          <p:cNvPicPr>
            <a:picLocks noChangeAspect="1"/>
          </p:cNvPicPr>
          <p:nvPr/>
        </p:nvPicPr>
        <p:blipFill>
          <a:blip r:embed="rId3"/>
          <a:stretch>
            <a:fillRect/>
          </a:stretch>
        </p:blipFill>
        <p:spPr>
          <a:xfrm>
            <a:off x="7592603" y="4477626"/>
            <a:ext cx="2996955" cy="2252678"/>
          </a:xfrm>
          <a:prstGeom prst="rect">
            <a:avLst/>
          </a:prstGeom>
        </p:spPr>
      </p:pic>
      <p:sp>
        <p:nvSpPr>
          <p:cNvPr id="15"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descr="File:Google cloud.png - Wikimedia Commons">
            <a:extLst>
              <a:ext uri="{FF2B5EF4-FFF2-40B4-BE49-F238E27FC236}">
                <a16:creationId xmlns:a16="http://schemas.microsoft.com/office/drawing/2014/main" id="{7AB901C6-D552-DAF8-7FAB-1E95CC03CDA0}"/>
              </a:ext>
            </a:extLst>
          </p:cNvPr>
          <p:cNvPicPr>
            <a:picLocks noChangeAspect="1"/>
          </p:cNvPicPr>
          <p:nvPr/>
        </p:nvPicPr>
        <p:blipFill>
          <a:blip r:embed="rId3"/>
          <a:stretch>
            <a:fillRect/>
          </a:stretch>
        </p:blipFill>
        <p:spPr>
          <a:xfrm>
            <a:off x="4633095" y="6254535"/>
            <a:ext cx="603322" cy="603322"/>
          </a:xfrm>
          <a:prstGeom prst="rect">
            <a:avLst/>
          </a:prstGeom>
        </p:spPr>
      </p:pic>
      <p:sp>
        <p:nvSpPr>
          <p:cNvPr id="23" name="Shape 20"/>
          <p:cNvSpPr/>
          <p:nvPr/>
        </p:nvSpPr>
        <p:spPr>
          <a:xfrm>
            <a:off x="7911378" y="2194560"/>
            <a:ext cx="2011680" cy="3169920"/>
          </a:xfrm>
          <a:prstGeom prst="rect">
            <a:avLst/>
          </a:prstGeom>
          <a:solidFill>
            <a:schemeClr val="accent4"/>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effectLst/>
              <a:uLnTx/>
              <a:uFillTx/>
              <a:latin typeface="Arial" panose="020F0502020204030204"/>
              <a:ea typeface="+mn-ea"/>
              <a:cs typeface="+mn-cs"/>
            </a:endParaRPr>
          </a:p>
        </p:txBody>
      </p:sp>
      <p:sp>
        <p:nvSpPr>
          <p:cNvPr id="33" name="Freeform 32">
            <a:extLst>
              <a:ext uri="{FF2B5EF4-FFF2-40B4-BE49-F238E27FC236}">
                <a16:creationId xmlns:a16="http://schemas.microsoft.com/office/drawing/2014/main" id="{9567A1B2-611D-D1AB-DDC8-E0575F7E7085}"/>
              </a:ext>
            </a:extLst>
          </p:cNvPr>
          <p:cNvSpPr/>
          <p:nvPr/>
        </p:nvSpPr>
        <p:spPr>
          <a:xfrm>
            <a:off x="6018742" y="2194560"/>
            <a:ext cx="2011680" cy="3169920"/>
          </a:xfrm>
          <a:custGeom>
            <a:avLst/>
            <a:gdLst>
              <a:gd name="csX0" fmla="*/ 0 w 2444496"/>
              <a:gd name="csY0" fmla="*/ 0 h 3169920"/>
              <a:gd name="csX1" fmla="*/ 1898565 w 2444496"/>
              <a:gd name="csY1" fmla="*/ 0 h 3169920"/>
              <a:gd name="csX2" fmla="*/ 2170176 w 2444496"/>
              <a:gd name="csY2" fmla="*/ 0 h 3169920"/>
              <a:gd name="csX3" fmla="*/ 2171531 w 2444496"/>
              <a:gd name="csY3" fmla="*/ 0 h 3169920"/>
              <a:gd name="csX4" fmla="*/ 2444496 w 2444496"/>
              <a:gd name="csY4" fmla="*/ 1584960 h 3169920"/>
              <a:gd name="csX5" fmla="*/ 2171531 w 2444496"/>
              <a:gd name="csY5" fmla="*/ 3169920 h 3169920"/>
              <a:gd name="csX6" fmla="*/ 2170176 w 2444496"/>
              <a:gd name="csY6" fmla="*/ 3169920 h 3169920"/>
              <a:gd name="csX7" fmla="*/ 1898565 w 2444496"/>
              <a:gd name="csY7" fmla="*/ 3169920 h 3169920"/>
              <a:gd name="csX8" fmla="*/ 0 w 2444496"/>
              <a:gd name="csY8" fmla="*/ 3169920 h 316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44496" h="3169920">
                <a:moveTo>
                  <a:pt x="0" y="0"/>
                </a:moveTo>
                <a:lnTo>
                  <a:pt x="1898565" y="0"/>
                </a:lnTo>
                <a:lnTo>
                  <a:pt x="2170176" y="0"/>
                </a:lnTo>
                <a:lnTo>
                  <a:pt x="2171531" y="0"/>
                </a:lnTo>
                <a:lnTo>
                  <a:pt x="2444496" y="1584960"/>
                </a:lnTo>
                <a:lnTo>
                  <a:pt x="2171531" y="3169920"/>
                </a:lnTo>
                <a:lnTo>
                  <a:pt x="2170176" y="3169920"/>
                </a:lnTo>
                <a:lnTo>
                  <a:pt x="1898565" y="3169920"/>
                </a:lnTo>
                <a:lnTo>
                  <a:pt x="0" y="3169920"/>
                </a:lnTo>
                <a:close/>
              </a:path>
            </a:pathLst>
          </a:custGeom>
          <a:solidFill>
            <a:srgbClr val="E6E6DC"/>
          </a:solidFill>
          <a:ln>
            <a:solidFill>
              <a:schemeClr val="bg1"/>
            </a:solidFill>
          </a:ln>
        </p:spPr>
        <p:txBody>
          <a:bodyPr wrap="square">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2" name="Freeform 31">
            <a:extLst>
              <a:ext uri="{FF2B5EF4-FFF2-40B4-BE49-F238E27FC236}">
                <a16:creationId xmlns:a16="http://schemas.microsoft.com/office/drawing/2014/main" id="{6BF18FC4-F3B4-E95E-D8C9-5181A50C265E}"/>
              </a:ext>
            </a:extLst>
          </p:cNvPr>
          <p:cNvSpPr/>
          <p:nvPr/>
        </p:nvSpPr>
        <p:spPr>
          <a:xfrm>
            <a:off x="4127337" y="2194560"/>
            <a:ext cx="2011680" cy="3169920"/>
          </a:xfrm>
          <a:custGeom>
            <a:avLst/>
            <a:gdLst>
              <a:gd name="csX0" fmla="*/ 0 w 2444496"/>
              <a:gd name="csY0" fmla="*/ 0 h 3169920"/>
              <a:gd name="csX1" fmla="*/ 1898565 w 2444496"/>
              <a:gd name="csY1" fmla="*/ 0 h 3169920"/>
              <a:gd name="csX2" fmla="*/ 2170176 w 2444496"/>
              <a:gd name="csY2" fmla="*/ 0 h 3169920"/>
              <a:gd name="csX3" fmla="*/ 2171531 w 2444496"/>
              <a:gd name="csY3" fmla="*/ 0 h 3169920"/>
              <a:gd name="csX4" fmla="*/ 2444496 w 2444496"/>
              <a:gd name="csY4" fmla="*/ 1584960 h 3169920"/>
              <a:gd name="csX5" fmla="*/ 2171531 w 2444496"/>
              <a:gd name="csY5" fmla="*/ 3169920 h 3169920"/>
              <a:gd name="csX6" fmla="*/ 2170176 w 2444496"/>
              <a:gd name="csY6" fmla="*/ 3169920 h 3169920"/>
              <a:gd name="csX7" fmla="*/ 1898565 w 2444496"/>
              <a:gd name="csY7" fmla="*/ 3169920 h 3169920"/>
              <a:gd name="csX8" fmla="*/ 0 w 2444496"/>
              <a:gd name="csY8" fmla="*/ 3169920 h 316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44496" h="3169920">
                <a:moveTo>
                  <a:pt x="0" y="0"/>
                </a:moveTo>
                <a:lnTo>
                  <a:pt x="1898565" y="0"/>
                </a:lnTo>
                <a:lnTo>
                  <a:pt x="2170176" y="0"/>
                </a:lnTo>
                <a:lnTo>
                  <a:pt x="2171531" y="0"/>
                </a:lnTo>
                <a:lnTo>
                  <a:pt x="2444496" y="1584960"/>
                </a:lnTo>
                <a:lnTo>
                  <a:pt x="2171531" y="3169920"/>
                </a:lnTo>
                <a:lnTo>
                  <a:pt x="2170176" y="3169920"/>
                </a:lnTo>
                <a:lnTo>
                  <a:pt x="1898565" y="3169920"/>
                </a:lnTo>
                <a:lnTo>
                  <a:pt x="0" y="3169920"/>
                </a:lnTo>
                <a:close/>
              </a:path>
            </a:pathLst>
          </a:custGeom>
          <a:solidFill>
            <a:srgbClr val="E6E6DC"/>
          </a:solidFill>
          <a:ln>
            <a:solidFill>
              <a:schemeClr val="bg1"/>
            </a:solidFill>
          </a:ln>
        </p:spPr>
        <p:txBody>
          <a:bodyPr wrap="square">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1" name="Freeform 30">
            <a:extLst>
              <a:ext uri="{FF2B5EF4-FFF2-40B4-BE49-F238E27FC236}">
                <a16:creationId xmlns:a16="http://schemas.microsoft.com/office/drawing/2014/main" id="{FE3C4080-230F-1DCB-ABFA-EA1F1ECF2555}"/>
              </a:ext>
            </a:extLst>
          </p:cNvPr>
          <p:cNvSpPr/>
          <p:nvPr/>
        </p:nvSpPr>
        <p:spPr>
          <a:xfrm>
            <a:off x="2230177" y="2194560"/>
            <a:ext cx="2011680" cy="3169920"/>
          </a:xfrm>
          <a:custGeom>
            <a:avLst/>
            <a:gdLst>
              <a:gd name="csX0" fmla="*/ 0 w 2444496"/>
              <a:gd name="csY0" fmla="*/ 0 h 3169920"/>
              <a:gd name="csX1" fmla="*/ 1898565 w 2444496"/>
              <a:gd name="csY1" fmla="*/ 0 h 3169920"/>
              <a:gd name="csX2" fmla="*/ 2170176 w 2444496"/>
              <a:gd name="csY2" fmla="*/ 0 h 3169920"/>
              <a:gd name="csX3" fmla="*/ 2171531 w 2444496"/>
              <a:gd name="csY3" fmla="*/ 0 h 3169920"/>
              <a:gd name="csX4" fmla="*/ 2444496 w 2444496"/>
              <a:gd name="csY4" fmla="*/ 1584960 h 3169920"/>
              <a:gd name="csX5" fmla="*/ 2171531 w 2444496"/>
              <a:gd name="csY5" fmla="*/ 3169920 h 3169920"/>
              <a:gd name="csX6" fmla="*/ 2170176 w 2444496"/>
              <a:gd name="csY6" fmla="*/ 3169920 h 3169920"/>
              <a:gd name="csX7" fmla="*/ 1898565 w 2444496"/>
              <a:gd name="csY7" fmla="*/ 3169920 h 3169920"/>
              <a:gd name="csX8" fmla="*/ 0 w 2444496"/>
              <a:gd name="csY8" fmla="*/ 3169920 h 316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44496" h="3169920">
                <a:moveTo>
                  <a:pt x="0" y="0"/>
                </a:moveTo>
                <a:lnTo>
                  <a:pt x="1898565" y="0"/>
                </a:lnTo>
                <a:lnTo>
                  <a:pt x="2170176" y="0"/>
                </a:lnTo>
                <a:lnTo>
                  <a:pt x="2171531" y="0"/>
                </a:lnTo>
                <a:lnTo>
                  <a:pt x="2444496" y="1584960"/>
                </a:lnTo>
                <a:lnTo>
                  <a:pt x="2171531" y="3169920"/>
                </a:lnTo>
                <a:lnTo>
                  <a:pt x="2170176" y="3169920"/>
                </a:lnTo>
                <a:lnTo>
                  <a:pt x="1898565" y="3169920"/>
                </a:lnTo>
                <a:lnTo>
                  <a:pt x="0" y="3169920"/>
                </a:lnTo>
                <a:close/>
              </a:path>
            </a:pathLst>
          </a:custGeom>
          <a:solidFill>
            <a:srgbClr val="E6E6DC"/>
          </a:solidFill>
          <a:ln>
            <a:solidFill>
              <a:schemeClr val="bg1"/>
            </a:solidFill>
          </a:ln>
        </p:spPr>
        <p:txBody>
          <a:bodyPr wrap="square">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2" name="Text 9"/>
          <p:cNvSpPr/>
          <p:nvPr/>
        </p:nvSpPr>
        <p:spPr>
          <a:xfrm>
            <a:off x="2352097"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96968C"/>
                </a:solidFill>
                <a:effectLst/>
                <a:uLnTx/>
                <a:uFillTx/>
                <a:latin typeface="Arial" pitchFamily="34" charset="0"/>
                <a:ea typeface="Palatino Linotype" pitchFamily="34" charset="-122"/>
                <a:cs typeface="Palatino Linotype" pitchFamily="34" charset="-120"/>
              </a:rPr>
              <a:t>Late 90s</a:t>
            </a:r>
            <a:endParaRPr kumimoji="0" lang="en-US" sz="1467"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3" name="Text 10"/>
          <p:cNvSpPr/>
          <p:nvPr/>
        </p:nvSpPr>
        <p:spPr>
          <a:xfrm>
            <a:off x="2352097"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E1E1E"/>
                </a:solidFill>
                <a:effectLst/>
                <a:uLnTx/>
                <a:uFillTx/>
                <a:latin typeface="Arial" pitchFamily="34" charset="0"/>
                <a:ea typeface="Arial Black" pitchFamily="34" charset="-122"/>
                <a:cs typeface="Arial Black" pitchFamily="34" charset="-120"/>
              </a:rPr>
              <a:t>The Internet</a:t>
            </a:r>
            <a:endParaRPr kumimoji="0" lang="en-US" sz="16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4" name="Text 11"/>
          <p:cNvSpPr/>
          <p:nvPr/>
        </p:nvSpPr>
        <p:spPr>
          <a:xfrm>
            <a:off x="2352097" y="4023360"/>
            <a:ext cx="1926336"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672CB"/>
                </a:solidFill>
                <a:effectLst/>
                <a:uLnTx/>
                <a:uFillTx/>
                <a:latin typeface="Arial" pitchFamily="34" charset="0"/>
                <a:ea typeface="Arial" pitchFamily="34" charset="-122"/>
                <a:cs typeface="Arial" pitchFamily="34" charset="-120"/>
              </a:rPr>
              <a:t>Marginal cost of distribution → 0</a:t>
            </a:r>
            <a:endParaRPr kumimoji="0" lang="en-US" sz="1333" b="0" i="0" u="none" strike="noStrike" kern="1200" cap="none" spc="0" normalizeH="0" baseline="0" noProof="0">
              <a:ln>
                <a:noFill/>
              </a:ln>
              <a:solidFill>
                <a:srgbClr val="0672CB"/>
              </a:solidFill>
              <a:effectLst/>
              <a:uLnTx/>
              <a:uFillTx/>
              <a:latin typeface="Arial" panose="020F0502020204030204"/>
              <a:ea typeface="+mn-ea"/>
              <a:cs typeface="+mn-cs"/>
            </a:endParaRPr>
          </a:p>
        </p:txBody>
      </p:sp>
      <p:sp>
        <p:nvSpPr>
          <p:cNvPr id="16" name="Text 13"/>
          <p:cNvSpPr/>
          <p:nvPr/>
        </p:nvSpPr>
        <p:spPr>
          <a:xfrm>
            <a:off x="4249257"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96968C"/>
                </a:solidFill>
                <a:effectLst/>
                <a:uLnTx/>
                <a:uFillTx/>
                <a:latin typeface="Arial" pitchFamily="34" charset="0"/>
                <a:ea typeface="Palatino Linotype" pitchFamily="34" charset="-122"/>
                <a:cs typeface="Palatino Linotype" pitchFamily="34" charset="-120"/>
              </a:rPr>
              <a:t>Early 2000s</a:t>
            </a:r>
            <a:endParaRPr kumimoji="0" lang="en-US" sz="1467"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7" name="Text 14"/>
          <p:cNvSpPr/>
          <p:nvPr/>
        </p:nvSpPr>
        <p:spPr>
          <a:xfrm>
            <a:off x="4249257"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E1E1E"/>
                </a:solidFill>
                <a:effectLst/>
                <a:uLnTx/>
                <a:uFillTx/>
                <a:latin typeface="Arial" pitchFamily="34" charset="0"/>
                <a:ea typeface="Arial Black" pitchFamily="34" charset="-122"/>
                <a:cs typeface="Arial Black" pitchFamily="34" charset="-120"/>
              </a:rPr>
              <a:t>Cloud Compute</a:t>
            </a:r>
            <a:endParaRPr kumimoji="0" lang="en-US" sz="16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8" name="Text 15"/>
          <p:cNvSpPr/>
          <p:nvPr/>
        </p:nvSpPr>
        <p:spPr>
          <a:xfrm>
            <a:off x="4249257" y="4023360"/>
            <a:ext cx="1926336"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672CB"/>
                </a:solidFill>
                <a:effectLst/>
                <a:uLnTx/>
                <a:uFillTx/>
                <a:latin typeface="Arial" pitchFamily="34" charset="0"/>
                <a:ea typeface="Arial" pitchFamily="34" charset="-122"/>
                <a:cs typeface="Arial" pitchFamily="34" charset="-120"/>
              </a:rPr>
              <a:t>Marginal cost of data capture &amp; compute scale → 0</a:t>
            </a:r>
            <a:endParaRPr kumimoji="0" lang="en-US" sz="1333" b="0" i="0" u="none" strike="noStrike" kern="1200" cap="none" spc="0" normalizeH="0" baseline="0" noProof="0">
              <a:ln>
                <a:noFill/>
              </a:ln>
              <a:solidFill>
                <a:srgbClr val="0672CB"/>
              </a:solidFill>
              <a:effectLst/>
              <a:uLnTx/>
              <a:uFillTx/>
              <a:latin typeface="Arial" panose="020F0502020204030204"/>
              <a:ea typeface="+mn-ea"/>
              <a:cs typeface="+mn-cs"/>
            </a:endParaRPr>
          </a:p>
        </p:txBody>
      </p:sp>
      <p:sp>
        <p:nvSpPr>
          <p:cNvPr id="20" name="Text 17"/>
          <p:cNvSpPr/>
          <p:nvPr/>
        </p:nvSpPr>
        <p:spPr>
          <a:xfrm>
            <a:off x="6177238"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96968C"/>
                </a:solidFill>
                <a:effectLst/>
                <a:uLnTx/>
                <a:uFillTx/>
                <a:latin typeface="Arial" pitchFamily="34" charset="0"/>
                <a:ea typeface="Palatino Linotype" pitchFamily="34" charset="-122"/>
                <a:cs typeface="Palatino Linotype" pitchFamily="34" charset="-120"/>
              </a:rPr>
              <a:t>2010s</a:t>
            </a:r>
            <a:endParaRPr kumimoji="0" lang="en-US" sz="1467"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1" name="Text 18"/>
          <p:cNvSpPr/>
          <p:nvPr/>
        </p:nvSpPr>
        <p:spPr>
          <a:xfrm>
            <a:off x="6177238"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E1E1E"/>
                </a:solidFill>
                <a:effectLst/>
                <a:uLnTx/>
                <a:uFillTx/>
                <a:latin typeface="Arial" pitchFamily="34" charset="0"/>
                <a:ea typeface="Arial Black" pitchFamily="34" charset="-122"/>
                <a:cs typeface="Arial Black" pitchFamily="34" charset="-120"/>
              </a:rPr>
              <a:t>Enterprise OSS</a:t>
            </a:r>
            <a:endParaRPr kumimoji="0" lang="en-US" sz="16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2" name="Text 19"/>
          <p:cNvSpPr/>
          <p:nvPr/>
        </p:nvSpPr>
        <p:spPr>
          <a:xfrm>
            <a:off x="6177238" y="4023360"/>
            <a:ext cx="1926336"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672CB"/>
                </a:solidFill>
                <a:effectLst/>
                <a:uLnTx/>
                <a:uFillTx/>
                <a:latin typeface="Arial" pitchFamily="34" charset="0"/>
                <a:ea typeface="Arial" pitchFamily="34" charset="-122"/>
                <a:cs typeface="Arial" pitchFamily="34" charset="-120"/>
              </a:rPr>
              <a:t>Marginal cost of app development → 0</a:t>
            </a:r>
            <a:endParaRPr kumimoji="0" lang="en-US" sz="1333" b="0" i="0" u="none" strike="noStrike" kern="1200" cap="none" spc="0" normalizeH="0" baseline="0" noProof="0">
              <a:ln>
                <a:noFill/>
              </a:ln>
              <a:solidFill>
                <a:srgbClr val="0672CB"/>
              </a:solidFill>
              <a:effectLst/>
              <a:uLnTx/>
              <a:uFillTx/>
              <a:latin typeface="Arial" panose="020F0502020204030204"/>
              <a:ea typeface="+mn-ea"/>
              <a:cs typeface="+mn-cs"/>
            </a:endParaRPr>
          </a:p>
        </p:txBody>
      </p:sp>
      <p:sp>
        <p:nvSpPr>
          <p:cNvPr id="24" name="Text 21"/>
          <p:cNvSpPr/>
          <p:nvPr/>
        </p:nvSpPr>
        <p:spPr>
          <a:xfrm>
            <a:off x="8074394"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effectLst/>
                <a:uLnTx/>
                <a:uFillTx/>
                <a:latin typeface="Arial" pitchFamily="34" charset="0"/>
                <a:ea typeface="Palatino Linotype" pitchFamily="34" charset="-122"/>
                <a:cs typeface="Palatino Linotype" pitchFamily="34" charset="-120"/>
              </a:rPr>
              <a:t>Now</a:t>
            </a:r>
            <a:endParaRPr kumimoji="0" lang="en-US" sz="1467" b="0" i="0" u="none" strike="noStrike" kern="1200" cap="none" spc="0" normalizeH="0" baseline="0" noProof="0">
              <a:ln>
                <a:noFill/>
              </a:ln>
              <a:effectLst/>
              <a:uLnTx/>
              <a:uFillTx/>
              <a:latin typeface="Arial" panose="020F0502020204030204"/>
              <a:ea typeface="+mn-ea"/>
              <a:cs typeface="+mn-cs"/>
            </a:endParaRPr>
          </a:p>
        </p:txBody>
      </p:sp>
      <p:sp>
        <p:nvSpPr>
          <p:cNvPr id="25" name="Text 22"/>
          <p:cNvSpPr/>
          <p:nvPr/>
        </p:nvSpPr>
        <p:spPr>
          <a:xfrm>
            <a:off x="8074394"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effectLst/>
                <a:uLnTx/>
                <a:uFillTx/>
                <a:latin typeface="Arial" pitchFamily="34" charset="0"/>
                <a:ea typeface="Arial Black" pitchFamily="34" charset="-122"/>
                <a:cs typeface="Arial Black" pitchFamily="34" charset="-120"/>
              </a:rPr>
              <a:t>Generative &amp; Agentic AI</a:t>
            </a:r>
            <a:endParaRPr kumimoji="0" lang="en-US" sz="1600" b="0" i="0" u="none" strike="noStrike" kern="1200" cap="none" spc="0" normalizeH="0" baseline="0" noProof="0" dirty="0">
              <a:ln>
                <a:noFill/>
              </a:ln>
              <a:effectLst/>
              <a:uLnTx/>
              <a:uFillTx/>
              <a:latin typeface="Arial" panose="020F0502020204030204"/>
              <a:ea typeface="+mn-ea"/>
              <a:cs typeface="+mn-cs"/>
            </a:endParaRPr>
          </a:p>
        </p:txBody>
      </p:sp>
      <p:sp>
        <p:nvSpPr>
          <p:cNvPr id="26" name="Text 23"/>
          <p:cNvSpPr/>
          <p:nvPr/>
        </p:nvSpPr>
        <p:spPr>
          <a:xfrm>
            <a:off x="8074394" y="4023360"/>
            <a:ext cx="1692357"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effectLst/>
                <a:uLnTx/>
                <a:uFillTx/>
                <a:latin typeface="Arial" pitchFamily="34" charset="0"/>
                <a:ea typeface="Arial" pitchFamily="34" charset="-122"/>
                <a:cs typeface="Arial" pitchFamily="34" charset="-120"/>
              </a:rPr>
              <a:t>Marginal cost of creation &amp; action → 0</a:t>
            </a:r>
            <a:endParaRPr kumimoji="0" lang="en-US" sz="1333" b="0" i="0" u="none" strike="noStrike" kern="1200" cap="none" spc="0" normalizeH="0" baseline="0" noProof="0" dirty="0">
              <a:ln>
                <a:noFill/>
              </a:ln>
              <a:effectLst/>
              <a:uLnTx/>
              <a:uFillTx/>
              <a:latin typeface="Arial" panose="020F0502020204030204"/>
              <a:ea typeface="+mn-ea"/>
              <a:cs typeface="+mn-cs"/>
            </a:endParaRPr>
          </a:p>
        </p:txBody>
      </p:sp>
      <p:sp>
        <p:nvSpPr>
          <p:cNvPr id="30" name="Freeform 29">
            <a:extLst>
              <a:ext uri="{FF2B5EF4-FFF2-40B4-BE49-F238E27FC236}">
                <a16:creationId xmlns:a16="http://schemas.microsoft.com/office/drawing/2014/main" id="{E273B403-35BA-8753-4BB3-F169F6875DF1}"/>
              </a:ext>
            </a:extLst>
          </p:cNvPr>
          <p:cNvSpPr/>
          <p:nvPr/>
        </p:nvSpPr>
        <p:spPr>
          <a:xfrm>
            <a:off x="353568" y="2194560"/>
            <a:ext cx="2011680" cy="3169920"/>
          </a:xfrm>
          <a:custGeom>
            <a:avLst/>
            <a:gdLst>
              <a:gd name="csX0" fmla="*/ 0 w 2444496"/>
              <a:gd name="csY0" fmla="*/ 0 h 3169920"/>
              <a:gd name="csX1" fmla="*/ 1898565 w 2444496"/>
              <a:gd name="csY1" fmla="*/ 0 h 3169920"/>
              <a:gd name="csX2" fmla="*/ 2170176 w 2444496"/>
              <a:gd name="csY2" fmla="*/ 0 h 3169920"/>
              <a:gd name="csX3" fmla="*/ 2171531 w 2444496"/>
              <a:gd name="csY3" fmla="*/ 0 h 3169920"/>
              <a:gd name="csX4" fmla="*/ 2444496 w 2444496"/>
              <a:gd name="csY4" fmla="*/ 1584960 h 3169920"/>
              <a:gd name="csX5" fmla="*/ 2171531 w 2444496"/>
              <a:gd name="csY5" fmla="*/ 3169920 h 3169920"/>
              <a:gd name="csX6" fmla="*/ 2170176 w 2444496"/>
              <a:gd name="csY6" fmla="*/ 3169920 h 3169920"/>
              <a:gd name="csX7" fmla="*/ 1898565 w 2444496"/>
              <a:gd name="csY7" fmla="*/ 3169920 h 3169920"/>
              <a:gd name="csX8" fmla="*/ 0 w 2444496"/>
              <a:gd name="csY8" fmla="*/ 3169920 h 316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44496" h="3169920">
                <a:moveTo>
                  <a:pt x="0" y="0"/>
                </a:moveTo>
                <a:lnTo>
                  <a:pt x="1898565" y="0"/>
                </a:lnTo>
                <a:lnTo>
                  <a:pt x="2170176" y="0"/>
                </a:lnTo>
                <a:lnTo>
                  <a:pt x="2171531" y="0"/>
                </a:lnTo>
                <a:lnTo>
                  <a:pt x="2444496" y="1584960"/>
                </a:lnTo>
                <a:lnTo>
                  <a:pt x="2171531" y="3169920"/>
                </a:lnTo>
                <a:lnTo>
                  <a:pt x="2170176" y="3169920"/>
                </a:lnTo>
                <a:lnTo>
                  <a:pt x="1898565" y="3169920"/>
                </a:lnTo>
                <a:lnTo>
                  <a:pt x="0" y="3169920"/>
                </a:lnTo>
                <a:close/>
              </a:path>
            </a:pathLst>
          </a:custGeom>
          <a:solidFill>
            <a:srgbClr val="E6E6DC"/>
          </a:solidFill>
          <a:ln>
            <a:solidFill>
              <a:schemeClr val="bg1"/>
            </a:solidFill>
          </a:ln>
        </p:spPr>
        <p:txBody>
          <a:bodyPr wrap="square">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 name="Text 5"/>
          <p:cNvSpPr/>
          <p:nvPr/>
        </p:nvSpPr>
        <p:spPr>
          <a:xfrm>
            <a:off x="475488"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96968C"/>
                </a:solidFill>
                <a:effectLst/>
                <a:uLnTx/>
                <a:uFillTx/>
                <a:latin typeface="Arial" pitchFamily="34" charset="0"/>
                <a:ea typeface="Palatino Linotype" pitchFamily="34" charset="-122"/>
                <a:cs typeface="Palatino Linotype" pitchFamily="34" charset="-120"/>
              </a:rPr>
              <a:t>1980s</a:t>
            </a:r>
            <a:endParaRPr kumimoji="0" lang="en-US" sz="1467"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9" name="Text 6"/>
          <p:cNvSpPr/>
          <p:nvPr/>
        </p:nvSpPr>
        <p:spPr>
          <a:xfrm>
            <a:off x="475488"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E1E1E"/>
                </a:solidFill>
                <a:effectLst/>
                <a:uLnTx/>
                <a:uFillTx/>
                <a:latin typeface="Arial" pitchFamily="34" charset="0"/>
                <a:ea typeface="Arial Black" pitchFamily="34" charset="-122"/>
                <a:cs typeface="Arial Black" pitchFamily="34" charset="-120"/>
              </a:rPr>
              <a:t>Personal Computer</a:t>
            </a:r>
            <a:endParaRPr kumimoji="0" lang="en-US" sz="16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0" name="Text 7"/>
          <p:cNvSpPr/>
          <p:nvPr/>
        </p:nvSpPr>
        <p:spPr>
          <a:xfrm>
            <a:off x="475488" y="4023360"/>
            <a:ext cx="1926336"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672CB"/>
                </a:solidFill>
                <a:effectLst/>
                <a:uLnTx/>
                <a:uFillTx/>
                <a:latin typeface="Arial" pitchFamily="34" charset="0"/>
                <a:ea typeface="Arial" pitchFamily="34" charset="-122"/>
                <a:cs typeface="Arial" pitchFamily="34" charset="-120"/>
              </a:rPr>
              <a:t>Marginal cost of computation → 0</a:t>
            </a:r>
            <a:endParaRPr kumimoji="0" lang="en-US" sz="1333" b="0" i="0" u="none" strike="noStrike" kern="1200" cap="none" spc="0" normalizeH="0" baseline="0" noProof="0">
              <a:ln>
                <a:noFill/>
              </a:ln>
              <a:solidFill>
                <a:srgbClr val="0672CB"/>
              </a:solidFill>
              <a:effectLst/>
              <a:uLnTx/>
              <a:uFillTx/>
              <a:latin typeface="Arial" panose="020F0502020204030204"/>
              <a:ea typeface="+mn-ea"/>
              <a:cs typeface="+mn-cs"/>
            </a:endParaRPr>
          </a:p>
        </p:txBody>
      </p:sp>
      <p:sp>
        <p:nvSpPr>
          <p:cNvPr id="11" name="Title 10">
            <a:extLst>
              <a:ext uri="{FF2B5EF4-FFF2-40B4-BE49-F238E27FC236}">
                <a16:creationId xmlns:a16="http://schemas.microsoft.com/office/drawing/2014/main" id="{9AF807E7-7E1D-7198-0C14-7392A03B4AED}"/>
              </a:ext>
            </a:extLst>
          </p:cNvPr>
          <p:cNvSpPr>
            <a:spLocks noGrp="1"/>
          </p:cNvSpPr>
          <p:nvPr>
            <p:ph type="title"/>
          </p:nvPr>
        </p:nvSpPr>
        <p:spPr>
          <a:xfrm>
            <a:off x="381000" y="342900"/>
            <a:ext cx="11430000" cy="443198"/>
          </a:xfrm>
        </p:spPr>
        <p:txBody>
          <a:bodyPr/>
          <a:lstStyle/>
          <a:p>
            <a:r>
              <a:rPr lang="en-US" dirty="0">
                <a:solidFill>
                  <a:schemeClr val="accent1"/>
                </a:solidFill>
              </a:rPr>
              <a:t>Is Generative AI a new frontier for the business world?</a:t>
            </a:r>
          </a:p>
        </p:txBody>
      </p:sp>
      <p:sp>
        <p:nvSpPr>
          <p:cNvPr id="15" name="Subtitle 14">
            <a:extLst>
              <a:ext uri="{FF2B5EF4-FFF2-40B4-BE49-F238E27FC236}">
                <a16:creationId xmlns:a16="http://schemas.microsoft.com/office/drawing/2014/main" id="{63500E59-22E4-F6C0-6EC5-052B7967E677}"/>
              </a:ext>
            </a:extLst>
          </p:cNvPr>
          <p:cNvSpPr>
            <a:spLocks noGrp="1"/>
          </p:cNvSpPr>
          <p:nvPr>
            <p:ph type="subTitle" idx="1"/>
          </p:nvPr>
        </p:nvSpPr>
        <p:spPr>
          <a:xfrm>
            <a:off x="381000" y="857250"/>
            <a:ext cx="11430000" cy="738664"/>
          </a:xfrm>
        </p:spPr>
        <p:txBody>
          <a:bodyPr/>
          <a:lstStyle/>
          <a:p>
            <a:r>
              <a:rPr lang="en-US" dirty="0">
                <a:solidFill>
                  <a:schemeClr val="accent1"/>
                </a:solidFill>
              </a:rPr>
              <a:t>Each computing wave drove a marginal cost to zero. Generative AI may continue the pattern.  The largest and most successful companies in history stemmed from these shifts.</a:t>
            </a:r>
          </a:p>
          <a:p>
            <a:endParaRPr lang="en-US" dirty="0">
              <a:solidFill>
                <a:schemeClr val="accent1"/>
              </a:solidFill>
            </a:endParaRPr>
          </a:p>
        </p:txBody>
      </p:sp>
      <p:pic>
        <p:nvPicPr>
          <p:cNvPr id="7" name="Picture 6" descr="r/singularity - MY MODEL CANNOT GENERALIZE OUT OF DISTRIBUTION THEN WE'LL TRAIN IT UNTIL THERE IS NOTHING LEFT OUT OF DISTRIBUTION">
            <a:extLst>
              <a:ext uri="{FF2B5EF4-FFF2-40B4-BE49-F238E27FC236}">
                <a16:creationId xmlns:a16="http://schemas.microsoft.com/office/drawing/2014/main" id="{CC984C92-C139-068E-04F0-23107FC1E131}"/>
              </a:ext>
            </a:extLst>
          </p:cNvPr>
          <p:cNvPicPr>
            <a:picLocks noChangeAspect="1"/>
          </p:cNvPicPr>
          <p:nvPr/>
        </p:nvPicPr>
        <p:blipFill>
          <a:blip r:embed="rId4"/>
          <a:stretch>
            <a:fillRect/>
          </a:stretch>
        </p:blipFill>
        <p:spPr>
          <a:xfrm>
            <a:off x="9764562" y="2194560"/>
            <a:ext cx="2305397" cy="3169920"/>
          </a:xfrm>
          <a:prstGeom prst="rect">
            <a:avLst/>
          </a:prstGeom>
        </p:spPr>
      </p:pic>
      <p:pic>
        <p:nvPicPr>
          <p:cNvPr id="27" name="Picture 26" descr="File:Dell Logo.png - Wikimedia Commons">
            <a:extLst>
              <a:ext uri="{FF2B5EF4-FFF2-40B4-BE49-F238E27FC236}">
                <a16:creationId xmlns:a16="http://schemas.microsoft.com/office/drawing/2014/main" id="{109AD9FF-A2AC-3FE3-8AB8-B5E6B98CC6F5}"/>
              </a:ext>
            </a:extLst>
          </p:cNvPr>
          <p:cNvPicPr>
            <a:picLocks noChangeAspect="1"/>
          </p:cNvPicPr>
          <p:nvPr/>
        </p:nvPicPr>
        <p:blipFill>
          <a:blip r:embed="rId5"/>
          <a:stretch>
            <a:fillRect/>
          </a:stretch>
        </p:blipFill>
        <p:spPr>
          <a:xfrm>
            <a:off x="669334" y="5561866"/>
            <a:ext cx="815640" cy="247163"/>
          </a:xfrm>
          <a:prstGeom prst="rect">
            <a:avLst/>
          </a:prstGeom>
        </p:spPr>
      </p:pic>
      <p:pic>
        <p:nvPicPr>
          <p:cNvPr id="28" name="Picture 27" descr="File:IBM logo.svg - Wikimedia Commons">
            <a:extLst>
              <a:ext uri="{FF2B5EF4-FFF2-40B4-BE49-F238E27FC236}">
                <a16:creationId xmlns:a16="http://schemas.microsoft.com/office/drawing/2014/main" id="{3AD54DD7-48BE-90B1-8EF4-F798A6328DAA}"/>
              </a:ext>
            </a:extLst>
          </p:cNvPr>
          <p:cNvPicPr>
            <a:picLocks noChangeAspect="1"/>
          </p:cNvPicPr>
          <p:nvPr/>
        </p:nvPicPr>
        <p:blipFill>
          <a:blip r:embed="rId6"/>
          <a:stretch>
            <a:fillRect/>
          </a:stretch>
        </p:blipFill>
        <p:spPr>
          <a:xfrm>
            <a:off x="627565" y="6388303"/>
            <a:ext cx="899179" cy="335787"/>
          </a:xfrm>
          <a:prstGeom prst="rect">
            <a:avLst/>
          </a:prstGeom>
        </p:spPr>
      </p:pic>
      <p:pic>
        <p:nvPicPr>
          <p:cNvPr id="29" name="Picture 28" descr="File:Amazon logo.svg - Wikimedia Commons">
            <a:extLst>
              <a:ext uri="{FF2B5EF4-FFF2-40B4-BE49-F238E27FC236}">
                <a16:creationId xmlns:a16="http://schemas.microsoft.com/office/drawing/2014/main" id="{45D4DC43-183D-6D6C-BF7F-C5293E0CC4AC}"/>
              </a:ext>
            </a:extLst>
          </p:cNvPr>
          <p:cNvPicPr>
            <a:picLocks noChangeAspect="1"/>
          </p:cNvPicPr>
          <p:nvPr/>
        </p:nvPicPr>
        <p:blipFill>
          <a:blip r:embed="rId7"/>
          <a:stretch>
            <a:fillRect/>
          </a:stretch>
        </p:blipFill>
        <p:spPr>
          <a:xfrm>
            <a:off x="2443726" y="5523572"/>
            <a:ext cx="1071728" cy="323751"/>
          </a:xfrm>
          <a:prstGeom prst="rect">
            <a:avLst/>
          </a:prstGeom>
        </p:spPr>
      </p:pic>
      <p:pic>
        <p:nvPicPr>
          <p:cNvPr id="34" name="Picture 33" descr="File:Google 2015 logo.svg - Wikimedia Commons">
            <a:extLst>
              <a:ext uri="{FF2B5EF4-FFF2-40B4-BE49-F238E27FC236}">
                <a16:creationId xmlns:a16="http://schemas.microsoft.com/office/drawing/2014/main" id="{7558129B-9E9B-2603-9521-A0D5FA62122D}"/>
              </a:ext>
            </a:extLst>
          </p:cNvPr>
          <p:cNvPicPr>
            <a:picLocks noChangeAspect="1"/>
          </p:cNvPicPr>
          <p:nvPr/>
        </p:nvPicPr>
        <p:blipFill>
          <a:blip r:embed="rId8"/>
          <a:stretch>
            <a:fillRect/>
          </a:stretch>
        </p:blipFill>
        <p:spPr>
          <a:xfrm>
            <a:off x="2352097" y="5912145"/>
            <a:ext cx="1254987" cy="424212"/>
          </a:xfrm>
          <a:prstGeom prst="rect">
            <a:avLst/>
          </a:prstGeom>
        </p:spPr>
      </p:pic>
      <p:pic>
        <p:nvPicPr>
          <p:cNvPr id="35" name="Picture 34" descr="File:Microsoft Azure Logo.svg - Wikimedia Commons">
            <a:extLst>
              <a:ext uri="{FF2B5EF4-FFF2-40B4-BE49-F238E27FC236}">
                <a16:creationId xmlns:a16="http://schemas.microsoft.com/office/drawing/2014/main" id="{CDFAD64B-BB45-928C-969E-E17691041190}"/>
              </a:ext>
            </a:extLst>
          </p:cNvPr>
          <p:cNvPicPr>
            <a:picLocks noChangeAspect="1"/>
          </p:cNvPicPr>
          <p:nvPr/>
        </p:nvPicPr>
        <p:blipFill>
          <a:blip r:embed="rId9"/>
          <a:stretch>
            <a:fillRect/>
          </a:stretch>
        </p:blipFill>
        <p:spPr>
          <a:xfrm>
            <a:off x="4358376" y="5519438"/>
            <a:ext cx="1152760" cy="332019"/>
          </a:xfrm>
          <a:prstGeom prst="rect">
            <a:avLst/>
          </a:prstGeom>
        </p:spPr>
      </p:pic>
      <p:pic>
        <p:nvPicPr>
          <p:cNvPr id="36" name="Picture 35" descr="File:Amazon Web Services Logo.svg - Wikimedia Commons">
            <a:extLst>
              <a:ext uri="{FF2B5EF4-FFF2-40B4-BE49-F238E27FC236}">
                <a16:creationId xmlns:a16="http://schemas.microsoft.com/office/drawing/2014/main" id="{77CDA5DE-33B8-8F64-EA82-E16C19CD74F0}"/>
              </a:ext>
            </a:extLst>
          </p:cNvPr>
          <p:cNvPicPr>
            <a:picLocks noChangeAspect="1"/>
          </p:cNvPicPr>
          <p:nvPr/>
        </p:nvPicPr>
        <p:blipFill>
          <a:blip r:embed="rId10"/>
          <a:stretch>
            <a:fillRect/>
          </a:stretch>
        </p:blipFill>
        <p:spPr>
          <a:xfrm>
            <a:off x="4594120" y="5920402"/>
            <a:ext cx="681273" cy="407699"/>
          </a:xfrm>
          <a:prstGeom prst="rect">
            <a:avLst/>
          </a:prstGeom>
        </p:spPr>
      </p:pic>
      <p:pic>
        <p:nvPicPr>
          <p:cNvPr id="37" name="Picture 36" descr="File:MSFT logo png grey.png - Wikimedia Commons">
            <a:extLst>
              <a:ext uri="{FF2B5EF4-FFF2-40B4-BE49-F238E27FC236}">
                <a16:creationId xmlns:a16="http://schemas.microsoft.com/office/drawing/2014/main" id="{4D4956DF-0FD0-5E5B-1DFC-1CC42C7D9499}"/>
              </a:ext>
            </a:extLst>
          </p:cNvPr>
          <p:cNvPicPr>
            <a:picLocks noChangeAspect="1"/>
          </p:cNvPicPr>
          <p:nvPr/>
        </p:nvPicPr>
        <p:blipFill>
          <a:blip r:embed="rId11"/>
          <a:stretch>
            <a:fillRect/>
          </a:stretch>
        </p:blipFill>
        <p:spPr>
          <a:xfrm>
            <a:off x="263534" y="5825007"/>
            <a:ext cx="1627241" cy="598488"/>
          </a:xfrm>
          <a:prstGeom prst="rect">
            <a:avLst/>
          </a:prstGeom>
        </p:spPr>
      </p:pic>
      <p:pic>
        <p:nvPicPr>
          <p:cNvPr id="39" name="Graphic 38" descr="File:Octicons-mark-github.svg - Wikimedia Commons">
            <a:extLst>
              <a:ext uri="{FF2B5EF4-FFF2-40B4-BE49-F238E27FC236}">
                <a16:creationId xmlns:a16="http://schemas.microsoft.com/office/drawing/2014/main" id="{5E101302-3E0C-8BE0-1A5F-73A8842B49E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689195" y="5419056"/>
            <a:ext cx="532783" cy="532783"/>
          </a:xfrm>
          <a:prstGeom prst="rect">
            <a:avLst/>
          </a:prstGeom>
        </p:spPr>
      </p:pic>
      <p:pic>
        <p:nvPicPr>
          <p:cNvPr id="40" name="Picture 39" descr="File:Red Hat Logo 2019.svg - Wikimedia Commons">
            <a:extLst>
              <a:ext uri="{FF2B5EF4-FFF2-40B4-BE49-F238E27FC236}">
                <a16:creationId xmlns:a16="http://schemas.microsoft.com/office/drawing/2014/main" id="{36FC16B5-E5E7-DFDE-9283-35C883ED1CF9}"/>
              </a:ext>
            </a:extLst>
          </p:cNvPr>
          <p:cNvPicPr>
            <a:picLocks noChangeAspect="1"/>
          </p:cNvPicPr>
          <p:nvPr/>
        </p:nvPicPr>
        <p:blipFill>
          <a:blip r:embed="rId13"/>
          <a:stretch>
            <a:fillRect/>
          </a:stretch>
        </p:blipFill>
        <p:spPr>
          <a:xfrm>
            <a:off x="6370060" y="5985189"/>
            <a:ext cx="1171052" cy="278125"/>
          </a:xfrm>
          <a:prstGeom prst="rect">
            <a:avLst/>
          </a:prstGeom>
        </p:spPr>
      </p:pic>
      <p:sp>
        <p:nvSpPr>
          <p:cNvPr id="41" name="Harvard Footer"/>
          <p:cNvSpPr txBox="1"/>
          <p:nvPr/>
        </p:nvSpPr>
        <p:spPr>
          <a:xfrm>
            <a:off x="17375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42" name="Harvard Page Number"/>
          <p:cNvSpPr txBox="1"/>
          <p:nvPr/>
        </p:nvSpPr>
        <p:spPr>
          <a:xfrm>
            <a:off x="9901777" y="6446043"/>
            <a:ext cx="324104" cy="274638"/>
          </a:xfrm>
          <a:prstGeom prst="rect">
            <a:avLst/>
          </a:prstGeom>
          <a:noFill/>
        </p:spPr>
        <p:txBody>
          <a:bodyPr wrap="none" lIns="0" tIns="0" rIns="0" bIns="0">
            <a:noAutofit/>
          </a:bodyPr>
          <a:lstStyle/>
          <a:p>
            <a:pPr algn="r"/>
            <a:fld id="{E53C72CC-56E7-4B76-A778-4B1533C7FEA1}" type="slidenum">
              <a:rPr lang="en-US" sz="1000">
                <a:solidFill>
                  <a:srgbClr val="8996A0"/>
                </a:solidFill>
                <a:latin typeface="Arial"/>
              </a:rPr>
              <a:t>16</a:t>
            </a:fld>
            <a:endParaRPr lang="en-US" sz="1000">
              <a:solidFill>
                <a:srgbClr val="8996A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AA985-E1CD-7ACA-0C3E-761D9006A3A1}"/>
            </a:ext>
          </a:extLst>
        </p:cNvPr>
        <p:cNvGrpSpPr/>
        <p:nvPr/>
      </p:nvGrpSpPr>
      <p:grpSpPr>
        <a:xfrm>
          <a:off x="0" y="0"/>
          <a:ext cx="0" cy="0"/>
          <a:chOff x="0" y="0"/>
          <a:chExt cx="0" cy="0"/>
        </a:xfrm>
      </p:grpSpPr>
      <p:sp>
        <p:nvSpPr>
          <p:cNvPr id="7" name="Shape 4">
            <a:extLst>
              <a:ext uri="{FF2B5EF4-FFF2-40B4-BE49-F238E27FC236}">
                <a16:creationId xmlns:a16="http://schemas.microsoft.com/office/drawing/2014/main" id="{4AAA4E64-A993-DA01-B6DA-7F2B1391FEF1}"/>
              </a:ext>
            </a:extLst>
          </p:cNvPr>
          <p:cNvSpPr/>
          <p:nvPr/>
        </p:nvSpPr>
        <p:spPr>
          <a:xfrm>
            <a:off x="403050" y="1868494"/>
            <a:ext cx="3879066" cy="4157331"/>
          </a:xfrm>
          <a:prstGeom prst="rect">
            <a:avLst/>
          </a:prstGeom>
          <a:solidFill>
            <a:schemeClr val="accent3"/>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 name="Text 5">
            <a:extLst>
              <a:ext uri="{FF2B5EF4-FFF2-40B4-BE49-F238E27FC236}">
                <a16:creationId xmlns:a16="http://schemas.microsoft.com/office/drawing/2014/main" id="{49DC6280-E0B7-D9C8-F81B-2DD57C2AAFD9}"/>
              </a:ext>
            </a:extLst>
          </p:cNvPr>
          <p:cNvSpPr/>
          <p:nvPr/>
        </p:nvSpPr>
        <p:spPr>
          <a:xfrm>
            <a:off x="556813" y="2072640"/>
            <a:ext cx="2471678" cy="514933"/>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460073"/>
                </a:solidFill>
                <a:effectLst/>
                <a:uLnTx/>
                <a:uFillTx/>
                <a:latin typeface="Arial" pitchFamily="34" charset="0"/>
                <a:ea typeface="Arial Black" pitchFamily="34" charset="-122"/>
                <a:cs typeface="Arial Black" pitchFamily="34" charset="-120"/>
              </a:rPr>
              <a:t>March 30, 2023</a:t>
            </a:r>
            <a:endParaRPr kumimoji="0" lang="en-US" sz="2133"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9" name="Text 6">
            <a:extLst>
              <a:ext uri="{FF2B5EF4-FFF2-40B4-BE49-F238E27FC236}">
                <a16:creationId xmlns:a16="http://schemas.microsoft.com/office/drawing/2014/main" id="{B222EAFC-F8DA-82FC-B401-77B98B1AE984}"/>
              </a:ext>
            </a:extLst>
          </p:cNvPr>
          <p:cNvSpPr/>
          <p:nvPr/>
        </p:nvSpPr>
        <p:spPr>
          <a:xfrm>
            <a:off x="556810" y="2393577"/>
            <a:ext cx="3725306" cy="193996"/>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460073"/>
                </a:solidFill>
                <a:effectLst/>
                <a:uLnTx/>
                <a:uFillTx/>
                <a:latin typeface="Arial" pitchFamily="34" charset="0"/>
                <a:ea typeface="Arial" pitchFamily="34" charset="-122"/>
                <a:cs typeface="Arial" pitchFamily="34" charset="-120"/>
              </a:rPr>
              <a:t>First viral AI text to video.  “Clearly fake.”</a:t>
            </a:r>
            <a:endParaRPr kumimoji="0" lang="en-US" sz="12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8" name="Shape 12">
            <a:extLst>
              <a:ext uri="{FF2B5EF4-FFF2-40B4-BE49-F238E27FC236}">
                <a16:creationId xmlns:a16="http://schemas.microsoft.com/office/drawing/2014/main" id="{0311B153-7482-F602-2D3E-362E34334AC8}"/>
              </a:ext>
            </a:extLst>
          </p:cNvPr>
          <p:cNvSpPr/>
          <p:nvPr/>
        </p:nvSpPr>
        <p:spPr>
          <a:xfrm>
            <a:off x="5174428" y="1868496"/>
            <a:ext cx="6614524" cy="4157330"/>
          </a:xfrm>
          <a:prstGeom prst="rect">
            <a:avLst/>
          </a:prstGeom>
          <a:solidFill>
            <a:srgbClr val="C00000"/>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9" name="Text 13">
            <a:extLst>
              <a:ext uri="{FF2B5EF4-FFF2-40B4-BE49-F238E27FC236}">
                <a16:creationId xmlns:a16="http://schemas.microsoft.com/office/drawing/2014/main" id="{E99BD5A2-22E6-43C5-78AD-70D9BC1C7886}"/>
              </a:ext>
            </a:extLst>
          </p:cNvPr>
          <p:cNvSpPr/>
          <p:nvPr/>
        </p:nvSpPr>
        <p:spPr>
          <a:xfrm>
            <a:off x="5390731" y="2072640"/>
            <a:ext cx="3576560" cy="514933"/>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FFFFFF"/>
                </a:solidFill>
                <a:effectLst/>
                <a:uLnTx/>
                <a:uFillTx/>
                <a:latin typeface="Arial" pitchFamily="34" charset="0"/>
                <a:ea typeface="Arial Black" pitchFamily="34" charset="-122"/>
                <a:cs typeface="Arial Black" pitchFamily="34" charset="-120"/>
              </a:rPr>
              <a:t>February 10, 2026</a:t>
            </a:r>
            <a:endParaRPr kumimoji="0" lang="en-US" sz="2133"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0" name="Text 14">
            <a:extLst>
              <a:ext uri="{FF2B5EF4-FFF2-40B4-BE49-F238E27FC236}">
                <a16:creationId xmlns:a16="http://schemas.microsoft.com/office/drawing/2014/main" id="{708B349D-3735-E1C6-96DA-C93CD926E21F}"/>
              </a:ext>
            </a:extLst>
          </p:cNvPr>
          <p:cNvSpPr/>
          <p:nvPr/>
        </p:nvSpPr>
        <p:spPr>
          <a:xfrm>
            <a:off x="5390732" y="2393577"/>
            <a:ext cx="6157421" cy="1544798"/>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AI video is high definition &amp; broadcast quality.  “Is this real?”</a:t>
            </a:r>
            <a:endParaRPr kumimoji="0" lang="en-US" sz="12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pic>
        <p:nvPicPr>
          <p:cNvPr id="10" name="Will_Smith_Eating_Spaghetti_Original.mp4">
            <a:hlinkClick r:id="" action="ppaction://media"/>
            <a:extLst>
              <a:ext uri="{FF2B5EF4-FFF2-40B4-BE49-F238E27FC236}">
                <a16:creationId xmlns:a16="http://schemas.microsoft.com/office/drawing/2014/main" id="{1DCEBCD2-5DEB-D45E-71BC-17D5F0C2F560}"/>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043953" y="3027917"/>
            <a:ext cx="2751020" cy="2751019"/>
          </a:xfrm>
          <a:prstGeom prst="rect">
            <a:avLst/>
          </a:prstGeom>
        </p:spPr>
      </p:pic>
      <p:pic>
        <p:nvPicPr>
          <p:cNvPr id="14" name="rapidsave.com_will_smith_eating_spaghetti_by_seedance_20_is-6t3nh3120qig1.mp4">
            <a:hlinkClick r:id="" action="ppaction://media"/>
            <a:extLst>
              <a:ext uri="{FF2B5EF4-FFF2-40B4-BE49-F238E27FC236}">
                <a16:creationId xmlns:a16="http://schemas.microsoft.com/office/drawing/2014/main" id="{E38CAAC9-9BD8-F6B6-8F8F-17E868E2787A}"/>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5547360" y="3027918"/>
            <a:ext cx="4890704" cy="2751019"/>
          </a:xfrm>
          <a:prstGeom prst="rect">
            <a:avLst/>
          </a:prstGeom>
        </p:spPr>
      </p:pic>
      <p:sp>
        <p:nvSpPr>
          <p:cNvPr id="2" name="Title 1">
            <a:extLst>
              <a:ext uri="{FF2B5EF4-FFF2-40B4-BE49-F238E27FC236}">
                <a16:creationId xmlns:a16="http://schemas.microsoft.com/office/drawing/2014/main" id="{13070F9A-A9A9-6056-0E35-74AF06F76BD6}"/>
              </a:ext>
            </a:extLst>
          </p:cNvPr>
          <p:cNvSpPr>
            <a:spLocks noGrp="1"/>
          </p:cNvSpPr>
          <p:nvPr>
            <p:ph type="title"/>
          </p:nvPr>
        </p:nvSpPr>
        <p:spPr/>
        <p:txBody>
          <a:bodyPr/>
          <a:lstStyle/>
          <a:p>
            <a:r>
              <a:rPr lang="en-US" dirty="0">
                <a:solidFill>
                  <a:schemeClr val="tx1"/>
                </a:solidFill>
              </a:rPr>
              <a:t>AI is currently in a hyperbolic capability curve.</a:t>
            </a:r>
          </a:p>
        </p:txBody>
      </p:sp>
      <p:sp>
        <p:nvSpPr>
          <p:cNvPr id="3" name="Subtitle 2">
            <a:extLst>
              <a:ext uri="{FF2B5EF4-FFF2-40B4-BE49-F238E27FC236}">
                <a16:creationId xmlns:a16="http://schemas.microsoft.com/office/drawing/2014/main" id="{6A88D292-AD85-F169-7D05-7ED876E82D09}"/>
              </a:ext>
            </a:extLst>
          </p:cNvPr>
          <p:cNvSpPr>
            <a:spLocks noGrp="1"/>
          </p:cNvSpPr>
          <p:nvPr>
            <p:ph type="subTitle" idx="1"/>
          </p:nvPr>
        </p:nvSpPr>
        <p:spPr>
          <a:xfrm>
            <a:off x="381000" y="857250"/>
            <a:ext cx="11430000" cy="492443"/>
          </a:xfrm>
        </p:spPr>
        <p:txBody>
          <a:bodyPr/>
          <a:lstStyle/>
          <a:p>
            <a:r>
              <a:rPr lang="en-US" dirty="0">
                <a:solidFill>
                  <a:schemeClr val="tx1"/>
                </a:solidFill>
              </a:rPr>
              <a:t>Keeping up to date is hard for individuals &amp; businesses.  Today’s application may need to be changed in the future to reduce cost, improve latency or expand capability</a:t>
            </a:r>
          </a:p>
        </p:txBody>
      </p:sp>
      <p:sp>
        <p:nvSpPr>
          <p:cNvPr id="21"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2" name="Harvard Page Number"/>
          <p:cNvSpPr txBox="1"/>
          <p:nvPr/>
        </p:nvSpPr>
        <p:spPr>
          <a:xfrm>
            <a:off x="9901777" y="6446043"/>
            <a:ext cx="324104" cy="274638"/>
          </a:xfrm>
          <a:prstGeom prst="rect">
            <a:avLst/>
          </a:prstGeom>
          <a:noFill/>
        </p:spPr>
        <p:txBody>
          <a:bodyPr wrap="none" lIns="0" tIns="0" rIns="0" bIns="0">
            <a:noAutofit/>
          </a:bodyPr>
          <a:lstStyle/>
          <a:p>
            <a:pPr algn="r"/>
            <a:fld id="{7559EB84-32BE-4FAB-A393-429E203D07EC}" type="slidenum">
              <a:rPr lang="en-US" sz="1000">
                <a:solidFill>
                  <a:srgbClr val="8996A0"/>
                </a:solidFill>
                <a:latin typeface="Arial"/>
              </a:rPr>
              <a:t>17</a:t>
            </a:fld>
            <a:endParaRPr lang="en-US" sz="1000">
              <a:solidFill>
                <a:srgbClr val="8996A0"/>
              </a:solidFill>
              <a:latin typeface="Arial"/>
            </a:endParaRPr>
          </a:p>
        </p:txBody>
      </p:sp>
    </p:spTree>
    <p:extLst>
      <p:ext uri="{BB962C8B-B14F-4D97-AF65-F5344CB8AC3E}">
        <p14:creationId xmlns:p14="http://schemas.microsoft.com/office/powerpoint/2010/main" val="1519506542"/>
      </p:ext>
    </p:extLst>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video>
              <p:cMediaNode vol="80000">
                <p:cTn id="3" fill="hold" display="0">
                  <p:stCondLst>
                    <p:cond delay="indefinite"/>
                  </p:stCondLst>
                </p:cTn>
                <p:tgtEl>
                  <p:spTgt spid="14"/>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D2676-63C4-BDFF-098A-A4F42A2A9407}"/>
              </a:ext>
            </a:extLst>
          </p:cNvPr>
          <p:cNvSpPr>
            <a:spLocks noGrp="1"/>
          </p:cNvSpPr>
          <p:nvPr>
            <p:ph type="title"/>
          </p:nvPr>
        </p:nvSpPr>
        <p:spPr/>
        <p:txBody>
          <a:bodyPr/>
          <a:lstStyle/>
          <a:p>
            <a:r>
              <a:rPr lang="en-US" dirty="0">
                <a:solidFill>
                  <a:schemeClr val="tx1"/>
                </a:solidFill>
              </a:rPr>
              <a:t>And organizations are choking on the bills</a:t>
            </a:r>
          </a:p>
        </p:txBody>
      </p:sp>
      <p:sp>
        <p:nvSpPr>
          <p:cNvPr id="3" name="Subtitle 2">
            <a:extLst>
              <a:ext uri="{FF2B5EF4-FFF2-40B4-BE49-F238E27FC236}">
                <a16:creationId xmlns:a16="http://schemas.microsoft.com/office/drawing/2014/main" id="{EBCA3486-1423-556E-A807-75AF4EBB85D0}"/>
              </a:ext>
            </a:extLst>
          </p:cNvPr>
          <p:cNvSpPr>
            <a:spLocks noGrp="1"/>
          </p:cNvSpPr>
          <p:nvPr>
            <p:ph type="subTitle" idx="1"/>
          </p:nvPr>
        </p:nvSpPr>
        <p:spPr/>
        <p:txBody>
          <a:bodyPr/>
          <a:lstStyle/>
          <a:p>
            <a:r>
              <a:rPr lang="en-US" dirty="0">
                <a:solidFill>
                  <a:schemeClr val="tx1"/>
                </a:solidFill>
              </a:rPr>
              <a:t>Models are “demand based pricing” based on the number of tokens consumed.</a:t>
            </a:r>
          </a:p>
        </p:txBody>
      </p:sp>
      <p:pic>
        <p:nvPicPr>
          <p:cNvPr id="6" name="Picture 5">
            <a:extLst>
              <a:ext uri="{FF2B5EF4-FFF2-40B4-BE49-F238E27FC236}">
                <a16:creationId xmlns:a16="http://schemas.microsoft.com/office/drawing/2014/main" id="{2DAED5E9-FB7A-C1CE-AE35-B98748921B46}"/>
              </a:ext>
            </a:extLst>
          </p:cNvPr>
          <p:cNvPicPr>
            <a:picLocks noChangeAspect="1"/>
          </p:cNvPicPr>
          <p:nvPr/>
        </p:nvPicPr>
        <p:blipFill>
          <a:blip r:embed="rId2"/>
          <a:stretch>
            <a:fillRect/>
          </a:stretch>
        </p:blipFill>
        <p:spPr>
          <a:xfrm>
            <a:off x="6457353" y="1417835"/>
            <a:ext cx="4569292" cy="2541086"/>
          </a:xfrm>
          <a:prstGeom prst="rect">
            <a:avLst/>
          </a:prstGeom>
          <a:ln>
            <a:solidFill>
              <a:schemeClr val="accent1"/>
            </a:solidFill>
          </a:ln>
        </p:spPr>
      </p:pic>
      <p:pic>
        <p:nvPicPr>
          <p:cNvPr id="7" name="Picture 6">
            <a:extLst>
              <a:ext uri="{FF2B5EF4-FFF2-40B4-BE49-F238E27FC236}">
                <a16:creationId xmlns:a16="http://schemas.microsoft.com/office/drawing/2014/main" id="{B0A354F6-B101-55BE-39E9-79A5A026A518}"/>
              </a:ext>
            </a:extLst>
          </p:cNvPr>
          <p:cNvPicPr>
            <a:picLocks noChangeAspect="1"/>
          </p:cNvPicPr>
          <p:nvPr/>
        </p:nvPicPr>
        <p:blipFill>
          <a:blip r:embed="rId3"/>
          <a:stretch>
            <a:fillRect/>
          </a:stretch>
        </p:blipFill>
        <p:spPr>
          <a:xfrm>
            <a:off x="6457353" y="4077290"/>
            <a:ext cx="4559017" cy="2245178"/>
          </a:xfrm>
          <a:prstGeom prst="rect">
            <a:avLst/>
          </a:prstGeom>
          <a:ln>
            <a:solidFill>
              <a:schemeClr val="accent1"/>
            </a:solidFill>
          </a:ln>
        </p:spPr>
      </p:pic>
      <p:pic>
        <p:nvPicPr>
          <p:cNvPr id="8" name="Picture 7" descr="Tokens Memes · ProgrammerHumor.io">
            <a:extLst>
              <a:ext uri="{FF2B5EF4-FFF2-40B4-BE49-F238E27FC236}">
                <a16:creationId xmlns:a16="http://schemas.microsoft.com/office/drawing/2014/main" id="{B085E861-F86B-D435-0953-78F4E97B8E70}"/>
              </a:ext>
            </a:extLst>
          </p:cNvPr>
          <p:cNvPicPr>
            <a:picLocks noChangeAspect="1"/>
          </p:cNvPicPr>
          <p:nvPr/>
        </p:nvPicPr>
        <p:blipFill>
          <a:blip r:embed="rId4"/>
          <a:stretch>
            <a:fillRect/>
          </a:stretch>
        </p:blipFill>
        <p:spPr>
          <a:xfrm>
            <a:off x="1606278" y="1174623"/>
            <a:ext cx="4128370" cy="5614583"/>
          </a:xfrm>
          <a:prstGeom prst="rect">
            <a:avLst/>
          </a:prstGeom>
        </p:spPr>
      </p:pic>
      <p:sp>
        <p:nvSpPr>
          <p:cNvPr id="9"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0" name="Harvard Page Number"/>
          <p:cNvSpPr txBox="1"/>
          <p:nvPr/>
        </p:nvSpPr>
        <p:spPr>
          <a:xfrm>
            <a:off x="9901777" y="6446043"/>
            <a:ext cx="324104" cy="274638"/>
          </a:xfrm>
          <a:prstGeom prst="rect">
            <a:avLst/>
          </a:prstGeom>
          <a:noFill/>
        </p:spPr>
        <p:txBody>
          <a:bodyPr wrap="none" lIns="0" tIns="0" rIns="0" bIns="0">
            <a:noAutofit/>
          </a:bodyPr>
          <a:lstStyle/>
          <a:p>
            <a:pPr algn="r"/>
            <a:fld id="{0DF414EB-03B7-4B0A-B854-B4C3D8089DD9}" type="slidenum">
              <a:rPr lang="en-US" sz="1000">
                <a:solidFill>
                  <a:srgbClr val="8996A0"/>
                </a:solidFill>
                <a:latin typeface="Arial"/>
              </a:rPr>
              <a:t>18</a:t>
            </a:fld>
            <a:endParaRPr lang="en-US" sz="1000">
              <a:solidFill>
                <a:srgbClr val="8996A0"/>
              </a:solidFill>
              <a:latin typeface="Arial"/>
            </a:endParaRPr>
          </a:p>
        </p:txBody>
      </p:sp>
    </p:spTree>
    <p:extLst>
      <p:ext uri="{BB962C8B-B14F-4D97-AF65-F5344CB8AC3E}">
        <p14:creationId xmlns:p14="http://schemas.microsoft.com/office/powerpoint/2010/main" val="2547828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7C23A-1EA0-DADE-AEA9-F50F7A92CF42}"/>
            </a:ext>
          </a:extLst>
        </p:cNvPr>
        <p:cNvGrpSpPr/>
        <p:nvPr/>
      </p:nvGrpSpPr>
      <p:grpSpPr>
        <a:xfrm>
          <a:off x="0" y="0"/>
          <a:ext cx="0" cy="0"/>
          <a:chOff x="0" y="0"/>
          <a:chExt cx="0" cy="0"/>
        </a:xfrm>
      </p:grpSpPr>
      <p:sp>
        <p:nvSpPr>
          <p:cNvPr id="7" name="Shape 4">
            <a:extLst>
              <a:ext uri="{FF2B5EF4-FFF2-40B4-BE49-F238E27FC236}">
                <a16:creationId xmlns:a16="http://schemas.microsoft.com/office/drawing/2014/main" id="{7C99B9E0-AA95-35CF-2451-3AF51A7E63EC}"/>
              </a:ext>
            </a:extLst>
          </p:cNvPr>
          <p:cNvSpPr/>
          <p:nvPr/>
        </p:nvSpPr>
        <p:spPr>
          <a:xfrm>
            <a:off x="609600" y="2072640"/>
            <a:ext cx="10850880" cy="4023360"/>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 name="Shape 5">
            <a:extLst>
              <a:ext uri="{FF2B5EF4-FFF2-40B4-BE49-F238E27FC236}">
                <a16:creationId xmlns:a16="http://schemas.microsoft.com/office/drawing/2014/main" id="{00A1CFC8-D9EC-8ED4-5CF8-FB87A887BC8E}"/>
              </a:ext>
            </a:extLst>
          </p:cNvPr>
          <p:cNvSpPr/>
          <p:nvPr/>
        </p:nvSpPr>
        <p:spPr>
          <a:xfrm>
            <a:off x="609600" y="2072640"/>
            <a:ext cx="97536" cy="4023360"/>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F0502020204030204"/>
              <a:ea typeface="+mn-ea"/>
              <a:cs typeface="+mn-cs"/>
            </a:endParaRPr>
          </a:p>
        </p:txBody>
      </p:sp>
      <p:pic>
        <p:nvPicPr>
          <p:cNvPr id="15" name="Picture 14">
            <a:extLst>
              <a:ext uri="{FF2B5EF4-FFF2-40B4-BE49-F238E27FC236}">
                <a16:creationId xmlns:a16="http://schemas.microsoft.com/office/drawing/2014/main" id="{29D5D071-A94F-3DEC-0FDE-D94D7F0FEC56}"/>
              </a:ext>
            </a:extLst>
          </p:cNvPr>
          <p:cNvPicPr>
            <a:picLocks noChangeAspect="1"/>
          </p:cNvPicPr>
          <p:nvPr/>
        </p:nvPicPr>
        <p:blipFill>
          <a:blip r:embed="rId3"/>
          <a:stretch>
            <a:fillRect/>
          </a:stretch>
        </p:blipFill>
        <p:spPr>
          <a:xfrm>
            <a:off x="807129" y="2150122"/>
            <a:ext cx="5895513" cy="3930342"/>
          </a:xfrm>
          <a:prstGeom prst="rect">
            <a:avLst/>
          </a:prstGeom>
        </p:spPr>
      </p:pic>
      <p:sp>
        <p:nvSpPr>
          <p:cNvPr id="6" name="Text 3">
            <a:extLst>
              <a:ext uri="{FF2B5EF4-FFF2-40B4-BE49-F238E27FC236}">
                <a16:creationId xmlns:a16="http://schemas.microsoft.com/office/drawing/2014/main" id="{050DAF08-0FB4-EB4A-7FDA-2BF1A6688597}"/>
              </a:ext>
            </a:extLst>
          </p:cNvPr>
          <p:cNvSpPr/>
          <p:nvPr/>
        </p:nvSpPr>
        <p:spPr>
          <a:xfrm>
            <a:off x="6960773" y="3585229"/>
            <a:ext cx="4241576" cy="998181"/>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672CB"/>
                </a:solidFill>
                <a:effectLst/>
                <a:uLnTx/>
                <a:uFillTx/>
                <a:latin typeface="Arial" pitchFamily="34" charset="0"/>
                <a:ea typeface="+mn-ea"/>
                <a:cs typeface="+mn-cs"/>
              </a:rPr>
              <a:t>Open-weight Models lag by ~4-7 months in capability but costs only the hardware to host.</a:t>
            </a:r>
            <a:endParaRPr kumimoji="0" lang="en-US" sz="2000" b="0" i="0" u="none" strike="noStrike" kern="1200" cap="none" spc="0" normalizeH="0" baseline="0" noProof="0" dirty="0">
              <a:ln>
                <a:noFill/>
              </a:ln>
              <a:solidFill>
                <a:srgbClr val="0672CB"/>
              </a:solidFill>
              <a:effectLst/>
              <a:uLnTx/>
              <a:uFillTx/>
              <a:latin typeface="Arial" panose="020F0502020204030204"/>
              <a:ea typeface="+mn-ea"/>
              <a:cs typeface="+mn-cs"/>
            </a:endParaRPr>
          </a:p>
        </p:txBody>
      </p:sp>
      <p:sp>
        <p:nvSpPr>
          <p:cNvPr id="3" name="Title 2">
            <a:extLst>
              <a:ext uri="{FF2B5EF4-FFF2-40B4-BE49-F238E27FC236}">
                <a16:creationId xmlns:a16="http://schemas.microsoft.com/office/drawing/2014/main" id="{BD86A0F6-4198-8839-24CF-F48B3C54719A}"/>
              </a:ext>
            </a:extLst>
          </p:cNvPr>
          <p:cNvSpPr>
            <a:spLocks noGrp="1"/>
          </p:cNvSpPr>
          <p:nvPr>
            <p:ph type="title"/>
          </p:nvPr>
        </p:nvSpPr>
        <p:spPr>
          <a:xfrm>
            <a:off x="381000" y="342900"/>
            <a:ext cx="11430000" cy="443198"/>
          </a:xfrm>
        </p:spPr>
        <p:txBody>
          <a:bodyPr/>
          <a:lstStyle/>
          <a:p>
            <a:r>
              <a:rPr lang="en-US" dirty="0">
                <a:solidFill>
                  <a:schemeClr val="tx1"/>
                </a:solidFill>
              </a:rPr>
              <a:t>Model Distillation (Weight Copying) is affecting the industry.</a:t>
            </a:r>
          </a:p>
        </p:txBody>
      </p:sp>
      <p:sp>
        <p:nvSpPr>
          <p:cNvPr id="1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7" name="Harvard Page Number"/>
          <p:cNvSpPr txBox="1"/>
          <p:nvPr/>
        </p:nvSpPr>
        <p:spPr>
          <a:xfrm>
            <a:off x="9901777" y="6446043"/>
            <a:ext cx="324104" cy="274638"/>
          </a:xfrm>
          <a:prstGeom prst="rect">
            <a:avLst/>
          </a:prstGeom>
          <a:noFill/>
        </p:spPr>
        <p:txBody>
          <a:bodyPr wrap="none" lIns="0" tIns="0" rIns="0" bIns="0">
            <a:noAutofit/>
          </a:bodyPr>
          <a:lstStyle/>
          <a:p>
            <a:pPr algn="r"/>
            <a:fld id="{A51580C5-E8FA-46D4-B5F9-ACDF2FA8EC11}" type="slidenum">
              <a:rPr lang="en-US" sz="1000">
                <a:solidFill>
                  <a:srgbClr val="8996A0"/>
                </a:solidFill>
                <a:latin typeface="Arial"/>
              </a:rPr>
              <a:t>19</a:t>
            </a:fld>
            <a:endParaRPr lang="en-US" sz="1000">
              <a:solidFill>
                <a:srgbClr val="8996A0"/>
              </a:solidFill>
              <a:latin typeface="Arial"/>
            </a:endParaRPr>
          </a:p>
        </p:txBody>
      </p:sp>
    </p:spTree>
    <p:extLst>
      <p:ext uri="{BB962C8B-B14F-4D97-AF65-F5344CB8AC3E}">
        <p14:creationId xmlns:p14="http://schemas.microsoft.com/office/powerpoint/2010/main" val="4234088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A51C30"/>
        </a:solidFill>
        <a:effectLst/>
      </p:bgPr>
    </p:bg>
    <p:spTree>
      <p:nvGrpSpPr>
        <p:cNvPr id="1" name="">
          <a:extLst>
            <a:ext uri="{FF2B5EF4-FFF2-40B4-BE49-F238E27FC236}">
              <a16:creationId xmlns:a16="http://schemas.microsoft.com/office/drawing/2014/main" id="{4543D0D7-D7F9-9E30-02EF-2CD6075D67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0955C-88EA-D1CE-CF5A-8A8BB6F6EC89}"/>
              </a:ext>
            </a:extLst>
          </p:cNvPr>
          <p:cNvSpPr>
            <a:spLocks noGrp="1"/>
          </p:cNvSpPr>
          <p:nvPr>
            <p:ph type="title"/>
          </p:nvPr>
        </p:nvSpPr>
        <p:spPr>
          <a:xfrm>
            <a:off x="398555" y="3438303"/>
            <a:ext cx="10748905" cy="1005840"/>
          </a:xfrm>
        </p:spPr>
        <p:txBody>
          <a:bodyPr/>
          <a:lstStyle/>
          <a:p>
            <a:r>
              <a:rPr lang="en-US" dirty="0">
                <a:solidFill>
                  <a:srgbClr val="FFFFFF"/>
                </a:solidFill>
              </a:rPr>
              <a:t>If you rent your model you pay for consumption in tokens.</a:t>
            </a:r>
          </a:p>
        </p:txBody>
      </p:sp>
      <p:sp>
        <p:nvSpPr>
          <p:cNvPr id="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extLst>
      <p:ext uri="{BB962C8B-B14F-4D97-AF65-F5344CB8AC3E}">
        <p14:creationId xmlns:p14="http://schemas.microsoft.com/office/powerpoint/2010/main" val="2704049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 name="Group 91">
            <a:extLst>
              <a:ext uri="{FF2B5EF4-FFF2-40B4-BE49-F238E27FC236}">
                <a16:creationId xmlns:a16="http://schemas.microsoft.com/office/drawing/2014/main" id="{1D9832DC-8395-D6B4-DB0A-638FDF1F7B0D}"/>
              </a:ext>
            </a:extLst>
          </p:cNvPr>
          <p:cNvGrpSpPr/>
          <p:nvPr/>
        </p:nvGrpSpPr>
        <p:grpSpPr>
          <a:xfrm>
            <a:off x="441960" y="987552"/>
            <a:ext cx="2715768" cy="310896"/>
            <a:chOff x="9976104" y="923544"/>
            <a:chExt cx="2715768" cy="310896"/>
          </a:xfrm>
        </p:grpSpPr>
        <p:sp>
          <p:nvSpPr>
            <p:cNvPr id="2" name="Shape 0"/>
            <p:cNvSpPr/>
            <p:nvPr/>
          </p:nvSpPr>
          <p:spPr>
            <a:xfrm>
              <a:off x="9976104" y="923544"/>
              <a:ext cx="2715768" cy="310896"/>
            </a:xfrm>
            <a:prstGeom prst="roundRect">
              <a:avLst>
                <a:gd name="adj" fmla="val 50000"/>
              </a:avLst>
            </a:prstGeom>
            <a:solidFill>
              <a:srgbClr val="FFFFFF"/>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 name="Text 1"/>
            <p:cNvSpPr/>
            <p:nvPr/>
          </p:nvSpPr>
          <p:spPr>
            <a:xfrm>
              <a:off x="9976104" y="923544"/>
              <a:ext cx="271576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API pricing example</a:t>
              </a: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  no caching</a:t>
              </a:r>
              <a:endParaRPr kumimoji="0" lang="en-US" sz="1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grpSp>
      <p:sp>
        <p:nvSpPr>
          <p:cNvPr id="4" name="Text 2"/>
          <p:cNvSpPr/>
          <p:nvPr/>
        </p:nvSpPr>
        <p:spPr>
          <a:xfrm>
            <a:off x="502920" y="155448"/>
            <a:ext cx="11569215"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Demand Based pricing: How tokens accumulate across turns</a:t>
            </a:r>
            <a:endParaRPr kumimoji="0" lang="en-US" sz="3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 name="Text 3"/>
          <p:cNvSpPr/>
          <p:nvPr/>
        </p:nvSpPr>
        <p:spPr>
          <a:xfrm>
            <a:off x="512064" y="627494"/>
            <a:ext cx="1106424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Every turn re-sends the whole conversation as input. Last turn's output becomes context, so input tokens grow each turn.</a:t>
            </a:r>
            <a:endParaRPr kumimoji="0" lang="en-US" sz="13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 name="Text 4"/>
          <p:cNvSpPr/>
          <p:nvPr/>
        </p:nvSpPr>
        <p:spPr>
          <a:xfrm>
            <a:off x="50292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1</a:t>
            </a:r>
            <a:endParaRPr kumimoji="0" lang="en-US" sz="17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7" name="Shape 5"/>
          <p:cNvSpPr/>
          <p:nvPr/>
        </p:nvSpPr>
        <p:spPr>
          <a:xfrm>
            <a:off x="502920" y="1691640"/>
            <a:ext cx="3383280" cy="2871216"/>
          </a:xfrm>
          <a:prstGeom prst="roundRect">
            <a:avLst>
              <a:gd name="adj" fmla="val 1911"/>
            </a:avLst>
          </a:prstGeom>
          <a:solidFill>
            <a:srgbClr val="FFFFFF">
              <a:alpha val="70000"/>
            </a:srgbClr>
          </a:solidFill>
          <a:ln w="12700">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 name="Text 6"/>
          <p:cNvSpPr/>
          <p:nvPr/>
        </p:nvSpPr>
        <p:spPr>
          <a:xfrm>
            <a:off x="548640" y="1435608"/>
            <a:ext cx="3291840" cy="21945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Model input (context window)</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9" name="Shape 7"/>
          <p:cNvSpPr/>
          <p:nvPr/>
        </p:nvSpPr>
        <p:spPr>
          <a:xfrm>
            <a:off x="640080" y="1801368"/>
            <a:ext cx="3108960" cy="365760"/>
          </a:xfrm>
          <a:prstGeom prst="roundRect">
            <a:avLst>
              <a:gd name="adj" fmla="val 12500"/>
            </a:avLst>
          </a:prstGeom>
          <a:solidFill>
            <a:srgbClr val="EFEEF2"/>
          </a:solidFill>
          <a:ln w="12700">
            <a:solidFill>
              <a:srgbClr val="9A98A3"/>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0" name="Text 8"/>
          <p:cNvSpPr/>
          <p:nvPr/>
        </p:nvSpPr>
        <p:spPr>
          <a:xfrm>
            <a:off x="768096" y="18013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System prompt</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1" name="Text 9"/>
          <p:cNvSpPr/>
          <p:nvPr/>
        </p:nvSpPr>
        <p:spPr>
          <a:xfrm>
            <a:off x="2788920" y="18013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500</a:t>
            </a:r>
            <a:r>
              <a:rPr kumimoji="0" lang="en-US" sz="9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2" name="Shape 10"/>
          <p:cNvSpPr/>
          <p:nvPr/>
        </p:nvSpPr>
        <p:spPr>
          <a:xfrm>
            <a:off x="640080" y="2258568"/>
            <a:ext cx="3108960" cy="365760"/>
          </a:xfrm>
          <a:prstGeom prst="roundRect">
            <a:avLst>
              <a:gd name="adj" fmla="val 12500"/>
            </a:avLst>
          </a:prstGeom>
          <a:solidFill>
            <a:srgbClr val="A51C30"/>
          </a:solidFill>
          <a:ln w="12700">
            <a:solidFill>
              <a:srgbClr val="A51C3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3" name="Text 11"/>
          <p:cNvSpPr/>
          <p:nvPr/>
        </p:nvSpPr>
        <p:spPr>
          <a:xfrm>
            <a:off x="768096" y="22585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User query 1</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4" name="Text 12"/>
          <p:cNvSpPr/>
          <p:nvPr/>
        </p:nvSpPr>
        <p:spPr>
          <a:xfrm>
            <a:off x="2788920" y="22585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50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5" name="Shape 13"/>
          <p:cNvSpPr/>
          <p:nvPr/>
        </p:nvSpPr>
        <p:spPr>
          <a:xfrm>
            <a:off x="1786128" y="2340864"/>
            <a:ext cx="566928" cy="201168"/>
          </a:xfrm>
          <a:prstGeom prst="roundRect">
            <a:avLst>
              <a:gd name="adj" fmla="val 50000"/>
            </a:avLst>
          </a:prstGeom>
          <a:solidFill>
            <a:srgbClr val="3F5165"/>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6" name="Text 14"/>
          <p:cNvSpPr/>
          <p:nvPr/>
        </p:nvSpPr>
        <p:spPr>
          <a:xfrm>
            <a:off x="1786128" y="2340864"/>
            <a:ext cx="5669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NEW</a:t>
            </a:r>
            <a:endParaRPr kumimoji="0" lang="en-US" sz="8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7" name="Shape 15"/>
          <p:cNvSpPr/>
          <p:nvPr/>
        </p:nvSpPr>
        <p:spPr>
          <a:xfrm>
            <a:off x="2112264" y="4581144"/>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8" name="Shape 16"/>
          <p:cNvSpPr/>
          <p:nvPr/>
        </p:nvSpPr>
        <p:spPr>
          <a:xfrm>
            <a:off x="502920" y="4700016"/>
            <a:ext cx="3383280" cy="512064"/>
          </a:xfrm>
          <a:prstGeom prst="roundRect">
            <a:avLst>
              <a:gd name="adj" fmla="val 10714"/>
            </a:avLst>
          </a:prstGeom>
          <a:solidFill>
            <a:srgbClr val="F5EAEC"/>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9" name="Text 17"/>
          <p:cNvSpPr/>
          <p:nvPr/>
        </p:nvSpPr>
        <p:spPr>
          <a:xfrm>
            <a:off x="649224" y="4700016"/>
            <a:ext cx="155448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Input this turn</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0" name="Text 18"/>
          <p:cNvSpPr/>
          <p:nvPr/>
        </p:nvSpPr>
        <p:spPr>
          <a:xfrm>
            <a:off x="2011680" y="4700016"/>
            <a:ext cx="1737360" cy="51206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550</a:t>
            </a: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tok</a:t>
            </a:r>
            <a:endParaRPr kumimoji="0" lang="en-US" sz="2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1" name="Shape 19"/>
          <p:cNvSpPr/>
          <p:nvPr/>
        </p:nvSpPr>
        <p:spPr>
          <a:xfrm>
            <a:off x="2112264" y="5230368"/>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2" name="Shape 20"/>
          <p:cNvSpPr/>
          <p:nvPr/>
        </p:nvSpPr>
        <p:spPr>
          <a:xfrm>
            <a:off x="1325880" y="5340096"/>
            <a:ext cx="1737360" cy="347472"/>
          </a:xfrm>
          <a:prstGeom prst="roundRect">
            <a:avLst>
              <a:gd name="adj" fmla="val 15789"/>
            </a:avLst>
          </a:prstGeom>
          <a:solidFill>
            <a:srgbClr val="1F1F1F"/>
          </a:solidFill>
          <a:ln w="12700">
            <a:solidFill>
              <a:srgbClr val="333333"/>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3" name="Text 21"/>
          <p:cNvSpPr/>
          <p:nvPr/>
        </p:nvSpPr>
        <p:spPr>
          <a:xfrm>
            <a:off x="1325880" y="5340096"/>
            <a:ext cx="173736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LLM</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4" name="Shape 22"/>
          <p:cNvSpPr/>
          <p:nvPr/>
        </p:nvSpPr>
        <p:spPr>
          <a:xfrm>
            <a:off x="2112264" y="5705856"/>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5" name="Shape 23"/>
          <p:cNvSpPr/>
          <p:nvPr/>
        </p:nvSpPr>
        <p:spPr>
          <a:xfrm>
            <a:off x="640080" y="5797296"/>
            <a:ext cx="3108960" cy="384048"/>
          </a:xfrm>
          <a:prstGeom prst="roundRect">
            <a:avLst>
              <a:gd name="adj" fmla="val 11905"/>
            </a:avLst>
          </a:prstGeom>
          <a:solidFill>
            <a:srgbClr val="3F5165"/>
          </a:solidFill>
          <a:ln w="12700">
            <a:solidFill>
              <a:srgbClr val="333333"/>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6" name="Text 24"/>
          <p:cNvSpPr/>
          <p:nvPr/>
        </p:nvSpPr>
        <p:spPr>
          <a:xfrm>
            <a:off x="768096" y="5797296"/>
            <a:ext cx="20574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Response 1 (output)</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7" name="Text 25"/>
          <p:cNvSpPr/>
          <p:nvPr/>
        </p:nvSpPr>
        <p:spPr>
          <a:xfrm>
            <a:off x="2788920" y="5797296"/>
            <a:ext cx="82296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200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8" name="Text 26"/>
          <p:cNvSpPr/>
          <p:nvPr/>
        </p:nvSpPr>
        <p:spPr>
          <a:xfrm>
            <a:off x="443484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2</a:t>
            </a:r>
            <a:endParaRPr kumimoji="0" lang="en-US" sz="17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9" name="Shape 27"/>
          <p:cNvSpPr/>
          <p:nvPr/>
        </p:nvSpPr>
        <p:spPr>
          <a:xfrm>
            <a:off x="4434840" y="1691640"/>
            <a:ext cx="3383280" cy="2871216"/>
          </a:xfrm>
          <a:prstGeom prst="roundRect">
            <a:avLst>
              <a:gd name="adj" fmla="val 1911"/>
            </a:avLst>
          </a:prstGeom>
          <a:solidFill>
            <a:srgbClr val="FFFFFF">
              <a:alpha val="70000"/>
            </a:srgbClr>
          </a:solidFill>
          <a:ln w="12700">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0" name="Text 28"/>
          <p:cNvSpPr/>
          <p:nvPr/>
        </p:nvSpPr>
        <p:spPr>
          <a:xfrm>
            <a:off x="4480560" y="1435608"/>
            <a:ext cx="3291840" cy="21945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Model input (context window)</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1" name="Shape 29"/>
          <p:cNvSpPr/>
          <p:nvPr/>
        </p:nvSpPr>
        <p:spPr>
          <a:xfrm>
            <a:off x="4572000" y="1801368"/>
            <a:ext cx="3108960" cy="365760"/>
          </a:xfrm>
          <a:prstGeom prst="roundRect">
            <a:avLst>
              <a:gd name="adj" fmla="val 12500"/>
            </a:avLst>
          </a:prstGeom>
          <a:solidFill>
            <a:srgbClr val="EFEEF2"/>
          </a:solidFill>
          <a:ln w="12700">
            <a:solidFill>
              <a:srgbClr val="9A98A3"/>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2" name="Text 30"/>
          <p:cNvSpPr/>
          <p:nvPr/>
        </p:nvSpPr>
        <p:spPr>
          <a:xfrm>
            <a:off x="4700016" y="18013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System prompt</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3" name="Text 31"/>
          <p:cNvSpPr/>
          <p:nvPr/>
        </p:nvSpPr>
        <p:spPr>
          <a:xfrm>
            <a:off x="6720840" y="18013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500</a:t>
            </a:r>
            <a:r>
              <a:rPr kumimoji="0" lang="en-US" sz="9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4" name="Shape 32"/>
          <p:cNvSpPr/>
          <p:nvPr/>
        </p:nvSpPr>
        <p:spPr>
          <a:xfrm>
            <a:off x="4572000" y="2258568"/>
            <a:ext cx="3108960" cy="365760"/>
          </a:xfrm>
          <a:prstGeom prst="roundRect">
            <a:avLst>
              <a:gd name="adj" fmla="val 12500"/>
            </a:avLst>
          </a:prstGeom>
          <a:solidFill>
            <a:srgbClr val="F6E7EA"/>
          </a:solidFill>
          <a:ln w="12700">
            <a:solidFill>
              <a:srgbClr val="A51C3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5" name="Text 33"/>
          <p:cNvSpPr/>
          <p:nvPr/>
        </p:nvSpPr>
        <p:spPr>
          <a:xfrm>
            <a:off x="4700016" y="22585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query 1</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6" name="Text 34"/>
          <p:cNvSpPr/>
          <p:nvPr/>
        </p:nvSpPr>
        <p:spPr>
          <a:xfrm>
            <a:off x="6720840" y="22585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50</a:t>
            </a:r>
            <a:r>
              <a:rPr kumimoji="0" lang="en-US" sz="9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7" name="Shape 35"/>
          <p:cNvSpPr/>
          <p:nvPr/>
        </p:nvSpPr>
        <p:spPr>
          <a:xfrm>
            <a:off x="4572000" y="2715768"/>
            <a:ext cx="3108960" cy="365760"/>
          </a:xfrm>
          <a:prstGeom prst="roundRect">
            <a:avLst>
              <a:gd name="adj" fmla="val 12500"/>
            </a:avLst>
          </a:prstGeom>
          <a:solidFill>
            <a:srgbClr val="ECEFF2"/>
          </a:solidFill>
          <a:ln w="12700">
            <a:solidFill>
              <a:srgbClr val="3F5165"/>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8" name="Text 36"/>
          <p:cNvSpPr/>
          <p:nvPr/>
        </p:nvSpPr>
        <p:spPr>
          <a:xfrm>
            <a:off x="4700016" y="27157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Response 1</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9" name="Text 37"/>
          <p:cNvSpPr/>
          <p:nvPr/>
        </p:nvSpPr>
        <p:spPr>
          <a:xfrm>
            <a:off x="6720840" y="27157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200</a:t>
            </a:r>
            <a:r>
              <a:rPr kumimoji="0" lang="en-US" sz="9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0" name="Shape 38"/>
          <p:cNvSpPr/>
          <p:nvPr/>
        </p:nvSpPr>
        <p:spPr>
          <a:xfrm>
            <a:off x="4572000" y="3172968"/>
            <a:ext cx="3108960" cy="365760"/>
          </a:xfrm>
          <a:prstGeom prst="roundRect">
            <a:avLst>
              <a:gd name="adj" fmla="val 12500"/>
            </a:avLst>
          </a:prstGeom>
          <a:solidFill>
            <a:srgbClr val="A51C30"/>
          </a:solidFill>
          <a:ln w="12700">
            <a:solidFill>
              <a:srgbClr val="A51C3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1" name="Text 39"/>
          <p:cNvSpPr/>
          <p:nvPr/>
        </p:nvSpPr>
        <p:spPr>
          <a:xfrm>
            <a:off x="4700016" y="31729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User query 2</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2" name="Text 40"/>
          <p:cNvSpPr/>
          <p:nvPr/>
        </p:nvSpPr>
        <p:spPr>
          <a:xfrm>
            <a:off x="6720840" y="31729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40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3" name="Shape 41"/>
          <p:cNvSpPr/>
          <p:nvPr/>
        </p:nvSpPr>
        <p:spPr>
          <a:xfrm>
            <a:off x="5728208" y="3245104"/>
            <a:ext cx="566928" cy="201168"/>
          </a:xfrm>
          <a:prstGeom prst="roundRect">
            <a:avLst>
              <a:gd name="adj" fmla="val 50000"/>
            </a:avLst>
          </a:prstGeom>
          <a:solidFill>
            <a:srgbClr val="3F5165"/>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4" name="Text 42"/>
          <p:cNvSpPr/>
          <p:nvPr/>
        </p:nvSpPr>
        <p:spPr>
          <a:xfrm>
            <a:off x="5728208" y="3245104"/>
            <a:ext cx="5669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NEW</a:t>
            </a:r>
            <a:endParaRPr kumimoji="0" lang="en-US" sz="8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5" name="Shape 43"/>
          <p:cNvSpPr/>
          <p:nvPr/>
        </p:nvSpPr>
        <p:spPr>
          <a:xfrm>
            <a:off x="6044184" y="4581144"/>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6" name="Shape 44"/>
          <p:cNvSpPr/>
          <p:nvPr/>
        </p:nvSpPr>
        <p:spPr>
          <a:xfrm>
            <a:off x="4434840" y="4700016"/>
            <a:ext cx="3383280" cy="512064"/>
          </a:xfrm>
          <a:prstGeom prst="roundRect">
            <a:avLst>
              <a:gd name="adj" fmla="val 10714"/>
            </a:avLst>
          </a:prstGeom>
          <a:solidFill>
            <a:srgbClr val="F5EAEC"/>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7" name="Text 45"/>
          <p:cNvSpPr/>
          <p:nvPr/>
        </p:nvSpPr>
        <p:spPr>
          <a:xfrm>
            <a:off x="4581144" y="4700016"/>
            <a:ext cx="155448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Input this turn</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8" name="Text 46"/>
          <p:cNvSpPr/>
          <p:nvPr/>
        </p:nvSpPr>
        <p:spPr>
          <a:xfrm>
            <a:off x="5943600" y="4700016"/>
            <a:ext cx="1737360" cy="51206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790</a:t>
            </a: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tok</a:t>
            </a:r>
            <a:endParaRPr kumimoji="0" lang="en-US" sz="2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9" name="Shape 47"/>
          <p:cNvSpPr/>
          <p:nvPr/>
        </p:nvSpPr>
        <p:spPr>
          <a:xfrm>
            <a:off x="6044184" y="5230368"/>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0" name="Shape 48"/>
          <p:cNvSpPr/>
          <p:nvPr/>
        </p:nvSpPr>
        <p:spPr>
          <a:xfrm>
            <a:off x="5257800" y="5340096"/>
            <a:ext cx="1737360" cy="347472"/>
          </a:xfrm>
          <a:prstGeom prst="roundRect">
            <a:avLst>
              <a:gd name="adj" fmla="val 15789"/>
            </a:avLst>
          </a:prstGeom>
          <a:solidFill>
            <a:srgbClr val="1F1F1F"/>
          </a:solidFill>
          <a:ln w="12700">
            <a:solidFill>
              <a:srgbClr val="333333"/>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1" name="Text 49"/>
          <p:cNvSpPr/>
          <p:nvPr/>
        </p:nvSpPr>
        <p:spPr>
          <a:xfrm>
            <a:off x="5257800" y="5340096"/>
            <a:ext cx="173736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LLM</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2" name="Shape 50"/>
          <p:cNvSpPr/>
          <p:nvPr/>
        </p:nvSpPr>
        <p:spPr>
          <a:xfrm>
            <a:off x="6044184" y="5705856"/>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3" name="Shape 51"/>
          <p:cNvSpPr/>
          <p:nvPr/>
        </p:nvSpPr>
        <p:spPr>
          <a:xfrm>
            <a:off x="4572000" y="5797296"/>
            <a:ext cx="3108960" cy="384048"/>
          </a:xfrm>
          <a:prstGeom prst="roundRect">
            <a:avLst>
              <a:gd name="adj" fmla="val 11905"/>
            </a:avLst>
          </a:prstGeom>
          <a:solidFill>
            <a:srgbClr val="3F5165"/>
          </a:solidFill>
          <a:ln w="12700">
            <a:solidFill>
              <a:srgbClr val="333333"/>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4" name="Text 52"/>
          <p:cNvSpPr/>
          <p:nvPr/>
        </p:nvSpPr>
        <p:spPr>
          <a:xfrm>
            <a:off x="4700016" y="5797296"/>
            <a:ext cx="20574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Response 2 (output)</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5" name="Text 53"/>
          <p:cNvSpPr/>
          <p:nvPr/>
        </p:nvSpPr>
        <p:spPr>
          <a:xfrm>
            <a:off x="6720840" y="5797296"/>
            <a:ext cx="82296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250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6" name="Text 54"/>
          <p:cNvSpPr/>
          <p:nvPr/>
        </p:nvSpPr>
        <p:spPr>
          <a:xfrm>
            <a:off x="836676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3</a:t>
            </a:r>
            <a:endParaRPr kumimoji="0" lang="en-US" sz="17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7" name="Shape 55"/>
          <p:cNvSpPr/>
          <p:nvPr/>
        </p:nvSpPr>
        <p:spPr>
          <a:xfrm>
            <a:off x="8366760" y="1691640"/>
            <a:ext cx="3383280" cy="2871216"/>
          </a:xfrm>
          <a:prstGeom prst="roundRect">
            <a:avLst>
              <a:gd name="adj" fmla="val 1911"/>
            </a:avLst>
          </a:prstGeom>
          <a:solidFill>
            <a:srgbClr val="FFFFFF">
              <a:alpha val="70000"/>
            </a:srgbClr>
          </a:solidFill>
          <a:ln w="12700">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8" name="Text 56"/>
          <p:cNvSpPr/>
          <p:nvPr/>
        </p:nvSpPr>
        <p:spPr>
          <a:xfrm>
            <a:off x="8412480" y="1435608"/>
            <a:ext cx="3291840" cy="21945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Model input (context window)</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9" name="Shape 57"/>
          <p:cNvSpPr/>
          <p:nvPr/>
        </p:nvSpPr>
        <p:spPr>
          <a:xfrm>
            <a:off x="8503920" y="1801368"/>
            <a:ext cx="3108960" cy="365760"/>
          </a:xfrm>
          <a:prstGeom prst="roundRect">
            <a:avLst>
              <a:gd name="adj" fmla="val 12500"/>
            </a:avLst>
          </a:prstGeom>
          <a:solidFill>
            <a:srgbClr val="EFEEF2"/>
          </a:solidFill>
          <a:ln w="12700">
            <a:solidFill>
              <a:srgbClr val="9A98A3"/>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0" name="Text 58"/>
          <p:cNvSpPr/>
          <p:nvPr/>
        </p:nvSpPr>
        <p:spPr>
          <a:xfrm>
            <a:off x="8631936" y="18013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System prompt</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1" name="Text 59"/>
          <p:cNvSpPr/>
          <p:nvPr/>
        </p:nvSpPr>
        <p:spPr>
          <a:xfrm>
            <a:off x="10652760" y="18013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500</a:t>
            </a:r>
            <a:r>
              <a:rPr kumimoji="0" lang="en-US" sz="9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2" name="Shape 60"/>
          <p:cNvSpPr/>
          <p:nvPr/>
        </p:nvSpPr>
        <p:spPr>
          <a:xfrm>
            <a:off x="8503920" y="2258568"/>
            <a:ext cx="3108960" cy="365760"/>
          </a:xfrm>
          <a:prstGeom prst="roundRect">
            <a:avLst>
              <a:gd name="adj" fmla="val 12500"/>
            </a:avLst>
          </a:prstGeom>
          <a:solidFill>
            <a:srgbClr val="F6E7EA"/>
          </a:solidFill>
          <a:ln w="12700">
            <a:solidFill>
              <a:srgbClr val="A51C3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3" name="Text 61"/>
          <p:cNvSpPr/>
          <p:nvPr/>
        </p:nvSpPr>
        <p:spPr>
          <a:xfrm>
            <a:off x="8631936" y="22585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query 1</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4" name="Text 62"/>
          <p:cNvSpPr/>
          <p:nvPr/>
        </p:nvSpPr>
        <p:spPr>
          <a:xfrm>
            <a:off x="10652760" y="22585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50</a:t>
            </a:r>
            <a:r>
              <a:rPr kumimoji="0" lang="en-US" sz="9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5" name="Shape 63"/>
          <p:cNvSpPr/>
          <p:nvPr/>
        </p:nvSpPr>
        <p:spPr>
          <a:xfrm>
            <a:off x="8503920" y="2715768"/>
            <a:ext cx="3108960" cy="365760"/>
          </a:xfrm>
          <a:prstGeom prst="roundRect">
            <a:avLst>
              <a:gd name="adj" fmla="val 12500"/>
            </a:avLst>
          </a:prstGeom>
          <a:solidFill>
            <a:srgbClr val="ECEFF2"/>
          </a:solidFill>
          <a:ln w="12700">
            <a:solidFill>
              <a:srgbClr val="3F5165"/>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6" name="Text 64"/>
          <p:cNvSpPr/>
          <p:nvPr/>
        </p:nvSpPr>
        <p:spPr>
          <a:xfrm>
            <a:off x="8631936" y="27157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Response 1</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7" name="Text 65"/>
          <p:cNvSpPr/>
          <p:nvPr/>
        </p:nvSpPr>
        <p:spPr>
          <a:xfrm>
            <a:off x="10652760" y="27157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200</a:t>
            </a:r>
            <a:r>
              <a:rPr kumimoji="0" lang="en-US" sz="9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8" name="Shape 66"/>
          <p:cNvSpPr/>
          <p:nvPr/>
        </p:nvSpPr>
        <p:spPr>
          <a:xfrm>
            <a:off x="8503920" y="3172968"/>
            <a:ext cx="3108960" cy="365760"/>
          </a:xfrm>
          <a:prstGeom prst="roundRect">
            <a:avLst>
              <a:gd name="adj" fmla="val 12500"/>
            </a:avLst>
          </a:prstGeom>
          <a:solidFill>
            <a:srgbClr val="F6E7EA"/>
          </a:solidFill>
          <a:ln w="12700">
            <a:solidFill>
              <a:srgbClr val="A51C3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9" name="Text 67"/>
          <p:cNvSpPr/>
          <p:nvPr/>
        </p:nvSpPr>
        <p:spPr>
          <a:xfrm>
            <a:off x="8631936" y="31729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query 2</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70" name="Text 68"/>
          <p:cNvSpPr/>
          <p:nvPr/>
        </p:nvSpPr>
        <p:spPr>
          <a:xfrm>
            <a:off x="10652760" y="31729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40</a:t>
            </a:r>
            <a:r>
              <a:rPr kumimoji="0" lang="en-US" sz="9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71" name="Shape 69"/>
          <p:cNvSpPr/>
          <p:nvPr/>
        </p:nvSpPr>
        <p:spPr>
          <a:xfrm>
            <a:off x="8503920" y="3630168"/>
            <a:ext cx="3108960" cy="365760"/>
          </a:xfrm>
          <a:prstGeom prst="roundRect">
            <a:avLst>
              <a:gd name="adj" fmla="val 12500"/>
            </a:avLst>
          </a:prstGeom>
          <a:solidFill>
            <a:srgbClr val="ECEFF2"/>
          </a:solidFill>
          <a:ln w="12700">
            <a:solidFill>
              <a:srgbClr val="3F5165"/>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72" name="Text 70"/>
          <p:cNvSpPr/>
          <p:nvPr/>
        </p:nvSpPr>
        <p:spPr>
          <a:xfrm>
            <a:off x="8631936" y="36301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Response 2</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73" name="Text 71"/>
          <p:cNvSpPr/>
          <p:nvPr/>
        </p:nvSpPr>
        <p:spPr>
          <a:xfrm>
            <a:off x="10652760" y="36301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250</a:t>
            </a:r>
            <a:r>
              <a:rPr kumimoji="0" lang="en-US" sz="9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74" name="Shape 72"/>
          <p:cNvSpPr/>
          <p:nvPr/>
        </p:nvSpPr>
        <p:spPr>
          <a:xfrm>
            <a:off x="8503920" y="4087368"/>
            <a:ext cx="3108960" cy="365760"/>
          </a:xfrm>
          <a:prstGeom prst="roundRect">
            <a:avLst>
              <a:gd name="adj" fmla="val 12500"/>
            </a:avLst>
          </a:prstGeom>
          <a:solidFill>
            <a:srgbClr val="A51C30"/>
          </a:solidFill>
          <a:ln w="12700">
            <a:solidFill>
              <a:srgbClr val="A51C3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75" name="Text 73"/>
          <p:cNvSpPr/>
          <p:nvPr/>
        </p:nvSpPr>
        <p:spPr>
          <a:xfrm>
            <a:off x="8631936" y="40873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User query 3</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76" name="Text 74"/>
          <p:cNvSpPr/>
          <p:nvPr/>
        </p:nvSpPr>
        <p:spPr>
          <a:xfrm>
            <a:off x="10652760" y="40873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60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77" name="Shape 75"/>
          <p:cNvSpPr/>
          <p:nvPr/>
        </p:nvSpPr>
        <p:spPr>
          <a:xfrm>
            <a:off x="9670288" y="4159504"/>
            <a:ext cx="566928" cy="201168"/>
          </a:xfrm>
          <a:prstGeom prst="roundRect">
            <a:avLst>
              <a:gd name="adj" fmla="val 50000"/>
            </a:avLst>
          </a:prstGeom>
          <a:solidFill>
            <a:srgbClr val="3F5165"/>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78" name="Text 76"/>
          <p:cNvSpPr/>
          <p:nvPr/>
        </p:nvSpPr>
        <p:spPr>
          <a:xfrm>
            <a:off x="9670288" y="4159504"/>
            <a:ext cx="5669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NEW</a:t>
            </a:r>
            <a:endParaRPr kumimoji="0" lang="en-US" sz="8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79" name="Shape 77"/>
          <p:cNvSpPr/>
          <p:nvPr/>
        </p:nvSpPr>
        <p:spPr>
          <a:xfrm>
            <a:off x="9976104" y="4581144"/>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0" name="Shape 78"/>
          <p:cNvSpPr/>
          <p:nvPr/>
        </p:nvSpPr>
        <p:spPr>
          <a:xfrm>
            <a:off x="8366760" y="4700016"/>
            <a:ext cx="3383280" cy="512064"/>
          </a:xfrm>
          <a:prstGeom prst="roundRect">
            <a:avLst>
              <a:gd name="adj" fmla="val 10714"/>
            </a:avLst>
          </a:prstGeom>
          <a:solidFill>
            <a:srgbClr val="F5EAEC"/>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1" name="Text 79"/>
          <p:cNvSpPr/>
          <p:nvPr/>
        </p:nvSpPr>
        <p:spPr>
          <a:xfrm>
            <a:off x="8513064" y="4700016"/>
            <a:ext cx="155448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Input this turn</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82" name="Text 80"/>
          <p:cNvSpPr/>
          <p:nvPr/>
        </p:nvSpPr>
        <p:spPr>
          <a:xfrm>
            <a:off x="9875520" y="4700016"/>
            <a:ext cx="1737360" cy="51206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1,100</a:t>
            </a: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tok</a:t>
            </a:r>
            <a:endParaRPr kumimoji="0" lang="en-US" sz="2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83" name="Shape 81"/>
          <p:cNvSpPr/>
          <p:nvPr/>
        </p:nvSpPr>
        <p:spPr>
          <a:xfrm>
            <a:off x="9976104" y="5230368"/>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4" name="Shape 82"/>
          <p:cNvSpPr/>
          <p:nvPr/>
        </p:nvSpPr>
        <p:spPr>
          <a:xfrm>
            <a:off x="9189720" y="5340096"/>
            <a:ext cx="1737360" cy="347472"/>
          </a:xfrm>
          <a:prstGeom prst="roundRect">
            <a:avLst>
              <a:gd name="adj" fmla="val 15789"/>
            </a:avLst>
          </a:prstGeom>
          <a:solidFill>
            <a:srgbClr val="1F1F1F"/>
          </a:solidFill>
          <a:ln w="12700">
            <a:solidFill>
              <a:srgbClr val="333333"/>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5" name="Text 83"/>
          <p:cNvSpPr/>
          <p:nvPr/>
        </p:nvSpPr>
        <p:spPr>
          <a:xfrm>
            <a:off x="9189720" y="5340096"/>
            <a:ext cx="173736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LLM</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86" name="Shape 84"/>
          <p:cNvSpPr/>
          <p:nvPr/>
        </p:nvSpPr>
        <p:spPr>
          <a:xfrm>
            <a:off x="9976104" y="5705856"/>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7" name="Shape 85"/>
          <p:cNvSpPr/>
          <p:nvPr/>
        </p:nvSpPr>
        <p:spPr>
          <a:xfrm>
            <a:off x="8503920" y="5797296"/>
            <a:ext cx="3108960" cy="384048"/>
          </a:xfrm>
          <a:prstGeom prst="roundRect">
            <a:avLst>
              <a:gd name="adj" fmla="val 11905"/>
            </a:avLst>
          </a:prstGeom>
          <a:solidFill>
            <a:srgbClr val="3F5165"/>
          </a:solidFill>
          <a:ln w="12700">
            <a:solidFill>
              <a:srgbClr val="333333"/>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8" name="Text 86"/>
          <p:cNvSpPr/>
          <p:nvPr/>
        </p:nvSpPr>
        <p:spPr>
          <a:xfrm>
            <a:off x="8631936" y="5797296"/>
            <a:ext cx="20574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Response 3 (output)</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89" name="Text 87"/>
          <p:cNvSpPr/>
          <p:nvPr/>
        </p:nvSpPr>
        <p:spPr>
          <a:xfrm>
            <a:off x="10652760" y="5797296"/>
            <a:ext cx="82296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300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90" name="Text 88"/>
          <p:cNvSpPr/>
          <p:nvPr/>
        </p:nvSpPr>
        <p:spPr>
          <a:xfrm>
            <a:off x="3977640" y="2743200"/>
            <a:ext cx="457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4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91" name="Text 89"/>
          <p:cNvSpPr/>
          <p:nvPr/>
        </p:nvSpPr>
        <p:spPr>
          <a:xfrm>
            <a:off x="7909560" y="2743200"/>
            <a:ext cx="457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4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02" name="Text 100"/>
          <p:cNvSpPr/>
          <p:nvPr/>
        </p:nvSpPr>
        <p:spPr>
          <a:xfrm>
            <a:off x="566928" y="6446520"/>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Input grows every turn:  </a:t>
            </a:r>
            <a:r>
              <a:rPr kumimoji="0" lang="en-US" sz="10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550  &gt;  790  &gt;  1,100 tokens</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03" name="Harvard Page Number"/>
          <p:cNvSpPr txBox="1"/>
          <p:nvPr/>
        </p:nvSpPr>
        <p:spPr>
          <a:xfrm>
            <a:off x="11730577" y="6446043"/>
            <a:ext cx="324104" cy="274638"/>
          </a:xfrm>
          <a:prstGeom prst="rect">
            <a:avLst/>
          </a:prstGeom>
          <a:noFill/>
        </p:spPr>
        <p:txBody>
          <a:bodyPr wrap="none" lIns="0" tIns="0" rIns="0" bIns="0">
            <a:noAutofit/>
          </a:bodyPr>
          <a:lstStyle/>
          <a:p>
            <a:pPr algn="r"/>
            <a:fld id="{5AE26216-8A5B-4DE8-ABF3-5A48E5E862D9}" type="slidenum">
              <a:rPr lang="en-US" sz="1000">
                <a:solidFill>
                  <a:srgbClr val="8996A0"/>
                </a:solidFill>
                <a:latin typeface="Arial"/>
              </a:rPr>
              <a:t>21</a:t>
            </a:fld>
            <a:endParaRPr lang="en-US" sz="1000">
              <a:solidFill>
                <a:srgbClr val="8996A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101922"/>
            <a:ext cx="832104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The cost of a filling context window</a:t>
            </a:r>
            <a:endParaRPr kumimoji="0" lang="en-US" sz="3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 name="Text 3"/>
          <p:cNvSpPr/>
          <p:nvPr/>
        </p:nvSpPr>
        <p:spPr>
          <a:xfrm>
            <a:off x="566928" y="536522"/>
            <a:ext cx="1106424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Pricing assumption: </a:t>
            </a:r>
            <a:r>
              <a:rPr kumimoji="0" lang="en-US" sz="13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$5 per million input tokens</a:t>
            </a:r>
            <a:r>
              <a:rPr kumimoji="0" lang="en-US" sz="13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and  </a:t>
            </a:r>
            <a:r>
              <a:rPr kumimoji="0" lang="en-US" sz="13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$25 per million output tokens</a:t>
            </a:r>
            <a:r>
              <a:rPr kumimoji="0" lang="en-US" sz="13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Context window capacity: 1,000,000 tokens.</a:t>
            </a:r>
            <a:endParaRPr kumimoji="0" lang="en-US" sz="13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 name="Text 4"/>
          <p:cNvSpPr/>
          <p:nvPr/>
        </p:nvSpPr>
        <p:spPr>
          <a:xfrm>
            <a:off x="50292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N</a:t>
            </a:r>
            <a:endParaRPr kumimoji="0" lang="en-US" sz="17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7" name="Text 5"/>
          <p:cNvSpPr/>
          <p:nvPr/>
        </p:nvSpPr>
        <p:spPr>
          <a:xfrm>
            <a:off x="292608" y="1572768"/>
            <a:ext cx="150876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used / 1M limit</a:t>
            </a:r>
            <a:endParaRPr kumimoji="0" lang="en-US" sz="9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8" name="Shape 6"/>
          <p:cNvSpPr/>
          <p:nvPr/>
        </p:nvSpPr>
        <p:spPr>
          <a:xfrm>
            <a:off x="612648" y="1810512"/>
            <a:ext cx="868680" cy="2331720"/>
          </a:xfrm>
          <a:prstGeom prst="roundRect">
            <a:avLst>
              <a:gd name="adj" fmla="val 6316"/>
            </a:avLst>
          </a:prstGeom>
          <a:solidFill>
            <a:srgbClr val="FFFFFF">
              <a:alpha val="75000"/>
            </a:srgbClr>
          </a:solidFill>
          <a:ln w="15875">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9" name="Shape 7"/>
          <p:cNvSpPr/>
          <p:nvPr/>
        </p:nvSpPr>
        <p:spPr>
          <a:xfrm>
            <a:off x="649224" y="2208459"/>
            <a:ext cx="795528" cy="1897197"/>
          </a:xfrm>
          <a:prstGeom prst="roundRect">
            <a:avLst>
              <a:gd name="adj" fmla="val 5747"/>
            </a:avLst>
          </a:prstGeom>
          <a:solidFill>
            <a:srgbClr val="A51C30"/>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0" name="Text 8"/>
          <p:cNvSpPr/>
          <p:nvPr/>
        </p:nvSpPr>
        <p:spPr>
          <a:xfrm>
            <a:off x="612648" y="2263323"/>
            <a:ext cx="868680" cy="548640"/>
          </a:xfrm>
          <a:prstGeom prst="rect">
            <a:avLst/>
          </a:prstGeom>
          <a:noFill/>
          <a:ln/>
        </p:spPr>
        <p:txBody>
          <a:bodyPr wrap="square" lIns="0" tIns="0" rIns="0" bIns="0" rtlCol="0" anchor="t"/>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840k</a:t>
            </a:r>
            <a:endParaRPr kumimoji="0" lang="en-US" sz="15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84%</a:t>
            </a:r>
            <a:endParaRPr kumimoji="0" lang="en-US" sz="15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1" name="Shape 9"/>
          <p:cNvSpPr/>
          <p:nvPr/>
        </p:nvSpPr>
        <p:spPr>
          <a:xfrm>
            <a:off x="1673352" y="1810512"/>
            <a:ext cx="2121408" cy="2331720"/>
          </a:xfrm>
          <a:prstGeom prst="roundRect">
            <a:avLst>
              <a:gd name="adj" fmla="val 2586"/>
            </a:avLst>
          </a:prstGeom>
          <a:solidFill>
            <a:srgbClr val="FFFFFF">
              <a:alpha val="92000"/>
            </a:srgbClr>
          </a:solidFill>
          <a:ln w="12700">
            <a:solidFill>
              <a:srgbClr val="E4DFE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2" name="Text 10"/>
          <p:cNvSpPr/>
          <p:nvPr/>
        </p:nvSpPr>
        <p:spPr>
          <a:xfrm>
            <a:off x="1837944" y="1956816"/>
            <a:ext cx="115214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New query this turn</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3" name="Text 11"/>
          <p:cNvSpPr/>
          <p:nvPr/>
        </p:nvSpPr>
        <p:spPr>
          <a:xfrm>
            <a:off x="2944368" y="1956816"/>
            <a:ext cx="6858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51C30"/>
                </a:solidFill>
                <a:effectLst/>
                <a:uLnTx/>
                <a:uFillTx/>
                <a:latin typeface="Arial" pitchFamily="34" charset="0"/>
                <a:ea typeface="Arial" pitchFamily="34" charset="-122"/>
                <a:cs typeface="Arial" pitchFamily="34" charset="-120"/>
              </a:rPr>
              <a:t>+40k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4" name="Shape 12"/>
          <p:cNvSpPr/>
          <p:nvPr/>
        </p:nvSpPr>
        <p:spPr>
          <a:xfrm>
            <a:off x="1837944" y="23591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5" name="Text 13"/>
          <p:cNvSpPr/>
          <p:nvPr/>
        </p:nvSpPr>
        <p:spPr>
          <a:xfrm>
            <a:off x="1837944" y="246888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Input · 800k</a:t>
            </a:r>
            <a:endParaRPr kumimoji="0" lang="en-US" sz="12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6" name="Text 14"/>
          <p:cNvSpPr/>
          <p:nvPr/>
        </p:nvSpPr>
        <p:spPr>
          <a:xfrm>
            <a:off x="2807208" y="246888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$4.00</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7" name="Text 15"/>
          <p:cNvSpPr/>
          <p:nvPr/>
        </p:nvSpPr>
        <p:spPr>
          <a:xfrm>
            <a:off x="1837944" y="283464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Output · 40k</a:t>
            </a:r>
            <a:endParaRPr kumimoji="0" lang="en-US" sz="12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8" name="Text 16"/>
          <p:cNvSpPr/>
          <p:nvPr/>
        </p:nvSpPr>
        <p:spPr>
          <a:xfrm>
            <a:off x="2807208" y="283464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$1.00</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9" name="Shape 17"/>
          <p:cNvSpPr/>
          <p:nvPr/>
        </p:nvSpPr>
        <p:spPr>
          <a:xfrm>
            <a:off x="1837944" y="32735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0" name="Text 18"/>
          <p:cNvSpPr/>
          <p:nvPr/>
        </p:nvSpPr>
        <p:spPr>
          <a:xfrm>
            <a:off x="1837944" y="3383280"/>
            <a:ext cx="786384"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cost</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1" name="Text 19"/>
          <p:cNvSpPr/>
          <p:nvPr/>
        </p:nvSpPr>
        <p:spPr>
          <a:xfrm>
            <a:off x="2532888" y="3383280"/>
            <a:ext cx="1097280" cy="6400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$5.00</a:t>
            </a:r>
            <a:endParaRPr kumimoji="0" lang="en-US" sz="2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2" name="Text 20"/>
          <p:cNvSpPr/>
          <p:nvPr/>
        </p:nvSpPr>
        <p:spPr>
          <a:xfrm>
            <a:off x="443484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N+1</a:t>
            </a:r>
            <a:endParaRPr kumimoji="0" lang="en-US" sz="17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3" name="Text 21"/>
          <p:cNvSpPr/>
          <p:nvPr/>
        </p:nvSpPr>
        <p:spPr>
          <a:xfrm>
            <a:off x="4224528" y="1572768"/>
            <a:ext cx="150876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used / 1M limit</a:t>
            </a:r>
            <a:endParaRPr kumimoji="0" lang="en-US" sz="9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4" name="Shape 22"/>
          <p:cNvSpPr/>
          <p:nvPr/>
        </p:nvSpPr>
        <p:spPr>
          <a:xfrm>
            <a:off x="4544568" y="1810512"/>
            <a:ext cx="868680" cy="2331720"/>
          </a:xfrm>
          <a:prstGeom prst="roundRect">
            <a:avLst>
              <a:gd name="adj" fmla="val 6316"/>
            </a:avLst>
          </a:prstGeom>
          <a:solidFill>
            <a:srgbClr val="FFFFFF">
              <a:alpha val="75000"/>
            </a:srgbClr>
          </a:solidFill>
          <a:ln w="15875">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5" name="Shape 23"/>
          <p:cNvSpPr/>
          <p:nvPr/>
        </p:nvSpPr>
        <p:spPr>
          <a:xfrm>
            <a:off x="4581144" y="2027773"/>
            <a:ext cx="795528" cy="2077883"/>
          </a:xfrm>
          <a:prstGeom prst="roundRect">
            <a:avLst>
              <a:gd name="adj" fmla="val 5747"/>
            </a:avLst>
          </a:prstGeom>
          <a:solidFill>
            <a:srgbClr val="A51C30"/>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6" name="Text 24"/>
          <p:cNvSpPr/>
          <p:nvPr/>
        </p:nvSpPr>
        <p:spPr>
          <a:xfrm>
            <a:off x="4544568" y="2082637"/>
            <a:ext cx="868680" cy="548640"/>
          </a:xfrm>
          <a:prstGeom prst="rect">
            <a:avLst/>
          </a:prstGeom>
          <a:noFill/>
          <a:ln/>
        </p:spPr>
        <p:txBody>
          <a:bodyPr wrap="square" lIns="0" tIns="0" rIns="0" bIns="0" rtlCol="0" anchor="t"/>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920k</a:t>
            </a:r>
            <a:endParaRPr kumimoji="0" lang="en-US" sz="15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92%</a:t>
            </a:r>
            <a:endParaRPr kumimoji="0" lang="en-US" sz="15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7" name="Shape 25"/>
          <p:cNvSpPr/>
          <p:nvPr/>
        </p:nvSpPr>
        <p:spPr>
          <a:xfrm>
            <a:off x="5605272" y="1810512"/>
            <a:ext cx="2121408" cy="2331720"/>
          </a:xfrm>
          <a:prstGeom prst="roundRect">
            <a:avLst>
              <a:gd name="adj" fmla="val 2586"/>
            </a:avLst>
          </a:prstGeom>
          <a:solidFill>
            <a:srgbClr val="FFFFFF">
              <a:alpha val="92000"/>
            </a:srgbClr>
          </a:solidFill>
          <a:ln w="12700">
            <a:solidFill>
              <a:srgbClr val="E4DFE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8" name="Text 26"/>
          <p:cNvSpPr/>
          <p:nvPr/>
        </p:nvSpPr>
        <p:spPr>
          <a:xfrm>
            <a:off x="5769864" y="1956816"/>
            <a:ext cx="115214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New query this turn</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9" name="Text 27"/>
          <p:cNvSpPr/>
          <p:nvPr/>
        </p:nvSpPr>
        <p:spPr>
          <a:xfrm>
            <a:off x="6876288" y="1956816"/>
            <a:ext cx="6858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51C30"/>
                </a:solidFill>
                <a:effectLst/>
                <a:uLnTx/>
                <a:uFillTx/>
                <a:latin typeface="Arial" pitchFamily="34" charset="0"/>
                <a:ea typeface="Arial" pitchFamily="34" charset="-122"/>
                <a:cs typeface="Arial" pitchFamily="34" charset="-120"/>
              </a:rPr>
              <a:t>+40k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0" name="Shape 28"/>
          <p:cNvSpPr/>
          <p:nvPr/>
        </p:nvSpPr>
        <p:spPr>
          <a:xfrm>
            <a:off x="5769864" y="23591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1" name="Text 29"/>
          <p:cNvSpPr/>
          <p:nvPr/>
        </p:nvSpPr>
        <p:spPr>
          <a:xfrm>
            <a:off x="5769864" y="246888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Input · 880k</a:t>
            </a:r>
            <a:endParaRPr kumimoji="0" lang="en-US" sz="12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2" name="Text 30"/>
          <p:cNvSpPr/>
          <p:nvPr/>
        </p:nvSpPr>
        <p:spPr>
          <a:xfrm>
            <a:off x="6739128" y="246888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$4.40</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3" name="Text 31"/>
          <p:cNvSpPr/>
          <p:nvPr/>
        </p:nvSpPr>
        <p:spPr>
          <a:xfrm>
            <a:off x="5769864" y="283464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Output · 40k</a:t>
            </a:r>
            <a:endParaRPr kumimoji="0" lang="en-US" sz="12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4" name="Text 32"/>
          <p:cNvSpPr/>
          <p:nvPr/>
        </p:nvSpPr>
        <p:spPr>
          <a:xfrm>
            <a:off x="6739128" y="283464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$1.00</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5" name="Shape 33"/>
          <p:cNvSpPr/>
          <p:nvPr/>
        </p:nvSpPr>
        <p:spPr>
          <a:xfrm>
            <a:off x="5769864" y="32735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6" name="Text 34"/>
          <p:cNvSpPr/>
          <p:nvPr/>
        </p:nvSpPr>
        <p:spPr>
          <a:xfrm>
            <a:off x="5769864" y="3383280"/>
            <a:ext cx="786384"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cost</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7" name="Text 35"/>
          <p:cNvSpPr/>
          <p:nvPr/>
        </p:nvSpPr>
        <p:spPr>
          <a:xfrm>
            <a:off x="6464808" y="3383280"/>
            <a:ext cx="1097280" cy="6400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$5.40</a:t>
            </a:r>
            <a:endParaRPr kumimoji="0" lang="en-US" sz="2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8" name="Text 36"/>
          <p:cNvSpPr/>
          <p:nvPr/>
        </p:nvSpPr>
        <p:spPr>
          <a:xfrm>
            <a:off x="836676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N+2</a:t>
            </a:r>
            <a:endParaRPr kumimoji="0" lang="en-US" sz="17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9" name="Text 37"/>
          <p:cNvSpPr/>
          <p:nvPr/>
        </p:nvSpPr>
        <p:spPr>
          <a:xfrm>
            <a:off x="8156448" y="1572768"/>
            <a:ext cx="150876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used / 1M limit</a:t>
            </a:r>
            <a:endParaRPr kumimoji="0" lang="en-US" sz="9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0" name="Shape 38"/>
          <p:cNvSpPr/>
          <p:nvPr/>
        </p:nvSpPr>
        <p:spPr>
          <a:xfrm>
            <a:off x="8476488" y="1810512"/>
            <a:ext cx="868680" cy="2331720"/>
          </a:xfrm>
          <a:prstGeom prst="roundRect">
            <a:avLst>
              <a:gd name="adj" fmla="val 6316"/>
            </a:avLst>
          </a:prstGeom>
          <a:solidFill>
            <a:srgbClr val="FFFFFF">
              <a:alpha val="75000"/>
            </a:srgbClr>
          </a:solidFill>
          <a:ln w="15875">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1" name="Shape 39"/>
          <p:cNvSpPr/>
          <p:nvPr/>
        </p:nvSpPr>
        <p:spPr>
          <a:xfrm>
            <a:off x="8513064" y="1892259"/>
            <a:ext cx="795528" cy="2213397"/>
          </a:xfrm>
          <a:prstGeom prst="roundRect">
            <a:avLst>
              <a:gd name="adj" fmla="val 5747"/>
            </a:avLst>
          </a:prstGeom>
          <a:solidFill>
            <a:srgbClr val="3F5165"/>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2" name="Text 40"/>
          <p:cNvSpPr/>
          <p:nvPr/>
        </p:nvSpPr>
        <p:spPr>
          <a:xfrm>
            <a:off x="8476488" y="2276307"/>
            <a:ext cx="868680" cy="548640"/>
          </a:xfrm>
          <a:prstGeom prst="rect">
            <a:avLst/>
          </a:prstGeom>
          <a:noFill/>
          <a:ln/>
        </p:spPr>
        <p:txBody>
          <a:bodyPr wrap="square" lIns="0" tIns="0" rIns="0" bIns="0" rtlCol="0" anchor="t"/>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980k</a:t>
            </a:r>
            <a:endParaRPr kumimoji="0" lang="en-US" sz="15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98%</a:t>
            </a:r>
            <a:endParaRPr kumimoji="0" lang="en-US" sz="15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3" name="Shape 41"/>
          <p:cNvSpPr/>
          <p:nvPr/>
        </p:nvSpPr>
        <p:spPr>
          <a:xfrm>
            <a:off x="8343900" y="1792224"/>
            <a:ext cx="1133856" cy="219456"/>
          </a:xfrm>
          <a:prstGeom prst="roundRect">
            <a:avLst>
              <a:gd name="adj" fmla="val 50000"/>
            </a:avLst>
          </a:prstGeom>
          <a:solidFill>
            <a:srgbClr val="FFFFFF"/>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4" name="Text 42"/>
          <p:cNvSpPr/>
          <p:nvPr/>
        </p:nvSpPr>
        <p:spPr>
          <a:xfrm>
            <a:off x="8343900" y="1792224"/>
            <a:ext cx="1133856"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3F5165"/>
                </a:solidFill>
                <a:effectLst/>
                <a:uLnTx/>
                <a:uFillTx/>
                <a:latin typeface="Arial" pitchFamily="34" charset="0"/>
                <a:ea typeface="Arial" pitchFamily="34" charset="-122"/>
                <a:cs typeface="Arial" pitchFamily="34" charset="-120"/>
              </a:rPr>
              <a:t>NEAR LIMIT</a:t>
            </a:r>
            <a:endParaRPr kumimoji="0" lang="en-US" sz="8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5" name="Shape 43"/>
          <p:cNvSpPr/>
          <p:nvPr/>
        </p:nvSpPr>
        <p:spPr>
          <a:xfrm>
            <a:off x="9537192" y="1810512"/>
            <a:ext cx="2121408" cy="2331720"/>
          </a:xfrm>
          <a:prstGeom prst="roundRect">
            <a:avLst>
              <a:gd name="adj" fmla="val 2586"/>
            </a:avLst>
          </a:prstGeom>
          <a:solidFill>
            <a:srgbClr val="FFFFFF">
              <a:alpha val="92000"/>
            </a:srgbClr>
          </a:solidFill>
          <a:ln w="12700">
            <a:solidFill>
              <a:srgbClr val="E4DFE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6" name="Text 44"/>
          <p:cNvSpPr/>
          <p:nvPr/>
        </p:nvSpPr>
        <p:spPr>
          <a:xfrm>
            <a:off x="9701784" y="1956816"/>
            <a:ext cx="115214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New query this turn</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7" name="Text 45"/>
          <p:cNvSpPr/>
          <p:nvPr/>
        </p:nvSpPr>
        <p:spPr>
          <a:xfrm>
            <a:off x="10808208" y="1956816"/>
            <a:ext cx="6858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51C30"/>
                </a:solidFill>
                <a:effectLst/>
                <a:uLnTx/>
                <a:uFillTx/>
                <a:latin typeface="Arial" pitchFamily="34" charset="0"/>
                <a:ea typeface="Arial" pitchFamily="34" charset="-122"/>
                <a:cs typeface="Arial" pitchFamily="34" charset="-120"/>
              </a:rPr>
              <a:t>+20k</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8" name="Shape 46"/>
          <p:cNvSpPr/>
          <p:nvPr/>
        </p:nvSpPr>
        <p:spPr>
          <a:xfrm>
            <a:off x="9701784" y="23591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9" name="Text 47"/>
          <p:cNvSpPr/>
          <p:nvPr/>
        </p:nvSpPr>
        <p:spPr>
          <a:xfrm>
            <a:off x="9701784" y="246888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Input · 940k</a:t>
            </a:r>
            <a:endParaRPr kumimoji="0" lang="en-US" sz="12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0" name="Text 48"/>
          <p:cNvSpPr/>
          <p:nvPr/>
        </p:nvSpPr>
        <p:spPr>
          <a:xfrm>
            <a:off x="10671048" y="246888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$4.70</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1" name="Text 49"/>
          <p:cNvSpPr/>
          <p:nvPr/>
        </p:nvSpPr>
        <p:spPr>
          <a:xfrm>
            <a:off x="9701784" y="283464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Output · 40k</a:t>
            </a:r>
            <a:endParaRPr kumimoji="0" lang="en-US" sz="12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2" name="Text 50"/>
          <p:cNvSpPr/>
          <p:nvPr/>
        </p:nvSpPr>
        <p:spPr>
          <a:xfrm>
            <a:off x="10671048" y="283464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$1.00</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3" name="Shape 51"/>
          <p:cNvSpPr/>
          <p:nvPr/>
        </p:nvSpPr>
        <p:spPr>
          <a:xfrm>
            <a:off x="9701784" y="32735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4" name="Text 52"/>
          <p:cNvSpPr/>
          <p:nvPr/>
        </p:nvSpPr>
        <p:spPr>
          <a:xfrm>
            <a:off x="9701784" y="3383280"/>
            <a:ext cx="786384"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cost</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5" name="Text 53"/>
          <p:cNvSpPr/>
          <p:nvPr/>
        </p:nvSpPr>
        <p:spPr>
          <a:xfrm>
            <a:off x="10396728" y="3383280"/>
            <a:ext cx="1097280" cy="6400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$5.70</a:t>
            </a:r>
            <a:endParaRPr kumimoji="0" lang="en-US" sz="2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6" name="Text 54"/>
          <p:cNvSpPr/>
          <p:nvPr/>
        </p:nvSpPr>
        <p:spPr>
          <a:xfrm>
            <a:off x="4069080" y="2651760"/>
            <a:ext cx="457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4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7" name="Text 55"/>
          <p:cNvSpPr/>
          <p:nvPr/>
        </p:nvSpPr>
        <p:spPr>
          <a:xfrm>
            <a:off x="7955280" y="2651760"/>
            <a:ext cx="457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4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graphicFrame>
        <p:nvGraphicFramePr>
          <p:cNvPr id="58" name="Chart 0"/>
          <p:cNvGraphicFramePr/>
          <p:nvPr/>
        </p:nvGraphicFramePr>
        <p:xfrm>
          <a:off x="502920" y="4572000"/>
          <a:ext cx="5623560" cy="1572768"/>
        </p:xfrm>
        <a:graphic>
          <a:graphicData uri="http://schemas.openxmlformats.org/drawingml/2006/chart">
            <c:chart xmlns:c="http://schemas.openxmlformats.org/drawingml/2006/chart" xmlns:r="http://schemas.openxmlformats.org/officeDocument/2006/relationships" r:id="rId3"/>
          </a:graphicData>
        </a:graphic>
      </p:graphicFrame>
      <p:sp>
        <p:nvSpPr>
          <p:cNvPr id="59" name="Shape 56"/>
          <p:cNvSpPr/>
          <p:nvPr/>
        </p:nvSpPr>
        <p:spPr>
          <a:xfrm>
            <a:off x="6446520" y="4572000"/>
            <a:ext cx="5257800" cy="1572768"/>
          </a:xfrm>
          <a:prstGeom prst="roundRect">
            <a:avLst>
              <a:gd name="adj" fmla="val 3488"/>
            </a:avLst>
          </a:prstGeom>
          <a:solidFill>
            <a:srgbClr val="F5EAEC">
              <a:alpha val="90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0" name="Text 57"/>
          <p:cNvSpPr/>
          <p:nvPr/>
        </p:nvSpPr>
        <p:spPr>
          <a:xfrm>
            <a:off x="6647688" y="4700016"/>
            <a:ext cx="4855464"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Why the cost climbs</a:t>
            </a:r>
            <a:endParaRPr kumimoji="0" lang="en-US" sz="1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1" name="Text 58"/>
          <p:cNvSpPr/>
          <p:nvPr/>
        </p:nvSpPr>
        <p:spPr>
          <a:xfrm>
            <a:off x="6647688" y="5029200"/>
            <a:ext cx="4855464" cy="100584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Every turn re-bills the entire context, not just the new message.</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At Turn N+2, about 920k of the 940k input tokens (98%) is history re-processed from earlier turns, roughly $4.60 of that turn's $4.70 input cost.</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2" name="Text 59"/>
          <p:cNvSpPr/>
          <p:nvPr/>
        </p:nvSpPr>
        <p:spPr>
          <a:xfrm>
            <a:off x="502920" y="6272784"/>
            <a:ext cx="11228832" cy="512064"/>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The 1M window is a capacity limit, not a billed amount: you pay for tokens processed each turn, not for the size of the window.</a:t>
            </a:r>
            <a:endParaRPr kumimoji="0" lang="en-US" sz="9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This is an API pricing example without caching. On subscription apps (e.g., Claude.ai) caching is provider-managed: it optimizes speed and capacity rather than lowering your bill, and the savings accrue to the provider.</a:t>
            </a:r>
            <a:endParaRPr kumimoji="0" lang="en-US" sz="9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grpSp>
        <p:nvGrpSpPr>
          <p:cNvPr id="63" name="Group 62">
            <a:extLst>
              <a:ext uri="{FF2B5EF4-FFF2-40B4-BE49-F238E27FC236}">
                <a16:creationId xmlns:a16="http://schemas.microsoft.com/office/drawing/2014/main" id="{0E337160-1A2E-646A-EA3F-BCEB119277EA}"/>
              </a:ext>
            </a:extLst>
          </p:cNvPr>
          <p:cNvGrpSpPr/>
          <p:nvPr/>
        </p:nvGrpSpPr>
        <p:grpSpPr>
          <a:xfrm>
            <a:off x="441960" y="987552"/>
            <a:ext cx="2715768" cy="310896"/>
            <a:chOff x="9976104" y="923544"/>
            <a:chExt cx="2715768" cy="310896"/>
          </a:xfrm>
        </p:grpSpPr>
        <p:sp>
          <p:nvSpPr>
            <p:cNvPr id="64" name="Shape 0">
              <a:extLst>
                <a:ext uri="{FF2B5EF4-FFF2-40B4-BE49-F238E27FC236}">
                  <a16:creationId xmlns:a16="http://schemas.microsoft.com/office/drawing/2014/main" id="{A623A1EB-0FE0-58B7-5499-229A75805D0D}"/>
                </a:ext>
              </a:extLst>
            </p:cNvPr>
            <p:cNvSpPr/>
            <p:nvPr/>
          </p:nvSpPr>
          <p:spPr>
            <a:xfrm>
              <a:off x="9976104" y="923544"/>
              <a:ext cx="2715768" cy="310896"/>
            </a:xfrm>
            <a:prstGeom prst="roundRect">
              <a:avLst>
                <a:gd name="adj" fmla="val 50000"/>
              </a:avLst>
            </a:prstGeom>
            <a:solidFill>
              <a:srgbClr val="FFFFFF"/>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5" name="Text 1">
              <a:extLst>
                <a:ext uri="{FF2B5EF4-FFF2-40B4-BE49-F238E27FC236}">
                  <a16:creationId xmlns:a16="http://schemas.microsoft.com/office/drawing/2014/main" id="{0838EAD5-CE4A-0D31-4ECF-FDE2F27E605F}"/>
                </a:ext>
              </a:extLst>
            </p:cNvPr>
            <p:cNvSpPr/>
            <p:nvPr/>
          </p:nvSpPr>
          <p:spPr>
            <a:xfrm>
              <a:off x="9976104" y="923544"/>
              <a:ext cx="271576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API pricing example</a:t>
              </a: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  no caching</a:t>
              </a:r>
              <a:endParaRPr kumimoji="0" lang="en-US" sz="1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grpSp>
      <p:sp>
        <p:nvSpPr>
          <p:cNvPr id="66" name="Harvard Page Number"/>
          <p:cNvSpPr txBox="1"/>
          <p:nvPr/>
        </p:nvSpPr>
        <p:spPr>
          <a:xfrm>
            <a:off x="11730577" y="6446043"/>
            <a:ext cx="324104" cy="274638"/>
          </a:xfrm>
          <a:prstGeom prst="rect">
            <a:avLst/>
          </a:prstGeom>
          <a:noFill/>
        </p:spPr>
        <p:txBody>
          <a:bodyPr wrap="none" lIns="0" tIns="0" rIns="0" bIns="0">
            <a:noAutofit/>
          </a:bodyPr>
          <a:lstStyle/>
          <a:p>
            <a:pPr algn="r"/>
            <a:fld id="{66816347-EDEC-402E-909E-29CBF278BE8D}" type="slidenum">
              <a:rPr lang="en-US" sz="1000">
                <a:solidFill>
                  <a:srgbClr val="8996A0"/>
                </a:solidFill>
                <a:latin typeface="Arial"/>
              </a:rPr>
              <a:t>22</a:t>
            </a:fld>
            <a:endParaRPr lang="en-US" sz="1000">
              <a:solidFill>
                <a:srgbClr val="8996A0"/>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CCD76A22-F40B-2821-9C1C-444E1B755BA2}"/>
              </a:ext>
            </a:extLst>
          </p:cNvPr>
          <p:cNvGrpSpPr/>
          <p:nvPr/>
        </p:nvGrpSpPr>
        <p:grpSpPr>
          <a:xfrm>
            <a:off x="457199" y="913374"/>
            <a:ext cx="2715768" cy="310896"/>
            <a:chOff x="9015984" y="365760"/>
            <a:chExt cx="2715768" cy="310896"/>
          </a:xfrm>
        </p:grpSpPr>
        <p:sp>
          <p:nvSpPr>
            <p:cNvPr id="2" name="Shape 0"/>
            <p:cNvSpPr/>
            <p:nvPr/>
          </p:nvSpPr>
          <p:spPr>
            <a:xfrm>
              <a:off x="9015984" y="365760"/>
              <a:ext cx="2715768" cy="310896"/>
            </a:xfrm>
            <a:prstGeom prst="roundRect">
              <a:avLst>
                <a:gd name="adj" fmla="val 50000"/>
              </a:avLst>
            </a:prstGeom>
            <a:solidFill>
              <a:srgbClr val="FFFFFF"/>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 name="Text 1"/>
            <p:cNvSpPr/>
            <p:nvPr/>
          </p:nvSpPr>
          <p:spPr>
            <a:xfrm>
              <a:off x="9015984" y="365760"/>
              <a:ext cx="271576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API pricing example</a:t>
              </a: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  no caching</a:t>
              </a:r>
              <a:endParaRPr kumimoji="0" lang="en-US" sz="1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grpSp>
      <p:sp>
        <p:nvSpPr>
          <p:cNvPr id="4" name="Text 2"/>
          <p:cNvSpPr/>
          <p:nvPr/>
        </p:nvSpPr>
        <p:spPr>
          <a:xfrm>
            <a:off x="457199" y="99662"/>
            <a:ext cx="11512193"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Compaction [conversation summarization] &amp; the shape of cumulative cost</a:t>
            </a:r>
            <a:endParaRPr kumimoji="0" lang="en-US" sz="2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 name="Text 3"/>
          <p:cNvSpPr/>
          <p:nvPr/>
        </p:nvSpPr>
        <p:spPr>
          <a:xfrm>
            <a:off x="502920" y="529326"/>
            <a:ext cx="111556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Illustrative model. Context grows toward the 1M limit, compaction compresses it back to about 50k, and the cycle repeats. </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 name="Text 4"/>
          <p:cNvSpPr/>
          <p:nvPr/>
        </p:nvSpPr>
        <p:spPr>
          <a:xfrm>
            <a:off x="457200" y="1298448"/>
            <a:ext cx="5532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Context window over turns</a:t>
            </a:r>
            <a:endParaRPr kumimoji="0" lang="en-US" sz="15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7" name="Text 5"/>
          <p:cNvSpPr/>
          <p:nvPr/>
        </p:nvSpPr>
        <p:spPr>
          <a:xfrm>
            <a:off x="6217920" y="1298448"/>
            <a:ext cx="54864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Cumulative cost over turns</a:t>
            </a:r>
            <a:endParaRPr kumimoji="0" lang="en-US" sz="15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8" name="Shape 6"/>
          <p:cNvSpPr/>
          <p:nvPr/>
        </p:nvSpPr>
        <p:spPr>
          <a:xfrm>
            <a:off x="457200" y="1645920"/>
            <a:ext cx="5532120" cy="585216"/>
          </a:xfrm>
          <a:prstGeom prst="roundRect">
            <a:avLst>
              <a:gd name="adj" fmla="val 7813"/>
            </a:avLst>
          </a:prstGeom>
          <a:solidFill>
            <a:srgbClr val="F5EAEC">
              <a:alpha val="88000"/>
            </a:srgbClr>
          </a:solidFill>
          <a:ln w="12700">
            <a:solidFill>
              <a:srgbClr val="E0DB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9" name="Text 7"/>
          <p:cNvSpPr/>
          <p:nvPr/>
        </p:nvSpPr>
        <p:spPr>
          <a:xfrm>
            <a:off x="585216" y="1664208"/>
            <a:ext cx="5276088"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22222"/>
                </a:solidFill>
                <a:effectLst/>
                <a:uLnTx/>
                <a:uFillTx/>
                <a:latin typeface="Arial" pitchFamily="34" charset="0"/>
                <a:ea typeface="Courier New" pitchFamily="34" charset="-122"/>
                <a:cs typeface="Courier New" pitchFamily="34" charset="-120"/>
              </a:rPr>
              <a:t>C(t) = Cmax - (Cmax - Cmin) * e^(-r * t')</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B6B6B"/>
                </a:solidFill>
                <a:effectLst/>
                <a:uLnTx/>
                <a:uFillTx/>
                <a:latin typeface="Arial" pitchFamily="34" charset="0"/>
                <a:ea typeface="Courier New" pitchFamily="34" charset="-122"/>
                <a:cs typeface="Courier New" pitchFamily="34" charset="-120"/>
              </a:rPr>
              <a:t>t' = turns since last compaction;  reset to Cmin at limit</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0" name="Shape 8"/>
          <p:cNvSpPr/>
          <p:nvPr/>
        </p:nvSpPr>
        <p:spPr>
          <a:xfrm>
            <a:off x="6217920" y="1645920"/>
            <a:ext cx="5486400" cy="585216"/>
          </a:xfrm>
          <a:prstGeom prst="roundRect">
            <a:avLst>
              <a:gd name="adj" fmla="val 7813"/>
            </a:avLst>
          </a:prstGeom>
          <a:solidFill>
            <a:srgbClr val="F5EAEC">
              <a:alpha val="88000"/>
            </a:srgbClr>
          </a:solidFill>
          <a:ln w="12700">
            <a:solidFill>
              <a:srgbClr val="E0DB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1" name="Text 9"/>
          <p:cNvSpPr/>
          <p:nvPr/>
        </p:nvSpPr>
        <p:spPr>
          <a:xfrm>
            <a:off x="6345936" y="1664208"/>
            <a:ext cx="5230368"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22222"/>
                </a:solidFill>
                <a:effectLst/>
                <a:uLnTx/>
                <a:uFillTx/>
                <a:latin typeface="Arial" pitchFamily="34" charset="0"/>
                <a:ea typeface="Courier New" pitchFamily="34" charset="-122"/>
                <a:cs typeface="Courier New" pitchFamily="34" charset="-120"/>
              </a:rPr>
              <a:t>Cost(N) = SUM[t=1..N] ( 5*C(t) + 25*O ) / 1e6</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B6B6B"/>
                </a:solidFill>
                <a:effectLst/>
                <a:uLnTx/>
                <a:uFillTx/>
                <a:latin typeface="Arial" pitchFamily="34" charset="0"/>
                <a:ea typeface="Courier New" pitchFamily="34" charset="-122"/>
                <a:cs typeface="Courier New" pitchFamily="34" charset="-120"/>
              </a:rPr>
              <a:t>C(t) = input tokens (context);  O = output tokens / turn</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graphicFrame>
        <p:nvGraphicFramePr>
          <p:cNvPr id="12" name="Chart 0"/>
          <p:cNvGraphicFramePr/>
          <p:nvPr>
            <p:extLst>
              <p:ext uri="{D42A27DB-BD31-4B8C-83A1-F6EECF244321}">
                <p14:modId xmlns:p14="http://schemas.microsoft.com/office/powerpoint/2010/main" val="3253761923"/>
              </p:ext>
            </p:extLst>
          </p:nvPr>
        </p:nvGraphicFramePr>
        <p:xfrm>
          <a:off x="457200" y="2409288"/>
          <a:ext cx="553212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
          <p:cNvGraphicFramePr/>
          <p:nvPr>
            <p:extLst>
              <p:ext uri="{D42A27DB-BD31-4B8C-83A1-F6EECF244321}">
                <p14:modId xmlns:p14="http://schemas.microsoft.com/office/powerpoint/2010/main" val="3677596159"/>
              </p:ext>
            </p:extLst>
          </p:nvPr>
        </p:nvGraphicFramePr>
        <p:xfrm>
          <a:off x="6217920" y="2409288"/>
          <a:ext cx="548640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10"/>
          <p:cNvSpPr/>
          <p:nvPr/>
        </p:nvSpPr>
        <p:spPr>
          <a:xfrm>
            <a:off x="7296912" y="2500728"/>
            <a:ext cx="2093668" cy="591793"/>
          </a:xfrm>
          <a:prstGeom prst="roundRect">
            <a:avLst>
              <a:gd name="adj" fmla="val 7317"/>
            </a:avLst>
          </a:prstGeom>
          <a:solidFill>
            <a:srgbClr val="FFFFFF">
              <a:alpha val="94000"/>
            </a:srgbClr>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5" name="Text 11"/>
          <p:cNvSpPr/>
          <p:nvPr/>
        </p:nvSpPr>
        <p:spPr>
          <a:xfrm>
            <a:off x="7406640" y="2537304"/>
            <a:ext cx="1870924" cy="6766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Step-ups = compaction calls</a:t>
            </a:r>
            <a:br>
              <a:rPr kumimoji="0" lang="en-US" sz="9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br>
            <a:r>
              <a:rPr kumimoji="0" lang="en-US" sz="9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Notice the increasing slope (subtle at this scale) before compaction</a:t>
            </a:r>
            <a:endParaRPr kumimoji="0" lang="en-US" sz="9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6" name="Shape 12"/>
          <p:cNvSpPr/>
          <p:nvPr/>
        </p:nvSpPr>
        <p:spPr>
          <a:xfrm>
            <a:off x="457200" y="5495237"/>
            <a:ext cx="11247120" cy="1265160"/>
          </a:xfrm>
          <a:prstGeom prst="roundRect">
            <a:avLst>
              <a:gd name="adj" fmla="val 3750"/>
            </a:avLst>
          </a:prstGeom>
          <a:solidFill>
            <a:srgbClr val="F5EAEC">
              <a:alpha val="85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7" name="Text 13"/>
          <p:cNvSpPr/>
          <p:nvPr/>
        </p:nvSpPr>
        <p:spPr>
          <a:xfrm>
            <a:off x="658368" y="5568389"/>
            <a:ext cx="108813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Takeaway:  </a:t>
            </a: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compaction lowers the context re-billed each turn (the dips), but each compaction is itself a summary call that costs about $6 here (the step-ups). Over 30 turns the totals nearly match: about $145 with compaction versus $146 without. It pulls ahead the longer the session runs, since the dips repeat while each summary is paid once.</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8" name="Text 14"/>
          <p:cNvSpPr/>
          <p:nvPr/>
        </p:nvSpPr>
        <p:spPr>
          <a:xfrm>
            <a:off x="658368" y="6135317"/>
            <a:ext cx="108813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Assumptions (all figures fictitious, for teaching): </a:t>
            </a:r>
            <a:endParaRPr kumimoji="0" lang="en-US" sz="9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Input tokens each turn equal the current context size (the whole context is re-sent).  Output is a constant 30,000 tokens per turn.</a:t>
            </a:r>
            <a:endParaRPr kumimoji="0" lang="en-US" sz="9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Compaction is itself an LLM call: it reads the context and writes a 50,000-token summary, billed at the same $5 / $25 rates.</a:t>
            </a:r>
            <a:endParaRPr kumimoji="0" lang="en-US" sz="9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API pricing example with no caching; on subscription apps caching is provider-managed and does not lower your bill.</a:t>
            </a:r>
            <a:endParaRPr kumimoji="0" lang="en-US" sz="9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0" name="Harvard Page Number"/>
          <p:cNvSpPr txBox="1"/>
          <p:nvPr/>
        </p:nvSpPr>
        <p:spPr>
          <a:xfrm>
            <a:off x="11730577" y="6446043"/>
            <a:ext cx="324104" cy="274638"/>
          </a:xfrm>
          <a:prstGeom prst="rect">
            <a:avLst/>
          </a:prstGeom>
          <a:noFill/>
        </p:spPr>
        <p:txBody>
          <a:bodyPr wrap="none" lIns="0" tIns="0" rIns="0" bIns="0">
            <a:noAutofit/>
          </a:bodyPr>
          <a:lstStyle/>
          <a:p>
            <a:pPr algn="r"/>
            <a:fld id="{556FB5A6-27BA-4B76-B979-4EB95AE7D4E1}" type="slidenum">
              <a:rPr lang="en-US" sz="1000">
                <a:solidFill>
                  <a:srgbClr val="8996A0"/>
                </a:solidFill>
                <a:latin typeface="Arial"/>
              </a:rPr>
              <a:t>23</a:t>
            </a:fld>
            <a:endParaRPr lang="en-US" sz="1000">
              <a:solidFill>
                <a:srgbClr val="8996A0"/>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A51C30"/>
        </a:solidFill>
        <a:effectLst/>
      </p:bgPr>
    </p:bg>
    <p:spTree>
      <p:nvGrpSpPr>
        <p:cNvPr id="1" name="">
          <a:extLst>
            <a:ext uri="{FF2B5EF4-FFF2-40B4-BE49-F238E27FC236}">
              <a16:creationId xmlns:a16="http://schemas.microsoft.com/office/drawing/2014/main" id="{28B45967-C125-BB83-EA54-172DFF841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97A87-B3D8-C97A-1E1D-C60ABBAEBD80}"/>
              </a:ext>
            </a:extLst>
          </p:cNvPr>
          <p:cNvSpPr>
            <a:spLocks noGrp="1"/>
          </p:cNvSpPr>
          <p:nvPr>
            <p:ph type="title"/>
          </p:nvPr>
        </p:nvSpPr>
        <p:spPr/>
        <p:txBody>
          <a:bodyPr/>
          <a:lstStyle/>
          <a:p>
            <a:r>
              <a:rPr lang="en-US" dirty="0">
                <a:solidFill>
                  <a:srgbClr val="FFFFFF"/>
                </a:solidFill>
              </a:rPr>
              <a:t>Organizations can save with caching &amp; self-hosting </a:t>
            </a:r>
            <a:br>
              <a:rPr lang="en-US" sz="3200" dirty="0"/>
            </a:br>
            <a:r>
              <a:rPr lang="en-US" sz="3200" dirty="0">
                <a:solidFill>
                  <a:srgbClr val="FFFFFF"/>
                </a:solidFill>
              </a:rPr>
              <a:t>[besides moving to cheaper/open-weight models]</a:t>
            </a:r>
            <a:endParaRPr lang="en-US" dirty="0"/>
          </a:p>
        </p:txBody>
      </p:sp>
      <p:sp>
        <p:nvSpPr>
          <p:cNvPr id="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extLst>
      <p:ext uri="{BB962C8B-B14F-4D97-AF65-F5344CB8AC3E}">
        <p14:creationId xmlns:p14="http://schemas.microsoft.com/office/powerpoint/2010/main" val="97090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A108F-27B5-E019-9A97-121905B06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A5EE7-B1D4-8716-790F-B0D0DFEB731B}"/>
              </a:ext>
            </a:extLst>
          </p:cNvPr>
          <p:cNvSpPr>
            <a:spLocks noGrp="1"/>
          </p:cNvSpPr>
          <p:nvPr>
            <p:ph type="title"/>
          </p:nvPr>
        </p:nvSpPr>
        <p:spPr>
          <a:xfrm>
            <a:off x="381000" y="342900"/>
            <a:ext cx="11430000" cy="492443"/>
          </a:xfrm>
        </p:spPr>
        <p:txBody>
          <a:bodyPr/>
          <a:lstStyle/>
          <a:p>
            <a:pPr algn="l"/>
            <a:r>
              <a:rPr lang="en-US" dirty="0">
                <a:solidFill>
                  <a:schemeClr val="accent1"/>
                </a:solidFill>
              </a:rPr>
              <a:t>Organizations can reduce costs in various ways</a:t>
            </a:r>
          </a:p>
        </p:txBody>
      </p:sp>
      <p:sp>
        <p:nvSpPr>
          <p:cNvPr id="3" name="Subtitle 2">
            <a:extLst>
              <a:ext uri="{FF2B5EF4-FFF2-40B4-BE49-F238E27FC236}">
                <a16:creationId xmlns:a16="http://schemas.microsoft.com/office/drawing/2014/main" id="{ACE7C106-032F-7D97-B519-B96907756372}"/>
              </a:ext>
            </a:extLst>
          </p:cNvPr>
          <p:cNvSpPr>
            <a:spLocks noGrp="1"/>
          </p:cNvSpPr>
          <p:nvPr>
            <p:ph type="subTitle" idx="1"/>
          </p:nvPr>
        </p:nvSpPr>
        <p:spPr/>
        <p:txBody>
          <a:bodyPr/>
          <a:lstStyle/>
          <a:p>
            <a:r>
              <a:rPr lang="en-US" dirty="0">
                <a:solidFill>
                  <a:schemeClr val="accent1"/>
                </a:solidFill>
              </a:rPr>
              <a:t>There are more opportunities to reduce cost but these are two.</a:t>
            </a:r>
          </a:p>
        </p:txBody>
      </p:sp>
      <p:sp>
        <p:nvSpPr>
          <p:cNvPr id="4" name="Shape 4">
            <a:extLst>
              <a:ext uri="{FF2B5EF4-FFF2-40B4-BE49-F238E27FC236}">
                <a16:creationId xmlns:a16="http://schemas.microsoft.com/office/drawing/2014/main" id="{6D641D2B-D348-A79F-AB63-94A57F2D7E21}"/>
              </a:ext>
            </a:extLst>
          </p:cNvPr>
          <p:cNvSpPr/>
          <p:nvPr/>
        </p:nvSpPr>
        <p:spPr>
          <a:xfrm>
            <a:off x="6606282" y="1312353"/>
            <a:ext cx="5505704" cy="4783647"/>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pic>
        <p:nvPicPr>
          <p:cNvPr id="7" name="Picture 6" descr="All about the cache 🤓 : r/ProgrammerHumor">
            <a:extLst>
              <a:ext uri="{FF2B5EF4-FFF2-40B4-BE49-F238E27FC236}">
                <a16:creationId xmlns:a16="http://schemas.microsoft.com/office/drawing/2014/main" id="{28C09315-763A-4CF6-AE74-E1C9C503A156}"/>
              </a:ext>
            </a:extLst>
          </p:cNvPr>
          <p:cNvPicPr>
            <a:picLocks noChangeAspect="1"/>
          </p:cNvPicPr>
          <p:nvPr/>
        </p:nvPicPr>
        <p:blipFill>
          <a:blip r:embed="rId2"/>
          <a:stretch>
            <a:fillRect/>
          </a:stretch>
        </p:blipFill>
        <p:spPr>
          <a:xfrm>
            <a:off x="80014" y="1530988"/>
            <a:ext cx="6236495" cy="4219411"/>
          </a:xfrm>
          <a:prstGeom prst="rect">
            <a:avLst/>
          </a:prstGeom>
        </p:spPr>
      </p:pic>
      <p:sp>
        <p:nvSpPr>
          <p:cNvPr id="10" name="TextBox 9">
            <a:extLst>
              <a:ext uri="{FF2B5EF4-FFF2-40B4-BE49-F238E27FC236}">
                <a16:creationId xmlns:a16="http://schemas.microsoft.com/office/drawing/2014/main" id="{FEA3D18C-CCAE-F5F1-8ADE-28A7AC372A2E}"/>
              </a:ext>
            </a:extLst>
          </p:cNvPr>
          <p:cNvSpPr txBox="1"/>
          <p:nvPr/>
        </p:nvSpPr>
        <p:spPr>
          <a:xfrm>
            <a:off x="6718052" y="1522858"/>
            <a:ext cx="5393934" cy="4185761"/>
          </a:xfrm>
          <a:prstGeom prst="rect">
            <a:avLst/>
          </a:prstGeom>
          <a:noFill/>
        </p:spPr>
        <p:txBody>
          <a:bodyPr wrap="square">
            <a:spAutoFit/>
          </a:bodyPr>
          <a:lstStyle/>
          <a:p>
            <a:pPr>
              <a:buNone/>
            </a:pPr>
            <a:r>
              <a:rPr lang="en-US" sz="1400" b="1" dirty="0"/>
              <a:t>What is a Cache?</a:t>
            </a:r>
            <a:r>
              <a:rPr lang="en-US" sz="1400" dirty="0"/>
              <a:t> A high-speed storage layer that temporarily holds frequently accessed data so future requests can be served much faster than reading from primary memory.</a:t>
            </a:r>
          </a:p>
          <a:p>
            <a:pPr>
              <a:buNone/>
            </a:pPr>
            <a:endParaRPr lang="en-US" sz="1400" dirty="0"/>
          </a:p>
          <a:p>
            <a:pPr>
              <a:buNone/>
            </a:pPr>
            <a:r>
              <a:rPr lang="en-US" sz="1400" b="1" dirty="0"/>
              <a:t>The LLM Bottleneck:</a:t>
            </a:r>
            <a:r>
              <a:rPr lang="en-US" sz="1400" dirty="0"/>
              <a:t> Generating text token-by-token normally forces the model to recompute complex math for the </a:t>
            </a:r>
            <a:r>
              <a:rPr lang="en-US" sz="1400" i="1" dirty="0"/>
              <a:t>entire</a:t>
            </a:r>
            <a:r>
              <a:rPr lang="en-US" sz="1400" dirty="0"/>
              <a:t> preceding sequence at every single step.</a:t>
            </a:r>
          </a:p>
          <a:p>
            <a:pPr>
              <a:buNone/>
            </a:pPr>
            <a:endParaRPr lang="en-US" sz="1400" dirty="0"/>
          </a:p>
          <a:p>
            <a:pPr>
              <a:buNone/>
            </a:pPr>
            <a:r>
              <a:rPr lang="en-US" sz="1400" b="1" dirty="0"/>
              <a:t>The KV Cache Solution:</a:t>
            </a:r>
            <a:r>
              <a:rPr lang="en-US" sz="1400" dirty="0"/>
              <a:t> An optimization that stores the previously computed </a:t>
            </a:r>
            <a:r>
              <a:rPr lang="en-US" sz="1400" b="1" dirty="0"/>
              <a:t>Key</a:t>
            </a:r>
            <a:r>
              <a:rPr lang="en-US" sz="1400" dirty="0"/>
              <a:t> and </a:t>
            </a:r>
            <a:r>
              <a:rPr lang="en-US" sz="1400" b="1" dirty="0"/>
              <a:t>Value</a:t>
            </a:r>
            <a:r>
              <a:rPr lang="en-US" sz="1400" dirty="0"/>
              <a:t> matrices for all past tokens in memory so they can be reused instead of recalculated.</a:t>
            </a:r>
          </a:p>
          <a:p>
            <a:pPr>
              <a:buNone/>
            </a:pPr>
            <a:endParaRPr lang="en-US" sz="1400" dirty="0"/>
          </a:p>
          <a:p>
            <a:pPr>
              <a:buNone/>
            </a:pPr>
            <a:r>
              <a:rPr lang="en-US" sz="1400" b="1" dirty="0"/>
              <a:t>Eliminates Redundant Math:</a:t>
            </a:r>
            <a:r>
              <a:rPr lang="en-US" sz="1400" dirty="0"/>
              <a:t> During generation, the model only computes vectors for the single </a:t>
            </a:r>
            <a:r>
              <a:rPr lang="en-US" sz="1400" i="1" dirty="0"/>
              <a:t>newly generated</a:t>
            </a:r>
            <a:r>
              <a:rPr lang="en-US" sz="1400" dirty="0"/>
              <a:t> token and simply appends them to the existing cache.</a:t>
            </a:r>
          </a:p>
          <a:p>
            <a:pPr>
              <a:buNone/>
            </a:pPr>
            <a:endParaRPr lang="en-US" sz="1400" dirty="0"/>
          </a:p>
          <a:p>
            <a:pPr>
              <a:buNone/>
            </a:pPr>
            <a:r>
              <a:rPr lang="en-US" sz="1400" b="1" dirty="0"/>
              <a:t>Massive Performance Boost:</a:t>
            </a:r>
            <a:r>
              <a:rPr lang="en-US" sz="1400" dirty="0"/>
              <a:t> Drastically speeds up text generation, lowers latency, and makes long-context prompts computationally feasible without overloading GPU memory.</a:t>
            </a:r>
          </a:p>
        </p:txBody>
      </p:sp>
      <p:sp>
        <p:nvSpPr>
          <p:cNvPr id="11"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Tree>
    <p:extLst>
      <p:ext uri="{BB962C8B-B14F-4D97-AF65-F5344CB8AC3E}">
        <p14:creationId xmlns:p14="http://schemas.microsoft.com/office/powerpoint/2010/main" val="2002712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What is a tensor? Numbers in a grid, simple to complex</a:t>
            </a:r>
            <a:endParaRPr kumimoji="0" lang="en-US" sz="26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 name="Text 1"/>
          <p:cNvSpPr/>
          <p:nvPr/>
        </p:nvSpPr>
        <p:spPr>
          <a:xfrm>
            <a:off x="548640" y="822960"/>
            <a:ext cx="111556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tensor just holds numbers in a grid. Add a dimension as the data gets richer. The model's Keys and Values are tensors like these.</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 name="Shape 2"/>
          <p:cNvSpPr/>
          <p:nvPr/>
        </p:nvSpPr>
        <p:spPr>
          <a:xfrm>
            <a:off x="457200" y="1554480"/>
            <a:ext cx="2578608" cy="3977640"/>
          </a:xfrm>
          <a:prstGeom prst="roundRect">
            <a:avLst>
              <a:gd name="adj" fmla="val 2482"/>
            </a:avLst>
          </a:prstGeom>
          <a:solidFill>
            <a:srgbClr val="FFFFFF">
              <a:alpha val="90000"/>
            </a:srgbClr>
          </a:solidFill>
          <a:ln w="12700">
            <a:solidFill>
              <a:srgbClr val="E4DFE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 name="Text 3"/>
          <p:cNvSpPr/>
          <p:nvPr/>
        </p:nvSpPr>
        <p:spPr>
          <a:xfrm>
            <a:off x="457200" y="1700784"/>
            <a:ext cx="257860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0-D  ·  scalar</a:t>
            </a:r>
            <a:endParaRPr kumimoji="0" lang="en-US" sz="1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 name="Text 4"/>
          <p:cNvSpPr/>
          <p:nvPr/>
        </p:nvSpPr>
        <p:spPr>
          <a:xfrm>
            <a:off x="457200" y="2011680"/>
            <a:ext cx="257860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single value</a:t>
            </a:r>
            <a:endParaRPr kumimoji="0" lang="en-US" sz="1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7" name="Text 5"/>
          <p:cNvSpPr/>
          <p:nvPr/>
        </p:nvSpPr>
        <p:spPr>
          <a:xfrm>
            <a:off x="640080" y="4434840"/>
            <a:ext cx="2212848" cy="9144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One number.
</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Example: a temperature.</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8" name="Shape 6"/>
          <p:cNvSpPr/>
          <p:nvPr/>
        </p:nvSpPr>
        <p:spPr>
          <a:xfrm>
            <a:off x="3310128" y="1554480"/>
            <a:ext cx="2578608" cy="3977640"/>
          </a:xfrm>
          <a:prstGeom prst="roundRect">
            <a:avLst>
              <a:gd name="adj" fmla="val 2482"/>
            </a:avLst>
          </a:prstGeom>
          <a:solidFill>
            <a:srgbClr val="FFFFFF">
              <a:alpha val="90000"/>
            </a:srgbClr>
          </a:solidFill>
          <a:ln w="12700">
            <a:solidFill>
              <a:srgbClr val="E4DFE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9" name="Text 7"/>
          <p:cNvSpPr/>
          <p:nvPr/>
        </p:nvSpPr>
        <p:spPr>
          <a:xfrm>
            <a:off x="3310128" y="1700784"/>
            <a:ext cx="257860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1-D  ·  vector</a:t>
            </a:r>
            <a:endParaRPr kumimoji="0" lang="en-US" sz="1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0" name="Text 8"/>
          <p:cNvSpPr/>
          <p:nvPr/>
        </p:nvSpPr>
        <p:spPr>
          <a:xfrm>
            <a:off x="3310128" y="2011680"/>
            <a:ext cx="257860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list (shape 7)</a:t>
            </a:r>
            <a:endParaRPr kumimoji="0" lang="en-US" sz="1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1" name="Text 9"/>
          <p:cNvSpPr/>
          <p:nvPr/>
        </p:nvSpPr>
        <p:spPr>
          <a:xfrm>
            <a:off x="3493008" y="4434840"/>
            <a:ext cx="2212848" cy="9144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 list of numbers.
</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Example: daily highs for a week.</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2" name="Shape 10"/>
          <p:cNvSpPr/>
          <p:nvPr/>
        </p:nvSpPr>
        <p:spPr>
          <a:xfrm>
            <a:off x="6163056" y="1554480"/>
            <a:ext cx="2578608" cy="3977640"/>
          </a:xfrm>
          <a:prstGeom prst="roundRect">
            <a:avLst>
              <a:gd name="adj" fmla="val 2482"/>
            </a:avLst>
          </a:prstGeom>
          <a:solidFill>
            <a:srgbClr val="FFFFFF">
              <a:alpha val="90000"/>
            </a:srgbClr>
          </a:solidFill>
          <a:ln w="12700">
            <a:solidFill>
              <a:srgbClr val="E4DFE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3" name="Text 11"/>
          <p:cNvSpPr/>
          <p:nvPr/>
        </p:nvSpPr>
        <p:spPr>
          <a:xfrm>
            <a:off x="6163056" y="1700784"/>
            <a:ext cx="257860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2-D  ·  matrix</a:t>
            </a:r>
            <a:endParaRPr kumimoji="0" lang="en-US" sz="1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4" name="Text 12"/>
          <p:cNvSpPr/>
          <p:nvPr/>
        </p:nvSpPr>
        <p:spPr>
          <a:xfrm>
            <a:off x="6163056" y="2011680"/>
            <a:ext cx="257860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grid (shape 3 x 3)</a:t>
            </a:r>
            <a:endParaRPr kumimoji="0" lang="en-US" sz="1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5" name="Text 13"/>
          <p:cNvSpPr/>
          <p:nvPr/>
        </p:nvSpPr>
        <p:spPr>
          <a:xfrm>
            <a:off x="6345936" y="4434840"/>
            <a:ext cx="2212848" cy="9144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 grid of numbers = a grayscale image.
</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0 = black to 255 = white.</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6" name="Shape 14"/>
          <p:cNvSpPr/>
          <p:nvPr/>
        </p:nvSpPr>
        <p:spPr>
          <a:xfrm>
            <a:off x="9015984" y="1554480"/>
            <a:ext cx="2578608" cy="3977640"/>
          </a:xfrm>
          <a:prstGeom prst="roundRect">
            <a:avLst>
              <a:gd name="adj" fmla="val 2482"/>
            </a:avLst>
          </a:prstGeom>
          <a:solidFill>
            <a:srgbClr val="FFFFFF">
              <a:alpha val="90000"/>
            </a:srgbClr>
          </a:solidFill>
          <a:ln w="12700">
            <a:solidFill>
              <a:srgbClr val="E4DFE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7" name="Text 15"/>
          <p:cNvSpPr/>
          <p:nvPr/>
        </p:nvSpPr>
        <p:spPr>
          <a:xfrm>
            <a:off x="9015984" y="1700784"/>
            <a:ext cx="257860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3-D  ·  tensor</a:t>
            </a:r>
            <a:endParaRPr kumimoji="0" lang="en-US" sz="1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8" name="Text 16"/>
          <p:cNvSpPr/>
          <p:nvPr/>
        </p:nvSpPr>
        <p:spPr>
          <a:xfrm>
            <a:off x="9015984" y="2011680"/>
            <a:ext cx="257860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stacked grids (3 x 3 x 3)</a:t>
            </a:r>
            <a:endParaRPr kumimoji="0" lang="en-US" sz="1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9" name="Text 17"/>
          <p:cNvSpPr/>
          <p:nvPr/>
        </p:nvSpPr>
        <p:spPr>
          <a:xfrm>
            <a:off x="9198864" y="4434840"/>
            <a:ext cx="2212848" cy="9144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Grids stacked in depth = a color image.
</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Each pixel = 3 numbers (R, G, B).</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0" name="Text 18"/>
          <p:cNvSpPr/>
          <p:nvPr/>
        </p:nvSpPr>
        <p:spPr>
          <a:xfrm>
            <a:off x="3127248" y="2743200"/>
            <a:ext cx="274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3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1" name="Text 19"/>
          <p:cNvSpPr/>
          <p:nvPr/>
        </p:nvSpPr>
        <p:spPr>
          <a:xfrm>
            <a:off x="5980176" y="2743200"/>
            <a:ext cx="274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3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2" name="Text 20"/>
          <p:cNvSpPr/>
          <p:nvPr/>
        </p:nvSpPr>
        <p:spPr>
          <a:xfrm>
            <a:off x="8833104" y="2743200"/>
            <a:ext cx="274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3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3" name="Shape 21"/>
          <p:cNvSpPr/>
          <p:nvPr/>
        </p:nvSpPr>
        <p:spPr>
          <a:xfrm>
            <a:off x="1335024" y="2743200"/>
            <a:ext cx="822960" cy="731520"/>
          </a:xfrm>
          <a:prstGeom prst="roundRect">
            <a:avLst>
              <a:gd name="adj" fmla="val 7500"/>
            </a:avLst>
          </a:prstGeom>
          <a:solidFill>
            <a:srgbClr val="F6E7EA"/>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4" name="Text 22"/>
          <p:cNvSpPr/>
          <p:nvPr/>
        </p:nvSpPr>
        <p:spPr>
          <a:xfrm>
            <a:off x="1335024" y="2743200"/>
            <a:ext cx="82296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72</a:t>
            </a:r>
            <a:endParaRPr kumimoji="0" lang="en-US" sz="26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5" name="Shape 23"/>
          <p:cNvSpPr/>
          <p:nvPr/>
        </p:nvSpPr>
        <p:spPr>
          <a:xfrm>
            <a:off x="3502152"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6" name="Text 24"/>
          <p:cNvSpPr/>
          <p:nvPr/>
        </p:nvSpPr>
        <p:spPr>
          <a:xfrm>
            <a:off x="3502152"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72</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7" name="Shape 25"/>
          <p:cNvSpPr/>
          <p:nvPr/>
        </p:nvSpPr>
        <p:spPr>
          <a:xfrm>
            <a:off x="3950208"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8" name="Text 26"/>
          <p:cNvSpPr/>
          <p:nvPr/>
        </p:nvSpPr>
        <p:spPr>
          <a:xfrm>
            <a:off x="3950208"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75</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9" name="Shape 27"/>
          <p:cNvSpPr/>
          <p:nvPr/>
        </p:nvSpPr>
        <p:spPr>
          <a:xfrm>
            <a:off x="4398264"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0" name="Text 28"/>
          <p:cNvSpPr/>
          <p:nvPr/>
        </p:nvSpPr>
        <p:spPr>
          <a:xfrm>
            <a:off x="4398264"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71</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1" name="Shape 29"/>
          <p:cNvSpPr/>
          <p:nvPr/>
        </p:nvSpPr>
        <p:spPr>
          <a:xfrm>
            <a:off x="4846320"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2" name="Text 30"/>
          <p:cNvSpPr/>
          <p:nvPr/>
        </p:nvSpPr>
        <p:spPr>
          <a:xfrm>
            <a:off x="4846320"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68</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3" name="Shape 31"/>
          <p:cNvSpPr/>
          <p:nvPr/>
        </p:nvSpPr>
        <p:spPr>
          <a:xfrm>
            <a:off x="5294376"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4" name="Text 32"/>
          <p:cNvSpPr/>
          <p:nvPr/>
        </p:nvSpPr>
        <p:spPr>
          <a:xfrm>
            <a:off x="5294376"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70</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5" name="Shape 33"/>
          <p:cNvSpPr/>
          <p:nvPr/>
        </p:nvSpPr>
        <p:spPr>
          <a:xfrm>
            <a:off x="6638544" y="2377440"/>
            <a:ext cx="512064" cy="512064"/>
          </a:xfrm>
          <a:prstGeom prst="rect">
            <a:avLst/>
          </a:prstGeom>
          <a:solidFill>
            <a:srgbClr val="1E1E1E"/>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6" name="Text 34"/>
          <p:cNvSpPr/>
          <p:nvPr/>
        </p:nvSpPr>
        <p:spPr>
          <a:xfrm>
            <a:off x="6638544" y="2377440"/>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30</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7" name="Shape 35"/>
          <p:cNvSpPr/>
          <p:nvPr/>
        </p:nvSpPr>
        <p:spPr>
          <a:xfrm>
            <a:off x="7196328" y="2377440"/>
            <a:ext cx="512064" cy="512064"/>
          </a:xfrm>
          <a:prstGeom prst="rect">
            <a:avLst/>
          </a:prstGeom>
          <a:solidFill>
            <a:srgbClr val="C8C8C8"/>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8" name="Text 36"/>
          <p:cNvSpPr/>
          <p:nvPr/>
        </p:nvSpPr>
        <p:spPr>
          <a:xfrm>
            <a:off x="7196328" y="2377440"/>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200</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9" name="Shape 37"/>
          <p:cNvSpPr/>
          <p:nvPr/>
        </p:nvSpPr>
        <p:spPr>
          <a:xfrm>
            <a:off x="7754112" y="2377440"/>
            <a:ext cx="512064" cy="512064"/>
          </a:xfrm>
          <a:prstGeom prst="rect">
            <a:avLst/>
          </a:prstGeom>
          <a:solidFill>
            <a:srgbClr val="5A5A5A"/>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0" name="Text 38"/>
          <p:cNvSpPr/>
          <p:nvPr/>
        </p:nvSpPr>
        <p:spPr>
          <a:xfrm>
            <a:off x="7754112" y="2377440"/>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90</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1" name="Shape 39"/>
          <p:cNvSpPr/>
          <p:nvPr/>
        </p:nvSpPr>
        <p:spPr>
          <a:xfrm>
            <a:off x="6638544" y="2935224"/>
            <a:ext cx="512064" cy="512064"/>
          </a:xfrm>
          <a:prstGeom prst="rect">
            <a:avLst/>
          </a:prstGeom>
          <a:solidFill>
            <a:srgbClr val="FFFFFF"/>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2" name="Text 40"/>
          <p:cNvSpPr/>
          <p:nvPr/>
        </p:nvSpPr>
        <p:spPr>
          <a:xfrm>
            <a:off x="6638544" y="2935224"/>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255</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3" name="Shape 41"/>
          <p:cNvSpPr/>
          <p:nvPr/>
        </p:nvSpPr>
        <p:spPr>
          <a:xfrm>
            <a:off x="7196328" y="2935224"/>
            <a:ext cx="512064" cy="512064"/>
          </a:xfrm>
          <a:prstGeom prst="rect">
            <a:avLst/>
          </a:prstGeom>
          <a:solidFill>
            <a:srgbClr val="787878"/>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4" name="Text 42"/>
          <p:cNvSpPr/>
          <p:nvPr/>
        </p:nvSpPr>
        <p:spPr>
          <a:xfrm>
            <a:off x="7196328" y="2935224"/>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120</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5" name="Shape 43"/>
          <p:cNvSpPr/>
          <p:nvPr/>
        </p:nvSpPr>
        <p:spPr>
          <a:xfrm>
            <a:off x="7754112" y="2935224"/>
            <a:ext cx="512064" cy="512064"/>
          </a:xfrm>
          <a:prstGeom prst="rect">
            <a:avLst/>
          </a:prstGeom>
          <a:solidFill>
            <a:srgbClr val="3C3C3C"/>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6" name="Text 44"/>
          <p:cNvSpPr/>
          <p:nvPr/>
        </p:nvSpPr>
        <p:spPr>
          <a:xfrm>
            <a:off x="7754112" y="2935224"/>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60</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7" name="Shape 45"/>
          <p:cNvSpPr/>
          <p:nvPr/>
        </p:nvSpPr>
        <p:spPr>
          <a:xfrm>
            <a:off x="6638544" y="3493008"/>
            <a:ext cx="512064" cy="512064"/>
          </a:xfrm>
          <a:prstGeom prst="rect">
            <a:avLst/>
          </a:prstGeom>
          <a:solidFill>
            <a:srgbClr val="0A0A0A"/>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8" name="Text 46"/>
          <p:cNvSpPr/>
          <p:nvPr/>
        </p:nvSpPr>
        <p:spPr>
          <a:xfrm>
            <a:off x="6638544" y="3493008"/>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10</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9" name="Shape 47"/>
          <p:cNvSpPr/>
          <p:nvPr/>
        </p:nvSpPr>
        <p:spPr>
          <a:xfrm>
            <a:off x="7196328" y="3493008"/>
            <a:ext cx="512064" cy="512064"/>
          </a:xfrm>
          <a:prstGeom prst="rect">
            <a:avLst/>
          </a:prstGeom>
          <a:solidFill>
            <a:srgbClr val="B4B4B4"/>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0" name="Text 48"/>
          <p:cNvSpPr/>
          <p:nvPr/>
        </p:nvSpPr>
        <p:spPr>
          <a:xfrm>
            <a:off x="7196328" y="3493008"/>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180</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1" name="Shape 49"/>
          <p:cNvSpPr/>
          <p:nvPr/>
        </p:nvSpPr>
        <p:spPr>
          <a:xfrm>
            <a:off x="7754112" y="3493008"/>
            <a:ext cx="512064" cy="512064"/>
          </a:xfrm>
          <a:prstGeom prst="rect">
            <a:avLst/>
          </a:prstGeom>
          <a:solidFill>
            <a:srgbClr val="F0F0F0"/>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2" name="Text 50"/>
          <p:cNvSpPr/>
          <p:nvPr/>
        </p:nvSpPr>
        <p:spPr>
          <a:xfrm>
            <a:off x="7754112" y="3493008"/>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240</a:t>
            </a:r>
            <a:endParaRPr kumimoji="0" lang="en-US" sz="10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3" name="Shape 51"/>
          <p:cNvSpPr/>
          <p:nvPr/>
        </p:nvSpPr>
        <p:spPr>
          <a:xfrm>
            <a:off x="9747504" y="2395728"/>
            <a:ext cx="822960" cy="822960"/>
          </a:xfrm>
          <a:prstGeom prst="rect">
            <a:avLst/>
          </a:prstGeom>
          <a:solidFill>
            <a:srgbClr val="4F86E0">
              <a:alpha val="92000"/>
            </a:srgbClr>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4" name="Text 52"/>
          <p:cNvSpPr/>
          <p:nvPr/>
        </p:nvSpPr>
        <p:spPr>
          <a:xfrm>
            <a:off x="9784080" y="2414016"/>
            <a:ext cx="237744"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5" name="Shape 53"/>
          <p:cNvSpPr/>
          <p:nvPr/>
        </p:nvSpPr>
        <p:spPr>
          <a:xfrm>
            <a:off x="9893808" y="2542032"/>
            <a:ext cx="822960" cy="822960"/>
          </a:xfrm>
          <a:prstGeom prst="rect">
            <a:avLst/>
          </a:prstGeom>
          <a:solidFill>
            <a:srgbClr val="4FB477">
              <a:alpha val="92000"/>
            </a:srgbClr>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6" name="Text 54"/>
          <p:cNvSpPr/>
          <p:nvPr/>
        </p:nvSpPr>
        <p:spPr>
          <a:xfrm>
            <a:off x="9930384" y="2560320"/>
            <a:ext cx="237744"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7" name="Shape 55"/>
          <p:cNvSpPr/>
          <p:nvPr/>
        </p:nvSpPr>
        <p:spPr>
          <a:xfrm>
            <a:off x="10040112" y="2688336"/>
            <a:ext cx="822960" cy="822960"/>
          </a:xfrm>
          <a:prstGeom prst="rect">
            <a:avLst/>
          </a:prstGeom>
          <a:solidFill>
            <a:srgbClr val="E0575B">
              <a:alpha val="92000"/>
            </a:srgbClr>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58" name="Text 56"/>
          <p:cNvSpPr/>
          <p:nvPr/>
        </p:nvSpPr>
        <p:spPr>
          <a:xfrm>
            <a:off x="10076688" y="2706624"/>
            <a:ext cx="237744"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9" name="Shape 57"/>
          <p:cNvSpPr/>
          <p:nvPr/>
        </p:nvSpPr>
        <p:spPr>
          <a:xfrm>
            <a:off x="10314432" y="2688336"/>
            <a:ext cx="0" cy="822960"/>
          </a:xfrm>
          <a:prstGeom prst="line">
            <a:avLst/>
          </a:prstGeom>
          <a:noFill/>
          <a:ln w="9525">
            <a:solidFill>
              <a:srgbClr val="FFFFFF">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0" name="Shape 58"/>
          <p:cNvSpPr/>
          <p:nvPr/>
        </p:nvSpPr>
        <p:spPr>
          <a:xfrm>
            <a:off x="10040112" y="2962656"/>
            <a:ext cx="822960" cy="0"/>
          </a:xfrm>
          <a:prstGeom prst="line">
            <a:avLst/>
          </a:prstGeom>
          <a:noFill/>
          <a:ln w="9525">
            <a:solidFill>
              <a:srgbClr val="FFFFFF">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1" name="Shape 59"/>
          <p:cNvSpPr/>
          <p:nvPr/>
        </p:nvSpPr>
        <p:spPr>
          <a:xfrm>
            <a:off x="10588752" y="2688336"/>
            <a:ext cx="0" cy="822960"/>
          </a:xfrm>
          <a:prstGeom prst="line">
            <a:avLst/>
          </a:prstGeom>
          <a:noFill/>
          <a:ln w="9525">
            <a:solidFill>
              <a:srgbClr val="FFFFFF">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2" name="Shape 60"/>
          <p:cNvSpPr/>
          <p:nvPr/>
        </p:nvSpPr>
        <p:spPr>
          <a:xfrm>
            <a:off x="10040112" y="3236976"/>
            <a:ext cx="822960" cy="0"/>
          </a:xfrm>
          <a:prstGeom prst="line">
            <a:avLst/>
          </a:prstGeom>
          <a:noFill/>
          <a:ln w="9525">
            <a:solidFill>
              <a:srgbClr val="FFFFFF">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3" name="Text 61"/>
          <p:cNvSpPr/>
          <p:nvPr/>
        </p:nvSpPr>
        <p:spPr>
          <a:xfrm>
            <a:off x="9107424" y="3639312"/>
            <a:ext cx="2395728"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one pixel</a:t>
            </a:r>
            <a:endParaRPr kumimoji="0" lang="en-US" sz="9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4" name="Text 62"/>
          <p:cNvSpPr/>
          <p:nvPr/>
        </p:nvSpPr>
        <p:spPr>
          <a:xfrm>
            <a:off x="9107424" y="3840480"/>
            <a:ext cx="180136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(200, 60, 90)</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5" name="Shape 63"/>
          <p:cNvSpPr/>
          <p:nvPr/>
        </p:nvSpPr>
        <p:spPr>
          <a:xfrm>
            <a:off x="10936224" y="3858768"/>
            <a:ext cx="329184" cy="256032"/>
          </a:xfrm>
          <a:prstGeom prst="rect">
            <a:avLst/>
          </a:prstGeom>
          <a:solidFill>
            <a:srgbClr val="C83C5A"/>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6" name="Shape 64"/>
          <p:cNvSpPr/>
          <p:nvPr/>
        </p:nvSpPr>
        <p:spPr>
          <a:xfrm>
            <a:off x="457200" y="5687568"/>
            <a:ext cx="11274552" cy="713232"/>
          </a:xfrm>
          <a:prstGeom prst="roundRect">
            <a:avLst>
              <a:gd name="adj" fmla="val 7692"/>
            </a:avLst>
          </a:prstGeom>
          <a:solidFill>
            <a:srgbClr val="F5EAEC">
              <a:alpha val="85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7" name="Text 65"/>
          <p:cNvSpPr/>
          <p:nvPr/>
        </p:nvSpPr>
        <p:spPr>
          <a:xfrm>
            <a:off x="658368" y="5760720"/>
            <a:ext cx="1088136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In this deck:  </a:t>
            </a: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the Keys and Values the model caches are tensors exactly like these, grids of numbers it computes for each token and stores in memory.</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8"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69" name="Harvard Page Number"/>
          <p:cNvSpPr txBox="1"/>
          <p:nvPr/>
        </p:nvSpPr>
        <p:spPr>
          <a:xfrm>
            <a:off x="11730577" y="6446043"/>
            <a:ext cx="324104" cy="274638"/>
          </a:xfrm>
          <a:prstGeom prst="rect">
            <a:avLst/>
          </a:prstGeom>
          <a:noFill/>
        </p:spPr>
        <p:txBody>
          <a:bodyPr wrap="none" lIns="0" tIns="0" rIns="0" bIns="0">
            <a:noAutofit/>
          </a:bodyPr>
          <a:lstStyle/>
          <a:p>
            <a:pPr algn="r"/>
            <a:fld id="{EAA2113E-49DE-4B87-819E-2B5A130A4615}" type="slidenum">
              <a:rPr lang="en-US" sz="1000">
                <a:solidFill>
                  <a:srgbClr val="8996A0"/>
                </a:solidFill>
                <a:latin typeface="Arial"/>
              </a:rPr>
              <a:t>26</a:t>
            </a:fld>
            <a:endParaRPr lang="en-US" sz="1000">
              <a:solidFill>
                <a:srgbClr val="8996A0"/>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Inside the cache: keys and values, not text</a:t>
            </a:r>
            <a:endParaRPr kumimoji="0" lang="en-US" sz="29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 name="Text 1"/>
          <p:cNvSpPr/>
          <p:nvPr/>
        </p:nvSpPr>
        <p:spPr>
          <a:xfrm>
            <a:off x="548640" y="841248"/>
            <a:ext cx="111556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The KV cache stores each prior token's per-layer Key and Value tensors in GPU memory. Once computed they never change, so every later turn reuses them and prefills only the new tokens.</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 name="Text 2"/>
          <p:cNvSpPr/>
          <p:nvPr/>
        </p:nvSpPr>
        <p:spPr>
          <a:xfrm>
            <a:off x="640080" y="1481328"/>
            <a:ext cx="95097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The new turn's Query attends to every cached Key and Value; the prefix itself is not recomputed</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 name="Shape 3"/>
          <p:cNvSpPr/>
          <p:nvPr/>
        </p:nvSpPr>
        <p:spPr>
          <a:xfrm>
            <a:off x="1097280" y="1810512"/>
            <a:ext cx="7863840" cy="0"/>
          </a:xfrm>
          <a:prstGeom prst="line">
            <a:avLst/>
          </a:prstGeom>
          <a:noFill/>
          <a:ln w="19050">
            <a:solidFill>
              <a:srgbClr val="A51C30"/>
            </a:solidFill>
            <a:prstDash val="solid"/>
            <a:headEnd type="oval"/>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6" name="Shape 4"/>
          <p:cNvSpPr/>
          <p:nvPr/>
        </p:nvSpPr>
        <p:spPr>
          <a:xfrm>
            <a:off x="640080" y="1938528"/>
            <a:ext cx="1737360" cy="457200"/>
          </a:xfrm>
          <a:prstGeom prst="roundRect">
            <a:avLst>
              <a:gd name="adj" fmla="val 10000"/>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7" name="Text 5"/>
          <p:cNvSpPr/>
          <p:nvPr/>
        </p:nvSpPr>
        <p:spPr>
          <a:xfrm>
            <a:off x="64008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System prompt</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8" name="Shape 6"/>
          <p:cNvSpPr/>
          <p:nvPr/>
        </p:nvSpPr>
        <p:spPr>
          <a:xfrm>
            <a:off x="143560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9" name="Shape 7"/>
          <p:cNvSpPr/>
          <p:nvPr/>
        </p:nvSpPr>
        <p:spPr>
          <a:xfrm>
            <a:off x="2514600" y="1938528"/>
            <a:ext cx="1737360" cy="457200"/>
          </a:xfrm>
          <a:prstGeom prst="roundRect">
            <a:avLst>
              <a:gd name="adj" fmla="val 10000"/>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0" name="Text 8"/>
          <p:cNvSpPr/>
          <p:nvPr/>
        </p:nvSpPr>
        <p:spPr>
          <a:xfrm>
            <a:off x="251460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1 Query</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1" name="Shape 9"/>
          <p:cNvSpPr/>
          <p:nvPr/>
        </p:nvSpPr>
        <p:spPr>
          <a:xfrm>
            <a:off x="331012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2" name="Shape 10"/>
          <p:cNvSpPr/>
          <p:nvPr/>
        </p:nvSpPr>
        <p:spPr>
          <a:xfrm>
            <a:off x="4389120" y="1938528"/>
            <a:ext cx="1737360" cy="457200"/>
          </a:xfrm>
          <a:prstGeom prst="roundRect">
            <a:avLst>
              <a:gd name="adj" fmla="val 10000"/>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3" name="Text 11"/>
          <p:cNvSpPr/>
          <p:nvPr/>
        </p:nvSpPr>
        <p:spPr>
          <a:xfrm>
            <a:off x="438912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Response 1</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4" name="Shape 12"/>
          <p:cNvSpPr/>
          <p:nvPr/>
        </p:nvSpPr>
        <p:spPr>
          <a:xfrm>
            <a:off x="518464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5" name="Shape 13"/>
          <p:cNvSpPr/>
          <p:nvPr/>
        </p:nvSpPr>
        <p:spPr>
          <a:xfrm>
            <a:off x="6263640" y="1938528"/>
            <a:ext cx="1737360" cy="457200"/>
          </a:xfrm>
          <a:prstGeom prst="roundRect">
            <a:avLst>
              <a:gd name="adj" fmla="val 10000"/>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6" name="Text 14"/>
          <p:cNvSpPr/>
          <p:nvPr/>
        </p:nvSpPr>
        <p:spPr>
          <a:xfrm>
            <a:off x="626364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2 Query</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7" name="Shape 15"/>
          <p:cNvSpPr/>
          <p:nvPr/>
        </p:nvSpPr>
        <p:spPr>
          <a:xfrm>
            <a:off x="705916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8" name="Shape 16"/>
          <p:cNvSpPr/>
          <p:nvPr/>
        </p:nvSpPr>
        <p:spPr>
          <a:xfrm>
            <a:off x="8366760" y="1938528"/>
            <a:ext cx="1737360" cy="457200"/>
          </a:xfrm>
          <a:prstGeom prst="roundRect">
            <a:avLst>
              <a:gd name="adj" fmla="val 10000"/>
            </a:avLst>
          </a:prstGeom>
          <a:solidFill>
            <a:srgbClr val="A51C30"/>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9" name="Text 17"/>
          <p:cNvSpPr/>
          <p:nvPr/>
        </p:nvSpPr>
        <p:spPr>
          <a:xfrm>
            <a:off x="836676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New tokens</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0" name="Shape 18"/>
          <p:cNvSpPr/>
          <p:nvPr/>
        </p:nvSpPr>
        <p:spPr>
          <a:xfrm>
            <a:off x="916228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1" name="Shape 19"/>
          <p:cNvSpPr/>
          <p:nvPr/>
        </p:nvSpPr>
        <p:spPr>
          <a:xfrm>
            <a:off x="530352" y="2615184"/>
            <a:ext cx="7580376" cy="603504"/>
          </a:xfrm>
          <a:prstGeom prst="roundRect">
            <a:avLst>
              <a:gd name="adj" fmla="val 12121"/>
            </a:avLst>
          </a:prstGeom>
          <a:solidFill>
            <a:srgbClr val="FFFFFF">
              <a:alpha val="75000"/>
            </a:srgbClr>
          </a:solidFill>
          <a:ln w="15875">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2" name="Shape 20"/>
          <p:cNvSpPr/>
          <p:nvPr/>
        </p:nvSpPr>
        <p:spPr>
          <a:xfrm>
            <a:off x="749808" y="2697480"/>
            <a:ext cx="1517904" cy="438912"/>
          </a:xfrm>
          <a:prstGeom prst="roundRect">
            <a:avLst>
              <a:gd name="adj" fmla="val 10417"/>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3" name="Text 21"/>
          <p:cNvSpPr/>
          <p:nvPr/>
        </p:nvSpPr>
        <p:spPr>
          <a:xfrm>
            <a:off x="74980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 V</a:t>
            </a:r>
            <a:endParaRPr kumimoji="0" lang="en-US" sz="12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4" name="Shape 22"/>
          <p:cNvSpPr/>
          <p:nvPr/>
        </p:nvSpPr>
        <p:spPr>
          <a:xfrm>
            <a:off x="2624328" y="2697480"/>
            <a:ext cx="1517904" cy="438912"/>
          </a:xfrm>
          <a:prstGeom prst="roundRect">
            <a:avLst>
              <a:gd name="adj" fmla="val 10417"/>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5" name="Text 23"/>
          <p:cNvSpPr/>
          <p:nvPr/>
        </p:nvSpPr>
        <p:spPr>
          <a:xfrm>
            <a:off x="262432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 V</a:t>
            </a:r>
            <a:endParaRPr kumimoji="0" lang="en-US" sz="12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6" name="Shape 24"/>
          <p:cNvSpPr/>
          <p:nvPr/>
        </p:nvSpPr>
        <p:spPr>
          <a:xfrm>
            <a:off x="4498848" y="2697480"/>
            <a:ext cx="1517904" cy="438912"/>
          </a:xfrm>
          <a:prstGeom prst="roundRect">
            <a:avLst>
              <a:gd name="adj" fmla="val 10417"/>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7" name="Text 25"/>
          <p:cNvSpPr/>
          <p:nvPr/>
        </p:nvSpPr>
        <p:spPr>
          <a:xfrm>
            <a:off x="449884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 V</a:t>
            </a:r>
            <a:endParaRPr kumimoji="0" lang="en-US" sz="12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8" name="Shape 26"/>
          <p:cNvSpPr/>
          <p:nvPr/>
        </p:nvSpPr>
        <p:spPr>
          <a:xfrm>
            <a:off x="6373368" y="2697480"/>
            <a:ext cx="1517904" cy="438912"/>
          </a:xfrm>
          <a:prstGeom prst="roundRect">
            <a:avLst>
              <a:gd name="adj" fmla="val 10417"/>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9" name="Text 27"/>
          <p:cNvSpPr/>
          <p:nvPr/>
        </p:nvSpPr>
        <p:spPr>
          <a:xfrm>
            <a:off x="637336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 V</a:t>
            </a:r>
            <a:endParaRPr kumimoji="0" lang="en-US" sz="12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0" name="Text 28"/>
          <p:cNvSpPr/>
          <p:nvPr/>
        </p:nvSpPr>
        <p:spPr>
          <a:xfrm>
            <a:off x="530352" y="3227832"/>
            <a:ext cx="7580376"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KV cache in GPU memory  ·  reused every later turn</a:t>
            </a:r>
            <a:endParaRPr kumimoji="0" lang="en-US" sz="9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1" name="Shape 29"/>
          <p:cNvSpPr/>
          <p:nvPr/>
        </p:nvSpPr>
        <p:spPr>
          <a:xfrm>
            <a:off x="8476488" y="2697480"/>
            <a:ext cx="1517904" cy="438912"/>
          </a:xfrm>
          <a:prstGeom prst="roundRect">
            <a:avLst>
              <a:gd name="adj" fmla="val 10417"/>
            </a:avLst>
          </a:prstGeom>
          <a:solidFill>
            <a:srgbClr val="3F5165"/>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2" name="Text 30"/>
          <p:cNvSpPr/>
          <p:nvPr/>
        </p:nvSpPr>
        <p:spPr>
          <a:xfrm>
            <a:off x="847648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K, V (new)</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3" name="Text 31"/>
          <p:cNvSpPr/>
          <p:nvPr/>
        </p:nvSpPr>
        <p:spPr>
          <a:xfrm>
            <a:off x="8183880" y="3227832"/>
            <a:ext cx="210312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computed now, then added to the cache</a:t>
            </a:r>
            <a:endParaRPr kumimoji="0" lang="en-US" sz="9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4" name="Text 32"/>
          <p:cNvSpPr/>
          <p:nvPr/>
        </p:nvSpPr>
        <p:spPr>
          <a:xfrm>
            <a:off x="548640" y="3529584"/>
            <a:ext cx="111556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Each prior token's Key/Value is computed once and kept in memory. Because a token's K/V depends only on it and the tokens before it, it never changes, so later turns reuse it and prefill only the new tokens.</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5" name="Shape 33"/>
          <p:cNvSpPr/>
          <p:nvPr/>
        </p:nvSpPr>
        <p:spPr>
          <a:xfrm>
            <a:off x="457200" y="4023360"/>
            <a:ext cx="5486400" cy="1600200"/>
          </a:xfrm>
          <a:prstGeom prst="roundRect">
            <a:avLst>
              <a:gd name="adj" fmla="val 3429"/>
            </a:avLst>
          </a:prstGeom>
          <a:solidFill>
            <a:srgbClr val="FFFFFF">
              <a:alpha val="88000"/>
            </a:srgbClr>
          </a:solid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6" name="Text 34"/>
          <p:cNvSpPr/>
          <p:nvPr/>
        </p:nvSpPr>
        <p:spPr>
          <a:xfrm>
            <a:off x="658368" y="4133088"/>
            <a:ext cx="5120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What the cache holds</a:t>
            </a:r>
            <a:endParaRPr kumimoji="0" lang="en-US" sz="1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7" name="Text 35"/>
          <p:cNvSpPr/>
          <p:nvPr/>
        </p:nvSpPr>
        <p:spPr>
          <a:xfrm>
            <a:off x="658368" y="4480560"/>
            <a:ext cx="5084064" cy="105156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50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Cached: the per-layer Key and Value tensors for every prior token.</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342900" marR="0" lvl="0" indent="-342900" algn="l" defTabSz="914400" rtl="0" eaLnBrk="1" fontAlgn="auto" latinLnBrk="0" hangingPunct="1">
              <a:lnSpc>
                <a:spcPct val="100000"/>
              </a:lnSpc>
              <a:spcBef>
                <a:spcPts val="0"/>
              </a:spcBef>
              <a:spcAft>
                <a:spcPts val="50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Not cached: the raw text of a new query, and the model's output.</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Recomputed &amp; appended each step: only the current token’s query.</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8" name="Shape 36"/>
          <p:cNvSpPr/>
          <p:nvPr/>
        </p:nvSpPr>
        <p:spPr>
          <a:xfrm>
            <a:off x="6217920" y="4023360"/>
            <a:ext cx="5513832" cy="1600200"/>
          </a:xfrm>
          <a:prstGeom prst="roundRect">
            <a:avLst>
              <a:gd name="adj" fmla="val 3429"/>
            </a:avLst>
          </a:prstGeom>
          <a:solidFill>
            <a:srgbClr val="ECEFF2">
              <a:alpha val="92000"/>
            </a:srgbClr>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9" name="Text 37"/>
          <p:cNvSpPr/>
          <p:nvPr/>
        </p:nvSpPr>
        <p:spPr>
          <a:xfrm>
            <a:off x="6419088" y="4133088"/>
            <a:ext cx="5120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The one rule that governs caching</a:t>
            </a:r>
            <a:endParaRPr kumimoji="0" lang="en-US" sz="14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0" name="Text 38"/>
          <p:cNvSpPr/>
          <p:nvPr/>
        </p:nvSpPr>
        <p:spPr>
          <a:xfrm>
            <a:off x="6419088" y="4480560"/>
            <a:ext cx="5120640" cy="10515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Caching only works for an exact, contiguous prefix. Change, insert, or prepend anything and every K/V after that point is invalidated and must be recomputed. So keep stable content (system prompt, tool definitions) at the front and put volatile content last.</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1" name="Text 39"/>
          <p:cNvSpPr/>
          <p:nvPr/>
        </p:nvSpPr>
        <p:spPr>
          <a:xfrm>
            <a:off x="457200" y="5742432"/>
            <a:ext cx="1127455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Inference servers implement this KV reuse for you: vLLM (PagedAttention), SGLang (RadixTree prefix cache), and TensorRT-LLM. Specifics differ and evolve, so verify for your stack.</a:t>
            </a:r>
            <a:endParaRPr kumimoji="0" lang="en-US" sz="9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2"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43" name="Harvard Page Number"/>
          <p:cNvSpPr txBox="1"/>
          <p:nvPr/>
        </p:nvSpPr>
        <p:spPr>
          <a:xfrm>
            <a:off x="11730577" y="6446043"/>
            <a:ext cx="324104" cy="274638"/>
          </a:xfrm>
          <a:prstGeom prst="rect">
            <a:avLst/>
          </a:prstGeom>
          <a:noFill/>
        </p:spPr>
        <p:txBody>
          <a:bodyPr wrap="none" lIns="0" tIns="0" rIns="0" bIns="0">
            <a:noAutofit/>
          </a:bodyPr>
          <a:lstStyle/>
          <a:p>
            <a:pPr algn="r"/>
            <a:fld id="{9902F6D8-FEC8-4D0D-8E73-7CAFBC93AA8A}" type="slidenum">
              <a:rPr lang="en-US" sz="1000">
                <a:solidFill>
                  <a:srgbClr val="8996A0"/>
                </a:solidFill>
                <a:latin typeface="Arial"/>
              </a:rPr>
              <a:t>27</a:t>
            </a:fld>
            <a:endParaRPr lang="en-US" sz="1000">
              <a:solidFill>
                <a:srgbClr val="8996A0"/>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Cache-aware routing: keep users on their warm cache</a:t>
            </a:r>
            <a:endParaRPr kumimoji="0" lang="en-US" sz="27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 name="Text 1"/>
          <p:cNvSpPr/>
          <p:nvPr/>
        </p:nvSpPr>
        <p:spPr>
          <a:xfrm>
            <a:off x="548640" y="822960"/>
            <a:ext cx="111556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returning user's KV cache lives on one replica. Route them back to it and only new tokens prefill; send them elsewhere and the whole prefix is rebuilt.</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 name="Text 2"/>
          <p:cNvSpPr/>
          <p:nvPr/>
        </p:nvSpPr>
        <p:spPr>
          <a:xfrm>
            <a:off x="640080" y="1371600"/>
            <a:ext cx="21945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Requests</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5" name="Text 3"/>
          <p:cNvSpPr/>
          <p:nvPr/>
        </p:nvSpPr>
        <p:spPr>
          <a:xfrm>
            <a:off x="4572000" y="1371600"/>
            <a:ext cx="24688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Router</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6" name="Text 4"/>
          <p:cNvSpPr/>
          <p:nvPr/>
        </p:nvSpPr>
        <p:spPr>
          <a:xfrm>
            <a:off x="8595360" y="1371600"/>
            <a:ext cx="30175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GPU replicas (each holds live KV caches)</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7" name="Shape 5"/>
          <p:cNvSpPr/>
          <p:nvPr/>
        </p:nvSpPr>
        <p:spPr>
          <a:xfrm>
            <a:off x="640080" y="1828800"/>
            <a:ext cx="2194560" cy="731520"/>
          </a:xfrm>
          <a:prstGeom prst="roundRect">
            <a:avLst>
              <a:gd name="adj" fmla="val 7500"/>
            </a:avLst>
          </a:prstGeom>
          <a:solidFill>
            <a:srgbClr val="F6E7EA"/>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8" name="Text 6"/>
          <p:cNvSpPr/>
          <p:nvPr/>
        </p:nvSpPr>
        <p:spPr>
          <a:xfrm>
            <a:off x="640080" y="1828800"/>
            <a:ext cx="2194560" cy="731520"/>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A</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returning</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9" name="Shape 7"/>
          <p:cNvSpPr/>
          <p:nvPr/>
        </p:nvSpPr>
        <p:spPr>
          <a:xfrm>
            <a:off x="2834640" y="2194560"/>
            <a:ext cx="1737360" cy="0"/>
          </a:xfrm>
          <a:prstGeom prst="line">
            <a:avLst/>
          </a:prstGeom>
          <a:noFill/>
          <a:ln w="19050">
            <a:solidFill>
              <a:srgbClr val="6B6B6B"/>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0" name="Shape 8"/>
          <p:cNvSpPr/>
          <p:nvPr/>
        </p:nvSpPr>
        <p:spPr>
          <a:xfrm>
            <a:off x="640080" y="2788920"/>
            <a:ext cx="2194560" cy="731520"/>
          </a:xfrm>
          <a:prstGeom prst="roundRect">
            <a:avLst>
              <a:gd name="adj" fmla="val 7500"/>
            </a:avLst>
          </a:prstGeom>
          <a:solidFill>
            <a:srgbClr val="F6E7EA"/>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1" name="Text 9"/>
          <p:cNvSpPr/>
          <p:nvPr/>
        </p:nvSpPr>
        <p:spPr>
          <a:xfrm>
            <a:off x="640080" y="2788920"/>
            <a:ext cx="2194560" cy="731520"/>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B</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returning</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2" name="Shape 10"/>
          <p:cNvSpPr/>
          <p:nvPr/>
        </p:nvSpPr>
        <p:spPr>
          <a:xfrm>
            <a:off x="2834640" y="3154680"/>
            <a:ext cx="1737360" cy="0"/>
          </a:xfrm>
          <a:prstGeom prst="line">
            <a:avLst/>
          </a:prstGeom>
          <a:noFill/>
          <a:ln w="19050">
            <a:solidFill>
              <a:srgbClr val="6B6B6B"/>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3" name="Shape 11"/>
          <p:cNvSpPr/>
          <p:nvPr/>
        </p:nvSpPr>
        <p:spPr>
          <a:xfrm>
            <a:off x="640080" y="3749040"/>
            <a:ext cx="2194560" cy="731520"/>
          </a:xfrm>
          <a:prstGeom prst="roundRect">
            <a:avLst>
              <a:gd name="adj" fmla="val 7500"/>
            </a:avLst>
          </a:prstGeom>
          <a:solidFill>
            <a:srgbClr val="F6E7EA"/>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4" name="Text 12"/>
          <p:cNvSpPr/>
          <p:nvPr/>
        </p:nvSpPr>
        <p:spPr>
          <a:xfrm>
            <a:off x="640080" y="3749040"/>
            <a:ext cx="2194560" cy="731520"/>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C</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new</a:t>
            </a:r>
            <a:endParaRPr kumimoji="0" lang="en-US" sz="13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5" name="Shape 13"/>
          <p:cNvSpPr/>
          <p:nvPr/>
        </p:nvSpPr>
        <p:spPr>
          <a:xfrm>
            <a:off x="2834640" y="4114800"/>
            <a:ext cx="1737360" cy="0"/>
          </a:xfrm>
          <a:prstGeom prst="line">
            <a:avLst/>
          </a:prstGeom>
          <a:noFill/>
          <a:ln w="19050">
            <a:solidFill>
              <a:srgbClr val="6B6B6B"/>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6" name="Shape 14"/>
          <p:cNvSpPr/>
          <p:nvPr/>
        </p:nvSpPr>
        <p:spPr>
          <a:xfrm>
            <a:off x="4572000" y="1828800"/>
            <a:ext cx="2468880" cy="2651760"/>
          </a:xfrm>
          <a:prstGeom prst="roundRect">
            <a:avLst>
              <a:gd name="adj" fmla="val 2963"/>
            </a:avLst>
          </a:prstGeom>
          <a:solidFill>
            <a:srgbClr val="1F1F1F"/>
          </a:solidFill>
          <a:ln w="12700">
            <a:solidFill>
              <a:srgbClr val="333333"/>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7" name="Text 15"/>
          <p:cNvSpPr/>
          <p:nvPr/>
        </p:nvSpPr>
        <p:spPr>
          <a:xfrm>
            <a:off x="4718304" y="1828800"/>
            <a:ext cx="2176272" cy="2651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Cache-aware router</a:t>
            </a:r>
            <a:endParaRPr kumimoji="0" lang="en-US" sz="15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Matches each session to the replica already holding its KV cache</a:t>
            </a:r>
            <a:endParaRPr kumimoji="0" lang="en-US" sz="1500" b="0" i="0" u="none" strike="noStrike" kern="1200" cap="none" spc="0" normalizeH="0" baseline="0" noProof="0" dirty="0">
              <a:ln>
                <a:noFill/>
              </a:ln>
              <a:solidFill>
                <a:prstClr val="black"/>
              </a:solidFill>
              <a:effectLst/>
              <a:uLnTx/>
              <a:uFillTx/>
              <a:latin typeface="Arial"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E0D6D8"/>
                </a:solidFill>
                <a:effectLst/>
                <a:uLnTx/>
                <a:uFillTx/>
                <a:latin typeface="Arial" pitchFamily="34" charset="0"/>
                <a:ea typeface="Arial" pitchFamily="34" charset="-122"/>
                <a:cs typeface="Arial" pitchFamily="34" charset="-120"/>
              </a:rPr>
              <a:t>session affinity  ·  prefix hash</a:t>
            </a:r>
            <a:endParaRPr kumimoji="0" lang="en-US" sz="15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18" name="Shape 16"/>
          <p:cNvSpPr/>
          <p:nvPr/>
        </p:nvSpPr>
        <p:spPr>
          <a:xfrm>
            <a:off x="7040880" y="2194560"/>
            <a:ext cx="1554480" cy="0"/>
          </a:xfrm>
          <a:prstGeom prst="line">
            <a:avLst/>
          </a:prstGeom>
          <a:noFill/>
          <a:ln w="25400">
            <a:solidFill>
              <a:srgbClr val="A51C30"/>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9" name="Text 17"/>
          <p:cNvSpPr/>
          <p:nvPr/>
        </p:nvSpPr>
        <p:spPr>
          <a:xfrm>
            <a:off x="7040880" y="1847088"/>
            <a:ext cx="15544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 warm hit</a:t>
            </a:r>
            <a:endParaRPr kumimoji="0" lang="en-US" sz="9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0" name="Shape 18"/>
          <p:cNvSpPr/>
          <p:nvPr/>
        </p:nvSpPr>
        <p:spPr>
          <a:xfrm>
            <a:off x="8595360" y="1828800"/>
            <a:ext cx="3017520" cy="731520"/>
          </a:xfrm>
          <a:prstGeom prst="roundRect">
            <a:avLst>
              <a:gd name="adj" fmla="val 7500"/>
            </a:avLst>
          </a:prstGeom>
          <a:solidFill>
            <a:srgbClr val="FFFFFF">
              <a:alpha val="92000"/>
            </a:srgbClr>
          </a:solidFill>
          <a:ln w="12700">
            <a:solidFill>
              <a:srgbClr val="A51C3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1" name="Text 19"/>
          <p:cNvSpPr/>
          <p:nvPr/>
        </p:nvSpPr>
        <p:spPr>
          <a:xfrm>
            <a:off x="8732520" y="1828800"/>
            <a:ext cx="1371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Replica 1</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2" name="Shape 20"/>
          <p:cNvSpPr/>
          <p:nvPr/>
        </p:nvSpPr>
        <p:spPr>
          <a:xfrm>
            <a:off x="10012680" y="1993392"/>
            <a:ext cx="1463040" cy="402336"/>
          </a:xfrm>
          <a:prstGeom prst="roundRect">
            <a:avLst>
              <a:gd name="adj" fmla="val 13636"/>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3" name="Text 21"/>
          <p:cNvSpPr/>
          <p:nvPr/>
        </p:nvSpPr>
        <p:spPr>
          <a:xfrm>
            <a:off x="10012680" y="1993392"/>
            <a:ext cx="1463040"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KV [ A ]</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4" name="Shape 22"/>
          <p:cNvSpPr/>
          <p:nvPr/>
        </p:nvSpPr>
        <p:spPr>
          <a:xfrm>
            <a:off x="7040880" y="3154680"/>
            <a:ext cx="1554480" cy="0"/>
          </a:xfrm>
          <a:prstGeom prst="line">
            <a:avLst/>
          </a:prstGeom>
          <a:noFill/>
          <a:ln w="25400">
            <a:solidFill>
              <a:srgbClr val="A51C30"/>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5" name="Text 23"/>
          <p:cNvSpPr/>
          <p:nvPr/>
        </p:nvSpPr>
        <p:spPr>
          <a:xfrm>
            <a:off x="7040880" y="2807208"/>
            <a:ext cx="15544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B: warm hit</a:t>
            </a:r>
            <a:endParaRPr kumimoji="0" lang="en-US" sz="9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6" name="Shape 24"/>
          <p:cNvSpPr/>
          <p:nvPr/>
        </p:nvSpPr>
        <p:spPr>
          <a:xfrm>
            <a:off x="8595360" y="2788920"/>
            <a:ext cx="3017520" cy="731520"/>
          </a:xfrm>
          <a:prstGeom prst="roundRect">
            <a:avLst>
              <a:gd name="adj" fmla="val 7500"/>
            </a:avLst>
          </a:prstGeom>
          <a:solidFill>
            <a:srgbClr val="FFFFFF">
              <a:alpha val="92000"/>
            </a:srgbClr>
          </a:solidFill>
          <a:ln w="12700">
            <a:solidFill>
              <a:srgbClr val="A51C30"/>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7" name="Text 25"/>
          <p:cNvSpPr/>
          <p:nvPr/>
        </p:nvSpPr>
        <p:spPr>
          <a:xfrm>
            <a:off x="8732520" y="2788920"/>
            <a:ext cx="1371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Replica 2</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28" name="Shape 26"/>
          <p:cNvSpPr/>
          <p:nvPr/>
        </p:nvSpPr>
        <p:spPr>
          <a:xfrm>
            <a:off x="10012680" y="2953512"/>
            <a:ext cx="1463040" cy="402336"/>
          </a:xfrm>
          <a:prstGeom prst="roundRect">
            <a:avLst>
              <a:gd name="adj" fmla="val 13636"/>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29" name="Text 27"/>
          <p:cNvSpPr/>
          <p:nvPr/>
        </p:nvSpPr>
        <p:spPr>
          <a:xfrm>
            <a:off x="10012680" y="2953512"/>
            <a:ext cx="1463040"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KV [ B ]</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0" name="Shape 28"/>
          <p:cNvSpPr/>
          <p:nvPr/>
        </p:nvSpPr>
        <p:spPr>
          <a:xfrm>
            <a:off x="7040880" y="4114800"/>
            <a:ext cx="1554480" cy="0"/>
          </a:xfrm>
          <a:prstGeom prst="line">
            <a:avLst/>
          </a:prstGeom>
          <a:noFill/>
          <a:ln w="25400">
            <a:solidFill>
              <a:srgbClr val="3F51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1" name="Text 29"/>
          <p:cNvSpPr/>
          <p:nvPr/>
        </p:nvSpPr>
        <p:spPr>
          <a:xfrm>
            <a:off x="7040880" y="3767328"/>
            <a:ext cx="15544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C: cold start</a:t>
            </a:r>
            <a:endParaRPr kumimoji="0" lang="en-US" sz="9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2" name="Shape 30"/>
          <p:cNvSpPr/>
          <p:nvPr/>
        </p:nvSpPr>
        <p:spPr>
          <a:xfrm>
            <a:off x="8595360" y="3749040"/>
            <a:ext cx="3017520" cy="731520"/>
          </a:xfrm>
          <a:prstGeom prst="roundRect">
            <a:avLst>
              <a:gd name="adj" fmla="val 7500"/>
            </a:avLst>
          </a:prstGeom>
          <a:solidFill>
            <a:srgbClr val="FFFFFF">
              <a:alpha val="92000"/>
            </a:srgbClr>
          </a:solidFill>
          <a:ln w="12700">
            <a:solidFill>
              <a:srgbClr val="3F5165"/>
            </a:solidFill>
            <a:prstDash val="solid"/>
          </a:ln>
          <a:effectLst>
            <a:outerShdw blurRad="63500" dist="25400" dir="5400000" algn="bl" rotWithShape="0">
              <a:srgbClr val="1E1E1E">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3" name="Text 31"/>
          <p:cNvSpPr/>
          <p:nvPr/>
        </p:nvSpPr>
        <p:spPr>
          <a:xfrm>
            <a:off x="8732520" y="3749040"/>
            <a:ext cx="1371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Replica 3</a:t>
            </a:r>
            <a:endParaRPr kumimoji="0" lang="en-US" sz="12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4" name="Shape 32"/>
          <p:cNvSpPr/>
          <p:nvPr/>
        </p:nvSpPr>
        <p:spPr>
          <a:xfrm>
            <a:off x="10012680" y="3913632"/>
            <a:ext cx="1463040" cy="402336"/>
          </a:xfrm>
          <a:prstGeom prst="roundRect">
            <a:avLst>
              <a:gd name="adj" fmla="val 13636"/>
            </a:avLst>
          </a:prstGeom>
          <a:solidFill>
            <a:srgbClr val="3F5165"/>
          </a:solidFill>
          <a:ln w="635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5" name="Text 33"/>
          <p:cNvSpPr/>
          <p:nvPr/>
        </p:nvSpPr>
        <p:spPr>
          <a:xfrm>
            <a:off x="10012680" y="3913632"/>
            <a:ext cx="1463040"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KV [ C ] new</a:t>
            </a:r>
            <a:endParaRPr kumimoji="0" lang="en-US" sz="11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6" name="Shape 34"/>
          <p:cNvSpPr/>
          <p:nvPr/>
        </p:nvSpPr>
        <p:spPr>
          <a:xfrm>
            <a:off x="457200" y="4828032"/>
            <a:ext cx="11274552" cy="1737360"/>
          </a:xfrm>
          <a:prstGeom prst="roundRect">
            <a:avLst>
              <a:gd name="adj" fmla="val 3158"/>
            </a:avLst>
          </a:prstGeom>
          <a:solidFill>
            <a:srgbClr val="F5EAEC">
              <a:alpha val="85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7" name="Shape 35"/>
          <p:cNvSpPr/>
          <p:nvPr/>
        </p:nvSpPr>
        <p:spPr>
          <a:xfrm>
            <a:off x="713232" y="5138928"/>
            <a:ext cx="457200" cy="0"/>
          </a:xfrm>
          <a:prstGeom prst="line">
            <a:avLst/>
          </a:prstGeom>
          <a:noFill/>
          <a:ln w="38100">
            <a:solidFill>
              <a:srgbClr val="A51C30"/>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38" name="Text 36"/>
          <p:cNvSpPr/>
          <p:nvPr/>
        </p:nvSpPr>
        <p:spPr>
          <a:xfrm>
            <a:off x="1280160" y="4992624"/>
            <a:ext cx="1024128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Warm hit:  </a:t>
            </a: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the session lands on the replica that already holds its KV cache, so only the new tokens prefill. Fast and cheap.</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39" name="Shape 37"/>
          <p:cNvSpPr/>
          <p:nvPr/>
        </p:nvSpPr>
        <p:spPr>
          <a:xfrm>
            <a:off x="713232" y="5541264"/>
            <a:ext cx="457200" cy="0"/>
          </a:xfrm>
          <a:prstGeom prst="line">
            <a:avLst/>
          </a:prstGeom>
          <a:noFill/>
          <a:ln w="38100">
            <a:solidFill>
              <a:srgbClr val="3F51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40" name="Text 38"/>
          <p:cNvSpPr/>
          <p:nvPr/>
        </p:nvSpPr>
        <p:spPr>
          <a:xfrm>
            <a:off x="1280160" y="5394960"/>
            <a:ext cx="1024128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Cold start:  </a:t>
            </a: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the replica has no cached prefix for this session (a new user, a deleted cache, or a returning user sent to the wrong replica), so the entire prefix is re-prefilled. Slow and expensive.</a:t>
            </a:r>
            <a:endParaRPr kumimoji="0" lang="en-US" sz="11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1" name="Text 39"/>
          <p:cNvSpPr/>
          <p:nvPr/>
        </p:nvSpPr>
        <p:spPr>
          <a:xfrm>
            <a:off x="713232" y="5943600"/>
            <a:ext cx="10835640" cy="512064"/>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Routing uses session stickiness or a hash of the prefix to keep returning users on their warm replica. Implemented by a router layer in front of vLLM, SGLang, or TensorRT-LLM. General pattern; verify specifics for your stack.</a:t>
            </a:r>
            <a:endParaRPr kumimoji="0" lang="en-US" sz="95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sp>
        <p:nvSpPr>
          <p:cNvPr id="42" name="Harvard Footer"/>
          <p:cNvSpPr txBox="1"/>
          <p:nvPr/>
        </p:nvSpPr>
        <p:spPr>
          <a:xfrm>
            <a:off x="137319" y="658320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43" name="Harvard Page Number"/>
          <p:cNvSpPr txBox="1"/>
          <p:nvPr/>
        </p:nvSpPr>
        <p:spPr>
          <a:xfrm>
            <a:off x="11730577" y="6446043"/>
            <a:ext cx="324104" cy="274638"/>
          </a:xfrm>
          <a:prstGeom prst="rect">
            <a:avLst/>
          </a:prstGeom>
          <a:noFill/>
        </p:spPr>
        <p:txBody>
          <a:bodyPr wrap="none" lIns="0" tIns="0" rIns="0" bIns="0">
            <a:noAutofit/>
          </a:bodyPr>
          <a:lstStyle/>
          <a:p>
            <a:pPr algn="r"/>
            <a:fld id="{AB8D4A9F-7782-4FBF-A196-909CD09DB6F6}" type="slidenum">
              <a:rPr lang="en-US" sz="1000">
                <a:solidFill>
                  <a:srgbClr val="8996A0"/>
                </a:solidFill>
                <a:latin typeface="Arial"/>
              </a:rPr>
              <a:t>28</a:t>
            </a:fld>
            <a:endParaRPr lang="en-US" sz="1000">
              <a:solidFill>
                <a:srgbClr val="8996A0"/>
              </a:solid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2800" b="1" dirty="0">
                <a:solidFill>
                  <a:srgbClr val="14213D"/>
                </a:solidFill>
                <a:latin typeface="Arial" pitchFamily="34" charset="0"/>
                <a:ea typeface="Cambria" pitchFamily="34" charset="-122"/>
                <a:cs typeface="Cambria" pitchFamily="34" charset="-120"/>
              </a:rPr>
              <a:t>For hosted, the cost lever flips from consumption to utilization</a:t>
            </a:r>
            <a:endParaRPr lang="en-US" sz="2800" dirty="0"/>
          </a:p>
        </p:txBody>
      </p:sp>
      <p:sp>
        <p:nvSpPr>
          <p:cNvPr id="3" name="Text 1"/>
          <p:cNvSpPr/>
          <p:nvPr/>
        </p:nvSpPr>
        <p:spPr>
          <a:xfrm>
            <a:off x="3380197" y="841248"/>
            <a:ext cx="8671389" cy="365760"/>
          </a:xfrm>
          <a:prstGeom prst="rect">
            <a:avLst/>
          </a:prstGeom>
          <a:noFill/>
          <a:ln/>
        </p:spPr>
        <p:txBody>
          <a:bodyPr wrap="square" lIns="0" tIns="0" rIns="0" bIns="0" rtlCol="0" anchor="ctr"/>
          <a:lstStyle/>
          <a:p>
            <a:pPr marL="0" indent="0">
              <a:buNone/>
            </a:pPr>
            <a:r>
              <a:rPr lang="en-US" sz="1700" dirty="0">
                <a:solidFill>
                  <a:srgbClr val="9A6B2C"/>
                </a:solidFill>
                <a:latin typeface="Arial" pitchFamily="34" charset="0"/>
                <a:ea typeface="Calibri" pitchFamily="34" charset="-122"/>
                <a:cs typeface="Calibri" pitchFamily="34" charset="-120"/>
              </a:rPr>
              <a:t>Moving to self-hosting the objective moves from </a:t>
            </a:r>
            <a:r>
              <a:rPr lang="en-US" sz="1700" b="1" dirty="0">
                <a:solidFill>
                  <a:srgbClr val="9A6B2C"/>
                </a:solidFill>
                <a:latin typeface="Arial" pitchFamily="34" charset="0"/>
                <a:ea typeface="Calibri" pitchFamily="34" charset="-122"/>
                <a:cs typeface="Calibri" pitchFamily="34" charset="-120"/>
              </a:rPr>
              <a:t>“consume fewer tokens” to “utilize GPU/Capex”</a:t>
            </a:r>
            <a:endParaRPr lang="en-US" sz="1700" dirty="0"/>
          </a:p>
        </p:txBody>
      </p:sp>
      <p:sp>
        <p:nvSpPr>
          <p:cNvPr id="4" name="Text 2"/>
          <p:cNvSpPr/>
          <p:nvPr/>
        </p:nvSpPr>
        <p:spPr>
          <a:xfrm>
            <a:off x="502920" y="1417320"/>
            <a:ext cx="3383280" cy="320040"/>
          </a:xfrm>
          <a:prstGeom prst="rect">
            <a:avLst/>
          </a:prstGeom>
          <a:noFill/>
          <a:ln/>
        </p:spPr>
        <p:txBody>
          <a:bodyPr wrap="square" lIns="0" tIns="0" rIns="0" bIns="0" rtlCol="0" anchor="ctr"/>
          <a:lstStyle/>
          <a:p>
            <a:pPr marL="0" indent="0">
              <a:buNone/>
            </a:pPr>
            <a:r>
              <a:rPr lang="en-US" sz="1400" b="1" dirty="0">
                <a:solidFill>
                  <a:srgbClr val="14213D"/>
                </a:solidFill>
                <a:latin typeface="Arial" pitchFamily="34" charset="0"/>
                <a:ea typeface="Cambria" pitchFamily="34" charset="-122"/>
                <a:cs typeface="Cambria" pitchFamily="34" charset="-120"/>
              </a:rPr>
              <a:t>1. API, no cache [before compaction]</a:t>
            </a:r>
            <a:endParaRPr lang="en-US" sz="1400" dirty="0"/>
          </a:p>
        </p:txBody>
      </p:sp>
      <p:sp>
        <p:nvSpPr>
          <p:cNvPr id="5" name="Text 3"/>
          <p:cNvSpPr/>
          <p:nvPr/>
        </p:nvSpPr>
        <p:spPr>
          <a:xfrm>
            <a:off x="502920" y="1594654"/>
            <a:ext cx="3383280" cy="320040"/>
          </a:xfrm>
          <a:prstGeom prst="rect">
            <a:avLst/>
          </a:prstGeom>
          <a:noFill/>
          <a:ln/>
        </p:spPr>
        <p:txBody>
          <a:bodyPr wrap="square" lIns="0" tIns="0" rIns="0" bIns="0" rtlCol="0" anchor="ctr"/>
          <a:lstStyle/>
          <a:p>
            <a:pPr marL="0" indent="0">
              <a:buNone/>
            </a:pPr>
            <a:r>
              <a:rPr lang="en-US" sz="1250" dirty="0">
                <a:solidFill>
                  <a:srgbClr val="5F5E5A"/>
                </a:solidFill>
                <a:latin typeface="Arial" pitchFamily="34" charset="0"/>
                <a:ea typeface="Calibri" pitchFamily="34" charset="-122"/>
                <a:cs typeface="Calibri" pitchFamily="34" charset="-120"/>
              </a:rPr>
              <a:t>Every turn re-reads full history at full price</a:t>
            </a:r>
            <a:endParaRPr lang="en-US" sz="1250" dirty="0"/>
          </a:p>
        </p:txBody>
      </p:sp>
      <p:sp>
        <p:nvSpPr>
          <p:cNvPr id="6" name="Text 4"/>
          <p:cNvSpPr/>
          <p:nvPr/>
        </p:nvSpPr>
        <p:spPr>
          <a:xfrm>
            <a:off x="4343400" y="1417320"/>
            <a:ext cx="3383280" cy="320040"/>
          </a:xfrm>
          <a:prstGeom prst="rect">
            <a:avLst/>
          </a:prstGeom>
          <a:noFill/>
          <a:ln/>
        </p:spPr>
        <p:txBody>
          <a:bodyPr wrap="square" lIns="0" tIns="0" rIns="0" bIns="0" rtlCol="0" anchor="ctr"/>
          <a:lstStyle/>
          <a:p>
            <a:pPr marL="0" indent="0">
              <a:buNone/>
            </a:pPr>
            <a:r>
              <a:rPr lang="en-US" sz="1400" b="1" dirty="0">
                <a:solidFill>
                  <a:srgbClr val="14213D"/>
                </a:solidFill>
                <a:latin typeface="Arial" pitchFamily="34" charset="0"/>
                <a:ea typeface="Cambria" pitchFamily="34" charset="-122"/>
                <a:cs typeface="Cambria" pitchFamily="34" charset="-120"/>
              </a:rPr>
              <a:t>2. Conversation with KV cache</a:t>
            </a:r>
            <a:endParaRPr lang="en-US" sz="1400" dirty="0"/>
          </a:p>
        </p:txBody>
      </p:sp>
      <p:sp>
        <p:nvSpPr>
          <p:cNvPr id="7" name="Text 5"/>
          <p:cNvSpPr/>
          <p:nvPr/>
        </p:nvSpPr>
        <p:spPr>
          <a:xfrm>
            <a:off x="4343400" y="1594654"/>
            <a:ext cx="3383280" cy="320040"/>
          </a:xfrm>
          <a:prstGeom prst="rect">
            <a:avLst/>
          </a:prstGeom>
          <a:noFill/>
          <a:ln/>
        </p:spPr>
        <p:txBody>
          <a:bodyPr wrap="square" lIns="0" tIns="0" rIns="0" bIns="0" rtlCol="0" anchor="ctr"/>
          <a:lstStyle/>
          <a:p>
            <a:pPr marL="0" indent="0">
              <a:buNone/>
            </a:pPr>
            <a:r>
              <a:rPr lang="en-US" sz="1250" dirty="0">
                <a:solidFill>
                  <a:srgbClr val="5F5E5A"/>
                </a:solidFill>
                <a:latin typeface="Arial" pitchFamily="34" charset="0"/>
                <a:ea typeface="Calibri" pitchFamily="34" charset="-122"/>
                <a:cs typeface="Calibri" pitchFamily="34" charset="-120"/>
              </a:rPr>
              <a:t>Cached context re-reads at ~10% of input cost</a:t>
            </a:r>
            <a:endParaRPr lang="en-US" sz="1250" dirty="0"/>
          </a:p>
        </p:txBody>
      </p:sp>
      <p:sp>
        <p:nvSpPr>
          <p:cNvPr id="8" name="Text 6"/>
          <p:cNvSpPr/>
          <p:nvPr/>
        </p:nvSpPr>
        <p:spPr>
          <a:xfrm>
            <a:off x="8183880" y="1417320"/>
            <a:ext cx="3383280" cy="320040"/>
          </a:xfrm>
          <a:prstGeom prst="rect">
            <a:avLst/>
          </a:prstGeom>
          <a:noFill/>
          <a:ln/>
        </p:spPr>
        <p:txBody>
          <a:bodyPr wrap="square" lIns="0" tIns="0" rIns="0" bIns="0" rtlCol="0" anchor="ctr"/>
          <a:lstStyle/>
          <a:p>
            <a:pPr marL="0" indent="0">
              <a:buNone/>
            </a:pPr>
            <a:r>
              <a:rPr lang="en-US" sz="1400" b="1" dirty="0">
                <a:solidFill>
                  <a:srgbClr val="14213D"/>
                </a:solidFill>
                <a:latin typeface="Arial" pitchFamily="34" charset="0"/>
                <a:ea typeface="Cambria" pitchFamily="34" charset="-122"/>
                <a:cs typeface="Cambria" pitchFamily="34" charset="-120"/>
              </a:rPr>
              <a:t>3. Self-hosted, open-weight</a:t>
            </a:r>
            <a:endParaRPr lang="en-US" sz="1400" dirty="0"/>
          </a:p>
        </p:txBody>
      </p:sp>
      <p:sp>
        <p:nvSpPr>
          <p:cNvPr id="9" name="Text 7"/>
          <p:cNvSpPr/>
          <p:nvPr/>
        </p:nvSpPr>
        <p:spPr>
          <a:xfrm>
            <a:off x="8183880" y="1594654"/>
            <a:ext cx="3383280" cy="320040"/>
          </a:xfrm>
          <a:prstGeom prst="rect">
            <a:avLst/>
          </a:prstGeom>
          <a:noFill/>
          <a:ln/>
        </p:spPr>
        <p:txBody>
          <a:bodyPr wrap="square" lIns="0" tIns="0" rIns="0" bIns="0" rtlCol="0" anchor="ctr"/>
          <a:lstStyle/>
          <a:p>
            <a:pPr marL="0" indent="0">
              <a:buNone/>
            </a:pPr>
            <a:r>
              <a:rPr lang="en-US" sz="1250" dirty="0">
                <a:solidFill>
                  <a:srgbClr val="5F5E5A"/>
                </a:solidFill>
                <a:latin typeface="Arial" pitchFamily="34" charset="0"/>
                <a:ea typeface="Calibri" pitchFamily="34" charset="-122"/>
                <a:cs typeface="Calibri" pitchFamily="34" charset="-120"/>
              </a:rPr>
              <a:t>Fixed GPU cost: cost per user falls with use</a:t>
            </a:r>
            <a:endParaRPr lang="en-US" sz="1250" dirty="0"/>
          </a:p>
        </p:txBody>
      </p:sp>
      <p:graphicFrame>
        <p:nvGraphicFramePr>
          <p:cNvPr id="10" name="Chart 0"/>
          <p:cNvGraphicFramePr/>
          <p:nvPr/>
        </p:nvGraphicFramePr>
        <p:xfrm>
          <a:off x="502920" y="2148840"/>
          <a:ext cx="338328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
          <p:cNvGraphicFramePr/>
          <p:nvPr>
            <p:extLst>
              <p:ext uri="{D42A27DB-BD31-4B8C-83A1-F6EECF244321}">
                <p14:modId xmlns:p14="http://schemas.microsoft.com/office/powerpoint/2010/main" val="2138060631"/>
              </p:ext>
            </p:extLst>
          </p:nvPr>
        </p:nvGraphicFramePr>
        <p:xfrm>
          <a:off x="4175759" y="2148840"/>
          <a:ext cx="3840481" cy="35844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2"/>
          <p:cNvGraphicFramePr/>
          <p:nvPr/>
        </p:nvGraphicFramePr>
        <p:xfrm>
          <a:off x="8183880" y="2148840"/>
          <a:ext cx="3383280" cy="3200400"/>
        </p:xfrm>
        <a:graphic>
          <a:graphicData uri="http://schemas.openxmlformats.org/drawingml/2006/chart">
            <c:chart xmlns:c="http://schemas.openxmlformats.org/drawingml/2006/chart" xmlns:r="http://schemas.openxmlformats.org/officeDocument/2006/relationships" r:id="rId5"/>
          </a:graphicData>
        </a:graphic>
      </p:graphicFrame>
      <p:sp>
        <p:nvSpPr>
          <p:cNvPr id="13" name="Shape 8"/>
          <p:cNvSpPr/>
          <p:nvPr/>
        </p:nvSpPr>
        <p:spPr>
          <a:xfrm>
            <a:off x="457200" y="5693426"/>
            <a:ext cx="11247120" cy="777240"/>
          </a:xfrm>
          <a:prstGeom prst="roundRect">
            <a:avLst>
              <a:gd name="adj" fmla="val 7059"/>
            </a:avLst>
          </a:prstGeom>
          <a:solidFill>
            <a:srgbClr val="FAFAF7"/>
          </a:solidFill>
          <a:ln w="12700">
            <a:solidFill>
              <a:srgbClr val="B4B2A9"/>
            </a:solidFill>
            <a:prstDash val="solid"/>
          </a:ln>
        </p:spPr>
      </p:sp>
      <p:sp>
        <p:nvSpPr>
          <p:cNvPr id="14" name="Text 9"/>
          <p:cNvSpPr/>
          <p:nvPr/>
        </p:nvSpPr>
        <p:spPr>
          <a:xfrm>
            <a:off x="640080" y="5757434"/>
            <a:ext cx="10881360" cy="640080"/>
          </a:xfrm>
          <a:prstGeom prst="rect">
            <a:avLst/>
          </a:prstGeom>
          <a:noFill/>
          <a:ln/>
        </p:spPr>
        <p:txBody>
          <a:bodyPr wrap="square" lIns="0" tIns="0" rIns="0" bIns="0" rtlCol="0" anchor="ctr"/>
          <a:lstStyle/>
          <a:p>
            <a:pPr marL="0" indent="0" algn="l">
              <a:buNone/>
            </a:pPr>
            <a:r>
              <a:rPr lang="en-US" sz="1250" b="1" dirty="0">
                <a:solidFill>
                  <a:srgbClr val="14213D"/>
                </a:solidFill>
                <a:latin typeface="Arial" pitchFamily="34" charset="0"/>
                <a:ea typeface="Calibri" pitchFamily="34" charset="-122"/>
                <a:cs typeface="Calibri" pitchFamily="34" charset="-120"/>
              </a:rPr>
              <a:t>Assumptions:  </a:t>
            </a:r>
            <a:r>
              <a:rPr lang="en-US" sz="1250" dirty="0">
                <a:solidFill>
                  <a:srgbClr val="2C2C2A"/>
                </a:solidFill>
                <a:latin typeface="Arial" pitchFamily="34" charset="0"/>
                <a:ea typeface="Calibri" pitchFamily="34" charset="-122"/>
                <a:cs typeface="Calibri" pitchFamily="34" charset="-120"/>
              </a:rPr>
              <a:t>API $5/M input, $25/M output. Cached KV re-read at ~10% of input. Self-hosted: gpt-oss-120B on 1x H100 80GB at ~$2.50/GPU-hour (about $1,800/month flat) serving ~100 users, roughly $0.14 per million tokens at good utilization.</a:t>
            </a:r>
            <a:endParaRPr lang="en-US" sz="1250" dirty="0"/>
          </a:p>
        </p:txBody>
      </p:sp>
      <p:grpSp>
        <p:nvGrpSpPr>
          <p:cNvPr id="15" name="Group 14">
            <a:extLst>
              <a:ext uri="{FF2B5EF4-FFF2-40B4-BE49-F238E27FC236}">
                <a16:creationId xmlns:a16="http://schemas.microsoft.com/office/drawing/2014/main" id="{6A1F1D9D-D3B0-E445-AB1F-C6048014923F}"/>
              </a:ext>
            </a:extLst>
          </p:cNvPr>
          <p:cNvGrpSpPr/>
          <p:nvPr/>
        </p:nvGrpSpPr>
        <p:grpSpPr>
          <a:xfrm>
            <a:off x="457199" y="913374"/>
            <a:ext cx="2715768" cy="310896"/>
            <a:chOff x="9015984" y="365760"/>
            <a:chExt cx="2715768" cy="310896"/>
          </a:xfrm>
        </p:grpSpPr>
        <p:sp>
          <p:nvSpPr>
            <p:cNvPr id="16" name="Shape 0">
              <a:extLst>
                <a:ext uri="{FF2B5EF4-FFF2-40B4-BE49-F238E27FC236}">
                  <a16:creationId xmlns:a16="http://schemas.microsoft.com/office/drawing/2014/main" id="{D51DB1AF-C5CE-657E-13B1-3C4072202367}"/>
                </a:ext>
              </a:extLst>
            </p:cNvPr>
            <p:cNvSpPr/>
            <p:nvPr/>
          </p:nvSpPr>
          <p:spPr>
            <a:xfrm>
              <a:off x="9015984" y="365760"/>
              <a:ext cx="2715768" cy="310896"/>
            </a:xfrm>
            <a:prstGeom prst="roundRect">
              <a:avLst>
                <a:gd name="adj" fmla="val 50000"/>
              </a:avLst>
            </a:prstGeom>
            <a:solidFill>
              <a:srgbClr val="FFFFFF"/>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F0502020204030204"/>
                <a:ea typeface="+mn-ea"/>
                <a:cs typeface="+mn-cs"/>
              </a:endParaRPr>
            </a:p>
          </p:txBody>
        </p:sp>
        <p:sp>
          <p:nvSpPr>
            <p:cNvPr id="17" name="Text 1">
              <a:extLst>
                <a:ext uri="{FF2B5EF4-FFF2-40B4-BE49-F238E27FC236}">
                  <a16:creationId xmlns:a16="http://schemas.microsoft.com/office/drawing/2014/main" id="{3868F402-A484-B291-2FC0-4B2304203ADF}"/>
                </a:ext>
              </a:extLst>
            </p:cNvPr>
            <p:cNvSpPr/>
            <p:nvPr/>
          </p:nvSpPr>
          <p:spPr>
            <a:xfrm>
              <a:off x="9015984" y="365760"/>
              <a:ext cx="271576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Illustrative</a:t>
              </a:r>
              <a:endParaRPr kumimoji="0" lang="en-US" sz="1000" b="0" i="0" u="none" strike="noStrike" kern="1200" cap="none" spc="0" normalizeH="0" baseline="0" noProof="0" dirty="0">
                <a:ln>
                  <a:noFill/>
                </a:ln>
                <a:solidFill>
                  <a:prstClr val="black"/>
                </a:solidFill>
                <a:effectLst/>
                <a:uLnTx/>
                <a:uFillTx/>
                <a:latin typeface="Arial" panose="020F0502020204030204"/>
                <a:ea typeface="+mn-ea"/>
                <a:cs typeface="+mn-cs"/>
              </a:endParaRPr>
            </a:p>
          </p:txBody>
        </p:sp>
      </p:grpSp>
      <p:sp>
        <p:nvSpPr>
          <p:cNvPr id="18" name="Harvard Footer"/>
          <p:cNvSpPr txBox="1"/>
          <p:nvPr/>
        </p:nvSpPr>
        <p:spPr>
          <a:xfrm>
            <a:off x="137319" y="658320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9" name="Harvard Page Number"/>
          <p:cNvSpPr txBox="1"/>
          <p:nvPr/>
        </p:nvSpPr>
        <p:spPr>
          <a:xfrm>
            <a:off x="11730577" y="6446043"/>
            <a:ext cx="324104" cy="274638"/>
          </a:xfrm>
          <a:prstGeom prst="rect">
            <a:avLst/>
          </a:prstGeom>
          <a:noFill/>
        </p:spPr>
        <p:txBody>
          <a:bodyPr wrap="none" lIns="0" tIns="0" rIns="0" bIns="0">
            <a:noAutofit/>
          </a:bodyPr>
          <a:lstStyle/>
          <a:p>
            <a:pPr algn="r"/>
            <a:fld id="{F0309B41-66C7-4F6D-908E-EB222619A53C}" type="slidenum">
              <a:rPr lang="en-US" sz="1000">
                <a:solidFill>
                  <a:srgbClr val="8996A0"/>
                </a:solidFill>
                <a:latin typeface="Arial"/>
              </a:rPr>
              <a:t>29</a:t>
            </a:fld>
            <a:endParaRPr lang="en-US" sz="1000">
              <a:solidFill>
                <a:srgbClr val="8996A0"/>
              </a:solidFill>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A51C30"/>
        </a:solidFill>
        <a:effectLst/>
      </p:bgPr>
    </p:bg>
    <p:spTree>
      <p:nvGrpSpPr>
        <p:cNvPr id="1" name="">
          <a:extLst>
            <a:ext uri="{FF2B5EF4-FFF2-40B4-BE49-F238E27FC236}">
              <a16:creationId xmlns:a16="http://schemas.microsoft.com/office/drawing/2014/main" id="{1B527581-7007-B842-FC2E-CC5AEBF55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1277D-F902-EC58-1222-97F958855288}"/>
              </a:ext>
            </a:extLst>
          </p:cNvPr>
          <p:cNvSpPr>
            <a:spLocks noGrp="1"/>
          </p:cNvSpPr>
          <p:nvPr>
            <p:ph type="title"/>
          </p:nvPr>
        </p:nvSpPr>
        <p:spPr>
          <a:xfrm>
            <a:off x="398555" y="3438303"/>
            <a:ext cx="11016033" cy="2676747"/>
          </a:xfrm>
        </p:spPr>
        <p:txBody>
          <a:bodyPr/>
          <a:lstStyle/>
          <a:p>
            <a:r>
              <a:rPr lang="en-US" dirty="0">
                <a:solidFill>
                  <a:srgbClr val="FFFFFF"/>
                </a:solidFill>
              </a:rPr>
              <a:t>Now let’s talk about your prompting</a:t>
            </a:r>
          </a:p>
        </p:txBody>
      </p:sp>
      <p:sp>
        <p:nvSpPr>
          <p:cNvPr id="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F3F3F1"/>
                </a:solidFill>
                <a:latin typeface="Arial"/>
              </a:rPr>
              <a:t>© 2026 Ted Kwartler</a:t>
            </a:r>
          </a:p>
        </p:txBody>
      </p:sp>
    </p:spTree>
    <p:extLst>
      <p:ext uri="{BB962C8B-B14F-4D97-AF65-F5344CB8AC3E}">
        <p14:creationId xmlns:p14="http://schemas.microsoft.com/office/powerpoint/2010/main" val="1882997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1"/>
          <p:cNvSpPr/>
          <p:nvPr/>
        </p:nvSpPr>
        <p:spPr>
          <a:xfrm>
            <a:off x="524496" y="548640"/>
            <a:ext cx="8686800" cy="548640"/>
          </a:xfrm>
          <a:prstGeom prst="rect">
            <a:avLst/>
          </a:prstGeom>
          <a:noFill/>
          <a:ln/>
        </p:spPr>
        <p:txBody>
          <a:bodyPr wrap="square" rtlCol="0" anchor="ctr"/>
          <a:lstStyle/>
          <a:p>
            <a:pPr marL="0" indent="0">
              <a:buNone/>
            </a:pPr>
            <a:r>
              <a:rPr lang="en-US" sz="2600" b="1" dirty="0">
                <a:solidFill>
                  <a:srgbClr val="1E1E1E"/>
                </a:solidFill>
                <a:latin typeface="Arial" pitchFamily="34" charset="0"/>
                <a:ea typeface="Cambria" pitchFamily="34" charset="-122"/>
                <a:cs typeface="Cambria" pitchFamily="34" charset="-120"/>
              </a:rPr>
              <a:t>Debrief: your haggl.com system prompts</a:t>
            </a:r>
            <a:endParaRPr lang="en-US" sz="2600" dirty="0"/>
          </a:p>
        </p:txBody>
      </p:sp>
      <p:sp>
        <p:nvSpPr>
          <p:cNvPr id="5" name="Text 2"/>
          <p:cNvSpPr/>
          <p:nvPr/>
        </p:nvSpPr>
        <p:spPr>
          <a:xfrm>
            <a:off x="524496" y="960120"/>
            <a:ext cx="6120316" cy="731520"/>
          </a:xfrm>
          <a:prstGeom prst="rect">
            <a:avLst/>
          </a:prstGeom>
          <a:noFill/>
          <a:ln/>
        </p:spPr>
        <p:txBody>
          <a:bodyPr wrap="square" rtlCol="0" anchor="ctr"/>
          <a:lstStyle/>
          <a:p>
            <a:pPr marL="0" indent="0">
              <a:buNone/>
            </a:pPr>
            <a:r>
              <a:rPr lang="en-US" sz="1500" dirty="0">
                <a:solidFill>
                  <a:srgbClr val="1E1E1E"/>
                </a:solidFill>
                <a:latin typeface="Arial" pitchFamily="34" charset="0"/>
                <a:ea typeface="Calibri" pitchFamily="34" charset="-122"/>
                <a:cs typeface="Calibri" pitchFamily="34" charset="-120"/>
              </a:rPr>
              <a:t>You wrote a system prompt for some scenarios for an agent to represent you in a tough negotiation.</a:t>
            </a:r>
            <a:endParaRPr lang="en-US" sz="1500" dirty="0"/>
          </a:p>
        </p:txBody>
      </p:sp>
      <p:sp>
        <p:nvSpPr>
          <p:cNvPr id="7" name="Text 4"/>
          <p:cNvSpPr/>
          <p:nvPr/>
        </p:nvSpPr>
        <p:spPr>
          <a:xfrm>
            <a:off x="694638" y="2468880"/>
            <a:ext cx="6120316" cy="502920"/>
          </a:xfrm>
          <a:prstGeom prst="rect">
            <a:avLst/>
          </a:prstGeom>
          <a:noFill/>
          <a:ln/>
        </p:spPr>
        <p:txBody>
          <a:bodyPr wrap="square" rtlCol="0" anchor="ctr"/>
          <a:lstStyle/>
          <a:p>
            <a:pPr marL="0" indent="0">
              <a:buNone/>
            </a:pPr>
            <a:r>
              <a:rPr lang="en-US" sz="1500" dirty="0">
                <a:solidFill>
                  <a:srgbClr val="1E1E1E"/>
                </a:solidFill>
                <a:latin typeface="Arial" pitchFamily="34" charset="0"/>
                <a:ea typeface="Calibri" pitchFamily="34" charset="-122"/>
                <a:cs typeface="Calibri" pitchFamily="34" charset="-120"/>
              </a:rPr>
              <a:t>What behavior did your system prompt intend to produce?</a:t>
            </a:r>
            <a:endParaRPr lang="en-US" sz="1500" dirty="0"/>
          </a:p>
        </p:txBody>
      </p:sp>
      <p:sp>
        <p:nvSpPr>
          <p:cNvPr id="9" name="Text 6"/>
          <p:cNvSpPr/>
          <p:nvPr/>
        </p:nvSpPr>
        <p:spPr>
          <a:xfrm>
            <a:off x="694638" y="3108960"/>
            <a:ext cx="6120316" cy="502920"/>
          </a:xfrm>
          <a:prstGeom prst="rect">
            <a:avLst/>
          </a:prstGeom>
          <a:noFill/>
          <a:ln/>
        </p:spPr>
        <p:txBody>
          <a:bodyPr wrap="square" rtlCol="0" anchor="ctr"/>
          <a:lstStyle/>
          <a:p>
            <a:pPr marL="0" indent="0">
              <a:buNone/>
            </a:pPr>
            <a:r>
              <a:rPr lang="en-US" sz="1500" dirty="0">
                <a:solidFill>
                  <a:srgbClr val="1E1E1E"/>
                </a:solidFill>
                <a:latin typeface="Arial" pitchFamily="34" charset="0"/>
                <a:ea typeface="Calibri" pitchFamily="34" charset="-122"/>
                <a:cs typeface="Calibri" pitchFamily="34" charset="-120"/>
              </a:rPr>
              <a:t>What behavior did you actually observe from the AI counterpart?</a:t>
            </a:r>
            <a:endParaRPr lang="en-US" sz="1500" dirty="0"/>
          </a:p>
        </p:txBody>
      </p:sp>
      <p:sp>
        <p:nvSpPr>
          <p:cNvPr id="11" name="Text 8"/>
          <p:cNvSpPr/>
          <p:nvPr/>
        </p:nvSpPr>
        <p:spPr>
          <a:xfrm>
            <a:off x="694638" y="3749040"/>
            <a:ext cx="6120315" cy="502920"/>
          </a:xfrm>
          <a:prstGeom prst="rect">
            <a:avLst/>
          </a:prstGeom>
          <a:noFill/>
          <a:ln/>
        </p:spPr>
        <p:txBody>
          <a:bodyPr wrap="square" rtlCol="0" anchor="ctr"/>
          <a:lstStyle/>
          <a:p>
            <a:pPr marL="0" indent="0">
              <a:buNone/>
            </a:pPr>
            <a:r>
              <a:rPr lang="en-US" sz="1500" dirty="0">
                <a:solidFill>
                  <a:srgbClr val="1E1E1E"/>
                </a:solidFill>
                <a:latin typeface="Arial" pitchFamily="34" charset="0"/>
                <a:ea typeface="Calibri" pitchFamily="34" charset="-122"/>
                <a:cs typeface="Calibri" pitchFamily="34" charset="-120"/>
              </a:rPr>
              <a:t>Where was the gap, and what one line would you add or change to close it?</a:t>
            </a:r>
            <a:endParaRPr lang="en-US" sz="1500" dirty="0"/>
          </a:p>
        </p:txBody>
      </p:sp>
      <p:sp>
        <p:nvSpPr>
          <p:cNvPr id="13" name="Text 10"/>
          <p:cNvSpPr/>
          <p:nvPr/>
        </p:nvSpPr>
        <p:spPr>
          <a:xfrm>
            <a:off x="694638" y="4389120"/>
            <a:ext cx="6120315" cy="502920"/>
          </a:xfrm>
          <a:prstGeom prst="rect">
            <a:avLst/>
          </a:prstGeom>
          <a:noFill/>
          <a:ln/>
        </p:spPr>
        <p:txBody>
          <a:bodyPr wrap="square" rtlCol="0" anchor="ctr"/>
          <a:lstStyle/>
          <a:p>
            <a:pPr marL="0" indent="0">
              <a:buNone/>
            </a:pPr>
            <a:r>
              <a:rPr lang="en-US" sz="1500" dirty="0">
                <a:solidFill>
                  <a:srgbClr val="1E1E1E"/>
                </a:solidFill>
                <a:latin typeface="Arial" pitchFamily="34" charset="0"/>
                <a:ea typeface="Calibri" pitchFamily="34" charset="-122"/>
                <a:cs typeface="Calibri" pitchFamily="34" charset="-120"/>
              </a:rPr>
              <a:t>Did a stronger persona description change behavior more than a longer list of rules?</a:t>
            </a:r>
            <a:endParaRPr lang="en-US" sz="1500" dirty="0"/>
          </a:p>
        </p:txBody>
      </p:sp>
      <p:sp>
        <p:nvSpPr>
          <p:cNvPr id="14" name="Text 11"/>
          <p:cNvSpPr/>
          <p:nvPr/>
        </p:nvSpPr>
        <p:spPr>
          <a:xfrm>
            <a:off x="640080" y="5349240"/>
            <a:ext cx="6120316" cy="548640"/>
          </a:xfrm>
          <a:prstGeom prst="rect">
            <a:avLst/>
          </a:prstGeom>
          <a:noFill/>
          <a:ln/>
        </p:spPr>
        <p:txBody>
          <a:bodyPr wrap="square" rtlCol="0" anchor="ctr"/>
          <a:lstStyle/>
          <a:p>
            <a:pPr marL="0" indent="0">
              <a:buNone/>
            </a:pPr>
            <a:r>
              <a:rPr lang="en-US" sz="1450" i="1" dirty="0">
                <a:solidFill>
                  <a:srgbClr val="1E1E1E"/>
                </a:solidFill>
                <a:latin typeface="Arial" pitchFamily="34" charset="0"/>
                <a:ea typeface="Cambria" pitchFamily="34" charset="-122"/>
                <a:cs typeface="Cambria" pitchFamily="34" charset="-120"/>
              </a:rPr>
              <a:t>This gap, intent versus observed behavior, is exactly what the rest of today's session gives you tools to close.</a:t>
            </a:r>
            <a:endParaRPr lang="en-US" sz="1450" dirty="0"/>
          </a:p>
        </p:txBody>
      </p:sp>
      <p:pic>
        <p:nvPicPr>
          <p:cNvPr id="16" name="Picture 15">
            <a:extLst>
              <a:ext uri="{FF2B5EF4-FFF2-40B4-BE49-F238E27FC236}">
                <a16:creationId xmlns:a16="http://schemas.microsoft.com/office/drawing/2014/main" id="{AE836F33-2132-8453-BB1B-612CB46228BD}"/>
              </a:ext>
            </a:extLst>
          </p:cNvPr>
          <p:cNvPicPr>
            <a:picLocks noChangeAspect="1"/>
          </p:cNvPicPr>
          <p:nvPr/>
        </p:nvPicPr>
        <p:blipFill>
          <a:blip r:embed="rId3"/>
          <a:srcRect r="22284"/>
          <a:stretch>
            <a:fillRect/>
          </a:stretch>
        </p:blipFill>
        <p:spPr>
          <a:xfrm>
            <a:off x="7501972" y="2847138"/>
            <a:ext cx="3821987" cy="3462222"/>
          </a:xfrm>
          <a:prstGeom prst="rect">
            <a:avLst/>
          </a:prstGeom>
        </p:spPr>
      </p:pic>
      <p:pic>
        <p:nvPicPr>
          <p:cNvPr id="17" name="Picture 16">
            <a:extLst>
              <a:ext uri="{FF2B5EF4-FFF2-40B4-BE49-F238E27FC236}">
                <a16:creationId xmlns:a16="http://schemas.microsoft.com/office/drawing/2014/main" id="{C96ECE9C-4657-8613-EF49-DDD4019DC0D7}"/>
              </a:ext>
            </a:extLst>
          </p:cNvPr>
          <p:cNvPicPr>
            <a:picLocks noChangeAspect="1"/>
          </p:cNvPicPr>
          <p:nvPr/>
        </p:nvPicPr>
        <p:blipFill>
          <a:blip r:embed="rId4"/>
          <a:stretch>
            <a:fillRect/>
          </a:stretch>
        </p:blipFill>
        <p:spPr>
          <a:xfrm>
            <a:off x="7440260" y="719168"/>
            <a:ext cx="4290317" cy="1664436"/>
          </a:xfrm>
          <a:prstGeom prst="rect">
            <a:avLst/>
          </a:prstGeom>
        </p:spPr>
      </p:pic>
      <p:sp>
        <p:nvSpPr>
          <p:cNvPr id="18"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9" name="Harvard Page Number"/>
          <p:cNvSpPr txBox="1"/>
          <p:nvPr/>
        </p:nvSpPr>
        <p:spPr>
          <a:xfrm>
            <a:off x="11730577" y="6446043"/>
            <a:ext cx="324104" cy="274638"/>
          </a:xfrm>
          <a:prstGeom prst="rect">
            <a:avLst/>
          </a:prstGeom>
          <a:noFill/>
        </p:spPr>
        <p:txBody>
          <a:bodyPr wrap="none" lIns="0" tIns="0" rIns="0" bIns="0">
            <a:noAutofit/>
          </a:bodyPr>
          <a:lstStyle/>
          <a:p>
            <a:pPr algn="r"/>
            <a:fld id="{9BA758B5-22DC-4159-A23C-164A15EB1001}" type="slidenum">
              <a:rPr lang="en-US" sz="1000">
                <a:solidFill>
                  <a:srgbClr val="8996A0"/>
                </a:solidFill>
                <a:latin typeface="Arial"/>
              </a:rPr>
              <a:t>31</a:t>
            </a:fld>
            <a:endParaRPr lang="en-US" sz="1000">
              <a:solidFill>
                <a:srgbClr val="8996A0"/>
              </a:solidFill>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49835"/>
            <a:ext cx="10515600" cy="548640"/>
          </a:xfrm>
          <a:prstGeom prst="rect">
            <a:avLst/>
          </a:prstGeom>
          <a:noFill/>
          <a:ln/>
        </p:spPr>
        <p:txBody>
          <a:bodyPr wrap="square" rtlCol="0" anchor="ctr"/>
          <a:lstStyle/>
          <a:p>
            <a:pPr marL="0" indent="0">
              <a:buNone/>
            </a:pPr>
            <a:r>
              <a:rPr lang="en-US" sz="2600" b="1" dirty="0">
                <a:solidFill>
                  <a:srgbClr val="14213D"/>
                </a:solidFill>
                <a:latin typeface="Arial" pitchFamily="34" charset="0"/>
                <a:ea typeface="Cambria" pitchFamily="34" charset="-122"/>
                <a:cs typeface="Cambria" pitchFamily="34" charset="-120"/>
              </a:rPr>
              <a:t>Anatomy of the request you will send</a:t>
            </a:r>
            <a:endParaRPr lang="en-US" sz="2600" dirty="0"/>
          </a:p>
        </p:txBody>
      </p:sp>
      <p:sp>
        <p:nvSpPr>
          <p:cNvPr id="3" name="Text 1"/>
          <p:cNvSpPr/>
          <p:nvPr/>
        </p:nvSpPr>
        <p:spPr>
          <a:xfrm>
            <a:off x="548640" y="898475"/>
            <a:ext cx="10058400" cy="365760"/>
          </a:xfrm>
          <a:prstGeom prst="rect">
            <a:avLst/>
          </a:prstGeom>
          <a:noFill/>
          <a:ln/>
        </p:spPr>
        <p:txBody>
          <a:bodyPr wrap="square" rtlCol="0" anchor="ctr"/>
          <a:lstStyle/>
          <a:p>
            <a:pPr marL="0" indent="0">
              <a:buNone/>
            </a:pPr>
            <a:r>
              <a:rPr lang="en-US" sz="1350" i="1" dirty="0">
                <a:solidFill>
                  <a:srgbClr val="3A3F4B"/>
                </a:solidFill>
                <a:latin typeface="Arial" pitchFamily="34" charset="0"/>
                <a:ea typeface="Calibri" pitchFamily="34" charset="-122"/>
                <a:cs typeface="Calibri" pitchFamily="34" charset="-120"/>
              </a:rPr>
              <a:t>Every </a:t>
            </a:r>
            <a:r>
              <a:rPr lang="en-US" sz="1350" i="1" dirty="0" err="1">
                <a:solidFill>
                  <a:srgbClr val="3A3F4B"/>
                </a:solidFill>
                <a:latin typeface="Arial" pitchFamily="34" charset="0"/>
                <a:ea typeface="Calibri" pitchFamily="34" charset="-122"/>
                <a:cs typeface="Calibri" pitchFamily="34" charset="-120"/>
              </a:rPr>
              <a:t>OpenRouter</a:t>
            </a:r>
            <a:r>
              <a:rPr lang="en-US" sz="1350" i="1" dirty="0">
                <a:solidFill>
                  <a:srgbClr val="3A3F4B"/>
                </a:solidFill>
                <a:latin typeface="Arial" pitchFamily="34" charset="0"/>
                <a:ea typeface="Calibri" pitchFamily="34" charset="-122"/>
                <a:cs typeface="Calibri" pitchFamily="34" charset="-120"/>
              </a:rPr>
              <a:t> request we do is built from the same five pieces</a:t>
            </a:r>
            <a:endParaRPr lang="en-US" sz="1350" dirty="0"/>
          </a:p>
        </p:txBody>
      </p:sp>
      <p:sp>
        <p:nvSpPr>
          <p:cNvPr id="4" name="Shape 2"/>
          <p:cNvSpPr/>
          <p:nvPr/>
        </p:nvSpPr>
        <p:spPr>
          <a:xfrm>
            <a:off x="548640" y="1539580"/>
            <a:ext cx="11064240" cy="841248"/>
          </a:xfrm>
          <a:prstGeom prst="roundRect">
            <a:avLst>
              <a:gd name="adj" fmla="val 6522"/>
            </a:avLst>
          </a:prstGeom>
          <a:solidFill>
            <a:srgbClr val="FFFFFF"/>
          </a:solidFill>
          <a:ln/>
          <a:effectLst>
            <a:outerShdw blurRad="63500" dist="25400" dir="5400000" algn="bl" rotWithShape="0">
              <a:srgbClr val="1E1E1E">
                <a:alpha val="7000"/>
              </a:srgbClr>
            </a:outerShdw>
          </a:effectLst>
        </p:spPr>
      </p:sp>
      <p:sp>
        <p:nvSpPr>
          <p:cNvPr id="5" name="Text 3"/>
          <p:cNvSpPr/>
          <p:nvPr/>
        </p:nvSpPr>
        <p:spPr>
          <a:xfrm>
            <a:off x="777240" y="1631020"/>
            <a:ext cx="2103120" cy="658368"/>
          </a:xfrm>
          <a:prstGeom prst="rect">
            <a:avLst/>
          </a:prstGeom>
          <a:noFill/>
          <a:ln/>
        </p:spPr>
        <p:txBody>
          <a:bodyPr wrap="square" rtlCol="0" anchor="ctr"/>
          <a:lstStyle/>
          <a:p>
            <a:pPr marL="0" indent="0">
              <a:buNone/>
            </a:pPr>
            <a:r>
              <a:rPr lang="en-US" sz="1450" b="1" dirty="0">
                <a:solidFill>
                  <a:srgbClr val="9A6B2C"/>
                </a:solidFill>
                <a:latin typeface="Arial" pitchFamily="34" charset="0"/>
                <a:ea typeface="Cambria" pitchFamily="34" charset="-122"/>
                <a:cs typeface="Cambria" pitchFamily="34" charset="-120"/>
              </a:rPr>
              <a:t>Model</a:t>
            </a:r>
            <a:endParaRPr lang="en-US" sz="1450" dirty="0"/>
          </a:p>
        </p:txBody>
      </p:sp>
      <p:sp>
        <p:nvSpPr>
          <p:cNvPr id="6" name="Text 4"/>
          <p:cNvSpPr/>
          <p:nvPr/>
        </p:nvSpPr>
        <p:spPr>
          <a:xfrm>
            <a:off x="3017520" y="1631020"/>
            <a:ext cx="8366760" cy="658368"/>
          </a:xfrm>
          <a:prstGeom prst="rect">
            <a:avLst/>
          </a:prstGeom>
          <a:noFill/>
          <a:ln/>
        </p:spPr>
        <p:txBody>
          <a:bodyPr wrap="square" rtlCol="0" anchor="ctr"/>
          <a:lstStyle/>
          <a:p>
            <a:pPr marL="0" indent="0">
              <a:buNone/>
            </a:pPr>
            <a:r>
              <a:rPr lang="en-US" sz="1250" dirty="0">
                <a:solidFill>
                  <a:srgbClr val="3A3F4B"/>
                </a:solidFill>
                <a:latin typeface="Arial" pitchFamily="34" charset="0"/>
                <a:ea typeface="Calibri" pitchFamily="34" charset="-122"/>
                <a:cs typeface="Calibri" pitchFamily="34" charset="-120"/>
              </a:rPr>
              <a:t>Which AI you are calling, for example anthropic/claude-sonnet-4-6. Same prompt, different model, different quality and speed.</a:t>
            </a:r>
            <a:endParaRPr lang="en-US" sz="1250" dirty="0"/>
          </a:p>
        </p:txBody>
      </p:sp>
      <p:sp>
        <p:nvSpPr>
          <p:cNvPr id="7" name="Shape 5"/>
          <p:cNvSpPr/>
          <p:nvPr/>
        </p:nvSpPr>
        <p:spPr>
          <a:xfrm>
            <a:off x="548640" y="2472268"/>
            <a:ext cx="11064240" cy="841248"/>
          </a:xfrm>
          <a:prstGeom prst="roundRect">
            <a:avLst>
              <a:gd name="adj" fmla="val 6522"/>
            </a:avLst>
          </a:prstGeom>
          <a:solidFill>
            <a:srgbClr val="FFFFFF"/>
          </a:solidFill>
          <a:ln/>
          <a:effectLst>
            <a:outerShdw blurRad="63500" dist="25400" dir="5400000" algn="bl" rotWithShape="0">
              <a:srgbClr val="1E1E1E">
                <a:alpha val="7000"/>
              </a:srgbClr>
            </a:outerShdw>
          </a:effectLst>
        </p:spPr>
      </p:sp>
      <p:sp>
        <p:nvSpPr>
          <p:cNvPr id="8" name="Text 6"/>
          <p:cNvSpPr/>
          <p:nvPr/>
        </p:nvSpPr>
        <p:spPr>
          <a:xfrm>
            <a:off x="777240" y="2563708"/>
            <a:ext cx="2103120" cy="658368"/>
          </a:xfrm>
          <a:prstGeom prst="rect">
            <a:avLst/>
          </a:prstGeom>
          <a:noFill/>
          <a:ln/>
        </p:spPr>
        <p:txBody>
          <a:bodyPr wrap="square" rtlCol="0" anchor="ctr"/>
          <a:lstStyle/>
          <a:p>
            <a:pPr marL="0" indent="0">
              <a:buNone/>
            </a:pPr>
            <a:r>
              <a:rPr lang="en-US" sz="1450" b="1" dirty="0">
                <a:solidFill>
                  <a:srgbClr val="9A6B2C"/>
                </a:solidFill>
                <a:latin typeface="Arial" pitchFamily="34" charset="0"/>
                <a:ea typeface="Cambria" pitchFamily="34" charset="-122"/>
                <a:cs typeface="Cambria" pitchFamily="34" charset="-120"/>
              </a:rPr>
              <a:t>System prompt</a:t>
            </a:r>
            <a:endParaRPr lang="en-US" sz="1450" dirty="0"/>
          </a:p>
        </p:txBody>
      </p:sp>
      <p:sp>
        <p:nvSpPr>
          <p:cNvPr id="9" name="Text 7"/>
          <p:cNvSpPr/>
          <p:nvPr/>
        </p:nvSpPr>
        <p:spPr>
          <a:xfrm>
            <a:off x="3017520" y="2563708"/>
            <a:ext cx="8366760" cy="658368"/>
          </a:xfrm>
          <a:prstGeom prst="rect">
            <a:avLst/>
          </a:prstGeom>
          <a:noFill/>
          <a:ln/>
        </p:spPr>
        <p:txBody>
          <a:bodyPr wrap="square" rtlCol="0" anchor="ctr"/>
          <a:lstStyle/>
          <a:p>
            <a:pPr marL="0" indent="0">
              <a:buNone/>
            </a:pPr>
            <a:r>
              <a:rPr lang="en-US" sz="1250" dirty="0">
                <a:solidFill>
                  <a:srgbClr val="3A3F4B"/>
                </a:solidFill>
                <a:latin typeface="Arial" pitchFamily="34" charset="0"/>
                <a:ea typeface="Calibri" pitchFamily="34" charset="-122"/>
                <a:cs typeface="Calibri" pitchFamily="34" charset="-120"/>
              </a:rPr>
              <a:t>A behind the scenes instruction that sets role and rules before the user prompt arrives. Shapes every response, usually invisible to an end user.</a:t>
            </a:r>
            <a:endParaRPr lang="en-US" sz="1250" dirty="0"/>
          </a:p>
        </p:txBody>
      </p:sp>
      <p:sp>
        <p:nvSpPr>
          <p:cNvPr id="10" name="Shape 8"/>
          <p:cNvSpPr/>
          <p:nvPr/>
        </p:nvSpPr>
        <p:spPr>
          <a:xfrm>
            <a:off x="548640" y="3404956"/>
            <a:ext cx="11064240" cy="841248"/>
          </a:xfrm>
          <a:prstGeom prst="roundRect">
            <a:avLst>
              <a:gd name="adj" fmla="val 6522"/>
            </a:avLst>
          </a:prstGeom>
          <a:solidFill>
            <a:srgbClr val="FFFFFF"/>
          </a:solidFill>
          <a:ln/>
          <a:effectLst>
            <a:outerShdw blurRad="63500" dist="25400" dir="5400000" algn="bl" rotWithShape="0">
              <a:srgbClr val="1E1E1E">
                <a:alpha val="7000"/>
              </a:srgbClr>
            </a:outerShdw>
          </a:effectLst>
        </p:spPr>
      </p:sp>
      <p:sp>
        <p:nvSpPr>
          <p:cNvPr id="11" name="Text 9"/>
          <p:cNvSpPr/>
          <p:nvPr/>
        </p:nvSpPr>
        <p:spPr>
          <a:xfrm>
            <a:off x="777240" y="3496396"/>
            <a:ext cx="2103120" cy="658368"/>
          </a:xfrm>
          <a:prstGeom prst="rect">
            <a:avLst/>
          </a:prstGeom>
          <a:noFill/>
          <a:ln/>
        </p:spPr>
        <p:txBody>
          <a:bodyPr wrap="square" rtlCol="0" anchor="ctr"/>
          <a:lstStyle/>
          <a:p>
            <a:pPr marL="0" indent="0">
              <a:buNone/>
            </a:pPr>
            <a:r>
              <a:rPr lang="en-US" sz="1450" b="1" dirty="0">
                <a:solidFill>
                  <a:srgbClr val="9A6B2C"/>
                </a:solidFill>
                <a:latin typeface="Arial" pitchFamily="34" charset="0"/>
                <a:ea typeface="Cambria" pitchFamily="34" charset="-122"/>
                <a:cs typeface="Cambria" pitchFamily="34" charset="-120"/>
              </a:rPr>
              <a:t>Prompt</a:t>
            </a:r>
            <a:endParaRPr lang="en-US" sz="1450" dirty="0"/>
          </a:p>
        </p:txBody>
      </p:sp>
      <p:sp>
        <p:nvSpPr>
          <p:cNvPr id="12" name="Text 10"/>
          <p:cNvSpPr/>
          <p:nvPr/>
        </p:nvSpPr>
        <p:spPr>
          <a:xfrm>
            <a:off x="3017520" y="3496396"/>
            <a:ext cx="8366760" cy="658368"/>
          </a:xfrm>
          <a:prstGeom prst="rect">
            <a:avLst/>
          </a:prstGeom>
          <a:noFill/>
          <a:ln/>
        </p:spPr>
        <p:txBody>
          <a:bodyPr wrap="square" rtlCol="0" anchor="ctr"/>
          <a:lstStyle/>
          <a:p>
            <a:pPr marL="0" indent="0">
              <a:buNone/>
            </a:pPr>
            <a:r>
              <a:rPr lang="en-US" sz="1250" dirty="0">
                <a:solidFill>
                  <a:srgbClr val="3A3F4B"/>
                </a:solidFill>
                <a:latin typeface="Arial" pitchFamily="34" charset="0"/>
                <a:ea typeface="Calibri" pitchFamily="34" charset="-122"/>
                <a:cs typeface="Calibri" pitchFamily="34" charset="-120"/>
              </a:rPr>
              <a:t>The actual question or instruction, the part a user typically sees and types.</a:t>
            </a:r>
            <a:endParaRPr lang="en-US" sz="1250" dirty="0"/>
          </a:p>
        </p:txBody>
      </p:sp>
      <p:sp>
        <p:nvSpPr>
          <p:cNvPr id="13" name="Shape 11"/>
          <p:cNvSpPr/>
          <p:nvPr/>
        </p:nvSpPr>
        <p:spPr>
          <a:xfrm>
            <a:off x="548640" y="4337644"/>
            <a:ext cx="11064240" cy="841248"/>
          </a:xfrm>
          <a:prstGeom prst="roundRect">
            <a:avLst>
              <a:gd name="adj" fmla="val 6522"/>
            </a:avLst>
          </a:prstGeom>
          <a:solidFill>
            <a:srgbClr val="FFFFFF"/>
          </a:solidFill>
          <a:ln/>
          <a:effectLst>
            <a:outerShdw blurRad="63500" dist="25400" dir="5400000" algn="bl" rotWithShape="0">
              <a:srgbClr val="1E1E1E">
                <a:alpha val="7000"/>
              </a:srgbClr>
            </a:outerShdw>
          </a:effectLst>
        </p:spPr>
      </p:sp>
      <p:sp>
        <p:nvSpPr>
          <p:cNvPr id="14" name="Text 12"/>
          <p:cNvSpPr/>
          <p:nvPr/>
        </p:nvSpPr>
        <p:spPr>
          <a:xfrm>
            <a:off x="777240" y="4429084"/>
            <a:ext cx="2103120" cy="658368"/>
          </a:xfrm>
          <a:prstGeom prst="rect">
            <a:avLst/>
          </a:prstGeom>
          <a:noFill/>
          <a:ln/>
        </p:spPr>
        <p:txBody>
          <a:bodyPr wrap="square" rtlCol="0" anchor="ctr"/>
          <a:lstStyle/>
          <a:p>
            <a:pPr marL="0" indent="0">
              <a:buNone/>
            </a:pPr>
            <a:r>
              <a:rPr lang="en-US" sz="1450" b="1" dirty="0">
                <a:solidFill>
                  <a:srgbClr val="9A6B2C"/>
                </a:solidFill>
                <a:latin typeface="Arial" pitchFamily="34" charset="0"/>
                <a:ea typeface="Cambria" pitchFamily="34" charset="-122"/>
                <a:cs typeface="Cambria" pitchFamily="34" charset="-120"/>
              </a:rPr>
              <a:t>Temperature</a:t>
            </a:r>
            <a:endParaRPr lang="en-US" sz="1450" dirty="0"/>
          </a:p>
        </p:txBody>
      </p:sp>
      <p:sp>
        <p:nvSpPr>
          <p:cNvPr id="15" name="Text 13"/>
          <p:cNvSpPr/>
          <p:nvPr/>
        </p:nvSpPr>
        <p:spPr>
          <a:xfrm>
            <a:off x="3017520" y="4429084"/>
            <a:ext cx="8366760" cy="658368"/>
          </a:xfrm>
          <a:prstGeom prst="rect">
            <a:avLst/>
          </a:prstGeom>
          <a:noFill/>
          <a:ln/>
        </p:spPr>
        <p:txBody>
          <a:bodyPr wrap="square" rtlCol="0" anchor="ctr"/>
          <a:lstStyle/>
          <a:p>
            <a:pPr marL="0" indent="0">
              <a:buNone/>
            </a:pPr>
            <a:r>
              <a:rPr lang="en-US" sz="1250" dirty="0">
                <a:solidFill>
                  <a:srgbClr val="3A3F4B"/>
                </a:solidFill>
                <a:latin typeface="Arial" pitchFamily="34" charset="0"/>
                <a:ea typeface="Calibri" pitchFamily="34" charset="-122"/>
                <a:cs typeface="Calibri" pitchFamily="34" charset="-120"/>
              </a:rPr>
              <a:t>0 to about 2. Low values are consistent and repeatable. Higher values are more varied language, but less predictable.</a:t>
            </a:r>
            <a:endParaRPr lang="en-US" sz="1250" dirty="0"/>
          </a:p>
        </p:txBody>
      </p:sp>
      <p:sp>
        <p:nvSpPr>
          <p:cNvPr id="16" name="Shape 14"/>
          <p:cNvSpPr/>
          <p:nvPr/>
        </p:nvSpPr>
        <p:spPr>
          <a:xfrm>
            <a:off x="548640" y="5270332"/>
            <a:ext cx="11064240" cy="841248"/>
          </a:xfrm>
          <a:prstGeom prst="roundRect">
            <a:avLst>
              <a:gd name="adj" fmla="val 6522"/>
            </a:avLst>
          </a:prstGeom>
          <a:solidFill>
            <a:srgbClr val="FFFFFF"/>
          </a:solidFill>
          <a:ln/>
          <a:effectLst>
            <a:outerShdw blurRad="63500" dist="25400" dir="5400000" algn="bl" rotWithShape="0">
              <a:srgbClr val="1E1E1E">
                <a:alpha val="7000"/>
              </a:srgbClr>
            </a:outerShdw>
          </a:effectLst>
        </p:spPr>
      </p:sp>
      <p:sp>
        <p:nvSpPr>
          <p:cNvPr id="17" name="Text 15"/>
          <p:cNvSpPr/>
          <p:nvPr/>
        </p:nvSpPr>
        <p:spPr>
          <a:xfrm>
            <a:off x="777240" y="5361772"/>
            <a:ext cx="2103120" cy="658368"/>
          </a:xfrm>
          <a:prstGeom prst="rect">
            <a:avLst/>
          </a:prstGeom>
          <a:noFill/>
          <a:ln/>
        </p:spPr>
        <p:txBody>
          <a:bodyPr wrap="square" rtlCol="0" anchor="ctr"/>
          <a:lstStyle/>
          <a:p>
            <a:pPr marL="0" indent="0">
              <a:buNone/>
            </a:pPr>
            <a:r>
              <a:rPr lang="en-US" sz="1450" b="1" dirty="0">
                <a:solidFill>
                  <a:srgbClr val="9A6B2C"/>
                </a:solidFill>
                <a:latin typeface="Arial" pitchFamily="34" charset="0"/>
                <a:ea typeface="Cambria" pitchFamily="34" charset="-122"/>
                <a:cs typeface="Cambria" pitchFamily="34" charset="-120"/>
              </a:rPr>
              <a:t>Max tokens</a:t>
            </a:r>
            <a:endParaRPr lang="en-US" sz="1450" dirty="0"/>
          </a:p>
        </p:txBody>
      </p:sp>
      <p:sp>
        <p:nvSpPr>
          <p:cNvPr id="18" name="Text 16"/>
          <p:cNvSpPr/>
          <p:nvPr/>
        </p:nvSpPr>
        <p:spPr>
          <a:xfrm>
            <a:off x="3017520" y="5361772"/>
            <a:ext cx="8366760" cy="658368"/>
          </a:xfrm>
          <a:prstGeom prst="rect">
            <a:avLst/>
          </a:prstGeom>
          <a:noFill/>
          <a:ln/>
        </p:spPr>
        <p:txBody>
          <a:bodyPr wrap="square" rtlCol="0" anchor="ctr"/>
          <a:lstStyle/>
          <a:p>
            <a:pPr marL="0" indent="0">
              <a:buNone/>
            </a:pPr>
            <a:r>
              <a:rPr lang="en-US" sz="1250" dirty="0">
                <a:solidFill>
                  <a:srgbClr val="3A3F4B"/>
                </a:solidFill>
                <a:latin typeface="Arial" pitchFamily="34" charset="0"/>
                <a:ea typeface="Calibri" pitchFamily="34" charset="-122"/>
                <a:cs typeface="Calibri" pitchFamily="34" charset="-120"/>
              </a:rPr>
              <a:t>A cap on response length. If the model hits it mid thought, the response is cut off, not summarized, so answers &amp; JSON can come back truncated.</a:t>
            </a:r>
            <a:endParaRPr lang="en-US" sz="1250" dirty="0"/>
          </a:p>
        </p:txBody>
      </p:sp>
      <p:sp>
        <p:nvSpPr>
          <p:cNvPr id="19"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0" name="Harvard Page Number"/>
          <p:cNvSpPr txBox="1"/>
          <p:nvPr/>
        </p:nvSpPr>
        <p:spPr>
          <a:xfrm>
            <a:off x="11730577" y="6446043"/>
            <a:ext cx="324104" cy="274638"/>
          </a:xfrm>
          <a:prstGeom prst="rect">
            <a:avLst/>
          </a:prstGeom>
          <a:noFill/>
        </p:spPr>
        <p:txBody>
          <a:bodyPr wrap="none" lIns="0" tIns="0" rIns="0" bIns="0">
            <a:noAutofit/>
          </a:bodyPr>
          <a:lstStyle/>
          <a:p>
            <a:pPr algn="r"/>
            <a:fld id="{AA7DACF2-432B-4B64-B792-D951216033E0}" type="slidenum">
              <a:rPr lang="en-US" sz="1000">
                <a:solidFill>
                  <a:srgbClr val="8996A0"/>
                </a:solidFill>
                <a:latin typeface="Arial"/>
              </a:rPr>
              <a:t>32</a:t>
            </a:fld>
            <a:endParaRPr lang="en-US" sz="1000">
              <a:solidFill>
                <a:srgbClr val="8996A0"/>
              </a:solidFill>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57200"/>
            <a:ext cx="594360" cy="594360"/>
          </a:xfrm>
          <a:prstGeom prst="ellipse">
            <a:avLst/>
          </a:prstGeom>
          <a:solidFill>
            <a:srgbClr val="9A6B2C"/>
          </a:solidFill>
          <a:ln/>
        </p:spPr>
      </p:sp>
      <p:pic>
        <p:nvPicPr>
          <p:cNvPr id="3" name="Image 0" descr="preencoded.png"/>
          <p:cNvPicPr>
            <a:picLocks noChangeAspect="1"/>
          </p:cNvPicPr>
          <p:nvPr/>
        </p:nvPicPr>
        <p:blipFill>
          <a:blip r:embed="rId3"/>
          <a:stretch>
            <a:fillRect/>
          </a:stretch>
        </p:blipFill>
        <p:spPr>
          <a:xfrm>
            <a:off x="619963" y="528523"/>
            <a:ext cx="451714" cy="451714"/>
          </a:xfrm>
          <a:prstGeom prst="rect">
            <a:avLst/>
          </a:prstGeom>
        </p:spPr>
      </p:pic>
      <p:sp>
        <p:nvSpPr>
          <p:cNvPr id="4" name="Text 1"/>
          <p:cNvSpPr/>
          <p:nvPr/>
        </p:nvSpPr>
        <p:spPr>
          <a:xfrm>
            <a:off x="1325880" y="502920"/>
            <a:ext cx="9144000" cy="548640"/>
          </a:xfrm>
          <a:prstGeom prst="rect">
            <a:avLst/>
          </a:prstGeom>
          <a:noFill/>
          <a:ln/>
        </p:spPr>
        <p:txBody>
          <a:bodyPr wrap="square" rtlCol="0" anchor="ctr"/>
          <a:lstStyle/>
          <a:p>
            <a:pPr marL="0" indent="0">
              <a:buNone/>
            </a:pPr>
            <a:r>
              <a:rPr lang="en-US" sz="2600" b="1" dirty="0">
                <a:solidFill>
                  <a:srgbClr val="1E1E1E"/>
                </a:solidFill>
                <a:latin typeface="Arial" pitchFamily="34" charset="0"/>
                <a:ea typeface="Cambria" pitchFamily="34" charset="-122"/>
                <a:cs typeface="Cambria" pitchFamily="34" charset="-120"/>
              </a:rPr>
              <a:t>Prompt structure: five parts worth naming</a:t>
            </a:r>
            <a:endParaRPr lang="en-US" sz="2600" dirty="0"/>
          </a:p>
        </p:txBody>
      </p:sp>
      <p:sp>
        <p:nvSpPr>
          <p:cNvPr id="5" name="Shape 2"/>
          <p:cNvSpPr/>
          <p:nvPr/>
        </p:nvSpPr>
        <p:spPr>
          <a:xfrm>
            <a:off x="548640" y="1463040"/>
            <a:ext cx="2084832" cy="1650030"/>
          </a:xfrm>
          <a:prstGeom prst="roundRect">
            <a:avLst>
              <a:gd name="adj" fmla="val 3509"/>
            </a:avLst>
          </a:prstGeom>
          <a:solidFill>
            <a:srgbClr val="1C2B52"/>
          </a:solidFill>
          <a:ln/>
        </p:spPr>
      </p:sp>
      <p:sp>
        <p:nvSpPr>
          <p:cNvPr id="6" name="Text 3"/>
          <p:cNvSpPr/>
          <p:nvPr/>
        </p:nvSpPr>
        <p:spPr>
          <a:xfrm>
            <a:off x="685800" y="1691640"/>
            <a:ext cx="1810512" cy="457200"/>
          </a:xfrm>
          <a:prstGeom prst="rect">
            <a:avLst/>
          </a:prstGeom>
          <a:noFill/>
          <a:ln/>
        </p:spPr>
        <p:txBody>
          <a:bodyPr wrap="square" rtlCol="0" anchor="ctr"/>
          <a:lstStyle/>
          <a:p>
            <a:pPr marL="0" indent="0">
              <a:buNone/>
            </a:pPr>
            <a:r>
              <a:rPr lang="en-US" sz="1600" b="1" dirty="0">
                <a:solidFill>
                  <a:srgbClr val="9A6B2C"/>
                </a:solidFill>
                <a:latin typeface="Arial" pitchFamily="34" charset="0"/>
                <a:ea typeface="Cambria" pitchFamily="34" charset="-122"/>
                <a:cs typeface="Cambria" pitchFamily="34" charset="-120"/>
              </a:rPr>
              <a:t>Role</a:t>
            </a:r>
            <a:endParaRPr lang="en-US" sz="1600" dirty="0"/>
          </a:p>
        </p:txBody>
      </p:sp>
      <p:sp>
        <p:nvSpPr>
          <p:cNvPr id="7" name="Text 4"/>
          <p:cNvSpPr/>
          <p:nvPr/>
        </p:nvSpPr>
        <p:spPr>
          <a:xfrm>
            <a:off x="685800" y="2194560"/>
            <a:ext cx="1810512" cy="918510"/>
          </a:xfrm>
          <a:prstGeom prst="rect">
            <a:avLst/>
          </a:prstGeom>
          <a:noFill/>
          <a:ln/>
        </p:spPr>
        <p:txBody>
          <a:bodyPr wrap="square" rtlCol="0" anchor="ctr"/>
          <a:lstStyle/>
          <a:p>
            <a:pPr marL="0" indent="0">
              <a:buNone/>
            </a:pPr>
            <a:r>
              <a:rPr lang="en-US" sz="1150" dirty="0">
                <a:solidFill>
                  <a:srgbClr val="E4E9F5"/>
                </a:solidFill>
                <a:latin typeface="Arial" pitchFamily="34" charset="0"/>
                <a:ea typeface="Calibri" pitchFamily="34" charset="-122"/>
                <a:cs typeface="Calibri" pitchFamily="34" charset="-120"/>
              </a:rPr>
              <a:t>Who should the model act as? An analyst, a tutor, a skeptical reviewer.</a:t>
            </a:r>
            <a:endParaRPr lang="en-US" sz="1150" dirty="0"/>
          </a:p>
        </p:txBody>
      </p:sp>
      <p:sp>
        <p:nvSpPr>
          <p:cNvPr id="8" name="Shape 5"/>
          <p:cNvSpPr/>
          <p:nvPr/>
        </p:nvSpPr>
        <p:spPr>
          <a:xfrm>
            <a:off x="2779776" y="1463040"/>
            <a:ext cx="2084832" cy="1650030"/>
          </a:xfrm>
          <a:prstGeom prst="roundRect">
            <a:avLst>
              <a:gd name="adj" fmla="val 3509"/>
            </a:avLst>
          </a:prstGeom>
          <a:solidFill>
            <a:srgbClr val="1C2B52"/>
          </a:solidFill>
          <a:ln/>
        </p:spPr>
      </p:sp>
      <p:sp>
        <p:nvSpPr>
          <p:cNvPr id="9" name="Text 6"/>
          <p:cNvSpPr/>
          <p:nvPr/>
        </p:nvSpPr>
        <p:spPr>
          <a:xfrm>
            <a:off x="2916936" y="1691640"/>
            <a:ext cx="1810512" cy="457200"/>
          </a:xfrm>
          <a:prstGeom prst="rect">
            <a:avLst/>
          </a:prstGeom>
          <a:noFill/>
          <a:ln/>
        </p:spPr>
        <p:txBody>
          <a:bodyPr wrap="square" rtlCol="0" anchor="ctr"/>
          <a:lstStyle/>
          <a:p>
            <a:pPr marL="0" indent="0">
              <a:buNone/>
            </a:pPr>
            <a:r>
              <a:rPr lang="en-US" sz="1600" b="1" dirty="0">
                <a:solidFill>
                  <a:srgbClr val="9A6B2C"/>
                </a:solidFill>
                <a:latin typeface="Arial" pitchFamily="34" charset="0"/>
                <a:ea typeface="Cambria" pitchFamily="34" charset="-122"/>
                <a:cs typeface="Cambria" pitchFamily="34" charset="-120"/>
              </a:rPr>
              <a:t>Context</a:t>
            </a:r>
            <a:endParaRPr lang="en-US" sz="1600" dirty="0"/>
          </a:p>
        </p:txBody>
      </p:sp>
      <p:sp>
        <p:nvSpPr>
          <p:cNvPr id="10" name="Text 7"/>
          <p:cNvSpPr/>
          <p:nvPr/>
        </p:nvSpPr>
        <p:spPr>
          <a:xfrm>
            <a:off x="2916936" y="2194560"/>
            <a:ext cx="1810512" cy="918510"/>
          </a:xfrm>
          <a:prstGeom prst="rect">
            <a:avLst/>
          </a:prstGeom>
          <a:noFill/>
          <a:ln/>
        </p:spPr>
        <p:txBody>
          <a:bodyPr wrap="square" rtlCol="0" anchor="ctr"/>
          <a:lstStyle/>
          <a:p>
            <a:pPr marL="0" indent="0">
              <a:buNone/>
            </a:pPr>
            <a:r>
              <a:rPr lang="en-US" sz="1150" dirty="0">
                <a:solidFill>
                  <a:srgbClr val="E4E9F5"/>
                </a:solidFill>
                <a:latin typeface="Arial" pitchFamily="34" charset="0"/>
                <a:ea typeface="Calibri" pitchFamily="34" charset="-122"/>
                <a:cs typeface="Calibri" pitchFamily="34" charset="-120"/>
              </a:rPr>
              <a:t>What background does it need to answer in a robust manner, without guessing?</a:t>
            </a:r>
            <a:endParaRPr lang="en-US" sz="1150" dirty="0"/>
          </a:p>
        </p:txBody>
      </p:sp>
      <p:sp>
        <p:nvSpPr>
          <p:cNvPr id="11" name="Shape 8"/>
          <p:cNvSpPr/>
          <p:nvPr/>
        </p:nvSpPr>
        <p:spPr>
          <a:xfrm>
            <a:off x="548640" y="3296546"/>
            <a:ext cx="2084832" cy="1650030"/>
          </a:xfrm>
          <a:prstGeom prst="roundRect">
            <a:avLst>
              <a:gd name="adj" fmla="val 3509"/>
            </a:avLst>
          </a:prstGeom>
          <a:solidFill>
            <a:srgbClr val="1C2B52"/>
          </a:solidFill>
          <a:ln/>
        </p:spPr>
      </p:sp>
      <p:sp>
        <p:nvSpPr>
          <p:cNvPr id="12" name="Text 9"/>
          <p:cNvSpPr/>
          <p:nvPr/>
        </p:nvSpPr>
        <p:spPr>
          <a:xfrm>
            <a:off x="685800" y="3525146"/>
            <a:ext cx="1810512" cy="457200"/>
          </a:xfrm>
          <a:prstGeom prst="rect">
            <a:avLst/>
          </a:prstGeom>
          <a:noFill/>
          <a:ln/>
        </p:spPr>
        <p:txBody>
          <a:bodyPr wrap="square" rtlCol="0" anchor="ctr"/>
          <a:lstStyle/>
          <a:p>
            <a:pPr marL="0" indent="0">
              <a:buNone/>
            </a:pPr>
            <a:r>
              <a:rPr lang="en-US" sz="1600" b="1" dirty="0">
                <a:solidFill>
                  <a:srgbClr val="9A6B2C"/>
                </a:solidFill>
                <a:latin typeface="Arial" pitchFamily="34" charset="0"/>
                <a:ea typeface="Cambria" pitchFamily="34" charset="-122"/>
                <a:cs typeface="Cambria" pitchFamily="34" charset="-120"/>
              </a:rPr>
              <a:t>Task</a:t>
            </a:r>
            <a:endParaRPr lang="en-US" sz="1600" dirty="0"/>
          </a:p>
        </p:txBody>
      </p:sp>
      <p:sp>
        <p:nvSpPr>
          <p:cNvPr id="13" name="Text 10"/>
          <p:cNvSpPr/>
          <p:nvPr/>
        </p:nvSpPr>
        <p:spPr>
          <a:xfrm>
            <a:off x="685800" y="4028066"/>
            <a:ext cx="1810512" cy="918510"/>
          </a:xfrm>
          <a:prstGeom prst="rect">
            <a:avLst/>
          </a:prstGeom>
          <a:noFill/>
          <a:ln/>
        </p:spPr>
        <p:txBody>
          <a:bodyPr wrap="square" rtlCol="0" anchor="ctr"/>
          <a:lstStyle/>
          <a:p>
            <a:pPr marL="0" indent="0">
              <a:buNone/>
            </a:pPr>
            <a:r>
              <a:rPr lang="en-US" sz="1150" dirty="0">
                <a:solidFill>
                  <a:srgbClr val="E4E9F5"/>
                </a:solidFill>
                <a:latin typeface="Arial" pitchFamily="34" charset="0"/>
                <a:ea typeface="Calibri" pitchFamily="34" charset="-122"/>
                <a:cs typeface="Calibri" pitchFamily="34" charset="-120"/>
              </a:rPr>
              <a:t>The specific action you want performed, stated as one clear instruction.</a:t>
            </a:r>
            <a:endParaRPr lang="en-US" sz="1150" dirty="0"/>
          </a:p>
        </p:txBody>
      </p:sp>
      <p:sp>
        <p:nvSpPr>
          <p:cNvPr id="14" name="Shape 11"/>
          <p:cNvSpPr/>
          <p:nvPr/>
        </p:nvSpPr>
        <p:spPr>
          <a:xfrm>
            <a:off x="2779776" y="3296546"/>
            <a:ext cx="2084832" cy="1650030"/>
          </a:xfrm>
          <a:prstGeom prst="roundRect">
            <a:avLst>
              <a:gd name="adj" fmla="val 3509"/>
            </a:avLst>
          </a:prstGeom>
          <a:solidFill>
            <a:srgbClr val="1C2B52"/>
          </a:solidFill>
          <a:ln/>
        </p:spPr>
      </p:sp>
      <p:sp>
        <p:nvSpPr>
          <p:cNvPr id="15" name="Text 12"/>
          <p:cNvSpPr/>
          <p:nvPr/>
        </p:nvSpPr>
        <p:spPr>
          <a:xfrm>
            <a:off x="2916936" y="3525146"/>
            <a:ext cx="1810512" cy="457200"/>
          </a:xfrm>
          <a:prstGeom prst="rect">
            <a:avLst/>
          </a:prstGeom>
          <a:noFill/>
          <a:ln/>
        </p:spPr>
        <p:txBody>
          <a:bodyPr wrap="square" rtlCol="0" anchor="ctr"/>
          <a:lstStyle/>
          <a:p>
            <a:pPr marL="0" indent="0">
              <a:buNone/>
            </a:pPr>
            <a:r>
              <a:rPr lang="en-US" sz="1600" b="1" dirty="0">
                <a:solidFill>
                  <a:srgbClr val="9A6B2C"/>
                </a:solidFill>
                <a:latin typeface="Arial" pitchFamily="34" charset="0"/>
                <a:ea typeface="Cambria" pitchFamily="34" charset="-122"/>
                <a:cs typeface="Cambria" pitchFamily="34" charset="-120"/>
              </a:rPr>
              <a:t>Format</a:t>
            </a:r>
            <a:endParaRPr lang="en-US" sz="1600" dirty="0"/>
          </a:p>
        </p:txBody>
      </p:sp>
      <p:sp>
        <p:nvSpPr>
          <p:cNvPr id="16" name="Text 13"/>
          <p:cNvSpPr/>
          <p:nvPr/>
        </p:nvSpPr>
        <p:spPr>
          <a:xfrm>
            <a:off x="2916936" y="4028066"/>
            <a:ext cx="1810512" cy="918510"/>
          </a:xfrm>
          <a:prstGeom prst="rect">
            <a:avLst/>
          </a:prstGeom>
          <a:noFill/>
          <a:ln/>
        </p:spPr>
        <p:txBody>
          <a:bodyPr wrap="square" rtlCol="0" anchor="ctr"/>
          <a:lstStyle/>
          <a:p>
            <a:pPr marL="0" indent="0">
              <a:buNone/>
            </a:pPr>
            <a:r>
              <a:rPr lang="en-US" sz="1150" dirty="0">
                <a:solidFill>
                  <a:srgbClr val="E4E9F5"/>
                </a:solidFill>
                <a:latin typeface="Arial" pitchFamily="34" charset="0"/>
                <a:ea typeface="Calibri" pitchFamily="34" charset="-122"/>
                <a:cs typeface="Calibri" pitchFamily="34" charset="-120"/>
              </a:rPr>
              <a:t>How should the answer be shaped: a list, a table, JSON, one paragraph?</a:t>
            </a:r>
            <a:endParaRPr lang="en-US" sz="1150" dirty="0"/>
          </a:p>
        </p:txBody>
      </p:sp>
      <p:sp>
        <p:nvSpPr>
          <p:cNvPr id="17" name="Shape 14"/>
          <p:cNvSpPr/>
          <p:nvPr/>
        </p:nvSpPr>
        <p:spPr>
          <a:xfrm>
            <a:off x="548640" y="5088956"/>
            <a:ext cx="2084832" cy="1650030"/>
          </a:xfrm>
          <a:prstGeom prst="roundRect">
            <a:avLst>
              <a:gd name="adj" fmla="val 3509"/>
            </a:avLst>
          </a:prstGeom>
          <a:solidFill>
            <a:srgbClr val="1C2B52"/>
          </a:solidFill>
          <a:ln/>
        </p:spPr>
      </p:sp>
      <p:sp>
        <p:nvSpPr>
          <p:cNvPr id="18" name="Text 15"/>
          <p:cNvSpPr/>
          <p:nvPr/>
        </p:nvSpPr>
        <p:spPr>
          <a:xfrm>
            <a:off x="685800" y="5317556"/>
            <a:ext cx="1810512" cy="457200"/>
          </a:xfrm>
          <a:prstGeom prst="rect">
            <a:avLst/>
          </a:prstGeom>
          <a:noFill/>
          <a:ln/>
        </p:spPr>
        <p:txBody>
          <a:bodyPr wrap="square" rtlCol="0" anchor="ctr"/>
          <a:lstStyle/>
          <a:p>
            <a:pPr marL="0" indent="0">
              <a:buNone/>
            </a:pPr>
            <a:r>
              <a:rPr lang="en-US" sz="1600" b="1" dirty="0">
                <a:solidFill>
                  <a:srgbClr val="9A6B2C"/>
                </a:solidFill>
                <a:latin typeface="Arial" pitchFamily="34" charset="0"/>
                <a:ea typeface="Cambria" pitchFamily="34" charset="-122"/>
                <a:cs typeface="Cambria" pitchFamily="34" charset="-120"/>
              </a:rPr>
              <a:t>Constraints</a:t>
            </a:r>
            <a:endParaRPr lang="en-US" sz="1600" dirty="0"/>
          </a:p>
        </p:txBody>
      </p:sp>
      <p:sp>
        <p:nvSpPr>
          <p:cNvPr id="19" name="Text 16"/>
          <p:cNvSpPr/>
          <p:nvPr/>
        </p:nvSpPr>
        <p:spPr>
          <a:xfrm>
            <a:off x="685800" y="5820476"/>
            <a:ext cx="1810512" cy="918510"/>
          </a:xfrm>
          <a:prstGeom prst="rect">
            <a:avLst/>
          </a:prstGeom>
          <a:noFill/>
          <a:ln/>
        </p:spPr>
        <p:txBody>
          <a:bodyPr wrap="square" rtlCol="0" anchor="ctr"/>
          <a:lstStyle/>
          <a:p>
            <a:pPr marL="0" indent="0">
              <a:buNone/>
            </a:pPr>
            <a:r>
              <a:rPr lang="en-US" sz="1150" dirty="0">
                <a:solidFill>
                  <a:srgbClr val="E4E9F5"/>
                </a:solidFill>
                <a:latin typeface="Arial" pitchFamily="34" charset="0"/>
                <a:ea typeface="Calibri" pitchFamily="34" charset="-122"/>
                <a:cs typeface="Calibri" pitchFamily="34" charset="-120"/>
              </a:rPr>
              <a:t>What should it avoid, or what limits apply: length, tone, no speculation?</a:t>
            </a:r>
            <a:endParaRPr lang="en-US" sz="1150" dirty="0"/>
          </a:p>
        </p:txBody>
      </p:sp>
      <p:sp>
        <p:nvSpPr>
          <p:cNvPr id="20" name="Text 17"/>
          <p:cNvSpPr/>
          <p:nvPr/>
        </p:nvSpPr>
        <p:spPr>
          <a:xfrm>
            <a:off x="5116600" y="6305764"/>
            <a:ext cx="6834269" cy="457200"/>
          </a:xfrm>
          <a:prstGeom prst="rect">
            <a:avLst/>
          </a:prstGeom>
          <a:noFill/>
          <a:ln/>
        </p:spPr>
        <p:txBody>
          <a:bodyPr wrap="square" rtlCol="0" anchor="ctr"/>
          <a:lstStyle/>
          <a:p>
            <a:pPr marL="0" indent="0">
              <a:buNone/>
            </a:pPr>
            <a:r>
              <a:rPr lang="en-US" sz="1250" i="1" dirty="0">
                <a:solidFill>
                  <a:srgbClr val="1E1E1E"/>
                </a:solidFill>
                <a:latin typeface="Arial" pitchFamily="34" charset="0"/>
                <a:ea typeface="Calibri" pitchFamily="34" charset="-122"/>
                <a:cs typeface="Calibri" pitchFamily="34" charset="-120"/>
              </a:rPr>
              <a:t>Not every prompt needs all five written out. Naming them in your head is often enough once this becomes habit.</a:t>
            </a:r>
            <a:endParaRPr lang="en-US" sz="1250" dirty="0"/>
          </a:p>
        </p:txBody>
      </p:sp>
      <p:pic>
        <p:nvPicPr>
          <p:cNvPr id="21" name="Picture 20" descr="Prompt Engineering: Some Prompts Are More Equal Than Others ...">
            <a:extLst>
              <a:ext uri="{FF2B5EF4-FFF2-40B4-BE49-F238E27FC236}">
                <a16:creationId xmlns:a16="http://schemas.microsoft.com/office/drawing/2014/main" id="{0B7723DB-2222-70C3-83CF-1578417B04B7}"/>
              </a:ext>
            </a:extLst>
          </p:cNvPr>
          <p:cNvPicPr>
            <a:picLocks noChangeAspect="1"/>
          </p:cNvPicPr>
          <p:nvPr/>
        </p:nvPicPr>
        <p:blipFill>
          <a:blip r:embed="rId4"/>
          <a:stretch>
            <a:fillRect/>
          </a:stretch>
        </p:blipFill>
        <p:spPr>
          <a:xfrm>
            <a:off x="5116601" y="1202838"/>
            <a:ext cx="6834269" cy="497193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548640" y="475488"/>
            <a:ext cx="9601200" cy="548640"/>
          </a:xfrm>
          <a:prstGeom prst="rect">
            <a:avLst/>
          </a:prstGeom>
          <a:noFill/>
          <a:ln/>
        </p:spPr>
        <p:txBody>
          <a:bodyPr wrap="square" rtlCol="0" anchor="ctr"/>
          <a:lstStyle/>
          <a:p>
            <a:pPr marL="0" indent="0">
              <a:buNone/>
            </a:pPr>
            <a:r>
              <a:rPr lang="en-US" sz="2500" b="1" dirty="0">
                <a:solidFill>
                  <a:srgbClr val="293352"/>
                </a:solidFill>
                <a:latin typeface="Arial" pitchFamily="34" charset="0"/>
                <a:ea typeface="Cambria" pitchFamily="34" charset="-122"/>
                <a:cs typeface="Cambria" pitchFamily="34" charset="-120"/>
              </a:rPr>
              <a:t>A quick orientation to OpenRouter</a:t>
            </a:r>
            <a:endParaRPr lang="en-US" sz="2500" dirty="0"/>
          </a:p>
        </p:txBody>
      </p:sp>
      <p:sp>
        <p:nvSpPr>
          <p:cNvPr id="5" name="Text 2"/>
          <p:cNvSpPr/>
          <p:nvPr/>
        </p:nvSpPr>
        <p:spPr>
          <a:xfrm>
            <a:off x="548640" y="1280160"/>
            <a:ext cx="10972800" cy="822960"/>
          </a:xfrm>
          <a:prstGeom prst="rect">
            <a:avLst/>
          </a:prstGeom>
          <a:noFill/>
          <a:ln/>
        </p:spPr>
        <p:txBody>
          <a:bodyPr wrap="square" rtlCol="0" anchor="ctr"/>
          <a:lstStyle/>
          <a:p>
            <a:pPr marL="0" indent="0">
              <a:buNone/>
            </a:pPr>
            <a:r>
              <a:rPr lang="en-US" sz="1450" dirty="0">
                <a:solidFill>
                  <a:srgbClr val="293352"/>
                </a:solidFill>
                <a:latin typeface="Arial" pitchFamily="34" charset="0"/>
                <a:ea typeface="Calibri" pitchFamily="34" charset="-122"/>
                <a:cs typeface="Calibri" pitchFamily="34" charset="-120"/>
              </a:rPr>
              <a:t>OpenRouter is a single API that can reach many different AI models. Instead of separate accounts for every model provider, one key and one endpoint reaches whichever model you name in the request.</a:t>
            </a:r>
            <a:endParaRPr lang="en-US" sz="1450" dirty="0"/>
          </a:p>
        </p:txBody>
      </p:sp>
      <p:sp>
        <p:nvSpPr>
          <p:cNvPr id="6" name="Shape 3"/>
          <p:cNvSpPr/>
          <p:nvPr/>
        </p:nvSpPr>
        <p:spPr>
          <a:xfrm>
            <a:off x="548640" y="2286000"/>
            <a:ext cx="11064240" cy="1463040"/>
          </a:xfrm>
          <a:prstGeom prst="roundRect">
            <a:avLst>
              <a:gd name="adj" fmla="val 5000"/>
            </a:avLst>
          </a:prstGeom>
          <a:solidFill>
            <a:srgbClr val="293352"/>
          </a:solidFill>
          <a:ln/>
        </p:spPr>
      </p:sp>
      <p:sp>
        <p:nvSpPr>
          <p:cNvPr id="7" name="Shape 4"/>
          <p:cNvSpPr/>
          <p:nvPr/>
        </p:nvSpPr>
        <p:spPr>
          <a:xfrm>
            <a:off x="822960" y="2487168"/>
            <a:ext cx="457200" cy="457200"/>
          </a:xfrm>
          <a:prstGeom prst="ellipse">
            <a:avLst/>
          </a:prstGeom>
          <a:solidFill>
            <a:srgbClr val="C4961A"/>
          </a:solidFill>
          <a:ln/>
        </p:spPr>
      </p:sp>
      <p:pic>
        <p:nvPicPr>
          <p:cNvPr id="8" name="Image 1" descr="preencoded.png"/>
          <p:cNvPicPr>
            <a:picLocks noChangeAspect="1"/>
          </p:cNvPicPr>
          <p:nvPr/>
        </p:nvPicPr>
        <p:blipFill>
          <a:blip r:embed="rId3"/>
          <a:stretch>
            <a:fillRect/>
          </a:stretch>
        </p:blipFill>
        <p:spPr>
          <a:xfrm>
            <a:off x="877824" y="2542032"/>
            <a:ext cx="347472" cy="347472"/>
          </a:xfrm>
          <a:prstGeom prst="rect">
            <a:avLst/>
          </a:prstGeom>
        </p:spPr>
      </p:pic>
      <p:sp>
        <p:nvSpPr>
          <p:cNvPr id="9" name="Text 5"/>
          <p:cNvSpPr/>
          <p:nvPr/>
        </p:nvSpPr>
        <p:spPr>
          <a:xfrm>
            <a:off x="1463040" y="2514600"/>
            <a:ext cx="7315200" cy="365760"/>
          </a:xfrm>
          <a:prstGeom prst="rect">
            <a:avLst/>
          </a:prstGeom>
          <a:noFill/>
          <a:ln/>
        </p:spPr>
        <p:txBody>
          <a:bodyPr wrap="square" rtlCol="0" anchor="ctr"/>
          <a:lstStyle/>
          <a:p>
            <a:pPr marL="0" indent="0">
              <a:buNone/>
            </a:pPr>
            <a:r>
              <a:rPr lang="en-US" sz="1450" b="1" dirty="0">
                <a:solidFill>
                  <a:srgbClr val="C4961A"/>
                </a:solidFill>
                <a:latin typeface="Arial" pitchFamily="34" charset="0"/>
                <a:ea typeface="Cambria" pitchFamily="34" charset="-122"/>
                <a:cs typeface="Cambria" pitchFamily="34" charset="-120"/>
              </a:rPr>
              <a:t>A shared class key, for our class only</a:t>
            </a:r>
            <a:endParaRPr lang="en-US" sz="1450" dirty="0"/>
          </a:p>
        </p:txBody>
      </p:sp>
      <p:sp>
        <p:nvSpPr>
          <p:cNvPr id="10" name="Text 6"/>
          <p:cNvSpPr/>
          <p:nvPr/>
        </p:nvSpPr>
        <p:spPr>
          <a:xfrm>
            <a:off x="1463040" y="2880360"/>
            <a:ext cx="9966960" cy="777240"/>
          </a:xfrm>
          <a:prstGeom prst="rect">
            <a:avLst/>
          </a:prstGeom>
          <a:noFill/>
          <a:ln/>
        </p:spPr>
        <p:txBody>
          <a:bodyPr wrap="square" rtlCol="0" anchor="ctr"/>
          <a:lstStyle/>
          <a:p>
            <a:pPr marL="0" indent="0">
              <a:buNone/>
            </a:pPr>
            <a:r>
              <a:rPr lang="en-US" sz="1250" dirty="0">
                <a:solidFill>
                  <a:srgbClr val="F3F3F1"/>
                </a:solidFill>
                <a:latin typeface="Arial" pitchFamily="34" charset="0"/>
                <a:ea typeface="Calibri" pitchFamily="34" charset="-122"/>
                <a:cs typeface="Calibri" pitchFamily="34" charset="-120"/>
              </a:rPr>
              <a:t>Your instructor will share a temporary OpenRouter key for in class use this week. Use it with </a:t>
            </a:r>
            <a:r>
              <a:rPr lang="en-US" sz="1250" dirty="0" err="1">
                <a:solidFill>
                  <a:srgbClr val="F3F3F1"/>
                </a:solidFill>
                <a:latin typeface="Arial" pitchFamily="34" charset="0"/>
                <a:ea typeface="Calibri" pitchFamily="34" charset="-122"/>
                <a:cs typeface="Calibri" pitchFamily="34" charset="-120"/>
              </a:rPr>
              <a:t>claude</a:t>
            </a:r>
            <a:r>
              <a:rPr lang="en-US" sz="1250" dirty="0">
                <a:solidFill>
                  <a:srgbClr val="F3F3F1"/>
                </a:solidFill>
                <a:latin typeface="Arial" pitchFamily="34" charset="0"/>
                <a:ea typeface="Calibri" pitchFamily="34" charset="-122"/>
                <a:cs typeface="Calibri" pitchFamily="34" charset="-120"/>
              </a:rPr>
              <a:t>-sonnet-latest or </a:t>
            </a:r>
            <a:r>
              <a:rPr lang="en-US" sz="1250" dirty="0" err="1">
                <a:solidFill>
                  <a:srgbClr val="F3F3F1"/>
                </a:solidFill>
                <a:latin typeface="Arial" pitchFamily="34" charset="0"/>
                <a:ea typeface="Calibri" pitchFamily="34" charset="-122"/>
                <a:cs typeface="Calibri" pitchFamily="34" charset="-120"/>
              </a:rPr>
              <a:t>gemini</a:t>
            </a:r>
            <a:r>
              <a:rPr lang="en-US" sz="1250" dirty="0">
                <a:solidFill>
                  <a:srgbClr val="F3F3F1"/>
                </a:solidFill>
                <a:latin typeface="Arial" pitchFamily="34" charset="0"/>
                <a:ea typeface="Calibri" pitchFamily="34" charset="-122"/>
                <a:cs typeface="Calibri" pitchFamily="34" charset="-120"/>
              </a:rPr>
              <a:t>-flash as the model. For pre module and independent work outside class you can easily fund your own API key with a few dollars.</a:t>
            </a:r>
            <a:endParaRPr lang="en-US" sz="1250" dirty="0"/>
          </a:p>
        </p:txBody>
      </p:sp>
      <p:sp>
        <p:nvSpPr>
          <p:cNvPr id="11" name="Text 7"/>
          <p:cNvSpPr/>
          <p:nvPr/>
        </p:nvSpPr>
        <p:spPr>
          <a:xfrm>
            <a:off x="548640" y="4023360"/>
            <a:ext cx="10972800" cy="457200"/>
          </a:xfrm>
          <a:prstGeom prst="rect">
            <a:avLst/>
          </a:prstGeom>
          <a:noFill/>
          <a:ln/>
        </p:spPr>
        <p:txBody>
          <a:bodyPr wrap="square" rtlCol="0" anchor="ctr"/>
          <a:lstStyle/>
          <a:p>
            <a:pPr marL="0" indent="0">
              <a:buNone/>
            </a:pPr>
            <a:r>
              <a:rPr lang="en-US" sz="1300" i="1" dirty="0">
                <a:solidFill>
                  <a:srgbClr val="FF0000"/>
                </a:solidFill>
                <a:latin typeface="Arial" pitchFamily="34" charset="0"/>
                <a:cs typeface="Calibri" pitchFamily="34" charset="-120"/>
              </a:rPr>
              <a:t>Our application users will be calling </a:t>
            </a:r>
            <a:r>
              <a:rPr lang="en-US" sz="1300" i="1" dirty="0" err="1">
                <a:solidFill>
                  <a:srgbClr val="FF0000"/>
                </a:solidFill>
                <a:latin typeface="Arial" pitchFamily="34" charset="0"/>
                <a:cs typeface="Calibri" pitchFamily="34" charset="-120"/>
              </a:rPr>
              <a:t>openrouter</a:t>
            </a:r>
            <a:r>
              <a:rPr lang="en-US" sz="1300" i="1" dirty="0">
                <a:solidFill>
                  <a:srgbClr val="FF0000"/>
                </a:solidFill>
                <a:latin typeface="Arial" pitchFamily="34" charset="0"/>
                <a:cs typeface="Calibri" pitchFamily="34" charset="-120"/>
              </a:rPr>
              <a:t> but we are going to use google ai-studio to vibe code the application.  This is done to ensure everyone has access to an IDE with a chat bot for coding but other platforms like Claude, </a:t>
            </a:r>
            <a:r>
              <a:rPr lang="en-US" sz="1300" i="1" dirty="0" err="1">
                <a:solidFill>
                  <a:srgbClr val="FF0000"/>
                </a:solidFill>
                <a:latin typeface="Arial" pitchFamily="34" charset="0"/>
                <a:cs typeface="Calibri" pitchFamily="34" charset="-120"/>
              </a:rPr>
              <a:t>Github</a:t>
            </a:r>
            <a:r>
              <a:rPr lang="en-US" sz="1300" i="1" dirty="0">
                <a:solidFill>
                  <a:srgbClr val="FF0000"/>
                </a:solidFill>
                <a:latin typeface="Arial" pitchFamily="34" charset="0"/>
                <a:cs typeface="Calibri" pitchFamily="34" charset="-120"/>
              </a:rPr>
              <a:t> Copilot, and </a:t>
            </a:r>
            <a:r>
              <a:rPr lang="en-US" sz="1300" i="1" dirty="0" err="1">
                <a:solidFill>
                  <a:srgbClr val="FF0000"/>
                </a:solidFill>
                <a:latin typeface="Arial" pitchFamily="34" charset="0"/>
                <a:cs typeface="Calibri" pitchFamily="34" charset="-120"/>
              </a:rPr>
              <a:t>Replit</a:t>
            </a:r>
            <a:r>
              <a:rPr lang="en-US" sz="1300" i="1" dirty="0">
                <a:solidFill>
                  <a:srgbClr val="FF0000"/>
                </a:solidFill>
                <a:latin typeface="Arial" pitchFamily="34" charset="0"/>
                <a:cs typeface="Calibri" pitchFamily="34" charset="-120"/>
              </a:rPr>
              <a:t> also do this. </a:t>
            </a:r>
            <a:endParaRPr lang="en-US" sz="1300" dirty="0">
              <a:solidFill>
                <a:srgbClr val="FF0000"/>
              </a:solidFill>
            </a:endParaRPr>
          </a:p>
        </p:txBody>
      </p:sp>
      <p:sp>
        <p:nvSpPr>
          <p:cNvPr id="12"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3" name="Harvard Page Number"/>
          <p:cNvSpPr txBox="1"/>
          <p:nvPr/>
        </p:nvSpPr>
        <p:spPr>
          <a:xfrm>
            <a:off x="11730577" y="6446043"/>
            <a:ext cx="324104" cy="274638"/>
          </a:xfrm>
          <a:prstGeom prst="rect">
            <a:avLst/>
          </a:prstGeom>
          <a:noFill/>
        </p:spPr>
        <p:txBody>
          <a:bodyPr wrap="none" lIns="0" tIns="0" rIns="0" bIns="0">
            <a:noAutofit/>
          </a:bodyPr>
          <a:lstStyle/>
          <a:p>
            <a:pPr algn="r"/>
            <a:fld id="{A9AFF5D5-31ED-4CDC-B624-297827C2148B}" type="slidenum">
              <a:rPr lang="en-US" sz="1000">
                <a:solidFill>
                  <a:srgbClr val="8996A0"/>
                </a:solidFill>
                <a:latin typeface="Arial"/>
              </a:rPr>
              <a:t>34</a:t>
            </a:fld>
            <a:endParaRPr lang="en-US" sz="1000">
              <a:solidFill>
                <a:srgbClr val="8996A0"/>
              </a:solidFill>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Arial" pitchFamily="34" charset="0"/>
                <a:ea typeface="Cambria" pitchFamily="34" charset="-122"/>
                <a:cs typeface="Cambria" pitchFamily="34" charset="-120"/>
              </a:rPr>
              <a:t>Try it: same task, more constraints</a:t>
            </a:r>
            <a:endParaRPr lang="en-US" sz="2600" dirty="0"/>
          </a:p>
        </p:txBody>
      </p:sp>
      <p:sp>
        <p:nvSpPr>
          <p:cNvPr id="3" name="Shape 1"/>
          <p:cNvSpPr/>
          <p:nvPr/>
        </p:nvSpPr>
        <p:spPr>
          <a:xfrm>
            <a:off x="548640" y="1188720"/>
            <a:ext cx="11064240" cy="1417320"/>
          </a:xfrm>
          <a:prstGeom prst="roundRect">
            <a:avLst>
              <a:gd name="adj" fmla="val 5161"/>
            </a:avLst>
          </a:prstGeom>
          <a:solidFill>
            <a:srgbClr val="FFFFFF"/>
          </a:solidFill>
          <a:ln/>
          <a:effectLst>
            <a:outerShdw blurRad="63500" dist="25400" dir="5400000" algn="bl" rotWithShape="0">
              <a:srgbClr val="1E1E1E">
                <a:alpha val="8000"/>
              </a:srgbClr>
            </a:outerShdw>
          </a:effectLst>
        </p:spPr>
      </p:sp>
      <p:sp>
        <p:nvSpPr>
          <p:cNvPr id="4" name="Text 2"/>
          <p:cNvSpPr/>
          <p:nvPr/>
        </p:nvSpPr>
        <p:spPr>
          <a:xfrm>
            <a:off x="822960" y="1371600"/>
            <a:ext cx="10515600" cy="365760"/>
          </a:xfrm>
          <a:prstGeom prst="rect">
            <a:avLst/>
          </a:prstGeom>
          <a:noFill/>
          <a:ln/>
        </p:spPr>
        <p:txBody>
          <a:bodyPr wrap="square" rtlCol="0" anchor="ctr"/>
          <a:lstStyle/>
          <a:p>
            <a:pPr marL="0" indent="0">
              <a:buNone/>
            </a:pPr>
            <a:r>
              <a:rPr lang="en-US" sz="1400" i="1" dirty="0">
                <a:solidFill>
                  <a:srgbClr val="3A3F4B"/>
                </a:solidFill>
                <a:latin typeface="Arial" pitchFamily="34" charset="0"/>
                <a:ea typeface="Cambria" pitchFamily="34" charset="-122"/>
                <a:cs typeface="Cambria" pitchFamily="34" charset="-120"/>
              </a:rPr>
              <a:t>Bare request:  “Recommend 5 ETFs I might like.”</a:t>
            </a:r>
            <a:endParaRPr lang="en-US" sz="1400" dirty="0"/>
          </a:p>
        </p:txBody>
      </p:sp>
      <p:sp>
        <p:nvSpPr>
          <p:cNvPr id="5" name="Text 3"/>
          <p:cNvSpPr/>
          <p:nvPr/>
        </p:nvSpPr>
        <p:spPr>
          <a:xfrm>
            <a:off x="822960" y="1783080"/>
            <a:ext cx="10515600" cy="731520"/>
          </a:xfrm>
          <a:prstGeom prst="rect">
            <a:avLst/>
          </a:prstGeom>
          <a:noFill/>
          <a:ln/>
        </p:spPr>
        <p:txBody>
          <a:bodyPr wrap="square" rtlCol="0" anchor="ctr"/>
          <a:lstStyle/>
          <a:p>
            <a:pPr marL="0" indent="0">
              <a:buNone/>
            </a:pPr>
            <a:r>
              <a:rPr lang="en-US" sz="1400" i="1" dirty="0">
                <a:solidFill>
                  <a:srgbClr val="14213D"/>
                </a:solidFill>
                <a:latin typeface="Arial" pitchFamily="34" charset="0"/>
                <a:ea typeface="Cambria" pitchFamily="34" charset="-122"/>
                <a:cs typeface="Cambria" pitchFamily="34" charset="-120"/>
              </a:rPr>
              <a:t>With positive and negative examples:  “I like low cost, broad market index funds such as VOO and SCHB. I avoid actively managed funds and anything with high turnover. Recommend 5 ETFs.”</a:t>
            </a:r>
            <a:endParaRPr lang="en-US" sz="1400" dirty="0"/>
          </a:p>
        </p:txBody>
      </p:sp>
      <p:sp>
        <p:nvSpPr>
          <p:cNvPr id="6" name="Text 4"/>
          <p:cNvSpPr/>
          <p:nvPr/>
        </p:nvSpPr>
        <p:spPr>
          <a:xfrm>
            <a:off x="548640" y="2880359"/>
            <a:ext cx="9144000" cy="684773"/>
          </a:xfrm>
          <a:prstGeom prst="rect">
            <a:avLst/>
          </a:prstGeom>
          <a:noFill/>
          <a:ln/>
        </p:spPr>
        <p:txBody>
          <a:bodyPr wrap="square" rtlCol="0" anchor="ctr"/>
          <a:lstStyle/>
          <a:p>
            <a:r>
              <a:rPr lang="en-US" sz="1700" b="1" dirty="0">
                <a:solidFill>
                  <a:srgbClr val="14213D"/>
                </a:solidFill>
                <a:latin typeface="Arial" pitchFamily="34" charset="0"/>
                <a:ea typeface="Cambria" pitchFamily="34" charset="-122"/>
                <a:cs typeface="Cambria" pitchFamily="34" charset="-120"/>
              </a:rPr>
              <a:t>Open </a:t>
            </a:r>
            <a:r>
              <a:rPr lang="en-US" dirty="0" err="1">
                <a:solidFill>
                  <a:srgbClr val="3A3F4B"/>
                </a:solidFill>
                <a:latin typeface="Arial" panose="020B0609020204030204" pitchFamily="49" charset="0"/>
                <a:ea typeface="Calibri" pitchFamily="34" charset="-122"/>
                <a:cs typeface="Consolas" panose="020B0609020204030204" pitchFamily="49" charset="0"/>
              </a:rPr>
              <a:t>F_openrouter_prompting_final.R</a:t>
            </a:r>
            <a:r>
              <a:rPr lang="en-US" sz="1700" b="1" dirty="0">
                <a:solidFill>
                  <a:srgbClr val="14213D"/>
                </a:solidFill>
                <a:latin typeface="Arial" pitchFamily="34" charset="0"/>
                <a:ea typeface="Cambria" pitchFamily="34" charset="-122"/>
                <a:cs typeface="Cambria" pitchFamily="34" charset="-120"/>
              </a:rPr>
              <a:t> script and try yourself.  Adjust max tokens &amp; temperature to explore differences.</a:t>
            </a:r>
            <a:endParaRPr lang="en-US" sz="1700" dirty="0"/>
          </a:p>
        </p:txBody>
      </p:sp>
      <p:sp>
        <p:nvSpPr>
          <p:cNvPr id="7"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8" name="Harvard Page Number"/>
          <p:cNvSpPr txBox="1"/>
          <p:nvPr/>
        </p:nvSpPr>
        <p:spPr>
          <a:xfrm>
            <a:off x="11730577" y="6446043"/>
            <a:ext cx="324104" cy="274638"/>
          </a:xfrm>
          <a:prstGeom prst="rect">
            <a:avLst/>
          </a:prstGeom>
          <a:noFill/>
        </p:spPr>
        <p:txBody>
          <a:bodyPr wrap="none" lIns="0" tIns="0" rIns="0" bIns="0">
            <a:noAutofit/>
          </a:bodyPr>
          <a:lstStyle/>
          <a:p>
            <a:pPr algn="r"/>
            <a:fld id="{CACFAF82-12B3-4CA3-B0BF-486C871006BD}" type="slidenum">
              <a:rPr lang="en-US" sz="1000">
                <a:solidFill>
                  <a:srgbClr val="8996A0"/>
                </a:solidFill>
                <a:latin typeface="Arial"/>
              </a:rPr>
              <a:t>35</a:t>
            </a:fld>
            <a:endParaRPr lang="en-US" sz="1000">
              <a:solidFill>
                <a:srgbClr val="8996A0"/>
              </a:solidFill>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CC32F-4815-413F-F4E2-36EFE08A1F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B978A89-7D9A-C768-D14A-AC3CF207D497}"/>
              </a:ext>
            </a:extLst>
          </p:cNvPr>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Arial" pitchFamily="34" charset="0"/>
                <a:ea typeface="Cambria" pitchFamily="34" charset="-122"/>
                <a:cs typeface="Cambria" pitchFamily="34" charset="-120"/>
              </a:rPr>
              <a:t>Try it: same task, more constraints</a:t>
            </a:r>
            <a:endParaRPr lang="en-US" sz="2600" dirty="0"/>
          </a:p>
        </p:txBody>
      </p:sp>
      <p:sp>
        <p:nvSpPr>
          <p:cNvPr id="6" name="Text 4">
            <a:extLst>
              <a:ext uri="{FF2B5EF4-FFF2-40B4-BE49-F238E27FC236}">
                <a16:creationId xmlns:a16="http://schemas.microsoft.com/office/drawing/2014/main" id="{E13CB571-3A64-A933-0625-D894CC36D199}"/>
              </a:ext>
            </a:extLst>
          </p:cNvPr>
          <p:cNvSpPr/>
          <p:nvPr/>
        </p:nvSpPr>
        <p:spPr>
          <a:xfrm>
            <a:off x="548640" y="2880360"/>
            <a:ext cx="9144000" cy="365760"/>
          </a:xfrm>
          <a:prstGeom prst="rect">
            <a:avLst/>
          </a:prstGeom>
          <a:noFill/>
          <a:ln/>
        </p:spPr>
        <p:txBody>
          <a:bodyPr wrap="square" rtlCol="0" anchor="ctr"/>
          <a:lstStyle/>
          <a:p>
            <a:pPr marL="0" indent="0">
              <a:buNone/>
            </a:pPr>
            <a:r>
              <a:rPr lang="en-US" sz="1700" b="1" dirty="0">
                <a:solidFill>
                  <a:srgbClr val="14213D"/>
                </a:solidFill>
                <a:latin typeface="Arial" pitchFamily="34" charset="0"/>
                <a:ea typeface="Cambria" pitchFamily="34" charset="-122"/>
                <a:cs typeface="Cambria" pitchFamily="34" charset="-120"/>
              </a:rPr>
              <a:t>Chain of thought, then contrast on a small model</a:t>
            </a:r>
            <a:endParaRPr lang="en-US" sz="1700" dirty="0"/>
          </a:p>
        </p:txBody>
      </p:sp>
      <p:sp>
        <p:nvSpPr>
          <p:cNvPr id="7" name="Shape 5">
            <a:extLst>
              <a:ext uri="{FF2B5EF4-FFF2-40B4-BE49-F238E27FC236}">
                <a16:creationId xmlns:a16="http://schemas.microsoft.com/office/drawing/2014/main" id="{B13CC800-89CA-A46C-9440-240935036A08}"/>
              </a:ext>
            </a:extLst>
          </p:cNvPr>
          <p:cNvSpPr/>
          <p:nvPr/>
        </p:nvSpPr>
        <p:spPr>
          <a:xfrm>
            <a:off x="548640" y="3337560"/>
            <a:ext cx="11064240" cy="1828800"/>
          </a:xfrm>
          <a:prstGeom prst="roundRect">
            <a:avLst>
              <a:gd name="adj" fmla="val 4000"/>
            </a:avLst>
          </a:prstGeom>
          <a:solidFill>
            <a:srgbClr val="14213D"/>
          </a:solidFill>
          <a:ln/>
        </p:spPr>
      </p:sp>
      <p:sp>
        <p:nvSpPr>
          <p:cNvPr id="8" name="Text 6">
            <a:extLst>
              <a:ext uri="{FF2B5EF4-FFF2-40B4-BE49-F238E27FC236}">
                <a16:creationId xmlns:a16="http://schemas.microsoft.com/office/drawing/2014/main" id="{791DDBCC-4A30-A184-2281-FF09641A8D26}"/>
              </a:ext>
            </a:extLst>
          </p:cNvPr>
          <p:cNvSpPr/>
          <p:nvPr/>
        </p:nvSpPr>
        <p:spPr>
          <a:xfrm>
            <a:off x="822960" y="3520440"/>
            <a:ext cx="10515600" cy="640080"/>
          </a:xfrm>
          <a:prstGeom prst="rect">
            <a:avLst/>
          </a:prstGeom>
          <a:noFill/>
          <a:ln/>
        </p:spPr>
        <p:txBody>
          <a:bodyPr wrap="square" rtlCol="0" anchor="ctr"/>
          <a:lstStyle/>
          <a:p>
            <a:pPr marL="0" indent="0">
              <a:buNone/>
            </a:pPr>
            <a:r>
              <a:rPr lang="en-US" sz="1300" i="1" dirty="0">
                <a:solidFill>
                  <a:srgbClr val="E4E9F5"/>
                </a:solidFill>
                <a:latin typeface="Arial" pitchFamily="34" charset="0"/>
                <a:ea typeface="Calibri" pitchFamily="34" charset="-122"/>
                <a:cs typeface="Calibri" pitchFamily="34" charset="-120"/>
              </a:rPr>
              <a:t>A portfolio held 40 shares. The investor sold 15 to rebalance, then bought 8 more after a dip. How many shares now? Please explain your logic in steps.</a:t>
            </a:r>
            <a:endParaRPr lang="en-US" sz="1300" dirty="0"/>
          </a:p>
        </p:txBody>
      </p:sp>
      <p:sp>
        <p:nvSpPr>
          <p:cNvPr id="9" name="Text 7">
            <a:extLst>
              <a:ext uri="{FF2B5EF4-FFF2-40B4-BE49-F238E27FC236}">
                <a16:creationId xmlns:a16="http://schemas.microsoft.com/office/drawing/2014/main" id="{F0A32640-0401-59DE-7918-FA1484EEAF67}"/>
              </a:ext>
            </a:extLst>
          </p:cNvPr>
          <p:cNvSpPr/>
          <p:nvPr/>
        </p:nvSpPr>
        <p:spPr>
          <a:xfrm>
            <a:off x="822960" y="4160520"/>
            <a:ext cx="10515600" cy="548640"/>
          </a:xfrm>
          <a:prstGeom prst="rect">
            <a:avLst/>
          </a:prstGeom>
          <a:noFill/>
          <a:ln/>
        </p:spPr>
        <p:txBody>
          <a:bodyPr wrap="square" rtlCol="0" anchor="ctr"/>
          <a:lstStyle/>
          <a:p>
            <a:pPr marL="0" indent="0">
              <a:buNone/>
            </a:pPr>
            <a:r>
              <a:rPr lang="en-US" sz="1300" i="1" dirty="0">
                <a:solidFill>
                  <a:srgbClr val="9A6B2C"/>
                </a:solidFill>
                <a:latin typeface="Arial" pitchFamily="34" charset="0"/>
                <a:ea typeface="Calibri" pitchFamily="34" charset="-122"/>
                <a:cs typeface="Calibri" pitchFamily="34" charset="-120"/>
              </a:rPr>
              <a:t>Contrast:  “...How many shares now? Do not give me any information except the final number.”</a:t>
            </a:r>
            <a:endParaRPr lang="en-US" sz="1300" dirty="0"/>
          </a:p>
        </p:txBody>
      </p:sp>
      <p:sp>
        <p:nvSpPr>
          <p:cNvPr id="10" name="Text 8">
            <a:extLst>
              <a:ext uri="{FF2B5EF4-FFF2-40B4-BE49-F238E27FC236}">
                <a16:creationId xmlns:a16="http://schemas.microsoft.com/office/drawing/2014/main" id="{14C90825-A34E-D795-6C5E-66037BBA1148}"/>
              </a:ext>
            </a:extLst>
          </p:cNvPr>
          <p:cNvSpPr/>
          <p:nvPr/>
        </p:nvSpPr>
        <p:spPr>
          <a:xfrm>
            <a:off x="822960" y="4709160"/>
            <a:ext cx="10424160" cy="365760"/>
          </a:xfrm>
          <a:prstGeom prst="rect">
            <a:avLst/>
          </a:prstGeom>
          <a:noFill/>
          <a:ln/>
        </p:spPr>
        <p:txBody>
          <a:bodyPr wrap="square" rtlCol="0" anchor="ctr"/>
          <a:lstStyle/>
          <a:p>
            <a:pPr marL="0" indent="0">
              <a:buNone/>
            </a:pPr>
            <a:r>
              <a:rPr lang="en-US" sz="1150" dirty="0">
                <a:solidFill>
                  <a:srgbClr val="CADCFC"/>
                </a:solidFill>
                <a:latin typeface="Arial" pitchFamily="34" charset="0"/>
                <a:ea typeface="Calibri" pitchFamily="34" charset="-122"/>
                <a:cs typeface="Calibri" pitchFamily="34" charset="-120"/>
              </a:rPr>
              <a:t>Run both on a small model (llama-3.2-1b-instruct) at temperature 1, several times. Watch whether skipping the reasoning step changes correctness, not just length.</a:t>
            </a:r>
            <a:endParaRPr lang="en-US" sz="1150" dirty="0"/>
          </a:p>
        </p:txBody>
      </p:sp>
      <p:sp>
        <p:nvSpPr>
          <p:cNvPr id="12" name="Text 4">
            <a:extLst>
              <a:ext uri="{FF2B5EF4-FFF2-40B4-BE49-F238E27FC236}">
                <a16:creationId xmlns:a16="http://schemas.microsoft.com/office/drawing/2014/main" id="{4ED697FD-17B1-37D6-43A9-860EB5EFA155}"/>
              </a:ext>
            </a:extLst>
          </p:cNvPr>
          <p:cNvSpPr/>
          <p:nvPr/>
        </p:nvSpPr>
        <p:spPr>
          <a:xfrm>
            <a:off x="548640" y="1234440"/>
            <a:ext cx="9144000" cy="707376"/>
          </a:xfrm>
          <a:prstGeom prst="rect">
            <a:avLst/>
          </a:prstGeom>
          <a:noFill/>
          <a:ln/>
        </p:spPr>
        <p:txBody>
          <a:bodyPr wrap="square" rtlCol="0" anchor="ctr"/>
          <a:lstStyle/>
          <a:p>
            <a:r>
              <a:rPr lang="en-US" sz="1700" b="1" dirty="0">
                <a:solidFill>
                  <a:srgbClr val="14213D"/>
                </a:solidFill>
                <a:latin typeface="Arial" pitchFamily="34" charset="0"/>
                <a:ea typeface="Cambria" pitchFamily="34" charset="-122"/>
                <a:cs typeface="Cambria" pitchFamily="34" charset="-120"/>
              </a:rPr>
              <a:t>Open </a:t>
            </a:r>
            <a:r>
              <a:rPr lang="en-US" sz="1700" dirty="0" err="1">
                <a:solidFill>
                  <a:srgbClr val="14213D"/>
                </a:solidFill>
                <a:latin typeface="Arial" panose="020B0609020204030204" pitchFamily="49" charset="0"/>
                <a:ea typeface="Cambria" pitchFamily="34" charset="-122"/>
                <a:cs typeface="Consolas" panose="020B0609020204030204" pitchFamily="49" charset="0"/>
              </a:rPr>
              <a:t>F_openrouter_prompting_final.R</a:t>
            </a:r>
            <a:r>
              <a:rPr lang="en-US" sz="1700" b="1" dirty="0">
                <a:solidFill>
                  <a:srgbClr val="14213D"/>
                </a:solidFill>
                <a:latin typeface="Arial" pitchFamily="34" charset="0"/>
                <a:ea typeface="Cambria" pitchFamily="34" charset="-122"/>
                <a:cs typeface="Cambria" pitchFamily="34" charset="-120"/>
              </a:rPr>
              <a:t> script and then explore using </a:t>
            </a:r>
            <a:r>
              <a:rPr lang="en-US" dirty="0" err="1">
                <a:solidFill>
                  <a:srgbClr val="8A8577"/>
                </a:solidFill>
                <a:latin typeface="Arial" panose="020B0609020204030204" pitchFamily="49" charset="0"/>
                <a:ea typeface="Calibri" pitchFamily="34" charset="-122"/>
                <a:cs typeface="Consolas" panose="020B0609020204030204" pitchFamily="49" charset="0"/>
              </a:rPr>
              <a:t>G_examplePrompts_finance.txt</a:t>
            </a:r>
            <a:r>
              <a:rPr lang="en-US" sz="1700" b="1" dirty="0">
                <a:solidFill>
                  <a:srgbClr val="14213D"/>
                </a:solidFill>
                <a:latin typeface="Arial" panose="020B0609020204030204" pitchFamily="49" charset="0"/>
                <a:ea typeface="Cambria" pitchFamily="34" charset="-122"/>
                <a:cs typeface="Consolas" panose="020B0609020204030204" pitchFamily="49" charset="0"/>
              </a:rPr>
              <a:t>.</a:t>
            </a:r>
            <a:endParaRPr lang="en-US" sz="1700" dirty="0">
              <a:latin typeface="Arial" panose="020B0609020204030204" pitchFamily="49" charset="0"/>
              <a:cs typeface="Consolas" panose="020B0609020204030204" pitchFamily="49" charset="0"/>
            </a:endParaRPr>
          </a:p>
        </p:txBody>
      </p:sp>
      <p:sp>
        <p:nvSpPr>
          <p:cNvPr id="13"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4" name="Harvard Page Number"/>
          <p:cNvSpPr txBox="1"/>
          <p:nvPr/>
        </p:nvSpPr>
        <p:spPr>
          <a:xfrm>
            <a:off x="11730577" y="6446043"/>
            <a:ext cx="324104" cy="274638"/>
          </a:xfrm>
          <a:prstGeom prst="rect">
            <a:avLst/>
          </a:prstGeom>
          <a:noFill/>
        </p:spPr>
        <p:txBody>
          <a:bodyPr wrap="none" lIns="0" tIns="0" rIns="0" bIns="0">
            <a:noAutofit/>
          </a:bodyPr>
          <a:lstStyle/>
          <a:p>
            <a:pPr algn="r"/>
            <a:fld id="{886D8E53-3234-458F-BE1F-ACDCC6CD51FF}" type="slidenum">
              <a:rPr lang="en-US" sz="1000">
                <a:solidFill>
                  <a:srgbClr val="8996A0"/>
                </a:solidFill>
                <a:latin typeface="Arial"/>
              </a:rPr>
              <a:t>36</a:t>
            </a:fld>
            <a:endParaRPr lang="en-US" sz="1000">
              <a:solidFill>
                <a:srgbClr val="8996A0"/>
              </a:solidFill>
              <a:latin typeface="Arial"/>
            </a:endParaRPr>
          </a:p>
        </p:txBody>
      </p:sp>
    </p:spTree>
    <p:extLst>
      <p:ext uri="{BB962C8B-B14F-4D97-AF65-F5344CB8AC3E}">
        <p14:creationId xmlns:p14="http://schemas.microsoft.com/office/powerpoint/2010/main" val="1635233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F6524-776C-FC45-62E2-C81BEEC83B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A5EE38-03D2-0845-29BD-649BCD53E135}"/>
              </a:ext>
            </a:extLst>
          </p:cNvPr>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Arial" pitchFamily="34" charset="0"/>
                <a:ea typeface="Cambria" pitchFamily="34" charset="-122"/>
                <a:cs typeface="Cambria" pitchFamily="34" charset="-120"/>
              </a:rPr>
              <a:t>One more to try: Be careful what you ask!</a:t>
            </a:r>
            <a:endParaRPr lang="en-US" sz="2600" dirty="0"/>
          </a:p>
        </p:txBody>
      </p:sp>
      <p:sp>
        <p:nvSpPr>
          <p:cNvPr id="3" name="Shape 1">
            <a:extLst>
              <a:ext uri="{FF2B5EF4-FFF2-40B4-BE49-F238E27FC236}">
                <a16:creationId xmlns:a16="http://schemas.microsoft.com/office/drawing/2014/main" id="{82E60269-57DB-D7F4-2A8C-800C74FFB1D0}"/>
              </a:ext>
            </a:extLst>
          </p:cNvPr>
          <p:cNvSpPr/>
          <p:nvPr/>
        </p:nvSpPr>
        <p:spPr>
          <a:xfrm>
            <a:off x="548639" y="1188721"/>
            <a:ext cx="10913929" cy="594360"/>
          </a:xfrm>
          <a:prstGeom prst="roundRect">
            <a:avLst>
              <a:gd name="adj" fmla="val 5161"/>
            </a:avLst>
          </a:prstGeom>
          <a:solidFill>
            <a:srgbClr val="FFFFFF"/>
          </a:solidFill>
          <a:ln/>
          <a:effectLst>
            <a:outerShdw blurRad="63500" dist="25400" dir="5400000" algn="bl" rotWithShape="0">
              <a:srgbClr val="1E1E1E">
                <a:alpha val="8000"/>
              </a:srgbClr>
            </a:outerShdw>
          </a:effectLst>
        </p:spPr>
      </p:sp>
      <p:sp>
        <p:nvSpPr>
          <p:cNvPr id="4" name="Text 2">
            <a:extLst>
              <a:ext uri="{FF2B5EF4-FFF2-40B4-BE49-F238E27FC236}">
                <a16:creationId xmlns:a16="http://schemas.microsoft.com/office/drawing/2014/main" id="{5446E482-CE9B-2C02-958D-BDF601314924}"/>
              </a:ext>
            </a:extLst>
          </p:cNvPr>
          <p:cNvSpPr/>
          <p:nvPr/>
        </p:nvSpPr>
        <p:spPr>
          <a:xfrm>
            <a:off x="822959" y="1258866"/>
            <a:ext cx="10913929" cy="365760"/>
          </a:xfrm>
          <a:prstGeom prst="rect">
            <a:avLst/>
          </a:prstGeom>
          <a:noFill/>
          <a:ln/>
        </p:spPr>
        <p:txBody>
          <a:bodyPr wrap="square" rtlCol="0" anchor="ctr"/>
          <a:lstStyle/>
          <a:p>
            <a:pPr marL="0" indent="0">
              <a:buNone/>
            </a:pPr>
            <a:r>
              <a:rPr lang="en-US" sz="2000" dirty="0">
                <a:solidFill>
                  <a:srgbClr val="3A3F4B"/>
                </a:solidFill>
                <a:latin typeface="Arial" pitchFamily="34" charset="0"/>
                <a:ea typeface="Cambria" pitchFamily="34" charset="-122"/>
                <a:cs typeface="Cambria" pitchFamily="34" charset="-120"/>
              </a:rPr>
              <a:t>Your Prompt</a:t>
            </a:r>
          </a:p>
          <a:p>
            <a:pPr marL="0" indent="0">
              <a:buNone/>
            </a:pPr>
            <a:r>
              <a:rPr lang="en-US" sz="2000" dirty="0">
                <a:solidFill>
                  <a:srgbClr val="3A3F4B"/>
                </a:solidFill>
                <a:latin typeface="Arial" pitchFamily="34" charset="0"/>
                <a:ea typeface="Cambria" pitchFamily="34" charset="-122"/>
                <a:cs typeface="Cambria" pitchFamily="34" charset="-120"/>
              </a:rPr>
              <a:t>“Give me a random number between 1-50.”</a:t>
            </a:r>
            <a:endParaRPr lang="en-US" sz="2000" dirty="0"/>
          </a:p>
        </p:txBody>
      </p:sp>
      <p:sp>
        <p:nvSpPr>
          <p:cNvPr id="7" name="Shape 5">
            <a:extLst>
              <a:ext uri="{FF2B5EF4-FFF2-40B4-BE49-F238E27FC236}">
                <a16:creationId xmlns:a16="http://schemas.microsoft.com/office/drawing/2014/main" id="{620D7F52-BC22-1BBF-C945-FF4445BA9666}"/>
              </a:ext>
            </a:extLst>
          </p:cNvPr>
          <p:cNvSpPr/>
          <p:nvPr/>
        </p:nvSpPr>
        <p:spPr>
          <a:xfrm>
            <a:off x="444358" y="5809249"/>
            <a:ext cx="10913928" cy="800110"/>
          </a:xfrm>
          <a:prstGeom prst="roundRect">
            <a:avLst>
              <a:gd name="adj" fmla="val 4000"/>
            </a:avLst>
          </a:prstGeom>
          <a:solidFill>
            <a:srgbClr val="14213D"/>
          </a:solidFill>
          <a:ln/>
        </p:spPr>
        <p:txBody>
          <a:bodyPr/>
          <a:lstStyle/>
          <a:p>
            <a:endParaRPr lang="en-US" sz="4000" dirty="0"/>
          </a:p>
        </p:txBody>
      </p:sp>
      <p:sp>
        <p:nvSpPr>
          <p:cNvPr id="8" name="Text 6">
            <a:extLst>
              <a:ext uri="{FF2B5EF4-FFF2-40B4-BE49-F238E27FC236}">
                <a16:creationId xmlns:a16="http://schemas.microsoft.com/office/drawing/2014/main" id="{79889F8C-2AFE-8A48-6609-6B32D4EF2F8D}"/>
              </a:ext>
            </a:extLst>
          </p:cNvPr>
          <p:cNvSpPr/>
          <p:nvPr/>
        </p:nvSpPr>
        <p:spPr>
          <a:xfrm>
            <a:off x="919094" y="5916972"/>
            <a:ext cx="10152870" cy="541084"/>
          </a:xfrm>
          <a:prstGeom prst="rect">
            <a:avLst/>
          </a:prstGeom>
          <a:noFill/>
          <a:ln/>
        </p:spPr>
        <p:txBody>
          <a:bodyPr wrap="square" rtlCol="0" anchor="ctr"/>
          <a:lstStyle/>
          <a:p>
            <a:pPr marL="0" indent="0">
              <a:buNone/>
            </a:pPr>
            <a:r>
              <a:rPr lang="en-US" sz="2800" i="1" dirty="0">
                <a:solidFill>
                  <a:srgbClr val="E4E9F5"/>
                </a:solidFill>
                <a:latin typeface="Arial" pitchFamily="34" charset="0"/>
                <a:ea typeface="Calibri" pitchFamily="34" charset="-122"/>
                <a:cs typeface="Calibri" pitchFamily="34" charset="-120"/>
              </a:rPr>
              <a:t>What did we observe? Why did this happen?</a:t>
            </a:r>
            <a:endParaRPr lang="en-US" sz="2800" dirty="0"/>
          </a:p>
        </p:txBody>
      </p:sp>
      <p:pic>
        <p:nvPicPr>
          <p:cNvPr id="6" name="Picture 5" descr="MATH aint nobody got time for that - Kermit Drinking Tea Meme Generator">
            <a:extLst>
              <a:ext uri="{FF2B5EF4-FFF2-40B4-BE49-F238E27FC236}">
                <a16:creationId xmlns:a16="http://schemas.microsoft.com/office/drawing/2014/main" id="{CA8147AC-600D-E90C-AE59-1FC157C64E67}"/>
              </a:ext>
            </a:extLst>
          </p:cNvPr>
          <p:cNvPicPr>
            <a:picLocks noChangeAspect="1"/>
          </p:cNvPicPr>
          <p:nvPr/>
        </p:nvPicPr>
        <p:blipFill>
          <a:blip r:embed="rId3"/>
          <a:stretch>
            <a:fillRect/>
          </a:stretch>
        </p:blipFill>
        <p:spPr>
          <a:xfrm>
            <a:off x="6588690" y="2090376"/>
            <a:ext cx="4483274" cy="3048626"/>
          </a:xfrm>
          <a:prstGeom prst="rect">
            <a:avLst/>
          </a:prstGeom>
          <a:ln>
            <a:solidFill>
              <a:schemeClr val="accent1"/>
            </a:solidFill>
          </a:ln>
        </p:spPr>
      </p:pic>
      <p:pic>
        <p:nvPicPr>
          <p:cNvPr id="10" name="Picture 9">
            <a:extLst>
              <a:ext uri="{FF2B5EF4-FFF2-40B4-BE49-F238E27FC236}">
                <a16:creationId xmlns:a16="http://schemas.microsoft.com/office/drawing/2014/main" id="{B065ABB2-EEB9-9505-5DCF-AC0C1D41B805}"/>
              </a:ext>
            </a:extLst>
          </p:cNvPr>
          <p:cNvPicPr>
            <a:picLocks noChangeAspect="1"/>
          </p:cNvPicPr>
          <p:nvPr/>
        </p:nvPicPr>
        <p:blipFill>
          <a:blip r:embed="rId4"/>
          <a:stretch>
            <a:fillRect/>
          </a:stretch>
        </p:blipFill>
        <p:spPr>
          <a:xfrm>
            <a:off x="444358" y="2090376"/>
            <a:ext cx="4977016" cy="2920461"/>
          </a:xfrm>
          <a:prstGeom prst="rect">
            <a:avLst/>
          </a:prstGeom>
          <a:ln>
            <a:solidFill>
              <a:schemeClr val="accent1"/>
            </a:solidFill>
          </a:ln>
        </p:spPr>
      </p:pic>
      <p:sp>
        <p:nvSpPr>
          <p:cNvPr id="11" name="Harvard Page Number"/>
          <p:cNvSpPr txBox="1"/>
          <p:nvPr/>
        </p:nvSpPr>
        <p:spPr>
          <a:xfrm>
            <a:off x="11730577" y="6446043"/>
            <a:ext cx="324104" cy="274638"/>
          </a:xfrm>
          <a:prstGeom prst="rect">
            <a:avLst/>
          </a:prstGeom>
          <a:noFill/>
        </p:spPr>
        <p:txBody>
          <a:bodyPr wrap="none" lIns="0" tIns="0" rIns="0" bIns="0">
            <a:noAutofit/>
          </a:bodyPr>
          <a:lstStyle/>
          <a:p>
            <a:pPr algn="r"/>
            <a:fld id="{B8EF07E1-2399-4AC5-AB9E-5AB9ABD0930E}" type="slidenum">
              <a:rPr lang="en-US" sz="1000">
                <a:solidFill>
                  <a:srgbClr val="8996A0"/>
                </a:solidFill>
                <a:latin typeface="Arial"/>
              </a:rPr>
              <a:t>37</a:t>
            </a:fld>
            <a:endParaRPr lang="en-US" sz="1000">
              <a:solidFill>
                <a:srgbClr val="8996A0"/>
              </a:solidFill>
              <a:latin typeface="Arial"/>
            </a:endParaRPr>
          </a:p>
        </p:txBody>
      </p:sp>
    </p:spTree>
    <p:extLst>
      <p:ext uri="{BB962C8B-B14F-4D97-AF65-F5344CB8AC3E}">
        <p14:creationId xmlns:p14="http://schemas.microsoft.com/office/powerpoint/2010/main" val="23438487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Arial" pitchFamily="34" charset="0"/>
                <a:ea typeface="Cambria" pitchFamily="34" charset="-122"/>
                <a:cs typeface="Cambria" pitchFamily="34" charset="-120"/>
              </a:rPr>
              <a:t>Going deeper: the COSTAR framework</a:t>
            </a:r>
            <a:endParaRPr lang="en-US" sz="2600" dirty="0"/>
          </a:p>
        </p:txBody>
      </p:sp>
      <p:sp>
        <p:nvSpPr>
          <p:cNvPr id="3" name="Text 1"/>
          <p:cNvSpPr/>
          <p:nvPr/>
        </p:nvSpPr>
        <p:spPr>
          <a:xfrm>
            <a:off x="548640" y="960120"/>
            <a:ext cx="10515600" cy="365760"/>
          </a:xfrm>
          <a:prstGeom prst="rect">
            <a:avLst/>
          </a:prstGeom>
          <a:noFill/>
          <a:ln/>
        </p:spPr>
        <p:txBody>
          <a:bodyPr wrap="square" rtlCol="0" anchor="ctr"/>
          <a:lstStyle/>
          <a:p>
            <a:pPr marL="0" indent="0">
              <a:buNone/>
            </a:pPr>
            <a:r>
              <a:rPr lang="en-US" sz="1350" i="1" dirty="0">
                <a:solidFill>
                  <a:srgbClr val="3A3F4B"/>
                </a:solidFill>
                <a:latin typeface="Arial" pitchFamily="34" charset="0"/>
                <a:ea typeface="Calibri" pitchFamily="34" charset="-122"/>
                <a:cs typeface="Calibri" pitchFamily="34" charset="-120"/>
              </a:rPr>
              <a:t>One of several structured frameworks online. Worth the extra effort for system prompts especially.</a:t>
            </a:r>
            <a:endParaRPr lang="en-US" sz="1350" dirty="0"/>
          </a:p>
        </p:txBody>
      </p:sp>
      <p:sp>
        <p:nvSpPr>
          <p:cNvPr id="4" name="Shape 2"/>
          <p:cNvSpPr/>
          <p:nvPr/>
        </p:nvSpPr>
        <p:spPr>
          <a:xfrm>
            <a:off x="548640" y="1508760"/>
            <a:ext cx="3611880" cy="1417320"/>
          </a:xfrm>
          <a:prstGeom prst="roundRect">
            <a:avLst>
              <a:gd name="adj" fmla="val 4516"/>
            </a:avLst>
          </a:prstGeom>
          <a:solidFill>
            <a:srgbClr val="FFFFFF"/>
          </a:solidFill>
          <a:ln/>
          <a:effectLst>
            <a:outerShdw blurRad="63500" dist="25400" dir="5400000" algn="bl" rotWithShape="0">
              <a:srgbClr val="1E1E1E">
                <a:alpha val="7000"/>
              </a:srgbClr>
            </a:outerShdw>
          </a:effectLst>
        </p:spPr>
      </p:sp>
      <p:sp>
        <p:nvSpPr>
          <p:cNvPr id="5" name="Text 3"/>
          <p:cNvSpPr/>
          <p:nvPr/>
        </p:nvSpPr>
        <p:spPr>
          <a:xfrm>
            <a:off x="731520" y="1645920"/>
            <a:ext cx="3246120" cy="365760"/>
          </a:xfrm>
          <a:prstGeom prst="rect">
            <a:avLst/>
          </a:prstGeom>
          <a:noFill/>
          <a:ln/>
        </p:spPr>
        <p:txBody>
          <a:bodyPr wrap="square" rtlCol="0" anchor="ctr"/>
          <a:lstStyle/>
          <a:p>
            <a:pPr marL="0" indent="0">
              <a:buNone/>
            </a:pPr>
            <a:r>
              <a:rPr lang="en-US" sz="1500" b="1" dirty="0">
                <a:solidFill>
                  <a:srgbClr val="9A6B2C"/>
                </a:solidFill>
                <a:latin typeface="Arial" pitchFamily="34" charset="0"/>
                <a:ea typeface="Cambria" pitchFamily="34" charset="-122"/>
                <a:cs typeface="Cambria" pitchFamily="34" charset="-120"/>
              </a:rPr>
              <a:t>Context</a:t>
            </a:r>
            <a:endParaRPr lang="en-US" sz="1500" dirty="0"/>
          </a:p>
        </p:txBody>
      </p:sp>
      <p:sp>
        <p:nvSpPr>
          <p:cNvPr id="6" name="Text 4"/>
          <p:cNvSpPr/>
          <p:nvPr/>
        </p:nvSpPr>
        <p:spPr>
          <a:xfrm>
            <a:off x="731520" y="2011680"/>
            <a:ext cx="3246120" cy="822960"/>
          </a:xfrm>
          <a:prstGeom prst="rect">
            <a:avLst/>
          </a:prstGeom>
          <a:noFill/>
          <a:ln/>
        </p:spPr>
        <p:txBody>
          <a:bodyPr wrap="square" rtlCol="0" anchor="ctr"/>
          <a:lstStyle/>
          <a:p>
            <a:pPr marL="0" indent="0">
              <a:buNone/>
            </a:pPr>
            <a:r>
              <a:rPr lang="en-US" sz="1150" dirty="0">
                <a:solidFill>
                  <a:srgbClr val="3A3F4B"/>
                </a:solidFill>
                <a:latin typeface="Arial" pitchFamily="34" charset="0"/>
                <a:ea typeface="Calibri" pitchFamily="34" charset="-122"/>
                <a:cs typeface="Calibri" pitchFamily="34" charset="-120"/>
              </a:rPr>
              <a:t>Background that helps the model understand the specific scenario.</a:t>
            </a:r>
            <a:endParaRPr lang="en-US" sz="1150" dirty="0"/>
          </a:p>
        </p:txBody>
      </p:sp>
      <p:sp>
        <p:nvSpPr>
          <p:cNvPr id="7" name="Shape 5"/>
          <p:cNvSpPr/>
          <p:nvPr/>
        </p:nvSpPr>
        <p:spPr>
          <a:xfrm>
            <a:off x="4325112" y="1508760"/>
            <a:ext cx="3611880" cy="1417320"/>
          </a:xfrm>
          <a:prstGeom prst="roundRect">
            <a:avLst>
              <a:gd name="adj" fmla="val 4516"/>
            </a:avLst>
          </a:prstGeom>
          <a:solidFill>
            <a:srgbClr val="FFFFFF"/>
          </a:solidFill>
          <a:ln/>
          <a:effectLst>
            <a:outerShdw blurRad="63500" dist="25400" dir="5400000" algn="bl" rotWithShape="0">
              <a:srgbClr val="1E1E1E">
                <a:alpha val="7000"/>
              </a:srgbClr>
            </a:outerShdw>
          </a:effectLst>
        </p:spPr>
      </p:sp>
      <p:sp>
        <p:nvSpPr>
          <p:cNvPr id="8" name="Text 6"/>
          <p:cNvSpPr/>
          <p:nvPr/>
        </p:nvSpPr>
        <p:spPr>
          <a:xfrm>
            <a:off x="4507992" y="1645920"/>
            <a:ext cx="3246120" cy="365760"/>
          </a:xfrm>
          <a:prstGeom prst="rect">
            <a:avLst/>
          </a:prstGeom>
          <a:noFill/>
          <a:ln/>
        </p:spPr>
        <p:txBody>
          <a:bodyPr wrap="square" rtlCol="0" anchor="ctr"/>
          <a:lstStyle/>
          <a:p>
            <a:pPr marL="0" indent="0">
              <a:buNone/>
            </a:pPr>
            <a:r>
              <a:rPr lang="en-US" sz="1500" b="1" dirty="0">
                <a:solidFill>
                  <a:srgbClr val="9A6B2C"/>
                </a:solidFill>
                <a:latin typeface="Arial" pitchFamily="34" charset="0"/>
                <a:ea typeface="Cambria" pitchFamily="34" charset="-122"/>
                <a:cs typeface="Cambria" pitchFamily="34" charset="-120"/>
              </a:rPr>
              <a:t>Objective</a:t>
            </a:r>
            <a:endParaRPr lang="en-US" sz="1500" dirty="0"/>
          </a:p>
        </p:txBody>
      </p:sp>
      <p:sp>
        <p:nvSpPr>
          <p:cNvPr id="9" name="Text 7"/>
          <p:cNvSpPr/>
          <p:nvPr/>
        </p:nvSpPr>
        <p:spPr>
          <a:xfrm>
            <a:off x="4507992" y="2011680"/>
            <a:ext cx="3246120" cy="822960"/>
          </a:xfrm>
          <a:prstGeom prst="rect">
            <a:avLst/>
          </a:prstGeom>
          <a:noFill/>
          <a:ln/>
        </p:spPr>
        <p:txBody>
          <a:bodyPr wrap="square" rtlCol="0" anchor="ctr"/>
          <a:lstStyle/>
          <a:p>
            <a:pPr marL="0" indent="0">
              <a:buNone/>
            </a:pPr>
            <a:r>
              <a:rPr lang="en-US" sz="1150" dirty="0">
                <a:solidFill>
                  <a:srgbClr val="3A3F4B"/>
                </a:solidFill>
                <a:latin typeface="Arial" pitchFamily="34" charset="0"/>
                <a:ea typeface="Calibri" pitchFamily="34" charset="-122"/>
                <a:cs typeface="Calibri" pitchFamily="34" charset="-120"/>
              </a:rPr>
              <a:t>The task, stated clearly enough to focus the model.</a:t>
            </a:r>
            <a:endParaRPr lang="en-US" sz="1150" dirty="0"/>
          </a:p>
        </p:txBody>
      </p:sp>
      <p:sp>
        <p:nvSpPr>
          <p:cNvPr id="10" name="Shape 8"/>
          <p:cNvSpPr/>
          <p:nvPr/>
        </p:nvSpPr>
        <p:spPr>
          <a:xfrm>
            <a:off x="8101584" y="1508760"/>
            <a:ext cx="3611880" cy="1417320"/>
          </a:xfrm>
          <a:prstGeom prst="roundRect">
            <a:avLst>
              <a:gd name="adj" fmla="val 4516"/>
            </a:avLst>
          </a:prstGeom>
          <a:solidFill>
            <a:srgbClr val="FFFFFF"/>
          </a:solidFill>
          <a:ln/>
          <a:effectLst>
            <a:outerShdw blurRad="63500" dist="25400" dir="5400000" algn="bl" rotWithShape="0">
              <a:srgbClr val="1E1E1E">
                <a:alpha val="7000"/>
              </a:srgbClr>
            </a:outerShdw>
          </a:effectLst>
        </p:spPr>
      </p:sp>
      <p:sp>
        <p:nvSpPr>
          <p:cNvPr id="11" name="Text 9"/>
          <p:cNvSpPr/>
          <p:nvPr/>
        </p:nvSpPr>
        <p:spPr>
          <a:xfrm>
            <a:off x="8284464" y="1645920"/>
            <a:ext cx="3246120" cy="365760"/>
          </a:xfrm>
          <a:prstGeom prst="rect">
            <a:avLst/>
          </a:prstGeom>
          <a:noFill/>
          <a:ln/>
        </p:spPr>
        <p:txBody>
          <a:bodyPr wrap="square" rtlCol="0" anchor="ctr"/>
          <a:lstStyle/>
          <a:p>
            <a:pPr marL="0" indent="0">
              <a:buNone/>
            </a:pPr>
            <a:r>
              <a:rPr lang="en-US" sz="1500" b="1" dirty="0">
                <a:solidFill>
                  <a:srgbClr val="9A6B2C"/>
                </a:solidFill>
                <a:latin typeface="Arial" pitchFamily="34" charset="0"/>
                <a:ea typeface="Cambria" pitchFamily="34" charset="-122"/>
                <a:cs typeface="Cambria" pitchFamily="34" charset="-120"/>
              </a:rPr>
              <a:t>Style</a:t>
            </a:r>
            <a:endParaRPr lang="en-US" sz="1500" dirty="0"/>
          </a:p>
        </p:txBody>
      </p:sp>
      <p:sp>
        <p:nvSpPr>
          <p:cNvPr id="12" name="Text 10"/>
          <p:cNvSpPr/>
          <p:nvPr/>
        </p:nvSpPr>
        <p:spPr>
          <a:xfrm>
            <a:off x="8284464" y="2011680"/>
            <a:ext cx="3246120" cy="822960"/>
          </a:xfrm>
          <a:prstGeom prst="rect">
            <a:avLst/>
          </a:prstGeom>
          <a:noFill/>
          <a:ln/>
        </p:spPr>
        <p:txBody>
          <a:bodyPr wrap="square" rtlCol="0" anchor="ctr"/>
          <a:lstStyle/>
          <a:p>
            <a:pPr marL="0" indent="0">
              <a:buNone/>
            </a:pPr>
            <a:r>
              <a:rPr lang="en-US" sz="1150" dirty="0">
                <a:solidFill>
                  <a:srgbClr val="3A3F4B"/>
                </a:solidFill>
                <a:latin typeface="Arial" pitchFamily="34" charset="0"/>
                <a:ea typeface="Calibri" pitchFamily="34" charset="-122"/>
                <a:cs typeface="Calibri" pitchFamily="34" charset="-120"/>
              </a:rPr>
              <a:t>The writing style the response should follow.</a:t>
            </a:r>
            <a:endParaRPr lang="en-US" sz="1150" dirty="0"/>
          </a:p>
        </p:txBody>
      </p:sp>
      <p:sp>
        <p:nvSpPr>
          <p:cNvPr id="13" name="Shape 11"/>
          <p:cNvSpPr/>
          <p:nvPr/>
        </p:nvSpPr>
        <p:spPr>
          <a:xfrm>
            <a:off x="548640" y="3063240"/>
            <a:ext cx="3611880" cy="1417320"/>
          </a:xfrm>
          <a:prstGeom prst="roundRect">
            <a:avLst>
              <a:gd name="adj" fmla="val 4516"/>
            </a:avLst>
          </a:prstGeom>
          <a:solidFill>
            <a:srgbClr val="FFFFFF"/>
          </a:solidFill>
          <a:ln/>
          <a:effectLst>
            <a:outerShdw blurRad="63500" dist="25400" dir="5400000" algn="bl" rotWithShape="0">
              <a:srgbClr val="1E1E1E">
                <a:alpha val="7000"/>
              </a:srgbClr>
            </a:outerShdw>
          </a:effectLst>
        </p:spPr>
      </p:sp>
      <p:sp>
        <p:nvSpPr>
          <p:cNvPr id="14" name="Text 12"/>
          <p:cNvSpPr/>
          <p:nvPr/>
        </p:nvSpPr>
        <p:spPr>
          <a:xfrm>
            <a:off x="731520" y="3200400"/>
            <a:ext cx="3246120" cy="365760"/>
          </a:xfrm>
          <a:prstGeom prst="rect">
            <a:avLst/>
          </a:prstGeom>
          <a:noFill/>
          <a:ln/>
        </p:spPr>
        <p:txBody>
          <a:bodyPr wrap="square" rtlCol="0" anchor="ctr"/>
          <a:lstStyle/>
          <a:p>
            <a:pPr marL="0" indent="0">
              <a:buNone/>
            </a:pPr>
            <a:r>
              <a:rPr lang="en-US" sz="1500" b="1" dirty="0">
                <a:solidFill>
                  <a:srgbClr val="9A6B2C"/>
                </a:solidFill>
                <a:latin typeface="Arial" pitchFamily="34" charset="0"/>
                <a:ea typeface="Cambria" pitchFamily="34" charset="-122"/>
                <a:cs typeface="Cambria" pitchFamily="34" charset="-120"/>
              </a:rPr>
              <a:t>Tone</a:t>
            </a:r>
            <a:endParaRPr lang="en-US" sz="1500" dirty="0"/>
          </a:p>
        </p:txBody>
      </p:sp>
      <p:sp>
        <p:nvSpPr>
          <p:cNvPr id="15" name="Text 13"/>
          <p:cNvSpPr/>
          <p:nvPr/>
        </p:nvSpPr>
        <p:spPr>
          <a:xfrm>
            <a:off x="731520" y="3566160"/>
            <a:ext cx="3246120" cy="822960"/>
          </a:xfrm>
          <a:prstGeom prst="rect">
            <a:avLst/>
          </a:prstGeom>
          <a:noFill/>
          <a:ln/>
        </p:spPr>
        <p:txBody>
          <a:bodyPr wrap="square" rtlCol="0" anchor="ctr"/>
          <a:lstStyle/>
          <a:p>
            <a:pPr marL="0" indent="0">
              <a:buNone/>
            </a:pPr>
            <a:r>
              <a:rPr lang="en-US" sz="1150" dirty="0">
                <a:solidFill>
                  <a:srgbClr val="3A3F4B"/>
                </a:solidFill>
                <a:latin typeface="Arial" pitchFamily="34" charset="0"/>
                <a:ea typeface="Calibri" pitchFamily="34" charset="-122"/>
                <a:cs typeface="Calibri" pitchFamily="34" charset="-120"/>
              </a:rPr>
              <a:t>The sentiment the response should carry.</a:t>
            </a:r>
            <a:endParaRPr lang="en-US" sz="1150" dirty="0"/>
          </a:p>
        </p:txBody>
      </p:sp>
      <p:sp>
        <p:nvSpPr>
          <p:cNvPr id="16" name="Shape 14"/>
          <p:cNvSpPr/>
          <p:nvPr/>
        </p:nvSpPr>
        <p:spPr>
          <a:xfrm>
            <a:off x="4325112" y="3063240"/>
            <a:ext cx="3611880" cy="1417320"/>
          </a:xfrm>
          <a:prstGeom prst="roundRect">
            <a:avLst>
              <a:gd name="adj" fmla="val 4516"/>
            </a:avLst>
          </a:prstGeom>
          <a:solidFill>
            <a:srgbClr val="FFFFFF"/>
          </a:solidFill>
          <a:ln/>
          <a:effectLst>
            <a:outerShdw blurRad="63500" dist="25400" dir="5400000" algn="bl" rotWithShape="0">
              <a:srgbClr val="1E1E1E">
                <a:alpha val="7000"/>
              </a:srgbClr>
            </a:outerShdw>
          </a:effectLst>
        </p:spPr>
      </p:sp>
      <p:sp>
        <p:nvSpPr>
          <p:cNvPr id="17" name="Text 15"/>
          <p:cNvSpPr/>
          <p:nvPr/>
        </p:nvSpPr>
        <p:spPr>
          <a:xfrm>
            <a:off x="4507992" y="3200400"/>
            <a:ext cx="3246120" cy="365760"/>
          </a:xfrm>
          <a:prstGeom prst="rect">
            <a:avLst/>
          </a:prstGeom>
          <a:noFill/>
          <a:ln/>
        </p:spPr>
        <p:txBody>
          <a:bodyPr wrap="square" rtlCol="0" anchor="ctr"/>
          <a:lstStyle/>
          <a:p>
            <a:pPr marL="0" indent="0">
              <a:buNone/>
            </a:pPr>
            <a:r>
              <a:rPr lang="en-US" sz="1500" b="1" dirty="0">
                <a:solidFill>
                  <a:srgbClr val="9A6B2C"/>
                </a:solidFill>
                <a:latin typeface="Arial" pitchFamily="34" charset="0"/>
                <a:ea typeface="Cambria" pitchFamily="34" charset="-122"/>
                <a:cs typeface="Cambria" pitchFamily="34" charset="-120"/>
              </a:rPr>
              <a:t>Audience</a:t>
            </a:r>
            <a:endParaRPr lang="en-US" sz="1500" dirty="0"/>
          </a:p>
        </p:txBody>
      </p:sp>
      <p:sp>
        <p:nvSpPr>
          <p:cNvPr id="18" name="Text 16"/>
          <p:cNvSpPr/>
          <p:nvPr/>
        </p:nvSpPr>
        <p:spPr>
          <a:xfrm>
            <a:off x="4507992" y="3566160"/>
            <a:ext cx="3246120" cy="822960"/>
          </a:xfrm>
          <a:prstGeom prst="rect">
            <a:avLst/>
          </a:prstGeom>
          <a:noFill/>
          <a:ln/>
        </p:spPr>
        <p:txBody>
          <a:bodyPr wrap="square" rtlCol="0" anchor="ctr"/>
          <a:lstStyle/>
          <a:p>
            <a:pPr marL="0" indent="0">
              <a:buNone/>
            </a:pPr>
            <a:r>
              <a:rPr lang="en-US" sz="1150" dirty="0">
                <a:solidFill>
                  <a:srgbClr val="3A3F4B"/>
                </a:solidFill>
                <a:latin typeface="Arial" pitchFamily="34" charset="0"/>
                <a:ea typeface="Calibri" pitchFamily="34" charset="-122"/>
                <a:cs typeface="Calibri" pitchFamily="34" charset="-120"/>
              </a:rPr>
              <a:t>Who will read the response, so it is targeted correctly.</a:t>
            </a:r>
            <a:endParaRPr lang="en-US" sz="1150" dirty="0"/>
          </a:p>
        </p:txBody>
      </p:sp>
      <p:sp>
        <p:nvSpPr>
          <p:cNvPr id="19" name="Shape 17"/>
          <p:cNvSpPr/>
          <p:nvPr/>
        </p:nvSpPr>
        <p:spPr>
          <a:xfrm>
            <a:off x="8101584" y="3063240"/>
            <a:ext cx="3611880" cy="1417320"/>
          </a:xfrm>
          <a:prstGeom prst="roundRect">
            <a:avLst>
              <a:gd name="adj" fmla="val 4516"/>
            </a:avLst>
          </a:prstGeom>
          <a:solidFill>
            <a:srgbClr val="FFFFFF"/>
          </a:solidFill>
          <a:ln/>
          <a:effectLst>
            <a:outerShdw blurRad="63500" dist="25400" dir="5400000" algn="bl" rotWithShape="0">
              <a:srgbClr val="1E1E1E">
                <a:alpha val="7000"/>
              </a:srgbClr>
            </a:outerShdw>
          </a:effectLst>
        </p:spPr>
      </p:sp>
      <p:sp>
        <p:nvSpPr>
          <p:cNvPr id="20" name="Text 18"/>
          <p:cNvSpPr/>
          <p:nvPr/>
        </p:nvSpPr>
        <p:spPr>
          <a:xfrm>
            <a:off x="8284464" y="3200400"/>
            <a:ext cx="3246120" cy="365760"/>
          </a:xfrm>
          <a:prstGeom prst="rect">
            <a:avLst/>
          </a:prstGeom>
          <a:noFill/>
          <a:ln/>
        </p:spPr>
        <p:txBody>
          <a:bodyPr wrap="square" rtlCol="0" anchor="ctr"/>
          <a:lstStyle/>
          <a:p>
            <a:pPr marL="0" indent="0">
              <a:buNone/>
            </a:pPr>
            <a:r>
              <a:rPr lang="en-US" sz="1500" b="1" dirty="0">
                <a:solidFill>
                  <a:srgbClr val="9A6B2C"/>
                </a:solidFill>
                <a:latin typeface="Arial" pitchFamily="34" charset="0"/>
                <a:ea typeface="Cambria" pitchFamily="34" charset="-122"/>
                <a:cs typeface="Cambria" pitchFamily="34" charset="-120"/>
              </a:rPr>
              <a:t>Response</a:t>
            </a:r>
            <a:endParaRPr lang="en-US" sz="1500" dirty="0"/>
          </a:p>
        </p:txBody>
      </p:sp>
      <p:sp>
        <p:nvSpPr>
          <p:cNvPr id="21" name="Text 19"/>
          <p:cNvSpPr/>
          <p:nvPr/>
        </p:nvSpPr>
        <p:spPr>
          <a:xfrm>
            <a:off x="8284464" y="3566160"/>
            <a:ext cx="3246120" cy="822960"/>
          </a:xfrm>
          <a:prstGeom prst="rect">
            <a:avLst/>
          </a:prstGeom>
          <a:noFill/>
          <a:ln/>
        </p:spPr>
        <p:txBody>
          <a:bodyPr wrap="square" rtlCol="0" anchor="ctr"/>
          <a:lstStyle/>
          <a:p>
            <a:pPr marL="0" indent="0">
              <a:buNone/>
            </a:pPr>
            <a:r>
              <a:rPr lang="en-US" sz="1150" dirty="0">
                <a:solidFill>
                  <a:srgbClr val="3A3F4B"/>
                </a:solidFill>
                <a:latin typeface="Arial" pitchFamily="34" charset="0"/>
                <a:ea typeface="Calibri" pitchFamily="34" charset="-122"/>
                <a:cs typeface="Calibri" pitchFamily="34" charset="-120"/>
              </a:rPr>
              <a:t>The output format: text, a list, JSON, so it plugs into a pipeline.</a:t>
            </a:r>
            <a:endParaRPr lang="en-US" sz="1150" dirty="0"/>
          </a:p>
        </p:txBody>
      </p:sp>
      <p:sp>
        <p:nvSpPr>
          <p:cNvPr id="22"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3" name="Harvard Page Number"/>
          <p:cNvSpPr txBox="1"/>
          <p:nvPr/>
        </p:nvSpPr>
        <p:spPr>
          <a:xfrm>
            <a:off x="11730577" y="6446043"/>
            <a:ext cx="324104" cy="274638"/>
          </a:xfrm>
          <a:prstGeom prst="rect">
            <a:avLst/>
          </a:prstGeom>
          <a:noFill/>
        </p:spPr>
        <p:txBody>
          <a:bodyPr wrap="none" lIns="0" tIns="0" rIns="0" bIns="0">
            <a:noAutofit/>
          </a:bodyPr>
          <a:lstStyle/>
          <a:p>
            <a:pPr algn="r"/>
            <a:fld id="{B62918A5-AC52-4144-A598-34C38F2C04CC}" type="slidenum">
              <a:rPr lang="en-US" sz="1000">
                <a:solidFill>
                  <a:srgbClr val="8996A0"/>
                </a:solidFill>
                <a:latin typeface="Arial"/>
              </a:rPr>
              <a:t>38</a:t>
            </a:fld>
            <a:endParaRPr lang="en-US" sz="1000">
              <a:solidFill>
                <a:srgbClr val="8996A0"/>
              </a:solidFill>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2400" b="1" dirty="0">
                <a:solidFill>
                  <a:srgbClr val="1E1E1E"/>
                </a:solidFill>
                <a:latin typeface="Arial" pitchFamily="34" charset="0"/>
                <a:ea typeface="Cambria" pitchFamily="34" charset="-122"/>
                <a:cs typeface="Cambria" pitchFamily="34" charset="-120"/>
              </a:rPr>
              <a:t>Worked example: a research note COSTAR prompt</a:t>
            </a:r>
            <a:endParaRPr lang="en-US" sz="2400" dirty="0"/>
          </a:p>
        </p:txBody>
      </p:sp>
      <p:sp>
        <p:nvSpPr>
          <p:cNvPr id="3" name="Text 1"/>
          <p:cNvSpPr/>
          <p:nvPr/>
        </p:nvSpPr>
        <p:spPr>
          <a:xfrm>
            <a:off x="548640" y="960120"/>
            <a:ext cx="10515600" cy="365760"/>
          </a:xfrm>
          <a:prstGeom prst="rect">
            <a:avLst/>
          </a:prstGeom>
          <a:noFill/>
          <a:ln/>
        </p:spPr>
        <p:txBody>
          <a:bodyPr wrap="square" rtlCol="0" anchor="ctr"/>
          <a:lstStyle/>
          <a:p>
            <a:pPr marL="0" indent="0">
              <a:buNone/>
            </a:pPr>
            <a:r>
              <a:rPr lang="en-US" sz="1300" i="1" dirty="0">
                <a:solidFill>
                  <a:srgbClr val="1E1E1E"/>
                </a:solidFill>
                <a:latin typeface="Arial" pitchFamily="34" charset="0"/>
                <a:ea typeface="Calibri" pitchFamily="34" charset="-122"/>
                <a:cs typeface="Calibri" pitchFamily="34" charset="-120"/>
              </a:rPr>
              <a:t>Adapted for a portfolio analyst preparing a note for an investment committee</a:t>
            </a:r>
            <a:endParaRPr lang="en-US" sz="1300" dirty="0"/>
          </a:p>
        </p:txBody>
      </p:sp>
      <p:sp>
        <p:nvSpPr>
          <p:cNvPr id="4" name="Text 2"/>
          <p:cNvSpPr/>
          <p:nvPr/>
        </p:nvSpPr>
        <p:spPr>
          <a:xfrm>
            <a:off x="640080" y="1645920"/>
            <a:ext cx="2011680" cy="502920"/>
          </a:xfrm>
          <a:prstGeom prst="rect">
            <a:avLst/>
          </a:prstGeom>
          <a:noFill/>
          <a:ln/>
        </p:spPr>
        <p:txBody>
          <a:bodyPr wrap="square" rtlCol="0" anchor="ctr"/>
          <a:lstStyle/>
          <a:p>
            <a:pPr marL="0" indent="0">
              <a:buNone/>
            </a:pPr>
            <a:r>
              <a:rPr lang="en-US" sz="1300" b="1" dirty="0">
                <a:solidFill>
                  <a:srgbClr val="1E1E1E"/>
                </a:solidFill>
                <a:latin typeface="Arial" pitchFamily="34" charset="0"/>
                <a:ea typeface="Cambria" pitchFamily="34" charset="-122"/>
                <a:cs typeface="Cambria" pitchFamily="34" charset="-120"/>
              </a:rPr>
              <a:t>CONTEXT</a:t>
            </a:r>
            <a:endParaRPr lang="en-US" sz="1300" dirty="0"/>
          </a:p>
        </p:txBody>
      </p:sp>
      <p:sp>
        <p:nvSpPr>
          <p:cNvPr id="5" name="Text 3"/>
          <p:cNvSpPr/>
          <p:nvPr/>
        </p:nvSpPr>
        <p:spPr>
          <a:xfrm>
            <a:off x="2743200" y="1554480"/>
            <a:ext cx="8686800" cy="685800"/>
          </a:xfrm>
          <a:prstGeom prst="rect">
            <a:avLst/>
          </a:prstGeom>
          <a:noFill/>
          <a:ln/>
        </p:spPr>
        <p:txBody>
          <a:bodyPr wrap="square" rtlCol="0" anchor="ctr"/>
          <a:lstStyle/>
          <a:p>
            <a:pPr marL="0" indent="0">
              <a:buNone/>
            </a:pPr>
            <a:r>
              <a:rPr lang="en-US" sz="1300" dirty="0">
                <a:solidFill>
                  <a:srgbClr val="1E1E1E"/>
                </a:solidFill>
                <a:latin typeface="Arial" pitchFamily="34" charset="0"/>
                <a:ea typeface="Calibri" pitchFamily="34" charset="-122"/>
                <a:cs typeface="Calibri" pitchFamily="34" charset="-120"/>
              </a:rPr>
              <a:t>I am a portfolio analyst preparing a research note for an investment committee with limited time per submission.</a:t>
            </a:r>
            <a:endParaRPr lang="en-US" sz="1300" dirty="0"/>
          </a:p>
        </p:txBody>
      </p:sp>
      <p:sp>
        <p:nvSpPr>
          <p:cNvPr id="6" name="Text 4"/>
          <p:cNvSpPr/>
          <p:nvPr/>
        </p:nvSpPr>
        <p:spPr>
          <a:xfrm>
            <a:off x="640080" y="2450592"/>
            <a:ext cx="2011680" cy="502920"/>
          </a:xfrm>
          <a:prstGeom prst="rect">
            <a:avLst/>
          </a:prstGeom>
          <a:noFill/>
          <a:ln/>
        </p:spPr>
        <p:txBody>
          <a:bodyPr wrap="square" rtlCol="0" anchor="ctr"/>
          <a:lstStyle/>
          <a:p>
            <a:pPr marL="0" indent="0">
              <a:buNone/>
            </a:pPr>
            <a:r>
              <a:rPr lang="en-US" sz="1300" b="1" dirty="0">
                <a:solidFill>
                  <a:srgbClr val="1E1E1E"/>
                </a:solidFill>
                <a:latin typeface="Arial" pitchFamily="34" charset="0"/>
                <a:ea typeface="Cambria" pitchFamily="34" charset="-122"/>
                <a:cs typeface="Cambria" pitchFamily="34" charset="-120"/>
              </a:rPr>
              <a:t>OBJECTIVE</a:t>
            </a:r>
            <a:endParaRPr lang="en-US" sz="1300" dirty="0"/>
          </a:p>
        </p:txBody>
      </p:sp>
      <p:sp>
        <p:nvSpPr>
          <p:cNvPr id="7" name="Text 5"/>
          <p:cNvSpPr/>
          <p:nvPr/>
        </p:nvSpPr>
        <p:spPr>
          <a:xfrm>
            <a:off x="2743200" y="2359152"/>
            <a:ext cx="8686800" cy="685800"/>
          </a:xfrm>
          <a:prstGeom prst="rect">
            <a:avLst/>
          </a:prstGeom>
          <a:noFill/>
          <a:ln/>
        </p:spPr>
        <p:txBody>
          <a:bodyPr wrap="square" rtlCol="0" anchor="ctr"/>
          <a:lstStyle/>
          <a:p>
            <a:pPr marL="0" indent="0">
              <a:buNone/>
            </a:pPr>
            <a:r>
              <a:rPr lang="en-US" sz="1300" dirty="0">
                <a:solidFill>
                  <a:srgbClr val="1E1E1E"/>
                </a:solidFill>
                <a:latin typeface="Arial" pitchFamily="34" charset="0"/>
                <a:ea typeface="Calibri" pitchFamily="34" charset="-122"/>
                <a:cs typeface="Calibri" pitchFamily="34" charset="-120"/>
              </a:rPr>
              <a:t>Guide me in producing a research note structure for one equity: thesis, signals, risks.</a:t>
            </a:r>
            <a:endParaRPr lang="en-US" sz="1300" dirty="0"/>
          </a:p>
        </p:txBody>
      </p:sp>
      <p:sp>
        <p:nvSpPr>
          <p:cNvPr id="8" name="Text 6"/>
          <p:cNvSpPr/>
          <p:nvPr/>
        </p:nvSpPr>
        <p:spPr>
          <a:xfrm>
            <a:off x="640080" y="3255264"/>
            <a:ext cx="2011680" cy="502920"/>
          </a:xfrm>
          <a:prstGeom prst="rect">
            <a:avLst/>
          </a:prstGeom>
          <a:noFill/>
          <a:ln/>
        </p:spPr>
        <p:txBody>
          <a:bodyPr wrap="square" rtlCol="0" anchor="ctr"/>
          <a:lstStyle/>
          <a:p>
            <a:pPr marL="0" indent="0">
              <a:buNone/>
            </a:pPr>
            <a:r>
              <a:rPr lang="en-US" sz="1300" b="1" dirty="0">
                <a:solidFill>
                  <a:srgbClr val="1E1E1E"/>
                </a:solidFill>
                <a:latin typeface="Arial" pitchFamily="34" charset="0"/>
                <a:ea typeface="Cambria" pitchFamily="34" charset="-122"/>
                <a:cs typeface="Cambria" pitchFamily="34" charset="-120"/>
              </a:rPr>
              <a:t>STYLE / TONE</a:t>
            </a:r>
            <a:endParaRPr lang="en-US" sz="1300" dirty="0"/>
          </a:p>
        </p:txBody>
      </p:sp>
      <p:sp>
        <p:nvSpPr>
          <p:cNvPr id="9" name="Text 7"/>
          <p:cNvSpPr/>
          <p:nvPr/>
        </p:nvSpPr>
        <p:spPr>
          <a:xfrm>
            <a:off x="2743200" y="3163824"/>
            <a:ext cx="8686800" cy="685800"/>
          </a:xfrm>
          <a:prstGeom prst="rect">
            <a:avLst/>
          </a:prstGeom>
          <a:noFill/>
          <a:ln/>
        </p:spPr>
        <p:txBody>
          <a:bodyPr wrap="square" rtlCol="0" anchor="ctr"/>
          <a:lstStyle/>
          <a:p>
            <a:pPr marL="0" indent="0">
              <a:buNone/>
            </a:pPr>
            <a:r>
              <a:rPr lang="en-US" sz="1300" dirty="0">
                <a:solidFill>
                  <a:srgbClr val="1E1E1E"/>
                </a:solidFill>
                <a:latin typeface="Arial" pitchFamily="34" charset="0"/>
                <a:ea typeface="Calibri" pitchFamily="34" charset="-122"/>
                <a:cs typeface="Calibri" pitchFamily="34" charset="-120"/>
              </a:rPr>
              <a:t>Analytical, direct, confident but not overstated. State uncertainty plainly.</a:t>
            </a:r>
            <a:endParaRPr lang="en-US" sz="1300" dirty="0"/>
          </a:p>
        </p:txBody>
      </p:sp>
      <p:sp>
        <p:nvSpPr>
          <p:cNvPr id="10" name="Text 8"/>
          <p:cNvSpPr/>
          <p:nvPr/>
        </p:nvSpPr>
        <p:spPr>
          <a:xfrm>
            <a:off x="640080" y="4059936"/>
            <a:ext cx="2011680" cy="502920"/>
          </a:xfrm>
          <a:prstGeom prst="rect">
            <a:avLst/>
          </a:prstGeom>
          <a:noFill/>
          <a:ln/>
        </p:spPr>
        <p:txBody>
          <a:bodyPr wrap="square" rtlCol="0" anchor="ctr"/>
          <a:lstStyle/>
          <a:p>
            <a:pPr marL="0" indent="0">
              <a:buNone/>
            </a:pPr>
            <a:r>
              <a:rPr lang="en-US" sz="1300" b="1" dirty="0">
                <a:solidFill>
                  <a:srgbClr val="1E1E1E"/>
                </a:solidFill>
                <a:latin typeface="Arial" pitchFamily="34" charset="0"/>
                <a:ea typeface="Cambria" pitchFamily="34" charset="-122"/>
                <a:cs typeface="Cambria" pitchFamily="34" charset="-120"/>
              </a:rPr>
              <a:t>AUDIENCE</a:t>
            </a:r>
            <a:endParaRPr lang="en-US" sz="1300" dirty="0"/>
          </a:p>
        </p:txBody>
      </p:sp>
      <p:sp>
        <p:nvSpPr>
          <p:cNvPr id="11" name="Text 9"/>
          <p:cNvSpPr/>
          <p:nvPr/>
        </p:nvSpPr>
        <p:spPr>
          <a:xfrm>
            <a:off x="2743200" y="3968496"/>
            <a:ext cx="8686800" cy="685800"/>
          </a:xfrm>
          <a:prstGeom prst="rect">
            <a:avLst/>
          </a:prstGeom>
          <a:noFill/>
          <a:ln/>
        </p:spPr>
        <p:txBody>
          <a:bodyPr wrap="square" rtlCol="0" anchor="ctr"/>
          <a:lstStyle/>
          <a:p>
            <a:pPr marL="0" indent="0">
              <a:buNone/>
            </a:pPr>
            <a:r>
              <a:rPr lang="en-US" sz="1300" dirty="0">
                <a:solidFill>
                  <a:srgbClr val="1E1E1E"/>
                </a:solidFill>
                <a:latin typeface="Arial" pitchFamily="34" charset="0"/>
                <a:ea typeface="Calibri" pitchFamily="34" charset="-122"/>
                <a:cs typeface="Calibri" pitchFamily="34" charset="-120"/>
              </a:rPr>
              <a:t>A financially literate committee that has not looked at this equity recently.</a:t>
            </a:r>
            <a:endParaRPr lang="en-US" sz="1300" dirty="0"/>
          </a:p>
        </p:txBody>
      </p:sp>
      <p:sp>
        <p:nvSpPr>
          <p:cNvPr id="12" name="Text 10"/>
          <p:cNvSpPr/>
          <p:nvPr/>
        </p:nvSpPr>
        <p:spPr>
          <a:xfrm>
            <a:off x="640080" y="4864608"/>
            <a:ext cx="2011680" cy="502920"/>
          </a:xfrm>
          <a:prstGeom prst="rect">
            <a:avLst/>
          </a:prstGeom>
          <a:noFill/>
          <a:ln/>
        </p:spPr>
        <p:txBody>
          <a:bodyPr wrap="square" rtlCol="0" anchor="ctr"/>
          <a:lstStyle/>
          <a:p>
            <a:pPr marL="0" indent="0">
              <a:buNone/>
            </a:pPr>
            <a:r>
              <a:rPr lang="en-US" sz="1300" b="1" dirty="0">
                <a:solidFill>
                  <a:srgbClr val="1E1E1E"/>
                </a:solidFill>
                <a:latin typeface="Arial" pitchFamily="34" charset="0"/>
                <a:ea typeface="Cambria" pitchFamily="34" charset="-122"/>
                <a:cs typeface="Cambria" pitchFamily="34" charset="-120"/>
              </a:rPr>
              <a:t>RESPONSE</a:t>
            </a:r>
            <a:endParaRPr lang="en-US" sz="1300" dirty="0"/>
          </a:p>
        </p:txBody>
      </p:sp>
      <p:sp>
        <p:nvSpPr>
          <p:cNvPr id="13" name="Text 11"/>
          <p:cNvSpPr/>
          <p:nvPr/>
        </p:nvSpPr>
        <p:spPr>
          <a:xfrm>
            <a:off x="2743200" y="4773168"/>
            <a:ext cx="8686800" cy="685800"/>
          </a:xfrm>
          <a:prstGeom prst="rect">
            <a:avLst/>
          </a:prstGeom>
          <a:noFill/>
          <a:ln/>
        </p:spPr>
        <p:txBody>
          <a:bodyPr wrap="square" rtlCol="0" anchor="ctr"/>
          <a:lstStyle/>
          <a:p>
            <a:pPr marL="0" indent="0">
              <a:buNone/>
            </a:pPr>
            <a:r>
              <a:rPr lang="en-US" sz="1300" dirty="0">
                <a:solidFill>
                  <a:srgbClr val="1E1E1E"/>
                </a:solidFill>
                <a:latin typeface="Arial" pitchFamily="34" charset="0"/>
                <a:ea typeface="Calibri" pitchFamily="34" charset="-122"/>
                <a:cs typeface="Calibri" pitchFamily="34" charset="-120"/>
              </a:rPr>
              <a:t>Thesis (one sentence), Supporting Signals, Risk Factors, Recommendation line.</a:t>
            </a:r>
            <a:endParaRPr lang="en-US" sz="1300" dirty="0"/>
          </a:p>
        </p:txBody>
      </p:sp>
      <p:sp>
        <p:nvSpPr>
          <p:cNvPr id="14" name="Text 12"/>
          <p:cNvSpPr/>
          <p:nvPr/>
        </p:nvSpPr>
        <p:spPr>
          <a:xfrm>
            <a:off x="640080" y="5394960"/>
            <a:ext cx="7315200" cy="365760"/>
          </a:xfrm>
          <a:prstGeom prst="rect">
            <a:avLst/>
          </a:prstGeom>
          <a:noFill/>
          <a:ln/>
        </p:spPr>
        <p:txBody>
          <a:bodyPr wrap="square" rtlCol="0" anchor="ctr"/>
          <a:lstStyle/>
          <a:p>
            <a:pPr marL="0" indent="0">
              <a:buNone/>
            </a:pPr>
            <a:r>
              <a:rPr lang="en-US" i="1" dirty="0">
                <a:solidFill>
                  <a:srgbClr val="1E1E1E"/>
                </a:solidFill>
                <a:latin typeface="Arial" pitchFamily="34" charset="0"/>
                <a:ea typeface="Calibri" pitchFamily="34" charset="-122"/>
                <a:cs typeface="Calibri" pitchFamily="34" charset="-120"/>
              </a:rPr>
              <a:t>File: </a:t>
            </a:r>
            <a:r>
              <a:rPr lang="en-US" i="1" dirty="0" err="1">
                <a:solidFill>
                  <a:srgbClr val="1E1E1E"/>
                </a:solidFill>
                <a:latin typeface="Arial" pitchFamily="34" charset="0"/>
                <a:ea typeface="Calibri" pitchFamily="34" charset="-122"/>
                <a:cs typeface="Calibri" pitchFamily="34" charset="-120"/>
              </a:rPr>
              <a:t>H_costar_prompt_finance.txt</a:t>
            </a:r>
            <a:endParaRPr lang="en-US" dirty="0"/>
          </a:p>
        </p:txBody>
      </p:sp>
      <p:sp>
        <p:nvSpPr>
          <p:cNvPr id="15" name="Rounded Rectangle 14">
            <a:extLst>
              <a:ext uri="{FF2B5EF4-FFF2-40B4-BE49-F238E27FC236}">
                <a16:creationId xmlns:a16="http://schemas.microsoft.com/office/drawing/2014/main" id="{27C872B5-BDF6-A7EB-7B3A-0409948AD18C}"/>
              </a:ext>
            </a:extLst>
          </p:cNvPr>
          <p:cNvSpPr/>
          <p:nvPr/>
        </p:nvSpPr>
        <p:spPr>
          <a:xfrm>
            <a:off x="729465" y="6000108"/>
            <a:ext cx="10791975" cy="56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Time permitting, go back &amp; try COSTAR at </a:t>
            </a:r>
            <a:r>
              <a:rPr lang="en-US" dirty="0" err="1"/>
              <a:t>hagll.com</a:t>
            </a:r>
            <a:r>
              <a:rPr lang="en-US" dirty="0"/>
              <a:t> for your system prompt.  You may get better results.</a:t>
            </a:r>
          </a:p>
        </p:txBody>
      </p:sp>
      <p:sp>
        <p:nvSpPr>
          <p:cNvPr id="16" name="Harvard Footer"/>
          <p:cNvSpPr txBox="1"/>
          <p:nvPr/>
        </p:nvSpPr>
        <p:spPr>
          <a:xfrm>
            <a:off x="137319" y="658320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7" name="Harvard Page Number"/>
          <p:cNvSpPr txBox="1"/>
          <p:nvPr/>
        </p:nvSpPr>
        <p:spPr>
          <a:xfrm>
            <a:off x="11730577" y="6446043"/>
            <a:ext cx="324104" cy="274638"/>
          </a:xfrm>
          <a:prstGeom prst="rect">
            <a:avLst/>
          </a:prstGeom>
          <a:noFill/>
        </p:spPr>
        <p:txBody>
          <a:bodyPr wrap="none" lIns="0" tIns="0" rIns="0" bIns="0">
            <a:noAutofit/>
          </a:bodyPr>
          <a:lstStyle/>
          <a:p>
            <a:pPr algn="r"/>
            <a:fld id="{D91E0D94-D2C9-460F-A24F-54919B3CEDD4}" type="slidenum">
              <a:rPr lang="en-US" sz="1000">
                <a:solidFill>
                  <a:srgbClr val="8996A0"/>
                </a:solidFill>
                <a:latin typeface="Arial"/>
              </a:rPr>
              <a:t>39</a:t>
            </a:fld>
            <a:endParaRPr lang="en-US" sz="1000">
              <a:solidFill>
                <a:srgbClr val="8996A0"/>
              </a:solidFill>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icPr>
            <a:picLocks noChangeAspect="1"/>
          </p:cNvPicPr>
          <p:nvPr/>
        </p:nvPicPr>
        <p:blipFill>
          <a:blip r:embed="rId3"/>
          <a:stretch>
            <a:fillRect/>
          </a:stretch>
        </p:blipFill>
        <p:spPr>
          <a:xfrm>
            <a:off x="614477" y="523037"/>
            <a:ext cx="416966" cy="416966"/>
          </a:xfrm>
          <a:prstGeom prst="rect">
            <a:avLst/>
          </a:prstGeom>
        </p:spPr>
      </p:pic>
      <p:sp>
        <p:nvSpPr>
          <p:cNvPr id="4" name="Text 1"/>
          <p:cNvSpPr/>
          <p:nvPr/>
        </p:nvSpPr>
        <p:spPr>
          <a:xfrm>
            <a:off x="1280160" y="502920"/>
            <a:ext cx="7315200" cy="548640"/>
          </a:xfrm>
          <a:prstGeom prst="rect">
            <a:avLst/>
          </a:prstGeom>
          <a:noFill/>
          <a:ln/>
        </p:spPr>
        <p:txBody>
          <a:bodyPr wrap="square" rtlCol="0" anchor="ctr"/>
          <a:lstStyle/>
          <a:p>
            <a:pPr marL="0" indent="0">
              <a:buNone/>
            </a:pPr>
            <a:r>
              <a:rPr lang="en-US" sz="2600" b="1" dirty="0">
                <a:solidFill>
                  <a:srgbClr val="14213D"/>
                </a:solidFill>
                <a:latin typeface="Arial" pitchFamily="34" charset="0"/>
                <a:ea typeface="Cambria" pitchFamily="34" charset="-122"/>
                <a:cs typeface="Cambria" pitchFamily="34" charset="-120"/>
              </a:rPr>
              <a:t>System prompt anatomy</a:t>
            </a:r>
            <a:endParaRPr lang="en-US" sz="2600" dirty="0"/>
          </a:p>
        </p:txBody>
      </p:sp>
      <p:sp>
        <p:nvSpPr>
          <p:cNvPr id="5" name="Text 2"/>
          <p:cNvSpPr/>
          <p:nvPr/>
        </p:nvSpPr>
        <p:spPr>
          <a:xfrm>
            <a:off x="1280160" y="1051560"/>
            <a:ext cx="10058400" cy="365760"/>
          </a:xfrm>
          <a:prstGeom prst="rect">
            <a:avLst/>
          </a:prstGeom>
          <a:noFill/>
          <a:ln/>
        </p:spPr>
        <p:txBody>
          <a:bodyPr wrap="square" rtlCol="0" anchor="ctr"/>
          <a:lstStyle/>
          <a:p>
            <a:pPr marL="0" indent="0">
              <a:buNone/>
            </a:pPr>
            <a:r>
              <a:rPr lang="en-US" sz="1350" i="1" dirty="0">
                <a:solidFill>
                  <a:srgbClr val="3A3F4B"/>
                </a:solidFill>
                <a:latin typeface="Arial" pitchFamily="34" charset="0"/>
                <a:ea typeface="Calibri" pitchFamily="34" charset="-122"/>
                <a:cs typeface="Calibri" pitchFamily="34" charset="-120"/>
              </a:rPr>
              <a:t>A system prompt sets role, behavior, and rules before the user's message ever arrives.</a:t>
            </a:r>
            <a:endParaRPr lang="en-US" sz="1350" dirty="0"/>
          </a:p>
        </p:txBody>
      </p:sp>
      <p:sp>
        <p:nvSpPr>
          <p:cNvPr id="6" name="Shape 3"/>
          <p:cNvSpPr/>
          <p:nvPr/>
        </p:nvSpPr>
        <p:spPr>
          <a:xfrm>
            <a:off x="548640" y="1691640"/>
            <a:ext cx="3566160" cy="2103120"/>
          </a:xfrm>
          <a:prstGeom prst="roundRect">
            <a:avLst>
              <a:gd name="adj" fmla="val 3478"/>
            </a:avLst>
          </a:prstGeom>
          <a:solidFill>
            <a:srgbClr val="FFFFFF"/>
          </a:solidFill>
          <a:ln/>
          <a:effectLst>
            <a:outerShdw blurRad="63500" dist="25400" dir="5400000" algn="bl" rotWithShape="0">
              <a:srgbClr val="1E1E1E">
                <a:alpha val="8000"/>
              </a:srgbClr>
            </a:outerShdw>
          </a:effectLst>
        </p:spPr>
      </p:sp>
      <p:sp>
        <p:nvSpPr>
          <p:cNvPr id="7" name="Text 4"/>
          <p:cNvSpPr/>
          <p:nvPr/>
        </p:nvSpPr>
        <p:spPr>
          <a:xfrm>
            <a:off x="777240" y="1920240"/>
            <a:ext cx="3108960" cy="411480"/>
          </a:xfrm>
          <a:prstGeom prst="rect">
            <a:avLst/>
          </a:prstGeom>
          <a:noFill/>
          <a:ln/>
        </p:spPr>
        <p:txBody>
          <a:bodyPr wrap="square" rtlCol="0" anchor="ctr"/>
          <a:lstStyle/>
          <a:p>
            <a:pPr marL="0" indent="0">
              <a:buNone/>
            </a:pPr>
            <a:r>
              <a:rPr lang="en-US" sz="1600" b="1" dirty="0">
                <a:solidFill>
                  <a:srgbClr val="9A6B2C"/>
                </a:solidFill>
                <a:latin typeface="Arial" pitchFamily="34" charset="0"/>
                <a:ea typeface="Cambria" pitchFamily="34" charset="-122"/>
                <a:cs typeface="Cambria" pitchFamily="34" charset="-120"/>
              </a:rPr>
              <a:t>Persona</a:t>
            </a:r>
            <a:endParaRPr lang="en-US" sz="1600" dirty="0"/>
          </a:p>
        </p:txBody>
      </p:sp>
      <p:sp>
        <p:nvSpPr>
          <p:cNvPr id="8" name="Text 5"/>
          <p:cNvSpPr/>
          <p:nvPr/>
        </p:nvSpPr>
        <p:spPr>
          <a:xfrm>
            <a:off x="777240" y="2377440"/>
            <a:ext cx="3108960" cy="1280160"/>
          </a:xfrm>
          <a:prstGeom prst="rect">
            <a:avLst/>
          </a:prstGeom>
          <a:noFill/>
          <a:ln/>
        </p:spPr>
        <p:txBody>
          <a:bodyPr wrap="square" rtlCol="0" anchor="ctr"/>
          <a:lstStyle/>
          <a:p>
            <a:pPr marL="0" indent="0">
              <a:buNone/>
            </a:pPr>
            <a:r>
              <a:rPr lang="en-US" sz="1250" dirty="0">
                <a:solidFill>
                  <a:srgbClr val="3A3F4B"/>
                </a:solidFill>
                <a:latin typeface="Arial" pitchFamily="34" charset="0"/>
                <a:ea typeface="Calibri" pitchFamily="34" charset="-122"/>
                <a:cs typeface="Calibri" pitchFamily="34" charset="-120"/>
              </a:rPr>
              <a:t>Who is the model, for this application? A concise assistant, a research analyst, a cautious tutor.</a:t>
            </a:r>
            <a:endParaRPr lang="en-US" sz="1250" dirty="0"/>
          </a:p>
        </p:txBody>
      </p:sp>
      <p:sp>
        <p:nvSpPr>
          <p:cNvPr id="9" name="Shape 6"/>
          <p:cNvSpPr/>
          <p:nvPr/>
        </p:nvSpPr>
        <p:spPr>
          <a:xfrm>
            <a:off x="4297680" y="1691640"/>
            <a:ext cx="3566160" cy="2103120"/>
          </a:xfrm>
          <a:prstGeom prst="roundRect">
            <a:avLst>
              <a:gd name="adj" fmla="val 3478"/>
            </a:avLst>
          </a:prstGeom>
          <a:solidFill>
            <a:srgbClr val="FFFFFF"/>
          </a:solidFill>
          <a:ln/>
          <a:effectLst>
            <a:outerShdw blurRad="63500" dist="25400" dir="5400000" algn="bl" rotWithShape="0">
              <a:srgbClr val="1E1E1E">
                <a:alpha val="8000"/>
              </a:srgbClr>
            </a:outerShdw>
          </a:effectLst>
        </p:spPr>
      </p:sp>
      <p:sp>
        <p:nvSpPr>
          <p:cNvPr id="10" name="Text 7"/>
          <p:cNvSpPr/>
          <p:nvPr/>
        </p:nvSpPr>
        <p:spPr>
          <a:xfrm>
            <a:off x="4526280" y="1920240"/>
            <a:ext cx="3108960" cy="411480"/>
          </a:xfrm>
          <a:prstGeom prst="rect">
            <a:avLst/>
          </a:prstGeom>
          <a:noFill/>
          <a:ln/>
        </p:spPr>
        <p:txBody>
          <a:bodyPr wrap="square" rtlCol="0" anchor="ctr"/>
          <a:lstStyle/>
          <a:p>
            <a:pPr marL="0" indent="0">
              <a:buNone/>
            </a:pPr>
            <a:r>
              <a:rPr lang="en-US" sz="1600" b="1" dirty="0">
                <a:solidFill>
                  <a:srgbClr val="9A6B2C"/>
                </a:solidFill>
                <a:latin typeface="Arial" pitchFamily="34" charset="0"/>
                <a:ea typeface="Cambria" pitchFamily="34" charset="-122"/>
                <a:cs typeface="Cambria" pitchFamily="34" charset="-120"/>
              </a:rPr>
              <a:t>Boundaries</a:t>
            </a:r>
            <a:endParaRPr lang="en-US" sz="1600" dirty="0"/>
          </a:p>
        </p:txBody>
      </p:sp>
      <p:sp>
        <p:nvSpPr>
          <p:cNvPr id="11" name="Text 8"/>
          <p:cNvSpPr/>
          <p:nvPr/>
        </p:nvSpPr>
        <p:spPr>
          <a:xfrm>
            <a:off x="4526280" y="2377440"/>
            <a:ext cx="3108960" cy="1280160"/>
          </a:xfrm>
          <a:prstGeom prst="rect">
            <a:avLst/>
          </a:prstGeom>
          <a:noFill/>
          <a:ln/>
        </p:spPr>
        <p:txBody>
          <a:bodyPr wrap="square" rtlCol="0" anchor="ctr"/>
          <a:lstStyle/>
          <a:p>
            <a:pPr marL="0" indent="0">
              <a:buNone/>
            </a:pPr>
            <a:r>
              <a:rPr lang="en-US" sz="1250" dirty="0">
                <a:solidFill>
                  <a:srgbClr val="3A3F4B"/>
                </a:solidFill>
                <a:latin typeface="Arial" pitchFamily="34" charset="0"/>
                <a:ea typeface="Calibri" pitchFamily="34" charset="-122"/>
                <a:cs typeface="Calibri" pitchFamily="34" charset="-120"/>
              </a:rPr>
              <a:t>What should it refuse or avoid? What topics, tones, or actions are out of scope?</a:t>
            </a:r>
            <a:endParaRPr lang="en-US" sz="1250" dirty="0"/>
          </a:p>
        </p:txBody>
      </p:sp>
      <p:sp>
        <p:nvSpPr>
          <p:cNvPr id="12" name="Shape 9"/>
          <p:cNvSpPr/>
          <p:nvPr/>
        </p:nvSpPr>
        <p:spPr>
          <a:xfrm>
            <a:off x="8046720" y="1691640"/>
            <a:ext cx="3566160" cy="2103120"/>
          </a:xfrm>
          <a:prstGeom prst="roundRect">
            <a:avLst>
              <a:gd name="adj" fmla="val 3478"/>
            </a:avLst>
          </a:prstGeom>
          <a:solidFill>
            <a:srgbClr val="FFFFFF"/>
          </a:solidFill>
          <a:ln/>
          <a:effectLst>
            <a:outerShdw blurRad="63500" dist="25400" dir="5400000" algn="bl" rotWithShape="0">
              <a:srgbClr val="1E1E1E">
                <a:alpha val="8000"/>
              </a:srgbClr>
            </a:outerShdw>
          </a:effectLst>
        </p:spPr>
      </p:sp>
      <p:sp>
        <p:nvSpPr>
          <p:cNvPr id="13" name="Text 10"/>
          <p:cNvSpPr/>
          <p:nvPr/>
        </p:nvSpPr>
        <p:spPr>
          <a:xfrm>
            <a:off x="8275320" y="1920240"/>
            <a:ext cx="3108960" cy="411480"/>
          </a:xfrm>
          <a:prstGeom prst="rect">
            <a:avLst/>
          </a:prstGeom>
          <a:noFill/>
          <a:ln/>
        </p:spPr>
        <p:txBody>
          <a:bodyPr wrap="square" rtlCol="0" anchor="ctr"/>
          <a:lstStyle/>
          <a:p>
            <a:pPr marL="0" indent="0">
              <a:buNone/>
            </a:pPr>
            <a:r>
              <a:rPr lang="en-US" sz="1600" b="1" dirty="0">
                <a:solidFill>
                  <a:srgbClr val="9A6B2C"/>
                </a:solidFill>
                <a:latin typeface="Arial" pitchFamily="34" charset="0"/>
                <a:ea typeface="Cambria" pitchFamily="34" charset="-122"/>
                <a:cs typeface="Cambria" pitchFamily="34" charset="-120"/>
              </a:rPr>
              <a:t>Output format</a:t>
            </a:r>
            <a:endParaRPr lang="en-US" sz="1600" dirty="0"/>
          </a:p>
        </p:txBody>
      </p:sp>
      <p:sp>
        <p:nvSpPr>
          <p:cNvPr id="14" name="Text 11"/>
          <p:cNvSpPr/>
          <p:nvPr/>
        </p:nvSpPr>
        <p:spPr>
          <a:xfrm>
            <a:off x="8275320" y="2377440"/>
            <a:ext cx="3108960" cy="1280160"/>
          </a:xfrm>
          <a:prstGeom prst="rect">
            <a:avLst/>
          </a:prstGeom>
          <a:noFill/>
          <a:ln/>
        </p:spPr>
        <p:txBody>
          <a:bodyPr wrap="square" rtlCol="0" anchor="ctr"/>
          <a:lstStyle/>
          <a:p>
            <a:pPr marL="0" indent="0">
              <a:buNone/>
            </a:pPr>
            <a:r>
              <a:rPr lang="en-US" sz="1250" dirty="0">
                <a:solidFill>
                  <a:srgbClr val="3A3F4B"/>
                </a:solidFill>
                <a:latin typeface="Arial" pitchFamily="34" charset="0"/>
                <a:ea typeface="Calibri" pitchFamily="34" charset="-122"/>
                <a:cs typeface="Calibri" pitchFamily="34" charset="-120"/>
              </a:rPr>
              <a:t>What shape must every response take, so downstream code can parse it reliably?</a:t>
            </a:r>
            <a:endParaRPr lang="en-US" sz="1250" dirty="0"/>
          </a:p>
        </p:txBody>
      </p:sp>
      <p:sp>
        <p:nvSpPr>
          <p:cNvPr id="15" name="Text 12"/>
          <p:cNvSpPr/>
          <p:nvPr/>
        </p:nvSpPr>
        <p:spPr>
          <a:xfrm>
            <a:off x="548640" y="4023360"/>
            <a:ext cx="9144000" cy="365760"/>
          </a:xfrm>
          <a:prstGeom prst="rect">
            <a:avLst/>
          </a:prstGeom>
          <a:noFill/>
          <a:ln/>
        </p:spPr>
        <p:txBody>
          <a:bodyPr wrap="square" rtlCol="0" anchor="ctr"/>
          <a:lstStyle/>
          <a:p>
            <a:pPr marL="0" indent="0">
              <a:buNone/>
            </a:pPr>
            <a:r>
              <a:rPr lang="en-US" sz="1600" b="1" dirty="0">
                <a:solidFill>
                  <a:srgbClr val="14213D"/>
                </a:solidFill>
                <a:latin typeface="Arial" pitchFamily="34" charset="0"/>
                <a:ea typeface="Cambria" pitchFamily="34" charset="-122"/>
                <a:cs typeface="Cambria" pitchFamily="34" charset="-120"/>
              </a:rPr>
              <a:t>Five habits that make system prompts work</a:t>
            </a:r>
            <a:endParaRPr lang="en-US" sz="1600" dirty="0"/>
          </a:p>
        </p:txBody>
      </p:sp>
      <p:sp>
        <p:nvSpPr>
          <p:cNvPr id="16" name="Shape 13"/>
          <p:cNvSpPr/>
          <p:nvPr/>
        </p:nvSpPr>
        <p:spPr>
          <a:xfrm>
            <a:off x="548640" y="4480560"/>
            <a:ext cx="2148840" cy="502920"/>
          </a:xfrm>
          <a:prstGeom prst="roundRect">
            <a:avLst>
              <a:gd name="adj" fmla="val 50909"/>
            </a:avLst>
          </a:prstGeom>
          <a:solidFill>
            <a:srgbClr val="F1EEE3"/>
          </a:solidFill>
          <a:ln/>
        </p:spPr>
      </p:sp>
      <p:sp>
        <p:nvSpPr>
          <p:cNvPr id="17" name="Text 14"/>
          <p:cNvSpPr/>
          <p:nvPr/>
        </p:nvSpPr>
        <p:spPr>
          <a:xfrm>
            <a:off x="548640"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Arial" pitchFamily="34" charset="0"/>
                <a:ea typeface="Calibri" pitchFamily="34" charset="-122"/>
                <a:cs typeface="Calibri" pitchFamily="34" charset="-120"/>
              </a:rPr>
              <a:t>Give context</a:t>
            </a:r>
            <a:endParaRPr lang="en-US" sz="1100" dirty="0"/>
          </a:p>
        </p:txBody>
      </p:sp>
      <p:sp>
        <p:nvSpPr>
          <p:cNvPr id="18" name="Shape 15"/>
          <p:cNvSpPr/>
          <p:nvPr/>
        </p:nvSpPr>
        <p:spPr>
          <a:xfrm>
            <a:off x="2807208" y="4480560"/>
            <a:ext cx="2148840" cy="502920"/>
          </a:xfrm>
          <a:prstGeom prst="roundRect">
            <a:avLst>
              <a:gd name="adj" fmla="val 50909"/>
            </a:avLst>
          </a:prstGeom>
          <a:solidFill>
            <a:srgbClr val="F1EEE3"/>
          </a:solidFill>
          <a:ln/>
        </p:spPr>
      </p:sp>
      <p:sp>
        <p:nvSpPr>
          <p:cNvPr id="19" name="Text 16"/>
          <p:cNvSpPr/>
          <p:nvPr/>
        </p:nvSpPr>
        <p:spPr>
          <a:xfrm>
            <a:off x="2807208"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Arial" pitchFamily="34" charset="0"/>
                <a:ea typeface="Calibri" pitchFamily="34" charset="-122"/>
                <a:cs typeface="Calibri" pitchFamily="34" charset="-120"/>
              </a:rPr>
              <a:t>Specify the response format</a:t>
            </a:r>
            <a:endParaRPr lang="en-US" sz="1100" dirty="0"/>
          </a:p>
        </p:txBody>
      </p:sp>
      <p:sp>
        <p:nvSpPr>
          <p:cNvPr id="20" name="Shape 17"/>
          <p:cNvSpPr/>
          <p:nvPr/>
        </p:nvSpPr>
        <p:spPr>
          <a:xfrm>
            <a:off x="5065776" y="4480560"/>
            <a:ext cx="2148840" cy="502920"/>
          </a:xfrm>
          <a:prstGeom prst="roundRect">
            <a:avLst>
              <a:gd name="adj" fmla="val 50909"/>
            </a:avLst>
          </a:prstGeom>
          <a:solidFill>
            <a:srgbClr val="F1EEE3"/>
          </a:solidFill>
          <a:ln/>
        </p:spPr>
      </p:sp>
      <p:sp>
        <p:nvSpPr>
          <p:cNvPr id="21" name="Text 18"/>
          <p:cNvSpPr/>
          <p:nvPr/>
        </p:nvSpPr>
        <p:spPr>
          <a:xfrm>
            <a:off x="5065776"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Arial" pitchFamily="34" charset="0"/>
                <a:ea typeface="Calibri" pitchFamily="34" charset="-122"/>
                <a:cs typeface="Calibri" pitchFamily="34" charset="-120"/>
              </a:rPr>
              <a:t>Be clear and specific</a:t>
            </a:r>
            <a:endParaRPr lang="en-US" sz="1100" dirty="0"/>
          </a:p>
        </p:txBody>
      </p:sp>
      <p:sp>
        <p:nvSpPr>
          <p:cNvPr id="22" name="Shape 19"/>
          <p:cNvSpPr/>
          <p:nvPr/>
        </p:nvSpPr>
        <p:spPr>
          <a:xfrm>
            <a:off x="7324344" y="4480560"/>
            <a:ext cx="2148840" cy="502920"/>
          </a:xfrm>
          <a:prstGeom prst="roundRect">
            <a:avLst>
              <a:gd name="adj" fmla="val 50909"/>
            </a:avLst>
          </a:prstGeom>
          <a:solidFill>
            <a:srgbClr val="F1EEE3"/>
          </a:solidFill>
          <a:ln/>
        </p:spPr>
      </p:sp>
      <p:sp>
        <p:nvSpPr>
          <p:cNvPr id="23" name="Text 20"/>
          <p:cNvSpPr/>
          <p:nvPr/>
        </p:nvSpPr>
        <p:spPr>
          <a:xfrm>
            <a:off x="7324344"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Arial" pitchFamily="34" charset="0"/>
                <a:ea typeface="Calibri" pitchFamily="34" charset="-122"/>
                <a:cs typeface="Calibri" pitchFamily="34" charset="-120"/>
              </a:rPr>
              <a:t>Include an example or two</a:t>
            </a:r>
            <a:endParaRPr lang="en-US" sz="1100" dirty="0"/>
          </a:p>
        </p:txBody>
      </p:sp>
      <p:sp>
        <p:nvSpPr>
          <p:cNvPr id="24" name="Shape 21"/>
          <p:cNvSpPr/>
          <p:nvPr/>
        </p:nvSpPr>
        <p:spPr>
          <a:xfrm>
            <a:off x="9582912" y="4480560"/>
            <a:ext cx="2148840" cy="502920"/>
          </a:xfrm>
          <a:prstGeom prst="roundRect">
            <a:avLst>
              <a:gd name="adj" fmla="val 50909"/>
            </a:avLst>
          </a:prstGeom>
          <a:solidFill>
            <a:srgbClr val="F1EEE3"/>
          </a:solidFill>
          <a:ln/>
        </p:spPr>
      </p:sp>
      <p:sp>
        <p:nvSpPr>
          <p:cNvPr id="25" name="Text 22"/>
          <p:cNvSpPr/>
          <p:nvPr/>
        </p:nvSpPr>
        <p:spPr>
          <a:xfrm>
            <a:off x="9582912"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Arial" pitchFamily="34" charset="0"/>
                <a:ea typeface="Calibri" pitchFamily="34" charset="-122"/>
                <a:cs typeface="Calibri" pitchFamily="34" charset="-120"/>
              </a:rPr>
              <a:t>Break the task into steps</a:t>
            </a:r>
            <a:endParaRPr lang="en-US" sz="1100" dirty="0"/>
          </a:p>
        </p:txBody>
      </p:sp>
      <p:sp>
        <p:nvSpPr>
          <p:cNvPr id="26"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7" name="Harvard Page Number"/>
          <p:cNvSpPr txBox="1"/>
          <p:nvPr/>
        </p:nvSpPr>
        <p:spPr>
          <a:xfrm>
            <a:off x="11730577" y="6446043"/>
            <a:ext cx="324104" cy="274638"/>
          </a:xfrm>
          <a:prstGeom prst="rect">
            <a:avLst/>
          </a:prstGeom>
          <a:noFill/>
        </p:spPr>
        <p:txBody>
          <a:bodyPr wrap="none" lIns="0" tIns="0" rIns="0" bIns="0">
            <a:noAutofit/>
          </a:bodyPr>
          <a:lstStyle/>
          <a:p>
            <a:pPr algn="r"/>
            <a:fld id="{F56571AF-F93E-4619-90ED-66FD215C1184}" type="slidenum">
              <a:rPr lang="en-US" sz="1000">
                <a:solidFill>
                  <a:srgbClr val="8996A0"/>
                </a:solidFill>
                <a:latin typeface="Arial"/>
              </a:rPr>
              <a:t>40</a:t>
            </a:fld>
            <a:endParaRPr lang="en-US" sz="1000">
              <a:solidFill>
                <a:srgbClr val="8996A0"/>
              </a:solidFill>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icPr>
            <a:picLocks noChangeAspect="1"/>
          </p:cNvPicPr>
          <p:nvPr/>
        </p:nvPicPr>
        <p:blipFill>
          <a:blip r:embed="rId3"/>
          <a:stretch>
            <a:fillRect/>
          </a:stretch>
        </p:blipFill>
        <p:spPr>
          <a:xfrm>
            <a:off x="614477" y="523037"/>
            <a:ext cx="416966" cy="416966"/>
          </a:xfrm>
          <a:prstGeom prst="rect">
            <a:avLst/>
          </a:prstGeom>
        </p:spPr>
      </p:pic>
      <p:sp>
        <p:nvSpPr>
          <p:cNvPr id="4" name="Text 1"/>
          <p:cNvSpPr/>
          <p:nvPr/>
        </p:nvSpPr>
        <p:spPr>
          <a:xfrm>
            <a:off x="1280160" y="502920"/>
            <a:ext cx="9601200" cy="548640"/>
          </a:xfrm>
          <a:prstGeom prst="rect">
            <a:avLst/>
          </a:prstGeom>
          <a:noFill/>
          <a:ln/>
        </p:spPr>
        <p:txBody>
          <a:bodyPr wrap="square" rtlCol="0" anchor="ctr"/>
          <a:lstStyle/>
          <a:p>
            <a:pPr marL="0" indent="0">
              <a:buNone/>
            </a:pPr>
            <a:r>
              <a:rPr lang="en-US" sz="2400" b="1" dirty="0">
                <a:solidFill>
                  <a:srgbClr val="14213D"/>
                </a:solidFill>
                <a:latin typeface="Arial" pitchFamily="34" charset="0"/>
                <a:ea typeface="Cambria" pitchFamily="34" charset="-122"/>
                <a:cs typeface="Cambria" pitchFamily="34" charset="-120"/>
              </a:rPr>
              <a:t>Hands on: force a structured JSON response</a:t>
            </a:r>
            <a:endParaRPr lang="en-US" sz="2400" dirty="0"/>
          </a:p>
        </p:txBody>
      </p:sp>
      <p:sp>
        <p:nvSpPr>
          <p:cNvPr id="5" name="Text 2"/>
          <p:cNvSpPr/>
          <p:nvPr/>
        </p:nvSpPr>
        <p:spPr>
          <a:xfrm>
            <a:off x="1280160" y="1051560"/>
            <a:ext cx="10058400" cy="365760"/>
          </a:xfrm>
          <a:prstGeom prst="rect">
            <a:avLst/>
          </a:prstGeom>
          <a:noFill/>
          <a:ln/>
        </p:spPr>
        <p:txBody>
          <a:bodyPr wrap="square" rtlCol="0" anchor="ctr"/>
          <a:lstStyle/>
          <a:p>
            <a:pPr marL="0" indent="0">
              <a:buNone/>
            </a:pPr>
            <a:r>
              <a:rPr lang="en-US" sz="1300" i="1" dirty="0">
                <a:solidFill>
                  <a:srgbClr val="3A3F4B"/>
                </a:solidFill>
                <a:latin typeface="Arial" pitchFamily="34" charset="0"/>
                <a:ea typeface="Calibri" pitchFamily="34" charset="-122"/>
                <a:cs typeface="Calibri" pitchFamily="34" charset="-120"/>
              </a:rPr>
              <a:t>This is the pattern Repo 1 needs: a system prompt that returns parseable JSON, every time.</a:t>
            </a:r>
            <a:endParaRPr lang="en-US" sz="1300" dirty="0"/>
          </a:p>
        </p:txBody>
      </p:sp>
      <p:sp>
        <p:nvSpPr>
          <p:cNvPr id="6" name="Shape 3"/>
          <p:cNvSpPr/>
          <p:nvPr/>
        </p:nvSpPr>
        <p:spPr>
          <a:xfrm>
            <a:off x="548640" y="1600200"/>
            <a:ext cx="11064240" cy="1371600"/>
          </a:xfrm>
          <a:prstGeom prst="roundRect">
            <a:avLst>
              <a:gd name="adj" fmla="val 5333"/>
            </a:avLst>
          </a:prstGeom>
          <a:solidFill>
            <a:srgbClr val="14213D"/>
          </a:solidFill>
          <a:ln/>
        </p:spPr>
      </p:sp>
      <p:sp>
        <p:nvSpPr>
          <p:cNvPr id="7" name="Text 4"/>
          <p:cNvSpPr/>
          <p:nvPr/>
        </p:nvSpPr>
        <p:spPr>
          <a:xfrm>
            <a:off x="822960" y="1737360"/>
            <a:ext cx="10424160" cy="320040"/>
          </a:xfrm>
          <a:prstGeom prst="rect">
            <a:avLst/>
          </a:prstGeom>
          <a:noFill/>
          <a:ln/>
        </p:spPr>
        <p:txBody>
          <a:bodyPr wrap="square" rtlCol="0" anchor="ctr"/>
          <a:lstStyle/>
          <a:p>
            <a:pPr marL="0" indent="0">
              <a:buNone/>
            </a:pPr>
            <a:r>
              <a:rPr lang="en-US" sz="1200" i="1" dirty="0">
                <a:solidFill>
                  <a:srgbClr val="8FA3C9"/>
                </a:solidFill>
                <a:latin typeface="Arial" pitchFamily="34" charset="0"/>
                <a:ea typeface="Calibri" pitchFamily="34" charset="-122"/>
                <a:cs typeface="Calibri" pitchFamily="34" charset="-120"/>
              </a:rPr>
              <a:t>System prompt:</a:t>
            </a:r>
            <a:endParaRPr lang="en-US" sz="1200" dirty="0"/>
          </a:p>
        </p:txBody>
      </p:sp>
      <p:sp>
        <p:nvSpPr>
          <p:cNvPr id="8" name="Text 5"/>
          <p:cNvSpPr/>
          <p:nvPr/>
        </p:nvSpPr>
        <p:spPr>
          <a:xfrm>
            <a:off x="822960" y="2057400"/>
            <a:ext cx="10424160" cy="822960"/>
          </a:xfrm>
          <a:prstGeom prst="rect">
            <a:avLst/>
          </a:prstGeom>
          <a:noFill/>
          <a:ln/>
        </p:spPr>
        <p:txBody>
          <a:bodyPr wrap="square" rtlCol="0" anchor="ctr"/>
          <a:lstStyle/>
          <a:p>
            <a:pPr marL="0" indent="0">
              <a:buNone/>
            </a:pPr>
            <a:r>
              <a:rPr lang="en-US" sz="1400" i="1" dirty="0">
                <a:solidFill>
                  <a:srgbClr val="FFFFFF"/>
                </a:solidFill>
                <a:latin typeface="Arial" pitchFamily="34" charset="0"/>
                <a:ea typeface="Cambria" pitchFamily="34" charset="-122"/>
                <a:cs typeface="Cambria" pitchFamily="34" charset="-120"/>
              </a:rPr>
              <a:t>“You are a financial signal explainer. Respond only with valid JSON matching this shape: {ticker, signal, confidence, one_sentence_reason}. No text outside the JSON.”</a:t>
            </a:r>
            <a:endParaRPr lang="en-US" sz="1400" dirty="0"/>
          </a:p>
        </p:txBody>
      </p:sp>
      <p:sp>
        <p:nvSpPr>
          <p:cNvPr id="9" name="Text 6"/>
          <p:cNvSpPr/>
          <p:nvPr/>
        </p:nvSpPr>
        <p:spPr>
          <a:xfrm>
            <a:off x="548640" y="3200400"/>
            <a:ext cx="7315200" cy="365760"/>
          </a:xfrm>
          <a:prstGeom prst="rect">
            <a:avLst/>
          </a:prstGeom>
          <a:noFill/>
          <a:ln/>
        </p:spPr>
        <p:txBody>
          <a:bodyPr wrap="square" rtlCol="0" anchor="ctr"/>
          <a:lstStyle/>
          <a:p>
            <a:pPr marL="0" indent="0">
              <a:buNone/>
            </a:pPr>
            <a:r>
              <a:rPr lang="en-US" sz="1600" b="1" dirty="0">
                <a:solidFill>
                  <a:srgbClr val="14213D"/>
                </a:solidFill>
                <a:latin typeface="Arial" pitchFamily="34" charset="0"/>
                <a:ea typeface="Cambria" pitchFamily="34" charset="-122"/>
                <a:cs typeface="Cambria" pitchFamily="34" charset="-120"/>
              </a:rPr>
              <a:t>Try this, then break it</a:t>
            </a:r>
            <a:endParaRPr lang="en-US" sz="1600" dirty="0"/>
          </a:p>
        </p:txBody>
      </p:sp>
      <p:sp>
        <p:nvSpPr>
          <p:cNvPr id="10" name="Text 7"/>
          <p:cNvSpPr/>
          <p:nvPr/>
        </p:nvSpPr>
        <p:spPr>
          <a:xfrm>
            <a:off x="548640" y="3657600"/>
            <a:ext cx="10972800" cy="502920"/>
          </a:xfrm>
          <a:prstGeom prst="rect">
            <a:avLst/>
          </a:prstGeom>
          <a:noFill/>
          <a:ln/>
        </p:spPr>
        <p:txBody>
          <a:bodyPr wrap="square" rtlCol="0" anchor="ctr"/>
          <a:lstStyle/>
          <a:p>
            <a:pPr marL="342900" indent="-342900">
              <a:buSzPct val="100000"/>
              <a:buChar char="•"/>
            </a:pPr>
            <a:r>
              <a:rPr lang="en-US" sz="1350" dirty="0">
                <a:solidFill>
                  <a:srgbClr val="3A3F4B"/>
                </a:solidFill>
                <a:latin typeface="Arial" pitchFamily="34" charset="0"/>
                <a:ea typeface="Calibri" pitchFamily="34" charset="-122"/>
                <a:cs typeface="Calibri" pitchFamily="34" charset="-120"/>
              </a:rPr>
              <a:t>Send a user prompt with a ticker and a moving average signal. Confirm the JSON parses cleanly.</a:t>
            </a:r>
            <a:endParaRPr lang="en-US" sz="1350" dirty="0"/>
          </a:p>
        </p:txBody>
      </p:sp>
      <p:sp>
        <p:nvSpPr>
          <p:cNvPr id="11" name="Text 8"/>
          <p:cNvSpPr/>
          <p:nvPr/>
        </p:nvSpPr>
        <p:spPr>
          <a:xfrm>
            <a:off x="548640" y="4251960"/>
            <a:ext cx="10972800" cy="502920"/>
          </a:xfrm>
          <a:prstGeom prst="rect">
            <a:avLst/>
          </a:prstGeom>
          <a:noFill/>
          <a:ln/>
        </p:spPr>
        <p:txBody>
          <a:bodyPr wrap="square" rtlCol="0" anchor="ctr"/>
          <a:lstStyle/>
          <a:p>
            <a:pPr marL="342900" indent="-342900">
              <a:buSzPct val="100000"/>
              <a:buChar char="•"/>
            </a:pPr>
            <a:r>
              <a:rPr lang="en-US" sz="1350" dirty="0">
                <a:solidFill>
                  <a:srgbClr val="3A3F4B"/>
                </a:solidFill>
                <a:latin typeface="Arial" pitchFamily="34" charset="0"/>
                <a:ea typeface="Calibri" pitchFamily="34" charset="-122"/>
                <a:cs typeface="Calibri" pitchFamily="34" charset="-120"/>
              </a:rPr>
              <a:t>Lower max_tokens until the response gets cut off mid JSON. Notice it is truncated, not summarized.</a:t>
            </a:r>
            <a:endParaRPr lang="en-US" sz="1350" dirty="0"/>
          </a:p>
        </p:txBody>
      </p:sp>
      <p:sp>
        <p:nvSpPr>
          <p:cNvPr id="12" name="Text 9"/>
          <p:cNvSpPr/>
          <p:nvPr/>
        </p:nvSpPr>
        <p:spPr>
          <a:xfrm>
            <a:off x="548640" y="4846320"/>
            <a:ext cx="10972800" cy="502920"/>
          </a:xfrm>
          <a:prstGeom prst="rect">
            <a:avLst/>
          </a:prstGeom>
          <a:noFill/>
          <a:ln/>
        </p:spPr>
        <p:txBody>
          <a:bodyPr wrap="square" rtlCol="0" anchor="ctr"/>
          <a:lstStyle/>
          <a:p>
            <a:pPr marL="342900" indent="-342900">
              <a:buSzPct val="100000"/>
              <a:buChar char="•"/>
            </a:pPr>
            <a:r>
              <a:rPr lang="en-US" sz="1350" dirty="0">
                <a:solidFill>
                  <a:srgbClr val="3A3F4B"/>
                </a:solidFill>
                <a:latin typeface="Arial" pitchFamily="34" charset="0"/>
                <a:ea typeface="Calibri" pitchFamily="34" charset="-122"/>
                <a:cs typeface="Calibri" pitchFamily="34" charset="-120"/>
              </a:rPr>
              <a:t>Remove the “no text outside the JSON” constraint and resend. Compare what comes back.</a:t>
            </a:r>
            <a:endParaRPr lang="en-US" sz="1350" dirty="0"/>
          </a:p>
        </p:txBody>
      </p:sp>
      <p:sp>
        <p:nvSpPr>
          <p:cNvPr id="13" name="Text 10"/>
          <p:cNvSpPr/>
          <p:nvPr/>
        </p:nvSpPr>
        <p:spPr>
          <a:xfrm>
            <a:off x="548640" y="5623560"/>
            <a:ext cx="10972800" cy="411480"/>
          </a:xfrm>
          <a:prstGeom prst="rect">
            <a:avLst/>
          </a:prstGeom>
          <a:noFill/>
          <a:ln/>
        </p:spPr>
        <p:txBody>
          <a:bodyPr wrap="square" rtlCol="0" anchor="ctr"/>
          <a:lstStyle/>
          <a:p>
            <a:pPr marL="0" indent="0">
              <a:buNone/>
            </a:pPr>
            <a:r>
              <a:rPr lang="en-US" sz="1300" i="1" dirty="0">
                <a:solidFill>
                  <a:srgbClr val="9A6B2C"/>
                </a:solidFill>
                <a:latin typeface="Arial" pitchFamily="34" charset="0"/>
                <a:ea typeface="Calibri" pitchFamily="34" charset="-122"/>
                <a:cs typeface="Calibri" pitchFamily="34" charset="-120"/>
              </a:rPr>
              <a:t>Deliverable: save the system prompt version that survived all three tests to your repo.</a:t>
            </a:r>
            <a:endParaRPr lang="en-US" sz="1300" dirty="0"/>
          </a:p>
        </p:txBody>
      </p:sp>
      <p:sp>
        <p:nvSpPr>
          <p:cNvPr id="14"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5" name="Harvard Page Number"/>
          <p:cNvSpPr txBox="1"/>
          <p:nvPr/>
        </p:nvSpPr>
        <p:spPr>
          <a:xfrm>
            <a:off x="11730577" y="6446043"/>
            <a:ext cx="324104" cy="274638"/>
          </a:xfrm>
          <a:prstGeom prst="rect">
            <a:avLst/>
          </a:prstGeom>
          <a:noFill/>
        </p:spPr>
        <p:txBody>
          <a:bodyPr wrap="none" lIns="0" tIns="0" rIns="0" bIns="0">
            <a:noAutofit/>
          </a:bodyPr>
          <a:lstStyle/>
          <a:p>
            <a:pPr algn="r"/>
            <a:fld id="{25908D8F-6E07-4779-9EF1-69F28F6D4A1C}" type="slidenum">
              <a:rPr lang="en-US" sz="1000">
                <a:solidFill>
                  <a:srgbClr val="8996A0"/>
                </a:solidFill>
                <a:latin typeface="Arial"/>
              </a:rPr>
              <a:t>41</a:t>
            </a:fld>
            <a:endParaRPr lang="en-US" sz="1000">
              <a:solidFill>
                <a:srgbClr val="8996A0"/>
              </a:solidFill>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icPr>
            <a:picLocks noChangeAspect="1"/>
          </p:cNvPicPr>
          <p:nvPr/>
        </p:nvPicPr>
        <p:blipFill>
          <a:blip r:embed="rId3"/>
          <a:stretch>
            <a:fillRect/>
          </a:stretch>
        </p:blipFill>
        <p:spPr>
          <a:xfrm>
            <a:off x="619963" y="574243"/>
            <a:ext cx="451714" cy="451714"/>
          </a:xfrm>
          <a:prstGeom prst="rect">
            <a:avLst/>
          </a:prstGeom>
        </p:spPr>
      </p:pic>
      <p:sp>
        <p:nvSpPr>
          <p:cNvPr id="4" name="Text 1"/>
          <p:cNvSpPr/>
          <p:nvPr/>
        </p:nvSpPr>
        <p:spPr>
          <a:xfrm>
            <a:off x="1325880" y="548640"/>
            <a:ext cx="9601200" cy="548640"/>
          </a:xfrm>
          <a:prstGeom prst="rect">
            <a:avLst/>
          </a:prstGeom>
          <a:noFill/>
          <a:ln/>
        </p:spPr>
        <p:txBody>
          <a:bodyPr wrap="square" rtlCol="0" anchor="ctr"/>
          <a:lstStyle/>
          <a:p>
            <a:pPr marL="0" indent="0">
              <a:buNone/>
            </a:pPr>
            <a:r>
              <a:rPr lang="en-US" sz="2400" b="1" dirty="0">
                <a:solidFill>
                  <a:srgbClr val="1E1E1E"/>
                </a:solidFill>
                <a:latin typeface="Arial" pitchFamily="34" charset="0"/>
                <a:ea typeface="Cambria" pitchFamily="34" charset="-122"/>
                <a:cs typeface="Cambria" pitchFamily="34" charset="-120"/>
              </a:rPr>
              <a:t>Prompt injection risks and responsible design</a:t>
            </a:r>
            <a:endParaRPr lang="en-US" sz="2400" dirty="0"/>
          </a:p>
        </p:txBody>
      </p:sp>
      <p:sp>
        <p:nvSpPr>
          <p:cNvPr id="5" name="Text 2"/>
          <p:cNvSpPr/>
          <p:nvPr/>
        </p:nvSpPr>
        <p:spPr>
          <a:xfrm>
            <a:off x="640080" y="1207008"/>
            <a:ext cx="10789920" cy="365760"/>
          </a:xfrm>
          <a:prstGeom prst="rect">
            <a:avLst/>
          </a:prstGeom>
          <a:noFill/>
          <a:ln/>
        </p:spPr>
        <p:txBody>
          <a:bodyPr wrap="square" rtlCol="0" anchor="ctr"/>
          <a:lstStyle/>
          <a:p>
            <a:pPr marL="0" indent="0">
              <a:buNone/>
            </a:pPr>
            <a:r>
              <a:rPr lang="en-US" sz="1450" dirty="0">
                <a:solidFill>
                  <a:srgbClr val="1E1E1E"/>
                </a:solidFill>
                <a:latin typeface="Arial" pitchFamily="34" charset="0"/>
                <a:ea typeface="Calibri" pitchFamily="34" charset="-122"/>
                <a:cs typeface="Calibri" pitchFamily="34" charset="-120"/>
              </a:rPr>
              <a:t>A system prompt is not a security boundary. Anything a user can type can attempt to override, extract, or distract from your instructions.</a:t>
            </a:r>
            <a:endParaRPr lang="en-US" sz="1450" dirty="0"/>
          </a:p>
        </p:txBody>
      </p:sp>
      <p:sp>
        <p:nvSpPr>
          <p:cNvPr id="6" name="Shape 3"/>
          <p:cNvSpPr/>
          <p:nvPr/>
        </p:nvSpPr>
        <p:spPr>
          <a:xfrm>
            <a:off x="640080" y="2286000"/>
            <a:ext cx="5455920" cy="1600200"/>
          </a:xfrm>
          <a:prstGeom prst="roundRect">
            <a:avLst>
              <a:gd name="adj" fmla="val 4571"/>
            </a:avLst>
          </a:prstGeom>
          <a:solidFill>
            <a:srgbClr val="1C2B52"/>
          </a:solidFill>
          <a:ln/>
        </p:spPr>
      </p:sp>
      <p:sp>
        <p:nvSpPr>
          <p:cNvPr id="7" name="Text 4"/>
          <p:cNvSpPr/>
          <p:nvPr/>
        </p:nvSpPr>
        <p:spPr>
          <a:xfrm>
            <a:off x="914400" y="2468880"/>
            <a:ext cx="7315200" cy="365760"/>
          </a:xfrm>
          <a:prstGeom prst="rect">
            <a:avLst/>
          </a:prstGeom>
          <a:noFill/>
          <a:ln/>
        </p:spPr>
        <p:txBody>
          <a:bodyPr wrap="square" rtlCol="0" anchor="ctr"/>
          <a:lstStyle/>
          <a:p>
            <a:pPr marL="0" indent="0">
              <a:buNone/>
            </a:pPr>
            <a:r>
              <a:rPr lang="en-US" sz="1500" b="1" dirty="0">
                <a:solidFill>
                  <a:srgbClr val="9A6B2C"/>
                </a:solidFill>
                <a:latin typeface="Arial" pitchFamily="34" charset="0"/>
                <a:ea typeface="Cambria" pitchFamily="34" charset="-122"/>
                <a:cs typeface="Cambria" pitchFamily="34" charset="-120"/>
              </a:rPr>
              <a:t>A pattern to recognize, not to use</a:t>
            </a:r>
            <a:endParaRPr lang="en-US" sz="1500" dirty="0"/>
          </a:p>
        </p:txBody>
      </p:sp>
      <p:sp>
        <p:nvSpPr>
          <p:cNvPr id="8" name="Text 5"/>
          <p:cNvSpPr/>
          <p:nvPr/>
        </p:nvSpPr>
        <p:spPr>
          <a:xfrm>
            <a:off x="729465" y="2880360"/>
            <a:ext cx="5260369" cy="914400"/>
          </a:xfrm>
          <a:prstGeom prst="rect">
            <a:avLst/>
          </a:prstGeom>
          <a:noFill/>
          <a:ln/>
        </p:spPr>
        <p:txBody>
          <a:bodyPr wrap="square" rtlCol="0" anchor="ctr"/>
          <a:lstStyle/>
          <a:p>
            <a:pPr marL="0" indent="0">
              <a:lnSpc>
                <a:spcPct val="125000"/>
              </a:lnSpc>
              <a:buNone/>
            </a:pPr>
            <a:r>
              <a:rPr lang="en-US" sz="1200" dirty="0">
                <a:solidFill>
                  <a:srgbClr val="E4E9F5"/>
                </a:solidFill>
                <a:latin typeface="Arial" pitchFamily="34" charset="0"/>
                <a:ea typeface="Calibri" pitchFamily="34" charset="-122"/>
                <a:cs typeface="Calibri" pitchFamily="34" charset="-120"/>
              </a:rPr>
              <a:t>Some attacks split a disallowed request into smaller, innocuous looking sub questions, then ask the model to combine the answers into the original request. Nothing in any single piece looks like a violation on its own. This is why boundaries need to describe intent, not just list forbidden keywords.</a:t>
            </a:r>
            <a:endParaRPr lang="en-US" sz="1200" dirty="0"/>
          </a:p>
        </p:txBody>
      </p:sp>
      <p:sp>
        <p:nvSpPr>
          <p:cNvPr id="9" name="Text 6"/>
          <p:cNvSpPr/>
          <p:nvPr/>
        </p:nvSpPr>
        <p:spPr>
          <a:xfrm>
            <a:off x="640080" y="4160520"/>
            <a:ext cx="4990158" cy="457200"/>
          </a:xfrm>
          <a:prstGeom prst="rect">
            <a:avLst/>
          </a:prstGeom>
          <a:noFill/>
          <a:ln/>
        </p:spPr>
        <p:txBody>
          <a:bodyPr wrap="square" rtlCol="0" anchor="ctr"/>
          <a:lstStyle/>
          <a:p>
            <a:pPr marL="342900" indent="-342900">
              <a:buSzPct val="100000"/>
              <a:buChar char="•"/>
            </a:pPr>
            <a:r>
              <a:rPr lang="en-US" sz="1350" dirty="0">
                <a:solidFill>
                  <a:srgbClr val="1E1E1E"/>
                </a:solidFill>
                <a:latin typeface="Arial" pitchFamily="34" charset="0"/>
                <a:ea typeface="Calibri" pitchFamily="34" charset="-122"/>
                <a:cs typeface="Calibri" pitchFamily="34" charset="-120"/>
              </a:rPr>
              <a:t>Never trust a system prompt alone to enforce safety or business rules, validate on the backend too.</a:t>
            </a:r>
            <a:endParaRPr lang="en-US" sz="1350" dirty="0"/>
          </a:p>
        </p:txBody>
      </p:sp>
      <p:sp>
        <p:nvSpPr>
          <p:cNvPr id="10" name="Text 7"/>
          <p:cNvSpPr/>
          <p:nvPr/>
        </p:nvSpPr>
        <p:spPr>
          <a:xfrm>
            <a:off x="640080" y="4727448"/>
            <a:ext cx="4990158" cy="457200"/>
          </a:xfrm>
          <a:prstGeom prst="rect">
            <a:avLst/>
          </a:prstGeom>
          <a:noFill/>
          <a:ln/>
        </p:spPr>
        <p:txBody>
          <a:bodyPr wrap="square" rtlCol="0" anchor="ctr"/>
          <a:lstStyle/>
          <a:p>
            <a:pPr marL="342900" indent="-342900">
              <a:buSzPct val="100000"/>
              <a:buChar char="•"/>
            </a:pPr>
            <a:r>
              <a:rPr lang="en-US" sz="1350" dirty="0">
                <a:solidFill>
                  <a:srgbClr val="1E1E1E"/>
                </a:solidFill>
                <a:latin typeface="Arial" pitchFamily="34" charset="0"/>
                <a:ea typeface="Calibri" pitchFamily="34" charset="-122"/>
                <a:cs typeface="Calibri" pitchFamily="34" charset="-120"/>
              </a:rPr>
              <a:t>Log and review unusual inputs the way you would review unusual trades.</a:t>
            </a:r>
            <a:endParaRPr lang="en-US" sz="1350" dirty="0"/>
          </a:p>
        </p:txBody>
      </p:sp>
      <p:sp>
        <p:nvSpPr>
          <p:cNvPr id="11" name="Text 8"/>
          <p:cNvSpPr/>
          <p:nvPr/>
        </p:nvSpPr>
        <p:spPr>
          <a:xfrm>
            <a:off x="640080" y="5294376"/>
            <a:ext cx="4990158" cy="457200"/>
          </a:xfrm>
          <a:prstGeom prst="rect">
            <a:avLst/>
          </a:prstGeom>
          <a:noFill/>
          <a:ln/>
        </p:spPr>
        <p:txBody>
          <a:bodyPr wrap="square" rtlCol="0" anchor="ctr"/>
          <a:lstStyle/>
          <a:p>
            <a:pPr marL="342900" indent="-342900">
              <a:buSzPct val="100000"/>
              <a:buChar char="•"/>
            </a:pPr>
            <a:r>
              <a:rPr lang="en-US" sz="1350" dirty="0">
                <a:solidFill>
                  <a:srgbClr val="1E1E1E"/>
                </a:solidFill>
                <a:latin typeface="Arial" pitchFamily="34" charset="0"/>
                <a:ea typeface="Calibri" pitchFamily="34" charset="-122"/>
                <a:cs typeface="Calibri" pitchFamily="34" charset="-120"/>
              </a:rPr>
              <a:t>If your app touches money or personal data, treat prompt handling with the same care as authentication.</a:t>
            </a:r>
            <a:endParaRPr lang="en-US" sz="1350" dirty="0"/>
          </a:p>
        </p:txBody>
      </p:sp>
      <p:pic>
        <p:nvPicPr>
          <p:cNvPr id="14" name="Picture 13">
            <a:extLst>
              <a:ext uri="{FF2B5EF4-FFF2-40B4-BE49-F238E27FC236}">
                <a16:creationId xmlns:a16="http://schemas.microsoft.com/office/drawing/2014/main" id="{E06FFE95-3CF3-1553-A0EB-DC45A92FDB32}"/>
              </a:ext>
            </a:extLst>
          </p:cNvPr>
          <p:cNvPicPr>
            <a:picLocks noChangeAspect="1"/>
          </p:cNvPicPr>
          <p:nvPr/>
        </p:nvPicPr>
        <p:blipFill>
          <a:blip r:embed="rId4"/>
          <a:stretch>
            <a:fillRect/>
          </a:stretch>
        </p:blipFill>
        <p:spPr>
          <a:xfrm>
            <a:off x="6561764" y="2146129"/>
            <a:ext cx="5221476" cy="3754463"/>
          </a:xfrm>
          <a:prstGeom prst="rect">
            <a:avLst/>
          </a:prstGeom>
        </p:spPr>
      </p:pic>
      <p:sp>
        <p:nvSpPr>
          <p:cNvPr id="15"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6" name="Harvard Page Number"/>
          <p:cNvSpPr txBox="1"/>
          <p:nvPr/>
        </p:nvSpPr>
        <p:spPr>
          <a:xfrm>
            <a:off x="11730577" y="6446043"/>
            <a:ext cx="324104" cy="274638"/>
          </a:xfrm>
          <a:prstGeom prst="rect">
            <a:avLst/>
          </a:prstGeom>
          <a:noFill/>
        </p:spPr>
        <p:txBody>
          <a:bodyPr wrap="none" lIns="0" tIns="0" rIns="0" bIns="0">
            <a:noAutofit/>
          </a:bodyPr>
          <a:lstStyle/>
          <a:p>
            <a:pPr algn="r"/>
            <a:fld id="{97015812-8093-4EB6-9992-DA3416845C0A}" type="slidenum">
              <a:rPr lang="en-US" sz="1000">
                <a:solidFill>
                  <a:srgbClr val="8996A0"/>
                </a:solidFill>
                <a:latin typeface="Arial"/>
              </a:rPr>
              <a:t>42</a:t>
            </a:fld>
            <a:endParaRPr lang="en-US" sz="1000">
              <a:solidFill>
                <a:srgbClr val="8996A0"/>
              </a:solidFill>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icPr>
            <a:picLocks noChangeAspect="1"/>
          </p:cNvPicPr>
          <p:nvPr/>
        </p:nvPicPr>
        <p:blipFill>
          <a:blip r:embed="rId3"/>
          <a:stretch>
            <a:fillRect/>
          </a:stretch>
        </p:blipFill>
        <p:spPr>
          <a:xfrm>
            <a:off x="614477" y="523037"/>
            <a:ext cx="416966" cy="416966"/>
          </a:xfrm>
          <a:prstGeom prst="rect">
            <a:avLst/>
          </a:prstGeom>
        </p:spPr>
      </p:pic>
      <p:sp>
        <p:nvSpPr>
          <p:cNvPr id="4" name="Text 1"/>
          <p:cNvSpPr/>
          <p:nvPr/>
        </p:nvSpPr>
        <p:spPr>
          <a:xfrm>
            <a:off x="1280160" y="502920"/>
            <a:ext cx="8229600" cy="548640"/>
          </a:xfrm>
          <a:prstGeom prst="rect">
            <a:avLst/>
          </a:prstGeom>
          <a:noFill/>
          <a:ln/>
        </p:spPr>
        <p:txBody>
          <a:bodyPr wrap="square" rtlCol="0" anchor="ctr"/>
          <a:lstStyle/>
          <a:p>
            <a:pPr marL="0" indent="0">
              <a:buNone/>
            </a:pPr>
            <a:r>
              <a:rPr lang="en-US" sz="2600" b="1" dirty="0">
                <a:solidFill>
                  <a:srgbClr val="14213D"/>
                </a:solidFill>
                <a:latin typeface="Arial" pitchFamily="34" charset="0"/>
                <a:ea typeface="Cambria" pitchFamily="34" charset="-122"/>
                <a:cs typeface="Cambria" pitchFamily="34" charset="-120"/>
              </a:rPr>
              <a:t>Before you break for lunch</a:t>
            </a:r>
            <a:endParaRPr lang="en-US" sz="2600" dirty="0"/>
          </a:p>
        </p:txBody>
      </p:sp>
      <p:sp>
        <p:nvSpPr>
          <p:cNvPr id="5" name="Shape 2"/>
          <p:cNvSpPr/>
          <p:nvPr/>
        </p:nvSpPr>
        <p:spPr>
          <a:xfrm>
            <a:off x="548640" y="1371600"/>
            <a:ext cx="11064240" cy="777240"/>
          </a:xfrm>
          <a:prstGeom prst="roundRect">
            <a:avLst>
              <a:gd name="adj" fmla="val 8235"/>
            </a:avLst>
          </a:prstGeom>
          <a:solidFill>
            <a:srgbClr val="FFFFFF"/>
          </a:solidFill>
          <a:ln/>
          <a:effectLst>
            <a:outerShdw blurRad="63500" dist="25400" dir="5400000" algn="bl" rotWithShape="0">
              <a:srgbClr val="1E1E1E">
                <a:alpha val="8000"/>
              </a:srgbClr>
            </a:outerShdw>
          </a:effectLst>
        </p:spPr>
      </p:sp>
      <p:sp>
        <p:nvSpPr>
          <p:cNvPr id="6" name="Shape 3"/>
          <p:cNvSpPr/>
          <p:nvPr/>
        </p:nvSpPr>
        <p:spPr>
          <a:xfrm>
            <a:off x="731520" y="1508760"/>
            <a:ext cx="502920" cy="502920"/>
          </a:xfrm>
          <a:prstGeom prst="ellipse">
            <a:avLst/>
          </a:prstGeom>
          <a:solidFill>
            <a:srgbClr val="F1EEE3"/>
          </a:solidFill>
          <a:ln/>
        </p:spPr>
      </p:sp>
      <p:pic>
        <p:nvPicPr>
          <p:cNvPr id="7" name="Image 1" descr="preencoded.png"/>
          <p:cNvPicPr>
            <a:picLocks noChangeAspect="1"/>
          </p:cNvPicPr>
          <p:nvPr/>
        </p:nvPicPr>
        <p:blipFill>
          <a:blip r:embed="rId4"/>
          <a:stretch>
            <a:fillRect/>
          </a:stretch>
        </p:blipFill>
        <p:spPr>
          <a:xfrm>
            <a:off x="791870" y="1569110"/>
            <a:ext cx="382219" cy="382219"/>
          </a:xfrm>
          <a:prstGeom prst="rect">
            <a:avLst/>
          </a:prstGeom>
        </p:spPr>
      </p:pic>
      <p:sp>
        <p:nvSpPr>
          <p:cNvPr id="8" name="Text 4"/>
          <p:cNvSpPr/>
          <p:nvPr/>
        </p:nvSpPr>
        <p:spPr>
          <a:xfrm>
            <a:off x="1417320" y="1463040"/>
            <a:ext cx="9966960" cy="594360"/>
          </a:xfrm>
          <a:prstGeom prst="rect">
            <a:avLst/>
          </a:prstGeom>
          <a:noFill/>
          <a:ln/>
        </p:spPr>
        <p:txBody>
          <a:bodyPr wrap="square" rtlCol="0" anchor="ctr"/>
          <a:lstStyle/>
          <a:p>
            <a:pPr marL="0" indent="0">
              <a:buNone/>
            </a:pPr>
            <a:r>
              <a:rPr lang="en-US" sz="1400" dirty="0">
                <a:solidFill>
                  <a:srgbClr val="14213D"/>
                </a:solidFill>
                <a:latin typeface="Arial" pitchFamily="34" charset="0"/>
                <a:ea typeface="Calibri" pitchFamily="34" charset="-122"/>
                <a:cs typeface="Calibri" pitchFamily="34" charset="-120"/>
              </a:rPr>
              <a:t>Save your best system prompt from the JSON exercise to your repo.</a:t>
            </a:r>
            <a:endParaRPr lang="en-US" sz="1400" dirty="0"/>
          </a:p>
        </p:txBody>
      </p:sp>
      <p:sp>
        <p:nvSpPr>
          <p:cNvPr id="9" name="Shape 5"/>
          <p:cNvSpPr/>
          <p:nvPr/>
        </p:nvSpPr>
        <p:spPr>
          <a:xfrm>
            <a:off x="548640" y="2267712"/>
            <a:ext cx="11064240" cy="777240"/>
          </a:xfrm>
          <a:prstGeom prst="roundRect">
            <a:avLst>
              <a:gd name="adj" fmla="val 8235"/>
            </a:avLst>
          </a:prstGeom>
          <a:solidFill>
            <a:srgbClr val="FFFFFF"/>
          </a:solidFill>
          <a:ln/>
          <a:effectLst>
            <a:outerShdw blurRad="63500" dist="25400" dir="5400000" algn="bl" rotWithShape="0">
              <a:srgbClr val="1E1E1E">
                <a:alpha val="8000"/>
              </a:srgbClr>
            </a:outerShdw>
          </a:effectLst>
        </p:spPr>
      </p:sp>
      <p:sp>
        <p:nvSpPr>
          <p:cNvPr id="10" name="Shape 6"/>
          <p:cNvSpPr/>
          <p:nvPr/>
        </p:nvSpPr>
        <p:spPr>
          <a:xfrm>
            <a:off x="731520" y="2404872"/>
            <a:ext cx="502920" cy="502920"/>
          </a:xfrm>
          <a:prstGeom prst="ellipse">
            <a:avLst/>
          </a:prstGeom>
          <a:solidFill>
            <a:srgbClr val="F1EEE3"/>
          </a:solidFill>
          <a:ln/>
        </p:spPr>
      </p:sp>
      <p:pic>
        <p:nvPicPr>
          <p:cNvPr id="11" name="Image 2" descr="preencoded.png"/>
          <p:cNvPicPr>
            <a:picLocks noChangeAspect="1"/>
          </p:cNvPicPr>
          <p:nvPr/>
        </p:nvPicPr>
        <p:blipFill>
          <a:blip r:embed="rId4"/>
          <a:stretch>
            <a:fillRect/>
          </a:stretch>
        </p:blipFill>
        <p:spPr>
          <a:xfrm>
            <a:off x="791870" y="2465222"/>
            <a:ext cx="382219" cy="382219"/>
          </a:xfrm>
          <a:prstGeom prst="rect">
            <a:avLst/>
          </a:prstGeom>
        </p:spPr>
      </p:pic>
      <p:sp>
        <p:nvSpPr>
          <p:cNvPr id="12" name="Text 7"/>
          <p:cNvSpPr/>
          <p:nvPr/>
        </p:nvSpPr>
        <p:spPr>
          <a:xfrm>
            <a:off x="1417320" y="2359152"/>
            <a:ext cx="9966960" cy="594360"/>
          </a:xfrm>
          <a:prstGeom prst="rect">
            <a:avLst/>
          </a:prstGeom>
          <a:noFill/>
          <a:ln/>
        </p:spPr>
        <p:txBody>
          <a:bodyPr wrap="square" rtlCol="0" anchor="ctr"/>
          <a:lstStyle/>
          <a:p>
            <a:pPr marL="0" indent="0">
              <a:buNone/>
            </a:pPr>
            <a:r>
              <a:rPr lang="en-US" sz="1400" dirty="0">
                <a:solidFill>
                  <a:srgbClr val="14213D"/>
                </a:solidFill>
                <a:latin typeface="Arial" pitchFamily="34" charset="0"/>
                <a:ea typeface="Calibri" pitchFamily="34" charset="-122"/>
                <a:cs typeface="Calibri" pitchFamily="34" charset="-120"/>
              </a:rPr>
              <a:t>Name what changed if you revised it: what did not work in the first version?</a:t>
            </a:r>
            <a:endParaRPr lang="en-US" sz="1400" dirty="0"/>
          </a:p>
        </p:txBody>
      </p:sp>
      <p:sp>
        <p:nvSpPr>
          <p:cNvPr id="13" name="Shape 8"/>
          <p:cNvSpPr/>
          <p:nvPr/>
        </p:nvSpPr>
        <p:spPr>
          <a:xfrm>
            <a:off x="548640" y="3163824"/>
            <a:ext cx="11064240" cy="777240"/>
          </a:xfrm>
          <a:prstGeom prst="roundRect">
            <a:avLst>
              <a:gd name="adj" fmla="val 8235"/>
            </a:avLst>
          </a:prstGeom>
          <a:solidFill>
            <a:srgbClr val="FFFFFF"/>
          </a:solidFill>
          <a:ln/>
          <a:effectLst>
            <a:outerShdw blurRad="63500" dist="25400" dir="5400000" algn="bl" rotWithShape="0">
              <a:srgbClr val="1E1E1E">
                <a:alpha val="8000"/>
              </a:srgbClr>
            </a:outerShdw>
          </a:effectLst>
        </p:spPr>
      </p:sp>
      <p:sp>
        <p:nvSpPr>
          <p:cNvPr id="14" name="Shape 9"/>
          <p:cNvSpPr/>
          <p:nvPr/>
        </p:nvSpPr>
        <p:spPr>
          <a:xfrm>
            <a:off x="731520" y="3300984"/>
            <a:ext cx="502920" cy="502920"/>
          </a:xfrm>
          <a:prstGeom prst="ellipse">
            <a:avLst/>
          </a:prstGeom>
          <a:solidFill>
            <a:srgbClr val="F1EEE3"/>
          </a:solidFill>
          <a:ln/>
        </p:spPr>
      </p:sp>
      <p:pic>
        <p:nvPicPr>
          <p:cNvPr id="15" name="Image 3" descr="preencoded.png"/>
          <p:cNvPicPr>
            <a:picLocks noChangeAspect="1"/>
          </p:cNvPicPr>
          <p:nvPr/>
        </p:nvPicPr>
        <p:blipFill>
          <a:blip r:embed="rId4"/>
          <a:stretch>
            <a:fillRect/>
          </a:stretch>
        </p:blipFill>
        <p:spPr>
          <a:xfrm>
            <a:off x="791870" y="3361334"/>
            <a:ext cx="382219" cy="382219"/>
          </a:xfrm>
          <a:prstGeom prst="rect">
            <a:avLst/>
          </a:prstGeom>
        </p:spPr>
      </p:pic>
      <p:sp>
        <p:nvSpPr>
          <p:cNvPr id="16" name="Text 10"/>
          <p:cNvSpPr/>
          <p:nvPr/>
        </p:nvSpPr>
        <p:spPr>
          <a:xfrm>
            <a:off x="1417320" y="3255264"/>
            <a:ext cx="9966960" cy="594360"/>
          </a:xfrm>
          <a:prstGeom prst="rect">
            <a:avLst/>
          </a:prstGeom>
          <a:noFill/>
          <a:ln/>
        </p:spPr>
        <p:txBody>
          <a:bodyPr wrap="square" rtlCol="0" anchor="ctr"/>
          <a:lstStyle/>
          <a:p>
            <a:pPr marL="0" indent="0">
              <a:buNone/>
            </a:pPr>
            <a:r>
              <a:rPr lang="en-US" sz="1400" dirty="0">
                <a:solidFill>
                  <a:srgbClr val="14213D"/>
                </a:solidFill>
                <a:latin typeface="Arial" pitchFamily="34" charset="0"/>
                <a:ea typeface="Calibri" pitchFamily="34" charset="-122"/>
                <a:cs typeface="Calibri" pitchFamily="34" charset="-120"/>
              </a:rPr>
              <a:t>Keep role, context, task, format, and constraints in mind for every prompt this afternoon.</a:t>
            </a:r>
            <a:endParaRPr lang="en-US" sz="1400" dirty="0"/>
          </a:p>
        </p:txBody>
      </p:sp>
      <p:sp>
        <p:nvSpPr>
          <p:cNvPr id="17" name="Shape 11"/>
          <p:cNvSpPr/>
          <p:nvPr/>
        </p:nvSpPr>
        <p:spPr>
          <a:xfrm>
            <a:off x="548640" y="4059936"/>
            <a:ext cx="11064240" cy="777240"/>
          </a:xfrm>
          <a:prstGeom prst="roundRect">
            <a:avLst>
              <a:gd name="adj" fmla="val 8235"/>
            </a:avLst>
          </a:prstGeom>
          <a:solidFill>
            <a:srgbClr val="FFFFFF"/>
          </a:solidFill>
          <a:ln/>
          <a:effectLst>
            <a:outerShdw blurRad="63500" dist="25400" dir="5400000" algn="bl" rotWithShape="0">
              <a:srgbClr val="1E1E1E">
                <a:alpha val="8000"/>
              </a:srgbClr>
            </a:outerShdw>
          </a:effectLst>
        </p:spPr>
      </p:sp>
      <p:sp>
        <p:nvSpPr>
          <p:cNvPr id="18" name="Shape 12"/>
          <p:cNvSpPr/>
          <p:nvPr/>
        </p:nvSpPr>
        <p:spPr>
          <a:xfrm>
            <a:off x="731520" y="4197096"/>
            <a:ext cx="502920" cy="502920"/>
          </a:xfrm>
          <a:prstGeom prst="ellipse">
            <a:avLst/>
          </a:prstGeom>
          <a:solidFill>
            <a:srgbClr val="F1EEE3"/>
          </a:solidFill>
          <a:ln/>
        </p:spPr>
      </p:sp>
      <p:pic>
        <p:nvPicPr>
          <p:cNvPr id="19" name="Image 4" descr="preencoded.png"/>
          <p:cNvPicPr>
            <a:picLocks noChangeAspect="1"/>
          </p:cNvPicPr>
          <p:nvPr/>
        </p:nvPicPr>
        <p:blipFill>
          <a:blip r:embed="rId4"/>
          <a:stretch>
            <a:fillRect/>
          </a:stretch>
        </p:blipFill>
        <p:spPr>
          <a:xfrm>
            <a:off x="791870" y="4257446"/>
            <a:ext cx="382219" cy="382219"/>
          </a:xfrm>
          <a:prstGeom prst="rect">
            <a:avLst/>
          </a:prstGeom>
        </p:spPr>
      </p:pic>
      <p:sp>
        <p:nvSpPr>
          <p:cNvPr id="20" name="Text 13"/>
          <p:cNvSpPr/>
          <p:nvPr/>
        </p:nvSpPr>
        <p:spPr>
          <a:xfrm>
            <a:off x="1417320" y="4151376"/>
            <a:ext cx="9966960" cy="594360"/>
          </a:xfrm>
          <a:prstGeom prst="rect">
            <a:avLst/>
          </a:prstGeom>
          <a:noFill/>
          <a:ln/>
        </p:spPr>
        <p:txBody>
          <a:bodyPr wrap="square" rtlCol="0" anchor="ctr"/>
          <a:lstStyle/>
          <a:p>
            <a:pPr marL="0" indent="0">
              <a:buNone/>
            </a:pPr>
            <a:r>
              <a:rPr lang="en-US" sz="1400" dirty="0">
                <a:solidFill>
                  <a:srgbClr val="14213D"/>
                </a:solidFill>
                <a:latin typeface="Arial" pitchFamily="34" charset="0"/>
                <a:ea typeface="Calibri" pitchFamily="34" charset="-122"/>
                <a:cs typeface="Calibri" pitchFamily="34" charset="-120"/>
              </a:rPr>
              <a:t>Remember: a system prompt shapes behavior, it does not guarantee safety.</a:t>
            </a:r>
            <a:endParaRPr lang="en-US" sz="1400" dirty="0"/>
          </a:p>
        </p:txBody>
      </p:sp>
      <p:sp>
        <p:nvSpPr>
          <p:cNvPr id="21" name="Text 14"/>
          <p:cNvSpPr/>
          <p:nvPr/>
        </p:nvSpPr>
        <p:spPr>
          <a:xfrm>
            <a:off x="548640" y="5257800"/>
            <a:ext cx="10972800" cy="457200"/>
          </a:xfrm>
          <a:prstGeom prst="rect">
            <a:avLst/>
          </a:prstGeom>
          <a:noFill/>
          <a:ln/>
        </p:spPr>
        <p:txBody>
          <a:bodyPr wrap="square" rtlCol="0" anchor="ctr"/>
          <a:lstStyle/>
          <a:p>
            <a:pPr marL="0" indent="0">
              <a:buNone/>
            </a:pPr>
            <a:r>
              <a:rPr lang="en-US" sz="1450" i="1" dirty="0">
                <a:solidFill>
                  <a:srgbClr val="9A6B2C"/>
                </a:solidFill>
                <a:latin typeface="Arial" pitchFamily="34" charset="0"/>
                <a:ea typeface="Cambria" pitchFamily="34" charset="-122"/>
                <a:cs typeface="Cambria" pitchFamily="34" charset="-120"/>
              </a:rPr>
              <a:t>Next: Vibe Coding Best Practices, then the Repo 1 Build this afternoon.</a:t>
            </a:r>
            <a:endParaRPr lang="en-US" sz="1450" dirty="0"/>
          </a:p>
        </p:txBody>
      </p:sp>
      <p:sp>
        <p:nvSpPr>
          <p:cNvPr id="22"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23" name="Harvard Page Number"/>
          <p:cNvSpPr txBox="1"/>
          <p:nvPr/>
        </p:nvSpPr>
        <p:spPr>
          <a:xfrm>
            <a:off x="11730577" y="6446043"/>
            <a:ext cx="324104" cy="274638"/>
          </a:xfrm>
          <a:prstGeom prst="rect">
            <a:avLst/>
          </a:prstGeom>
          <a:noFill/>
        </p:spPr>
        <p:txBody>
          <a:bodyPr wrap="none" lIns="0" tIns="0" rIns="0" bIns="0">
            <a:noAutofit/>
          </a:bodyPr>
          <a:lstStyle/>
          <a:p>
            <a:pPr algn="r"/>
            <a:fld id="{26F12356-49D0-46A5-81A3-3890E4279781}" type="slidenum">
              <a:rPr lang="en-US" sz="1000">
                <a:solidFill>
                  <a:srgbClr val="8996A0"/>
                </a:solidFill>
                <a:latin typeface="Arial"/>
              </a:rPr>
              <a:t>43</a:t>
            </a:fld>
            <a:endParaRPr lang="en-US" sz="1000">
              <a:solidFill>
                <a:srgbClr val="8996A0"/>
              </a:solidFill>
              <a:latin typeface="Aria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rgbClr val="1E1E1E"/>
      </a:dk1>
      <a:lt1>
        <a:srgbClr val="FFFFFF"/>
      </a:lt1>
      <a:dk2>
        <a:srgbClr val="293352"/>
      </a:dk2>
      <a:lt2>
        <a:srgbClr val="F3F3F1"/>
      </a:lt2>
      <a:accent1>
        <a:srgbClr val="A51C30"/>
      </a:accent1>
      <a:accent2>
        <a:srgbClr val="293352"/>
      </a:accent2>
      <a:accent3>
        <a:srgbClr val="4E84C4"/>
      </a:accent3>
      <a:accent4>
        <a:srgbClr val="C4961A"/>
      </a:accent4>
      <a:accent5>
        <a:srgbClr val="8996A0"/>
      </a:accent5>
      <a:accent6>
        <a:srgbClr val="1E1E1E"/>
      </a:accent6>
      <a:hlink>
        <a:srgbClr val="4E84C4"/>
      </a:hlink>
      <a:folHlink>
        <a:srgbClr val="946EB7"/>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1E1E1E"/>
      </a:dk1>
      <a:lt1>
        <a:srgbClr val="FFFFFF"/>
      </a:lt1>
      <a:dk2>
        <a:srgbClr val="293352"/>
      </a:dk2>
      <a:lt2>
        <a:srgbClr val="F3F3F1"/>
      </a:lt2>
      <a:accent1>
        <a:srgbClr val="A51C30"/>
      </a:accent1>
      <a:accent2>
        <a:srgbClr val="293352"/>
      </a:accent2>
      <a:accent3>
        <a:srgbClr val="4E84C4"/>
      </a:accent3>
      <a:accent4>
        <a:srgbClr val="C4961A"/>
      </a:accent4>
      <a:accent5>
        <a:srgbClr val="8996A0"/>
      </a:accent5>
      <a:accent6>
        <a:srgbClr val="1E1E1E"/>
      </a:accent6>
      <a:hlink>
        <a:srgbClr val="4E84C4"/>
      </a:hlink>
      <a:folHlink>
        <a:srgbClr val="946EB7"/>
      </a:folHlink>
    </a:clrScheme>
    <a:fontScheme name="Office">
      <a:majorFont>
        <a:latin typeface="Arial"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DT 2023">
      <a:dk1>
        <a:srgbClr val="1E1E1E"/>
      </a:dk1>
      <a:lt1>
        <a:srgbClr val="FFFFFF"/>
      </a:lt1>
      <a:dk2>
        <a:srgbClr val="293352"/>
      </a:dk2>
      <a:lt2>
        <a:srgbClr val="F3F3F1"/>
      </a:lt2>
      <a:accent1>
        <a:srgbClr val="A51C30"/>
      </a:accent1>
      <a:accent2>
        <a:srgbClr val="293352"/>
      </a:accent2>
      <a:accent3>
        <a:srgbClr val="4E84C4"/>
      </a:accent3>
      <a:accent4>
        <a:srgbClr val="C4961A"/>
      </a:accent4>
      <a:accent5>
        <a:srgbClr val="8996A0"/>
      </a:accent5>
      <a:accent6>
        <a:srgbClr val="1E1E1E"/>
      </a:accent6>
      <a:hlink>
        <a:srgbClr val="4E84C4"/>
      </a:hlink>
      <a:folHlink>
        <a:srgbClr val="946EB7"/>
      </a:folHlink>
    </a:clrScheme>
    <a:fontScheme name="Custom 1">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2700">
          <a:solidFill>
            <a:schemeClr val="bg2"/>
          </a:solidFill>
        </a:ln>
      </a:spPr>
      <a:bodyPr rtlCol="0" anchor="ctr"/>
      <a:lstStyle>
        <a:defPPr algn="ctr">
          <a:defRPr sz="12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ctr">
          <a:defRPr dirty="0" smtClean="0">
            <a:solidFill>
              <a:schemeClr val="bg2"/>
            </a:solidFill>
          </a:defRPr>
        </a:defPPr>
      </a:lstStyle>
    </a:txDef>
  </a:objectDefaults>
  <a:extraClrSchemeLst/>
  <a:extLst>
    <a:ext uri="{05A4C25C-085E-4340-85A3-A5531E510DB2}">
      <thm15:themeFamily xmlns:thm15="http://schemas.microsoft.com/office/thememl/2012/main" name="Office Theme" id="{2BBBCF5D-C9F2-43A8-A9F4-217604593F8D}" vid="{7EADAB52-8EFB-4C0A-8D56-13CF97080345}"/>
    </a:ext>
  </a:extLst>
</a:theme>
</file>

<file path=ppt/theme/theme4.xml><?xml version="1.0" encoding="utf-8"?>
<a:theme xmlns:a="http://schemas.openxmlformats.org/drawingml/2006/main" name="DataRobot – Presentation Master Dark">
  <a:themeElements>
    <a:clrScheme name="DataRobot – Presentation Master Dark">
      <a:dk1>
        <a:srgbClr val="1E1E1E"/>
      </a:dk1>
      <a:lt1>
        <a:srgbClr val="FFFFFF"/>
      </a:lt1>
      <a:dk2>
        <a:srgbClr val="293352"/>
      </a:dk2>
      <a:lt2>
        <a:srgbClr val="F3F3F1"/>
      </a:lt2>
      <a:accent1>
        <a:srgbClr val="A51C30"/>
      </a:accent1>
      <a:accent2>
        <a:srgbClr val="293352"/>
      </a:accent2>
      <a:accent3>
        <a:srgbClr val="4E84C4"/>
      </a:accent3>
      <a:accent4>
        <a:srgbClr val="C4961A"/>
      </a:accent4>
      <a:accent5>
        <a:srgbClr val="8996A0"/>
      </a:accent5>
      <a:accent6>
        <a:srgbClr val="1E1E1E"/>
      </a:accent6>
      <a:hlink>
        <a:srgbClr val="4E84C4"/>
      </a:hlink>
      <a:folHlink>
        <a:srgbClr val="946EB7"/>
      </a:folHlink>
    </a:clrScheme>
    <a:fontScheme name="DataRobot – Presentation Master Dark">
      <a:majorFont>
        <a:latin typeface="Arial"/>
        <a:ea typeface="Arial"/>
        <a:cs typeface="Arial"/>
      </a:majorFont>
      <a:minorFont>
        <a:latin typeface="Arial"/>
        <a:ea typeface="Helvetica"/>
        <a:cs typeface="Helvetica"/>
      </a:minorFont>
    </a:fontScheme>
    <a:fmtScheme name="DataRobot – Presentation Master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6835</TotalTime>
  <Words>5160</Words>
  <Application>Microsoft Macintosh PowerPoint</Application>
  <PresentationFormat>Widescreen</PresentationFormat>
  <Paragraphs>626</Paragraphs>
  <Slides>43</Slides>
  <Notes>36</Notes>
  <HiddenSlides>1</HiddenSlides>
  <MMClips>3</MMClips>
  <ScaleCrop>false</ScaleCrop>
  <HeadingPairs>
    <vt:vector size="8" baseType="variant">
      <vt:variant>
        <vt:lpstr>Fonts Used</vt:lpstr>
      </vt:variant>
      <vt:variant>
        <vt:i4>6</vt:i4>
      </vt:variant>
      <vt:variant>
        <vt:lpstr>Theme</vt:lpstr>
      </vt:variant>
      <vt:variant>
        <vt:i4>4</vt:i4>
      </vt:variant>
      <vt:variant>
        <vt:lpstr>Embedded OLE Servers</vt:lpstr>
      </vt:variant>
      <vt:variant>
        <vt:i4>1</vt:i4>
      </vt:variant>
      <vt:variant>
        <vt:lpstr>Slide Titles</vt:lpstr>
      </vt:variant>
      <vt:variant>
        <vt:i4>43</vt:i4>
      </vt:variant>
    </vt:vector>
  </HeadingPairs>
  <TitlesOfParts>
    <vt:vector size="54" baseType="lpstr">
      <vt:lpstr>Aptos</vt:lpstr>
      <vt:lpstr>Arial</vt:lpstr>
      <vt:lpstr>Calibri</vt:lpstr>
      <vt:lpstr>Courier New</vt:lpstr>
      <vt:lpstr>Helvetica</vt:lpstr>
      <vt:lpstr>Wingdings</vt:lpstr>
      <vt:lpstr>Office Theme</vt:lpstr>
      <vt:lpstr>1_Office Theme</vt:lpstr>
      <vt:lpstr>2_Office Theme</vt:lpstr>
      <vt:lpstr>DataRobot – Presentation Master Dark</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Fundamental differences </vt:lpstr>
      <vt:lpstr>What's going on in the background? </vt:lpstr>
      <vt:lpstr>Core concept of LLMs: Models have different weights</vt:lpstr>
      <vt:lpstr>Words are represented as vectors of numbers (embeddings) that place similar meanings near each other, learned from how tokens co-occur across training data. The model's weights are the learned parameters that predict the next token.</vt:lpstr>
      <vt:lpstr>In a hyperspace words &amp; concepts are identified in close proximity.</vt:lpstr>
      <vt:lpstr>In the background, models are made of weights making probabilistic predictions of the next token. </vt:lpstr>
      <vt:lpstr>We see variability since AI output is probabilistic token by token. </vt:lpstr>
      <vt:lpstr>Frontier vs Open-Weight — the Gap is Closing Fast </vt:lpstr>
      <vt:lpstr>Is Generative AI a new frontier for the business world?</vt:lpstr>
      <vt:lpstr>AI is currently in a hyperbolic capability curve.</vt:lpstr>
      <vt:lpstr>And organizations are choking on the bills</vt:lpstr>
      <vt:lpstr>Model Distillation (Weight Copying) is affecting the industry.</vt:lpstr>
      <vt:lpstr>If you rent your model you pay for consumption in tokens.</vt:lpstr>
      <vt:lpstr>PowerPoint Presentation</vt:lpstr>
      <vt:lpstr>PowerPoint Presentation</vt:lpstr>
      <vt:lpstr>PowerPoint Presentation</vt:lpstr>
      <vt:lpstr>Organizations can save with caching &amp; self-hosting  [besides moving to cheaper/open-weight models]</vt:lpstr>
      <vt:lpstr>Organizations can reduce costs in various ways</vt:lpstr>
      <vt:lpstr>PowerPoint Presentation</vt:lpstr>
      <vt:lpstr>PowerPoint Presentation</vt:lpstr>
      <vt:lpstr>PowerPoint Presentation</vt:lpstr>
      <vt:lpstr>PowerPoint Presentation</vt:lpstr>
      <vt:lpstr>Now let’s talk about your prompting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and System Prompt Best Practices</dc:title>
  <dc:subject>PptxGenJS Presentation</dc:subject>
  <dc:creator>Ted Kwartler</dc:creator>
  <cp:lastModifiedBy>Ted Kwartler</cp:lastModifiedBy>
  <cp:revision>37</cp:revision>
  <dcterms:created xsi:type="dcterms:W3CDTF">2026-07-06T13:30:53Z</dcterms:created>
  <dcterms:modified xsi:type="dcterms:W3CDTF">2026-08-04T00:44:18Z</dcterms:modified>
</cp:coreProperties>
</file>