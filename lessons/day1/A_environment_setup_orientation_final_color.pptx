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310" r:id="rId3"/>
    <p:sldId id="257" r:id="rId4"/>
    <p:sldId id="271" r:id="rId5"/>
    <p:sldId id="259" r:id="rId6"/>
    <p:sldId id="260" r:id="rId7"/>
    <p:sldId id="272" r:id="rId8"/>
    <p:sldId id="261" r:id="rId9"/>
    <p:sldId id="273" r:id="rId10"/>
    <p:sldId id="262" r:id="rId11"/>
    <p:sldId id="274" r:id="rId12"/>
    <p:sldId id="263" r:id="rId13"/>
    <p:sldId id="264" r:id="rId14"/>
    <p:sldId id="275" r:id="rId15"/>
    <p:sldId id="276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2" r:id="rId30"/>
    <p:sldId id="303" r:id="rId31"/>
    <p:sldId id="304" r:id="rId32"/>
    <p:sldId id="305" r:id="rId33"/>
    <p:sldId id="307" r:id="rId34"/>
    <p:sldId id="308" r:id="rId35"/>
    <p:sldId id="299" r:id="rId36"/>
    <p:sldId id="258" r:id="rId37"/>
    <p:sldId id="300" r:id="rId38"/>
    <p:sldId id="309" r:id="rId39"/>
    <p:sldId id="301" r:id="rId40"/>
    <p:sldId id="268" r:id="rId41"/>
    <p:sldId id="302" r:id="rId42"/>
    <p:sldId id="265" r:id="rId43"/>
    <p:sldId id="267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3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8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242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5CD12-A079-F628-EA2F-97FE9C2CC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4422C-9BDA-32DC-C9FB-1E977FE2F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05525-0263-26BB-C77A-E7697F9C5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ADA12-5B17-F266-2827-A060944AF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50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2D7C2-9D73-BACB-F12F-EDF63E0C9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E1803-196D-00AB-D9D0-F70B601D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C319C-7209-0576-BD85-887319D11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136FB-CA01-7F7F-FF57-4C9BF6105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50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FCCE-15F4-667D-42B3-42284422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935AF-DFDC-51BF-E127-024163479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97130-AFF5-2C68-3890-0F160B73C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2B132-9725-82C2-502A-1EF22B93C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140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1776-E16D-0C81-F0C6-E26A59E1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C0D3D-0008-F056-8DCB-B041C7BAE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EC262-320F-5568-814B-4779AD212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4F405-F036-EEA1-65E0-92A2034BD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61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tiff"/><Relationship Id="rId5" Type="http://schemas.openxmlformats.org/officeDocument/2006/relationships/image" Target="../media/image20.tiff"/><Relationship Id="rId4" Type="http://schemas.openxmlformats.org/officeDocument/2006/relationships/image" Target="../media/image19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1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0.jpeg"/><Relationship Id="rId7" Type="http://schemas.openxmlformats.org/officeDocument/2006/relationships/image" Target="../media/image3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39.png"/><Relationship Id="rId5" Type="http://schemas.openxmlformats.org/officeDocument/2006/relationships/image" Target="../media/image30.jpeg"/><Relationship Id="rId10" Type="http://schemas.openxmlformats.org/officeDocument/2006/relationships/image" Target="../media/image45.jpeg"/><Relationship Id="rId4" Type="http://schemas.openxmlformats.org/officeDocument/2006/relationships/image" Target="../media/image41.png"/><Relationship Id="rId9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docs.posit.co/ide/user/#rstudio-ide-oss-downloads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hyperlink" Target="https://brew.sh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-scm.com/install/windows" TargetMode="External"/><Relationship Id="rId5" Type="http://schemas.openxmlformats.org/officeDocument/2006/relationships/hyperlink" Target="https://git-scm.com/install/mac" TargetMode="Externa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kwartler/vienna-genai-finance-cours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aistudio.google.com/app/api-keys" TargetMode="External"/><Relationship Id="rId3" Type="http://schemas.openxmlformats.org/officeDocument/2006/relationships/hyperlink" Target="http://www.newsapi.org/" TargetMode="External"/><Relationship Id="rId7" Type="http://schemas.openxmlformats.org/officeDocument/2006/relationships/hyperlink" Target="https://site.financialmodelingprep.com/developer/docs/dashboard?tab=apiDetail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ewsapi.org/account" TargetMode="External"/><Relationship Id="rId5" Type="http://schemas.openxmlformats.org/officeDocument/2006/relationships/hyperlink" Target="https://aistudio.google.com/prompts/new_chat" TargetMode="External"/><Relationship Id="rId4" Type="http://schemas.openxmlformats.org/officeDocument/2006/relationships/hyperlink" Target="https://site.financialmodelingprep.com/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tif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5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C4961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C4961A">
              <a:alpha val="1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DAY 1  ·  8:00 TO 9:00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7373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and Orientation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Two toolchains, one course. Let's confirm everything works before the real content starts.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996A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Generative AI in Finance   |   Executive MBA   |   Finance Masters + Data Science Masters</a:t>
            </a:r>
            <a:endParaRPr lang="en-US" sz="1200" dirty="0"/>
          </a:p>
        </p:txBody>
      </p:sp>
      <p:sp>
        <p:nvSpPr>
          <p:cNvPr id="10" name="Harvard Footer"/>
          <p:cNvSpPr txBox="1"/>
          <p:nvPr/>
        </p:nvSpPr>
        <p:spPr>
          <a:xfrm>
            <a:off x="1966119" y="649176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F3F3F1"/>
                </a:solidFill>
                <a:latin typeface="Arial"/>
              </a:rPr>
              <a:t>© 2026 Ted Kwartler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D1A04A-F955-DACC-5514-BC2CC7FE0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58" y="1613975"/>
            <a:ext cx="1554480" cy="1554480"/>
          </a:xfrm>
          <a:prstGeom prst="ellipse">
            <a:avLst/>
          </a:prstGeom>
          <a:ln w="38100">
            <a:solidFill>
              <a:srgbClr val="C00000"/>
            </a:solidFill>
          </a:ln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D0BC3A10-9070-F70B-6AC8-0176BED6B26F}"/>
              </a:ext>
            </a:extLst>
          </p:cNvPr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Instructors</a:t>
            </a:r>
            <a:endParaRPr lang="en-US" sz="3000" dirty="0"/>
          </a:p>
        </p:txBody>
      </p:sp>
      <p:pic>
        <p:nvPicPr>
          <p:cNvPr id="13" name="Google Shape;504;p5">
            <a:extLst>
              <a:ext uri="{FF2B5EF4-FFF2-40B4-BE49-F238E27FC236}">
                <a16:creationId xmlns:a16="http://schemas.microsoft.com/office/drawing/2014/main" id="{58752CDF-B63C-02E2-0948-7759EB62E0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48793" y="4338698"/>
            <a:ext cx="1040291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499;p5">
            <a:extLst>
              <a:ext uri="{FF2B5EF4-FFF2-40B4-BE49-F238E27FC236}">
                <a16:creationId xmlns:a16="http://schemas.microsoft.com/office/drawing/2014/main" id="{D26EA55E-3CF7-C6A0-0E1F-0208072EAE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1537" y="5055914"/>
            <a:ext cx="1290654" cy="72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52FA6E1-B0D4-2389-E4F2-C8B3B4F00C1C}"/>
              </a:ext>
            </a:extLst>
          </p:cNvPr>
          <p:cNvSpPr txBox="1"/>
          <p:nvPr/>
        </p:nvSpPr>
        <p:spPr>
          <a:xfrm>
            <a:off x="4652046" y="1169141"/>
            <a:ext cx="2520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Scott Lindeman</a:t>
            </a:r>
          </a:p>
        </p:txBody>
      </p:sp>
      <p:pic>
        <p:nvPicPr>
          <p:cNvPr id="26" name="Google Shape;492;p5">
            <a:extLst>
              <a:ext uri="{FF2B5EF4-FFF2-40B4-BE49-F238E27FC236}">
                <a16:creationId xmlns:a16="http://schemas.microsoft.com/office/drawing/2014/main" id="{F6104907-81EE-42E7-46DD-D66CC1B4317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32007" y="1594877"/>
            <a:ext cx="1567050" cy="1570982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27" name="Google Shape;494;p5">
            <a:extLst>
              <a:ext uri="{FF2B5EF4-FFF2-40B4-BE49-F238E27FC236}">
                <a16:creationId xmlns:a16="http://schemas.microsoft.com/office/drawing/2014/main" id="{56BAC9A6-1E80-5C07-7198-FD6EFD59948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9115" y="4257773"/>
            <a:ext cx="6572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504;p5">
            <a:extLst>
              <a:ext uri="{FF2B5EF4-FFF2-40B4-BE49-F238E27FC236}">
                <a16:creationId xmlns:a16="http://schemas.microsoft.com/office/drawing/2014/main" id="{6CD2A719-C308-4037-0384-93B7BC03FA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8911" y="4338698"/>
            <a:ext cx="1040291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" descr="Image result for wiley and sons">
            <a:extLst>
              <a:ext uri="{FF2B5EF4-FFF2-40B4-BE49-F238E27FC236}">
                <a16:creationId xmlns:a16="http://schemas.microsoft.com/office/drawing/2014/main" id="{8B3ABE11-02E3-29CF-6038-C0DEBFD7C6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" t="34851" r="5092" b="31309"/>
          <a:stretch/>
        </p:blipFill>
        <p:spPr bwMode="auto">
          <a:xfrm>
            <a:off x="2396704" y="5994061"/>
            <a:ext cx="1017425" cy="28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Google Shape;499;p5">
            <a:extLst>
              <a:ext uri="{FF2B5EF4-FFF2-40B4-BE49-F238E27FC236}">
                <a16:creationId xmlns:a16="http://schemas.microsoft.com/office/drawing/2014/main" id="{1B96321F-921A-9CAA-40ED-7F6394D72C8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1655" y="5055914"/>
            <a:ext cx="1290654" cy="7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500;p5">
            <a:extLst>
              <a:ext uri="{FF2B5EF4-FFF2-40B4-BE49-F238E27FC236}">
                <a16:creationId xmlns:a16="http://schemas.microsoft.com/office/drawing/2014/main" id="{F8048B09-0F1F-D1D9-F2AD-869B50CCFE4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71003" y="5996476"/>
            <a:ext cx="933450" cy="281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501;p5">
            <a:extLst>
              <a:ext uri="{FF2B5EF4-FFF2-40B4-BE49-F238E27FC236}">
                <a16:creationId xmlns:a16="http://schemas.microsoft.com/office/drawing/2014/main" id="{F29BD485-C6D1-E50E-2A29-4941833EEA8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96704" y="5099768"/>
            <a:ext cx="933449" cy="638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Picture 2" descr="Accenture New Logo transparent PNG - StickPNG">
            <a:extLst>
              <a:ext uri="{FF2B5EF4-FFF2-40B4-BE49-F238E27FC236}">
                <a16:creationId xmlns:a16="http://schemas.microsoft.com/office/drawing/2014/main" id="{852D3677-3609-050C-68BF-DB44485DA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982" y="3577869"/>
            <a:ext cx="1125942" cy="63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AF61769-196A-EE80-9386-19B0F2E910FC}"/>
              </a:ext>
            </a:extLst>
          </p:cNvPr>
          <p:cNvSpPr txBox="1"/>
          <p:nvPr/>
        </p:nvSpPr>
        <p:spPr>
          <a:xfrm>
            <a:off x="982164" y="1169141"/>
            <a:ext cx="2520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Ted Kwartler</a:t>
            </a:r>
          </a:p>
        </p:txBody>
      </p:sp>
      <p:pic>
        <p:nvPicPr>
          <p:cNvPr id="40" name="Google Shape;499;p5">
            <a:extLst>
              <a:ext uri="{FF2B5EF4-FFF2-40B4-BE49-F238E27FC236}">
                <a16:creationId xmlns:a16="http://schemas.microsoft.com/office/drawing/2014/main" id="{4E817860-EA07-A893-A1AB-4FC052D5B5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44846" y="5055914"/>
            <a:ext cx="1290654" cy="7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Picture 2" descr="Accenture New Logo transparent PNG - StickPNG">
            <a:extLst>
              <a:ext uri="{FF2B5EF4-FFF2-40B4-BE49-F238E27FC236}">
                <a16:creationId xmlns:a16="http://schemas.microsoft.com/office/drawing/2014/main" id="{524CFBFB-9A19-DDAD-9AF7-33571016B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0173" y="3577869"/>
            <a:ext cx="1125942" cy="63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B2D09B7-E7D5-FDCA-0BF0-659BC9FAA4BC}"/>
              </a:ext>
            </a:extLst>
          </p:cNvPr>
          <p:cNvSpPr txBox="1"/>
          <p:nvPr/>
        </p:nvSpPr>
        <p:spPr>
          <a:xfrm>
            <a:off x="8375355" y="1169141"/>
            <a:ext cx="2520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Jared Bowns</a:t>
            </a:r>
          </a:p>
        </p:txBody>
      </p:sp>
      <p:sp>
        <p:nvSpPr>
          <p:cNvPr id="47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24A55C1-2E24-4352-B981-F58FD95DA53E}" type="slidenum">
              <a:rPr lang="en-US" sz="1000">
                <a:solidFill>
                  <a:schemeClr val="accent5"/>
                </a:solidFill>
                <a:latin typeface="Arial"/>
              </a:rPr>
              <a:t>2</a:t>
            </a:fld>
            <a:endParaRPr lang="en-US" sz="1000">
              <a:solidFill>
                <a:schemeClr val="accent5"/>
              </a:solidFill>
              <a:latin typeface="Arial"/>
            </a:endParaRPr>
          </a:p>
        </p:txBody>
      </p:sp>
      <p:sp>
        <p:nvSpPr>
          <p:cNvPr id="2" name="Harvard Footer">
            <a:extLst>
              <a:ext uri="{FF2B5EF4-FFF2-40B4-BE49-F238E27FC236}">
                <a16:creationId xmlns:a16="http://schemas.microsoft.com/office/drawing/2014/main" id="{8DCC3CFA-F214-E8A9-CCBC-8ECB9A44BE27}"/>
              </a:ext>
            </a:extLst>
          </p:cNvPr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487D2B-1AC8-4DB1-E921-E2D278CD5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458" y="1603128"/>
            <a:ext cx="1554480" cy="1554480"/>
          </a:xfrm>
          <a:prstGeom prst="ellipse">
            <a:avLst/>
          </a:prstGeom>
          <a:ln w="38100">
            <a:solidFill>
              <a:srgbClr val="C00000"/>
            </a:solidFill>
          </a:ln>
        </p:spPr>
      </p:pic>
      <p:pic>
        <p:nvPicPr>
          <p:cNvPr id="4" name="Picture 3" descr="Seal - Brand Center">
            <a:extLst>
              <a:ext uri="{FF2B5EF4-FFF2-40B4-BE49-F238E27FC236}">
                <a16:creationId xmlns:a16="http://schemas.microsoft.com/office/drawing/2014/main" id="{F5FE1140-CCB6-A38E-A1C4-F9AD5D3CFC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8251" y="4224436"/>
            <a:ext cx="657225" cy="657225"/>
          </a:xfrm>
          <a:prstGeom prst="rect">
            <a:avLst/>
          </a:prstGeom>
        </p:spPr>
      </p:pic>
      <p:pic>
        <p:nvPicPr>
          <p:cNvPr id="7" name="Picture 6" descr="Upstream Carbon logo">
            <a:extLst>
              <a:ext uri="{FF2B5EF4-FFF2-40B4-BE49-F238E27FC236}">
                <a16:creationId xmlns:a16="http://schemas.microsoft.com/office/drawing/2014/main" id="{9E22DCD1-6F20-DFB9-73A3-4F56B7BA0F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5085851"/>
            <a:ext cx="666126" cy="666126"/>
          </a:xfrm>
          <a:prstGeom prst="rect">
            <a:avLst/>
          </a:prstGeom>
        </p:spPr>
      </p:pic>
      <p:pic>
        <p:nvPicPr>
          <p:cNvPr id="8" name="Picture 7" descr="Via Scientific, Inc. logo">
            <a:extLst>
              <a:ext uri="{FF2B5EF4-FFF2-40B4-BE49-F238E27FC236}">
                <a16:creationId xmlns:a16="http://schemas.microsoft.com/office/drawing/2014/main" id="{90BDAB63-6DC9-EF8B-8841-7D4879AD19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8815" y="5809593"/>
            <a:ext cx="654978" cy="654978"/>
          </a:xfrm>
          <a:prstGeom prst="rect">
            <a:avLst/>
          </a:prstGeom>
        </p:spPr>
      </p:pic>
      <p:pic>
        <p:nvPicPr>
          <p:cNvPr id="9" name="Picture 8" descr="Home | Cambridge University Press &amp; Assessment">
            <a:extLst>
              <a:ext uri="{FF2B5EF4-FFF2-40B4-BE49-F238E27FC236}">
                <a16:creationId xmlns:a16="http://schemas.microsoft.com/office/drawing/2014/main" id="{99FC813D-9A6D-1294-E7F6-F98FBE26565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51823" y="5978068"/>
            <a:ext cx="1554480" cy="318029"/>
          </a:xfrm>
          <a:prstGeom prst="rect">
            <a:avLst/>
          </a:prstGeom>
        </p:spPr>
      </p:pic>
      <p:pic>
        <p:nvPicPr>
          <p:cNvPr id="11" name="Picture 10" descr="Profile image">
            <a:extLst>
              <a:ext uri="{FF2B5EF4-FFF2-40B4-BE49-F238E27FC236}">
                <a16:creationId xmlns:a16="http://schemas.microsoft.com/office/drawing/2014/main" id="{069F95EC-8228-2042-5536-19DB7F3B7E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8260" y="1603128"/>
            <a:ext cx="1554480" cy="1554480"/>
          </a:xfrm>
          <a:prstGeom prst="ellipse">
            <a:avLst/>
          </a:prstGeom>
          <a:ln w="38100">
            <a:solidFill>
              <a:srgbClr val="C00000"/>
            </a:solidFill>
          </a:ln>
        </p:spPr>
      </p:pic>
      <p:pic>
        <p:nvPicPr>
          <p:cNvPr id="15" name="Picture 14" descr="Elyxor logo">
            <a:extLst>
              <a:ext uri="{FF2B5EF4-FFF2-40B4-BE49-F238E27FC236}">
                <a16:creationId xmlns:a16="http://schemas.microsoft.com/office/drawing/2014/main" id="{BFCDC6C0-0898-D81E-41DC-9989301269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3089" y="4262746"/>
            <a:ext cx="580605" cy="580605"/>
          </a:xfrm>
          <a:prstGeom prst="rect">
            <a:avLst/>
          </a:prstGeom>
        </p:spPr>
      </p:pic>
      <p:pic>
        <p:nvPicPr>
          <p:cNvPr id="21" name="Picture 20" descr="Via Scientific, Inc. logo">
            <a:extLst>
              <a:ext uri="{FF2B5EF4-FFF2-40B4-BE49-F238E27FC236}">
                <a16:creationId xmlns:a16="http://schemas.microsoft.com/office/drawing/2014/main" id="{E110BC27-1559-41FC-AC01-00EA5CD947E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35500" y="5091425"/>
            <a:ext cx="654978" cy="654978"/>
          </a:xfrm>
          <a:prstGeom prst="rect">
            <a:avLst/>
          </a:prstGeom>
        </p:spPr>
      </p:pic>
      <p:pic>
        <p:nvPicPr>
          <p:cNvPr id="48" name="Picture 47" descr="Isenberg School of Management, UMass Amherst logo">
            <a:extLst>
              <a:ext uri="{FF2B5EF4-FFF2-40B4-BE49-F238E27FC236}">
                <a16:creationId xmlns:a16="http://schemas.microsoft.com/office/drawing/2014/main" id="{4290A39C-97ED-86B6-8F94-DC9E21D5582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04553" y="4275937"/>
            <a:ext cx="554223" cy="55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9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we cover this hour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353312"/>
            <a:ext cx="420624" cy="420624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533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30759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quick word on how this course runs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130552"/>
            <a:ext cx="420624" cy="420624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30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8483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Two toolchains: R and RStudio, then Node and GitHub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2907792"/>
            <a:ext cx="420624" cy="420624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07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86207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What R and RStudio actually are, for anyone new to them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3685032"/>
            <a:ext cx="420624" cy="420624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850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63931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Verify every account and tool from the pre module checklist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4462272"/>
            <a:ext cx="420624" cy="420624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41655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Fork the starter repository and get oriented in OpenRouter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5239512"/>
            <a:ext cx="420624" cy="420624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239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19379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Troubleshoot anything that is not working yet</a:t>
            </a:r>
            <a:endParaRPr lang="en-US" sz="1500" dirty="0"/>
          </a:p>
        </p:txBody>
      </p:sp>
      <p:sp>
        <p:nvSpPr>
          <p:cNvPr id="2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8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31E68ECC-CF11-4E9E-AEB0-DD389DAA3567}" type="slidenum">
              <a:rPr lang="en-US" sz="1000">
                <a:solidFill>
                  <a:srgbClr val="8996A0"/>
                </a:solidFill>
                <a:latin typeface="Arial"/>
              </a:rPr>
              <a:t>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6F68736-A383-32ED-E51D-57D1B0C5A5F6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10934700" cy="59147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/>
              <a:t>Community Learning Expectations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CE288-22FC-0748-3EF7-37AC90F3EE6F}"/>
              </a:ext>
            </a:extLst>
          </p:cNvPr>
          <p:cNvSpPr txBox="1"/>
          <p:nvPr/>
        </p:nvSpPr>
        <p:spPr>
          <a:xfrm>
            <a:off x="414339" y="1114419"/>
            <a:ext cx="87296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expect: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Kindness &gt; Cleverness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Active learning &amp; participation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To make adjustments along the way so learning will be engaging &amp; fun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Academic rigor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The use of AI (ChatGPT </a:t>
            </a:r>
            <a:r>
              <a:rPr lang="en-US" dirty="0" err="1"/>
              <a:t>etc</a:t>
            </a:r>
            <a:r>
              <a:rPr lang="en-US" dirty="0"/>
              <a:t>) to be used</a:t>
            </a:r>
          </a:p>
          <a:p>
            <a:endParaRPr lang="en-US" dirty="0"/>
          </a:p>
          <a:p>
            <a:r>
              <a:rPr lang="en-US" dirty="0"/>
              <a:t>My goal for your learning experience is that the topics are: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Interesting </a:t>
            </a:r>
            <a:r>
              <a:rPr lang="en-US" dirty="0"/>
              <a:t>to cover a lot of topics</a:t>
            </a:r>
            <a:endParaRPr lang="en-US" b="1" dirty="0"/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Applicable</a:t>
            </a:r>
            <a:r>
              <a:rPr lang="en-US" dirty="0"/>
              <a:t> as a professional or future business person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Perspective building </a:t>
            </a:r>
            <a:r>
              <a:rPr lang="en-US" dirty="0"/>
              <a:t>as a consumer affected by these methods</a:t>
            </a: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936F2091-61B2-76C1-E575-ED7106E8B406}"/>
              </a:ext>
            </a:extLst>
          </p:cNvPr>
          <p:cNvSpPr/>
          <p:nvPr/>
        </p:nvSpPr>
        <p:spPr>
          <a:xfrm>
            <a:off x="640080" y="5349750"/>
            <a:ext cx="10789920" cy="1097280"/>
          </a:xfrm>
          <a:prstGeom prst="roundRect">
            <a:avLst>
              <a:gd name="adj" fmla="val 6667"/>
            </a:avLst>
          </a:prstGeom>
          <a:solidFill>
            <a:srgbClr val="293352"/>
          </a:solidFill>
          <a:ln/>
        </p:spPr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5C0B4F24-FDAA-7F2B-491B-BFF7670AD862}"/>
              </a:ext>
            </a:extLst>
          </p:cNvPr>
          <p:cNvSpPr/>
          <p:nvPr/>
        </p:nvSpPr>
        <p:spPr>
          <a:xfrm>
            <a:off x="914400" y="551434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this course does not expect</a:t>
            </a:r>
            <a:endParaRPr lang="en-US" sz="1400" dirty="0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B6BB8487-C085-A580-B49D-9BE153F0B749}"/>
              </a:ext>
            </a:extLst>
          </p:cNvPr>
          <p:cNvSpPr/>
          <p:nvPr/>
        </p:nvSpPr>
        <p:spPr>
          <a:xfrm>
            <a:off x="914400" y="585267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Heavy math skills, software engineering or prior coding experience. This is not a math course, and you do not need to be a developer to finish it. Both R and your AI assistant do the heavy lifting.  You are also not going to become a day trader with this course.</a:t>
            </a:r>
            <a:endParaRPr lang="en-US" sz="1300" dirty="0"/>
          </a:p>
        </p:txBody>
      </p:sp>
      <p:sp>
        <p:nvSpPr>
          <p:cNvPr id="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8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668BA016-1274-43DD-8DA4-6F939F53F88E}" type="slidenum">
              <a:rPr lang="en-US" sz="1000">
                <a:solidFill>
                  <a:srgbClr val="8996A0"/>
                </a:solidFill>
                <a:latin typeface="Arial"/>
              </a:rPr>
              <a:t>4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  <p:pic>
        <p:nvPicPr>
          <p:cNvPr id="9" name="Picture 8" descr="Oh, I get it! It's very clever! Meme Template">
            <a:extLst>
              <a:ext uri="{FF2B5EF4-FFF2-40B4-BE49-F238E27FC236}">
                <a16:creationId xmlns:a16="http://schemas.microsoft.com/office/drawing/2014/main" id="{ABCFC40B-293A-EF71-0844-D6DB7321D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020" y="1294931"/>
            <a:ext cx="2980311" cy="20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03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Two toolchains, one course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Different tools solve different problems. 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1E1E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556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&amp; RStudio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Statistical computing, used to calculate &amp; chart moving averages, MACD, &amp; RSI directly against real price data.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996A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Runs entirely on your machine. No deployment, no public URL, just analysis.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4E84C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806" y="4297680"/>
            <a:ext cx="966304" cy="96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99114" y="17556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Node &amp; GitHub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44652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Builds an actual single page application you will demo, using Vite, vibe coding, and OpenRouter for the AI calls.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46520" y="3657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Runs locally today. Tomorrow's GitHub Actions session publishes it to a public URL.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EF24BE-C253-2170-9841-DEBB19786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97680"/>
            <a:ext cx="1309260" cy="10126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3174BD-763A-A59E-C77C-3E03817F7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673" y="4297680"/>
            <a:ext cx="966304" cy="9663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81D604-8D2A-9ED8-8699-8A9E8B20C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8262" y="4434840"/>
            <a:ext cx="1534275" cy="640080"/>
          </a:xfrm>
          <a:prstGeom prst="rect">
            <a:avLst/>
          </a:prstGeom>
        </p:spPr>
      </p:pic>
      <p:pic>
        <p:nvPicPr>
          <p:cNvPr id="19" name="Graphic 18" descr="Node.js - Wikipedia">
            <a:extLst>
              <a:ext uri="{FF2B5EF4-FFF2-40B4-BE49-F238E27FC236}">
                <a16:creationId xmlns:a16="http://schemas.microsoft.com/office/drawing/2014/main" id="{8B004FE5-0C1E-BED5-659A-0D9A1B3E8D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24549" y="4359614"/>
            <a:ext cx="1344491" cy="821295"/>
          </a:xfrm>
          <a:prstGeom prst="rect">
            <a:avLst/>
          </a:prstGeom>
        </p:spPr>
      </p:pic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34A70450-9DF9-4B44-96E1-538D753C9026}" type="slidenum">
              <a:rPr lang="en-US" sz="1000">
                <a:solidFill>
                  <a:srgbClr val="8996A0"/>
                </a:solidFill>
                <a:latin typeface="Arial"/>
              </a:rPr>
              <a:t>5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70213" y="25171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is R?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70212" y="689660"/>
            <a:ext cx="11652451" cy="362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language &amp; environment built for statistical computing &amp; graphics. 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58231"/>
            <a:ext cx="54514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Free and open source, extensible with more than 20,000 packages.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92872"/>
            <a:ext cx="554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Built by statisticians, for statistical and financial analysis.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0694" y="3685781"/>
            <a:ext cx="554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Excellent graphing capabilities, which is why we use it for this morning's charts.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0213" y="5675958"/>
            <a:ext cx="11704444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10" name="Text 7"/>
          <p:cNvSpPr/>
          <p:nvPr/>
        </p:nvSpPr>
        <p:spPr>
          <a:xfrm>
            <a:off x="644533" y="567595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If you get stuck…ask &amp; use your chatbot!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4533" y="6035553"/>
            <a:ext cx="11294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Most AI assistants, including Claude, already know R well. Describe what you are trying to do in plain language and ask for the R code, the same habit from this course's vibe coding sessions.</a:t>
            </a:r>
            <a:endParaRPr lang="en-US" sz="1250" dirty="0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147576EA-67A0-9218-7A8B-C5EDC4B1B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35" y="1081392"/>
            <a:ext cx="5800229" cy="4437333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C82ECF2E-426A-9A3E-845C-F8EC1433A4BE}"/>
              </a:ext>
            </a:extLst>
          </p:cNvPr>
          <p:cNvSpPr/>
          <p:nvPr/>
        </p:nvSpPr>
        <p:spPr>
          <a:xfrm>
            <a:off x="500694" y="4512717"/>
            <a:ext cx="554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Widely used throughout academia and within industry.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633DA-D31E-BCC6-CB35-65F37BF1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72C95CEF-0A0C-E247-03F2-CF8133257062}"/>
              </a:ext>
            </a:extLst>
          </p:cNvPr>
          <p:cNvSpPr/>
          <p:nvPr/>
        </p:nvSpPr>
        <p:spPr>
          <a:xfrm>
            <a:off x="370213" y="25171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is R?</a:t>
            </a:r>
            <a:endParaRPr lang="en-US" sz="27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7A2D263-73DC-8993-E881-7AAD784B8702}"/>
              </a:ext>
            </a:extLst>
          </p:cNvPr>
          <p:cNvSpPr/>
          <p:nvPr/>
        </p:nvSpPr>
        <p:spPr>
          <a:xfrm>
            <a:off x="370212" y="689660"/>
            <a:ext cx="11652451" cy="362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RStudio is an IDE, an integrated development environment, built specifically for R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54410C4-1B9E-0AFC-00FC-55ECB646A1CF}"/>
              </a:ext>
            </a:extLst>
          </p:cNvPr>
          <p:cNvSpPr/>
          <p:nvPr/>
        </p:nvSpPr>
        <p:spPr>
          <a:xfrm>
            <a:off x="548640" y="2394762"/>
            <a:ext cx="4890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•"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IDE – Integrated Development Environment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286E63E-EA81-13FB-5F29-FB8E71968ECC}"/>
              </a:ext>
            </a:extLst>
          </p:cNvPr>
          <p:cNvSpPr/>
          <p:nvPr/>
        </p:nvSpPr>
        <p:spPr>
          <a:xfrm>
            <a:off x="370212" y="3488494"/>
            <a:ext cx="4890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•"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Adds additional functionality e.g. git, shiny projects, markdown templates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CE447D9-3ECE-E1A9-7475-00C0BBC6B124}"/>
              </a:ext>
            </a:extLst>
          </p:cNvPr>
          <p:cNvSpPr/>
          <p:nvPr/>
        </p:nvSpPr>
        <p:spPr>
          <a:xfrm>
            <a:off x="370213" y="5675958"/>
            <a:ext cx="11704444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8438B85-89C8-7E5E-B3A5-6467559F603D}"/>
              </a:ext>
            </a:extLst>
          </p:cNvPr>
          <p:cNvSpPr/>
          <p:nvPr/>
        </p:nvSpPr>
        <p:spPr>
          <a:xfrm>
            <a:off x="644533" y="567595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61A"/>
                </a:solidFill>
                <a:latin typeface="Arial" pitchFamily="34" charset="0"/>
              </a:rPr>
              <a:t>Not the only IDE for R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6151A10-EA40-6A5D-41B2-C7ADB5871FE8}"/>
              </a:ext>
            </a:extLst>
          </p:cNvPr>
          <p:cNvSpPr/>
          <p:nvPr/>
        </p:nvSpPr>
        <p:spPr>
          <a:xfrm>
            <a:off x="644533" y="6035553"/>
            <a:ext cx="11294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studio is the most popular IDE for R although there are others &amp;  you don’t actually need it to execute R code.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539B48-EC2A-6031-D36D-BDA545FB0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460" y="1626156"/>
            <a:ext cx="6635197" cy="3400174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68755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494311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is RStudio?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852513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R Studio sits atop of the installed R version. Without base R, R studio cannot function.  By programmatically accessing base R, R Studio improves the interface and functionality.  </a:t>
            </a:r>
          </a:p>
        </p:txBody>
      </p:sp>
      <p:sp>
        <p:nvSpPr>
          <p:cNvPr id="11" name="Text 8"/>
          <p:cNvSpPr/>
          <p:nvPr/>
        </p:nvSpPr>
        <p:spPr>
          <a:xfrm>
            <a:off x="548640" y="6014923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Without base R installed, RStudio cannot run anything. You need both, and both should already be on your machine from the pre module checklist.</a:t>
            </a:r>
            <a:endParaRPr lang="en-US" sz="1300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717F32D-1FBE-A6E0-1F18-E3083E461B5F}"/>
              </a:ext>
            </a:extLst>
          </p:cNvPr>
          <p:cNvSpPr/>
          <p:nvPr/>
        </p:nvSpPr>
        <p:spPr>
          <a:xfrm>
            <a:off x="2293919" y="4509542"/>
            <a:ext cx="6883357" cy="1143000"/>
          </a:xfrm>
          <a:custGeom>
            <a:avLst/>
            <a:gdLst>
              <a:gd name="connsiteX0" fmla="*/ 1180004 w 6883357"/>
              <a:gd name="connsiteY0" fmla="*/ 0 h 1143000"/>
              <a:gd name="connsiteX1" fmla="*/ 5703353 w 6883357"/>
              <a:gd name="connsiteY1" fmla="*/ 0 h 1143000"/>
              <a:gd name="connsiteX2" fmla="*/ 6883357 w 6883357"/>
              <a:gd name="connsiteY2" fmla="*/ 1143000 h 1143000"/>
              <a:gd name="connsiteX3" fmla="*/ 0 w 6883357"/>
              <a:gd name="connsiteY3" fmla="*/ 1143000 h 1143000"/>
              <a:gd name="connsiteX4" fmla="*/ 1180004 w 6883357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3357" h="1143000">
                <a:moveTo>
                  <a:pt x="1180004" y="0"/>
                </a:moveTo>
                <a:lnTo>
                  <a:pt x="5703353" y="0"/>
                </a:lnTo>
                <a:lnTo>
                  <a:pt x="6883357" y="1143000"/>
                </a:lnTo>
                <a:lnTo>
                  <a:pt x="0" y="1143000"/>
                </a:lnTo>
                <a:lnTo>
                  <a:pt x="1180004" y="0"/>
                </a:lnTo>
                <a:close/>
              </a:path>
            </a:pathLst>
          </a:cu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BC1447E-06CE-28D2-AAEE-0BF783BD62F0}"/>
              </a:ext>
            </a:extLst>
          </p:cNvPr>
          <p:cNvSpPr/>
          <p:nvPr/>
        </p:nvSpPr>
        <p:spPr>
          <a:xfrm>
            <a:off x="3513117" y="2273635"/>
            <a:ext cx="4472090" cy="2190750"/>
          </a:xfrm>
          <a:custGeom>
            <a:avLst/>
            <a:gdLst>
              <a:gd name="connsiteX0" fmla="*/ 2261675 w 4523349"/>
              <a:gd name="connsiteY0" fmla="*/ 0 h 2190750"/>
              <a:gd name="connsiteX1" fmla="*/ 4523349 w 4523349"/>
              <a:gd name="connsiteY1" fmla="*/ 2190750 h 2190750"/>
              <a:gd name="connsiteX2" fmla="*/ 0 w 4523349"/>
              <a:gd name="connsiteY2" fmla="*/ 2190750 h 2190750"/>
              <a:gd name="connsiteX3" fmla="*/ 2261675 w 4523349"/>
              <a:gd name="connsiteY3" fmla="*/ 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3349" h="2190750">
                <a:moveTo>
                  <a:pt x="2261675" y="0"/>
                </a:moveTo>
                <a:lnTo>
                  <a:pt x="4523349" y="2190750"/>
                </a:lnTo>
                <a:lnTo>
                  <a:pt x="0" y="2190750"/>
                </a:lnTo>
                <a:lnTo>
                  <a:pt x="2261675" y="0"/>
                </a:lnTo>
                <a:close/>
              </a:path>
            </a:pathLst>
          </a:cu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n0232877\AppData\Local\Microsoft\Windows\Temporary Internet Files\Content.IE5\FRTMVNL1\Rlogo.png">
            <a:extLst>
              <a:ext uri="{FF2B5EF4-FFF2-40B4-BE49-F238E27FC236}">
                <a16:creationId xmlns:a16="http://schemas.microsoft.com/office/drawing/2014/main" id="{A02F8DB2-2BCC-5BE0-F664-112278AAC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553" y="4523829"/>
            <a:ext cx="1363200" cy="10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result for r studio logo">
            <a:extLst>
              <a:ext uri="{FF2B5EF4-FFF2-40B4-BE49-F238E27FC236}">
                <a16:creationId xmlns:a16="http://schemas.microsoft.com/office/drawing/2014/main" id="{2E422E92-F965-DBAF-7ABD-1AFC72945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677" y="2866090"/>
            <a:ext cx="1005840" cy="100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FE0ACB-5D89-2AC5-F03C-847A82614FB3}"/>
              </a:ext>
            </a:extLst>
          </p:cNvPr>
          <p:cNvSpPr txBox="1"/>
          <p:nvPr/>
        </p:nvSpPr>
        <p:spPr>
          <a:xfrm>
            <a:off x="6365858" y="4872522"/>
            <a:ext cx="2720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Statistical &amp; graphing software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135B7A-C9B6-4511-789B-FD9622169FCF}"/>
              </a:ext>
            </a:extLst>
          </p:cNvPr>
          <p:cNvSpPr txBox="1"/>
          <p:nvPr/>
        </p:nvSpPr>
        <p:spPr>
          <a:xfrm>
            <a:off x="6365858" y="2954583"/>
            <a:ext cx="3533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Nice interface &amp; additional functionality for faster programming, analysis &amp; production.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3F7E46-15D6-72DE-B199-119CD97231B8}"/>
              </a:ext>
            </a:extLst>
          </p:cNvPr>
          <p:cNvCxnSpPr/>
          <p:nvPr/>
        </p:nvCxnSpPr>
        <p:spPr>
          <a:xfrm>
            <a:off x="1512867" y="6095464"/>
            <a:ext cx="8558213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EC083F6-8B89-4D79-B234-76884992388A}" type="slidenum">
              <a:rPr lang="en-US" sz="1000">
                <a:solidFill>
                  <a:srgbClr val="8996A0"/>
                </a:solidFill>
                <a:latin typeface="Arial"/>
              </a:rPr>
              <a:t>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BF06E6-01D1-305D-DE28-FAC31ACF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800" y="2476088"/>
            <a:ext cx="1309260" cy="10126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428B4C-5B31-EDE9-C10B-5A785E582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240" y="2119659"/>
            <a:ext cx="1725544" cy="17255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FB6CF4-7B83-C2D8-D68E-CC813486A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91" y="3627539"/>
            <a:ext cx="1033672" cy="4312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0A2D17-B30C-072B-E599-913F46BF05CC}"/>
              </a:ext>
            </a:extLst>
          </p:cNvPr>
          <p:cNvSpPr txBox="1"/>
          <p:nvPr/>
        </p:nvSpPr>
        <p:spPr>
          <a:xfrm>
            <a:off x="7766814" y="3833552"/>
            <a:ext cx="1298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Files hosted on </a:t>
            </a:r>
            <a:r>
              <a:rPr lang="en-US" dirty="0" err="1"/>
              <a:t>github.com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26A61-375B-C668-5A18-746E0BC94D16}"/>
              </a:ext>
            </a:extLst>
          </p:cNvPr>
          <p:cNvSpPr txBox="1"/>
          <p:nvPr/>
        </p:nvSpPr>
        <p:spPr>
          <a:xfrm>
            <a:off x="2055128" y="3833552"/>
            <a:ext cx="2703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 Studio sits on top of base R &amp; adds functionality.</a:t>
            </a:r>
          </a:p>
        </p:txBody>
      </p:sp>
      <p:sp>
        <p:nvSpPr>
          <p:cNvPr id="8" name="Left-Right Arrow 7">
            <a:extLst>
              <a:ext uri="{FF2B5EF4-FFF2-40B4-BE49-F238E27FC236}">
                <a16:creationId xmlns:a16="http://schemas.microsoft.com/office/drawing/2014/main" id="{46641D38-4A26-49A2-2271-FB381D82EED0}"/>
              </a:ext>
            </a:extLst>
          </p:cNvPr>
          <p:cNvSpPr/>
          <p:nvPr/>
        </p:nvSpPr>
        <p:spPr>
          <a:xfrm>
            <a:off x="4639302" y="2538484"/>
            <a:ext cx="2915478" cy="88789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Connect to git repository.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6F850C-2233-7682-2020-67033AFDBACC}"/>
              </a:ext>
            </a:extLst>
          </p:cNvPr>
          <p:cNvSpPr txBox="1"/>
          <p:nvPr/>
        </p:nvSpPr>
        <p:spPr>
          <a:xfrm>
            <a:off x="5388048" y="4103734"/>
            <a:ext cx="12987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Makes the programmatic connection.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1A1533-8DA2-C2AB-053E-09A2200D5FAD}"/>
              </a:ext>
            </a:extLst>
          </p:cNvPr>
          <p:cNvCxnSpPr/>
          <p:nvPr/>
        </p:nvCxnSpPr>
        <p:spPr>
          <a:xfrm>
            <a:off x="8124623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4023376C-D663-41BC-0BBC-3AA19D6B9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351" y="2476088"/>
            <a:ext cx="966304" cy="966304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0D382523-603D-D03E-7242-39A58709B016}"/>
              </a:ext>
            </a:extLst>
          </p:cNvPr>
          <p:cNvSpPr/>
          <p:nvPr/>
        </p:nvSpPr>
        <p:spPr>
          <a:xfrm>
            <a:off x="548640" y="494311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Clone the class repository</a:t>
            </a:r>
            <a:endParaRPr lang="en-US" sz="2700" dirty="0"/>
          </a:p>
        </p:txBody>
      </p:sp>
      <p:sp>
        <p:nvSpPr>
          <p:cNvPr id="1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5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376353CF-665B-425C-9348-71B91CEDE824}" type="slidenum">
              <a:rPr lang="en-US" sz="1000">
                <a:solidFill>
                  <a:srgbClr val="8996A0"/>
                </a:solidFill>
                <a:latin typeface="Arial"/>
              </a:rPr>
              <a:t>9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634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521FBAA-C7EA-AE88-8086-69754161A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98" y="1099592"/>
            <a:ext cx="8585086" cy="536567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31681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RStudio's four panes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10669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Works the same way on Windows, Mac, and Linux.</a:t>
            </a:r>
            <a:endParaRPr lang="en-US" sz="13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095A0F-D377-4570-D5B4-202AD9C21E0A}"/>
              </a:ext>
            </a:extLst>
          </p:cNvPr>
          <p:cNvGrpSpPr/>
          <p:nvPr/>
        </p:nvGrpSpPr>
        <p:grpSpPr>
          <a:xfrm>
            <a:off x="140756" y="1772805"/>
            <a:ext cx="1920240" cy="1162521"/>
            <a:chOff x="548639" y="1534959"/>
            <a:chExt cx="1920240" cy="1162521"/>
          </a:xfrm>
        </p:grpSpPr>
        <p:sp>
          <p:nvSpPr>
            <p:cNvPr id="4" name="Shape 2"/>
            <p:cNvSpPr/>
            <p:nvPr/>
          </p:nvSpPr>
          <p:spPr>
            <a:xfrm>
              <a:off x="548639" y="1554480"/>
              <a:ext cx="1920240" cy="1143000"/>
            </a:xfrm>
            <a:prstGeom prst="roundRect">
              <a:avLst>
                <a:gd name="adj" fmla="val 4324"/>
              </a:avLst>
            </a:prstGeom>
            <a:solidFill>
              <a:srgbClr val="4E84C4">
                <a:alpha val="50196"/>
              </a:srgbClr>
            </a:solidFill>
            <a:ln/>
            <a:effectLst>
              <a:outerShdw blurRad="63500" dist="25400" dir="5400000" algn="bl" rotWithShape="0">
                <a:srgbClr val="1E1E1E">
                  <a:alpha val="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106" y="1534959"/>
              <a:ext cx="1755511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A51C30"/>
                  </a:solidFill>
                  <a:latin typeface="Arial" pitchFamily="34" charset="0"/>
                  <a:ea typeface="Cambria" pitchFamily="34" charset="-122"/>
                  <a:cs typeface="Cambria" pitchFamily="34" charset="-120"/>
                </a:rPr>
                <a:t>Scripting</a:t>
              </a:r>
              <a:endParaRPr lang="en-US" sz="1500" dirty="0">
                <a:solidFill>
                  <a:srgbClr val="A51C30"/>
                </a:solidFill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566106" y="1722668"/>
              <a:ext cx="1755511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A51C30"/>
                  </a:solidFill>
                  <a:latin typeface="Arial" pitchFamily="34" charset="0"/>
                  <a:ea typeface="Calibri" pitchFamily="34" charset="-122"/>
                  <a:cs typeface="Calibri" pitchFamily="34" charset="-120"/>
                </a:rPr>
                <a:t>Write &amp; edit code, then send it to the console to execute.</a:t>
              </a:r>
              <a:endParaRPr lang="en-US" sz="1200" dirty="0">
                <a:solidFill>
                  <a:srgbClr val="A51C3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FA1F56-2C5F-F76B-13F3-8F28E90A43CA}"/>
              </a:ext>
            </a:extLst>
          </p:cNvPr>
          <p:cNvGrpSpPr/>
          <p:nvPr/>
        </p:nvGrpSpPr>
        <p:grpSpPr>
          <a:xfrm>
            <a:off x="137674" y="4920294"/>
            <a:ext cx="1923322" cy="1152760"/>
            <a:chOff x="6126480" y="1554480"/>
            <a:chExt cx="1923322" cy="1152760"/>
          </a:xfrm>
        </p:grpSpPr>
        <p:sp>
          <p:nvSpPr>
            <p:cNvPr id="7" name="Shape 5"/>
            <p:cNvSpPr/>
            <p:nvPr/>
          </p:nvSpPr>
          <p:spPr>
            <a:xfrm>
              <a:off x="6126480" y="1554480"/>
              <a:ext cx="1920240" cy="1143000"/>
            </a:xfrm>
            <a:prstGeom prst="roundRect">
              <a:avLst>
                <a:gd name="adj" fmla="val 4324"/>
              </a:avLst>
            </a:prstGeom>
            <a:solidFill>
              <a:srgbClr val="4E84C4">
                <a:alpha val="50196"/>
              </a:srgbClr>
            </a:solidFill>
            <a:ln/>
            <a:effectLst>
              <a:outerShdw blurRad="63500" dist="25400" dir="5400000" algn="bl" rotWithShape="0">
                <a:srgbClr val="1E1E1E">
                  <a:alpha val="8000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6126480" y="1578496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A51C30"/>
                  </a:solidFill>
                  <a:latin typeface="Arial" pitchFamily="34" charset="0"/>
                  <a:ea typeface="Cambria" pitchFamily="34" charset="-122"/>
                  <a:cs typeface="Cambria" pitchFamily="34" charset="-120"/>
                </a:rPr>
                <a:t>Console</a:t>
              </a:r>
              <a:endParaRPr lang="en-US" sz="1500" dirty="0">
                <a:solidFill>
                  <a:srgbClr val="A51C30"/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129562" y="1792840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A51C30"/>
                  </a:solidFill>
                  <a:latin typeface="Arial" pitchFamily="34" charset="0"/>
                  <a:ea typeface="Calibri" pitchFamily="34" charset="-122"/>
                  <a:cs typeface="Calibri" pitchFamily="34" charset="-120"/>
                </a:rPr>
                <a:t>Code execution &amp; where results &amp; errors print.</a:t>
              </a:r>
              <a:endParaRPr lang="en-US" sz="1250" dirty="0">
                <a:solidFill>
                  <a:srgbClr val="A51C3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A4BD82F-51EE-9E21-418E-7381B0988A73}"/>
              </a:ext>
            </a:extLst>
          </p:cNvPr>
          <p:cNvGrpSpPr/>
          <p:nvPr/>
        </p:nvGrpSpPr>
        <p:grpSpPr>
          <a:xfrm>
            <a:off x="10009084" y="1772805"/>
            <a:ext cx="1920240" cy="1143000"/>
            <a:chOff x="-1158925" y="4657070"/>
            <a:chExt cx="1920240" cy="1143000"/>
          </a:xfrm>
        </p:grpSpPr>
        <p:sp>
          <p:nvSpPr>
            <p:cNvPr id="10" name="Shape 8"/>
            <p:cNvSpPr/>
            <p:nvPr/>
          </p:nvSpPr>
          <p:spPr>
            <a:xfrm>
              <a:off x="-1158925" y="4661898"/>
              <a:ext cx="1920240" cy="1138171"/>
            </a:xfrm>
            <a:prstGeom prst="roundRect">
              <a:avLst>
                <a:gd name="adj" fmla="val 4324"/>
              </a:avLst>
            </a:prstGeom>
            <a:solidFill>
              <a:srgbClr val="4E84C4">
                <a:alpha val="50196"/>
              </a:srgbClr>
            </a:solidFill>
            <a:ln/>
            <a:effectLst>
              <a:outerShdw blurRad="63500" dist="25400" dir="5400000" algn="bl" rotWithShape="0">
                <a:srgbClr val="1E1E1E">
                  <a:alpha val="8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-1158925" y="465707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A51C30"/>
                  </a:solidFill>
                  <a:latin typeface="Arial" pitchFamily="34" charset="0"/>
                  <a:ea typeface="Cambria" pitchFamily="34" charset="-122"/>
                  <a:cs typeface="Cambria" pitchFamily="34" charset="-120"/>
                </a:rPr>
                <a:t>Environment</a:t>
              </a:r>
              <a:endParaRPr lang="en-US" sz="1500" dirty="0">
                <a:solidFill>
                  <a:srgbClr val="A51C30"/>
                </a:solidFill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-1158925" y="4885670"/>
              <a:ext cx="18288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A51C30"/>
                  </a:solidFill>
                  <a:latin typeface="Arial" pitchFamily="34" charset="0"/>
                  <a:ea typeface="Calibri" pitchFamily="34" charset="-122"/>
                  <a:cs typeface="Calibri" pitchFamily="34" charset="-120"/>
                </a:rPr>
                <a:t>Running list of every object currently loaded, such as fetched price data &amp; stored vars.</a:t>
              </a:r>
              <a:endParaRPr lang="en-US" sz="1250" dirty="0">
                <a:solidFill>
                  <a:srgbClr val="A51C3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8A4927-C498-7FC0-66D5-32B1FE839DF3}"/>
              </a:ext>
            </a:extLst>
          </p:cNvPr>
          <p:cNvGrpSpPr/>
          <p:nvPr/>
        </p:nvGrpSpPr>
        <p:grpSpPr>
          <a:xfrm>
            <a:off x="10009084" y="4840284"/>
            <a:ext cx="1920240" cy="1303020"/>
            <a:chOff x="6126480" y="3429000"/>
            <a:chExt cx="1920240" cy="1303020"/>
          </a:xfrm>
        </p:grpSpPr>
        <p:sp>
          <p:nvSpPr>
            <p:cNvPr id="13" name="Shape 11"/>
            <p:cNvSpPr/>
            <p:nvPr/>
          </p:nvSpPr>
          <p:spPr>
            <a:xfrm>
              <a:off x="6126480" y="3429000"/>
              <a:ext cx="1920240" cy="1143000"/>
            </a:xfrm>
            <a:prstGeom prst="roundRect">
              <a:avLst>
                <a:gd name="adj" fmla="val 4324"/>
              </a:avLst>
            </a:prstGeom>
            <a:solidFill>
              <a:srgbClr val="4E84C4">
                <a:alpha val="50196"/>
              </a:srgbClr>
            </a:solidFill>
            <a:ln/>
            <a:effectLst>
              <a:outerShdw blurRad="63500" dist="25400" dir="5400000" algn="bl" rotWithShape="0">
                <a:srgbClr val="1E1E1E">
                  <a:alpha val="8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6175282" y="352044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A51C30"/>
                  </a:solidFill>
                  <a:latin typeface="Arial" pitchFamily="34" charset="0"/>
                  <a:ea typeface="Cambria" pitchFamily="34" charset="-122"/>
                  <a:cs typeface="Cambria" pitchFamily="34" charset="-120"/>
                </a:rPr>
                <a:t>Files, plots, packages, help</a:t>
              </a:r>
              <a:endParaRPr lang="en-US" sz="1500" dirty="0">
                <a:solidFill>
                  <a:srgbClr val="A51C30"/>
                </a:solidFill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126480" y="3817620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A51C30"/>
                  </a:solidFill>
                  <a:latin typeface="Arial" pitchFamily="34" charset="0"/>
                  <a:ea typeface="Calibri" pitchFamily="34" charset="-122"/>
                  <a:cs typeface="Calibri" pitchFamily="34" charset="-120"/>
                </a:rPr>
                <a:t>Browse files, load packages, view charts, &amp; search documentation</a:t>
              </a:r>
              <a:endParaRPr lang="en-US" sz="1250" dirty="0">
                <a:solidFill>
                  <a:srgbClr val="A51C30"/>
                </a:solidFill>
              </a:endParaRPr>
            </a:p>
          </p:txBody>
        </p:sp>
      </p:grpSp>
      <p:sp>
        <p:nvSpPr>
          <p:cNvPr id="21" name="Harvard Footer"/>
          <p:cNvSpPr txBox="1"/>
          <p:nvPr/>
        </p:nvSpPr>
        <p:spPr>
          <a:xfrm>
            <a:off x="137319" y="649176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2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B29A3D1-0F95-4E22-93D8-4AFD146A1DCC}" type="slidenum">
              <a:rPr lang="en-US" sz="1000">
                <a:solidFill>
                  <a:srgbClr val="8996A0"/>
                </a:solidFill>
                <a:latin typeface="Arial"/>
              </a:rPr>
              <a:t>10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CF1D0E0A-972A-DA45-B6DF-EBE5D44868EC}"/>
              </a:ext>
            </a:extLst>
          </p:cNvPr>
          <p:cNvSpPr/>
          <p:nvPr/>
        </p:nvSpPr>
        <p:spPr>
          <a:xfrm>
            <a:off x="548640" y="307707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93352"/>
                </a:solidFill>
                <a:latin typeface="Arial" pitchFamily="34" charset="0"/>
              </a:rPr>
              <a:t>Where is R used?</a:t>
            </a:r>
            <a:endParaRPr lang="en-US" sz="28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7649D99-CFC6-BFF1-2F44-7A91D130B161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6991A5-058E-035C-BFA4-50D7BF38F040}"/>
              </a:ext>
            </a:extLst>
          </p:cNvPr>
          <p:cNvSpPr txBox="1"/>
          <p:nvPr/>
        </p:nvSpPr>
        <p:spPr>
          <a:xfrm>
            <a:off x="971733" y="5817653"/>
            <a:ext cx="9840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 is ubiquitous in various industries used for analysis, prototyping and visualization.   However, more often python is used in </a:t>
            </a:r>
            <a:r>
              <a:rPr lang="en-US" i="1" dirty="0">
                <a:solidFill>
                  <a:schemeClr val="bg1"/>
                </a:solidFill>
              </a:rPr>
              <a:t>production</a:t>
            </a:r>
            <a:r>
              <a:rPr lang="en-US" dirty="0">
                <a:solidFill>
                  <a:schemeClr val="bg1"/>
                </a:solidFill>
              </a:rPr>
              <a:t> environments.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0200F38F-F091-EF46-83C9-D18FA1FC7EC7}"/>
              </a:ext>
            </a:extLst>
          </p:cNvPr>
          <p:cNvSpPr/>
          <p:nvPr/>
        </p:nvSpPr>
        <p:spPr>
          <a:xfrm>
            <a:off x="367655" y="1143558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4E84C4"/>
          </a:solidFill>
          <a:ln/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337E937B-7C55-AE9B-D257-D7B55CC0251E}"/>
              </a:ext>
            </a:extLst>
          </p:cNvPr>
          <p:cNvSpPr/>
          <p:nvPr/>
        </p:nvSpPr>
        <p:spPr>
          <a:xfrm>
            <a:off x="4992137" y="1143558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4E84C4"/>
          </a:solidFill>
          <a:ln/>
        </p:spPr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F39E47A1-AB03-EE2F-F7C4-45BCDCC11348}"/>
              </a:ext>
            </a:extLst>
          </p:cNvPr>
          <p:cNvSpPr/>
          <p:nvPr/>
        </p:nvSpPr>
        <p:spPr>
          <a:xfrm>
            <a:off x="9722755" y="1193312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4E84C4"/>
          </a:solidFill>
          <a:ln/>
        </p:spPr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17F9DA99-7C33-D7CB-005F-2DA6FF2DE548}"/>
              </a:ext>
            </a:extLst>
          </p:cNvPr>
          <p:cNvSpPr/>
          <p:nvPr/>
        </p:nvSpPr>
        <p:spPr>
          <a:xfrm>
            <a:off x="2698730" y="1143558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4E84C4"/>
          </a:solidFill>
          <a:ln/>
        </p:spPr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D3F90938-BB8B-E673-5070-ADE73F9B32CA}"/>
              </a:ext>
            </a:extLst>
          </p:cNvPr>
          <p:cNvSpPr/>
          <p:nvPr/>
        </p:nvSpPr>
        <p:spPr>
          <a:xfrm>
            <a:off x="6990176" y="1169599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4E84C4"/>
          </a:solidFill>
          <a:ln/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B4C5D4-1D57-CD77-BD95-61C241A88196}"/>
              </a:ext>
            </a:extLst>
          </p:cNvPr>
          <p:cNvSpPr txBox="1"/>
          <p:nvPr/>
        </p:nvSpPr>
        <p:spPr>
          <a:xfrm>
            <a:off x="438311" y="1997839"/>
            <a:ext cx="168225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Google</a:t>
            </a:r>
          </a:p>
          <a:p>
            <a:pPr algn="ctr"/>
            <a:r>
              <a:rPr lang="en-US" dirty="0"/>
              <a:t>Facebook</a:t>
            </a:r>
          </a:p>
          <a:p>
            <a:pPr algn="ctr"/>
            <a:r>
              <a:rPr lang="en-US" dirty="0"/>
              <a:t>Twitter</a:t>
            </a:r>
          </a:p>
          <a:p>
            <a:pPr algn="ctr"/>
            <a:r>
              <a:rPr lang="en-US" dirty="0"/>
              <a:t>Foursquare</a:t>
            </a:r>
          </a:p>
          <a:p>
            <a:pPr algn="ctr"/>
            <a:r>
              <a:rPr lang="en-US" dirty="0"/>
              <a:t>Kickstarter</a:t>
            </a:r>
          </a:p>
          <a:p>
            <a:pPr algn="ctr"/>
            <a:r>
              <a:rPr lang="en-US" dirty="0"/>
              <a:t>New York Times</a:t>
            </a:r>
          </a:p>
          <a:p>
            <a:pPr algn="ctr"/>
            <a:r>
              <a:rPr lang="en-US" dirty="0"/>
              <a:t>Economist</a:t>
            </a:r>
          </a:p>
          <a:p>
            <a:pPr algn="ctr"/>
            <a:r>
              <a:rPr lang="en-US" dirty="0"/>
              <a:t>Warner Bros.</a:t>
            </a:r>
          </a:p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F93A38-44B1-D0AC-0A64-C56D94963A12}"/>
              </a:ext>
            </a:extLst>
          </p:cNvPr>
          <p:cNvSpPr txBox="1"/>
          <p:nvPr/>
        </p:nvSpPr>
        <p:spPr>
          <a:xfrm>
            <a:off x="2890810" y="2281662"/>
            <a:ext cx="14394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Zillow</a:t>
            </a:r>
          </a:p>
          <a:p>
            <a:pPr algn="ctr"/>
            <a:r>
              <a:rPr lang="en-US" sz="1600" dirty="0"/>
              <a:t>Trulia</a:t>
            </a:r>
          </a:p>
          <a:p>
            <a:pPr algn="ctr"/>
            <a:r>
              <a:rPr lang="en-US" sz="1600" dirty="0"/>
              <a:t>eHarmony</a:t>
            </a:r>
          </a:p>
          <a:p>
            <a:pPr algn="ctr"/>
            <a:r>
              <a:rPr lang="en-US" sz="1600" dirty="0" err="1"/>
              <a:t>PredictWise</a:t>
            </a:r>
            <a:endParaRPr lang="en-US" sz="1600" dirty="0"/>
          </a:p>
          <a:p>
            <a:pPr algn="ctr"/>
            <a:r>
              <a:rPr lang="en-US" sz="1600" dirty="0"/>
              <a:t>Nationwide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37FB47-E12C-8D1F-CFAF-6B4B14E77F39}"/>
              </a:ext>
            </a:extLst>
          </p:cNvPr>
          <p:cNvSpPr txBox="1"/>
          <p:nvPr/>
        </p:nvSpPr>
        <p:spPr>
          <a:xfrm>
            <a:off x="5184217" y="1997839"/>
            <a:ext cx="14394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Lloyd’s Bank</a:t>
            </a:r>
          </a:p>
          <a:p>
            <a:pPr algn="ctr"/>
            <a:r>
              <a:rPr lang="en-US" dirty="0"/>
              <a:t>Credit Suisse</a:t>
            </a:r>
          </a:p>
          <a:p>
            <a:pPr algn="ctr"/>
            <a:r>
              <a:rPr lang="en-US" dirty="0"/>
              <a:t>American Century</a:t>
            </a:r>
          </a:p>
          <a:p>
            <a:pPr algn="ctr"/>
            <a:r>
              <a:rPr lang="en-US" dirty="0"/>
              <a:t>Australia and New Zealand Banking Group</a:t>
            </a:r>
          </a:p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592282-A37C-306C-EEC7-2549E4DADFDE}"/>
              </a:ext>
            </a:extLst>
          </p:cNvPr>
          <p:cNvSpPr txBox="1"/>
          <p:nvPr/>
        </p:nvSpPr>
        <p:spPr>
          <a:xfrm>
            <a:off x="7182256" y="1665041"/>
            <a:ext cx="1439407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SAS</a:t>
            </a:r>
          </a:p>
          <a:p>
            <a:pPr algn="ctr"/>
            <a:r>
              <a:rPr lang="en-US" sz="1600" dirty="0"/>
              <a:t>Oracle</a:t>
            </a:r>
          </a:p>
          <a:p>
            <a:pPr algn="ctr"/>
            <a:r>
              <a:rPr lang="en-US" sz="1600" dirty="0"/>
              <a:t>IBM</a:t>
            </a:r>
          </a:p>
          <a:p>
            <a:pPr algn="ctr"/>
            <a:r>
              <a:rPr lang="en-US" sz="1600" dirty="0"/>
              <a:t>Teradata</a:t>
            </a:r>
          </a:p>
          <a:p>
            <a:pPr algn="ctr"/>
            <a:r>
              <a:rPr lang="en-US" sz="1600" dirty="0"/>
              <a:t>Coursera</a:t>
            </a:r>
          </a:p>
          <a:p>
            <a:pPr algn="ctr"/>
            <a:r>
              <a:rPr lang="en-US" sz="1600" dirty="0"/>
              <a:t>SAP</a:t>
            </a:r>
          </a:p>
          <a:p>
            <a:pPr algn="ctr"/>
            <a:r>
              <a:rPr lang="en-US" sz="1600" dirty="0" err="1"/>
              <a:t>DataCamp</a:t>
            </a:r>
            <a:endParaRPr lang="en-US" sz="1600" dirty="0"/>
          </a:p>
          <a:p>
            <a:pPr algn="ctr"/>
            <a:r>
              <a:rPr lang="en-US" sz="1600" dirty="0"/>
              <a:t>Alteryx</a:t>
            </a:r>
          </a:p>
          <a:p>
            <a:pPr algn="ctr"/>
            <a:r>
              <a:rPr lang="en-US" sz="1600" dirty="0"/>
              <a:t>TIBCO</a:t>
            </a:r>
          </a:p>
          <a:p>
            <a:pPr algn="ctr"/>
            <a:r>
              <a:rPr lang="en-US" sz="1600" dirty="0" err="1"/>
              <a:t>OneTick</a:t>
            </a:r>
            <a:endParaRPr lang="en-US" sz="1600" dirty="0"/>
          </a:p>
          <a:p>
            <a:pPr algn="ctr"/>
            <a:r>
              <a:rPr lang="en-US" sz="1600" dirty="0"/>
              <a:t>Amazon</a:t>
            </a:r>
          </a:p>
          <a:p>
            <a:pPr algn="ctr"/>
            <a:r>
              <a:rPr lang="en-US" sz="1600" dirty="0"/>
              <a:t>Google</a:t>
            </a:r>
          </a:p>
          <a:p>
            <a:pPr algn="ctr"/>
            <a:r>
              <a:rPr lang="en-US" sz="1600" dirty="0"/>
              <a:t>Microsoft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6F3F11-3247-561F-11EA-8FDB4DD1842A}"/>
              </a:ext>
            </a:extLst>
          </p:cNvPr>
          <p:cNvSpPr txBox="1"/>
          <p:nvPr/>
        </p:nvSpPr>
        <p:spPr>
          <a:xfrm>
            <a:off x="9684535" y="2023040"/>
            <a:ext cx="1900007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Food &amp; Drug </a:t>
            </a:r>
          </a:p>
          <a:p>
            <a:pPr algn="ctr"/>
            <a:r>
              <a:rPr lang="en-US" dirty="0"/>
              <a:t>Administration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National Weather </a:t>
            </a:r>
          </a:p>
          <a:p>
            <a:pPr algn="ctr"/>
            <a:r>
              <a:rPr lang="en-US" dirty="0"/>
              <a:t>Service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National Institute </a:t>
            </a:r>
          </a:p>
          <a:p>
            <a:pPr algn="ctr"/>
            <a:r>
              <a:rPr lang="en-US" dirty="0"/>
              <a:t>of Standards </a:t>
            </a:r>
          </a:p>
          <a:p>
            <a:pPr algn="ctr"/>
            <a:r>
              <a:rPr lang="en-US" dirty="0"/>
              <a:t>in Techn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40B2D267-81E0-2388-13B9-6C3EC56ED598}"/>
              </a:ext>
            </a:extLst>
          </p:cNvPr>
          <p:cNvSpPr/>
          <p:nvPr/>
        </p:nvSpPr>
        <p:spPr>
          <a:xfrm>
            <a:off x="367655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7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B3086C62-0ED4-7DF4-C113-DCB9BDE8C7F6}"/>
              </a:ext>
            </a:extLst>
          </p:cNvPr>
          <p:cNvSpPr/>
          <p:nvPr/>
        </p:nvSpPr>
        <p:spPr>
          <a:xfrm>
            <a:off x="2698730" y="1380164"/>
            <a:ext cx="182356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7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F5F99FC7-E5FB-F894-87C1-B3EDE90A8928}"/>
              </a:ext>
            </a:extLst>
          </p:cNvPr>
          <p:cNvSpPr/>
          <p:nvPr/>
        </p:nvSpPr>
        <p:spPr>
          <a:xfrm>
            <a:off x="4992137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7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783F4AC-E929-E681-65AC-F0B7A7D13CFF}"/>
              </a:ext>
            </a:extLst>
          </p:cNvPr>
          <p:cNvSpPr/>
          <p:nvPr/>
        </p:nvSpPr>
        <p:spPr>
          <a:xfrm>
            <a:off x="6990176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7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F747E443-F86C-6402-6B7D-FE7E61FCC6E1}"/>
              </a:ext>
            </a:extLst>
          </p:cNvPr>
          <p:cNvSpPr/>
          <p:nvPr/>
        </p:nvSpPr>
        <p:spPr>
          <a:xfrm>
            <a:off x="9722755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Government</a:t>
            </a:r>
            <a:endParaRPr lang="en-US" sz="1700" dirty="0"/>
          </a:p>
        </p:txBody>
      </p:sp>
      <p:sp>
        <p:nvSpPr>
          <p:cNvPr id="3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7FE2463-2310-4533-AD9E-7B8786991D33}" type="slidenum">
              <a:rPr lang="en-US" sz="1000">
                <a:solidFill>
                  <a:srgbClr val="8996A0"/>
                </a:solidFill>
                <a:latin typeface="Arial"/>
              </a:rPr>
              <a:t>11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910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1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+/-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3474720"/>
          </a:xfrm>
          <a:prstGeom prst="roundRect">
            <a:avLst>
              <a:gd name="adj" fmla="val 2105"/>
            </a:avLst>
          </a:prstGeom>
          <a:solidFill>
            <a:srgbClr val="2933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Extensible, with over 20,000 packages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Built by statisticians, for statistics and finance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7977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5526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Outstanding graphing capability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73075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Large, active community for help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5440680" cy="3474720"/>
          </a:xfrm>
          <a:prstGeom prst="roundRect">
            <a:avLst>
              <a:gd name="adj" fmla="val 2105"/>
            </a:avLst>
          </a:prstGeom>
          <a:solidFill>
            <a:srgbClr val="29335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Struggles with truly large data without extra effort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Official documentation can be terse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2926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Slower than lower level languages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3474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Production grade apps take real effort to build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1E1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For the scope of what we build this week, moving averages, MACD, RSI, R's limitations do not get in the way.</a:t>
            </a:r>
            <a:endParaRPr lang="en-US" sz="1350" dirty="0"/>
          </a:p>
        </p:txBody>
      </p:sp>
      <p:sp>
        <p:nvSpPr>
          <p:cNvPr id="1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8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04EAEC9-7C5D-4A4C-99AB-F217961CC23D}" type="slidenum">
              <a:rPr lang="en-US" sz="1000">
                <a:solidFill>
                  <a:srgbClr val="8996A0"/>
                </a:solidFill>
                <a:latin typeface="Arial"/>
              </a:rPr>
              <a:t>12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The basic R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same five step pattern behind every script you run this morning.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49808" y="18013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16916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Set your path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977452" y="16916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Point R at a local file, or a URL, so it knows where to look.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" y="27157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715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26060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2977452" y="26060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library(quantmod), library(TTR), the specialized tools for this task.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9808" y="36301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3630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35204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Read the data in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2977452" y="35204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read.csv</a:t>
            </a: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() or similar brings the data into memory as an object.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49808" y="45445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544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71600" y="4434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2977452" y="44348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49808" y="54589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5458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371600" y="53492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Consume the result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2977452" y="53492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Plot it, print it, or save it. This is the point of the whole script.</a:t>
            </a:r>
            <a:endParaRPr lang="en-US" sz="1250" dirty="0"/>
          </a:p>
        </p:txBody>
      </p:sp>
      <p:sp>
        <p:nvSpPr>
          <p:cNvPr id="3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2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E44E8A6E-1769-4520-ADF3-B634A162CB52}" type="slidenum">
              <a:rPr lang="en-US" sz="1000">
                <a:solidFill>
                  <a:srgbClr val="8996A0"/>
                </a:solidFill>
                <a:latin typeface="Arial"/>
              </a:rPr>
              <a:t>13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F00480D-BFD2-64CC-0D47-B9A71CD876F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48AF85C-7842-8BBE-CC23-2119CCDA820C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Let’s eat a banana for breakfast.  Where is the fruit?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9581EF9-1B22-D5D6-5187-D3CC9871A47C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67E4EB-6C1F-6DE8-81B9-FF87DDEB3249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</a:rPr>
              <a:t>2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9443E5A-EF93-F03F-9E71-9C87AFBB8A48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AD1B9F4-441C-684D-A508-E51732771A38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Point R at a local folder, file, or a URL, so it knows where to look.</a:t>
            </a:r>
            <a:endParaRPr lang="en-US" sz="1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C7503D-A850-584A-199F-E682289FAB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991" y="1947672"/>
            <a:ext cx="4437459" cy="34399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1E3561-4125-2626-447E-406248A7A4A8}"/>
              </a:ext>
            </a:extLst>
          </p:cNvPr>
          <p:cNvSpPr txBox="1"/>
          <p:nvPr/>
        </p:nvSpPr>
        <p:spPr>
          <a:xfrm>
            <a:off x="154116" y="2531504"/>
            <a:ext cx="7429875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If a "local" file, define the path to the file.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Modern R: skip 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setwd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() - it's fragile (breaks if anyone else runs the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script, or you move the file) and RStudio/Posit no longer recommends it.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Use an RStudio Project + the here package instead, so the path is always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relative to the project root regardless of whose machine runs it.</a:t>
            </a:r>
          </a:p>
          <a:p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 &lt;- here::here("ted", "fruit", "basket", "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endParaRPr lang="en-US" sz="1100" dirty="0">
              <a:latin typeface="Arial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OR WINDOWS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Forward slashes work fine on Windows in R - no escaping needed.</a:t>
            </a:r>
          </a:p>
          <a:p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 &lt;- "C:/Documents/ted/fruit/basket/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Or, since R 4.0, a raw string lets you paste a Windows path literally:</a:t>
            </a:r>
          </a:p>
          <a:p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 &lt;- r"(C:\Documents\ted\fruit\basket\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)"</a:t>
            </a:r>
          </a:p>
          <a:p>
            <a:endParaRPr lang="en-US" sz="1100" dirty="0">
              <a:latin typeface="Arial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OR MAC</a:t>
            </a:r>
          </a:p>
          <a:p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 &lt;- "~/Desktop/ted/fruit/basket/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endParaRPr lang="en-US" sz="1100" dirty="0">
              <a:latin typeface="Arial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OR</a:t>
            </a:r>
          </a:p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From a URL</a:t>
            </a:r>
          </a:p>
          <a:p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scenesDF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 &lt;- 'https://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raw.githubusercontent.com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kwartler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some_repository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/main/ted/fruit/basket/</a:t>
            </a:r>
            <a:r>
              <a:rPr lang="en-US" sz="1100" dirty="0" err="1">
                <a:latin typeface="Arial" panose="020B0609020204030204" pitchFamily="49" charset="0"/>
                <a:cs typeface="Consolas" panose="020B0609020204030204" pitchFamily="49" charset="0"/>
              </a:rPr>
              <a:t>some_file.csv</a:t>
            </a: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'</a:t>
            </a:r>
          </a:p>
        </p:txBody>
      </p:sp>
      <p:sp>
        <p:nvSpPr>
          <p:cNvPr id="12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3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D2D8795B-F306-4449-AAEE-25F2929AB573}" type="slidenum">
              <a:rPr lang="en-US" sz="1000">
                <a:solidFill>
                  <a:srgbClr val="8996A0"/>
                </a:solidFill>
                <a:latin typeface="Arial"/>
              </a:rPr>
              <a:t>14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037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B0026-1F92-272F-2356-E83EC870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61BE88B-F376-0CC8-09E0-06855DC6A13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9367DA8-A6CD-E42E-1E4A-E15118E0361C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Found the fruit basket, what tools do I need? This specialized R to be a “breakfast preparing machine”.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14E31C3-1672-ED3F-5324-19AC460CD4C1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1B5949-DFE8-A56F-BFF1-92DD1A33AAA5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7167DD-2053-068E-999D-207A49C980A3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5358236-E9A9-7FFD-AD56-01E700CDAAB5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library(</a:t>
            </a:r>
            <a:r>
              <a:rPr lang="en-US" sz="1250" dirty="0" err="1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quantmod</a:t>
            </a: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), library(TTR), the specialized tools for this task.</a:t>
            </a:r>
            <a:endParaRPr lang="en-US" sz="1250" dirty="0"/>
          </a:p>
        </p:txBody>
      </p:sp>
      <p:pic>
        <p:nvPicPr>
          <p:cNvPr id="3" name="Picture 2" descr="Image result for hand white background">
            <a:extLst>
              <a:ext uri="{FF2B5EF4-FFF2-40B4-BE49-F238E27FC236}">
                <a16:creationId xmlns:a16="http://schemas.microsoft.com/office/drawing/2014/main" id="{A37B7561-DDE8-1455-3E5F-CD8C80BDC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1E1E1E">
                  <a:alpha val="0"/>
                </a:srgbClr>
              </a:clrFrom>
              <a:clrTo>
                <a:srgbClr val="1E1E1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906" y="1471086"/>
            <a:ext cx="4827422" cy="416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://cdn.xl.thumbs.canstockphoto.com/canstock14746167.jpg">
            <a:extLst>
              <a:ext uri="{FF2B5EF4-FFF2-40B4-BE49-F238E27FC236}">
                <a16:creationId xmlns:a16="http://schemas.microsoft.com/office/drawing/2014/main" id="{2AC6522F-C1A0-95B9-8ED6-70EE8FD3F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70" b="38097"/>
          <a:stretch/>
        </p:blipFill>
        <p:spPr bwMode="auto">
          <a:xfrm rot="5400000">
            <a:off x="9279028" y="3312402"/>
            <a:ext cx="4162711" cy="105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AD58C3-6DBE-72FC-6A82-BB371D535BB1}"/>
              </a:ext>
            </a:extLst>
          </p:cNvPr>
          <p:cNvSpPr txBox="1"/>
          <p:nvPr/>
        </p:nvSpPr>
        <p:spPr>
          <a:xfrm>
            <a:off x="263544" y="3183109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# Load Libraries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F90F3-21A8-CDE1-FE01-4BA948BE2477}"/>
              </a:ext>
            </a:extLst>
          </p:cNvPr>
          <p:cNvSpPr txBox="1"/>
          <p:nvPr/>
        </p:nvSpPr>
        <p:spPr>
          <a:xfrm>
            <a:off x="263544" y="3429000"/>
            <a:ext cx="19575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library(knife)</a:t>
            </a:r>
          </a:p>
          <a:p>
            <a:r>
              <a:rPr lang="en-US" dirty="0">
                <a:latin typeface="Arial" panose="020B0609020204030204" pitchFamily="49" charset="0"/>
              </a:rPr>
              <a:t>library(peel)</a:t>
            </a:r>
          </a:p>
          <a:p>
            <a:r>
              <a:rPr lang="en-US" dirty="0">
                <a:latin typeface="Arial" panose="020B0609020204030204" pitchFamily="49" charset="0"/>
              </a:rPr>
              <a:t>library(</a:t>
            </a:r>
            <a:r>
              <a:rPr lang="en-US" dirty="0" err="1">
                <a:latin typeface="Arial" panose="020B0609020204030204" pitchFamily="49" charset="0"/>
              </a:rPr>
              <a:t>readr</a:t>
            </a:r>
            <a:r>
              <a:rPr lang="en-US" dirty="0">
                <a:latin typeface="Arial" panose="020B0609020204030204" pitchFamily="49" charset="0"/>
              </a:rPr>
              <a:t>)</a:t>
            </a:r>
          </a:p>
        </p:txBody>
      </p:sp>
      <p:sp>
        <p:nvSpPr>
          <p:cNvPr id="1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B268EA9-7803-4BD1-B300-2165C4834D84}" type="slidenum">
              <a:rPr lang="en-US" sz="1000">
                <a:solidFill>
                  <a:srgbClr val="8996A0"/>
                </a:solidFill>
                <a:latin typeface="Arial"/>
              </a:rPr>
              <a:t>15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2792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5EEFDE-FB64-C0F7-AA0F-8E365150DD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37" b="10552"/>
          <a:stretch/>
        </p:blipFill>
        <p:spPr>
          <a:xfrm>
            <a:off x="20" y="10"/>
            <a:ext cx="12191980" cy="4876789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E7EC782-E40D-7D17-8749-AF9E41E09A8B}"/>
              </a:ext>
            </a:extLst>
          </p:cNvPr>
          <p:cNvSpPr/>
          <p:nvPr/>
        </p:nvSpPr>
        <p:spPr>
          <a:xfrm>
            <a:off x="1616587" y="5247794"/>
            <a:ext cx="7784266" cy="12249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Before loading a library use </a:t>
            </a:r>
            <a:r>
              <a:rPr lang="en-US" sz="1600" dirty="0" err="1">
                <a:latin typeface="Arial" panose="020B0609020204030204" pitchFamily="49" charset="0"/>
                <a:cs typeface="Consolas" panose="020B0609020204030204" pitchFamily="49" charset="0"/>
              </a:rPr>
              <a:t>install.packages</a:t>
            </a:r>
            <a:r>
              <a:rPr lang="en-US" sz="1600" dirty="0">
                <a:latin typeface="Arial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600" dirty="0" err="1">
                <a:latin typeface="Arial" panose="020B0609020204030204" pitchFamily="49" charset="0"/>
                <a:cs typeface="Consolas" panose="020B0609020204030204" pitchFamily="49" charset="0"/>
              </a:rPr>
              <a:t>name_of_package</a:t>
            </a:r>
            <a:r>
              <a:rPr lang="en-US" sz="1600" dirty="0">
                <a:latin typeface="Arial" panose="020B0609020204030204" pitchFamily="49" charset="0"/>
                <a:cs typeface="Consolas" panose="020B0609020204030204" pitchFamily="49" charset="0"/>
              </a:rPr>
              <a:t>”). 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You only need to do this once per environment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But you will need to repeat it w/each new installation!</a:t>
            </a:r>
          </a:p>
        </p:txBody>
      </p:sp>
      <p:sp>
        <p:nvSpPr>
          <p:cNvPr id="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0124370C-DD9A-4040-A573-CA5FA9005060}" type="slidenum">
              <a:rPr lang="en-US" sz="1000">
                <a:solidFill>
                  <a:srgbClr val="8996A0"/>
                </a:solidFill>
                <a:latin typeface="Arial"/>
              </a:rPr>
              <a:t>16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3090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CD38-3AF6-B3E8-EB68-5FC1DDA4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6">
            <a:extLst>
              <a:ext uri="{FF2B5EF4-FFF2-40B4-BE49-F238E27FC236}">
                <a16:creationId xmlns:a16="http://schemas.microsoft.com/office/drawing/2014/main" id="{0D1D7904-407E-7258-7966-03277CE1E30A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FB03A43-156B-9633-5C11-577CE9F7811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871994E-CED3-3D7F-82A0-67C1197E8D27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Since R can cut &amp; peel, now let’s pick our fruit!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C7F7000-30A2-57ED-A75F-6706E1DBFA41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F55147-1F1B-9C44-C15D-3D0071BF1480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</a:rPr>
              <a:t>3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B1718F7-DCF2-D5A0-0370-BA0B445B2AEA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Read the data in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CE627D-14BC-5235-568F-E9DF6B4ECF12}"/>
              </a:ext>
            </a:extLst>
          </p:cNvPr>
          <p:cNvSpPr/>
          <p:nvPr/>
        </p:nvSpPr>
        <p:spPr>
          <a:xfrm>
            <a:off x="170550" y="1546982"/>
            <a:ext cx="729876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Many packages have read functions depending on file type i.e. pdf, excel, csv, and even database connections</a:t>
            </a:r>
            <a:endParaRPr lang="en-US" sz="1250" dirty="0"/>
          </a:p>
        </p:txBody>
      </p:sp>
      <p:pic>
        <p:nvPicPr>
          <p:cNvPr id="10" name="Picture 6" descr="Image result for banana transparent background">
            <a:extLst>
              <a:ext uri="{FF2B5EF4-FFF2-40B4-BE49-F238E27FC236}">
                <a16:creationId xmlns:a16="http://schemas.microsoft.com/office/drawing/2014/main" id="{60E7FC2F-75DB-A836-FF97-F8F77821B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451" y="1185225"/>
            <a:ext cx="4487549" cy="4487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B851AD-2B09-2E96-624A-600B9DDCAC2C}"/>
              </a:ext>
            </a:extLst>
          </p:cNvPr>
          <p:cNvSpPr txBox="1"/>
          <p:nvPr/>
        </p:nvSpPr>
        <p:spPr>
          <a:xfrm>
            <a:off x="240630" y="2465567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banana &lt;- </a:t>
            </a:r>
            <a:r>
              <a:rPr lang="en-US" dirty="0" err="1">
                <a:latin typeface="Arial" panose="020B0609020204030204" pitchFamily="49" charset="0"/>
              </a:rPr>
              <a:t>read.csv</a:t>
            </a:r>
            <a:r>
              <a:rPr lang="en-US" dirty="0">
                <a:latin typeface="Arial" panose="020B0609020204030204" pitchFamily="49" charset="0"/>
              </a:rPr>
              <a:t>(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latin typeface="Arial" panose="020B0609020204030204" pitchFamily="49" charset="0"/>
              </a:rPr>
              <a:t>Banana.csv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14" name="Speech Bubble: Rectangle with Corners Rounded 7">
            <a:extLst>
              <a:ext uri="{FF2B5EF4-FFF2-40B4-BE49-F238E27FC236}">
                <a16:creationId xmlns:a16="http://schemas.microsoft.com/office/drawing/2014/main" id="{C74A36EC-C3C7-AEEB-E8F6-33A008E10911}"/>
              </a:ext>
            </a:extLst>
          </p:cNvPr>
          <p:cNvSpPr/>
          <p:nvPr/>
        </p:nvSpPr>
        <p:spPr>
          <a:xfrm>
            <a:off x="4738235" y="4023101"/>
            <a:ext cx="3131507" cy="1164920"/>
          </a:xfrm>
          <a:prstGeom prst="wedgeRoundRectCallout">
            <a:avLst>
              <a:gd name="adj1" fmla="val -61224"/>
              <a:gd name="adj2" fmla="val -160184"/>
              <a:gd name="adj3" fmla="val 16667"/>
            </a:avLst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u="sng" dirty="0">
                <a:solidFill>
                  <a:schemeClr val="bg1"/>
                </a:solidFill>
              </a:rPr>
              <a:t>Must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Be In the working directory or full path declared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Be inside quotes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Have correct capitalization, spacing &amp; spelling matter.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271D32-BFE5-D88E-E990-A988FAE7F3D5}"/>
              </a:ext>
            </a:extLst>
          </p:cNvPr>
          <p:cNvSpPr txBox="1"/>
          <p:nvPr/>
        </p:nvSpPr>
        <p:spPr>
          <a:xfrm>
            <a:off x="240630" y="3219722"/>
            <a:ext cx="5302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latin typeface="Arial" panose="020B0609020204030204" pitchFamily="49" charset="0"/>
              </a:rPr>
              <a:t>OR</a:t>
            </a:r>
          </a:p>
          <a:p>
            <a:r>
              <a:rPr lang="en-US" dirty="0">
                <a:latin typeface="Arial" panose="020B0609020204030204" pitchFamily="49" charset="0"/>
              </a:rPr>
              <a:t>banana &lt;- </a:t>
            </a:r>
            <a:r>
              <a:rPr lang="en-US" dirty="0" err="1">
                <a:latin typeface="Arial" panose="020B0609020204030204" pitchFamily="49" charset="0"/>
              </a:rPr>
              <a:t>read.csv</a:t>
            </a:r>
            <a:r>
              <a:rPr lang="en-US" dirty="0">
                <a:latin typeface="Arial" panose="020B0609020204030204" pitchFamily="49" charset="0"/>
              </a:rPr>
              <a:t>(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latin typeface="Arial" panose="020B0609020204030204" pitchFamily="49" charset="0"/>
              </a:rPr>
              <a:t>www.csvFile.csv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16" name="Speech Bubble: Rectangle with Corners Rounded 7">
            <a:extLst>
              <a:ext uri="{FF2B5EF4-FFF2-40B4-BE49-F238E27FC236}">
                <a16:creationId xmlns:a16="http://schemas.microsoft.com/office/drawing/2014/main" id="{8400E0AD-6BF0-3C86-6B09-35828A8E8837}"/>
              </a:ext>
            </a:extLst>
          </p:cNvPr>
          <p:cNvSpPr/>
          <p:nvPr/>
        </p:nvSpPr>
        <p:spPr>
          <a:xfrm>
            <a:off x="2198217" y="4345969"/>
            <a:ext cx="2042037" cy="565653"/>
          </a:xfrm>
          <a:prstGeom prst="wedgeRoundRectCallout">
            <a:avLst>
              <a:gd name="adj1" fmla="val 15629"/>
              <a:gd name="adj2" fmla="val -145039"/>
              <a:gd name="adj3" fmla="val 16667"/>
            </a:avLst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u="sng" dirty="0">
                <a:solidFill>
                  <a:schemeClr val="bg1"/>
                </a:solidFill>
              </a:rPr>
              <a:t>Must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Refer to the URL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D70843-5658-AAA6-8A23-27D56E101C00}"/>
              </a:ext>
            </a:extLst>
          </p:cNvPr>
          <p:cNvSpPr txBox="1"/>
          <p:nvPr/>
        </p:nvSpPr>
        <p:spPr>
          <a:xfrm>
            <a:off x="472904" y="5928806"/>
            <a:ext cx="107450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 now has the object called </a:t>
            </a:r>
            <a:r>
              <a:rPr lang="en-US" sz="2000" b="1" u="sng" dirty="0">
                <a:solidFill>
                  <a:schemeClr val="bg1"/>
                </a:solidFill>
              </a:rPr>
              <a:t>banana</a:t>
            </a:r>
            <a:r>
              <a:rPr lang="en-US" sz="2000" dirty="0">
                <a:solidFill>
                  <a:schemeClr val="bg1"/>
                </a:solidFill>
              </a:rPr>
              <a:t> in memory </a:t>
            </a:r>
            <a:r>
              <a:rPr lang="en-US" sz="2000" dirty="0" err="1">
                <a:solidFill>
                  <a:schemeClr val="bg1"/>
                </a:solidFill>
              </a:rPr>
              <a:t>ie</a:t>
            </a:r>
            <a:r>
              <a:rPr lang="en-US" sz="2000" dirty="0">
                <a:solidFill>
                  <a:schemeClr val="bg1"/>
                </a:solidFill>
              </a:rPr>
              <a:t> “opening a spreadsheet”</a:t>
            </a:r>
            <a:endParaRPr lang="en-US" sz="2000" b="1" u="sng" dirty="0">
              <a:solidFill>
                <a:schemeClr val="bg1"/>
              </a:solidFill>
            </a:endParaRPr>
          </a:p>
        </p:txBody>
      </p:sp>
      <p:sp>
        <p:nvSpPr>
          <p:cNvPr id="2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FABF6ADB-6B0E-4796-9640-09DDC1143580}" type="slidenum">
              <a:rPr lang="en-US" sz="1000">
                <a:solidFill>
                  <a:srgbClr val="8996A0"/>
                </a:solidFill>
                <a:latin typeface="Arial"/>
              </a:rPr>
              <a:t>17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4183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 result for advice meme">
            <a:extLst>
              <a:ext uri="{FF2B5EF4-FFF2-40B4-BE49-F238E27FC236}">
                <a16:creationId xmlns:a16="http://schemas.microsoft.com/office/drawing/2014/main" id="{4766212A-5A41-AD8F-9646-85E95B082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186" y="1325220"/>
            <a:ext cx="5249798" cy="420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E10212-D72D-6979-ECC0-1F0B0F909CAA}"/>
              </a:ext>
            </a:extLst>
          </p:cNvPr>
          <p:cNvSpPr txBox="1"/>
          <p:nvPr/>
        </p:nvSpPr>
        <p:spPr>
          <a:xfrm>
            <a:off x="240629" y="1561078"/>
            <a:ext cx="63245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can open many files types with different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SaS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Rds</a:t>
            </a:r>
            <a:r>
              <a:rPr lang="en-US" dirty="0"/>
              <a:t>, </a:t>
            </a:r>
            <a:r>
              <a:rPr lang="en-US" dirty="0" err="1"/>
              <a:t>rda</a:t>
            </a:r>
            <a:r>
              <a:rPr lang="en-US" dirty="0"/>
              <a:t>, </a:t>
            </a:r>
            <a:r>
              <a:rPr lang="en-US" dirty="0" err="1"/>
              <a:t>fst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Databases (SQL, </a:t>
            </a:r>
            <a:r>
              <a:rPr lang="en-US" dirty="0" err="1"/>
              <a:t>mongoDB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S3 Buckets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APIs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035BCCB-D82C-42A6-5CA5-FA7CF50E6483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if my file isn’t a CSV?</a:t>
            </a:r>
            <a:endParaRPr lang="en-US" sz="26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0392B0DC-4AF4-46F2-8E9B-FAE161876E6C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E0EB6-547C-9FF3-BFC4-082041CE59D3}"/>
              </a:ext>
            </a:extLst>
          </p:cNvPr>
          <p:cNvSpPr txBox="1"/>
          <p:nvPr/>
        </p:nvSpPr>
        <p:spPr>
          <a:xfrm>
            <a:off x="667819" y="5884575"/>
            <a:ext cx="102536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Recommendation: to get started stick with CSV. 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Most software can export CSV &amp; the class files are CSV.</a:t>
            </a:r>
            <a:endParaRPr lang="en-US" sz="2000" b="1" u="sng" dirty="0">
              <a:solidFill>
                <a:schemeClr val="accent1"/>
              </a:solidFill>
            </a:endParaRPr>
          </a:p>
        </p:txBody>
      </p:sp>
      <p:sp>
        <p:nvSpPr>
          <p:cNvPr id="1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59187E5-6A1D-4D7A-A5FB-277AA0A2EDCC}" type="slidenum">
              <a:rPr lang="en-US" sz="1000">
                <a:solidFill>
                  <a:srgbClr val="8996A0"/>
                </a:solidFill>
                <a:latin typeface="Arial"/>
              </a:rPr>
              <a:t>18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406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EACCB8E-F48F-4CFE-2492-0950E59F57C7}"/>
              </a:ext>
            </a:extLst>
          </p:cNvPr>
          <p:cNvCxnSpPr/>
          <p:nvPr/>
        </p:nvCxnSpPr>
        <p:spPr>
          <a:xfrm>
            <a:off x="2093163" y="3219471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E2EE988-2076-7C67-F9F9-1C98DB08042F}"/>
              </a:ext>
            </a:extLst>
          </p:cNvPr>
          <p:cNvSpPr/>
          <p:nvPr/>
        </p:nvSpPr>
        <p:spPr>
          <a:xfrm>
            <a:off x="4350626" y="2212673"/>
            <a:ext cx="2041743" cy="2041743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57961-2650-BA0A-35FC-ED65033C89BC}"/>
              </a:ext>
            </a:extLst>
          </p:cNvPr>
          <p:cNvSpPr txBox="1"/>
          <p:nvPr/>
        </p:nvSpPr>
        <p:spPr>
          <a:xfrm>
            <a:off x="966873" y="303480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3A7499-C6BA-6D63-3439-BCB0A2EAFD81}"/>
              </a:ext>
            </a:extLst>
          </p:cNvPr>
          <p:cNvCxnSpPr/>
          <p:nvPr/>
        </p:nvCxnSpPr>
        <p:spPr>
          <a:xfrm>
            <a:off x="6821032" y="3209033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73A26DA-D0D2-6E67-99C0-9EB9B9BEBDA9}"/>
              </a:ext>
            </a:extLst>
          </p:cNvPr>
          <p:cNvSpPr txBox="1"/>
          <p:nvPr/>
        </p:nvSpPr>
        <p:spPr>
          <a:xfrm>
            <a:off x="9078496" y="30243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F70810DA-E9F8-498B-16ED-5F72E22E3DB9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8B44AA6-A004-7D66-F133-962A384A0F72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BB6976-2DB9-B563-4761-8227B5C65DD1}"/>
              </a:ext>
            </a:extLst>
          </p:cNvPr>
          <p:cNvSpPr txBox="1"/>
          <p:nvPr/>
        </p:nvSpPr>
        <p:spPr>
          <a:xfrm>
            <a:off x="531776" y="6021119"/>
            <a:ext cx="1068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Packages load specific functions to accomplish specific tasks.  You can also write your own functions &amp; packages.</a:t>
            </a:r>
          </a:p>
        </p:txBody>
      </p:sp>
      <p:sp>
        <p:nvSpPr>
          <p:cNvPr id="14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66C6F552-8562-443A-BDFF-4846ADB9C9B4}" type="slidenum">
              <a:rPr lang="en-US" sz="1000">
                <a:solidFill>
                  <a:srgbClr val="8996A0"/>
                </a:solidFill>
                <a:latin typeface="Arial"/>
              </a:rPr>
              <a:t>19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2161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2D2A28-3446-DBA1-42E7-CC0DE57FCC6E}"/>
              </a:ext>
            </a:extLst>
          </p:cNvPr>
          <p:cNvSpPr/>
          <p:nvPr/>
        </p:nvSpPr>
        <p:spPr>
          <a:xfrm>
            <a:off x="4572000" y="2623020"/>
            <a:ext cx="2041743" cy="2041743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Our Function accepts any number and is a “plus 2 and multiply by 3” Machine. 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94B9FC-0EC1-AD06-3747-3CE81A97BC12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1">
            <a:extLst>
              <a:ext uri="{FF2B5EF4-FFF2-40B4-BE49-F238E27FC236}">
                <a16:creationId xmlns:a16="http://schemas.microsoft.com/office/drawing/2014/main" id="{29379437-673A-001C-7F43-D2E4B3E8ABD9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8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16014566-FAD0-47AF-B79B-C4F022CE6B42}" type="slidenum">
              <a:rPr lang="en-US" sz="1000">
                <a:solidFill>
                  <a:srgbClr val="8996A0"/>
                </a:solidFill>
                <a:latin typeface="Arial"/>
              </a:rPr>
              <a:t>20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6587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33A2425-1667-3856-4508-970DE4FD1D78}"/>
              </a:ext>
            </a:extLst>
          </p:cNvPr>
          <p:cNvCxnSpPr/>
          <p:nvPr/>
        </p:nvCxnSpPr>
        <p:spPr>
          <a:xfrm>
            <a:off x="2298646" y="3270841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4B2BB34-B630-103E-2817-BD024F51DC3C}"/>
              </a:ext>
            </a:extLst>
          </p:cNvPr>
          <p:cNvSpPr/>
          <p:nvPr/>
        </p:nvSpPr>
        <p:spPr>
          <a:xfrm>
            <a:off x="4556109" y="2264043"/>
            <a:ext cx="2041743" cy="2041743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CF144-A3F6-BB25-AC51-38712C172AA8}"/>
              </a:ext>
            </a:extLst>
          </p:cNvPr>
          <p:cNvSpPr txBox="1"/>
          <p:nvPr/>
        </p:nvSpPr>
        <p:spPr>
          <a:xfrm>
            <a:off x="1172356" y="3086175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1FFA67-8E14-9550-B65E-907D56CFC2F2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1">
            <a:extLst>
              <a:ext uri="{FF2B5EF4-FFF2-40B4-BE49-F238E27FC236}">
                <a16:creationId xmlns:a16="http://schemas.microsoft.com/office/drawing/2014/main" id="{011E7810-07A5-7A51-D373-12AEF146E50D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9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167AED4C-5A11-49C9-A62E-FF2BBAD67676}" type="slidenum">
              <a:rPr lang="en-US" sz="1000">
                <a:solidFill>
                  <a:srgbClr val="8996A0"/>
                </a:solidFill>
                <a:latin typeface="Arial"/>
              </a:rPr>
              <a:t>21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8642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518C401-60C3-8546-9835-3E33E0ED86B1}"/>
              </a:ext>
            </a:extLst>
          </p:cNvPr>
          <p:cNvCxnSpPr/>
          <p:nvPr/>
        </p:nvCxnSpPr>
        <p:spPr>
          <a:xfrm>
            <a:off x="2278097" y="3507147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F03FF2C-DA11-6BB4-82F7-4BB94CBBC777}"/>
              </a:ext>
            </a:extLst>
          </p:cNvPr>
          <p:cNvSpPr txBox="1"/>
          <p:nvPr/>
        </p:nvSpPr>
        <p:spPr>
          <a:xfrm>
            <a:off x="1151807" y="332248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2FAA78-FFBF-FD69-E22F-5907B19C0BC4}"/>
              </a:ext>
            </a:extLst>
          </p:cNvPr>
          <p:cNvSpPr/>
          <p:nvPr/>
        </p:nvSpPr>
        <p:spPr>
          <a:xfrm>
            <a:off x="4535560" y="2500349"/>
            <a:ext cx="2041743" cy="2041743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X = 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2+X = 4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4 * 3 = 12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Return (12)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6A7096-97DB-AB57-8B55-768B0E723D0A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1">
            <a:extLst>
              <a:ext uri="{FF2B5EF4-FFF2-40B4-BE49-F238E27FC236}">
                <a16:creationId xmlns:a16="http://schemas.microsoft.com/office/drawing/2014/main" id="{214D1902-DDA9-6CF9-C322-29EC090DE1B9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9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258F6CCF-856E-46B9-BD65-094AEB0307C6}" type="slidenum">
              <a:rPr lang="en-US" sz="1000">
                <a:solidFill>
                  <a:srgbClr val="8996A0"/>
                </a:solidFill>
                <a:latin typeface="Arial"/>
              </a:rPr>
              <a:t>22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2788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46ABB8-D61A-EAAA-7E57-581DFDB90F69}"/>
              </a:ext>
            </a:extLst>
          </p:cNvPr>
          <p:cNvCxnSpPr/>
          <p:nvPr/>
        </p:nvCxnSpPr>
        <p:spPr>
          <a:xfrm>
            <a:off x="2421935" y="3507148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237E905-9B19-284D-44C5-CC652515353A}"/>
              </a:ext>
            </a:extLst>
          </p:cNvPr>
          <p:cNvCxnSpPr/>
          <p:nvPr/>
        </p:nvCxnSpPr>
        <p:spPr>
          <a:xfrm>
            <a:off x="7149804" y="3496710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1B7889-AF71-9D22-6384-F1CFE221A282}"/>
              </a:ext>
            </a:extLst>
          </p:cNvPr>
          <p:cNvSpPr txBox="1"/>
          <p:nvPr/>
        </p:nvSpPr>
        <p:spPr>
          <a:xfrm>
            <a:off x="9407268" y="3312044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</a:t>
            </a:r>
          </a:p>
          <a:p>
            <a:pPr algn="ctr"/>
            <a:r>
              <a:rPr lang="en-US" dirty="0"/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9D940-9AD3-748C-20A4-6FE02B8D41EC}"/>
              </a:ext>
            </a:extLst>
          </p:cNvPr>
          <p:cNvSpPr txBox="1"/>
          <p:nvPr/>
        </p:nvSpPr>
        <p:spPr>
          <a:xfrm>
            <a:off x="1295645" y="3322482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BF456B-5485-3BA5-4FA9-4934D3D7FC7D}"/>
              </a:ext>
            </a:extLst>
          </p:cNvPr>
          <p:cNvSpPr/>
          <p:nvPr/>
        </p:nvSpPr>
        <p:spPr>
          <a:xfrm>
            <a:off x="4679398" y="2500350"/>
            <a:ext cx="2041743" cy="2041743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X = 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2+X = 4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4 * 3 = 12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Return (12)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3D7291C-7D21-E6E4-02CB-CAA60304CF5E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1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2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D0E34C0-7F40-4D22-AEA9-233DE6B7EB54}" type="slidenum">
              <a:rPr lang="en-US" sz="1000">
                <a:solidFill>
                  <a:srgbClr val="8996A0"/>
                </a:solidFill>
                <a:latin typeface="Arial"/>
              </a:rPr>
              <a:t>23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1564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57BAE2B-D9D2-1DD9-F93F-6E7454B431DD}"/>
              </a:ext>
            </a:extLst>
          </p:cNvPr>
          <p:cNvCxnSpPr>
            <a:cxnSpLocks/>
          </p:cNvCxnSpPr>
          <p:nvPr/>
        </p:nvCxnSpPr>
        <p:spPr>
          <a:xfrm>
            <a:off x="2658241" y="3589516"/>
            <a:ext cx="99787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94C28FF-C92F-476C-0D26-3A70FA495F4D}"/>
              </a:ext>
            </a:extLst>
          </p:cNvPr>
          <p:cNvCxnSpPr/>
          <p:nvPr/>
        </p:nvCxnSpPr>
        <p:spPr>
          <a:xfrm>
            <a:off x="7386110" y="3589516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3DF4C9-D177-CD6E-FA37-3652016B51A4}"/>
              </a:ext>
            </a:extLst>
          </p:cNvPr>
          <p:cNvSpPr txBox="1"/>
          <p:nvPr/>
        </p:nvSpPr>
        <p:spPr>
          <a:xfrm>
            <a:off x="9643574" y="3266351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</a:t>
            </a:r>
          </a:p>
          <a:p>
            <a:pPr algn="ctr"/>
            <a:r>
              <a:rPr lang="en-US" dirty="0"/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AA42A-15A0-E85D-D22D-9C99AF0CF6E4}"/>
              </a:ext>
            </a:extLst>
          </p:cNvPr>
          <p:cNvSpPr txBox="1"/>
          <p:nvPr/>
        </p:nvSpPr>
        <p:spPr>
          <a:xfrm>
            <a:off x="1531951" y="326635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AE4E412D-CF1E-90E9-3936-ECCEA922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787" y="2643366"/>
            <a:ext cx="4533900" cy="1892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C3A94054-A2E0-3D1B-AED6-36DA8B6892F3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1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1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D2ACD557-4154-4362-94A5-FFD1A9D9DDAC}" type="slidenum">
              <a:rPr lang="en-US" sz="1000">
                <a:solidFill>
                  <a:srgbClr val="8996A0"/>
                </a:solidFill>
                <a:latin typeface="Arial"/>
              </a:rPr>
              <a:t>24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6331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knife&#10;&#10;Description automatically generated">
            <a:extLst>
              <a:ext uri="{FF2B5EF4-FFF2-40B4-BE49-F238E27FC236}">
                <a16:creationId xmlns:a16="http://schemas.microsoft.com/office/drawing/2014/main" id="{CB5DFF8D-58F0-6991-4E55-25B400B9B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2" y="2145419"/>
            <a:ext cx="2599083" cy="49982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32F984-099D-6B12-DC2C-8DCEB212120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107096" y="2398643"/>
            <a:ext cx="2385389" cy="866086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910A02-EAD6-986D-E2D4-F62BB91BC330}"/>
              </a:ext>
            </a:extLst>
          </p:cNvPr>
          <p:cNvCxnSpPr>
            <a:cxnSpLocks/>
          </p:cNvCxnSpPr>
          <p:nvPr/>
        </p:nvCxnSpPr>
        <p:spPr>
          <a:xfrm>
            <a:off x="3044043" y="1762539"/>
            <a:ext cx="0" cy="38431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AFE4BE-76D9-7A48-797B-31DF7EA9C590}"/>
              </a:ext>
            </a:extLst>
          </p:cNvPr>
          <p:cNvSpPr txBox="1"/>
          <p:nvPr/>
        </p:nvSpPr>
        <p:spPr>
          <a:xfrm>
            <a:off x="2686380" y="113126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16227490-7465-F33C-F164-91C56C887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535" y="3264729"/>
            <a:ext cx="4533900" cy="1892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2CC7EBD8-E648-3A6C-4744-D8FBC290CB24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1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1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203C3427-B0A2-481C-8649-9ED5AC2310A3}" type="slidenum">
              <a:rPr lang="en-US" sz="1000">
                <a:solidFill>
                  <a:srgbClr val="8996A0"/>
                </a:solidFill>
                <a:latin typeface="Arial"/>
              </a:rPr>
              <a:t>25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004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5732-41AF-0E75-F082-8A357447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7B9C251-9DA9-9AAF-A109-95DD579FF131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F0A53DD-6CF2-DA27-1601-DD4CFA7195DF}"/>
              </a:ext>
            </a:extLst>
          </p:cNvPr>
          <p:cNvSpPr/>
          <p:nvPr/>
        </p:nvSpPr>
        <p:spPr>
          <a:xfrm>
            <a:off x="376033" y="777240"/>
            <a:ext cx="1065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Within the knife &amp; peel packages there are functions like dice, slice, pound, peel etc. &amp; we need to select the right functions for our analysis.  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11EBCD-E240-5F92-027C-DDAB56F0779A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B77956-1241-22B1-2BBF-501C7243B352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</a:rPr>
              <a:t>4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7AD3E7A-7957-C28A-788C-AF047B6E47F1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615496C-46A6-9092-9458-552898B33563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63AC52-7688-4840-4646-3243B6A9C88E}"/>
              </a:ext>
            </a:extLst>
          </p:cNvPr>
          <p:cNvSpPr txBox="1"/>
          <p:nvPr/>
        </p:nvSpPr>
        <p:spPr>
          <a:xfrm>
            <a:off x="928065" y="2831348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 &lt;- </a:t>
            </a:r>
            <a:r>
              <a:rPr lang="en-US" dirty="0" err="1">
                <a:latin typeface="Arial" panose="020B0609020204030204" pitchFamily="49" charset="0"/>
              </a:rPr>
              <a:t>cutinhalf</a:t>
            </a:r>
            <a:r>
              <a:rPr lang="en-US" dirty="0">
                <a:latin typeface="Arial" panose="020B0609020204030204" pitchFamily="49" charset="0"/>
              </a:rPr>
              <a:t>(banana )</a:t>
            </a:r>
            <a:endParaRPr lang="en-US" dirty="0"/>
          </a:p>
        </p:txBody>
      </p:sp>
      <p:pic>
        <p:nvPicPr>
          <p:cNvPr id="14" name="Picture 2" descr="http://www.brainkandie.com/images/banana.png">
            <a:extLst>
              <a:ext uri="{FF2B5EF4-FFF2-40B4-BE49-F238E27FC236}">
                <a16:creationId xmlns:a16="http://schemas.microsoft.com/office/drawing/2014/main" id="{169B49AA-93FF-8A55-1BAA-26CFE882D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60055" y="1774329"/>
            <a:ext cx="4241610" cy="254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http://cdn.xl.thumbs.canstockphoto.com/canstock14746167.jpg">
            <a:extLst>
              <a:ext uri="{FF2B5EF4-FFF2-40B4-BE49-F238E27FC236}">
                <a16:creationId xmlns:a16="http://schemas.microsoft.com/office/drawing/2014/main" id="{87B70BE6-9BD8-0996-1FBB-80CCEF3C4E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70" b="38097"/>
          <a:stretch/>
        </p:blipFill>
        <p:spPr bwMode="auto">
          <a:xfrm rot="5400000">
            <a:off x="9133869" y="3166670"/>
            <a:ext cx="3581980" cy="91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9FA49CD-62A6-AD00-2586-DADD010DCA04}"/>
              </a:ext>
            </a:extLst>
          </p:cNvPr>
          <p:cNvSpPr/>
          <p:nvPr/>
        </p:nvSpPr>
        <p:spPr>
          <a:xfrm>
            <a:off x="2683594" y="3345657"/>
            <a:ext cx="1290182" cy="340197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4AFC10-F595-008E-A3DB-41B632012631}"/>
              </a:ext>
            </a:extLst>
          </p:cNvPr>
          <p:cNvSpPr txBox="1"/>
          <p:nvPr/>
        </p:nvSpPr>
        <p:spPr>
          <a:xfrm>
            <a:off x="4152564" y="33310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0182B4-7644-E619-C0BC-174B8CE611C9}"/>
              </a:ext>
            </a:extLst>
          </p:cNvPr>
          <p:cNvSpPr txBox="1"/>
          <p:nvPr/>
        </p:nvSpPr>
        <p:spPr>
          <a:xfrm>
            <a:off x="1170086" y="33310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484847-719E-B75B-9CCF-EE0405775412}"/>
              </a:ext>
            </a:extLst>
          </p:cNvPr>
          <p:cNvCxnSpPr/>
          <p:nvPr/>
        </p:nvCxnSpPr>
        <p:spPr>
          <a:xfrm>
            <a:off x="2495704" y="3241435"/>
            <a:ext cx="0" cy="54864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26091AB-C2EA-436C-6ED5-685C6241A2B0}"/>
              </a:ext>
            </a:extLst>
          </p:cNvPr>
          <p:cNvSpPr/>
          <p:nvPr/>
        </p:nvSpPr>
        <p:spPr>
          <a:xfrm>
            <a:off x="3880753" y="333108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BCD8CB-055B-5730-AD92-B76B6E8B7047}"/>
              </a:ext>
            </a:extLst>
          </p:cNvPr>
          <p:cNvSpPr/>
          <p:nvPr/>
        </p:nvSpPr>
        <p:spPr>
          <a:xfrm>
            <a:off x="4853818" y="333108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EAD753A0-CC3E-EAB4-4876-74129FC092E6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7C2F50-C757-D724-27AD-93EC1477B5DD}"/>
              </a:ext>
            </a:extLst>
          </p:cNvPr>
          <p:cNvSpPr txBox="1"/>
          <p:nvPr/>
        </p:nvSpPr>
        <p:spPr>
          <a:xfrm>
            <a:off x="564488" y="5803307"/>
            <a:ext cx="10561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>
                <a:solidFill>
                  <a:schemeClr val="bg1"/>
                </a:solidFill>
                <a:latin typeface="Arial" panose="020B0609020204030204" pitchFamily="49" charset="0"/>
              </a:rPr>
              <a:t>&lt;-</a:t>
            </a:r>
            <a:r>
              <a:rPr lang="en-US" sz="2400" dirty="0">
                <a:solidFill>
                  <a:schemeClr val="bg1"/>
                </a:solidFill>
                <a:latin typeface="Arial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-US" sz="2400" dirty="0">
                <a:solidFill>
                  <a:schemeClr val="bg1"/>
                </a:solidFill>
                <a:latin typeface="Arial" panose="020B0609020204030204" pitchFamily="49" charset="0"/>
              </a:rPr>
              <a:t>is the assignment operator, assigning a variable name to the function output.</a:t>
            </a:r>
            <a:endParaRPr lang="en-US" sz="2400" b="1" u="sng" dirty="0">
              <a:solidFill>
                <a:schemeClr val="bg1"/>
              </a:solidFill>
            </a:endParaRPr>
          </a:p>
        </p:txBody>
      </p:sp>
      <p:sp>
        <p:nvSpPr>
          <p:cNvPr id="2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EC48409-79C5-4FB4-9CF6-C8881C638E09}" type="slidenum">
              <a:rPr lang="en-US" sz="1000">
                <a:solidFill>
                  <a:srgbClr val="8996A0"/>
                </a:solidFill>
                <a:latin typeface="Arial"/>
              </a:rPr>
              <a:t>26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1343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546B2-5236-C7A6-08F1-22E3B2C8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31BF5A51-A0DF-2993-DD9E-23CE68518A8C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85B984-576B-A917-F42A-2BF6479AA46F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28ACE9-3CE1-5A8D-2AA2-4A94CA9DDD7D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</a:rPr>
              <a:t>4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0191A2-4DD8-A9E4-58C1-251A1D0CD417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3F489CB-6380-868D-C589-8C17DABFCF39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976BE338-2EF5-104D-06AE-72C384457C7B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AF1A90-423F-4B2B-2A99-CBE98FC130E1}"/>
              </a:ext>
            </a:extLst>
          </p:cNvPr>
          <p:cNvSpPr txBox="1"/>
          <p:nvPr/>
        </p:nvSpPr>
        <p:spPr>
          <a:xfrm>
            <a:off x="564488" y="5803307"/>
            <a:ext cx="10561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9020204030204" pitchFamily="49" charset="0"/>
                <a:cs typeface="Consolas" panose="020B0609020204030204" pitchFamily="49" charset="0"/>
              </a:rPr>
              <a:t>Line by line we execute code, sometimes creating new object variables &amp; other times overwriting them.</a:t>
            </a:r>
            <a:endParaRPr lang="en-US" sz="2400" b="1" u="sng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77D2F-BAF2-CC92-54F2-D81E005E2F79}"/>
              </a:ext>
            </a:extLst>
          </p:cNvPr>
          <p:cNvSpPr txBox="1"/>
          <p:nvPr/>
        </p:nvSpPr>
        <p:spPr>
          <a:xfrm>
            <a:off x="240630" y="3233733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 &lt;- </a:t>
            </a:r>
            <a:r>
              <a:rPr lang="en-US" dirty="0" err="1">
                <a:latin typeface="Arial" panose="020B0609020204030204" pitchFamily="49" charset="0"/>
              </a:rPr>
              <a:t>cutinhalf</a:t>
            </a:r>
            <a:r>
              <a:rPr lang="en-US" dirty="0">
                <a:latin typeface="Arial" panose="020B0609020204030204" pitchFamily="49" charset="0"/>
              </a:rPr>
              <a:t>(banana 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FDABA-A171-ED69-CCE5-F6B1D4FD5E2D}"/>
              </a:ext>
            </a:extLst>
          </p:cNvPr>
          <p:cNvSpPr/>
          <p:nvPr/>
        </p:nvSpPr>
        <p:spPr>
          <a:xfrm>
            <a:off x="2494405" y="4862033"/>
            <a:ext cx="1290182" cy="340197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A5A16-6C4B-781F-2045-FD82D87AF6A4}"/>
              </a:ext>
            </a:extLst>
          </p:cNvPr>
          <p:cNvSpPr txBox="1"/>
          <p:nvPr/>
        </p:nvSpPr>
        <p:spPr>
          <a:xfrm>
            <a:off x="3963375" y="484746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02F035-C260-62B0-83C6-B5375748DCAB}"/>
              </a:ext>
            </a:extLst>
          </p:cNvPr>
          <p:cNvSpPr txBox="1"/>
          <p:nvPr/>
        </p:nvSpPr>
        <p:spPr>
          <a:xfrm>
            <a:off x="980897" y="484746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0FDF6E-8678-2EB7-E74F-C8F43ABA841F}"/>
              </a:ext>
            </a:extLst>
          </p:cNvPr>
          <p:cNvCxnSpPr/>
          <p:nvPr/>
        </p:nvCxnSpPr>
        <p:spPr>
          <a:xfrm>
            <a:off x="2306515" y="4757811"/>
            <a:ext cx="0" cy="54864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C4DF1CE-DD53-D4B6-524E-23DBE5B16B47}"/>
              </a:ext>
            </a:extLst>
          </p:cNvPr>
          <p:cNvSpPr/>
          <p:nvPr/>
        </p:nvSpPr>
        <p:spPr>
          <a:xfrm>
            <a:off x="3691564" y="4847465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2A1CB5-4EF9-21C3-5ED7-C4275F3E8F29}"/>
              </a:ext>
            </a:extLst>
          </p:cNvPr>
          <p:cNvSpPr/>
          <p:nvPr/>
        </p:nvSpPr>
        <p:spPr>
          <a:xfrm>
            <a:off x="5044375" y="480682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 )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9F1A74-5CA5-6AD5-61FF-49EE35E7E37E}"/>
              </a:ext>
            </a:extLst>
          </p:cNvPr>
          <p:cNvSpPr txBox="1"/>
          <p:nvPr/>
        </p:nvSpPr>
        <p:spPr>
          <a:xfrm>
            <a:off x="767693" y="4388479"/>
            <a:ext cx="474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 &lt;- peel     ( </a:t>
            </a:r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EDE04D-A326-AC2C-99C8-D26449E45F2D}"/>
              </a:ext>
            </a:extLst>
          </p:cNvPr>
          <p:cNvSpPr txBox="1"/>
          <p:nvPr/>
        </p:nvSpPr>
        <p:spPr>
          <a:xfrm>
            <a:off x="240630" y="1944176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library(knife)</a:t>
            </a:r>
          </a:p>
          <a:p>
            <a:r>
              <a:rPr lang="en-US" dirty="0">
                <a:latin typeface="Arial" panose="020B0609020204030204" pitchFamily="49" charset="0"/>
              </a:rPr>
              <a:t>library(peel)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76A27A-5D43-120B-A6D7-F546C5935712}"/>
              </a:ext>
            </a:extLst>
          </p:cNvPr>
          <p:cNvSpPr txBox="1"/>
          <p:nvPr/>
        </p:nvSpPr>
        <p:spPr>
          <a:xfrm>
            <a:off x="240630" y="2773658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banana &lt;- </a:t>
            </a:r>
            <a:r>
              <a:rPr lang="en-US" dirty="0" err="1">
                <a:latin typeface="Arial" panose="020B0609020204030204" pitchFamily="49" charset="0"/>
              </a:rPr>
              <a:t>read.csv</a:t>
            </a:r>
            <a:r>
              <a:rPr lang="en-US" dirty="0">
                <a:latin typeface="Arial" panose="020B0609020204030204" pitchFamily="49" charset="0"/>
              </a:rPr>
              <a:t>(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 err="1">
                <a:latin typeface="Arial" panose="020B0609020204030204" pitchFamily="49" charset="0"/>
              </a:rPr>
              <a:t>Banana.csv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pic>
        <p:nvPicPr>
          <p:cNvPr id="29" name="Picture 2" descr="Image result for half banana">
            <a:extLst>
              <a:ext uri="{FF2B5EF4-FFF2-40B4-BE49-F238E27FC236}">
                <a16:creationId xmlns:a16="http://schemas.microsoft.com/office/drawing/2014/main" id="{383E9E81-99E2-F3B6-6394-AC930809E6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65" b="28476"/>
          <a:stretch/>
        </p:blipFill>
        <p:spPr bwMode="auto">
          <a:xfrm rot="1615433" flipV="1">
            <a:off x="6051558" y="1701569"/>
            <a:ext cx="4461638" cy="207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Image result for hand white background">
            <a:extLst>
              <a:ext uri="{FF2B5EF4-FFF2-40B4-BE49-F238E27FC236}">
                <a16:creationId xmlns:a16="http://schemas.microsoft.com/office/drawing/2014/main" id="{13B16EBC-F5F3-EAC9-B940-D5587EC81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186" y="1804428"/>
            <a:ext cx="3171266" cy="273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B30CA9-E496-BD2A-C159-4ADF41B948A2}"/>
              </a:ext>
            </a:extLst>
          </p:cNvPr>
          <p:cNvCxnSpPr>
            <a:cxnSpLocks/>
            <a:stCxn id="32" idx="4"/>
            <a:endCxn id="33" idx="0"/>
          </p:cNvCxnSpPr>
          <p:nvPr/>
        </p:nvCxnSpPr>
        <p:spPr>
          <a:xfrm>
            <a:off x="908137" y="3657032"/>
            <a:ext cx="2876450" cy="681581"/>
          </a:xfrm>
          <a:prstGeom prst="straightConnector1">
            <a:avLst/>
          </a:prstGeom>
          <a:ln w="12700">
            <a:solidFill>
              <a:srgbClr val="A51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9AF468A-5114-D503-EBFD-E26EF779E93F}"/>
              </a:ext>
            </a:extLst>
          </p:cNvPr>
          <p:cNvSpPr/>
          <p:nvPr/>
        </p:nvSpPr>
        <p:spPr>
          <a:xfrm>
            <a:off x="112734" y="3205620"/>
            <a:ext cx="1590806" cy="451412"/>
          </a:xfrm>
          <a:prstGeom prst="ellipse">
            <a:avLst/>
          </a:prstGeom>
          <a:noFill/>
          <a:ln>
            <a:solidFill>
              <a:srgbClr val="A51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F444C2C-6B91-DE14-BAD8-69999D370FE6}"/>
              </a:ext>
            </a:extLst>
          </p:cNvPr>
          <p:cNvSpPr/>
          <p:nvPr/>
        </p:nvSpPr>
        <p:spPr>
          <a:xfrm>
            <a:off x="2976245" y="4338613"/>
            <a:ext cx="1616684" cy="451412"/>
          </a:xfrm>
          <a:prstGeom prst="ellipse">
            <a:avLst/>
          </a:prstGeom>
          <a:noFill/>
          <a:ln>
            <a:solidFill>
              <a:srgbClr val="A51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E982A057-9FFC-BD52-3ED7-0501D2493924}"/>
              </a:ext>
            </a:extLst>
          </p:cNvPr>
          <p:cNvSpPr/>
          <p:nvPr/>
        </p:nvSpPr>
        <p:spPr>
          <a:xfrm>
            <a:off x="376033" y="777240"/>
            <a:ext cx="1065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Within the knife &amp; peel packages there are functions like dice, slice, pound, peel etc. &amp; we need to select the right functions for our analysis.  </a:t>
            </a:r>
          </a:p>
        </p:txBody>
      </p:sp>
      <p:sp>
        <p:nvSpPr>
          <p:cNvPr id="3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E1DEB3C8-5FD8-44A0-8FF5-FFC32D832411}" type="slidenum">
              <a:rPr lang="en-US" sz="1000">
                <a:solidFill>
                  <a:srgbClr val="8996A0"/>
                </a:solidFill>
                <a:latin typeface="Arial"/>
              </a:rPr>
              <a:t>27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1921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139825-7F1E-2B5C-D1B5-2A69D77572FE}"/>
              </a:ext>
            </a:extLst>
          </p:cNvPr>
          <p:cNvSpPr txBox="1"/>
          <p:nvPr/>
        </p:nvSpPr>
        <p:spPr>
          <a:xfrm>
            <a:off x="240630" y="2990425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 &lt;- </a:t>
            </a:r>
            <a:r>
              <a:rPr lang="en-US" dirty="0" err="1">
                <a:latin typeface="Arial" panose="020B0609020204030204" pitchFamily="49" charset="0"/>
              </a:rPr>
              <a:t>cutinhalf</a:t>
            </a:r>
            <a:r>
              <a:rPr lang="en-US" dirty="0">
                <a:latin typeface="Arial" panose="020B0609020204030204" pitchFamily="49" charset="0"/>
              </a:rPr>
              <a:t>(banana)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8984C9-670C-87EB-D853-E0AD49B9AFF8}"/>
              </a:ext>
            </a:extLst>
          </p:cNvPr>
          <p:cNvSpPr/>
          <p:nvPr/>
        </p:nvSpPr>
        <p:spPr>
          <a:xfrm>
            <a:off x="309114" y="4169613"/>
            <a:ext cx="1290182" cy="340197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62582D-4FFF-318B-0529-D168F1992E2D}"/>
              </a:ext>
            </a:extLst>
          </p:cNvPr>
          <p:cNvSpPr txBox="1"/>
          <p:nvPr/>
        </p:nvSpPr>
        <p:spPr>
          <a:xfrm>
            <a:off x="1703285" y="415504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68839A-3D36-EC0B-630F-CE54657F0D38}"/>
              </a:ext>
            </a:extLst>
          </p:cNvPr>
          <p:cNvSpPr/>
          <p:nvPr/>
        </p:nvSpPr>
        <p:spPr>
          <a:xfrm>
            <a:off x="1506273" y="4155045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2B244D-054F-FF07-33DD-7F7575563A31}"/>
              </a:ext>
            </a:extLst>
          </p:cNvPr>
          <p:cNvSpPr/>
          <p:nvPr/>
        </p:nvSpPr>
        <p:spPr>
          <a:xfrm>
            <a:off x="2286620" y="4140478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56E47-831D-F037-D5B5-EA23101E9284}"/>
              </a:ext>
            </a:extLst>
          </p:cNvPr>
          <p:cNvSpPr txBox="1"/>
          <p:nvPr/>
        </p:nvSpPr>
        <p:spPr>
          <a:xfrm>
            <a:off x="240630" y="3295239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 &lt;- peel(</a:t>
            </a:r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573C01-9196-4C19-E987-89E670F216BC}"/>
              </a:ext>
            </a:extLst>
          </p:cNvPr>
          <p:cNvSpPr txBox="1"/>
          <p:nvPr/>
        </p:nvSpPr>
        <p:spPr>
          <a:xfrm>
            <a:off x="240630" y="2103796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library(knife)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B227F-4BB1-F46D-F3A8-B5A76562A3E1}"/>
              </a:ext>
            </a:extLst>
          </p:cNvPr>
          <p:cNvSpPr txBox="1"/>
          <p:nvPr/>
        </p:nvSpPr>
        <p:spPr>
          <a:xfrm>
            <a:off x="240630" y="2685610"/>
            <a:ext cx="4743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banana     &lt;- </a:t>
            </a:r>
            <a:r>
              <a:rPr lang="en-US" dirty="0" err="1">
                <a:latin typeface="Arial" panose="020B0609020204030204" pitchFamily="49" charset="0"/>
              </a:rPr>
              <a:t>read.csv</a:t>
            </a:r>
            <a:r>
              <a:rPr lang="en-US" dirty="0">
                <a:latin typeface="Arial" panose="020B0609020204030204" pitchFamily="49" charset="0"/>
              </a:rPr>
              <a:t>(“Banana.csv”)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CFEAE8-E6AF-9E85-D7DF-1BE721EAE343}"/>
              </a:ext>
            </a:extLst>
          </p:cNvPr>
          <p:cNvGrpSpPr/>
          <p:nvPr/>
        </p:nvGrpSpPr>
        <p:grpSpPr>
          <a:xfrm>
            <a:off x="5836031" y="1759426"/>
            <a:ext cx="6115339" cy="3583329"/>
            <a:chOff x="4884420" y="2092654"/>
            <a:chExt cx="3840480" cy="2250358"/>
          </a:xfrm>
        </p:grpSpPr>
        <p:pic>
          <p:nvPicPr>
            <p:cNvPr id="12" name="Picture 4" descr="http://sape.inf.usi.ch/sites/default/files/ggplot2-geom_blank-example.png">
              <a:extLst>
                <a:ext uri="{FF2B5EF4-FFF2-40B4-BE49-F238E27FC236}">
                  <a16:creationId xmlns:a16="http://schemas.microsoft.com/office/drawing/2014/main" id="{F23DEC36-B7A2-C4DD-F263-4E1DD60965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06"/>
            <a:stretch/>
          </p:blipFill>
          <p:spPr bwMode="auto">
            <a:xfrm>
              <a:off x="4884420" y="2092654"/>
              <a:ext cx="3840480" cy="2250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Image result for half banana">
              <a:extLst>
                <a:ext uri="{FF2B5EF4-FFF2-40B4-BE49-F238E27FC236}">
                  <a16:creationId xmlns:a16="http://schemas.microsoft.com/office/drawing/2014/main" id="{557C1D84-A6FF-61E4-2D38-F0737A9018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469884" y="2498909"/>
              <a:ext cx="2787633" cy="1217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CA2C067-C4CC-DE97-5DF7-FCC86D393EA2}"/>
              </a:ext>
            </a:extLst>
          </p:cNvPr>
          <p:cNvSpPr txBox="1"/>
          <p:nvPr/>
        </p:nvSpPr>
        <p:spPr>
          <a:xfrm>
            <a:off x="370235" y="3755139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plot(</a:t>
            </a:r>
            <a:r>
              <a:rPr lang="en-US" dirty="0" err="1">
                <a:latin typeface="Arial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90D1CD80-92B7-E10D-1335-CD373E0AE70B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E981014E-C433-5B6E-6266-A62D8A74D5DE}"/>
              </a:ext>
            </a:extLst>
          </p:cNvPr>
          <p:cNvSpPr/>
          <p:nvPr/>
        </p:nvSpPr>
        <p:spPr>
          <a:xfrm>
            <a:off x="376033" y="777240"/>
            <a:ext cx="1065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Now our output is ready for consumption, breakfast is ready!</a:t>
            </a: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6C07D23A-4629-D824-CA1C-FCBF0356BF01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247FA2-F70B-A1EC-A588-56337BF548B7}"/>
              </a:ext>
            </a:extLst>
          </p:cNvPr>
          <p:cNvSpPr txBox="1"/>
          <p:nvPr/>
        </p:nvSpPr>
        <p:spPr>
          <a:xfrm>
            <a:off x="564488" y="5803307"/>
            <a:ext cx="10561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9020204030204" pitchFamily="49" charset="0"/>
                <a:cs typeface="Consolas" panose="020B0609020204030204" pitchFamily="49" charset="0"/>
              </a:rPr>
              <a:t>Sometimes we do not create new objects in the environment but just objects (ML models, or plots).</a:t>
            </a:r>
            <a:endParaRPr lang="en-US" sz="2400" b="1" u="sng" dirty="0">
              <a:solidFill>
                <a:schemeClr val="bg1"/>
              </a:solidFill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C2BBFC22-D80C-727C-DA0E-402B5999CF31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BA12A58-E998-A609-F623-C52ACBFC7797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61A13246-F2BB-E6EB-444F-69D36A4BC879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Plot it, print it, or save it. This is the point of the whole script.</a:t>
            </a:r>
            <a:endParaRPr lang="en-US" sz="125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4FCF1082-7311-A777-CA28-2FB633216100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Consume the result</a:t>
            </a:r>
            <a:endParaRPr lang="en-US" sz="1350" dirty="0"/>
          </a:p>
        </p:txBody>
      </p:sp>
      <p:sp>
        <p:nvSpPr>
          <p:cNvPr id="23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FF613590-EE33-4D69-8095-2688BD429FE7}" type="slidenum">
              <a:rPr lang="en-US" sz="1000">
                <a:solidFill>
                  <a:srgbClr val="8996A0"/>
                </a:solidFill>
                <a:latin typeface="Arial"/>
              </a:rPr>
              <a:t>28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3184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B1EB-980C-CD76-25F2-7EF6F2BCD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0E30BE4-0465-DECA-DEBD-284941CCDCF7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The basic R workflow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5FD9FD1-11F3-6971-5536-B17B89E0E9D9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same five step pattern behind every script you run this morning.</a:t>
            </a:r>
            <a:endParaRPr lang="en-US" sz="13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F9F1C77-9053-70A3-C18F-66767F2C0490}"/>
              </a:ext>
            </a:extLst>
          </p:cNvPr>
          <p:cNvSpPr/>
          <p:nvPr/>
        </p:nvSpPr>
        <p:spPr>
          <a:xfrm>
            <a:off x="749808" y="18013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B132B93-68E3-0204-C4F3-74CAF205F275}"/>
              </a:ext>
            </a:extLst>
          </p:cNvPr>
          <p:cNvSpPr/>
          <p:nvPr/>
        </p:nvSpPr>
        <p:spPr>
          <a:xfrm>
            <a:off x="749808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50113E7-C7B4-C884-E1C1-E25F62AA0C0A}"/>
              </a:ext>
            </a:extLst>
          </p:cNvPr>
          <p:cNvSpPr/>
          <p:nvPr/>
        </p:nvSpPr>
        <p:spPr>
          <a:xfrm>
            <a:off x="1371600" y="16916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Set your path</a:t>
            </a:r>
            <a:endParaRPr lang="en-US" sz="13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A742CD9-289A-AD25-C269-A8D14B37F981}"/>
              </a:ext>
            </a:extLst>
          </p:cNvPr>
          <p:cNvSpPr/>
          <p:nvPr/>
        </p:nvSpPr>
        <p:spPr>
          <a:xfrm>
            <a:off x="2977452" y="16916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Point R at a local file, or a URL, so it knows where to look.</a:t>
            </a:r>
            <a:endParaRPr lang="en-US" sz="12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31B260C-4A20-30DA-46A1-AFB0C1E29129}"/>
              </a:ext>
            </a:extLst>
          </p:cNvPr>
          <p:cNvSpPr/>
          <p:nvPr/>
        </p:nvSpPr>
        <p:spPr>
          <a:xfrm>
            <a:off x="749808" y="27157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A3BFC73-59A5-128A-850C-DE97862E8AB5}"/>
              </a:ext>
            </a:extLst>
          </p:cNvPr>
          <p:cNvSpPr/>
          <p:nvPr/>
        </p:nvSpPr>
        <p:spPr>
          <a:xfrm>
            <a:off x="749808" y="2715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3018EDA-F928-2AFC-1794-205BC4E304A4}"/>
              </a:ext>
            </a:extLst>
          </p:cNvPr>
          <p:cNvSpPr/>
          <p:nvPr/>
        </p:nvSpPr>
        <p:spPr>
          <a:xfrm>
            <a:off x="1371600" y="26060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B431907-F983-7053-4E72-71A54C76E864}"/>
              </a:ext>
            </a:extLst>
          </p:cNvPr>
          <p:cNvSpPr/>
          <p:nvPr/>
        </p:nvSpPr>
        <p:spPr>
          <a:xfrm>
            <a:off x="2977452" y="26060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library(quantmod), library(TTR), the specialized tools for this task.</a:t>
            </a:r>
            <a:endParaRPr lang="en-US" sz="12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7EA1EBD-6C23-22BE-CD4C-F9E468CF135C}"/>
              </a:ext>
            </a:extLst>
          </p:cNvPr>
          <p:cNvSpPr/>
          <p:nvPr/>
        </p:nvSpPr>
        <p:spPr>
          <a:xfrm>
            <a:off x="749808" y="36301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0E2E17C-AF08-97A1-A1B3-460CF9A1BCA4}"/>
              </a:ext>
            </a:extLst>
          </p:cNvPr>
          <p:cNvSpPr/>
          <p:nvPr/>
        </p:nvSpPr>
        <p:spPr>
          <a:xfrm>
            <a:off x="749808" y="3630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3FFE210-7FED-0DC1-3459-44A657B4DED9}"/>
              </a:ext>
            </a:extLst>
          </p:cNvPr>
          <p:cNvSpPr/>
          <p:nvPr/>
        </p:nvSpPr>
        <p:spPr>
          <a:xfrm>
            <a:off x="1371600" y="35204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Read the data in</a:t>
            </a:r>
            <a:endParaRPr lang="en-US" sz="13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BC24D13-E474-7163-D81F-7B1B2B37A31E}"/>
              </a:ext>
            </a:extLst>
          </p:cNvPr>
          <p:cNvSpPr/>
          <p:nvPr/>
        </p:nvSpPr>
        <p:spPr>
          <a:xfrm>
            <a:off x="2977452" y="35204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read.csv</a:t>
            </a: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() or similar brings the data into memory as an object.</a:t>
            </a:r>
            <a:endParaRPr lang="en-US" sz="12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21C0EF5A-1546-EAA3-8B96-174F7BC8A982}"/>
              </a:ext>
            </a:extLst>
          </p:cNvPr>
          <p:cNvSpPr/>
          <p:nvPr/>
        </p:nvSpPr>
        <p:spPr>
          <a:xfrm>
            <a:off x="749808" y="467813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040A474-B554-B98C-9EF2-CBB17DF7945D}"/>
              </a:ext>
            </a:extLst>
          </p:cNvPr>
          <p:cNvSpPr/>
          <p:nvPr/>
        </p:nvSpPr>
        <p:spPr>
          <a:xfrm>
            <a:off x="749808" y="467813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0F9FAE2-F9B5-8FB0-0041-1D96D32DF16B}"/>
              </a:ext>
            </a:extLst>
          </p:cNvPr>
          <p:cNvSpPr/>
          <p:nvPr/>
        </p:nvSpPr>
        <p:spPr>
          <a:xfrm>
            <a:off x="1371600" y="456840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928CD26-979E-DB87-0F85-0D60512A2F7D}"/>
              </a:ext>
            </a:extLst>
          </p:cNvPr>
          <p:cNvSpPr/>
          <p:nvPr/>
        </p:nvSpPr>
        <p:spPr>
          <a:xfrm>
            <a:off x="2977452" y="456840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D2EC6880-AF8A-5952-B51F-D7E225C4FC1B}"/>
              </a:ext>
            </a:extLst>
          </p:cNvPr>
          <p:cNvSpPr/>
          <p:nvPr/>
        </p:nvSpPr>
        <p:spPr>
          <a:xfrm>
            <a:off x="749808" y="5944904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CB735604-9A50-69CC-DB67-0C6D6A917FCB}"/>
              </a:ext>
            </a:extLst>
          </p:cNvPr>
          <p:cNvSpPr/>
          <p:nvPr/>
        </p:nvSpPr>
        <p:spPr>
          <a:xfrm>
            <a:off x="749808" y="5944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56925CF-0D1E-0C82-BD37-B009BEEE2D1A}"/>
              </a:ext>
            </a:extLst>
          </p:cNvPr>
          <p:cNvSpPr/>
          <p:nvPr/>
        </p:nvSpPr>
        <p:spPr>
          <a:xfrm>
            <a:off x="1371600" y="583517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Consume the result</a:t>
            </a:r>
            <a:endParaRPr lang="en-US" sz="13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0FD8E8C9-0DC4-FA72-B9A6-52B014C67D42}"/>
              </a:ext>
            </a:extLst>
          </p:cNvPr>
          <p:cNvSpPr/>
          <p:nvPr/>
        </p:nvSpPr>
        <p:spPr>
          <a:xfrm>
            <a:off x="2977452" y="5835176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Plot it, print it, or save it. This is the point of the whole script.</a:t>
            </a:r>
            <a:endParaRPr lang="en-US" sz="125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1A8D3F-72B2-F0EF-5B4A-3C5D8E1025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109" y="1311948"/>
            <a:ext cx="1201613" cy="93151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EF8A95B-B4A6-E92C-05EC-FBCE59C4841C}"/>
              </a:ext>
            </a:extLst>
          </p:cNvPr>
          <p:cNvGrpSpPr/>
          <p:nvPr/>
        </p:nvGrpSpPr>
        <p:grpSpPr>
          <a:xfrm>
            <a:off x="7180138" y="2385941"/>
            <a:ext cx="1321555" cy="1006531"/>
            <a:chOff x="919527" y="2384361"/>
            <a:chExt cx="1459728" cy="1071794"/>
          </a:xfrm>
        </p:grpSpPr>
        <p:pic>
          <p:nvPicPr>
            <p:cNvPr id="6" name="Picture 2" descr="Image result for hand white background">
              <a:extLst>
                <a:ext uri="{FF2B5EF4-FFF2-40B4-BE49-F238E27FC236}">
                  <a16:creationId xmlns:a16="http://schemas.microsoft.com/office/drawing/2014/main" id="{27D47FC4-C650-F30A-6AAD-C4398B6FDF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527" y="2449871"/>
              <a:ext cx="1091000" cy="940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http://cdn.xl.thumbs.canstockphoto.com/canstock14746167.jpg">
              <a:extLst>
                <a:ext uri="{FF2B5EF4-FFF2-40B4-BE49-F238E27FC236}">
                  <a16:creationId xmlns:a16="http://schemas.microsoft.com/office/drawing/2014/main" id="{6368DAFC-A61B-5248-97B1-40C2D696A2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470" b="38097"/>
            <a:stretch/>
          </p:blipFill>
          <p:spPr bwMode="auto">
            <a:xfrm rot="5400000">
              <a:off x="1706921" y="2783821"/>
              <a:ext cx="1071794" cy="2728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6" name="Picture 6" descr="Image result for banana transparent background">
            <a:extLst>
              <a:ext uri="{FF2B5EF4-FFF2-40B4-BE49-F238E27FC236}">
                <a16:creationId xmlns:a16="http://schemas.microsoft.com/office/drawing/2014/main" id="{E0CB20F1-9845-26AF-B18D-E910DB3BC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936" y="3238565"/>
            <a:ext cx="955958" cy="95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EF0F28B-8B6F-CB7C-64AF-8C1A7A7C11C7}"/>
              </a:ext>
            </a:extLst>
          </p:cNvPr>
          <p:cNvGrpSpPr/>
          <p:nvPr/>
        </p:nvGrpSpPr>
        <p:grpSpPr>
          <a:xfrm>
            <a:off x="7275501" y="5040700"/>
            <a:ext cx="1130829" cy="605894"/>
            <a:chOff x="5001597" y="2799644"/>
            <a:chExt cx="2498122" cy="1373047"/>
          </a:xfrm>
        </p:grpSpPr>
        <p:pic>
          <p:nvPicPr>
            <p:cNvPr id="26" name="Picture 2" descr="Image result for half banana">
              <a:extLst>
                <a:ext uri="{FF2B5EF4-FFF2-40B4-BE49-F238E27FC236}">
                  <a16:creationId xmlns:a16="http://schemas.microsoft.com/office/drawing/2014/main" id="{5B40923C-A78C-18ED-ED69-36F323D19F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001597" y="2799644"/>
              <a:ext cx="2381250" cy="11063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 descr="Image result for hand white background">
              <a:extLst>
                <a:ext uri="{FF2B5EF4-FFF2-40B4-BE49-F238E27FC236}">
                  <a16:creationId xmlns:a16="http://schemas.microsoft.com/office/drawing/2014/main" id="{60BF1C9F-789E-1516-0A2A-51C3054CAD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7046" y="2816567"/>
              <a:ext cx="1572673" cy="13561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05EFF66-795A-7F56-AE20-CE98188CD119}"/>
              </a:ext>
            </a:extLst>
          </p:cNvPr>
          <p:cNvGrpSpPr/>
          <p:nvPr/>
        </p:nvGrpSpPr>
        <p:grpSpPr>
          <a:xfrm>
            <a:off x="7362198" y="4337006"/>
            <a:ext cx="957435" cy="741843"/>
            <a:chOff x="4262775" y="5030993"/>
            <a:chExt cx="1057538" cy="789944"/>
          </a:xfrm>
        </p:grpSpPr>
        <p:pic>
          <p:nvPicPr>
            <p:cNvPr id="33" name="Picture 2" descr="http://www.brainkandie.com/images/banana.png">
              <a:extLst>
                <a:ext uri="{FF2B5EF4-FFF2-40B4-BE49-F238E27FC236}">
                  <a16:creationId xmlns:a16="http://schemas.microsoft.com/office/drawing/2014/main" id="{82F2C2B2-642B-1B86-6927-A8F9EC5317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262775" y="5030993"/>
              <a:ext cx="1057538" cy="634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http://cdn.xl.thumbs.canstockphoto.com/canstock14746167.jpg">
              <a:extLst>
                <a:ext uri="{FF2B5EF4-FFF2-40B4-BE49-F238E27FC236}">
                  <a16:creationId xmlns:a16="http://schemas.microsoft.com/office/drawing/2014/main" id="{564460B8-188C-2041-E91F-C871AFFD37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470" b="38097"/>
            <a:stretch/>
          </p:blipFill>
          <p:spPr bwMode="auto">
            <a:xfrm rot="5400000">
              <a:off x="4757761" y="5371276"/>
              <a:ext cx="716823" cy="18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C56FD4-36B5-DC15-CA26-F8623C7DAFB4}"/>
              </a:ext>
            </a:extLst>
          </p:cNvPr>
          <p:cNvGrpSpPr/>
          <p:nvPr/>
        </p:nvGrpSpPr>
        <p:grpSpPr>
          <a:xfrm>
            <a:off x="7255592" y="5870096"/>
            <a:ext cx="1170647" cy="551952"/>
            <a:chOff x="4884420" y="2092654"/>
            <a:chExt cx="3840480" cy="2250358"/>
          </a:xfrm>
        </p:grpSpPr>
        <p:pic>
          <p:nvPicPr>
            <p:cNvPr id="36" name="Picture 4" descr="http://sape.inf.usi.ch/sites/default/files/ggplot2-geom_blank-example.png">
              <a:extLst>
                <a:ext uri="{FF2B5EF4-FFF2-40B4-BE49-F238E27FC236}">
                  <a16:creationId xmlns:a16="http://schemas.microsoft.com/office/drawing/2014/main" id="{52392390-F04C-603E-3AD7-D61499CDC2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06"/>
            <a:stretch/>
          </p:blipFill>
          <p:spPr bwMode="auto">
            <a:xfrm>
              <a:off x="4884420" y="2092654"/>
              <a:ext cx="3840480" cy="2250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2" descr="Image result for half banana">
              <a:extLst>
                <a:ext uri="{FF2B5EF4-FFF2-40B4-BE49-F238E27FC236}">
                  <a16:creationId xmlns:a16="http://schemas.microsoft.com/office/drawing/2014/main" id="{9FC1B100-85B8-C835-A76C-53C744B3C8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469884" y="2498909"/>
              <a:ext cx="2787633" cy="1217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8" name="Harvard Footer"/>
          <p:cNvSpPr txBox="1"/>
          <p:nvPr/>
        </p:nvSpPr>
        <p:spPr>
          <a:xfrm>
            <a:off x="137319" y="649176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9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996D71D0-1722-45E2-B1AC-8A21DD7ED499}" type="slidenum">
              <a:rPr lang="en-US" sz="1000">
                <a:solidFill>
                  <a:srgbClr val="8996A0"/>
                </a:solidFill>
                <a:latin typeface="Arial"/>
              </a:rPr>
              <a:t>29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4525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1C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EBC1E-855D-04DD-5999-235D86A90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5C8992-1767-42EF-CC17-24DA6AB48398}"/>
              </a:ext>
            </a:extLst>
          </p:cNvPr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C4961A">
              <a:alpha val="12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D41B2DA-14D9-DF16-0634-CBD6A159C84B}"/>
              </a:ext>
            </a:extLst>
          </p:cNvPr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C4961A">
              <a:alpha val="12000"/>
            </a:srgbClr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669128C-21E1-407F-3D80-B3B0E9486A24}"/>
              </a:ext>
            </a:extLst>
          </p:cNvPr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Calibri" pitchFamily="34" charset="-122"/>
                <a:cs typeface="Calibri" pitchFamily="34" charset="-120"/>
              </a:rPr>
              <a:t>DAY 1  ·  8:00 TO 9:00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74EDC56-F8CB-327D-3564-AE36A003F8D1}"/>
              </a:ext>
            </a:extLst>
          </p:cNvPr>
          <p:cNvSpPr/>
          <p:nvPr/>
        </p:nvSpPr>
        <p:spPr>
          <a:xfrm>
            <a:off x="594360" y="17373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Cambria" pitchFamily="34" charset="-122"/>
                <a:cs typeface="Cambria" pitchFamily="34" charset="-120"/>
              </a:rPr>
              <a:t>Setup Review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C933C8E-D9B1-D968-6E09-06272D750756}"/>
              </a:ext>
            </a:extLst>
          </p:cNvPr>
          <p:cNvSpPr/>
          <p:nvPr/>
        </p:nvSpPr>
        <p:spPr>
          <a:xfrm>
            <a:off x="64008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Calibri" pitchFamily="34" charset="-122"/>
                <a:cs typeface="Calibri" pitchFamily="34" charset="-120"/>
              </a:rPr>
              <a:t>Let’s confirm our toolchains are set up.  Ask for help if you’re not prepared.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3816A07-C179-703E-74B7-504BA50A017D}"/>
              </a:ext>
            </a:extLst>
          </p:cNvPr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96A0"/>
                </a:solidFill>
                <a:effectLst/>
                <a:uLnTx/>
                <a:uFillTx/>
                <a:latin typeface="Arial" pitchFamily="34" charset="0"/>
                <a:ea typeface="Calibri" pitchFamily="34" charset="-122"/>
                <a:cs typeface="Calibri" pitchFamily="34" charset="-120"/>
              </a:rPr>
              <a:t>Generative AI in Finance   |   Executive MBA   |   Finance Masters + Data Science Masters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+mn-ea"/>
              <a:cs typeface="+mn-cs"/>
            </a:endParaRPr>
          </a:p>
        </p:txBody>
      </p:sp>
      <p:sp>
        <p:nvSpPr>
          <p:cNvPr id="10" name="Harvard Footer"/>
          <p:cNvSpPr txBox="1"/>
          <p:nvPr/>
        </p:nvSpPr>
        <p:spPr>
          <a:xfrm>
            <a:off x="1966119" y="649176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F3F3F1"/>
                </a:solidFill>
                <a:latin typeface="Arial"/>
              </a:rPr>
              <a:t>© 2026 Ted Kwartler</a:t>
            </a:r>
          </a:p>
        </p:txBody>
      </p:sp>
    </p:spTree>
    <p:extLst>
      <p:ext uri="{BB962C8B-B14F-4D97-AF65-F5344CB8AC3E}">
        <p14:creationId xmlns:p14="http://schemas.microsoft.com/office/powerpoint/2010/main" val="3862833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8B534-A280-8209-CC18-2E381D87C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77" y="2570332"/>
            <a:ext cx="7772400" cy="3279451"/>
          </a:xfrm>
          <a:prstGeom prst="rect">
            <a:avLst/>
          </a:prstGeom>
          <a:ln>
            <a:solidFill>
              <a:srgbClr val="A51C30"/>
            </a:solidFill>
          </a:ln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7561ADE6-AFBB-1846-92B8-01000B1DE0B9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Install R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93A55B-BD9F-BDB6-4F1B-955C19102DF8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Install the statistical engine for our technical trading rules.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06B0B-EB2F-2B46-1981-8027EE7E48F4}"/>
              </a:ext>
            </a:extLst>
          </p:cNvPr>
          <p:cNvSpPr txBox="1"/>
          <p:nvPr/>
        </p:nvSpPr>
        <p:spPr>
          <a:xfrm>
            <a:off x="654977" y="1466674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linkClick r:id="rId3"/>
              </a:rPr>
              <a:t>https://cran.r-project.org/</a:t>
            </a:r>
            <a:endParaRPr lang="en-US" sz="3200" dirty="0"/>
          </a:p>
        </p:txBody>
      </p:sp>
      <p:sp>
        <p:nvSpPr>
          <p:cNvPr id="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8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4C429DE-7FE9-4D66-BAA8-E420AD06176D}" type="slidenum">
              <a:rPr lang="en-US" sz="1000">
                <a:solidFill>
                  <a:srgbClr val="8996A0"/>
                </a:solidFill>
                <a:latin typeface="Arial"/>
              </a:rPr>
              <a:t>31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898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40939-2D01-3DDD-3DA8-C03EEB3B2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615971E-F614-F051-F79F-B3CFC1F0C14C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Install R-Studio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3ABABA-E2B3-8D3E-7217-0E83FEBF32F1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Install the IDE adding functionality to our software.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3A20E-A6B6-909B-CF5A-A661C27A1221}"/>
              </a:ext>
            </a:extLst>
          </p:cNvPr>
          <p:cNvSpPr txBox="1"/>
          <p:nvPr/>
        </p:nvSpPr>
        <p:spPr>
          <a:xfrm>
            <a:off x="654976" y="1466674"/>
            <a:ext cx="102972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linkClick r:id="rId2"/>
              </a:rPr>
              <a:t>https://docs.posit.co/ide/user/#rstudio-ide-oss-downloads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5FCBA-AC1D-B4C5-4541-F9E5C878E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76" y="2126431"/>
            <a:ext cx="7772400" cy="4207905"/>
          </a:xfrm>
          <a:prstGeom prst="rect">
            <a:avLst/>
          </a:prstGeom>
          <a:ln>
            <a:solidFill>
              <a:srgbClr val="A51C30"/>
            </a:solidFill>
          </a:ln>
        </p:spPr>
      </p:pic>
      <p:sp>
        <p:nvSpPr>
          <p:cNvPr id="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8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94E99C95-046F-436B-A936-027668660825}" type="slidenum">
              <a:rPr lang="en-US" sz="1000">
                <a:solidFill>
                  <a:srgbClr val="8996A0"/>
                </a:solidFill>
                <a:latin typeface="Arial"/>
              </a:rPr>
              <a:t>32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62818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1C890-66E4-39F3-8384-390BD0C0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D8590E-A94C-B3F9-81FA-D004498A124B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Install Git for your operating system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25FA7F-A385-3B47-6A39-61C40EC5D877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Git let’s you connect to the class repositories.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51711-1097-84E9-7F61-58B1F6740B15}"/>
              </a:ext>
            </a:extLst>
          </p:cNvPr>
          <p:cNvSpPr txBox="1"/>
          <p:nvPr/>
        </p:nvSpPr>
        <p:spPr>
          <a:xfrm>
            <a:off x="7431639" y="1788084"/>
            <a:ext cx="3756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https://brew.sh/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F984E2-B19D-53A3-B483-398851544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639" y="2235289"/>
            <a:ext cx="3886201" cy="2165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57CAC3-B1F5-6FEA-69EF-0AA1B3471B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011"/>
          <a:stretch>
            <a:fillRect/>
          </a:stretch>
        </p:blipFill>
        <p:spPr>
          <a:xfrm>
            <a:off x="7431639" y="4968611"/>
            <a:ext cx="4043737" cy="17506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7E3653-1B11-A238-33A9-955A61B6708B}"/>
              </a:ext>
            </a:extLst>
          </p:cNvPr>
          <p:cNvSpPr txBox="1"/>
          <p:nvPr/>
        </p:nvSpPr>
        <p:spPr>
          <a:xfrm>
            <a:off x="7347732" y="4535866"/>
            <a:ext cx="41276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5"/>
              </a:rPr>
              <a:t>https://git-scm.com/install/mac</a:t>
            </a:r>
            <a:endParaRPr lang="en-US" sz="20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644D4D9-82F9-BA3B-B795-9503DC4F1099}"/>
              </a:ext>
            </a:extLst>
          </p:cNvPr>
          <p:cNvSpPr/>
          <p:nvPr/>
        </p:nvSpPr>
        <p:spPr>
          <a:xfrm>
            <a:off x="7347732" y="1257732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MAC</a:t>
            </a:r>
            <a:endParaRPr lang="en-US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A303B-C851-B155-8397-162127D1B2BF}"/>
              </a:ext>
            </a:extLst>
          </p:cNvPr>
          <p:cNvSpPr txBox="1"/>
          <p:nvPr/>
        </p:nvSpPr>
        <p:spPr>
          <a:xfrm>
            <a:off x="376034" y="2018916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6"/>
              </a:rPr>
              <a:t>https://git-scm.com/install/windows</a:t>
            </a:r>
            <a:endParaRPr lang="en-US" sz="24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4A051192-4DE6-633B-36CC-47B1EE4BD9BB}"/>
              </a:ext>
            </a:extLst>
          </p:cNvPr>
          <p:cNvSpPr/>
          <p:nvPr/>
        </p:nvSpPr>
        <p:spPr>
          <a:xfrm>
            <a:off x="376034" y="1307592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2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C2F6F9-39C3-A5D9-FBDA-E1C1CC848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034" y="2950693"/>
            <a:ext cx="5595124" cy="28534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C5BE94-A98D-F3DC-16BE-A170952CD12B}"/>
              </a:ext>
            </a:extLst>
          </p:cNvPr>
          <p:cNvCxnSpPr/>
          <p:nvPr/>
        </p:nvCxnSpPr>
        <p:spPr>
          <a:xfrm>
            <a:off x="6473746" y="2018916"/>
            <a:ext cx="0" cy="4422981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7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99380152-EDC4-45DB-AEE0-9845BD547251}" type="slidenum">
              <a:rPr lang="en-US" sz="1000">
                <a:solidFill>
                  <a:srgbClr val="8996A0"/>
                </a:solidFill>
                <a:latin typeface="Arial"/>
              </a:rPr>
              <a:t>33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73967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7CB572D-8E67-C60D-C2AB-EB99C6A2375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Install </a:t>
            </a:r>
            <a:r>
              <a:rPr lang="en-US" sz="2600" b="1" dirty="0" err="1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nodeJS</a:t>
            </a: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 [which includes NPM]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17410B-64BA-0ACB-85E0-A70646A70C00}"/>
              </a:ext>
            </a:extLst>
          </p:cNvPr>
          <p:cNvSpPr/>
          <p:nvPr/>
        </p:nvSpPr>
        <p:spPr>
          <a:xfrm>
            <a:off x="7316910" y="1159374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MAC</a:t>
            </a:r>
            <a:endParaRPr lang="en-US" sz="26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2325BF6-7EB0-4520-7D3D-7832F52B3BCE}"/>
              </a:ext>
            </a:extLst>
          </p:cNvPr>
          <p:cNvSpPr/>
          <p:nvPr/>
        </p:nvSpPr>
        <p:spPr>
          <a:xfrm>
            <a:off x="345212" y="1159374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2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CE60F7-CEBF-7097-CA5F-D99DBAE81014}"/>
              </a:ext>
            </a:extLst>
          </p:cNvPr>
          <p:cNvCxnSpPr/>
          <p:nvPr/>
        </p:nvCxnSpPr>
        <p:spPr>
          <a:xfrm>
            <a:off x="6473746" y="1946998"/>
            <a:ext cx="0" cy="4422981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D7B9305-FA02-9A1D-D8BB-CBDB703C8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133" y="1946998"/>
            <a:ext cx="5088061" cy="2566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069606-55EC-F9B4-9AE5-2FF4D22CDE4B}"/>
              </a:ext>
            </a:extLst>
          </p:cNvPr>
          <p:cNvSpPr txBox="1"/>
          <p:nvPr/>
        </p:nvSpPr>
        <p:spPr>
          <a:xfrm>
            <a:off x="376034" y="684100"/>
            <a:ext cx="50880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https://nodejs.org/en/download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A6A06-52AF-37E8-2201-64E4E841576B}"/>
              </a:ext>
            </a:extLst>
          </p:cNvPr>
          <p:cNvSpPr txBox="1"/>
          <p:nvPr/>
        </p:nvSpPr>
        <p:spPr>
          <a:xfrm>
            <a:off x="6750121" y="5429808"/>
            <a:ext cx="53260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Select node “LTS” [long-term-support], mac, &amp; brew.</a:t>
            </a:r>
            <a:br>
              <a:rPr lang="en-US" dirty="0"/>
            </a:br>
            <a:r>
              <a:rPr lang="en-US" dirty="0"/>
              <a:t>2. Get the brew command &amp; install 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BCD635-5D00-A489-F7EC-ED8C2D227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17" y="1687344"/>
            <a:ext cx="5874848" cy="35884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0B4352-B136-D48E-F82A-EBEB07EA1504}"/>
              </a:ext>
            </a:extLst>
          </p:cNvPr>
          <p:cNvSpPr txBox="1"/>
          <p:nvPr/>
        </p:nvSpPr>
        <p:spPr>
          <a:xfrm>
            <a:off x="237847" y="5414420"/>
            <a:ext cx="60977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1. Check: Settings → System → About → "System type”.   If it says "ARM-based processor," grab the ARM64 .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instead of x64.</a:t>
            </a:r>
            <a:endParaRPr lang="en-US" sz="1600" b="0" i="0" dirty="0">
              <a:solidFill>
                <a:srgbClr val="1E1E1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1E1E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D</a:t>
            </a:r>
            <a:r>
              <a:rPr lang="en-US" sz="16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ownload and run the appropriate Windows Installer (.</a:t>
            </a:r>
            <a:r>
              <a:rPr lang="en-US" sz="1600" b="0" i="0" dirty="0" err="1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msi</a:t>
            </a:r>
            <a:r>
              <a:rPr lang="en-US" sz="16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specifically node-v24.18.0-x64.msi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BA8CF2-3307-0F8B-C392-F80E6CAB302B}"/>
              </a:ext>
            </a:extLst>
          </p:cNvPr>
          <p:cNvSpPr/>
          <p:nvPr/>
        </p:nvSpPr>
        <p:spPr>
          <a:xfrm>
            <a:off x="248121" y="4931596"/>
            <a:ext cx="1385470" cy="462276"/>
          </a:xfrm>
          <a:prstGeom prst="rect">
            <a:avLst/>
          </a:prstGeom>
          <a:noFill/>
          <a:ln w="38100">
            <a:solidFill>
              <a:srgbClr val="A51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F0F0A9-BD8C-CECB-1865-1095A7480285}"/>
              </a:ext>
            </a:extLst>
          </p:cNvPr>
          <p:cNvSpPr/>
          <p:nvPr/>
        </p:nvSpPr>
        <p:spPr>
          <a:xfrm>
            <a:off x="8027687" y="2464974"/>
            <a:ext cx="2956238" cy="462276"/>
          </a:xfrm>
          <a:prstGeom prst="rect">
            <a:avLst/>
          </a:prstGeom>
          <a:noFill/>
          <a:ln w="38100">
            <a:solidFill>
              <a:srgbClr val="A51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DB0A0BA-01C1-416A-A271-8CD6C9255857}" type="slidenum">
              <a:rPr lang="en-US" sz="1000">
                <a:solidFill>
                  <a:srgbClr val="8996A0"/>
                </a:solidFill>
                <a:latin typeface="Arial"/>
              </a:rPr>
              <a:t>34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15269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143" y="457200"/>
            <a:ext cx="110241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software installed, now we use git to get our class material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981200" y="150876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4" name="Text 2"/>
          <p:cNvSpPr/>
          <p:nvPr/>
        </p:nvSpPr>
        <p:spPr>
          <a:xfrm>
            <a:off x="19812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804160" y="1417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Template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0416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own copy of the course repo on GitHub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81200" y="256032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8" name="Text 6"/>
          <p:cNvSpPr/>
          <p:nvPr/>
        </p:nvSpPr>
        <p:spPr>
          <a:xfrm>
            <a:off x="19812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04160" y="24688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into RStudio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4160" y="2880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 as a Version Control project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81200" y="361188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12" name="Text 10"/>
          <p:cNvSpPr/>
          <p:nvPr/>
        </p:nvSpPr>
        <p:spPr>
          <a:xfrm>
            <a:off x="198120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04160" y="3520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Your Setup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04160" y="3931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git, node, and npm all 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81200" y="466344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16" name="Text 14"/>
          <p:cNvSpPr/>
          <p:nvPr/>
        </p:nvSpPr>
        <p:spPr>
          <a:xfrm>
            <a:off x="198120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804160" y="45720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Sign-Up &amp; Add Your API Keys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04160" y="4983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keys safely, never commit them</a:t>
            </a:r>
            <a:endParaRPr lang="en-US" sz="1300" dirty="0"/>
          </a:p>
        </p:txBody>
      </p:sp>
      <p:sp>
        <p:nvSpPr>
          <p:cNvPr id="19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DF36947-43E9-4AFC-8E5F-4C57F22CCEE5}" type="slidenum">
              <a:rPr lang="en-US" sz="1000">
                <a:solidFill>
                  <a:srgbClr val="8996A0"/>
                </a:solidFill>
                <a:latin typeface="Arial"/>
              </a:rPr>
              <a:t>35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6787" y="457200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316787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2587" y="45720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Template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6787" y="173363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</a:t>
            </a: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www.github.com/kwartler/vienna-genai-finance-course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“Use this template” button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“Create a new repository”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 genai-finance-[yourname] and click Create repository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cs typeface="Arial" pitchFamily="34" charset="-120"/>
              </a:rPr>
              <a:t>Add a description</a:t>
            </a: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D4DDA8-867A-C131-4A82-364F9C3C0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136" y="1055536"/>
            <a:ext cx="6920501" cy="3507177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061724-7146-5130-455D-281D1C7739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9589" y="3424789"/>
            <a:ext cx="4482911" cy="3183954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FD27E91-1E2B-5446-019D-A7D5DC2008CD}"/>
              </a:ext>
            </a:extLst>
          </p:cNvPr>
          <p:cNvSpPr/>
          <p:nvPr/>
        </p:nvSpPr>
        <p:spPr>
          <a:xfrm>
            <a:off x="11137186" y="1450500"/>
            <a:ext cx="955497" cy="462276"/>
          </a:xfrm>
          <a:prstGeom prst="rect">
            <a:avLst/>
          </a:prstGeom>
          <a:noFill/>
          <a:ln w="38100">
            <a:solidFill>
              <a:srgbClr val="A51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982A54-F042-E6ED-2309-9942671B6BCE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flipH="1">
            <a:off x="9251045" y="1912776"/>
            <a:ext cx="2363890" cy="1512013"/>
          </a:xfrm>
          <a:prstGeom prst="straightConnector1">
            <a:avLst/>
          </a:prstGeom>
          <a:ln w="38100">
            <a:solidFill>
              <a:srgbClr val="A51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1743CC3D-A312-4F32-9D57-042C91CBC57E}" type="slidenum">
              <a:rPr lang="en-US" sz="1000">
                <a:solidFill>
                  <a:srgbClr val="8996A0"/>
                </a:solidFill>
                <a:latin typeface="Arial"/>
              </a:rPr>
              <a:t>36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720" y="480537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426720" y="48053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2520" y="480537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your template repo with RStudio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26720" y="169164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Code button on your new repo, copy the HTTPS URL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RStudio: File → New Project → Version Control → Git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repo URL, choose a folder, click Create Project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clones the repo and sets your working directory automatically</a:t>
            </a:r>
            <a:endParaRPr lang="en-US" sz="15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9B8DBD-C2F1-D83B-CAF7-E4AAD6626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34" y="1822760"/>
            <a:ext cx="4830396" cy="2447952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9BB314-FEA4-464D-243E-0B204A92B2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353" t="23827" r="30745" b="35988"/>
          <a:stretch>
            <a:fillRect/>
          </a:stretch>
        </p:blipFill>
        <p:spPr>
          <a:xfrm>
            <a:off x="7610838" y="3214270"/>
            <a:ext cx="2090964" cy="19520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6CB0ABF-9B8D-C995-8EB2-43D8E2865E99}"/>
              </a:ext>
            </a:extLst>
          </p:cNvPr>
          <p:cNvSpPr/>
          <p:nvPr/>
        </p:nvSpPr>
        <p:spPr>
          <a:xfrm>
            <a:off x="9895299" y="2366395"/>
            <a:ext cx="544530" cy="267128"/>
          </a:xfrm>
          <a:prstGeom prst="rect">
            <a:avLst/>
          </a:prstGeom>
          <a:noFill/>
          <a:ln w="38100">
            <a:solidFill>
              <a:srgbClr val="A51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84C7B9-3260-0225-7D2A-4647E2652182}"/>
              </a:ext>
            </a:extLst>
          </p:cNvPr>
          <p:cNvSpPr/>
          <p:nvPr/>
        </p:nvSpPr>
        <p:spPr>
          <a:xfrm>
            <a:off x="7770260" y="4056751"/>
            <a:ext cx="1787704" cy="267128"/>
          </a:xfrm>
          <a:prstGeom prst="rect">
            <a:avLst/>
          </a:prstGeom>
          <a:noFill/>
          <a:ln w="38100">
            <a:solidFill>
              <a:srgbClr val="A51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A1882A-9AA3-7533-52D2-BE5B998CDF43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8633290" y="2633523"/>
            <a:ext cx="1534274" cy="1423228"/>
          </a:xfrm>
          <a:prstGeom prst="straightConnector1">
            <a:avLst/>
          </a:prstGeom>
          <a:ln w="38100">
            <a:solidFill>
              <a:srgbClr val="A51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2DA625C9-743F-458E-A9C6-7355A5AAA8C1}" type="slidenum">
              <a:rPr lang="en-US" sz="1000">
                <a:solidFill>
                  <a:srgbClr val="8996A0"/>
                </a:solidFill>
                <a:latin typeface="Arial"/>
              </a:rPr>
              <a:t>37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28E5-7F82-D7C0-BE32-F4EEADC27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51C084-C73A-C5A8-1AC8-EF2C660FAFA8}"/>
              </a:ext>
            </a:extLst>
          </p:cNvPr>
          <p:cNvSpPr/>
          <p:nvPr/>
        </p:nvSpPr>
        <p:spPr>
          <a:xfrm>
            <a:off x="426720" y="480537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77386A-7611-B74A-A62A-14244CD054FD}"/>
              </a:ext>
            </a:extLst>
          </p:cNvPr>
          <p:cNvSpPr/>
          <p:nvPr/>
        </p:nvSpPr>
        <p:spPr>
          <a:xfrm>
            <a:off x="426720" y="48053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6A946F-43BD-32E4-AEEB-0073E6FE0E89}"/>
              </a:ext>
            </a:extLst>
          </p:cNvPr>
          <p:cNvSpPr/>
          <p:nvPr/>
        </p:nvSpPr>
        <p:spPr>
          <a:xfrm>
            <a:off x="1112520" y="480537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your template repo with RStudio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F620CD-610A-59D4-1E39-461543012FD7}"/>
              </a:ext>
            </a:extLst>
          </p:cNvPr>
          <p:cNvSpPr/>
          <p:nvPr/>
        </p:nvSpPr>
        <p:spPr>
          <a:xfrm>
            <a:off x="426720" y="169164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Code button on your new repo, copy the HTTPS URL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RStudio: File → New Project → Version Control → Git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repo URL, choose a folder, click Create Project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clones the repo and sets your working directory automatically</a:t>
            </a:r>
            <a:endParaRPr lang="en-US" sz="15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100905-B99E-F23E-77A6-4E672DB53348}"/>
              </a:ext>
            </a:extLst>
          </p:cNvPr>
          <p:cNvGrpSpPr/>
          <p:nvPr/>
        </p:nvGrpSpPr>
        <p:grpSpPr>
          <a:xfrm>
            <a:off x="8322420" y="373465"/>
            <a:ext cx="2832533" cy="2046906"/>
            <a:chOff x="8024469" y="983457"/>
            <a:chExt cx="2832533" cy="204690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69CBABD-09D9-44B0-AF28-DEBF8260E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4469" y="983457"/>
              <a:ext cx="2832533" cy="2046906"/>
            </a:xfrm>
            <a:prstGeom prst="rect">
              <a:avLst/>
            </a:prstGeom>
            <a:ln w="38100">
              <a:solidFill>
                <a:srgbClr val="A51C30"/>
              </a:solidFill>
            </a:ln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EE40E7-8588-392F-7416-091D0E2B352D}"/>
                </a:ext>
              </a:extLst>
            </p:cNvPr>
            <p:cNvSpPr/>
            <p:nvPr/>
          </p:nvSpPr>
          <p:spPr>
            <a:xfrm>
              <a:off x="8055291" y="2323804"/>
              <a:ext cx="2085302" cy="462276"/>
            </a:xfrm>
            <a:prstGeom prst="rect">
              <a:avLst/>
            </a:prstGeom>
            <a:noFill/>
            <a:ln w="38100">
              <a:solidFill>
                <a:srgbClr val="A51C3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0AF4CEB-0A8B-BADA-7F87-21FFD4593B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21" t="31441" r="33498" b="50000"/>
          <a:stretch>
            <a:fillRect/>
          </a:stretch>
        </p:blipFill>
        <p:spPr>
          <a:xfrm>
            <a:off x="8322420" y="2813192"/>
            <a:ext cx="2571184" cy="901557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EBA59-5807-867C-6172-AD9DAFF4B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812" y="3880538"/>
            <a:ext cx="3454400" cy="2527300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C644BFC-A258-4CA9-B0AC-596950FACF28}" type="slidenum">
              <a:rPr lang="en-US" sz="1000">
                <a:solidFill>
                  <a:srgbClr val="8996A0"/>
                </a:solidFill>
                <a:latin typeface="Arial"/>
              </a:rPr>
              <a:t>38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55160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630" y="792179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360630" y="79217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46430" y="792179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Your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0630" y="1752299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Terminal tab (not Console) in RStudio and run: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0630" y="2255219"/>
            <a:ext cx="4480560" cy="1188720"/>
          </a:xfrm>
          <a:prstGeom prst="rect">
            <a:avLst/>
          </a:prstGeom>
          <a:solidFill>
            <a:srgbClr val="293352"/>
          </a:solidFill>
          <a:ln/>
        </p:spPr>
      </p:sp>
      <p:sp>
        <p:nvSpPr>
          <p:cNvPr id="7" name="Text 5"/>
          <p:cNvSpPr/>
          <p:nvPr/>
        </p:nvSpPr>
        <p:spPr>
          <a:xfrm>
            <a:off x="589230" y="2392379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git --version
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node --version
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npm --version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0630" y="3626819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should return version numbers. If any fail, flag an instructor! 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ABF3CC-6479-6B25-ABE0-D043BD7C5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728" y="1893413"/>
            <a:ext cx="5862642" cy="567546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A64013-D665-19D9-A4A8-F23B01278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728" y="3099043"/>
            <a:ext cx="5862641" cy="567546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28AA5B-D8DB-B12A-F06E-35C19976C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8730" y="4236529"/>
            <a:ext cx="5862640" cy="567546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sp>
        <p:nvSpPr>
          <p:cNvPr id="1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7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B69C79C-6122-488D-8B83-E721C9241E06}" type="slidenum">
              <a:rPr lang="en-US" sz="1000">
                <a:solidFill>
                  <a:srgbClr val="8996A0"/>
                </a:solidFill>
                <a:latin typeface="Arial"/>
              </a:rPr>
              <a:t>39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92097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If something is not working yet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2097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Completely normal. This is what the rest of this hour is for.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5544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Read the actual error message before asking for help. It usually says exactly what is wrong.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377440"/>
            <a:ext cx="365760" cy="365760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23317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Ask your AI assistant to explain the error in plain language, the same habit you will use all week.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54680"/>
            <a:ext cx="365760" cy="365760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31089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Raise your hand. An instructor will come to you.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" y="3931920"/>
            <a:ext cx="365760" cy="365760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388620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If a tool truly will not install in time, pair with a neighbor until the next break. We can try to help at the break.  We will not let a setup issue stop your learning.  </a:t>
            </a:r>
            <a:r>
              <a:rPr lang="en-US" sz="1400" dirty="0">
                <a:solidFill>
                  <a:srgbClr val="A51C3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However, we cannot overcome your administrative rights on your computer i.e. if your work computer does not let you install anything.  This is why the effort was assigned </a:t>
            </a:r>
            <a:r>
              <a:rPr lang="en-US" sz="1400" i="1" dirty="0">
                <a:solidFill>
                  <a:srgbClr val="A51C3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prior</a:t>
            </a:r>
            <a:r>
              <a:rPr lang="en-US" sz="1400" dirty="0">
                <a:solidFill>
                  <a:srgbClr val="A51C3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 to the module.   </a:t>
            </a:r>
            <a:endParaRPr lang="en-US" sz="1400" dirty="0">
              <a:solidFill>
                <a:srgbClr val="A51C30"/>
              </a:solidFill>
            </a:endParaRPr>
          </a:p>
        </p:txBody>
      </p:sp>
      <p:sp>
        <p:nvSpPr>
          <p:cNvPr id="18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9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C758E5E8-7BA4-4EBB-A648-6EF899676621}" type="slidenum">
              <a:rPr lang="en-US" sz="1000">
                <a:solidFill>
                  <a:srgbClr val="8996A0"/>
                </a:solidFill>
                <a:latin typeface="Arial"/>
              </a:rPr>
              <a:t>40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416" y="430040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324416" y="43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10216" y="43004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Sign-Up &amp; Add Your API Keys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4416" y="1389707"/>
            <a:ext cx="508955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at </a:t>
            </a: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www.newsapi.org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https://site.financialmodelingprep.com/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https://aistudio.google.com/prompts/new_chat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API Keys for each site</a:t>
            </a: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/>
              </a:rPr>
              <a:t>https://newsapi.org/account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/>
              </a:rPr>
              <a:t>https://site.financialmodelingprep.com/developer/docs/dashboard?tab=apiDetails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/>
              </a:rPr>
              <a:t>https://aistudio.google.com/app/api-keys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keys.example.md in the repo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its instructions for where to store each key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u="sng" dirty="0">
                <a:solidFill>
                  <a:srgbClr val="A51C3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Never paste real API keys into R scripts</a:t>
            </a:r>
            <a:endParaRPr lang="en-US" sz="1500" b="1" u="sng" dirty="0">
              <a:solidFill>
                <a:srgbClr val="A51C3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u="sng" dirty="0">
                <a:solidFill>
                  <a:srgbClr val="A51C3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Never commit real keys to GitHub</a:t>
            </a:r>
            <a:endParaRPr lang="en-US" sz="1500" b="1" u="sng" dirty="0">
              <a:solidFill>
                <a:srgbClr val="A51C3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7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EB8E8A56-EFE3-484D-AA3E-2B5CD88A9CA2}" type="slidenum">
              <a:rPr lang="en-US" sz="1000">
                <a:solidFill>
                  <a:srgbClr val="8996A0"/>
                </a:solidFill>
                <a:latin typeface="Arial"/>
              </a:rPr>
              <a:t>41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3F3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Checklist: confirm your tools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8016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From the pre module setup. Work through this now, before we move on.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96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6184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RStudio Desktop and R 4.x installed and opening without error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96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21284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Node.js (LTS) installed: check by running node -v in a terminal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96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807208"/>
            <a:ext cx="5417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Git installed, a GitHub account created, templated version </a:t>
            </a:r>
            <a:r>
              <a:rPr lang="en-US" sz="140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of class repo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96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4015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saved API key from newsapi.org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96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39959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saved API key from financialmodelingprep.com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6177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96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45902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saved Gemini API key from Google AI Studio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961A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Missing something? Raise your hand now. This is exactly what </a:t>
            </a:r>
            <a:r>
              <a:rPr lang="en-US" sz="1300" i="1">
                <a:solidFill>
                  <a:srgbClr val="C4961A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this time </a:t>
            </a:r>
            <a:r>
              <a:rPr lang="en-US" sz="1300" i="1" dirty="0">
                <a:solidFill>
                  <a:srgbClr val="C4961A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is for.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224FB8-9157-C1AF-A756-F990AA50F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757" y="1497767"/>
            <a:ext cx="5417820" cy="3611880"/>
          </a:xfrm>
          <a:prstGeom prst="rect">
            <a:avLst/>
          </a:prstGeom>
        </p:spPr>
      </p:pic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EE4718F-469E-4D34-818E-91BC9F6B5FEC}" type="slidenum">
              <a:rPr lang="en-US" sz="1000">
                <a:solidFill>
                  <a:srgbClr val="8996A0"/>
                </a:solidFill>
                <a:latin typeface="Arial"/>
              </a:rPr>
              <a:t>42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47548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 quick orientation to OpenRouter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OpenRouter is a single API that can reach many different AI models. Instead of separate accounts for every model provider, one key and one endpoint reaches whichever model you name in the request.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293352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487168"/>
            <a:ext cx="457200" cy="457200"/>
          </a:xfrm>
          <a:prstGeom prst="ellipse">
            <a:avLst/>
          </a:prstGeom>
          <a:solidFill>
            <a:srgbClr val="C4961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54203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514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 shared class key, for today only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463040" y="28803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Your instructor will share a temporary OpenRouter key for in class use this week. Use it with claude-sonnet-4-6 or gemini-2.0-flash as the model. For pre module and independent work outside class, use your own personal Gemini key instead.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This afternoon's Repo 1 Build is the first time you will actually call this API from your own application.</a:t>
            </a:r>
            <a:endParaRPr lang="en-US" sz="1300" dirty="0"/>
          </a:p>
        </p:txBody>
      </p:sp>
      <p:sp>
        <p:nvSpPr>
          <p:cNvPr id="12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3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9FB83E14-921A-4A3C-960D-5AA942DD05D1}" type="slidenum">
              <a:rPr lang="en-US" sz="1000">
                <a:solidFill>
                  <a:srgbClr val="8996A0"/>
                </a:solidFill>
                <a:latin typeface="Arial"/>
              </a:rPr>
              <a:t>43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1E1E"/>
      </a:dk1>
      <a:lt1>
        <a:srgbClr val="FFFFFF"/>
      </a:lt1>
      <a:dk2>
        <a:srgbClr val="293352"/>
      </a:dk2>
      <a:lt2>
        <a:srgbClr val="F3F3F1"/>
      </a:lt2>
      <a:accent1>
        <a:srgbClr val="A51C30"/>
      </a:accent1>
      <a:accent2>
        <a:srgbClr val="293352"/>
      </a:accent2>
      <a:accent3>
        <a:srgbClr val="4E84C4"/>
      </a:accent3>
      <a:accent4>
        <a:srgbClr val="C4961A"/>
      </a:accent4>
      <a:accent5>
        <a:srgbClr val="8996A0"/>
      </a:accent5>
      <a:accent6>
        <a:srgbClr val="1E1E1E"/>
      </a:accent6>
      <a:hlink>
        <a:srgbClr val="4E84C4"/>
      </a:hlink>
      <a:folHlink>
        <a:srgbClr val="946EB7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3247</Words>
  <Application>Microsoft Macintosh PowerPoint</Application>
  <PresentationFormat>Widescreen</PresentationFormat>
  <Paragraphs>507</Paragraphs>
  <Slides>43</Slides>
  <Notes>20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 Setup and Orientation</dc:title>
  <dc:subject>PptxGenJS Presentation</dc:subject>
  <dc:creator>Ted Kwartler</dc:creator>
  <cp:lastModifiedBy>Ted Kwartler</cp:lastModifiedBy>
  <cp:revision>25</cp:revision>
  <dcterms:created xsi:type="dcterms:W3CDTF">2026-07-06T23:14:37Z</dcterms:created>
  <dcterms:modified xsi:type="dcterms:W3CDTF">2026-07-15T03:04:37Z</dcterms:modified>
</cp:coreProperties>
</file>