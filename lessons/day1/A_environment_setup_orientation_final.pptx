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70" r:id="rId3"/>
    <p:sldId id="257" r:id="rId4"/>
    <p:sldId id="271" r:id="rId5"/>
    <p:sldId id="259" r:id="rId6"/>
    <p:sldId id="260" r:id="rId7"/>
    <p:sldId id="272" r:id="rId8"/>
    <p:sldId id="261" r:id="rId9"/>
    <p:sldId id="273" r:id="rId10"/>
    <p:sldId id="262" r:id="rId11"/>
    <p:sldId id="274" r:id="rId12"/>
    <p:sldId id="263" r:id="rId13"/>
    <p:sldId id="264" r:id="rId14"/>
    <p:sldId id="275" r:id="rId15"/>
    <p:sldId id="276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2" r:id="rId30"/>
    <p:sldId id="303" r:id="rId31"/>
    <p:sldId id="304" r:id="rId32"/>
    <p:sldId id="305" r:id="rId33"/>
    <p:sldId id="307" r:id="rId34"/>
    <p:sldId id="308" r:id="rId35"/>
    <p:sldId id="299" r:id="rId36"/>
    <p:sldId id="258" r:id="rId37"/>
    <p:sldId id="300" r:id="rId38"/>
    <p:sldId id="309" r:id="rId39"/>
    <p:sldId id="301" r:id="rId40"/>
    <p:sldId id="268" r:id="rId41"/>
    <p:sldId id="302" r:id="rId42"/>
    <p:sldId id="265" r:id="rId43"/>
    <p:sldId id="267" r:id="rId4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AA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90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5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5242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5CD12-A079-F628-EA2F-97FE9C2CC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34422C-9BDA-32DC-C9FB-1E977FE2F4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B05525-0263-26BB-C77A-E7697F9C5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ADA12-5B17-F266-2827-A060944AFA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250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2D7C2-9D73-BACB-F12F-EDF63E0C9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CE1803-196D-00AB-D9D0-F70B601DF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FC319C-7209-0576-BD85-887319D11E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3136FB-CA01-7F7F-FF57-4C9BF61054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9509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EFCCE-15F4-667D-42B3-42284422F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7935AF-DFDC-51BF-E127-024163479E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997130-AFF5-2C68-3890-0F160B73CF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C2B132-9725-82C2-502A-1EF22B93C1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21401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1776-E16D-0C81-F0C6-E26A59E1B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EC0D3D-0008-F056-8DCB-B041C7BAEF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BEC262-320F-5568-814B-4779AD212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4F405-F036-EEA1-65E0-92A2034BDA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9617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jpeg"/><Relationship Id="rId17" Type="http://schemas.openxmlformats.org/officeDocument/2006/relationships/image" Target="../media/image16.jpe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jpe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tiff"/><Relationship Id="rId5" Type="http://schemas.openxmlformats.org/officeDocument/2006/relationships/image" Target="../media/image19.tiff"/><Relationship Id="rId4" Type="http://schemas.openxmlformats.org/officeDocument/2006/relationships/image" Target="../media/image18.tif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iff"/><Relationship Id="rId2" Type="http://schemas.openxmlformats.org/officeDocument/2006/relationships/image" Target="../media/image18.tif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20.tif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9.jpeg"/><Relationship Id="rId7" Type="http://schemas.openxmlformats.org/officeDocument/2006/relationships/image" Target="../media/image3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38.png"/><Relationship Id="rId5" Type="http://schemas.openxmlformats.org/officeDocument/2006/relationships/image" Target="../media/image29.jpeg"/><Relationship Id="rId10" Type="http://schemas.openxmlformats.org/officeDocument/2006/relationships/image" Target="../media/image44.jpeg"/><Relationship Id="rId4" Type="http://schemas.openxmlformats.org/officeDocument/2006/relationships/image" Target="../media/image40.png"/><Relationship Id="rId9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cran.r-project.org/" TargetMode="Externa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hyperlink" Target="https://docs.posit.co/ide/user/#rstudio-ide-oss-downloads" TargetMode="Externa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49.png"/><Relationship Id="rId2" Type="http://schemas.openxmlformats.org/officeDocument/2006/relationships/hyperlink" Target="https://brew.sh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-scm.com/install/windows" TargetMode="External"/><Relationship Id="rId5" Type="http://schemas.openxmlformats.org/officeDocument/2006/relationships/hyperlink" Target="https://git-scm.com/install/mac" TargetMode="External"/><Relationship Id="rId4" Type="http://schemas.openxmlformats.org/officeDocument/2006/relationships/image" Target="../media/image4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en/download" TargetMode="Externa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ithub.com/kwartler/vienna-genai-finance-course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hyperlink" Target="https://aistudio.google.com/app/api-keys" TargetMode="External"/><Relationship Id="rId3" Type="http://schemas.openxmlformats.org/officeDocument/2006/relationships/hyperlink" Target="http://www.newsapi.org/" TargetMode="External"/><Relationship Id="rId7" Type="http://schemas.openxmlformats.org/officeDocument/2006/relationships/hyperlink" Target="https://site.financialmodelingprep.com/developer/docs/dashboard?tab=apiDetails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newsapi.org/account" TargetMode="External"/><Relationship Id="rId5" Type="http://schemas.openxmlformats.org/officeDocument/2006/relationships/hyperlink" Target="https://aistudio.google.com/prompts/new_chat" TargetMode="External"/><Relationship Id="rId4" Type="http://schemas.openxmlformats.org/officeDocument/2006/relationships/hyperlink" Target="https://site.financialmodelingprep.com/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tif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5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9A6B2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solidFill>
            <a:srgbClr val="9A6B2C">
              <a:alpha val="12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325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DAY 1  ·  8:00 TO 9:00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173736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Environment Setup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and Orientation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40080" y="370332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Two toolchains, one course. Let's confirm everything works before the real content starts.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9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Generative AI in Finance   |   Executive MBA   |   Finance Masters + Data Science Masters</a:t>
            </a:r>
            <a:endParaRPr lang="en-US" sz="1200" dirty="0"/>
          </a:p>
        </p:txBody>
      </p:sp>
      <p:sp>
        <p:nvSpPr>
          <p:cNvPr id="4" name="Harvard Footer">
            <a:extLst>
              <a:ext uri="{FF2B5EF4-FFF2-40B4-BE49-F238E27FC236}">
                <a16:creationId xmlns:a16="http://schemas.microsoft.com/office/drawing/2014/main" id="{53D3167F-6BD5-2FC4-5195-67FA07E293B8}"/>
              </a:ext>
            </a:extLst>
          </p:cNvPr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>
            <a:extLst>
              <a:ext uri="{FF2B5EF4-FFF2-40B4-BE49-F238E27FC236}">
                <a16:creationId xmlns:a16="http://schemas.microsoft.com/office/drawing/2014/main" id="{D0BC3A10-9070-F70B-6AC8-0176BED6B26F}"/>
              </a:ext>
            </a:extLst>
          </p:cNvPr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Instructors</a:t>
            </a:r>
            <a:endParaRPr lang="en-US" sz="3000" dirty="0"/>
          </a:p>
        </p:txBody>
      </p:sp>
      <p:pic>
        <p:nvPicPr>
          <p:cNvPr id="13" name="Google Shape;504;p5">
            <a:extLst>
              <a:ext uri="{FF2B5EF4-FFF2-40B4-BE49-F238E27FC236}">
                <a16:creationId xmlns:a16="http://schemas.microsoft.com/office/drawing/2014/main" id="{58752CDF-B63C-02E2-0948-7759EB62E03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148793" y="4332385"/>
            <a:ext cx="1040291" cy="4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499;p5">
            <a:extLst>
              <a:ext uri="{FF2B5EF4-FFF2-40B4-BE49-F238E27FC236}">
                <a16:creationId xmlns:a16="http://schemas.microsoft.com/office/drawing/2014/main" id="{D26EA55E-3CF7-C6A0-0E1F-0208072EAEB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21537" y="4997099"/>
            <a:ext cx="1290654" cy="72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52FA6E1-B0D4-2389-E4F2-C8B3B4F00C1C}"/>
              </a:ext>
            </a:extLst>
          </p:cNvPr>
          <p:cNvSpPr txBox="1"/>
          <p:nvPr/>
        </p:nvSpPr>
        <p:spPr>
          <a:xfrm>
            <a:off x="4652046" y="1169141"/>
            <a:ext cx="2520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Scott Lindeman</a:t>
            </a:r>
          </a:p>
        </p:txBody>
      </p:sp>
      <p:pic>
        <p:nvPicPr>
          <p:cNvPr id="26" name="Google Shape;492;p5">
            <a:extLst>
              <a:ext uri="{FF2B5EF4-FFF2-40B4-BE49-F238E27FC236}">
                <a16:creationId xmlns:a16="http://schemas.microsoft.com/office/drawing/2014/main" id="{F6104907-81EE-42E7-46DD-D66CC1B4317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32007" y="1594877"/>
            <a:ext cx="1567050" cy="1570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494;p5">
            <a:extLst>
              <a:ext uri="{FF2B5EF4-FFF2-40B4-BE49-F238E27FC236}">
                <a16:creationId xmlns:a16="http://schemas.microsoft.com/office/drawing/2014/main" id="{56BAC9A6-1E80-5C07-7198-FD6EFD59948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09115" y="4313557"/>
            <a:ext cx="6572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504;p5">
            <a:extLst>
              <a:ext uri="{FF2B5EF4-FFF2-40B4-BE49-F238E27FC236}">
                <a16:creationId xmlns:a16="http://schemas.microsoft.com/office/drawing/2014/main" id="{6CD2A719-C308-4037-0384-93B7BC03FAD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78911" y="4475407"/>
            <a:ext cx="1040291" cy="4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Picture 2" descr="Image result for wiley and sons">
            <a:extLst>
              <a:ext uri="{FF2B5EF4-FFF2-40B4-BE49-F238E27FC236}">
                <a16:creationId xmlns:a16="http://schemas.microsoft.com/office/drawing/2014/main" id="{8B3ABE11-02E3-29CF-6038-C0DEBFD7C6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8" t="34851" r="5092" b="31309"/>
          <a:stretch/>
        </p:blipFill>
        <p:spPr bwMode="auto">
          <a:xfrm>
            <a:off x="2396704" y="6061763"/>
            <a:ext cx="1017425" cy="286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Google Shape;499;p5">
            <a:extLst>
              <a:ext uri="{FF2B5EF4-FFF2-40B4-BE49-F238E27FC236}">
                <a16:creationId xmlns:a16="http://schemas.microsoft.com/office/drawing/2014/main" id="{1B96321F-921A-9CAA-40ED-7F6394D72C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1655" y="5140121"/>
            <a:ext cx="1290654" cy="72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500;p5">
            <a:extLst>
              <a:ext uri="{FF2B5EF4-FFF2-40B4-BE49-F238E27FC236}">
                <a16:creationId xmlns:a16="http://schemas.microsoft.com/office/drawing/2014/main" id="{F8048B09-0F1F-D1D9-F2AD-869B50CCFE4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71003" y="6066593"/>
            <a:ext cx="933450" cy="281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501;p5">
            <a:extLst>
              <a:ext uri="{FF2B5EF4-FFF2-40B4-BE49-F238E27FC236}">
                <a16:creationId xmlns:a16="http://schemas.microsoft.com/office/drawing/2014/main" id="{F29BD485-C6D1-E50E-2A29-4941833EEA8B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396704" y="5224296"/>
            <a:ext cx="933449" cy="638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Picture 2" descr="Accenture New Logo transparent PNG - StickPNG">
            <a:extLst>
              <a:ext uri="{FF2B5EF4-FFF2-40B4-BE49-F238E27FC236}">
                <a16:creationId xmlns:a16="http://schemas.microsoft.com/office/drawing/2014/main" id="{852D3677-3609-050C-68BF-DB44485DAD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6982" y="3653910"/>
            <a:ext cx="1125942" cy="633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8AF61769-196A-EE80-9386-19B0F2E910FC}"/>
              </a:ext>
            </a:extLst>
          </p:cNvPr>
          <p:cNvSpPr txBox="1"/>
          <p:nvPr/>
        </p:nvSpPr>
        <p:spPr>
          <a:xfrm>
            <a:off x="982164" y="1169141"/>
            <a:ext cx="2520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Ted Kwartler</a:t>
            </a:r>
          </a:p>
        </p:txBody>
      </p:sp>
      <p:pic>
        <p:nvPicPr>
          <p:cNvPr id="40" name="Google Shape;499;p5">
            <a:extLst>
              <a:ext uri="{FF2B5EF4-FFF2-40B4-BE49-F238E27FC236}">
                <a16:creationId xmlns:a16="http://schemas.microsoft.com/office/drawing/2014/main" id="{4E817860-EA07-A893-A1AB-4FC052D5B5D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44846" y="4951158"/>
            <a:ext cx="1290654" cy="72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Picture 2" descr="Accenture New Logo transparent PNG - StickPNG">
            <a:extLst>
              <a:ext uri="{FF2B5EF4-FFF2-40B4-BE49-F238E27FC236}">
                <a16:creationId xmlns:a16="http://schemas.microsoft.com/office/drawing/2014/main" id="{524CFBFB-9A19-DDAD-9AF7-33571016B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0173" y="3464947"/>
            <a:ext cx="1125942" cy="633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4B2D09B7-E7D5-FDCA-0BF0-659BC9FAA4BC}"/>
              </a:ext>
            </a:extLst>
          </p:cNvPr>
          <p:cNvSpPr txBox="1"/>
          <p:nvPr/>
        </p:nvSpPr>
        <p:spPr>
          <a:xfrm>
            <a:off x="8375355" y="1169141"/>
            <a:ext cx="2520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Jared Bowns</a:t>
            </a:r>
          </a:p>
        </p:txBody>
      </p:sp>
      <p:sp>
        <p:nvSpPr>
          <p:cNvPr id="47" name="Harvard Page Number"/>
          <p:cNvSpPr txBox="1"/>
          <p:nvPr/>
        </p:nvSpPr>
        <p:spPr>
          <a:xfrm>
            <a:off x="11801189" y="6446043"/>
            <a:ext cx="253492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824A55C1-2E24-4352-B981-F58FD95DA53E}" type="slidenum">
              <a:rPr lang="en-US" sz="1000">
                <a:solidFill>
                  <a:schemeClr val="accent5"/>
                </a:solidFill>
                <a:latin typeface="Arial"/>
              </a:rPr>
              <a:t>2</a:t>
            </a:fld>
            <a:endParaRPr lang="en-US" sz="1000">
              <a:solidFill>
                <a:schemeClr val="accent5"/>
              </a:solidFill>
              <a:latin typeface="Arial"/>
            </a:endParaRPr>
          </a:p>
        </p:txBody>
      </p:sp>
      <p:sp>
        <p:nvSpPr>
          <p:cNvPr id="2" name="Harvard Footer">
            <a:extLst>
              <a:ext uri="{FF2B5EF4-FFF2-40B4-BE49-F238E27FC236}">
                <a16:creationId xmlns:a16="http://schemas.microsoft.com/office/drawing/2014/main" id="{8DCC3CFA-F214-E8A9-CCBC-8ECB9A44BE27}"/>
              </a:ext>
            </a:extLst>
          </p:cNvPr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487D2B-1AC8-4DB1-E921-E2D278CD503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14458" y="1603128"/>
            <a:ext cx="1554480" cy="1554480"/>
          </a:xfrm>
          <a:prstGeom prst="ellipse">
            <a:avLst/>
          </a:prstGeom>
        </p:spPr>
      </p:pic>
      <p:pic>
        <p:nvPicPr>
          <p:cNvPr id="4" name="Picture 3" descr="Seal - Brand Center">
            <a:extLst>
              <a:ext uri="{FF2B5EF4-FFF2-40B4-BE49-F238E27FC236}">
                <a16:creationId xmlns:a16="http://schemas.microsoft.com/office/drawing/2014/main" id="{F5FE1140-CCB6-A38E-A1C4-F9AD5D3CFCD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38251" y="4235510"/>
            <a:ext cx="657225" cy="657225"/>
          </a:xfrm>
          <a:prstGeom prst="rect">
            <a:avLst/>
          </a:prstGeom>
        </p:spPr>
      </p:pic>
      <p:pic>
        <p:nvPicPr>
          <p:cNvPr id="7" name="Picture 6" descr="Upstream Carbon logo">
            <a:extLst>
              <a:ext uri="{FF2B5EF4-FFF2-40B4-BE49-F238E27FC236}">
                <a16:creationId xmlns:a16="http://schemas.microsoft.com/office/drawing/2014/main" id="{9E22DCD1-6F20-DFB9-73A3-4F56B7BA0F3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0" y="4964521"/>
            <a:ext cx="666126" cy="666126"/>
          </a:xfrm>
          <a:prstGeom prst="rect">
            <a:avLst/>
          </a:prstGeom>
        </p:spPr>
      </p:pic>
      <p:pic>
        <p:nvPicPr>
          <p:cNvPr id="8" name="Picture 7" descr="Via Scientific, Inc. logo">
            <a:extLst>
              <a:ext uri="{FF2B5EF4-FFF2-40B4-BE49-F238E27FC236}">
                <a16:creationId xmlns:a16="http://schemas.microsoft.com/office/drawing/2014/main" id="{90BDAB63-6DC9-EF8B-8841-7D4879AD191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98815" y="5799318"/>
            <a:ext cx="654978" cy="654978"/>
          </a:xfrm>
          <a:prstGeom prst="rect">
            <a:avLst/>
          </a:prstGeom>
        </p:spPr>
      </p:pic>
      <p:pic>
        <p:nvPicPr>
          <p:cNvPr id="9" name="Picture 8" descr="Home | Cambridge University Press &amp; Assessment">
            <a:extLst>
              <a:ext uri="{FF2B5EF4-FFF2-40B4-BE49-F238E27FC236}">
                <a16:creationId xmlns:a16="http://schemas.microsoft.com/office/drawing/2014/main" id="{99FC813D-9A6D-1294-E7F6-F98FBE26565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51823" y="5999828"/>
            <a:ext cx="1554480" cy="318029"/>
          </a:xfrm>
          <a:prstGeom prst="rect">
            <a:avLst/>
          </a:prstGeom>
        </p:spPr>
      </p:pic>
      <p:pic>
        <p:nvPicPr>
          <p:cNvPr id="11" name="Picture 10" descr="Profile image">
            <a:extLst>
              <a:ext uri="{FF2B5EF4-FFF2-40B4-BE49-F238E27FC236}">
                <a16:creationId xmlns:a16="http://schemas.microsoft.com/office/drawing/2014/main" id="{069F95EC-8228-2042-5536-19DB7F3B7EC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58260" y="1603128"/>
            <a:ext cx="1554480" cy="1554480"/>
          </a:xfrm>
          <a:prstGeom prst="ellipse">
            <a:avLst/>
          </a:prstGeom>
        </p:spPr>
      </p:pic>
      <p:pic>
        <p:nvPicPr>
          <p:cNvPr id="15" name="Picture 14" descr="Elyxor logo">
            <a:extLst>
              <a:ext uri="{FF2B5EF4-FFF2-40B4-BE49-F238E27FC236}">
                <a16:creationId xmlns:a16="http://schemas.microsoft.com/office/drawing/2014/main" id="{BFCDC6C0-0898-D81E-41DC-99893012692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13089" y="4181440"/>
            <a:ext cx="580605" cy="580605"/>
          </a:xfrm>
          <a:prstGeom prst="rect">
            <a:avLst/>
          </a:prstGeom>
        </p:spPr>
      </p:pic>
      <p:pic>
        <p:nvPicPr>
          <p:cNvPr id="21" name="Picture 20" descr="Via Scientific, Inc. logo">
            <a:extLst>
              <a:ext uri="{FF2B5EF4-FFF2-40B4-BE49-F238E27FC236}">
                <a16:creationId xmlns:a16="http://schemas.microsoft.com/office/drawing/2014/main" id="{E110BC27-1559-41FC-AC01-00EA5CD947E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35500" y="4951158"/>
            <a:ext cx="654978" cy="654978"/>
          </a:xfrm>
          <a:prstGeom prst="rect">
            <a:avLst/>
          </a:prstGeom>
        </p:spPr>
      </p:pic>
      <p:pic>
        <p:nvPicPr>
          <p:cNvPr id="48" name="Picture 47" descr="Isenberg School of Management, UMass Amherst logo">
            <a:extLst>
              <a:ext uri="{FF2B5EF4-FFF2-40B4-BE49-F238E27FC236}">
                <a16:creationId xmlns:a16="http://schemas.microsoft.com/office/drawing/2014/main" id="{4290A39C-97ED-86B6-8F94-DC9E21D5582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04553" y="4198295"/>
            <a:ext cx="554223" cy="554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273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What we cover this hour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353312"/>
            <a:ext cx="420624" cy="420624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533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6B2C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307592"/>
            <a:ext cx="9966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 quick word on how this course runs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130552"/>
            <a:ext cx="420624" cy="420624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305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6B2C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084832"/>
            <a:ext cx="9966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Two toolchains: R and RStudio, then Node and GitHub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" y="2907792"/>
            <a:ext cx="420624" cy="420624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077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6B2C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2862072"/>
            <a:ext cx="9966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What R and RStudio actually are, for anyone new to them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77240" y="3685032"/>
            <a:ext cx="420624" cy="420624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6850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6B2C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3639312"/>
            <a:ext cx="9966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Verify every account and tool from the pre module checklist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77240" y="4462272"/>
            <a:ext cx="420624" cy="420624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4622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6B2C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416552"/>
            <a:ext cx="9966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Fork the starter repository and get oriented in OpenRouter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77240" y="5239512"/>
            <a:ext cx="420624" cy="420624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2395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A6B2C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17320" y="5193792"/>
            <a:ext cx="9966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4213D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Troubleshoot anything that is not working yet</a:t>
            </a:r>
            <a:endParaRPr lang="en-US" sz="1500" dirty="0"/>
          </a:p>
        </p:txBody>
      </p:sp>
      <p:sp>
        <p:nvSpPr>
          <p:cNvPr id="27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8" name="Harvard Page Number"/>
          <p:cNvSpPr txBox="1"/>
          <p:nvPr/>
        </p:nvSpPr>
        <p:spPr>
          <a:xfrm>
            <a:off x="11801189" y="6446043"/>
            <a:ext cx="253492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8AB9CA08-3053-422B-B4DE-8E2F1EA6C941}" type="slidenum">
              <a:rPr lang="en-US" sz="1000">
                <a:solidFill>
                  <a:schemeClr val="accent5"/>
                </a:solidFill>
                <a:latin typeface="Arial"/>
              </a:rPr>
              <a:t>3</a:t>
            </a:fld>
            <a:endParaRPr lang="en-US" sz="1000">
              <a:solidFill>
                <a:schemeClr val="accent5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16F68736-A383-32ED-E51D-57D1B0C5A5F6}"/>
              </a:ext>
            </a:extLst>
          </p:cNvPr>
          <p:cNvSpPr txBox="1">
            <a:spLocks/>
          </p:cNvSpPr>
          <p:nvPr/>
        </p:nvSpPr>
        <p:spPr>
          <a:xfrm>
            <a:off x="628650" y="365126"/>
            <a:ext cx="10934700" cy="591477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+mj-cs"/>
              </a:defRPr>
            </a:lvl1pPr>
          </a:lstStyle>
          <a:p>
            <a:r>
              <a:rPr lang="en-US"/>
              <a:t>Community Learning Expectations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CCE288-22FC-0748-3EF7-37AC90F3EE6F}"/>
              </a:ext>
            </a:extLst>
          </p:cNvPr>
          <p:cNvSpPr txBox="1"/>
          <p:nvPr/>
        </p:nvSpPr>
        <p:spPr>
          <a:xfrm>
            <a:off x="414339" y="1114419"/>
            <a:ext cx="872966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expect:</a:t>
            </a:r>
          </a:p>
          <a:p>
            <a:pPr marL="571500" lvl="1" indent="-114300">
              <a:buFont typeface="Arial" panose="020B0604020202020204" pitchFamily="34" charset="0"/>
              <a:buChar char="•"/>
            </a:pPr>
            <a:r>
              <a:rPr lang="en-US" dirty="0"/>
              <a:t>Kindness &gt; Cleverness</a:t>
            </a:r>
          </a:p>
          <a:p>
            <a:pPr marL="571500" lvl="1" indent="-114300">
              <a:buFont typeface="Arial" panose="020B0604020202020204" pitchFamily="34" charset="0"/>
              <a:buChar char="•"/>
            </a:pPr>
            <a:r>
              <a:rPr lang="en-US" dirty="0"/>
              <a:t>Active learning &amp; participation</a:t>
            </a:r>
          </a:p>
          <a:p>
            <a:pPr marL="571500" lvl="1" indent="-114300">
              <a:buFont typeface="Arial" panose="020B0604020202020204" pitchFamily="34" charset="0"/>
              <a:buChar char="•"/>
            </a:pPr>
            <a:r>
              <a:rPr lang="en-US" dirty="0"/>
              <a:t>To make adjustments along the way so learning will be engaging &amp; fun</a:t>
            </a:r>
          </a:p>
          <a:p>
            <a:pPr marL="571500" lvl="1" indent="-114300">
              <a:buFont typeface="Arial" panose="020B0604020202020204" pitchFamily="34" charset="0"/>
              <a:buChar char="•"/>
            </a:pPr>
            <a:r>
              <a:rPr lang="en-US" dirty="0"/>
              <a:t>Academic rigor</a:t>
            </a:r>
          </a:p>
          <a:p>
            <a:pPr marL="571500" lvl="1" indent="-114300">
              <a:buFont typeface="Arial" panose="020B0604020202020204" pitchFamily="34" charset="0"/>
              <a:buChar char="•"/>
            </a:pPr>
            <a:r>
              <a:rPr lang="en-US" dirty="0"/>
              <a:t>The use of AI (ChatGPT </a:t>
            </a:r>
            <a:r>
              <a:rPr lang="en-US" dirty="0" err="1"/>
              <a:t>etc</a:t>
            </a:r>
            <a:r>
              <a:rPr lang="en-US" dirty="0"/>
              <a:t>) to be used</a:t>
            </a:r>
          </a:p>
          <a:p>
            <a:endParaRPr lang="en-US" dirty="0"/>
          </a:p>
          <a:p>
            <a:r>
              <a:rPr lang="en-US" dirty="0"/>
              <a:t>My goal for your learning experience is that the topics are:</a:t>
            </a:r>
          </a:p>
          <a:p>
            <a:pPr marL="571500" lvl="1" indent="-114300">
              <a:buFont typeface="Arial" panose="020B0604020202020204" pitchFamily="34" charset="0"/>
              <a:buChar char="•"/>
            </a:pPr>
            <a:r>
              <a:rPr lang="en-US" b="1" dirty="0"/>
              <a:t>Interesting </a:t>
            </a:r>
            <a:r>
              <a:rPr lang="en-US" dirty="0"/>
              <a:t>to cover a lot of topics</a:t>
            </a:r>
            <a:endParaRPr lang="en-US" b="1" dirty="0"/>
          </a:p>
          <a:p>
            <a:pPr marL="571500" lvl="1" indent="-114300">
              <a:buFont typeface="Arial" panose="020B0604020202020204" pitchFamily="34" charset="0"/>
              <a:buChar char="•"/>
            </a:pPr>
            <a:r>
              <a:rPr lang="en-US" b="1" dirty="0"/>
              <a:t>Applicable</a:t>
            </a:r>
            <a:r>
              <a:rPr lang="en-US" dirty="0"/>
              <a:t> as a professional or future business person</a:t>
            </a:r>
          </a:p>
          <a:p>
            <a:pPr marL="571500" lvl="1" indent="-114300">
              <a:buFont typeface="Arial" panose="020B0604020202020204" pitchFamily="34" charset="0"/>
              <a:buChar char="•"/>
            </a:pPr>
            <a:r>
              <a:rPr lang="en-US" b="1" dirty="0"/>
              <a:t>Perspective building </a:t>
            </a:r>
            <a:r>
              <a:rPr lang="en-US" dirty="0"/>
              <a:t>as a consumer affected by these methods</a:t>
            </a:r>
          </a:p>
        </p:txBody>
      </p:sp>
      <p:sp>
        <p:nvSpPr>
          <p:cNvPr id="4" name="Shape 10">
            <a:extLst>
              <a:ext uri="{FF2B5EF4-FFF2-40B4-BE49-F238E27FC236}">
                <a16:creationId xmlns:a16="http://schemas.microsoft.com/office/drawing/2014/main" id="{936F2091-61B2-76C1-E575-ED7106E8B406}"/>
              </a:ext>
            </a:extLst>
          </p:cNvPr>
          <p:cNvSpPr/>
          <p:nvPr/>
        </p:nvSpPr>
        <p:spPr>
          <a:xfrm>
            <a:off x="640080" y="5349750"/>
            <a:ext cx="10789920" cy="1097280"/>
          </a:xfrm>
          <a:prstGeom prst="roundRect">
            <a:avLst>
              <a:gd name="adj" fmla="val 6667"/>
            </a:avLst>
          </a:prstGeom>
          <a:solidFill>
            <a:srgbClr val="1C2B52"/>
          </a:solidFill>
          <a:ln/>
        </p:spPr>
      </p:sp>
      <p:sp>
        <p:nvSpPr>
          <p:cNvPr id="5" name="Text 11">
            <a:extLst>
              <a:ext uri="{FF2B5EF4-FFF2-40B4-BE49-F238E27FC236}">
                <a16:creationId xmlns:a16="http://schemas.microsoft.com/office/drawing/2014/main" id="{5C0B4F24-FDAA-7F2B-491B-BFF7670AD862}"/>
              </a:ext>
            </a:extLst>
          </p:cNvPr>
          <p:cNvSpPr/>
          <p:nvPr/>
        </p:nvSpPr>
        <p:spPr>
          <a:xfrm>
            <a:off x="914400" y="551434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6B2C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What this course does not expect</a:t>
            </a:r>
            <a:endParaRPr lang="en-US" sz="1400" dirty="0"/>
          </a:p>
        </p:txBody>
      </p:sp>
      <p:sp>
        <p:nvSpPr>
          <p:cNvPr id="6" name="Text 12">
            <a:extLst>
              <a:ext uri="{FF2B5EF4-FFF2-40B4-BE49-F238E27FC236}">
                <a16:creationId xmlns:a16="http://schemas.microsoft.com/office/drawing/2014/main" id="{B6BB8487-C085-A580-B49D-9BE153F0B749}"/>
              </a:ext>
            </a:extLst>
          </p:cNvPr>
          <p:cNvSpPr/>
          <p:nvPr/>
        </p:nvSpPr>
        <p:spPr>
          <a:xfrm>
            <a:off x="914400" y="585267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E9F5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Heavy math skills, software engineering or prior coding experience. This is not a math course, and you do not need to be a developer to finish it. Both R and your AI assistant do the heavy lifting.  You are also not going to become a day trader with this course.</a:t>
            </a:r>
            <a:endParaRPr lang="en-US" sz="1300" dirty="0"/>
          </a:p>
        </p:txBody>
      </p:sp>
      <p:sp>
        <p:nvSpPr>
          <p:cNvPr id="7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8" name="Harvard Page Number"/>
          <p:cNvSpPr txBox="1"/>
          <p:nvPr/>
        </p:nvSpPr>
        <p:spPr>
          <a:xfrm>
            <a:off x="11801189" y="6446043"/>
            <a:ext cx="253492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423660B9-D34E-4CA2-9C77-AC437AD173CF}" type="slidenum">
              <a:rPr lang="en-US" sz="1000">
                <a:solidFill>
                  <a:schemeClr val="accent5"/>
                </a:solidFill>
                <a:latin typeface="Arial"/>
              </a:rPr>
              <a:t>4</a:t>
            </a:fld>
            <a:endParaRPr lang="en-US" sz="1000" dirty="0">
              <a:solidFill>
                <a:schemeClr val="accent5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80033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Two toolchains, one course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Different tools solve different problems. 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1E1E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75564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A6B2C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R &amp; RStudio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37744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Statistical computing, used to calculate &amp; chart moving averages, MACD, &amp; RSI directly against real price data.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36576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577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Runs entirely on your machine. No deployment, no public URL, just analysis.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1463040"/>
            <a:ext cx="5440680" cy="4023360"/>
          </a:xfrm>
          <a:prstGeom prst="roundRect">
            <a:avLst>
              <a:gd name="adj" fmla="val 1818"/>
            </a:avLst>
          </a:prstGeom>
          <a:solidFill>
            <a:srgbClr val="8FAADC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806" y="4297680"/>
            <a:ext cx="966304" cy="9663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99114" y="175564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A6B2C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Node &amp; GitHub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446520" y="237744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E9F5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Builds an actual single page application you will demo, using Vite, vibe coding, and OpenRouter for the AI calls.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446520" y="36576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Runs locally today. Tomorrow's GitHub Actions session publishes it to a public URL.</a:t>
            </a:r>
            <a:endParaRPr lang="en-US" sz="1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CEF24BE-C253-2170-9841-DEBB197869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297680"/>
            <a:ext cx="1309260" cy="101268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63174BD-763A-A59E-C77C-3E03817F74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673" y="4297680"/>
            <a:ext cx="966304" cy="96630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181D604-8D2A-9ED8-8699-8A9E8B20C7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8262" y="4434840"/>
            <a:ext cx="1534275" cy="640080"/>
          </a:xfrm>
          <a:prstGeom prst="rect">
            <a:avLst/>
          </a:prstGeom>
        </p:spPr>
      </p:pic>
      <p:pic>
        <p:nvPicPr>
          <p:cNvPr id="19" name="Graphic 18" descr="Node.js - Wikipedia">
            <a:extLst>
              <a:ext uri="{FF2B5EF4-FFF2-40B4-BE49-F238E27FC236}">
                <a16:creationId xmlns:a16="http://schemas.microsoft.com/office/drawing/2014/main" id="{8B004FE5-0C1E-BED5-659A-0D9A1B3E8D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24549" y="4359614"/>
            <a:ext cx="1344491" cy="821295"/>
          </a:xfrm>
          <a:prstGeom prst="rect">
            <a:avLst/>
          </a:prstGeom>
        </p:spPr>
      </p:pic>
      <p:sp>
        <p:nvSpPr>
          <p:cNvPr id="20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1" name="Harvard Page Number"/>
          <p:cNvSpPr txBox="1"/>
          <p:nvPr/>
        </p:nvSpPr>
        <p:spPr>
          <a:xfrm>
            <a:off x="11801189" y="6446043"/>
            <a:ext cx="253492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40C61873-D371-42FB-BFBA-327AD49D5C93}" type="slidenum">
              <a:rPr lang="en-US" sz="1000">
                <a:solidFill>
                  <a:schemeClr val="accent5"/>
                </a:solidFill>
                <a:latin typeface="Arial"/>
              </a:rPr>
              <a:t>5</a:t>
            </a:fld>
            <a:endParaRPr lang="en-US" sz="1000">
              <a:solidFill>
                <a:schemeClr val="accent5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370213" y="251717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What is R?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70212" y="689660"/>
            <a:ext cx="11652451" cy="362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 language &amp; environment built for statistical computing &amp; graphics. 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1542477"/>
            <a:ext cx="54514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Free and open source, extensible with more than 20,000 packages.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477118"/>
            <a:ext cx="554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Built by statisticians, for statistical and financial analysis.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0694" y="3470027"/>
            <a:ext cx="554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Excellent graphing capabilities, which is why we use it for this morning's charts.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70213" y="5439655"/>
            <a:ext cx="11704444" cy="930325"/>
          </a:xfrm>
          <a:prstGeom prst="roundRect">
            <a:avLst>
              <a:gd name="adj" fmla="val 7273"/>
            </a:avLst>
          </a:prstGeom>
          <a:solidFill>
            <a:srgbClr val="14213D"/>
          </a:solidFill>
          <a:ln/>
        </p:spPr>
      </p:sp>
      <p:sp>
        <p:nvSpPr>
          <p:cNvPr id="10" name="Text 7"/>
          <p:cNvSpPr/>
          <p:nvPr/>
        </p:nvSpPr>
        <p:spPr>
          <a:xfrm>
            <a:off x="644533" y="5439655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6B2C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If you get stuck…ask &amp; use your chatbot!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4533" y="5799250"/>
            <a:ext cx="112940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9F5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Most AI assistants, including Claude, already know R well. Describe what you are trying to do in plain language and ask for the R code, the same habit from this course's vibe coding sessions.</a:t>
            </a:r>
            <a:endParaRPr lang="en-US" sz="1250" dirty="0"/>
          </a:p>
        </p:txBody>
      </p:sp>
      <p:pic>
        <p:nvPicPr>
          <p:cNvPr id="13" name="Content Placeholder 7">
            <a:extLst>
              <a:ext uri="{FF2B5EF4-FFF2-40B4-BE49-F238E27FC236}">
                <a16:creationId xmlns:a16="http://schemas.microsoft.com/office/drawing/2014/main" id="{147576EA-67A0-9218-7A8B-C5EDC4B1B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435" y="1267952"/>
            <a:ext cx="5274347" cy="4035019"/>
          </a:xfrm>
          <a:prstGeom prst="rect">
            <a:avLst/>
          </a:prstGeom>
        </p:spPr>
      </p:pic>
      <p:sp>
        <p:nvSpPr>
          <p:cNvPr id="14" name="Text 5">
            <a:extLst>
              <a:ext uri="{FF2B5EF4-FFF2-40B4-BE49-F238E27FC236}">
                <a16:creationId xmlns:a16="http://schemas.microsoft.com/office/drawing/2014/main" id="{C82ECF2E-426A-9A3E-845C-F8EC1433A4BE}"/>
              </a:ext>
            </a:extLst>
          </p:cNvPr>
          <p:cNvSpPr/>
          <p:nvPr/>
        </p:nvSpPr>
        <p:spPr>
          <a:xfrm>
            <a:off x="500694" y="4296963"/>
            <a:ext cx="554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Widely used throughout academia and within industry.</a:t>
            </a:r>
            <a:endParaRPr lang="en-US" sz="1400" dirty="0"/>
          </a:p>
        </p:txBody>
      </p:sp>
      <p:sp>
        <p:nvSpPr>
          <p:cNvPr id="2" name="Harvard Footer">
            <a:extLst>
              <a:ext uri="{FF2B5EF4-FFF2-40B4-BE49-F238E27FC236}">
                <a16:creationId xmlns:a16="http://schemas.microsoft.com/office/drawing/2014/main" id="{01FC4EFD-A7C8-880C-14C7-396E0BD383DF}"/>
              </a:ext>
            </a:extLst>
          </p:cNvPr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 dirty="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2" name="Harvard Page Number">
            <a:extLst>
              <a:ext uri="{FF2B5EF4-FFF2-40B4-BE49-F238E27FC236}">
                <a16:creationId xmlns:a16="http://schemas.microsoft.com/office/drawing/2014/main" id="{CDA58425-54C4-7046-1160-DA14636539A5}"/>
              </a:ext>
            </a:extLst>
          </p:cNvPr>
          <p:cNvSpPr txBox="1"/>
          <p:nvPr/>
        </p:nvSpPr>
        <p:spPr>
          <a:xfrm>
            <a:off x="11801189" y="6446043"/>
            <a:ext cx="253492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40C61873-D371-42FB-BFBA-327AD49D5C93}" type="slidenum">
              <a:rPr lang="en-US" sz="1000">
                <a:solidFill>
                  <a:schemeClr val="accent5"/>
                </a:solidFill>
                <a:latin typeface="Arial"/>
              </a:rPr>
              <a:t>6</a:t>
            </a:fld>
            <a:endParaRPr lang="en-US" sz="1000">
              <a:solidFill>
                <a:schemeClr val="accent5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633DA-D31E-BCC6-CB35-65F37BF15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72C95CEF-0A0C-E247-03F2-CF8133257062}"/>
              </a:ext>
            </a:extLst>
          </p:cNvPr>
          <p:cNvSpPr/>
          <p:nvPr/>
        </p:nvSpPr>
        <p:spPr>
          <a:xfrm>
            <a:off x="370213" y="251717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What is R?</a:t>
            </a:r>
            <a:endParaRPr lang="en-US" sz="27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7A2D263-73DC-8993-E881-7AAD784B8702}"/>
              </a:ext>
            </a:extLst>
          </p:cNvPr>
          <p:cNvSpPr/>
          <p:nvPr/>
        </p:nvSpPr>
        <p:spPr>
          <a:xfrm>
            <a:off x="370212" y="689660"/>
            <a:ext cx="11652451" cy="362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RStudio is an IDE, an integrated development environment, built specifically for R</a:t>
            </a:r>
            <a:endParaRPr lang="en-US" sz="15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54410C4-1B9E-0AFC-00FC-55ECB646A1CF}"/>
              </a:ext>
            </a:extLst>
          </p:cNvPr>
          <p:cNvSpPr/>
          <p:nvPr/>
        </p:nvSpPr>
        <p:spPr>
          <a:xfrm>
            <a:off x="548640" y="2394762"/>
            <a:ext cx="48908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Font typeface="Wingdings" panose="05000000000000000000" pitchFamily="2" charset="2"/>
              <a:buChar char="•"/>
            </a:pPr>
            <a:r>
              <a:rPr lang="en-US" sz="1400" dirty="0">
                <a:solidFill>
                  <a:srgbClr val="3A3F4B"/>
                </a:solidFill>
                <a:latin typeface="Arial" pitchFamily="34" charset="0"/>
                <a:cs typeface="Calibri" pitchFamily="34" charset="-120"/>
              </a:rPr>
              <a:t>IDE – Integrated Development Environment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286E63E-EA81-13FB-5F29-FB8E71968ECC}"/>
              </a:ext>
            </a:extLst>
          </p:cNvPr>
          <p:cNvSpPr/>
          <p:nvPr/>
        </p:nvSpPr>
        <p:spPr>
          <a:xfrm>
            <a:off x="370212" y="3488494"/>
            <a:ext cx="48908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Font typeface="Wingdings" panose="05000000000000000000" pitchFamily="2" charset="2"/>
              <a:buChar char="•"/>
            </a:pPr>
            <a:r>
              <a:rPr lang="en-US" sz="1400" dirty="0">
                <a:solidFill>
                  <a:srgbClr val="3A3F4B"/>
                </a:solidFill>
                <a:latin typeface="Arial" pitchFamily="34" charset="0"/>
                <a:cs typeface="Calibri" pitchFamily="34" charset="-120"/>
              </a:rPr>
              <a:t>Adds additional functionality e.g. git, shiny projects, markdown templates</a:t>
            </a: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CE447D9-3ECE-E1A9-7475-00C0BBC6B124}"/>
              </a:ext>
            </a:extLst>
          </p:cNvPr>
          <p:cNvSpPr/>
          <p:nvPr/>
        </p:nvSpPr>
        <p:spPr>
          <a:xfrm>
            <a:off x="370213" y="5367736"/>
            <a:ext cx="11704444" cy="930325"/>
          </a:xfrm>
          <a:prstGeom prst="roundRect">
            <a:avLst>
              <a:gd name="adj" fmla="val 7273"/>
            </a:avLst>
          </a:prstGeom>
          <a:solidFill>
            <a:srgbClr val="14213D"/>
          </a:solidFill>
          <a:ln/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8438B85-89C8-7E5E-B3A5-6467559F603D}"/>
              </a:ext>
            </a:extLst>
          </p:cNvPr>
          <p:cNvSpPr/>
          <p:nvPr/>
        </p:nvSpPr>
        <p:spPr>
          <a:xfrm>
            <a:off x="644533" y="536773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6B2C"/>
                </a:solidFill>
                <a:latin typeface="Arial" pitchFamily="34" charset="0"/>
              </a:rPr>
              <a:t>Not the only IDE for R</a:t>
            </a:r>
            <a:endParaRPr lang="en-US" sz="14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66151A10-EA40-6A5D-41B2-C7ADB5871FE8}"/>
              </a:ext>
            </a:extLst>
          </p:cNvPr>
          <p:cNvSpPr/>
          <p:nvPr/>
        </p:nvSpPr>
        <p:spPr>
          <a:xfrm>
            <a:off x="644533" y="5727331"/>
            <a:ext cx="112940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studio is the most popular IDE for R although there are others &amp;  you don’t actually need it to execute R code. 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3539B48-EC2A-6031-D36D-BDA545FB0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9460" y="1626156"/>
            <a:ext cx="6635197" cy="3400174"/>
          </a:xfrm>
          <a:prstGeom prst="rect">
            <a:avLst/>
          </a:prstGeom>
          <a:ln>
            <a:solidFill>
              <a:schemeClr val="accent2"/>
            </a:solidFill>
          </a:ln>
        </p:spPr>
      </p:pic>
      <p:sp>
        <p:nvSpPr>
          <p:cNvPr id="3" name="Harvard Footer">
            <a:extLst>
              <a:ext uri="{FF2B5EF4-FFF2-40B4-BE49-F238E27FC236}">
                <a16:creationId xmlns:a16="http://schemas.microsoft.com/office/drawing/2014/main" id="{70E197DA-D36A-45D0-F3CC-1753F72CAEF6}"/>
              </a:ext>
            </a:extLst>
          </p:cNvPr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 dirty="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3" name="Harvard Page Number">
            <a:extLst>
              <a:ext uri="{FF2B5EF4-FFF2-40B4-BE49-F238E27FC236}">
                <a16:creationId xmlns:a16="http://schemas.microsoft.com/office/drawing/2014/main" id="{5A260B1F-A888-2D00-DE24-73E721522408}"/>
              </a:ext>
            </a:extLst>
          </p:cNvPr>
          <p:cNvSpPr txBox="1"/>
          <p:nvPr/>
        </p:nvSpPr>
        <p:spPr>
          <a:xfrm>
            <a:off x="11801189" y="6446043"/>
            <a:ext cx="253492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40C61873-D371-42FB-BFBA-327AD49D5C93}" type="slidenum">
              <a:rPr lang="en-US" sz="1000" smtClean="0">
                <a:solidFill>
                  <a:schemeClr val="accent5"/>
                </a:solidFill>
                <a:latin typeface="Arial"/>
              </a:rPr>
              <a:t>7</a:t>
            </a:fld>
            <a:endParaRPr lang="en-US" sz="1000" dirty="0">
              <a:solidFill>
                <a:schemeClr val="accent5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7559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48640" y="494311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What is RStudio?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852513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/>
              <a:t>R Studio sits atop of the installed R version. Without base R, R studio cannot function.  By programmatically accessing base R, R Studio improves the interface and functionality.  </a:t>
            </a:r>
          </a:p>
        </p:txBody>
      </p:sp>
      <p:sp>
        <p:nvSpPr>
          <p:cNvPr id="11" name="Text 8"/>
          <p:cNvSpPr/>
          <p:nvPr/>
        </p:nvSpPr>
        <p:spPr>
          <a:xfrm>
            <a:off x="548640" y="565533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Without base R installed, RStudio cannot run anything. You need both, and both should already be on your machine from the pre module checklist.</a:t>
            </a:r>
            <a:endParaRPr lang="en-US" sz="1300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2717F32D-1FBE-A6E0-1F18-E3083E461B5F}"/>
              </a:ext>
            </a:extLst>
          </p:cNvPr>
          <p:cNvSpPr/>
          <p:nvPr/>
        </p:nvSpPr>
        <p:spPr>
          <a:xfrm>
            <a:off x="2293919" y="4509542"/>
            <a:ext cx="6883357" cy="1143000"/>
          </a:xfrm>
          <a:custGeom>
            <a:avLst/>
            <a:gdLst>
              <a:gd name="connsiteX0" fmla="*/ 1180004 w 6883357"/>
              <a:gd name="connsiteY0" fmla="*/ 0 h 1143000"/>
              <a:gd name="connsiteX1" fmla="*/ 5703353 w 6883357"/>
              <a:gd name="connsiteY1" fmla="*/ 0 h 1143000"/>
              <a:gd name="connsiteX2" fmla="*/ 6883357 w 6883357"/>
              <a:gd name="connsiteY2" fmla="*/ 1143000 h 1143000"/>
              <a:gd name="connsiteX3" fmla="*/ 0 w 6883357"/>
              <a:gd name="connsiteY3" fmla="*/ 1143000 h 1143000"/>
              <a:gd name="connsiteX4" fmla="*/ 1180004 w 6883357"/>
              <a:gd name="connsiteY4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83357" h="1143000">
                <a:moveTo>
                  <a:pt x="1180004" y="0"/>
                </a:moveTo>
                <a:lnTo>
                  <a:pt x="5703353" y="0"/>
                </a:lnTo>
                <a:lnTo>
                  <a:pt x="6883357" y="1143000"/>
                </a:lnTo>
                <a:lnTo>
                  <a:pt x="0" y="1143000"/>
                </a:lnTo>
                <a:lnTo>
                  <a:pt x="1180004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9BC1447E-06CE-28D2-AAEE-0BF783BD62F0}"/>
              </a:ext>
            </a:extLst>
          </p:cNvPr>
          <p:cNvSpPr/>
          <p:nvPr/>
        </p:nvSpPr>
        <p:spPr>
          <a:xfrm>
            <a:off x="3513117" y="2273635"/>
            <a:ext cx="4472090" cy="2190750"/>
          </a:xfrm>
          <a:custGeom>
            <a:avLst/>
            <a:gdLst>
              <a:gd name="connsiteX0" fmla="*/ 2261675 w 4523349"/>
              <a:gd name="connsiteY0" fmla="*/ 0 h 2190750"/>
              <a:gd name="connsiteX1" fmla="*/ 4523349 w 4523349"/>
              <a:gd name="connsiteY1" fmla="*/ 2190750 h 2190750"/>
              <a:gd name="connsiteX2" fmla="*/ 0 w 4523349"/>
              <a:gd name="connsiteY2" fmla="*/ 2190750 h 2190750"/>
              <a:gd name="connsiteX3" fmla="*/ 2261675 w 4523349"/>
              <a:gd name="connsiteY3" fmla="*/ 0 h 2190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23349" h="2190750">
                <a:moveTo>
                  <a:pt x="2261675" y="0"/>
                </a:moveTo>
                <a:lnTo>
                  <a:pt x="4523349" y="2190750"/>
                </a:lnTo>
                <a:lnTo>
                  <a:pt x="0" y="2190750"/>
                </a:lnTo>
                <a:lnTo>
                  <a:pt x="2261675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:\Users\n0232877\AppData\Local\Microsoft\Windows\Temporary Internet Files\Content.IE5\FRTMVNL1\Rlogo.png">
            <a:extLst>
              <a:ext uri="{FF2B5EF4-FFF2-40B4-BE49-F238E27FC236}">
                <a16:creationId xmlns:a16="http://schemas.microsoft.com/office/drawing/2014/main" id="{A02F8DB2-2BCC-5BE0-F664-112278AAC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4553" y="4523829"/>
            <a:ext cx="1363200" cy="1035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Image result for r studio logo">
            <a:extLst>
              <a:ext uri="{FF2B5EF4-FFF2-40B4-BE49-F238E27FC236}">
                <a16:creationId xmlns:a16="http://schemas.microsoft.com/office/drawing/2014/main" id="{2E422E92-F965-DBAF-7ABD-1AFC72945A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2677" y="2866090"/>
            <a:ext cx="1005840" cy="1005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DFE0ACB-5D89-2AC5-F03C-847A82614FB3}"/>
              </a:ext>
            </a:extLst>
          </p:cNvPr>
          <p:cNvSpPr txBox="1"/>
          <p:nvPr/>
        </p:nvSpPr>
        <p:spPr>
          <a:xfrm>
            <a:off x="6365858" y="4872522"/>
            <a:ext cx="27205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Statistical &amp; graphing software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135B7A-C9B6-4511-789B-FD9622169FCF}"/>
              </a:ext>
            </a:extLst>
          </p:cNvPr>
          <p:cNvSpPr txBox="1"/>
          <p:nvPr/>
        </p:nvSpPr>
        <p:spPr>
          <a:xfrm>
            <a:off x="6365858" y="2954583"/>
            <a:ext cx="35337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Nice interface &amp; additional functionality for faster programming, analysis &amp; production.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E3F7E46-15D6-72DE-B199-119CD97231B8}"/>
              </a:ext>
            </a:extLst>
          </p:cNvPr>
          <p:cNvCxnSpPr/>
          <p:nvPr/>
        </p:nvCxnSpPr>
        <p:spPr>
          <a:xfrm>
            <a:off x="1512867" y="5735871"/>
            <a:ext cx="8558213" cy="0"/>
          </a:xfrm>
          <a:prstGeom prst="line">
            <a:avLst/>
          </a:prstGeom>
          <a:ln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Harvard Page Number"/>
          <p:cNvSpPr txBox="1"/>
          <p:nvPr/>
        </p:nvSpPr>
        <p:spPr>
          <a:xfrm>
            <a:off x="11801189" y="6446043"/>
            <a:ext cx="253492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E1368AF6-8EAC-485B-A448-2C6C72D9F5C0}" type="slidenum">
              <a:rPr lang="en-US" sz="1000">
                <a:solidFill>
                  <a:schemeClr val="accent5"/>
                </a:solidFill>
                <a:latin typeface="Arial"/>
              </a:rPr>
              <a:t>8</a:t>
            </a:fld>
            <a:endParaRPr lang="en-US" sz="1000">
              <a:solidFill>
                <a:schemeClr val="accent5"/>
              </a:solidFill>
              <a:latin typeface="Arial"/>
            </a:endParaRPr>
          </a:p>
        </p:txBody>
      </p:sp>
      <p:sp>
        <p:nvSpPr>
          <p:cNvPr id="2" name="Harvard Footer">
            <a:extLst>
              <a:ext uri="{FF2B5EF4-FFF2-40B4-BE49-F238E27FC236}">
                <a16:creationId xmlns:a16="http://schemas.microsoft.com/office/drawing/2014/main" id="{54678BC6-1C7F-B679-8C3F-B7F321D32C67}"/>
              </a:ext>
            </a:extLst>
          </p:cNvPr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 dirty="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6BF06E6-01D1-305D-DE28-FAC31ACF7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800" y="2476088"/>
            <a:ext cx="1309260" cy="10126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B428B4C-5B31-EDE9-C10B-5A785E582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4240" y="2119659"/>
            <a:ext cx="1725544" cy="17255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BFB6CF4-7B83-C2D8-D68E-CC813486A4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691" y="3627539"/>
            <a:ext cx="1033672" cy="4312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0A2D17-B30C-072B-E599-913F46BF05CC}"/>
              </a:ext>
            </a:extLst>
          </p:cNvPr>
          <p:cNvSpPr txBox="1"/>
          <p:nvPr/>
        </p:nvSpPr>
        <p:spPr>
          <a:xfrm>
            <a:off x="7766814" y="3833552"/>
            <a:ext cx="12987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Class Files hosted on </a:t>
            </a:r>
            <a:r>
              <a:rPr lang="en-US" dirty="0" err="1"/>
              <a:t>github.com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A26A61-375B-C668-5A18-746E0BC94D16}"/>
              </a:ext>
            </a:extLst>
          </p:cNvPr>
          <p:cNvSpPr txBox="1"/>
          <p:nvPr/>
        </p:nvSpPr>
        <p:spPr>
          <a:xfrm>
            <a:off x="2055128" y="3833552"/>
            <a:ext cx="27034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 Studio sits on top of base R &amp; adds functionality.</a:t>
            </a:r>
          </a:p>
        </p:txBody>
      </p:sp>
      <p:sp>
        <p:nvSpPr>
          <p:cNvPr id="8" name="Left-Right Arrow 7">
            <a:extLst>
              <a:ext uri="{FF2B5EF4-FFF2-40B4-BE49-F238E27FC236}">
                <a16:creationId xmlns:a16="http://schemas.microsoft.com/office/drawing/2014/main" id="{46641D38-4A26-49A2-2271-FB381D82EED0}"/>
              </a:ext>
            </a:extLst>
          </p:cNvPr>
          <p:cNvSpPr/>
          <p:nvPr/>
        </p:nvSpPr>
        <p:spPr>
          <a:xfrm>
            <a:off x="4639302" y="2538484"/>
            <a:ext cx="2915478" cy="887895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Connect to git repository.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6F850C-2233-7682-2020-67033AFDBACC}"/>
              </a:ext>
            </a:extLst>
          </p:cNvPr>
          <p:cNvSpPr txBox="1"/>
          <p:nvPr/>
        </p:nvSpPr>
        <p:spPr>
          <a:xfrm>
            <a:off x="5388048" y="4103734"/>
            <a:ext cx="129871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Makes the programmatic connection.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81A1533-8DA2-C2AB-053E-09A2200D5FAD}"/>
              </a:ext>
            </a:extLst>
          </p:cNvPr>
          <p:cNvCxnSpPr/>
          <p:nvPr/>
        </p:nvCxnSpPr>
        <p:spPr>
          <a:xfrm>
            <a:off x="8124623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4023376C-D663-41BC-0BBC-3AA19D6B9F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4351" y="2476088"/>
            <a:ext cx="966304" cy="966304"/>
          </a:xfrm>
          <a:prstGeom prst="rect">
            <a:avLst/>
          </a:prstGeom>
        </p:spPr>
      </p:pic>
      <p:sp>
        <p:nvSpPr>
          <p:cNvPr id="13" name="Text 1">
            <a:extLst>
              <a:ext uri="{FF2B5EF4-FFF2-40B4-BE49-F238E27FC236}">
                <a16:creationId xmlns:a16="http://schemas.microsoft.com/office/drawing/2014/main" id="{0D382523-603D-D03E-7242-39A58709B016}"/>
              </a:ext>
            </a:extLst>
          </p:cNvPr>
          <p:cNvSpPr/>
          <p:nvPr/>
        </p:nvSpPr>
        <p:spPr>
          <a:xfrm>
            <a:off x="548640" y="494311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Clone the class repository</a:t>
            </a:r>
            <a:endParaRPr lang="en-US" sz="2700" dirty="0"/>
          </a:p>
        </p:txBody>
      </p:sp>
      <p:sp>
        <p:nvSpPr>
          <p:cNvPr id="14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5" name="Harvard Page Number"/>
          <p:cNvSpPr txBox="1"/>
          <p:nvPr/>
        </p:nvSpPr>
        <p:spPr>
          <a:xfrm>
            <a:off x="11801189" y="6446043"/>
            <a:ext cx="253492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A8C4361D-26E9-4F7D-8799-FF8B3B159F73}" type="slidenum">
              <a:rPr lang="en-US" sz="1000">
                <a:solidFill>
                  <a:schemeClr val="accent5"/>
                </a:solidFill>
                <a:latin typeface="Arial"/>
              </a:rPr>
              <a:t>9</a:t>
            </a:fld>
            <a:endParaRPr lang="en-US" sz="1000">
              <a:solidFill>
                <a:schemeClr val="accent5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36345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521FBAA-C7EA-AE88-8086-69754161A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998" y="1099592"/>
            <a:ext cx="8585086" cy="5365679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231681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RStudio's four panes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610669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Works the same way on Windows, Mac, and Linux.</a:t>
            </a:r>
            <a:endParaRPr lang="en-US" sz="135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C095A0F-D377-4570-D5B4-202AD9C21E0A}"/>
              </a:ext>
            </a:extLst>
          </p:cNvPr>
          <p:cNvGrpSpPr/>
          <p:nvPr/>
        </p:nvGrpSpPr>
        <p:grpSpPr>
          <a:xfrm>
            <a:off x="140756" y="1772805"/>
            <a:ext cx="1920240" cy="1162521"/>
            <a:chOff x="548639" y="1534959"/>
            <a:chExt cx="1920240" cy="1162521"/>
          </a:xfrm>
        </p:grpSpPr>
        <p:sp>
          <p:nvSpPr>
            <p:cNvPr id="4" name="Shape 2"/>
            <p:cNvSpPr/>
            <p:nvPr/>
          </p:nvSpPr>
          <p:spPr>
            <a:xfrm>
              <a:off x="548639" y="1554480"/>
              <a:ext cx="1920240" cy="1143000"/>
            </a:xfrm>
            <a:prstGeom prst="roundRect">
              <a:avLst>
                <a:gd name="adj" fmla="val 4324"/>
              </a:avLst>
            </a:prstGeom>
            <a:solidFill>
              <a:srgbClr val="8FAADC">
                <a:alpha val="50196"/>
              </a:srgbClr>
            </a:solidFill>
            <a:ln/>
            <a:effectLst>
              <a:outerShdw blurRad="63500" dist="25400" dir="5400000" algn="bl" rotWithShape="0">
                <a:srgbClr val="1E1E1E">
                  <a:alpha val="8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66106" y="1534959"/>
              <a:ext cx="1755511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C00000"/>
                  </a:solidFill>
                  <a:latin typeface="Arial" pitchFamily="34" charset="0"/>
                  <a:ea typeface="Cambria" pitchFamily="34" charset="-122"/>
                  <a:cs typeface="Cambria" pitchFamily="34" charset="-120"/>
                </a:rPr>
                <a:t>Scripting</a:t>
              </a:r>
              <a:endParaRPr lang="en-US" sz="1500" dirty="0">
                <a:solidFill>
                  <a:srgbClr val="C00000"/>
                </a:solidFill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566106" y="1722668"/>
              <a:ext cx="1755511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C00000"/>
                  </a:solidFill>
                  <a:latin typeface="Arial" pitchFamily="34" charset="0"/>
                  <a:ea typeface="Calibri" pitchFamily="34" charset="-122"/>
                  <a:cs typeface="Calibri" pitchFamily="34" charset="-120"/>
                </a:rPr>
                <a:t>Write &amp; edit code, then send it to the console to execute.</a:t>
              </a:r>
              <a:endParaRPr lang="en-US" sz="12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6FA1F56-2C5F-F76B-13F3-8F28E90A43CA}"/>
              </a:ext>
            </a:extLst>
          </p:cNvPr>
          <p:cNvGrpSpPr/>
          <p:nvPr/>
        </p:nvGrpSpPr>
        <p:grpSpPr>
          <a:xfrm>
            <a:off x="137674" y="4920294"/>
            <a:ext cx="1923322" cy="1152760"/>
            <a:chOff x="6126480" y="1554480"/>
            <a:chExt cx="1923322" cy="1152760"/>
          </a:xfrm>
        </p:grpSpPr>
        <p:sp>
          <p:nvSpPr>
            <p:cNvPr id="7" name="Shape 5"/>
            <p:cNvSpPr/>
            <p:nvPr/>
          </p:nvSpPr>
          <p:spPr>
            <a:xfrm>
              <a:off x="6126480" y="1554480"/>
              <a:ext cx="1920240" cy="1143000"/>
            </a:xfrm>
            <a:prstGeom prst="roundRect">
              <a:avLst>
                <a:gd name="adj" fmla="val 4324"/>
              </a:avLst>
            </a:prstGeom>
            <a:solidFill>
              <a:srgbClr val="8FAADC">
                <a:alpha val="50196"/>
              </a:srgbClr>
            </a:solidFill>
            <a:ln/>
            <a:effectLst>
              <a:outerShdw blurRad="63500" dist="25400" dir="5400000" algn="bl" rotWithShape="0">
                <a:srgbClr val="1E1E1E">
                  <a:alpha val="8000"/>
                </a:srgbClr>
              </a:outerShdw>
            </a:effectLst>
          </p:spPr>
        </p:sp>
        <p:sp>
          <p:nvSpPr>
            <p:cNvPr id="8" name="Text 6"/>
            <p:cNvSpPr/>
            <p:nvPr/>
          </p:nvSpPr>
          <p:spPr>
            <a:xfrm>
              <a:off x="6126480" y="1578496"/>
              <a:ext cx="1828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C00000"/>
                  </a:solidFill>
                  <a:latin typeface="Arial" pitchFamily="34" charset="0"/>
                  <a:ea typeface="Cambria" pitchFamily="34" charset="-122"/>
                  <a:cs typeface="Cambria" pitchFamily="34" charset="-120"/>
                </a:rPr>
                <a:t>Console</a:t>
              </a:r>
              <a:endParaRPr lang="en-US" sz="1500" dirty="0">
                <a:solidFill>
                  <a:srgbClr val="C00000"/>
                </a:solidFill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6129562" y="1792840"/>
              <a:ext cx="192024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C00000"/>
                  </a:solidFill>
                  <a:latin typeface="Arial" pitchFamily="34" charset="0"/>
                  <a:ea typeface="Calibri" pitchFamily="34" charset="-122"/>
                  <a:cs typeface="Calibri" pitchFamily="34" charset="-120"/>
                </a:rPr>
                <a:t>Code execution &amp; where results &amp; errors print.</a:t>
              </a:r>
              <a:endParaRPr lang="en-US" sz="125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A4BD82F-51EE-9E21-418E-7381B0988A73}"/>
              </a:ext>
            </a:extLst>
          </p:cNvPr>
          <p:cNvGrpSpPr/>
          <p:nvPr/>
        </p:nvGrpSpPr>
        <p:grpSpPr>
          <a:xfrm>
            <a:off x="10009084" y="1772805"/>
            <a:ext cx="1920240" cy="1143000"/>
            <a:chOff x="-1158925" y="4657070"/>
            <a:chExt cx="1920240" cy="1143000"/>
          </a:xfrm>
        </p:grpSpPr>
        <p:sp>
          <p:nvSpPr>
            <p:cNvPr id="10" name="Shape 8"/>
            <p:cNvSpPr/>
            <p:nvPr/>
          </p:nvSpPr>
          <p:spPr>
            <a:xfrm>
              <a:off x="-1158925" y="4661898"/>
              <a:ext cx="1920240" cy="1138171"/>
            </a:xfrm>
            <a:prstGeom prst="roundRect">
              <a:avLst>
                <a:gd name="adj" fmla="val 4324"/>
              </a:avLst>
            </a:prstGeom>
            <a:solidFill>
              <a:srgbClr val="8FAADC">
                <a:alpha val="50196"/>
              </a:srgbClr>
            </a:solidFill>
            <a:ln/>
            <a:effectLst>
              <a:outerShdw blurRad="63500" dist="25400" dir="5400000" algn="bl" rotWithShape="0">
                <a:srgbClr val="1E1E1E">
                  <a:alpha val="8000"/>
                </a:srgbClr>
              </a:outerShdw>
            </a:effectLst>
          </p:spPr>
        </p:sp>
        <p:sp>
          <p:nvSpPr>
            <p:cNvPr id="11" name="Text 9"/>
            <p:cNvSpPr/>
            <p:nvPr/>
          </p:nvSpPr>
          <p:spPr>
            <a:xfrm>
              <a:off x="-1158925" y="4657070"/>
              <a:ext cx="1828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C00000"/>
                  </a:solidFill>
                  <a:latin typeface="Arial" pitchFamily="34" charset="0"/>
                  <a:ea typeface="Cambria" pitchFamily="34" charset="-122"/>
                  <a:cs typeface="Cambria" pitchFamily="34" charset="-120"/>
                </a:rPr>
                <a:t>Environment</a:t>
              </a:r>
              <a:endParaRPr lang="en-US" sz="1500" dirty="0">
                <a:solidFill>
                  <a:srgbClr val="C00000"/>
                </a:solidFill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-1158925" y="4885670"/>
              <a:ext cx="182880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C00000"/>
                  </a:solidFill>
                  <a:latin typeface="Arial" pitchFamily="34" charset="0"/>
                  <a:ea typeface="Calibri" pitchFamily="34" charset="-122"/>
                  <a:cs typeface="Calibri" pitchFamily="34" charset="-120"/>
                </a:rPr>
                <a:t>Running list of every object currently loaded, such as fetched price data &amp; stored vars.</a:t>
              </a:r>
              <a:endParaRPr lang="en-US" sz="125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98A4927-C498-7FC0-66D5-32B1FE839DF3}"/>
              </a:ext>
            </a:extLst>
          </p:cNvPr>
          <p:cNvGrpSpPr/>
          <p:nvPr/>
        </p:nvGrpSpPr>
        <p:grpSpPr>
          <a:xfrm>
            <a:off x="10009084" y="4840284"/>
            <a:ext cx="1920240" cy="1303020"/>
            <a:chOff x="6126480" y="3429000"/>
            <a:chExt cx="1920240" cy="1303020"/>
          </a:xfrm>
        </p:grpSpPr>
        <p:sp>
          <p:nvSpPr>
            <p:cNvPr id="13" name="Shape 11"/>
            <p:cNvSpPr/>
            <p:nvPr/>
          </p:nvSpPr>
          <p:spPr>
            <a:xfrm>
              <a:off x="6126480" y="3429000"/>
              <a:ext cx="1920240" cy="1143000"/>
            </a:xfrm>
            <a:prstGeom prst="roundRect">
              <a:avLst>
                <a:gd name="adj" fmla="val 4324"/>
              </a:avLst>
            </a:prstGeom>
            <a:solidFill>
              <a:srgbClr val="8FAADC">
                <a:alpha val="50196"/>
              </a:srgbClr>
            </a:solidFill>
            <a:ln/>
            <a:effectLst>
              <a:outerShdw blurRad="63500" dist="25400" dir="5400000" algn="bl" rotWithShape="0">
                <a:srgbClr val="1E1E1E">
                  <a:alpha val="8000"/>
                </a:srgbClr>
              </a:outerShdw>
            </a:effectLst>
          </p:spPr>
        </p:sp>
        <p:sp>
          <p:nvSpPr>
            <p:cNvPr id="14" name="Text 12"/>
            <p:cNvSpPr/>
            <p:nvPr/>
          </p:nvSpPr>
          <p:spPr>
            <a:xfrm>
              <a:off x="6175282" y="3520440"/>
              <a:ext cx="1828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C00000"/>
                  </a:solidFill>
                  <a:latin typeface="Arial" pitchFamily="34" charset="0"/>
                  <a:ea typeface="Cambria" pitchFamily="34" charset="-122"/>
                  <a:cs typeface="Cambria" pitchFamily="34" charset="-120"/>
                </a:rPr>
                <a:t>Files, plots, packages, help</a:t>
              </a:r>
              <a:endParaRPr lang="en-US" sz="1500" dirty="0">
                <a:solidFill>
                  <a:srgbClr val="C00000"/>
                </a:solidFill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6126480" y="3817620"/>
              <a:ext cx="192024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C00000"/>
                  </a:solidFill>
                  <a:latin typeface="Arial" pitchFamily="34" charset="0"/>
                  <a:ea typeface="Calibri" pitchFamily="34" charset="-122"/>
                  <a:cs typeface="Calibri" pitchFamily="34" charset="-120"/>
                </a:rPr>
                <a:t>Browse files, load packages, view charts, &amp; search documentation</a:t>
              </a:r>
              <a:endParaRPr lang="en-US" sz="1250" dirty="0">
                <a:solidFill>
                  <a:srgbClr val="C00000"/>
                </a:solidFill>
              </a:endParaRPr>
            </a:p>
          </p:txBody>
        </p:sp>
      </p:grpSp>
      <p:sp>
        <p:nvSpPr>
          <p:cNvPr id="21" name="Harvard Footer"/>
          <p:cNvSpPr txBox="1"/>
          <p:nvPr/>
        </p:nvSpPr>
        <p:spPr>
          <a:xfrm>
            <a:off x="137319" y="649176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2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47508155-0C2F-4757-B392-818992006141}" type="slidenum">
              <a:rPr lang="en-US" sz="1000">
                <a:solidFill>
                  <a:schemeClr val="accent5"/>
                </a:solidFill>
                <a:latin typeface="Arial"/>
              </a:rPr>
              <a:t>10</a:t>
            </a:fld>
            <a:endParaRPr lang="en-US" sz="1000">
              <a:solidFill>
                <a:schemeClr val="accent5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>
            <a:extLst>
              <a:ext uri="{FF2B5EF4-FFF2-40B4-BE49-F238E27FC236}">
                <a16:creationId xmlns:a16="http://schemas.microsoft.com/office/drawing/2014/main" id="{CF1D0E0A-972A-DA45-B6DF-EBE5D44868EC}"/>
              </a:ext>
            </a:extLst>
          </p:cNvPr>
          <p:cNvSpPr/>
          <p:nvPr/>
        </p:nvSpPr>
        <p:spPr>
          <a:xfrm>
            <a:off x="548640" y="307707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Arial" pitchFamily="34" charset="0"/>
              </a:rPr>
              <a:t>Where is R used?</a:t>
            </a:r>
            <a:endParaRPr lang="en-US" sz="28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87649D99-CFC6-BFF1-2F44-7A91D130B161}"/>
              </a:ext>
            </a:extLst>
          </p:cNvPr>
          <p:cNvSpPr/>
          <p:nvPr/>
        </p:nvSpPr>
        <p:spPr>
          <a:xfrm>
            <a:off x="472905" y="5421117"/>
            <a:ext cx="10745001" cy="930325"/>
          </a:xfrm>
          <a:prstGeom prst="roundRect">
            <a:avLst>
              <a:gd name="adj" fmla="val 7273"/>
            </a:avLst>
          </a:prstGeom>
          <a:solidFill>
            <a:srgbClr val="14213D"/>
          </a:solidFill>
          <a:ln/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6991A5-058E-035C-BFA4-50D7BF38F040}"/>
              </a:ext>
            </a:extLst>
          </p:cNvPr>
          <p:cNvSpPr txBox="1"/>
          <p:nvPr/>
        </p:nvSpPr>
        <p:spPr>
          <a:xfrm>
            <a:off x="971733" y="5519705"/>
            <a:ext cx="98400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 is ubiquitous in various industries used for analysis, prototyping and visualization.   However, more often python is used in </a:t>
            </a:r>
            <a:r>
              <a:rPr lang="en-US" i="1" dirty="0">
                <a:solidFill>
                  <a:schemeClr val="bg1"/>
                </a:solidFill>
              </a:rPr>
              <a:t>production</a:t>
            </a:r>
            <a:r>
              <a:rPr lang="en-US" dirty="0">
                <a:solidFill>
                  <a:schemeClr val="bg1"/>
                </a:solidFill>
              </a:rPr>
              <a:t> environments.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0200F38F-F091-EF46-83C9-D18FA1FC7EC7}"/>
              </a:ext>
            </a:extLst>
          </p:cNvPr>
          <p:cNvSpPr/>
          <p:nvPr/>
        </p:nvSpPr>
        <p:spPr>
          <a:xfrm>
            <a:off x="573135" y="1143558"/>
            <a:ext cx="1823566" cy="4023360"/>
          </a:xfrm>
          <a:prstGeom prst="roundRect">
            <a:avLst>
              <a:gd name="adj" fmla="val 1818"/>
            </a:avLst>
          </a:prstGeom>
          <a:solidFill>
            <a:srgbClr val="8FAADC"/>
          </a:solidFill>
          <a:ln/>
        </p:spPr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337E937B-7C55-AE9B-D257-D7B55CC0251E}"/>
              </a:ext>
            </a:extLst>
          </p:cNvPr>
          <p:cNvSpPr/>
          <p:nvPr/>
        </p:nvSpPr>
        <p:spPr>
          <a:xfrm>
            <a:off x="4992137" y="1143558"/>
            <a:ext cx="1823566" cy="4023360"/>
          </a:xfrm>
          <a:prstGeom prst="roundRect">
            <a:avLst>
              <a:gd name="adj" fmla="val 1818"/>
            </a:avLst>
          </a:prstGeom>
          <a:solidFill>
            <a:srgbClr val="8FAADC"/>
          </a:solidFill>
          <a:ln/>
        </p:spPr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F39E47A1-AB03-EE2F-F7C4-45BCDCC11348}"/>
              </a:ext>
            </a:extLst>
          </p:cNvPr>
          <p:cNvSpPr/>
          <p:nvPr/>
        </p:nvSpPr>
        <p:spPr>
          <a:xfrm>
            <a:off x="9393984" y="1193312"/>
            <a:ext cx="1823566" cy="4023360"/>
          </a:xfrm>
          <a:prstGeom prst="roundRect">
            <a:avLst>
              <a:gd name="adj" fmla="val 1818"/>
            </a:avLst>
          </a:prstGeom>
          <a:solidFill>
            <a:srgbClr val="8FAADC"/>
          </a:solidFill>
          <a:ln/>
        </p:spPr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17F9DA99-7C33-D7CB-005F-2DA6FF2DE548}"/>
              </a:ext>
            </a:extLst>
          </p:cNvPr>
          <p:cNvSpPr/>
          <p:nvPr/>
        </p:nvSpPr>
        <p:spPr>
          <a:xfrm>
            <a:off x="2698730" y="1143558"/>
            <a:ext cx="1823566" cy="4023360"/>
          </a:xfrm>
          <a:prstGeom prst="roundRect">
            <a:avLst>
              <a:gd name="adj" fmla="val 1818"/>
            </a:avLst>
          </a:prstGeom>
          <a:solidFill>
            <a:srgbClr val="8FAADC"/>
          </a:solidFill>
          <a:ln/>
        </p:spPr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D3F90938-BB8B-E673-5070-ADE73F9B32CA}"/>
              </a:ext>
            </a:extLst>
          </p:cNvPr>
          <p:cNvSpPr/>
          <p:nvPr/>
        </p:nvSpPr>
        <p:spPr>
          <a:xfrm>
            <a:off x="7123738" y="1169599"/>
            <a:ext cx="1823566" cy="4023360"/>
          </a:xfrm>
          <a:prstGeom prst="roundRect">
            <a:avLst>
              <a:gd name="adj" fmla="val 1818"/>
            </a:avLst>
          </a:prstGeom>
          <a:solidFill>
            <a:srgbClr val="8FAADC"/>
          </a:solidFill>
          <a:ln/>
        </p:spPr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B4C5D4-1D57-CD77-BD95-61C241A88196}"/>
              </a:ext>
            </a:extLst>
          </p:cNvPr>
          <p:cNvSpPr txBox="1"/>
          <p:nvPr/>
        </p:nvSpPr>
        <p:spPr>
          <a:xfrm>
            <a:off x="643791" y="1997839"/>
            <a:ext cx="168225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Google</a:t>
            </a:r>
          </a:p>
          <a:p>
            <a:pPr algn="ctr"/>
            <a:r>
              <a:rPr lang="en-US" dirty="0"/>
              <a:t>Facebook</a:t>
            </a:r>
          </a:p>
          <a:p>
            <a:pPr algn="ctr"/>
            <a:r>
              <a:rPr lang="en-US" dirty="0"/>
              <a:t>Twitter</a:t>
            </a:r>
          </a:p>
          <a:p>
            <a:pPr algn="ctr"/>
            <a:r>
              <a:rPr lang="en-US" dirty="0"/>
              <a:t>Foursquare</a:t>
            </a:r>
          </a:p>
          <a:p>
            <a:pPr algn="ctr"/>
            <a:r>
              <a:rPr lang="en-US" dirty="0"/>
              <a:t>Kickstarter</a:t>
            </a:r>
          </a:p>
          <a:p>
            <a:pPr algn="ctr"/>
            <a:r>
              <a:rPr lang="en-US" dirty="0"/>
              <a:t>New York Times</a:t>
            </a:r>
          </a:p>
          <a:p>
            <a:pPr algn="ctr"/>
            <a:r>
              <a:rPr lang="en-US" dirty="0"/>
              <a:t>Economist</a:t>
            </a:r>
          </a:p>
          <a:p>
            <a:pPr algn="ctr"/>
            <a:r>
              <a:rPr lang="en-US" dirty="0"/>
              <a:t>Warner Bros.</a:t>
            </a:r>
          </a:p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F93A38-44B1-D0AC-0A64-C56D94963A12}"/>
              </a:ext>
            </a:extLst>
          </p:cNvPr>
          <p:cNvSpPr txBox="1"/>
          <p:nvPr/>
        </p:nvSpPr>
        <p:spPr>
          <a:xfrm>
            <a:off x="2890810" y="2281662"/>
            <a:ext cx="143940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Zillow</a:t>
            </a:r>
          </a:p>
          <a:p>
            <a:pPr algn="ctr"/>
            <a:r>
              <a:rPr lang="en-US" sz="1600" dirty="0"/>
              <a:t>Trulia</a:t>
            </a:r>
          </a:p>
          <a:p>
            <a:pPr algn="ctr"/>
            <a:r>
              <a:rPr lang="en-US" sz="1600" dirty="0"/>
              <a:t>eHarmony</a:t>
            </a:r>
          </a:p>
          <a:p>
            <a:pPr algn="ctr"/>
            <a:r>
              <a:rPr lang="en-US" sz="1600" dirty="0" err="1"/>
              <a:t>PredictWise</a:t>
            </a:r>
            <a:endParaRPr lang="en-US" sz="1600" dirty="0"/>
          </a:p>
          <a:p>
            <a:pPr algn="ctr"/>
            <a:r>
              <a:rPr lang="en-US" sz="1600" dirty="0"/>
              <a:t>Nationwide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37FB47-E12C-8D1F-CFAF-6B4B14E77F39}"/>
              </a:ext>
            </a:extLst>
          </p:cNvPr>
          <p:cNvSpPr txBox="1"/>
          <p:nvPr/>
        </p:nvSpPr>
        <p:spPr>
          <a:xfrm>
            <a:off x="5184217" y="1997839"/>
            <a:ext cx="143940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Lloyd’s Bank</a:t>
            </a:r>
          </a:p>
          <a:p>
            <a:pPr algn="ctr"/>
            <a:r>
              <a:rPr lang="en-US" dirty="0"/>
              <a:t>Credit Suisse</a:t>
            </a:r>
          </a:p>
          <a:p>
            <a:pPr algn="ctr"/>
            <a:r>
              <a:rPr lang="en-US" dirty="0"/>
              <a:t>American Century</a:t>
            </a:r>
          </a:p>
          <a:p>
            <a:pPr algn="ctr"/>
            <a:r>
              <a:rPr lang="en-US" dirty="0"/>
              <a:t>Australia and New Zealand Banking Group</a:t>
            </a:r>
          </a:p>
          <a:p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592282-A37C-306C-EEC7-2549E4DADFDE}"/>
              </a:ext>
            </a:extLst>
          </p:cNvPr>
          <p:cNvSpPr txBox="1"/>
          <p:nvPr/>
        </p:nvSpPr>
        <p:spPr>
          <a:xfrm>
            <a:off x="7315818" y="1665041"/>
            <a:ext cx="1439407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SAS</a:t>
            </a:r>
          </a:p>
          <a:p>
            <a:pPr algn="ctr"/>
            <a:r>
              <a:rPr lang="en-US" sz="1600" dirty="0"/>
              <a:t>Oracle</a:t>
            </a:r>
          </a:p>
          <a:p>
            <a:pPr algn="ctr"/>
            <a:r>
              <a:rPr lang="en-US" sz="1600" dirty="0"/>
              <a:t>IBM</a:t>
            </a:r>
          </a:p>
          <a:p>
            <a:pPr algn="ctr"/>
            <a:r>
              <a:rPr lang="en-US" sz="1600" dirty="0"/>
              <a:t>Teradata</a:t>
            </a:r>
          </a:p>
          <a:p>
            <a:pPr algn="ctr"/>
            <a:r>
              <a:rPr lang="en-US" sz="1600" dirty="0"/>
              <a:t>Coursera</a:t>
            </a:r>
          </a:p>
          <a:p>
            <a:pPr algn="ctr"/>
            <a:r>
              <a:rPr lang="en-US" sz="1600" dirty="0"/>
              <a:t>SAP</a:t>
            </a:r>
          </a:p>
          <a:p>
            <a:pPr algn="ctr"/>
            <a:r>
              <a:rPr lang="en-US" sz="1600" dirty="0" err="1"/>
              <a:t>DataCamp</a:t>
            </a:r>
            <a:endParaRPr lang="en-US" sz="1600" dirty="0"/>
          </a:p>
          <a:p>
            <a:pPr algn="ctr"/>
            <a:r>
              <a:rPr lang="en-US" sz="1600" dirty="0"/>
              <a:t>Alteryx</a:t>
            </a:r>
          </a:p>
          <a:p>
            <a:pPr algn="ctr"/>
            <a:r>
              <a:rPr lang="en-US" sz="1600" dirty="0"/>
              <a:t>TIBCO</a:t>
            </a:r>
          </a:p>
          <a:p>
            <a:pPr algn="ctr"/>
            <a:r>
              <a:rPr lang="en-US" sz="1600" dirty="0" err="1"/>
              <a:t>OneTick</a:t>
            </a:r>
            <a:endParaRPr lang="en-US" sz="1600" dirty="0"/>
          </a:p>
          <a:p>
            <a:pPr algn="ctr"/>
            <a:r>
              <a:rPr lang="en-US" sz="1600" dirty="0"/>
              <a:t>Amazon</a:t>
            </a:r>
          </a:p>
          <a:p>
            <a:pPr algn="ctr"/>
            <a:r>
              <a:rPr lang="en-US" sz="1600" dirty="0"/>
              <a:t>Google</a:t>
            </a:r>
          </a:p>
          <a:p>
            <a:pPr algn="ctr"/>
            <a:r>
              <a:rPr lang="en-US" sz="1600" dirty="0"/>
              <a:t>Microsoft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6F3F11-3247-561F-11EA-8FDB4DD1842A}"/>
              </a:ext>
            </a:extLst>
          </p:cNvPr>
          <p:cNvSpPr txBox="1"/>
          <p:nvPr/>
        </p:nvSpPr>
        <p:spPr>
          <a:xfrm>
            <a:off x="9355764" y="2023040"/>
            <a:ext cx="1900007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Food &amp; Drug </a:t>
            </a:r>
          </a:p>
          <a:p>
            <a:pPr algn="ctr"/>
            <a:r>
              <a:rPr lang="en-US" dirty="0"/>
              <a:t>Administration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National Weather </a:t>
            </a:r>
          </a:p>
          <a:p>
            <a:pPr algn="ctr"/>
            <a:r>
              <a:rPr lang="en-US" dirty="0"/>
              <a:t>Service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National Institute </a:t>
            </a:r>
          </a:p>
          <a:p>
            <a:pPr algn="ctr"/>
            <a:r>
              <a:rPr lang="en-US" dirty="0"/>
              <a:t>of Standards </a:t>
            </a:r>
          </a:p>
          <a:p>
            <a:pPr algn="ctr"/>
            <a:r>
              <a:rPr lang="en-US" dirty="0"/>
              <a:t>in Techn</a:t>
            </a:r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40B2D267-81E0-2388-13B9-6C3EC56ED598}"/>
              </a:ext>
            </a:extLst>
          </p:cNvPr>
          <p:cNvSpPr/>
          <p:nvPr/>
        </p:nvSpPr>
        <p:spPr>
          <a:xfrm>
            <a:off x="573135" y="1380164"/>
            <a:ext cx="182356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A6B2C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Media</a:t>
            </a:r>
            <a:endParaRPr lang="en-US" sz="1700" dirty="0"/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B3086C62-0ED4-7DF4-C113-DCB9BDE8C7F6}"/>
              </a:ext>
            </a:extLst>
          </p:cNvPr>
          <p:cNvSpPr/>
          <p:nvPr/>
        </p:nvSpPr>
        <p:spPr>
          <a:xfrm>
            <a:off x="2698730" y="1380164"/>
            <a:ext cx="182356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A6B2C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Services</a:t>
            </a:r>
            <a:endParaRPr lang="en-US" sz="1700" dirty="0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F5F99FC7-E5FB-F894-87C1-B3EDE90A8928}"/>
              </a:ext>
            </a:extLst>
          </p:cNvPr>
          <p:cNvSpPr/>
          <p:nvPr/>
        </p:nvSpPr>
        <p:spPr>
          <a:xfrm>
            <a:off x="4992137" y="1380164"/>
            <a:ext cx="182356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A6B2C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Finance</a:t>
            </a:r>
            <a:endParaRPr lang="en-US" sz="1700" dirty="0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A783F4AC-E929-E681-65AC-F0B7A7D13CFF}"/>
              </a:ext>
            </a:extLst>
          </p:cNvPr>
          <p:cNvSpPr/>
          <p:nvPr/>
        </p:nvSpPr>
        <p:spPr>
          <a:xfrm>
            <a:off x="7123738" y="1380164"/>
            <a:ext cx="182356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00" b="1" dirty="0">
                <a:solidFill>
                  <a:srgbClr val="9A6B2C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Technology</a:t>
            </a:r>
            <a:endParaRPr lang="en-US" sz="1700" dirty="0"/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F747E443-F86C-6402-6B7D-FE7E61FCC6E1}"/>
              </a:ext>
            </a:extLst>
          </p:cNvPr>
          <p:cNvSpPr/>
          <p:nvPr/>
        </p:nvSpPr>
        <p:spPr>
          <a:xfrm>
            <a:off x="9393984" y="1380164"/>
            <a:ext cx="182356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A6B2C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Government</a:t>
            </a:r>
            <a:endParaRPr lang="en-US" sz="1700" dirty="0"/>
          </a:p>
        </p:txBody>
      </p:sp>
      <p:sp>
        <p:nvSpPr>
          <p:cNvPr id="30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37B99382-646B-49C1-ACC6-492B4F6A3C2F}" type="slidenum">
              <a:rPr lang="en-US" sz="1000">
                <a:solidFill>
                  <a:schemeClr val="accent5"/>
                </a:solidFill>
                <a:latin typeface="Arial"/>
              </a:rPr>
              <a:t>11</a:t>
            </a:fld>
            <a:endParaRPr lang="en-US" sz="1000">
              <a:solidFill>
                <a:schemeClr val="accent5"/>
              </a:solidFill>
              <a:latin typeface="Arial"/>
            </a:endParaRPr>
          </a:p>
        </p:txBody>
      </p:sp>
      <p:sp>
        <p:nvSpPr>
          <p:cNvPr id="2" name="Harvard Footer">
            <a:extLst>
              <a:ext uri="{FF2B5EF4-FFF2-40B4-BE49-F238E27FC236}">
                <a16:creationId xmlns:a16="http://schemas.microsoft.com/office/drawing/2014/main" id="{AD635ECE-1779-D542-F23D-DD1185958E6A}"/>
              </a:ext>
            </a:extLst>
          </p:cNvPr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 dirty="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</p:spTree>
    <p:extLst>
      <p:ext uri="{BB962C8B-B14F-4D97-AF65-F5344CB8AC3E}">
        <p14:creationId xmlns:p14="http://schemas.microsoft.com/office/powerpoint/2010/main" val="1819103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E1E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R +/-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349240" cy="3474720"/>
          </a:xfrm>
          <a:prstGeom prst="roundRect">
            <a:avLst>
              <a:gd name="adj" fmla="val 2105"/>
            </a:avLst>
          </a:prstGeom>
          <a:solidFill>
            <a:srgbClr val="1C2B5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6B2C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4E9F5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Extensible, with over 20,000 packages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30428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4E9F5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Built by statisticians, for statistics and finance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77977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4E9F5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Free &amp; open source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255264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4E9F5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Outstanding graphing capability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73075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E4E9F5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Large, active community for help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1188720"/>
            <a:ext cx="5440680" cy="3474720"/>
          </a:xfrm>
          <a:prstGeom prst="roundRect">
            <a:avLst>
              <a:gd name="adj" fmla="val 2105"/>
            </a:avLst>
          </a:prstGeom>
          <a:solidFill>
            <a:srgbClr val="1C2B52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A6B2C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1828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Struggles with truly large data without extra effort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46520" y="23774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Official documentation can be terse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46520" y="29260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Slower than lower level languages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46520" y="34747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Production grade apps take real effort to build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4846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E1E1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For the scope of what we build this week, moving averages, MACD, RSI, R's limitations do not get in the way.</a:t>
            </a:r>
            <a:endParaRPr lang="en-US" sz="1350" dirty="0"/>
          </a:p>
        </p:txBody>
      </p:sp>
      <p:sp>
        <p:nvSpPr>
          <p:cNvPr id="17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8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F45720A5-A089-44D5-980A-1D625B44994F}" type="slidenum">
              <a:rPr lang="en-US" sz="1000">
                <a:solidFill>
                  <a:schemeClr val="accent5"/>
                </a:solidFill>
                <a:latin typeface="Arial"/>
              </a:rPr>
              <a:t>12</a:t>
            </a:fld>
            <a:endParaRPr lang="en-US" sz="1000">
              <a:solidFill>
                <a:schemeClr val="accent5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The basic R workflow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76034" y="777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The same five step pattern behind every script you run this morning.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49808" y="1801368"/>
            <a:ext cx="402336" cy="402336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18013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6B2C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71600" y="169164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Set your path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2977452" y="1691640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Point R at a local file, or a URL, so it knows where to look.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49808" y="2715768"/>
            <a:ext cx="402336" cy="402336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13" name="Text 10"/>
          <p:cNvSpPr/>
          <p:nvPr/>
        </p:nvSpPr>
        <p:spPr>
          <a:xfrm>
            <a:off x="749808" y="27157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6B2C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371600" y="260604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Load libraries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2977452" y="2606040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library(quantmod), library(TTR), the specialized tools for this task.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49808" y="3630168"/>
            <a:ext cx="402336" cy="402336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18" name="Text 15"/>
          <p:cNvSpPr/>
          <p:nvPr/>
        </p:nvSpPr>
        <p:spPr>
          <a:xfrm>
            <a:off x="749808" y="36301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6B2C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371600" y="352044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Read the data in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2977452" y="3520440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read.csv</a:t>
            </a:r>
            <a:r>
              <a:rPr lang="en-US" sz="1250" dirty="0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() or similar brings the data into memory as an object.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49808" y="4544568"/>
            <a:ext cx="402336" cy="402336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23" name="Text 20"/>
          <p:cNvSpPr/>
          <p:nvPr/>
        </p:nvSpPr>
        <p:spPr>
          <a:xfrm>
            <a:off x="749808" y="45445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6B2C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71600" y="443484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Apply a function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2977452" y="4434840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 library function transforms that object: SMA(), MACD(), RSI().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749808" y="5458968"/>
            <a:ext cx="402336" cy="402336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28" name="Text 25"/>
          <p:cNvSpPr/>
          <p:nvPr/>
        </p:nvSpPr>
        <p:spPr>
          <a:xfrm>
            <a:off x="749808" y="54589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6B2C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371600" y="534924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Consume the result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2977452" y="5349240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Plot it, print it, or save it. This is the point of the whole script.</a:t>
            </a:r>
            <a:endParaRPr lang="en-US" sz="1250" dirty="0"/>
          </a:p>
        </p:txBody>
      </p:sp>
      <p:sp>
        <p:nvSpPr>
          <p:cNvPr id="31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32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3B0B0EDF-EB02-4B35-9E62-67669BB67CE9}" type="slidenum">
              <a:rPr lang="en-US" sz="1000">
                <a:solidFill>
                  <a:schemeClr val="accent5"/>
                </a:solidFill>
                <a:latin typeface="Arial"/>
              </a:rPr>
              <a:t>13</a:t>
            </a:fld>
            <a:endParaRPr lang="en-US" sz="1000">
              <a:solidFill>
                <a:schemeClr val="accent5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4F00480D-BFD2-64CC-0D47-B9A71CD876F5}"/>
              </a:ext>
            </a:extLst>
          </p:cNvPr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Breakfast R!</a:t>
            </a:r>
            <a:endParaRPr lang="en-US" sz="26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48AF85C-7842-8BBE-CC23-2119CCDA820C}"/>
              </a:ext>
            </a:extLst>
          </p:cNvPr>
          <p:cNvSpPr/>
          <p:nvPr/>
        </p:nvSpPr>
        <p:spPr>
          <a:xfrm>
            <a:off x="376034" y="777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i="1" dirty="0">
                <a:solidFill>
                  <a:srgbClr val="3A3F4B"/>
                </a:solidFill>
                <a:latin typeface="Arial" pitchFamily="34" charset="0"/>
                <a:cs typeface="Calibri" pitchFamily="34" charset="-120"/>
              </a:rPr>
              <a:t>Let’s eat a banana for breakfast.  Where is the fruit?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9581EF9-1B22-D5D6-5187-D3CC9871A47C}"/>
              </a:ext>
            </a:extLst>
          </p:cNvPr>
          <p:cNvSpPr/>
          <p:nvPr/>
        </p:nvSpPr>
        <p:spPr>
          <a:xfrm>
            <a:off x="263544" y="1290950"/>
            <a:ext cx="402336" cy="402336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867E4EB-6C1F-6DE8-81B9-FF87DDEB3249}"/>
              </a:ext>
            </a:extLst>
          </p:cNvPr>
          <p:cNvSpPr/>
          <p:nvPr/>
        </p:nvSpPr>
        <p:spPr>
          <a:xfrm>
            <a:off x="263544" y="129095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6B2C"/>
                </a:solidFill>
                <a:latin typeface="Arial" pitchFamily="34" charset="0"/>
              </a:rPr>
              <a:t>2</a:t>
            </a: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9443E5A-EF93-F03F-9E71-9C87AFBB8A48}"/>
              </a:ext>
            </a:extLst>
          </p:cNvPr>
          <p:cNvSpPr/>
          <p:nvPr/>
        </p:nvSpPr>
        <p:spPr>
          <a:xfrm>
            <a:off x="885336" y="1181222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Load Libraries</a:t>
            </a:r>
            <a:endParaRPr lang="en-US" sz="13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AD1B9F4-441C-684D-A508-E51732771A38}"/>
              </a:ext>
            </a:extLst>
          </p:cNvPr>
          <p:cNvSpPr/>
          <p:nvPr/>
        </p:nvSpPr>
        <p:spPr>
          <a:xfrm>
            <a:off x="170550" y="1546982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Point R at a local folder, file, or a URL, so it knows where to look.</a:t>
            </a:r>
            <a:endParaRPr lang="en-US" sz="12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C7503D-A850-584A-199F-E682289FAB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991" y="1947672"/>
            <a:ext cx="4437459" cy="34399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41E3561-4125-2626-447E-406248A7A4A8}"/>
              </a:ext>
            </a:extLst>
          </p:cNvPr>
          <p:cNvSpPr txBox="1"/>
          <p:nvPr/>
        </p:nvSpPr>
        <p:spPr>
          <a:xfrm>
            <a:off x="154116" y="2531504"/>
            <a:ext cx="7429875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# If a "local" file, define the path to the file.</a:t>
            </a:r>
          </a:p>
          <a:p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# Modern R: skip </a:t>
            </a:r>
            <a:r>
              <a:rPr lang="en-US" sz="1100" dirty="0" err="1">
                <a:latin typeface="Arial" panose="020B0609020204030204" pitchFamily="49" charset="0"/>
                <a:cs typeface="Consolas" panose="020B0609020204030204" pitchFamily="49" charset="0"/>
              </a:rPr>
              <a:t>setwd</a:t>
            </a:r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() - it's fragile (breaks if anyone else runs the</a:t>
            </a:r>
          </a:p>
          <a:p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# script, or you move the file) and RStudio/Posit no longer recommends it.</a:t>
            </a:r>
          </a:p>
          <a:p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# Use an RStudio Project + the here package instead, so the path is always</a:t>
            </a:r>
          </a:p>
          <a:p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# relative to the project root regardless of whose machine runs it.</a:t>
            </a:r>
          </a:p>
          <a:p>
            <a:r>
              <a:rPr lang="en-US" sz="1100" dirty="0" err="1">
                <a:latin typeface="Arial" panose="020B0609020204030204" pitchFamily="49" charset="0"/>
                <a:cs typeface="Consolas" panose="020B0609020204030204" pitchFamily="49" charset="0"/>
              </a:rPr>
              <a:t>scenesDF</a:t>
            </a:r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 &lt;- here::here("ted", "fruit", "basket", "</a:t>
            </a:r>
            <a:r>
              <a:rPr lang="en-US" sz="1100" dirty="0" err="1">
                <a:latin typeface="Arial" panose="020B0609020204030204" pitchFamily="49" charset="0"/>
                <a:cs typeface="Consolas" panose="020B0609020204030204" pitchFamily="49" charset="0"/>
              </a:rPr>
              <a:t>some_file.csv</a:t>
            </a:r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")</a:t>
            </a:r>
          </a:p>
          <a:p>
            <a:endParaRPr lang="en-US" sz="1100" dirty="0">
              <a:latin typeface="Arial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# OR WINDOWS</a:t>
            </a:r>
          </a:p>
          <a:p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# Forward slashes work fine on Windows in R - no escaping needed.</a:t>
            </a:r>
          </a:p>
          <a:p>
            <a:r>
              <a:rPr lang="en-US" sz="1100" dirty="0" err="1">
                <a:latin typeface="Arial" panose="020B0609020204030204" pitchFamily="49" charset="0"/>
                <a:cs typeface="Consolas" panose="020B0609020204030204" pitchFamily="49" charset="0"/>
              </a:rPr>
              <a:t>scenesDF</a:t>
            </a:r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 &lt;- "C:/Documents/ted/fruit/basket/</a:t>
            </a:r>
            <a:r>
              <a:rPr lang="en-US" sz="1100" dirty="0" err="1">
                <a:latin typeface="Arial" panose="020B0609020204030204" pitchFamily="49" charset="0"/>
                <a:cs typeface="Consolas" panose="020B0609020204030204" pitchFamily="49" charset="0"/>
              </a:rPr>
              <a:t>some_file.csv</a:t>
            </a:r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"</a:t>
            </a:r>
          </a:p>
          <a:p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# Or, since R 4.0, a raw string lets you paste a Windows path literally:</a:t>
            </a:r>
          </a:p>
          <a:p>
            <a:r>
              <a:rPr lang="en-US" sz="1100" dirty="0" err="1">
                <a:latin typeface="Arial" panose="020B0609020204030204" pitchFamily="49" charset="0"/>
                <a:cs typeface="Consolas" panose="020B0609020204030204" pitchFamily="49" charset="0"/>
              </a:rPr>
              <a:t>scenesDF</a:t>
            </a:r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 &lt;- r"(C:\Documents\ted\fruit\basket\</a:t>
            </a:r>
            <a:r>
              <a:rPr lang="en-US" sz="1100" dirty="0" err="1">
                <a:latin typeface="Arial" panose="020B0609020204030204" pitchFamily="49" charset="0"/>
                <a:cs typeface="Consolas" panose="020B0609020204030204" pitchFamily="49" charset="0"/>
              </a:rPr>
              <a:t>some_file.csv</a:t>
            </a:r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)"</a:t>
            </a:r>
          </a:p>
          <a:p>
            <a:endParaRPr lang="en-US" sz="1100" dirty="0">
              <a:latin typeface="Arial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# OR MAC</a:t>
            </a:r>
          </a:p>
          <a:p>
            <a:r>
              <a:rPr lang="en-US" sz="1100" dirty="0" err="1">
                <a:latin typeface="Arial" panose="020B0609020204030204" pitchFamily="49" charset="0"/>
                <a:cs typeface="Consolas" panose="020B0609020204030204" pitchFamily="49" charset="0"/>
              </a:rPr>
              <a:t>scenesDF</a:t>
            </a:r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 &lt;- "~/Desktop/ted/fruit/basket/</a:t>
            </a:r>
            <a:r>
              <a:rPr lang="en-US" sz="1100" dirty="0" err="1">
                <a:latin typeface="Arial" panose="020B0609020204030204" pitchFamily="49" charset="0"/>
                <a:cs typeface="Consolas" panose="020B0609020204030204" pitchFamily="49" charset="0"/>
              </a:rPr>
              <a:t>some_file.csv</a:t>
            </a:r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"</a:t>
            </a:r>
          </a:p>
          <a:p>
            <a:endParaRPr lang="en-US" sz="1100" dirty="0">
              <a:latin typeface="Arial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# OR</a:t>
            </a:r>
          </a:p>
          <a:p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# From a URL</a:t>
            </a:r>
          </a:p>
          <a:p>
            <a:r>
              <a:rPr lang="en-US" sz="1100" dirty="0" err="1">
                <a:latin typeface="Arial" panose="020B0609020204030204" pitchFamily="49" charset="0"/>
                <a:cs typeface="Consolas" panose="020B0609020204030204" pitchFamily="49" charset="0"/>
              </a:rPr>
              <a:t>scenesDF</a:t>
            </a:r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 &lt;- 'https://</a:t>
            </a:r>
            <a:r>
              <a:rPr lang="en-US" sz="1100" dirty="0" err="1">
                <a:latin typeface="Arial" panose="020B0609020204030204" pitchFamily="49" charset="0"/>
                <a:cs typeface="Consolas" panose="020B0609020204030204" pitchFamily="49" charset="0"/>
              </a:rPr>
              <a:t>raw.githubusercontent.com</a:t>
            </a:r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sz="1100" dirty="0" err="1">
                <a:latin typeface="Arial" panose="020B0609020204030204" pitchFamily="49" charset="0"/>
                <a:cs typeface="Consolas" panose="020B0609020204030204" pitchFamily="49" charset="0"/>
              </a:rPr>
              <a:t>kwartler</a:t>
            </a:r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sz="1100" dirty="0" err="1">
                <a:latin typeface="Arial" panose="020B0609020204030204" pitchFamily="49" charset="0"/>
                <a:cs typeface="Consolas" panose="020B0609020204030204" pitchFamily="49" charset="0"/>
              </a:rPr>
              <a:t>some_repository</a:t>
            </a:r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/main/ted/fruit/basket/</a:t>
            </a:r>
            <a:r>
              <a:rPr lang="en-US" sz="1100" dirty="0" err="1">
                <a:latin typeface="Arial" panose="020B0609020204030204" pitchFamily="49" charset="0"/>
                <a:cs typeface="Consolas" panose="020B0609020204030204" pitchFamily="49" charset="0"/>
              </a:rPr>
              <a:t>some_file.csv</a:t>
            </a:r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'</a:t>
            </a:r>
          </a:p>
        </p:txBody>
      </p:sp>
      <p:sp>
        <p:nvSpPr>
          <p:cNvPr id="12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3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F6BE2D47-AE71-464F-91F6-2D673D38FC59}" type="slidenum">
              <a:rPr lang="en-US" sz="1000">
                <a:solidFill>
                  <a:schemeClr val="accent5"/>
                </a:solidFill>
                <a:latin typeface="Arial"/>
              </a:rPr>
              <a:t>14</a:t>
            </a:fld>
            <a:endParaRPr lang="en-US" sz="1000">
              <a:solidFill>
                <a:schemeClr val="accent5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9037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B0026-1F92-272F-2356-E83EC870F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F61BE88B-F376-0CC8-09E0-06855DC6A135}"/>
              </a:ext>
            </a:extLst>
          </p:cNvPr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Breakfast R!</a:t>
            </a:r>
            <a:endParaRPr lang="en-US" sz="26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9367DA8-A6CD-E42E-1E4A-E15118E0361C}"/>
              </a:ext>
            </a:extLst>
          </p:cNvPr>
          <p:cNvSpPr/>
          <p:nvPr/>
        </p:nvSpPr>
        <p:spPr>
          <a:xfrm>
            <a:off x="376034" y="777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i="1" dirty="0">
                <a:solidFill>
                  <a:srgbClr val="3A3F4B"/>
                </a:solidFill>
                <a:latin typeface="Arial" pitchFamily="34" charset="0"/>
                <a:cs typeface="Calibri" pitchFamily="34" charset="-120"/>
              </a:rPr>
              <a:t>Found the fruit basket, what tools do I need? This specialized R to be a “breakfast preparing machine”.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14E31C3-1672-ED3F-5324-19AC460CD4C1}"/>
              </a:ext>
            </a:extLst>
          </p:cNvPr>
          <p:cNvSpPr/>
          <p:nvPr/>
        </p:nvSpPr>
        <p:spPr>
          <a:xfrm>
            <a:off x="263544" y="1290950"/>
            <a:ext cx="402336" cy="402336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51B5949-DFE8-A56F-BFF1-92DD1A33AAA5}"/>
              </a:ext>
            </a:extLst>
          </p:cNvPr>
          <p:cNvSpPr/>
          <p:nvPr/>
        </p:nvSpPr>
        <p:spPr>
          <a:xfrm>
            <a:off x="263544" y="129095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6B2C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67167DD-2053-068E-999D-207A49C980A3}"/>
              </a:ext>
            </a:extLst>
          </p:cNvPr>
          <p:cNvSpPr/>
          <p:nvPr/>
        </p:nvSpPr>
        <p:spPr>
          <a:xfrm>
            <a:off x="885336" y="1181222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Load libraries</a:t>
            </a:r>
            <a:endParaRPr lang="en-US" sz="13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5358236-E9A9-7FFD-AD56-01E700CDAAB5}"/>
              </a:ext>
            </a:extLst>
          </p:cNvPr>
          <p:cNvSpPr/>
          <p:nvPr/>
        </p:nvSpPr>
        <p:spPr>
          <a:xfrm>
            <a:off x="170550" y="1546982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library(</a:t>
            </a:r>
            <a:r>
              <a:rPr lang="en-US" sz="1250" dirty="0" err="1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quantmod</a:t>
            </a:r>
            <a:r>
              <a:rPr lang="en-US" sz="1250" dirty="0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), library(TTR), the specialized tools for this task.</a:t>
            </a:r>
            <a:endParaRPr lang="en-US" sz="1250" dirty="0"/>
          </a:p>
        </p:txBody>
      </p:sp>
      <p:pic>
        <p:nvPicPr>
          <p:cNvPr id="3" name="Picture 2" descr="Image result for hand white background">
            <a:extLst>
              <a:ext uri="{FF2B5EF4-FFF2-40B4-BE49-F238E27FC236}">
                <a16:creationId xmlns:a16="http://schemas.microsoft.com/office/drawing/2014/main" id="{A37B7561-DDE8-1455-3E5F-CD8C80BDC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1E1E1E">
                  <a:alpha val="0"/>
                </a:srgbClr>
              </a:clrFrom>
              <a:clrTo>
                <a:srgbClr val="1E1E1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7906" y="1471086"/>
            <a:ext cx="4827422" cy="4162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http://cdn.xl.thumbs.canstockphoto.com/canstock14746167.jpg">
            <a:extLst>
              <a:ext uri="{FF2B5EF4-FFF2-40B4-BE49-F238E27FC236}">
                <a16:creationId xmlns:a16="http://schemas.microsoft.com/office/drawing/2014/main" id="{2AC6522F-C1A0-95B9-8ED6-70EE8FD3F6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70" b="38097"/>
          <a:stretch/>
        </p:blipFill>
        <p:spPr bwMode="auto">
          <a:xfrm rot="5400000">
            <a:off x="9279028" y="3312402"/>
            <a:ext cx="4162711" cy="1059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9AD58C3-6DBE-72FC-6A82-BB371D535BB1}"/>
              </a:ext>
            </a:extLst>
          </p:cNvPr>
          <p:cNvSpPr txBox="1"/>
          <p:nvPr/>
        </p:nvSpPr>
        <p:spPr>
          <a:xfrm>
            <a:off x="263544" y="3183109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9020204030204" pitchFamily="49" charset="0"/>
              </a:rPr>
              <a:t># Load Libraries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7F90F3-21A8-CDE1-FE01-4BA948BE2477}"/>
              </a:ext>
            </a:extLst>
          </p:cNvPr>
          <p:cNvSpPr txBox="1"/>
          <p:nvPr/>
        </p:nvSpPr>
        <p:spPr>
          <a:xfrm>
            <a:off x="263544" y="3429000"/>
            <a:ext cx="19575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9020204030204" pitchFamily="49" charset="0"/>
              </a:rPr>
              <a:t>library(knife)</a:t>
            </a:r>
          </a:p>
          <a:p>
            <a:r>
              <a:rPr lang="en-US" dirty="0">
                <a:latin typeface="Arial" panose="020B0609020204030204" pitchFamily="49" charset="0"/>
              </a:rPr>
              <a:t>library(peel)</a:t>
            </a:r>
          </a:p>
          <a:p>
            <a:r>
              <a:rPr lang="en-US" dirty="0">
                <a:latin typeface="Arial" panose="020B0609020204030204" pitchFamily="49" charset="0"/>
              </a:rPr>
              <a:t>library(</a:t>
            </a:r>
            <a:r>
              <a:rPr lang="en-US" dirty="0" err="1">
                <a:latin typeface="Arial" panose="020B0609020204030204" pitchFamily="49" charset="0"/>
              </a:rPr>
              <a:t>readr</a:t>
            </a:r>
            <a:r>
              <a:rPr lang="en-US" dirty="0">
                <a:latin typeface="Arial" panose="020B0609020204030204" pitchFamily="49" charset="0"/>
              </a:rPr>
              <a:t>)</a:t>
            </a:r>
          </a:p>
        </p:txBody>
      </p:sp>
      <p:sp>
        <p:nvSpPr>
          <p:cNvPr id="14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5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04A375E4-92BD-4568-9411-6FF1BF966EDF}" type="slidenum">
              <a:rPr lang="en-US" sz="1000">
                <a:solidFill>
                  <a:schemeClr val="accent5"/>
                </a:solidFill>
                <a:latin typeface="Arial"/>
              </a:rPr>
              <a:t>15</a:t>
            </a:fld>
            <a:endParaRPr lang="en-US" sz="1000">
              <a:solidFill>
                <a:schemeClr val="accent5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27923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45EEFDE-FB64-C0F7-AA0F-8E365150DD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337" b="10552"/>
          <a:stretch/>
        </p:blipFill>
        <p:spPr>
          <a:xfrm>
            <a:off x="20" y="10"/>
            <a:ext cx="12191980" cy="4876789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E7EC782-E40D-7D17-8749-AF9E41E09A8B}"/>
              </a:ext>
            </a:extLst>
          </p:cNvPr>
          <p:cNvSpPr/>
          <p:nvPr/>
        </p:nvSpPr>
        <p:spPr>
          <a:xfrm>
            <a:off x="1616587" y="5247794"/>
            <a:ext cx="7784266" cy="12249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i="1" dirty="0"/>
              <a:t>Before loading a library use </a:t>
            </a:r>
            <a:r>
              <a:rPr lang="en-US" sz="1600" dirty="0" err="1">
                <a:latin typeface="Arial" panose="020B0609020204030204" pitchFamily="49" charset="0"/>
                <a:cs typeface="Consolas" panose="020B0609020204030204" pitchFamily="49" charset="0"/>
              </a:rPr>
              <a:t>install.packages</a:t>
            </a:r>
            <a:r>
              <a:rPr lang="en-US" sz="1600" dirty="0">
                <a:latin typeface="Arial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1600" dirty="0" err="1">
                <a:latin typeface="Arial" panose="020B0609020204030204" pitchFamily="49" charset="0"/>
                <a:cs typeface="Consolas" panose="020B0609020204030204" pitchFamily="49" charset="0"/>
              </a:rPr>
              <a:t>name_of_package</a:t>
            </a:r>
            <a:r>
              <a:rPr lang="en-US" sz="1600" dirty="0">
                <a:latin typeface="Arial" panose="020B0609020204030204" pitchFamily="49" charset="0"/>
                <a:cs typeface="Consolas" panose="020B0609020204030204" pitchFamily="49" charset="0"/>
              </a:rPr>
              <a:t>”). 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i="1" dirty="0"/>
              <a:t>You only need to do this once per environment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i="1" dirty="0"/>
              <a:t>But you will need to repeat it w/each new installation!</a:t>
            </a:r>
          </a:p>
        </p:txBody>
      </p:sp>
      <p:sp>
        <p:nvSpPr>
          <p:cNvPr id="4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5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E541C17E-71A3-4E92-924C-63A1B360C1B0}" type="slidenum">
              <a:rPr lang="en-US" sz="1000">
                <a:solidFill>
                  <a:schemeClr val="accent5"/>
                </a:solidFill>
                <a:latin typeface="Arial"/>
              </a:rPr>
              <a:t>16</a:t>
            </a:fld>
            <a:endParaRPr lang="en-US" sz="1000">
              <a:solidFill>
                <a:schemeClr val="accent5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30909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ECD38-3AF6-B3E8-EB68-5FC1DDA4D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6">
            <a:extLst>
              <a:ext uri="{FF2B5EF4-FFF2-40B4-BE49-F238E27FC236}">
                <a16:creationId xmlns:a16="http://schemas.microsoft.com/office/drawing/2014/main" id="{0D1D7904-407E-7258-7966-03277CE1E30A}"/>
              </a:ext>
            </a:extLst>
          </p:cNvPr>
          <p:cNvSpPr/>
          <p:nvPr/>
        </p:nvSpPr>
        <p:spPr>
          <a:xfrm>
            <a:off x="472905" y="5400568"/>
            <a:ext cx="10745001" cy="930325"/>
          </a:xfrm>
          <a:prstGeom prst="roundRect">
            <a:avLst>
              <a:gd name="adj" fmla="val 7273"/>
            </a:avLst>
          </a:prstGeom>
          <a:solidFill>
            <a:srgbClr val="14213D"/>
          </a:solidFill>
          <a:ln/>
        </p:spPr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7FB03A43-156B-9633-5C11-577CE9F78115}"/>
              </a:ext>
            </a:extLst>
          </p:cNvPr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Breakfast R!</a:t>
            </a:r>
            <a:endParaRPr lang="en-US" sz="26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871994E-CED3-3D7F-82A0-67C1197E8D27}"/>
              </a:ext>
            </a:extLst>
          </p:cNvPr>
          <p:cNvSpPr/>
          <p:nvPr/>
        </p:nvSpPr>
        <p:spPr>
          <a:xfrm>
            <a:off x="376034" y="777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i="1" dirty="0">
                <a:solidFill>
                  <a:srgbClr val="3A3F4B"/>
                </a:solidFill>
                <a:latin typeface="Arial" pitchFamily="34" charset="0"/>
                <a:cs typeface="Calibri" pitchFamily="34" charset="-120"/>
              </a:rPr>
              <a:t>Since R can cut &amp; peel, now let’s pick our fruit!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C7F7000-30A2-57ED-A75F-6706E1DBFA41}"/>
              </a:ext>
            </a:extLst>
          </p:cNvPr>
          <p:cNvSpPr/>
          <p:nvPr/>
        </p:nvSpPr>
        <p:spPr>
          <a:xfrm>
            <a:off x="263544" y="1290950"/>
            <a:ext cx="402336" cy="402336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9F55147-1F1B-9C44-C15D-3D0071BF1480}"/>
              </a:ext>
            </a:extLst>
          </p:cNvPr>
          <p:cNvSpPr/>
          <p:nvPr/>
        </p:nvSpPr>
        <p:spPr>
          <a:xfrm>
            <a:off x="263544" y="129095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6B2C"/>
                </a:solidFill>
                <a:latin typeface="Arial" pitchFamily="34" charset="0"/>
              </a:rPr>
              <a:t>3</a:t>
            </a: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B1718F7-DCF2-D5A0-0370-BA0B445B2AEA}"/>
              </a:ext>
            </a:extLst>
          </p:cNvPr>
          <p:cNvSpPr/>
          <p:nvPr/>
        </p:nvSpPr>
        <p:spPr>
          <a:xfrm>
            <a:off x="885336" y="1181222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Read the data in</a:t>
            </a:r>
            <a:endParaRPr lang="en-US" sz="13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ECE627D-14BC-5235-568F-E9DF6B4ECF12}"/>
              </a:ext>
            </a:extLst>
          </p:cNvPr>
          <p:cNvSpPr/>
          <p:nvPr/>
        </p:nvSpPr>
        <p:spPr>
          <a:xfrm>
            <a:off x="170550" y="1546982"/>
            <a:ext cx="729876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Many packages have read functions depending on file type i.e. pdf, excel, csv, and even database connections</a:t>
            </a:r>
            <a:endParaRPr lang="en-US" sz="1250" dirty="0"/>
          </a:p>
        </p:txBody>
      </p:sp>
      <p:pic>
        <p:nvPicPr>
          <p:cNvPr id="10" name="Picture 6" descr="Image result for banana transparent background">
            <a:extLst>
              <a:ext uri="{FF2B5EF4-FFF2-40B4-BE49-F238E27FC236}">
                <a16:creationId xmlns:a16="http://schemas.microsoft.com/office/drawing/2014/main" id="{60E7FC2F-75DB-A836-FF97-F8F77821B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4451" y="1185225"/>
            <a:ext cx="4487549" cy="4487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0B851AD-2B09-2E96-624A-600B9DDCAC2C}"/>
              </a:ext>
            </a:extLst>
          </p:cNvPr>
          <p:cNvSpPr txBox="1"/>
          <p:nvPr/>
        </p:nvSpPr>
        <p:spPr>
          <a:xfrm>
            <a:off x="240630" y="2465567"/>
            <a:ext cx="4237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9020204030204" pitchFamily="49" charset="0"/>
              </a:rPr>
              <a:t>banana &lt;- </a:t>
            </a:r>
            <a:r>
              <a:rPr lang="en-US" dirty="0" err="1">
                <a:latin typeface="Arial" panose="020B0609020204030204" pitchFamily="49" charset="0"/>
              </a:rPr>
              <a:t>read.csv</a:t>
            </a:r>
            <a:r>
              <a:rPr lang="en-US" dirty="0">
                <a:latin typeface="Arial" panose="020B0609020204030204" pitchFamily="49" charset="0"/>
              </a:rPr>
              <a:t>(</a:t>
            </a:r>
            <a:r>
              <a:rPr lang="en-US" dirty="0">
                <a:latin typeface="Arial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 err="1">
                <a:latin typeface="Arial" panose="020B0609020204030204" pitchFamily="49" charset="0"/>
              </a:rPr>
              <a:t>Banana.csv</a:t>
            </a:r>
            <a:r>
              <a:rPr lang="en-US" dirty="0">
                <a:latin typeface="Arial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>
                <a:latin typeface="Arial" panose="020B0609020204030204" pitchFamily="49" charset="0"/>
              </a:rPr>
              <a:t>)</a:t>
            </a:r>
            <a:endParaRPr lang="en-US" dirty="0"/>
          </a:p>
        </p:txBody>
      </p:sp>
      <p:sp>
        <p:nvSpPr>
          <p:cNvPr id="14" name="Speech Bubble: Rectangle with Corners Rounded 7">
            <a:extLst>
              <a:ext uri="{FF2B5EF4-FFF2-40B4-BE49-F238E27FC236}">
                <a16:creationId xmlns:a16="http://schemas.microsoft.com/office/drawing/2014/main" id="{C74A36EC-C3C7-AEEB-E8F6-33A008E10911}"/>
              </a:ext>
            </a:extLst>
          </p:cNvPr>
          <p:cNvSpPr/>
          <p:nvPr/>
        </p:nvSpPr>
        <p:spPr>
          <a:xfrm>
            <a:off x="4727961" y="3407240"/>
            <a:ext cx="3131507" cy="1164920"/>
          </a:xfrm>
          <a:prstGeom prst="wedgeRoundRectCallout">
            <a:avLst>
              <a:gd name="adj1" fmla="val -76644"/>
              <a:gd name="adj2" fmla="val -109030"/>
              <a:gd name="adj3" fmla="val 1666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 u="sng" dirty="0">
                <a:solidFill>
                  <a:schemeClr val="bg1"/>
                </a:solidFill>
              </a:rPr>
              <a:t>Must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Be In the working directory or full path declared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Be inside quotes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Have correct capitalization, spacing &amp; spelling matter.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271D32-BFE5-D88E-E990-A988FAE7F3D5}"/>
              </a:ext>
            </a:extLst>
          </p:cNvPr>
          <p:cNvSpPr txBox="1"/>
          <p:nvPr/>
        </p:nvSpPr>
        <p:spPr>
          <a:xfrm>
            <a:off x="240630" y="3219722"/>
            <a:ext cx="5302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 dirty="0">
                <a:latin typeface="Arial" panose="020B0609020204030204" pitchFamily="49" charset="0"/>
              </a:rPr>
              <a:t>OR</a:t>
            </a:r>
          </a:p>
          <a:p>
            <a:r>
              <a:rPr lang="en-US" dirty="0">
                <a:latin typeface="Arial" panose="020B0609020204030204" pitchFamily="49" charset="0"/>
              </a:rPr>
              <a:t>banana &lt;- </a:t>
            </a:r>
            <a:r>
              <a:rPr lang="en-US" dirty="0" err="1">
                <a:latin typeface="Arial" panose="020B0609020204030204" pitchFamily="49" charset="0"/>
              </a:rPr>
              <a:t>read.csv</a:t>
            </a:r>
            <a:r>
              <a:rPr lang="en-US" dirty="0">
                <a:latin typeface="Arial" panose="020B0609020204030204" pitchFamily="49" charset="0"/>
              </a:rPr>
              <a:t>(</a:t>
            </a:r>
            <a:r>
              <a:rPr lang="en-US" dirty="0">
                <a:latin typeface="Arial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 err="1">
                <a:latin typeface="Arial" panose="020B0609020204030204" pitchFamily="49" charset="0"/>
              </a:rPr>
              <a:t>www.csvFile.csv</a:t>
            </a:r>
            <a:r>
              <a:rPr lang="en-US" dirty="0">
                <a:latin typeface="Arial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>
                <a:latin typeface="Arial" panose="020B0609020204030204" pitchFamily="49" charset="0"/>
              </a:rPr>
              <a:t>)</a:t>
            </a:r>
            <a:endParaRPr lang="en-US" dirty="0"/>
          </a:p>
        </p:txBody>
      </p:sp>
      <p:sp>
        <p:nvSpPr>
          <p:cNvPr id="16" name="Speech Bubble: Rectangle with Corners Rounded 7">
            <a:extLst>
              <a:ext uri="{FF2B5EF4-FFF2-40B4-BE49-F238E27FC236}">
                <a16:creationId xmlns:a16="http://schemas.microsoft.com/office/drawing/2014/main" id="{8400E0AD-6BF0-3C86-6B09-35828A8E8837}"/>
              </a:ext>
            </a:extLst>
          </p:cNvPr>
          <p:cNvSpPr/>
          <p:nvPr/>
        </p:nvSpPr>
        <p:spPr>
          <a:xfrm>
            <a:off x="2198217" y="4345969"/>
            <a:ext cx="2042037" cy="565653"/>
          </a:xfrm>
          <a:prstGeom prst="wedgeRoundRectCallout">
            <a:avLst>
              <a:gd name="adj1" fmla="val 15629"/>
              <a:gd name="adj2" fmla="val -145039"/>
              <a:gd name="adj3" fmla="val 1666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 u="sng" dirty="0">
                <a:solidFill>
                  <a:schemeClr val="bg1"/>
                </a:solidFill>
              </a:rPr>
              <a:t>Must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Refer to the URL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D70843-5658-AAA6-8A23-27D56E101C00}"/>
              </a:ext>
            </a:extLst>
          </p:cNvPr>
          <p:cNvSpPr txBox="1"/>
          <p:nvPr/>
        </p:nvSpPr>
        <p:spPr>
          <a:xfrm>
            <a:off x="472904" y="5610309"/>
            <a:ext cx="107450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R now has the object called </a:t>
            </a:r>
            <a:r>
              <a:rPr lang="en-US" sz="2000" b="1" u="sng" dirty="0">
                <a:solidFill>
                  <a:schemeClr val="bg1"/>
                </a:solidFill>
              </a:rPr>
              <a:t>banana</a:t>
            </a:r>
            <a:r>
              <a:rPr lang="en-US" sz="2000" dirty="0">
                <a:solidFill>
                  <a:schemeClr val="bg1"/>
                </a:solidFill>
              </a:rPr>
              <a:t> in memory </a:t>
            </a:r>
            <a:r>
              <a:rPr lang="en-US" sz="2000" dirty="0" err="1">
                <a:solidFill>
                  <a:schemeClr val="bg1"/>
                </a:solidFill>
              </a:rPr>
              <a:t>ie</a:t>
            </a:r>
            <a:r>
              <a:rPr lang="en-US" sz="2000" dirty="0">
                <a:solidFill>
                  <a:schemeClr val="bg1"/>
                </a:solidFill>
              </a:rPr>
              <a:t> “opening a spreadsheet”</a:t>
            </a:r>
            <a:endParaRPr lang="en-US" sz="2000" b="1" u="sng" dirty="0">
              <a:solidFill>
                <a:schemeClr val="bg1"/>
              </a:solidFill>
            </a:endParaRPr>
          </a:p>
        </p:txBody>
      </p:sp>
      <p:sp>
        <p:nvSpPr>
          <p:cNvPr id="20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E5132A38-53AF-4414-8748-C355355AB318}" type="slidenum">
              <a:rPr lang="en-US" sz="1000">
                <a:solidFill>
                  <a:schemeClr val="accent5"/>
                </a:solidFill>
                <a:latin typeface="Arial"/>
              </a:rPr>
              <a:t>17</a:t>
            </a:fld>
            <a:endParaRPr lang="en-US" sz="1000">
              <a:solidFill>
                <a:schemeClr val="accent5"/>
              </a:solidFill>
              <a:latin typeface="Arial"/>
            </a:endParaRPr>
          </a:p>
        </p:txBody>
      </p:sp>
      <p:sp>
        <p:nvSpPr>
          <p:cNvPr id="3" name="Harvard Footer">
            <a:extLst>
              <a:ext uri="{FF2B5EF4-FFF2-40B4-BE49-F238E27FC236}">
                <a16:creationId xmlns:a16="http://schemas.microsoft.com/office/drawing/2014/main" id="{E1FAC262-C234-5337-7956-63152F99CB44}"/>
              </a:ext>
            </a:extLst>
          </p:cNvPr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 dirty="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</p:spTree>
    <p:extLst>
      <p:ext uri="{BB962C8B-B14F-4D97-AF65-F5344CB8AC3E}">
        <p14:creationId xmlns:p14="http://schemas.microsoft.com/office/powerpoint/2010/main" val="1234183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 result for advice meme">
            <a:extLst>
              <a:ext uri="{FF2B5EF4-FFF2-40B4-BE49-F238E27FC236}">
                <a16:creationId xmlns:a16="http://schemas.microsoft.com/office/drawing/2014/main" id="{4766212A-5A41-AD8F-9646-85E95B082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5186" y="1325221"/>
            <a:ext cx="4955518" cy="3971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E10212-D72D-6979-ECC0-1F0B0F909CAA}"/>
              </a:ext>
            </a:extLst>
          </p:cNvPr>
          <p:cNvSpPr txBox="1"/>
          <p:nvPr/>
        </p:nvSpPr>
        <p:spPr>
          <a:xfrm>
            <a:off x="240629" y="1561078"/>
            <a:ext cx="632455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 can open many files types with different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CSV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Excel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SaS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Rds</a:t>
            </a:r>
            <a:r>
              <a:rPr lang="en-US" dirty="0"/>
              <a:t>, </a:t>
            </a:r>
            <a:r>
              <a:rPr lang="en-US" dirty="0" err="1"/>
              <a:t>rda</a:t>
            </a:r>
            <a:r>
              <a:rPr lang="en-US" dirty="0"/>
              <a:t>, </a:t>
            </a:r>
            <a:r>
              <a:rPr lang="en-US" dirty="0" err="1"/>
              <a:t>fst</a:t>
            </a:r>
            <a:r>
              <a:rPr lang="en-US" dirty="0"/>
              <a:t> </a:t>
            </a:r>
            <a:r>
              <a:rPr lang="en-US" dirty="0" err="1"/>
              <a:t>etc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Connections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Databases (SQL, </a:t>
            </a:r>
            <a:r>
              <a:rPr lang="en-US" dirty="0" err="1"/>
              <a:t>mongoDB</a:t>
            </a:r>
            <a:r>
              <a:rPr lang="en-US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S3 Buckets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APIs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035BCCB-D82C-42A6-5CA5-FA7CF50E6483}"/>
              </a:ext>
            </a:extLst>
          </p:cNvPr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What if my file isn’t a CSV?</a:t>
            </a:r>
            <a:endParaRPr lang="en-US" sz="2600" dirty="0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0392B0DC-4AF4-46F2-8E9B-FAE161876E6C}"/>
              </a:ext>
            </a:extLst>
          </p:cNvPr>
          <p:cNvSpPr/>
          <p:nvPr/>
        </p:nvSpPr>
        <p:spPr>
          <a:xfrm>
            <a:off x="472905" y="5441667"/>
            <a:ext cx="10745001" cy="930325"/>
          </a:xfrm>
          <a:prstGeom prst="roundRect">
            <a:avLst>
              <a:gd name="adj" fmla="val 7273"/>
            </a:avLst>
          </a:prstGeom>
          <a:solidFill>
            <a:srgbClr val="14213D"/>
          </a:solidFill>
          <a:ln/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1E0EB6-547C-9FF3-BFC4-082041CE59D3}"/>
              </a:ext>
            </a:extLst>
          </p:cNvPr>
          <p:cNvSpPr txBox="1"/>
          <p:nvPr/>
        </p:nvSpPr>
        <p:spPr>
          <a:xfrm>
            <a:off x="657545" y="5532779"/>
            <a:ext cx="1025360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Recommendation: to get started stick with CSV.  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Most software can export CSV &amp; the class files are CSV.</a:t>
            </a:r>
            <a:endParaRPr lang="en-US" sz="2000" b="1" u="sng" dirty="0">
              <a:solidFill>
                <a:schemeClr val="accent1"/>
              </a:solidFill>
            </a:endParaRPr>
          </a:p>
        </p:txBody>
      </p:sp>
      <p:sp>
        <p:nvSpPr>
          <p:cNvPr id="10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077CCDF3-F93A-457D-946C-63B77672349F}" type="slidenum">
              <a:rPr lang="en-US" sz="1000">
                <a:solidFill>
                  <a:schemeClr val="accent5"/>
                </a:solidFill>
                <a:latin typeface="Arial"/>
              </a:rPr>
              <a:t>18</a:t>
            </a:fld>
            <a:endParaRPr lang="en-US" sz="1000">
              <a:solidFill>
                <a:schemeClr val="accent5"/>
              </a:solidFill>
              <a:latin typeface="Arial"/>
            </a:endParaRPr>
          </a:p>
        </p:txBody>
      </p:sp>
      <p:sp>
        <p:nvSpPr>
          <p:cNvPr id="2" name="Harvard Footer">
            <a:extLst>
              <a:ext uri="{FF2B5EF4-FFF2-40B4-BE49-F238E27FC236}">
                <a16:creationId xmlns:a16="http://schemas.microsoft.com/office/drawing/2014/main" id="{754B0ACD-9D05-62AD-F6B5-4AC7876DA9E3}"/>
              </a:ext>
            </a:extLst>
          </p:cNvPr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 dirty="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</p:spTree>
    <p:extLst>
      <p:ext uri="{BB962C8B-B14F-4D97-AF65-F5344CB8AC3E}">
        <p14:creationId xmlns:p14="http://schemas.microsoft.com/office/powerpoint/2010/main" val="2274069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EACCB8E-F48F-4CFE-2492-0950E59F57C7}"/>
              </a:ext>
            </a:extLst>
          </p:cNvPr>
          <p:cNvCxnSpPr/>
          <p:nvPr/>
        </p:nvCxnSpPr>
        <p:spPr>
          <a:xfrm>
            <a:off x="2093163" y="3219471"/>
            <a:ext cx="1828800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0E2EE988-2076-7C67-F9F9-1C98DB08042F}"/>
              </a:ext>
            </a:extLst>
          </p:cNvPr>
          <p:cNvSpPr/>
          <p:nvPr/>
        </p:nvSpPr>
        <p:spPr>
          <a:xfrm>
            <a:off x="4350626" y="2212673"/>
            <a:ext cx="2041743" cy="204174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Function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B57961-2650-BA0A-35FC-ED65033C89BC}"/>
              </a:ext>
            </a:extLst>
          </p:cNvPr>
          <p:cNvSpPr txBox="1"/>
          <p:nvPr/>
        </p:nvSpPr>
        <p:spPr>
          <a:xfrm>
            <a:off x="966873" y="3034805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53A7499-C6BA-6D63-3439-BCB0A2EAFD81}"/>
              </a:ext>
            </a:extLst>
          </p:cNvPr>
          <p:cNvCxnSpPr/>
          <p:nvPr/>
        </p:nvCxnSpPr>
        <p:spPr>
          <a:xfrm>
            <a:off x="6821032" y="3209033"/>
            <a:ext cx="1828800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73A26DA-D0D2-6E67-99C0-9EB9B9BEBDA9}"/>
              </a:ext>
            </a:extLst>
          </p:cNvPr>
          <p:cNvSpPr txBox="1"/>
          <p:nvPr/>
        </p:nvSpPr>
        <p:spPr>
          <a:xfrm>
            <a:off x="9078496" y="302436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F70810DA-E9F8-498B-16ED-5F72E22E3DB9}"/>
              </a:ext>
            </a:extLst>
          </p:cNvPr>
          <p:cNvSpPr/>
          <p:nvPr/>
        </p:nvSpPr>
        <p:spPr>
          <a:xfrm>
            <a:off x="376034" y="338328"/>
            <a:ext cx="104837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R often uses functions for calculation, &amp; to accomplish tasks.</a:t>
            </a:r>
            <a:endParaRPr lang="en-US" sz="2600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58B44AA6-A004-7D66-F133-962A384A0F72}"/>
              </a:ext>
            </a:extLst>
          </p:cNvPr>
          <p:cNvSpPr/>
          <p:nvPr/>
        </p:nvSpPr>
        <p:spPr>
          <a:xfrm>
            <a:off x="472905" y="5195084"/>
            <a:ext cx="10745001" cy="930325"/>
          </a:xfrm>
          <a:prstGeom prst="roundRect">
            <a:avLst>
              <a:gd name="adj" fmla="val 7273"/>
            </a:avLst>
          </a:prstGeom>
          <a:solidFill>
            <a:srgbClr val="14213D"/>
          </a:solidFill>
          <a:ln/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BB6976-2DB9-B563-4761-8227B5C65DD1}"/>
              </a:ext>
            </a:extLst>
          </p:cNvPr>
          <p:cNvSpPr txBox="1"/>
          <p:nvPr/>
        </p:nvSpPr>
        <p:spPr>
          <a:xfrm>
            <a:off x="634518" y="5337080"/>
            <a:ext cx="97834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Packages load specific functions to accomplish specific tasks.  You can also write your own functions &amp; packages.</a:t>
            </a:r>
          </a:p>
        </p:txBody>
      </p:sp>
      <p:sp>
        <p:nvSpPr>
          <p:cNvPr id="14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5D6E8071-BD03-4CE8-8CB1-20C0F17A4AF5}" type="slidenum">
              <a:rPr lang="en-US" sz="1000">
                <a:solidFill>
                  <a:schemeClr val="accent5"/>
                </a:solidFill>
                <a:latin typeface="Arial"/>
              </a:rPr>
              <a:t>19</a:t>
            </a:fld>
            <a:endParaRPr lang="en-US" sz="1000">
              <a:solidFill>
                <a:schemeClr val="accent5"/>
              </a:solidFill>
              <a:latin typeface="Arial"/>
            </a:endParaRPr>
          </a:p>
        </p:txBody>
      </p:sp>
      <p:sp>
        <p:nvSpPr>
          <p:cNvPr id="2" name="Harvard Footer">
            <a:extLst>
              <a:ext uri="{FF2B5EF4-FFF2-40B4-BE49-F238E27FC236}">
                <a16:creationId xmlns:a16="http://schemas.microsoft.com/office/drawing/2014/main" id="{81CB0D72-E6E5-9E2F-C703-BC6F850465B3}"/>
              </a:ext>
            </a:extLst>
          </p:cNvPr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 dirty="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</p:spTree>
    <p:extLst>
      <p:ext uri="{BB962C8B-B14F-4D97-AF65-F5344CB8AC3E}">
        <p14:creationId xmlns:p14="http://schemas.microsoft.com/office/powerpoint/2010/main" val="40721618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42D2A28-3446-DBA1-42E7-CC0DE57FCC6E}"/>
              </a:ext>
            </a:extLst>
          </p:cNvPr>
          <p:cNvSpPr/>
          <p:nvPr/>
        </p:nvSpPr>
        <p:spPr>
          <a:xfrm>
            <a:off x="4572000" y="2623020"/>
            <a:ext cx="2041743" cy="204174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Our Function accepts any number and is a “plus 2 and multiply by 3” Machine. 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F94B9FC-0EC1-AD06-3747-3CE81A97BC12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1">
            <a:extLst>
              <a:ext uri="{FF2B5EF4-FFF2-40B4-BE49-F238E27FC236}">
                <a16:creationId xmlns:a16="http://schemas.microsoft.com/office/drawing/2014/main" id="{29379437-673A-001C-7F43-D2E4B3E8ABD9}"/>
              </a:ext>
            </a:extLst>
          </p:cNvPr>
          <p:cNvSpPr/>
          <p:nvPr/>
        </p:nvSpPr>
        <p:spPr>
          <a:xfrm>
            <a:off x="376034" y="338328"/>
            <a:ext cx="104837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R often uses functions for calculation, &amp; to accomplish tasks.</a:t>
            </a:r>
            <a:endParaRPr lang="en-US" sz="2600" dirty="0"/>
          </a:p>
        </p:txBody>
      </p:sp>
      <p:sp>
        <p:nvSpPr>
          <p:cNvPr id="7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8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7FAAC7A2-7CF3-49D8-A60F-4D3FC66C905A}" type="slidenum">
              <a:rPr lang="en-US" sz="1000">
                <a:solidFill>
                  <a:schemeClr val="accent5"/>
                </a:solidFill>
                <a:latin typeface="Arial"/>
              </a:rPr>
              <a:t>20</a:t>
            </a:fld>
            <a:endParaRPr lang="en-US" sz="1000" dirty="0">
              <a:solidFill>
                <a:schemeClr val="accent5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65872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33A2425-1667-3856-4508-970DE4FD1D78}"/>
              </a:ext>
            </a:extLst>
          </p:cNvPr>
          <p:cNvCxnSpPr/>
          <p:nvPr/>
        </p:nvCxnSpPr>
        <p:spPr>
          <a:xfrm>
            <a:off x="2298646" y="3270841"/>
            <a:ext cx="1828800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34B2BB34-B630-103E-2817-BD024F51DC3C}"/>
              </a:ext>
            </a:extLst>
          </p:cNvPr>
          <p:cNvSpPr/>
          <p:nvPr/>
        </p:nvSpPr>
        <p:spPr>
          <a:xfrm>
            <a:off x="4556109" y="2264043"/>
            <a:ext cx="2041743" cy="204174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plusTwoTimesThree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2CF144-A3F6-BB25-AC51-38712C172AA8}"/>
              </a:ext>
            </a:extLst>
          </p:cNvPr>
          <p:cNvSpPr txBox="1"/>
          <p:nvPr/>
        </p:nvSpPr>
        <p:spPr>
          <a:xfrm>
            <a:off x="1172356" y="3086175"/>
            <a:ext cx="684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Input</a:t>
            </a:r>
          </a:p>
          <a:p>
            <a:pPr algn="ctr"/>
            <a:r>
              <a:rPr lang="en-US" dirty="0"/>
              <a:t>X = 2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81FFA67-8E14-9550-B65E-907D56CFC2F2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1">
            <a:extLst>
              <a:ext uri="{FF2B5EF4-FFF2-40B4-BE49-F238E27FC236}">
                <a16:creationId xmlns:a16="http://schemas.microsoft.com/office/drawing/2014/main" id="{011E7810-07A5-7A51-D373-12AEF146E50D}"/>
              </a:ext>
            </a:extLst>
          </p:cNvPr>
          <p:cNvSpPr/>
          <p:nvPr/>
        </p:nvSpPr>
        <p:spPr>
          <a:xfrm>
            <a:off x="376034" y="338328"/>
            <a:ext cx="104837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R often uses functions for calculation, &amp; to accomplish tasks.</a:t>
            </a:r>
            <a:endParaRPr lang="en-US" sz="2600" dirty="0"/>
          </a:p>
        </p:txBody>
      </p:sp>
      <p:sp>
        <p:nvSpPr>
          <p:cNvPr id="9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0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AE6E60FD-B4E8-4782-9481-29E89E86F44B}" type="slidenum">
              <a:rPr lang="en-US" sz="1000">
                <a:solidFill>
                  <a:schemeClr val="accent5"/>
                </a:solidFill>
                <a:latin typeface="Arial"/>
              </a:rPr>
              <a:t>21</a:t>
            </a:fld>
            <a:endParaRPr lang="en-US" sz="1000" dirty="0">
              <a:solidFill>
                <a:schemeClr val="accent5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48642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518C401-60C3-8546-9835-3E33E0ED86B1}"/>
              </a:ext>
            </a:extLst>
          </p:cNvPr>
          <p:cNvCxnSpPr/>
          <p:nvPr/>
        </p:nvCxnSpPr>
        <p:spPr>
          <a:xfrm>
            <a:off x="2278097" y="3507147"/>
            <a:ext cx="1828800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F03FF2C-DA11-6BB4-82F7-4BB94CBBC777}"/>
              </a:ext>
            </a:extLst>
          </p:cNvPr>
          <p:cNvSpPr txBox="1"/>
          <p:nvPr/>
        </p:nvSpPr>
        <p:spPr>
          <a:xfrm>
            <a:off x="1151807" y="3322481"/>
            <a:ext cx="684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Input</a:t>
            </a:r>
          </a:p>
          <a:p>
            <a:pPr algn="ctr"/>
            <a:r>
              <a:rPr lang="en-US" dirty="0"/>
              <a:t>X =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2FAA78-FFBF-FD69-E22F-5907B19C0BC4}"/>
              </a:ext>
            </a:extLst>
          </p:cNvPr>
          <p:cNvSpPr/>
          <p:nvPr/>
        </p:nvSpPr>
        <p:spPr>
          <a:xfrm>
            <a:off x="4535560" y="2500349"/>
            <a:ext cx="2041743" cy="204174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plusTwoTimesThree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X = 2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2+X = 4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4 * 3 = 12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Return (12)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B6A7096-97DB-AB57-8B55-768B0E723D0A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1">
            <a:extLst>
              <a:ext uri="{FF2B5EF4-FFF2-40B4-BE49-F238E27FC236}">
                <a16:creationId xmlns:a16="http://schemas.microsoft.com/office/drawing/2014/main" id="{214D1902-DDA9-6CF9-C322-29EC090DE1B9}"/>
              </a:ext>
            </a:extLst>
          </p:cNvPr>
          <p:cNvSpPr/>
          <p:nvPr/>
        </p:nvSpPr>
        <p:spPr>
          <a:xfrm>
            <a:off x="376034" y="338328"/>
            <a:ext cx="104837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R often uses functions for calculation, &amp; to accomplish tasks.</a:t>
            </a:r>
            <a:endParaRPr lang="en-US" sz="2600" dirty="0"/>
          </a:p>
        </p:txBody>
      </p:sp>
      <p:sp>
        <p:nvSpPr>
          <p:cNvPr id="9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0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7D86DB64-FBDA-48D7-9DEC-614C7901E0A2}" type="slidenum">
              <a:rPr lang="en-US" sz="1000">
                <a:solidFill>
                  <a:schemeClr val="accent5"/>
                </a:solidFill>
                <a:latin typeface="Arial"/>
              </a:rPr>
              <a:t>22</a:t>
            </a:fld>
            <a:endParaRPr lang="en-US" sz="1000" dirty="0">
              <a:solidFill>
                <a:schemeClr val="accent5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327884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C46ABB8-D61A-EAAA-7E57-581DFDB90F69}"/>
              </a:ext>
            </a:extLst>
          </p:cNvPr>
          <p:cNvCxnSpPr/>
          <p:nvPr/>
        </p:nvCxnSpPr>
        <p:spPr>
          <a:xfrm>
            <a:off x="2421935" y="3507148"/>
            <a:ext cx="1828800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237E905-9B19-284D-44C5-CC652515353A}"/>
              </a:ext>
            </a:extLst>
          </p:cNvPr>
          <p:cNvCxnSpPr/>
          <p:nvPr/>
        </p:nvCxnSpPr>
        <p:spPr>
          <a:xfrm>
            <a:off x="7149804" y="3496710"/>
            <a:ext cx="1828800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A1B7889-AF71-9D22-6384-F1CFE221A282}"/>
              </a:ext>
            </a:extLst>
          </p:cNvPr>
          <p:cNvSpPr txBox="1"/>
          <p:nvPr/>
        </p:nvSpPr>
        <p:spPr>
          <a:xfrm>
            <a:off x="9407268" y="3312044"/>
            <a:ext cx="856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Output</a:t>
            </a:r>
          </a:p>
          <a:p>
            <a:pPr algn="ctr"/>
            <a:r>
              <a:rPr lang="en-US" dirty="0"/>
              <a:t>12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19D940-9AD3-748C-20A4-6FE02B8D41EC}"/>
              </a:ext>
            </a:extLst>
          </p:cNvPr>
          <p:cNvSpPr txBox="1"/>
          <p:nvPr/>
        </p:nvSpPr>
        <p:spPr>
          <a:xfrm>
            <a:off x="1295645" y="3322482"/>
            <a:ext cx="684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Input</a:t>
            </a:r>
          </a:p>
          <a:p>
            <a:pPr algn="ctr"/>
            <a:r>
              <a:rPr lang="en-US" dirty="0"/>
              <a:t>X = 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BF456B-5485-3BA5-4FA9-4934D3D7FC7D}"/>
              </a:ext>
            </a:extLst>
          </p:cNvPr>
          <p:cNvSpPr/>
          <p:nvPr/>
        </p:nvSpPr>
        <p:spPr>
          <a:xfrm>
            <a:off x="4679398" y="2500350"/>
            <a:ext cx="2041743" cy="204174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plusTwoTimesThree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X = 2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2+X = 4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4 * 3 = 12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Return (12)</a:t>
            </a: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E3D7291C-7D21-E6E4-02CB-CAA60304CF5E}"/>
              </a:ext>
            </a:extLst>
          </p:cNvPr>
          <p:cNvSpPr/>
          <p:nvPr/>
        </p:nvSpPr>
        <p:spPr>
          <a:xfrm>
            <a:off x="376034" y="338328"/>
            <a:ext cx="104837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R often uses functions for calculation, &amp; to accomplish tasks.</a:t>
            </a:r>
            <a:endParaRPr lang="en-US" sz="2600" dirty="0"/>
          </a:p>
        </p:txBody>
      </p:sp>
      <p:sp>
        <p:nvSpPr>
          <p:cNvPr id="11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2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195460AE-13CB-4EAF-AE92-E0E025BEEB78}" type="slidenum">
              <a:rPr lang="en-US" sz="1000">
                <a:solidFill>
                  <a:schemeClr val="accent5"/>
                </a:solidFill>
                <a:latin typeface="Arial"/>
              </a:rPr>
              <a:t>23</a:t>
            </a:fld>
            <a:endParaRPr lang="en-US" sz="1000" dirty="0">
              <a:solidFill>
                <a:schemeClr val="accent5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615644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57BAE2B-D9D2-1DD9-F93F-6E7454B431DD}"/>
              </a:ext>
            </a:extLst>
          </p:cNvPr>
          <p:cNvCxnSpPr>
            <a:cxnSpLocks/>
          </p:cNvCxnSpPr>
          <p:nvPr/>
        </p:nvCxnSpPr>
        <p:spPr>
          <a:xfrm>
            <a:off x="2658241" y="3589516"/>
            <a:ext cx="997870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94C28FF-C92F-476C-0D26-3A70FA495F4D}"/>
              </a:ext>
            </a:extLst>
          </p:cNvPr>
          <p:cNvCxnSpPr/>
          <p:nvPr/>
        </p:nvCxnSpPr>
        <p:spPr>
          <a:xfrm>
            <a:off x="7386110" y="3589516"/>
            <a:ext cx="1828800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43DF4C9-D177-CD6E-FA37-3652016B51A4}"/>
              </a:ext>
            </a:extLst>
          </p:cNvPr>
          <p:cNvSpPr txBox="1"/>
          <p:nvPr/>
        </p:nvSpPr>
        <p:spPr>
          <a:xfrm>
            <a:off x="9643574" y="3266351"/>
            <a:ext cx="856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Output</a:t>
            </a:r>
          </a:p>
          <a:p>
            <a:pPr algn="ctr"/>
            <a:r>
              <a:rPr lang="en-US" dirty="0"/>
              <a:t>12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CAA42A-15A0-E85D-D22D-9C99AF0CF6E4}"/>
              </a:ext>
            </a:extLst>
          </p:cNvPr>
          <p:cNvSpPr txBox="1"/>
          <p:nvPr/>
        </p:nvSpPr>
        <p:spPr>
          <a:xfrm>
            <a:off x="1531951" y="3266351"/>
            <a:ext cx="684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Input</a:t>
            </a:r>
          </a:p>
          <a:p>
            <a:pPr algn="ctr"/>
            <a:r>
              <a:rPr lang="en-US" dirty="0"/>
              <a:t>X = 2</a:t>
            </a:r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AE4E412D-CF1E-90E9-3936-ECCEA922C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787" y="2643366"/>
            <a:ext cx="4533900" cy="18923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C3A94054-A2E0-3D1B-AED6-36DA8B6892F3}"/>
              </a:ext>
            </a:extLst>
          </p:cNvPr>
          <p:cNvSpPr/>
          <p:nvPr/>
        </p:nvSpPr>
        <p:spPr>
          <a:xfrm>
            <a:off x="376034" y="338328"/>
            <a:ext cx="104837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R often uses functions for calculation, &amp; to accomplish tasks.</a:t>
            </a:r>
            <a:endParaRPr lang="en-US" sz="2600" dirty="0"/>
          </a:p>
        </p:txBody>
      </p:sp>
      <p:sp>
        <p:nvSpPr>
          <p:cNvPr id="10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1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B4AF148B-6429-4CE4-BAED-506F8DCF3725}" type="slidenum">
              <a:rPr lang="en-US" sz="1000">
                <a:solidFill>
                  <a:schemeClr val="accent5"/>
                </a:solidFill>
                <a:latin typeface="Arial"/>
              </a:rPr>
              <a:t>24</a:t>
            </a:fld>
            <a:endParaRPr lang="en-US" sz="1000">
              <a:solidFill>
                <a:schemeClr val="accent5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063318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knife&#10;&#10;Description automatically generated">
            <a:extLst>
              <a:ext uri="{FF2B5EF4-FFF2-40B4-BE49-F238E27FC236}">
                <a16:creationId xmlns:a16="http://schemas.microsoft.com/office/drawing/2014/main" id="{CB5DFF8D-58F0-6991-4E55-25B400B9B1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2" y="2145419"/>
            <a:ext cx="2599083" cy="499824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032F984-099D-6B12-DC2C-8DCEB2121205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2107096" y="2398643"/>
            <a:ext cx="2385389" cy="866086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B910A02-EAD6-986D-E2D4-F62BB91BC330}"/>
              </a:ext>
            </a:extLst>
          </p:cNvPr>
          <p:cNvCxnSpPr>
            <a:cxnSpLocks/>
          </p:cNvCxnSpPr>
          <p:nvPr/>
        </p:nvCxnSpPr>
        <p:spPr>
          <a:xfrm>
            <a:off x="3044043" y="1762539"/>
            <a:ext cx="0" cy="384312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6AFE4BE-76D9-7A48-797B-31DF7EA9C590}"/>
              </a:ext>
            </a:extLst>
          </p:cNvPr>
          <p:cNvSpPr txBox="1"/>
          <p:nvPr/>
        </p:nvSpPr>
        <p:spPr>
          <a:xfrm>
            <a:off x="2686380" y="1131261"/>
            <a:ext cx="684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Input</a:t>
            </a:r>
          </a:p>
          <a:p>
            <a:pPr algn="ctr"/>
            <a:r>
              <a:rPr lang="en-US" dirty="0"/>
              <a:t>X = 2</a:t>
            </a:r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16227490-7465-F33C-F164-91C56C8879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535" y="3264729"/>
            <a:ext cx="4533900" cy="18923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2CC7EBD8-E648-3A6C-4744-D8FBC290CB24}"/>
              </a:ext>
            </a:extLst>
          </p:cNvPr>
          <p:cNvSpPr/>
          <p:nvPr/>
        </p:nvSpPr>
        <p:spPr>
          <a:xfrm>
            <a:off x="376034" y="338328"/>
            <a:ext cx="104837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R often uses functions for calculation, &amp; to accomplish tasks.</a:t>
            </a:r>
            <a:endParaRPr lang="en-US" sz="2600" dirty="0"/>
          </a:p>
        </p:txBody>
      </p:sp>
      <p:sp>
        <p:nvSpPr>
          <p:cNvPr id="10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1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DF30B7B8-FCF4-4DB8-8870-25F45B19C8FF}" type="slidenum">
              <a:rPr lang="en-US" sz="1000">
                <a:solidFill>
                  <a:schemeClr val="accent5"/>
                </a:solidFill>
                <a:latin typeface="Arial"/>
              </a:rPr>
              <a:t>25</a:t>
            </a:fld>
            <a:endParaRPr lang="en-US" sz="1000" dirty="0">
              <a:solidFill>
                <a:schemeClr val="accent5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0041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E5732-41AF-0E75-F082-8A357447D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77B9C251-9DA9-9AAF-A109-95DD579FF131}"/>
              </a:ext>
            </a:extLst>
          </p:cNvPr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Breakfast R!</a:t>
            </a:r>
            <a:endParaRPr lang="en-US" sz="26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F0A53DD-6CF2-DA27-1601-DD4CFA7195DF}"/>
              </a:ext>
            </a:extLst>
          </p:cNvPr>
          <p:cNvSpPr/>
          <p:nvPr/>
        </p:nvSpPr>
        <p:spPr>
          <a:xfrm>
            <a:off x="376033" y="777240"/>
            <a:ext cx="10658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i="1" dirty="0">
                <a:solidFill>
                  <a:srgbClr val="3A3F4B"/>
                </a:solidFill>
                <a:latin typeface="Arial" pitchFamily="34" charset="0"/>
                <a:cs typeface="Calibri" pitchFamily="34" charset="-120"/>
              </a:rPr>
              <a:t>Within the knife &amp; peel packages there are functions like dice, slice, pound, peel etc. &amp; we need to select the right functions for our analysis.  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F11EBCD-E240-5F92-027C-DDAB56F0779A}"/>
              </a:ext>
            </a:extLst>
          </p:cNvPr>
          <p:cNvSpPr/>
          <p:nvPr/>
        </p:nvSpPr>
        <p:spPr>
          <a:xfrm>
            <a:off x="263544" y="1290950"/>
            <a:ext cx="402336" cy="402336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3B77956-1241-22B1-2BBF-501C7243B352}"/>
              </a:ext>
            </a:extLst>
          </p:cNvPr>
          <p:cNvSpPr/>
          <p:nvPr/>
        </p:nvSpPr>
        <p:spPr>
          <a:xfrm>
            <a:off x="263544" y="129095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6B2C"/>
                </a:solidFill>
                <a:latin typeface="Arial" pitchFamily="34" charset="0"/>
              </a:rPr>
              <a:t>4</a:t>
            </a: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7AD3E7A-7957-C28A-788C-AF047B6E47F1}"/>
              </a:ext>
            </a:extLst>
          </p:cNvPr>
          <p:cNvSpPr/>
          <p:nvPr/>
        </p:nvSpPr>
        <p:spPr>
          <a:xfrm>
            <a:off x="885336" y="1181222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Apply a function</a:t>
            </a:r>
            <a:endParaRPr lang="en-US" sz="13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615496C-46A6-9092-9458-552898B33563}"/>
              </a:ext>
            </a:extLst>
          </p:cNvPr>
          <p:cNvSpPr/>
          <p:nvPr/>
        </p:nvSpPr>
        <p:spPr>
          <a:xfrm>
            <a:off x="170550" y="1546982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 library function transforms that object: SMA(), MACD(), RSI().</a:t>
            </a:r>
            <a:endParaRPr lang="en-US" sz="12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63AC52-7688-4840-4646-3243B6A9C88E}"/>
              </a:ext>
            </a:extLst>
          </p:cNvPr>
          <p:cNvSpPr txBox="1"/>
          <p:nvPr/>
        </p:nvSpPr>
        <p:spPr>
          <a:xfrm>
            <a:off x="928065" y="2831348"/>
            <a:ext cx="4237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rial" panose="020B0609020204030204" pitchFamily="49" charset="0"/>
              </a:rPr>
              <a:t>halfBanana</a:t>
            </a:r>
            <a:r>
              <a:rPr lang="en-US" dirty="0">
                <a:latin typeface="Arial" panose="020B0609020204030204" pitchFamily="49" charset="0"/>
              </a:rPr>
              <a:t> &lt;- </a:t>
            </a:r>
            <a:r>
              <a:rPr lang="en-US" dirty="0" err="1">
                <a:latin typeface="Arial" panose="020B0609020204030204" pitchFamily="49" charset="0"/>
              </a:rPr>
              <a:t>cutinhalf</a:t>
            </a:r>
            <a:r>
              <a:rPr lang="en-US" dirty="0">
                <a:latin typeface="Arial" panose="020B0609020204030204" pitchFamily="49" charset="0"/>
              </a:rPr>
              <a:t>(banana )</a:t>
            </a:r>
            <a:endParaRPr lang="en-US" dirty="0"/>
          </a:p>
        </p:txBody>
      </p:sp>
      <p:pic>
        <p:nvPicPr>
          <p:cNvPr id="14" name="Picture 2" descr="http://www.brainkandie.com/images/banana.png">
            <a:extLst>
              <a:ext uri="{FF2B5EF4-FFF2-40B4-BE49-F238E27FC236}">
                <a16:creationId xmlns:a16="http://schemas.microsoft.com/office/drawing/2014/main" id="{169B49AA-93FF-8A55-1BAA-26CFE882D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360055" y="1774329"/>
            <a:ext cx="4241610" cy="2544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http://cdn.xl.thumbs.canstockphoto.com/canstock14746167.jpg">
            <a:extLst>
              <a:ext uri="{FF2B5EF4-FFF2-40B4-BE49-F238E27FC236}">
                <a16:creationId xmlns:a16="http://schemas.microsoft.com/office/drawing/2014/main" id="{87B70BE6-9BD8-0996-1FBB-80CCEF3C4E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70" b="38097"/>
          <a:stretch/>
        </p:blipFill>
        <p:spPr bwMode="auto">
          <a:xfrm rot="5400000">
            <a:off x="9133869" y="3166670"/>
            <a:ext cx="3581980" cy="911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9FA49CD-62A6-AD00-2586-DADD010DCA04}"/>
              </a:ext>
            </a:extLst>
          </p:cNvPr>
          <p:cNvSpPr/>
          <p:nvPr/>
        </p:nvSpPr>
        <p:spPr>
          <a:xfrm>
            <a:off x="2683594" y="3345657"/>
            <a:ext cx="1290182" cy="34019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Function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4AFC10-F595-008E-A3DB-41B632012631}"/>
              </a:ext>
            </a:extLst>
          </p:cNvPr>
          <p:cNvSpPr txBox="1"/>
          <p:nvPr/>
        </p:nvSpPr>
        <p:spPr>
          <a:xfrm>
            <a:off x="4152564" y="3331089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0182B4-7644-E619-C0BC-174B8CE611C9}"/>
              </a:ext>
            </a:extLst>
          </p:cNvPr>
          <p:cNvSpPr txBox="1"/>
          <p:nvPr/>
        </p:nvSpPr>
        <p:spPr>
          <a:xfrm>
            <a:off x="1170086" y="33310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8484847-719E-B75B-9CCF-EE0405775412}"/>
              </a:ext>
            </a:extLst>
          </p:cNvPr>
          <p:cNvCxnSpPr/>
          <p:nvPr/>
        </p:nvCxnSpPr>
        <p:spPr>
          <a:xfrm>
            <a:off x="2495704" y="3241435"/>
            <a:ext cx="0" cy="548640"/>
          </a:xfrm>
          <a:prstGeom prst="line">
            <a:avLst/>
          </a:prstGeom>
          <a:ln w="127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226091AB-C2EA-436C-6ED5-685C6241A2B0}"/>
              </a:ext>
            </a:extLst>
          </p:cNvPr>
          <p:cNvSpPr/>
          <p:nvPr/>
        </p:nvSpPr>
        <p:spPr>
          <a:xfrm>
            <a:off x="3880753" y="3331089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9020204030204" pitchFamily="49" charset="0"/>
              </a:rPr>
              <a:t>(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BBCD8CB-055B-5730-AD92-B76B6E8B7047}"/>
              </a:ext>
            </a:extLst>
          </p:cNvPr>
          <p:cNvSpPr/>
          <p:nvPr/>
        </p:nvSpPr>
        <p:spPr>
          <a:xfrm>
            <a:off x="4853818" y="3331089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9020204030204" pitchFamily="49" charset="0"/>
              </a:rPr>
              <a:t>)</a:t>
            </a:r>
            <a:endParaRPr lang="en-US" dirty="0"/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EAD753A0-CC3E-EAB4-4876-74129FC092E6}"/>
              </a:ext>
            </a:extLst>
          </p:cNvPr>
          <p:cNvSpPr/>
          <p:nvPr/>
        </p:nvSpPr>
        <p:spPr>
          <a:xfrm>
            <a:off x="472905" y="5719066"/>
            <a:ext cx="10745001" cy="548640"/>
          </a:xfrm>
          <a:prstGeom prst="roundRect">
            <a:avLst>
              <a:gd name="adj" fmla="val 7273"/>
            </a:avLst>
          </a:prstGeom>
          <a:solidFill>
            <a:srgbClr val="14213D"/>
          </a:solidFill>
          <a:ln/>
        </p:spPr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7C2F50-C757-D724-27AD-93EC1477B5DD}"/>
              </a:ext>
            </a:extLst>
          </p:cNvPr>
          <p:cNvSpPr txBox="1"/>
          <p:nvPr/>
        </p:nvSpPr>
        <p:spPr>
          <a:xfrm>
            <a:off x="564488" y="5803307"/>
            <a:ext cx="105618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2000" dirty="0">
                <a:solidFill>
                  <a:schemeClr val="bg1"/>
                </a:solidFill>
                <a:latin typeface="Arial" panose="020B0609020204030204" pitchFamily="49" charset="0"/>
              </a:rPr>
              <a:t>&lt;-</a:t>
            </a:r>
            <a:r>
              <a:rPr lang="en-US" sz="2000" dirty="0">
                <a:solidFill>
                  <a:schemeClr val="bg1"/>
                </a:solidFill>
                <a:latin typeface="Arial" panose="020B0609020204030204" pitchFamily="49" charset="0"/>
                <a:cs typeface="Consolas" panose="020B0609020204030204" pitchFamily="49" charset="0"/>
              </a:rPr>
              <a:t>" </a:t>
            </a:r>
            <a:r>
              <a:rPr lang="en-US" sz="2000" dirty="0">
                <a:solidFill>
                  <a:schemeClr val="bg1"/>
                </a:solidFill>
                <a:latin typeface="Arial" panose="020B0609020204030204" pitchFamily="49" charset="0"/>
              </a:rPr>
              <a:t>is the assignment operator, assigning a variable name to the function output.</a:t>
            </a:r>
            <a:endParaRPr lang="en-US" sz="2000" b="1" u="sng" dirty="0">
              <a:solidFill>
                <a:schemeClr val="bg1"/>
              </a:solidFill>
            </a:endParaRPr>
          </a:p>
        </p:txBody>
      </p:sp>
      <p:sp>
        <p:nvSpPr>
          <p:cNvPr id="25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BFA9581E-54E8-4A29-95EC-E3F314FF0B83}" type="slidenum">
              <a:rPr lang="en-US" sz="1000">
                <a:solidFill>
                  <a:schemeClr val="accent5"/>
                </a:solidFill>
                <a:latin typeface="Arial"/>
              </a:rPr>
              <a:t>26</a:t>
            </a:fld>
            <a:endParaRPr lang="en-US" sz="1000" dirty="0">
              <a:solidFill>
                <a:schemeClr val="accent5"/>
              </a:solidFill>
              <a:latin typeface="Arial"/>
            </a:endParaRPr>
          </a:p>
        </p:txBody>
      </p:sp>
      <p:sp>
        <p:nvSpPr>
          <p:cNvPr id="3" name="Harvard Footer">
            <a:extLst>
              <a:ext uri="{FF2B5EF4-FFF2-40B4-BE49-F238E27FC236}">
                <a16:creationId xmlns:a16="http://schemas.microsoft.com/office/drawing/2014/main" id="{59F27ECD-1C75-1895-AB79-2A5531446AB4}"/>
              </a:ext>
            </a:extLst>
          </p:cNvPr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 dirty="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</p:spTree>
    <p:extLst>
      <p:ext uri="{BB962C8B-B14F-4D97-AF65-F5344CB8AC3E}">
        <p14:creationId xmlns:p14="http://schemas.microsoft.com/office/powerpoint/2010/main" val="20313432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546B2-5236-C7A6-08F1-22E3B2C8E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31BF5A51-A0DF-2993-DD9E-23CE68518A8C}"/>
              </a:ext>
            </a:extLst>
          </p:cNvPr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Breakfast R!</a:t>
            </a:r>
            <a:endParaRPr lang="en-US" sz="2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E85B984-576B-A917-F42A-2BF6479AA46F}"/>
              </a:ext>
            </a:extLst>
          </p:cNvPr>
          <p:cNvSpPr/>
          <p:nvPr/>
        </p:nvSpPr>
        <p:spPr>
          <a:xfrm>
            <a:off x="263544" y="1290950"/>
            <a:ext cx="402336" cy="402336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C28ACE9-3CE1-5A8D-2AA2-4A94CA9DDD7D}"/>
              </a:ext>
            </a:extLst>
          </p:cNvPr>
          <p:cNvSpPr/>
          <p:nvPr/>
        </p:nvSpPr>
        <p:spPr>
          <a:xfrm>
            <a:off x="263544" y="129095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6B2C"/>
                </a:solidFill>
                <a:latin typeface="Arial" pitchFamily="34" charset="0"/>
              </a:rPr>
              <a:t>4</a:t>
            </a: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70191A2-4DD8-A9E4-58C1-251A1D0CD417}"/>
              </a:ext>
            </a:extLst>
          </p:cNvPr>
          <p:cNvSpPr/>
          <p:nvPr/>
        </p:nvSpPr>
        <p:spPr>
          <a:xfrm>
            <a:off x="885336" y="1181222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Apply a function</a:t>
            </a:r>
            <a:endParaRPr lang="en-US" sz="13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3F489CB-6380-868D-C589-8C17DABFCF39}"/>
              </a:ext>
            </a:extLst>
          </p:cNvPr>
          <p:cNvSpPr/>
          <p:nvPr/>
        </p:nvSpPr>
        <p:spPr>
          <a:xfrm>
            <a:off x="170550" y="1546982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 library function transforms that object: SMA(), MACD(), RSI().</a:t>
            </a:r>
            <a:endParaRPr lang="en-US" sz="1250" dirty="0"/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976BE338-2EF5-104D-06AE-72C384457C7B}"/>
              </a:ext>
            </a:extLst>
          </p:cNvPr>
          <p:cNvSpPr/>
          <p:nvPr/>
        </p:nvSpPr>
        <p:spPr>
          <a:xfrm>
            <a:off x="472905" y="5719066"/>
            <a:ext cx="10745001" cy="548640"/>
          </a:xfrm>
          <a:prstGeom prst="roundRect">
            <a:avLst>
              <a:gd name="adj" fmla="val 7273"/>
            </a:avLst>
          </a:prstGeom>
          <a:solidFill>
            <a:srgbClr val="14213D"/>
          </a:solidFill>
          <a:ln/>
        </p:spPr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AF1A90-423F-4B2B-2A99-CBE98FC130E1}"/>
              </a:ext>
            </a:extLst>
          </p:cNvPr>
          <p:cNvSpPr txBox="1"/>
          <p:nvPr/>
        </p:nvSpPr>
        <p:spPr>
          <a:xfrm>
            <a:off x="478773" y="5803307"/>
            <a:ext cx="107502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9020204030204" pitchFamily="49" charset="0"/>
                <a:cs typeface="Consolas" panose="020B0609020204030204" pitchFamily="49" charset="0"/>
              </a:rPr>
              <a:t>Line by line we execute code, sometimes creating new object variables &amp; other times overwriting them.</a:t>
            </a:r>
            <a:endParaRPr lang="en-US" b="1" u="sng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077D2F-BAF2-CC92-54F2-D81E005E2F79}"/>
              </a:ext>
            </a:extLst>
          </p:cNvPr>
          <p:cNvSpPr txBox="1"/>
          <p:nvPr/>
        </p:nvSpPr>
        <p:spPr>
          <a:xfrm>
            <a:off x="240630" y="3233733"/>
            <a:ext cx="4237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rial" panose="020B0609020204030204" pitchFamily="49" charset="0"/>
              </a:rPr>
              <a:t>halfBanana</a:t>
            </a:r>
            <a:r>
              <a:rPr lang="en-US" dirty="0">
                <a:latin typeface="Arial" panose="020B0609020204030204" pitchFamily="49" charset="0"/>
              </a:rPr>
              <a:t> &lt;- </a:t>
            </a:r>
            <a:r>
              <a:rPr lang="en-US" dirty="0" err="1">
                <a:latin typeface="Arial" panose="020B0609020204030204" pitchFamily="49" charset="0"/>
              </a:rPr>
              <a:t>cutinhalf</a:t>
            </a:r>
            <a:r>
              <a:rPr lang="en-US" dirty="0">
                <a:latin typeface="Arial" panose="020B0609020204030204" pitchFamily="49" charset="0"/>
              </a:rPr>
              <a:t>(banana 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8FDABA-A171-ED69-CCE5-F6B1D4FD5E2D}"/>
              </a:ext>
            </a:extLst>
          </p:cNvPr>
          <p:cNvSpPr/>
          <p:nvPr/>
        </p:nvSpPr>
        <p:spPr>
          <a:xfrm>
            <a:off x="2494405" y="4862033"/>
            <a:ext cx="1290182" cy="34019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Function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6A5A16-6C4B-781F-2045-FD82D87AF6A4}"/>
              </a:ext>
            </a:extLst>
          </p:cNvPr>
          <p:cNvSpPr txBox="1"/>
          <p:nvPr/>
        </p:nvSpPr>
        <p:spPr>
          <a:xfrm>
            <a:off x="3963375" y="4847465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02F035-C260-62B0-83C6-B5375748DCAB}"/>
              </a:ext>
            </a:extLst>
          </p:cNvPr>
          <p:cNvSpPr txBox="1"/>
          <p:nvPr/>
        </p:nvSpPr>
        <p:spPr>
          <a:xfrm>
            <a:off x="980897" y="484746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B0FDF6E-8678-2EB7-E74F-C8F43ABA841F}"/>
              </a:ext>
            </a:extLst>
          </p:cNvPr>
          <p:cNvCxnSpPr/>
          <p:nvPr/>
        </p:nvCxnSpPr>
        <p:spPr>
          <a:xfrm>
            <a:off x="2306515" y="4757811"/>
            <a:ext cx="0" cy="548640"/>
          </a:xfrm>
          <a:prstGeom prst="line">
            <a:avLst/>
          </a:prstGeom>
          <a:ln w="127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1C4DF1CE-DD53-D4B6-524E-23DBE5B16B47}"/>
              </a:ext>
            </a:extLst>
          </p:cNvPr>
          <p:cNvSpPr/>
          <p:nvPr/>
        </p:nvSpPr>
        <p:spPr>
          <a:xfrm>
            <a:off x="3691564" y="4847465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9020204030204" pitchFamily="49" charset="0"/>
              </a:rPr>
              <a:t>(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B2A1CB5-4EF9-21C3-5ED7-C4275F3E8F29}"/>
              </a:ext>
            </a:extLst>
          </p:cNvPr>
          <p:cNvSpPr/>
          <p:nvPr/>
        </p:nvSpPr>
        <p:spPr>
          <a:xfrm>
            <a:off x="5044375" y="4806822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9020204030204" pitchFamily="49" charset="0"/>
              </a:rPr>
              <a:t> )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9F1A74-5CA5-6AD5-61FF-49EE35E7E37E}"/>
              </a:ext>
            </a:extLst>
          </p:cNvPr>
          <p:cNvSpPr txBox="1"/>
          <p:nvPr/>
        </p:nvSpPr>
        <p:spPr>
          <a:xfrm>
            <a:off x="767693" y="4388479"/>
            <a:ext cx="4743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rial" panose="020B0609020204030204" pitchFamily="49" charset="0"/>
              </a:rPr>
              <a:t>halfBanana</a:t>
            </a:r>
            <a:r>
              <a:rPr lang="en-US" dirty="0">
                <a:latin typeface="Arial" panose="020B0609020204030204" pitchFamily="49" charset="0"/>
              </a:rPr>
              <a:t> &lt;- peel     ( </a:t>
            </a:r>
            <a:r>
              <a:rPr lang="en-US" dirty="0" err="1">
                <a:latin typeface="Arial" panose="020B0609020204030204" pitchFamily="49" charset="0"/>
              </a:rPr>
              <a:t>halfBanana</a:t>
            </a:r>
            <a:r>
              <a:rPr lang="en-US" dirty="0">
                <a:latin typeface="Arial" panose="020B0609020204030204" pitchFamily="49" charset="0"/>
              </a:rPr>
              <a:t>)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EDE04D-A326-AC2C-99C8-D26449E45F2D}"/>
              </a:ext>
            </a:extLst>
          </p:cNvPr>
          <p:cNvSpPr txBox="1"/>
          <p:nvPr/>
        </p:nvSpPr>
        <p:spPr>
          <a:xfrm>
            <a:off x="240630" y="1944176"/>
            <a:ext cx="19575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9020204030204" pitchFamily="49" charset="0"/>
              </a:rPr>
              <a:t>library(knife)</a:t>
            </a:r>
          </a:p>
          <a:p>
            <a:r>
              <a:rPr lang="en-US" dirty="0">
                <a:latin typeface="Arial" panose="020B0609020204030204" pitchFamily="49" charset="0"/>
              </a:rPr>
              <a:t>library(peel)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76A27A-5D43-120B-A6D7-F546C5935712}"/>
              </a:ext>
            </a:extLst>
          </p:cNvPr>
          <p:cNvSpPr txBox="1"/>
          <p:nvPr/>
        </p:nvSpPr>
        <p:spPr>
          <a:xfrm>
            <a:off x="240630" y="2773658"/>
            <a:ext cx="4237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9020204030204" pitchFamily="49" charset="0"/>
              </a:rPr>
              <a:t>banana &lt;- </a:t>
            </a:r>
            <a:r>
              <a:rPr lang="en-US" dirty="0" err="1">
                <a:latin typeface="Arial" panose="020B0609020204030204" pitchFamily="49" charset="0"/>
              </a:rPr>
              <a:t>read.csv</a:t>
            </a:r>
            <a:r>
              <a:rPr lang="en-US" dirty="0">
                <a:latin typeface="Arial" panose="020B0609020204030204" pitchFamily="49" charset="0"/>
              </a:rPr>
              <a:t>(</a:t>
            </a:r>
            <a:r>
              <a:rPr lang="en-US" dirty="0">
                <a:latin typeface="Arial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 err="1">
                <a:latin typeface="Arial" panose="020B0609020204030204" pitchFamily="49" charset="0"/>
              </a:rPr>
              <a:t>Banana.csv</a:t>
            </a:r>
            <a:r>
              <a:rPr lang="en-US" dirty="0">
                <a:latin typeface="Arial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>
                <a:latin typeface="Arial" panose="020B0609020204030204" pitchFamily="49" charset="0"/>
              </a:rPr>
              <a:t>)</a:t>
            </a:r>
            <a:endParaRPr lang="en-US" dirty="0"/>
          </a:p>
        </p:txBody>
      </p:sp>
      <p:pic>
        <p:nvPicPr>
          <p:cNvPr id="29" name="Picture 2" descr="Image result for half banana">
            <a:extLst>
              <a:ext uri="{FF2B5EF4-FFF2-40B4-BE49-F238E27FC236}">
                <a16:creationId xmlns:a16="http://schemas.microsoft.com/office/drawing/2014/main" id="{383E9E81-99E2-F3B6-6394-AC930809E6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65" b="28476"/>
          <a:stretch/>
        </p:blipFill>
        <p:spPr bwMode="auto">
          <a:xfrm rot="1615433" flipV="1">
            <a:off x="6051558" y="1701569"/>
            <a:ext cx="4461638" cy="2072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Image result for hand white background">
            <a:extLst>
              <a:ext uri="{FF2B5EF4-FFF2-40B4-BE49-F238E27FC236}">
                <a16:creationId xmlns:a16="http://schemas.microsoft.com/office/drawing/2014/main" id="{13B16EBC-F5F3-EAC9-B940-D5587EC816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6186" y="1804428"/>
            <a:ext cx="3171266" cy="2734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FB30CA9-E496-BD2A-C159-4ADF41B948A2}"/>
              </a:ext>
            </a:extLst>
          </p:cNvPr>
          <p:cNvCxnSpPr>
            <a:cxnSpLocks/>
            <a:stCxn id="32" idx="4"/>
            <a:endCxn id="33" idx="0"/>
          </p:cNvCxnSpPr>
          <p:nvPr/>
        </p:nvCxnSpPr>
        <p:spPr>
          <a:xfrm>
            <a:off x="908137" y="3657032"/>
            <a:ext cx="3591769" cy="702115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19AF468A-5114-D503-EBFD-E26EF779E93F}"/>
              </a:ext>
            </a:extLst>
          </p:cNvPr>
          <p:cNvSpPr/>
          <p:nvPr/>
        </p:nvSpPr>
        <p:spPr>
          <a:xfrm>
            <a:off x="112734" y="3205620"/>
            <a:ext cx="1590806" cy="45141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F444C2C-6B91-DE14-BAD8-69999D370FE6}"/>
              </a:ext>
            </a:extLst>
          </p:cNvPr>
          <p:cNvSpPr/>
          <p:nvPr/>
        </p:nvSpPr>
        <p:spPr>
          <a:xfrm>
            <a:off x="3691564" y="4359147"/>
            <a:ext cx="1616684" cy="45141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34" name="Text 2">
            <a:extLst>
              <a:ext uri="{FF2B5EF4-FFF2-40B4-BE49-F238E27FC236}">
                <a16:creationId xmlns:a16="http://schemas.microsoft.com/office/drawing/2014/main" id="{E982A057-9FFC-BD52-3ED7-0501D2493924}"/>
              </a:ext>
            </a:extLst>
          </p:cNvPr>
          <p:cNvSpPr/>
          <p:nvPr/>
        </p:nvSpPr>
        <p:spPr>
          <a:xfrm>
            <a:off x="376033" y="777240"/>
            <a:ext cx="10658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i="1" dirty="0">
                <a:solidFill>
                  <a:srgbClr val="3A3F4B"/>
                </a:solidFill>
                <a:latin typeface="Arial" pitchFamily="34" charset="0"/>
                <a:cs typeface="Calibri" pitchFamily="34" charset="-120"/>
              </a:rPr>
              <a:t>Within the knife &amp; peel packages there are functions like dice, slice, pound, peel etc. &amp; we need to select the right functions for our analysis.  </a:t>
            </a:r>
          </a:p>
        </p:txBody>
      </p:sp>
      <p:sp>
        <p:nvSpPr>
          <p:cNvPr id="35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E64893A8-67B5-4DF2-AE04-B19B24AC7D48}" type="slidenum">
              <a:rPr lang="en-US" sz="1000">
                <a:solidFill>
                  <a:schemeClr val="accent5"/>
                </a:solidFill>
                <a:latin typeface="Arial"/>
              </a:rPr>
              <a:t>27</a:t>
            </a:fld>
            <a:endParaRPr lang="en-US" sz="1000" dirty="0">
              <a:solidFill>
                <a:schemeClr val="accent5"/>
              </a:solidFill>
              <a:latin typeface="Arial"/>
            </a:endParaRPr>
          </a:p>
        </p:txBody>
      </p:sp>
      <p:sp>
        <p:nvSpPr>
          <p:cNvPr id="5" name="Harvard Footer">
            <a:extLst>
              <a:ext uri="{FF2B5EF4-FFF2-40B4-BE49-F238E27FC236}">
                <a16:creationId xmlns:a16="http://schemas.microsoft.com/office/drawing/2014/main" id="{E3DAE296-A19F-0A85-8CE6-69BD988880EC}"/>
              </a:ext>
            </a:extLst>
          </p:cNvPr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 dirty="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</p:spTree>
    <p:extLst>
      <p:ext uri="{BB962C8B-B14F-4D97-AF65-F5344CB8AC3E}">
        <p14:creationId xmlns:p14="http://schemas.microsoft.com/office/powerpoint/2010/main" val="34819216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139825-7F1E-2B5C-D1B5-2A69D77572FE}"/>
              </a:ext>
            </a:extLst>
          </p:cNvPr>
          <p:cNvSpPr txBox="1"/>
          <p:nvPr/>
        </p:nvSpPr>
        <p:spPr>
          <a:xfrm>
            <a:off x="240630" y="2990425"/>
            <a:ext cx="4237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rial" panose="020B0609020204030204" pitchFamily="49" charset="0"/>
              </a:rPr>
              <a:t>halfBanana</a:t>
            </a:r>
            <a:r>
              <a:rPr lang="en-US" dirty="0">
                <a:latin typeface="Arial" panose="020B0609020204030204" pitchFamily="49" charset="0"/>
              </a:rPr>
              <a:t> &lt;- </a:t>
            </a:r>
            <a:r>
              <a:rPr lang="en-US" dirty="0" err="1">
                <a:latin typeface="Arial" panose="020B0609020204030204" pitchFamily="49" charset="0"/>
              </a:rPr>
              <a:t>cutinhalf</a:t>
            </a:r>
            <a:r>
              <a:rPr lang="en-US" dirty="0">
                <a:latin typeface="Arial" panose="020B0609020204030204" pitchFamily="49" charset="0"/>
              </a:rPr>
              <a:t>(banana)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8984C9-670C-87EB-D853-E0AD49B9AFF8}"/>
              </a:ext>
            </a:extLst>
          </p:cNvPr>
          <p:cNvSpPr/>
          <p:nvPr/>
        </p:nvSpPr>
        <p:spPr>
          <a:xfrm>
            <a:off x="309114" y="4169613"/>
            <a:ext cx="1290182" cy="34019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Function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62582D-4FFF-318B-0529-D168F1992E2D}"/>
              </a:ext>
            </a:extLst>
          </p:cNvPr>
          <p:cNvSpPr txBox="1"/>
          <p:nvPr/>
        </p:nvSpPr>
        <p:spPr>
          <a:xfrm>
            <a:off x="1703285" y="4155045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68839A-3D36-EC0B-630F-CE54657F0D38}"/>
              </a:ext>
            </a:extLst>
          </p:cNvPr>
          <p:cNvSpPr/>
          <p:nvPr/>
        </p:nvSpPr>
        <p:spPr>
          <a:xfrm>
            <a:off x="1506273" y="4155045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9020204030204" pitchFamily="49" charset="0"/>
              </a:rPr>
              <a:t>(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2B244D-054F-FF07-33DD-7F7575563A31}"/>
              </a:ext>
            </a:extLst>
          </p:cNvPr>
          <p:cNvSpPr/>
          <p:nvPr/>
        </p:nvSpPr>
        <p:spPr>
          <a:xfrm>
            <a:off x="2286620" y="4140478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9020204030204" pitchFamily="49" charset="0"/>
              </a:rPr>
              <a:t>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856E47-831D-F037-D5B5-EA23101E9284}"/>
              </a:ext>
            </a:extLst>
          </p:cNvPr>
          <p:cNvSpPr txBox="1"/>
          <p:nvPr/>
        </p:nvSpPr>
        <p:spPr>
          <a:xfrm>
            <a:off x="240630" y="3295239"/>
            <a:ext cx="4110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rial" panose="020B0609020204030204" pitchFamily="49" charset="0"/>
              </a:rPr>
              <a:t>halfBanana</a:t>
            </a:r>
            <a:r>
              <a:rPr lang="en-US" dirty="0">
                <a:latin typeface="Arial" panose="020B0609020204030204" pitchFamily="49" charset="0"/>
              </a:rPr>
              <a:t> &lt;- peel(</a:t>
            </a:r>
            <a:r>
              <a:rPr lang="en-US" dirty="0" err="1">
                <a:latin typeface="Arial" panose="020B0609020204030204" pitchFamily="49" charset="0"/>
              </a:rPr>
              <a:t>halfBanana</a:t>
            </a:r>
            <a:r>
              <a:rPr lang="en-US" dirty="0">
                <a:latin typeface="Arial" panose="020B0609020204030204" pitchFamily="49" charset="0"/>
              </a:rPr>
              <a:t>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573C01-9196-4C19-E987-89E670F216BC}"/>
              </a:ext>
            </a:extLst>
          </p:cNvPr>
          <p:cNvSpPr txBox="1"/>
          <p:nvPr/>
        </p:nvSpPr>
        <p:spPr>
          <a:xfrm>
            <a:off x="240630" y="2103796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9020204030204" pitchFamily="49" charset="0"/>
              </a:rPr>
              <a:t>library(knife)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1B227F-4BB1-F46D-F3A8-B5A76562A3E1}"/>
              </a:ext>
            </a:extLst>
          </p:cNvPr>
          <p:cNvSpPr txBox="1"/>
          <p:nvPr/>
        </p:nvSpPr>
        <p:spPr>
          <a:xfrm>
            <a:off x="240630" y="2685610"/>
            <a:ext cx="4743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9020204030204" pitchFamily="49" charset="0"/>
              </a:rPr>
              <a:t>banana     &lt;- </a:t>
            </a:r>
            <a:r>
              <a:rPr lang="en-US" dirty="0" err="1">
                <a:latin typeface="Arial" panose="020B0609020204030204" pitchFamily="49" charset="0"/>
              </a:rPr>
              <a:t>read.csv</a:t>
            </a:r>
            <a:r>
              <a:rPr lang="en-US" dirty="0">
                <a:latin typeface="Arial" panose="020B0609020204030204" pitchFamily="49" charset="0"/>
              </a:rPr>
              <a:t>(“Banana.csv”)</a:t>
            </a:r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ACFEAE8-E6AF-9E85-D7DF-1BE721EAE343}"/>
              </a:ext>
            </a:extLst>
          </p:cNvPr>
          <p:cNvGrpSpPr/>
          <p:nvPr/>
        </p:nvGrpSpPr>
        <p:grpSpPr>
          <a:xfrm>
            <a:off x="5836031" y="1759426"/>
            <a:ext cx="6115339" cy="3583329"/>
            <a:chOff x="4884420" y="2092654"/>
            <a:chExt cx="3840480" cy="2250358"/>
          </a:xfrm>
        </p:grpSpPr>
        <p:pic>
          <p:nvPicPr>
            <p:cNvPr id="12" name="Picture 4" descr="http://sape.inf.usi.ch/sites/default/files/ggplot2-geom_blank-example.png">
              <a:extLst>
                <a:ext uri="{FF2B5EF4-FFF2-40B4-BE49-F238E27FC236}">
                  <a16:creationId xmlns:a16="http://schemas.microsoft.com/office/drawing/2014/main" id="{F23DEC36-B7A2-C4DD-F263-4E1DD609657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06"/>
            <a:stretch/>
          </p:blipFill>
          <p:spPr bwMode="auto">
            <a:xfrm>
              <a:off x="4884420" y="2092654"/>
              <a:ext cx="3840480" cy="22503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 descr="Image result for half banana">
              <a:extLst>
                <a:ext uri="{FF2B5EF4-FFF2-40B4-BE49-F238E27FC236}">
                  <a16:creationId xmlns:a16="http://schemas.microsoft.com/office/drawing/2014/main" id="{557C1D84-A6FF-61E4-2D38-F0737A90181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065" b="28476"/>
            <a:stretch/>
          </p:blipFill>
          <p:spPr bwMode="auto">
            <a:xfrm rot="1615433" flipV="1">
              <a:off x="5469884" y="2498909"/>
              <a:ext cx="2787633" cy="12171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DCA2C067-C4CC-DE97-5DF7-FCC86D393EA2}"/>
              </a:ext>
            </a:extLst>
          </p:cNvPr>
          <p:cNvSpPr txBox="1"/>
          <p:nvPr/>
        </p:nvSpPr>
        <p:spPr>
          <a:xfrm>
            <a:off x="370235" y="3755139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9020204030204" pitchFamily="49" charset="0"/>
              </a:rPr>
              <a:t>plot(</a:t>
            </a:r>
            <a:r>
              <a:rPr lang="en-US" dirty="0" err="1">
                <a:latin typeface="Arial" panose="020B0609020204030204" pitchFamily="49" charset="0"/>
              </a:rPr>
              <a:t>halfBanana</a:t>
            </a:r>
            <a:r>
              <a:rPr lang="en-US" dirty="0">
                <a:latin typeface="Arial" panose="020B0609020204030204" pitchFamily="49" charset="0"/>
              </a:rPr>
              <a:t>)</a:t>
            </a:r>
            <a:endParaRPr lang="en-US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90D1CD80-92B7-E10D-1335-CD373E0AE70B}"/>
              </a:ext>
            </a:extLst>
          </p:cNvPr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Breakfast R!</a:t>
            </a:r>
            <a:endParaRPr lang="en-US" sz="26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E981014E-C433-5B6E-6266-A62D8A74D5DE}"/>
              </a:ext>
            </a:extLst>
          </p:cNvPr>
          <p:cNvSpPr/>
          <p:nvPr/>
        </p:nvSpPr>
        <p:spPr>
          <a:xfrm>
            <a:off x="376033" y="777240"/>
            <a:ext cx="10658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i="1" dirty="0">
                <a:solidFill>
                  <a:srgbClr val="3A3F4B"/>
                </a:solidFill>
                <a:latin typeface="Arial" pitchFamily="34" charset="0"/>
                <a:cs typeface="Calibri" pitchFamily="34" charset="-120"/>
              </a:rPr>
              <a:t>Now our output is ready for consumption, breakfast is ready!</a:t>
            </a:r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6C07D23A-4629-D824-CA1C-FCBF0356BF01}"/>
              </a:ext>
            </a:extLst>
          </p:cNvPr>
          <p:cNvSpPr/>
          <p:nvPr/>
        </p:nvSpPr>
        <p:spPr>
          <a:xfrm>
            <a:off x="472905" y="5821806"/>
            <a:ext cx="10745001" cy="453574"/>
          </a:xfrm>
          <a:prstGeom prst="roundRect">
            <a:avLst>
              <a:gd name="adj" fmla="val 7273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247FA2-F70B-A1EC-A588-56337BF548B7}"/>
              </a:ext>
            </a:extLst>
          </p:cNvPr>
          <p:cNvSpPr txBox="1"/>
          <p:nvPr/>
        </p:nvSpPr>
        <p:spPr>
          <a:xfrm>
            <a:off x="564488" y="5906047"/>
            <a:ext cx="10561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9020204030204" pitchFamily="49" charset="0"/>
                <a:cs typeface="Consolas" panose="020B0609020204030204" pitchFamily="49" charset="0"/>
              </a:rPr>
              <a:t>Sometimes we do not create new objects in the environment but just objects (ML models, or plots).</a:t>
            </a:r>
            <a:endParaRPr lang="en-US" b="1" u="sng" dirty="0">
              <a:solidFill>
                <a:schemeClr val="bg1"/>
              </a:solidFill>
            </a:endParaRPr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C2BBFC22-D80C-727C-DA0E-402B5999CF31}"/>
              </a:ext>
            </a:extLst>
          </p:cNvPr>
          <p:cNvSpPr/>
          <p:nvPr/>
        </p:nvSpPr>
        <p:spPr>
          <a:xfrm>
            <a:off x="263544" y="1290950"/>
            <a:ext cx="402336" cy="402336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5BA12A58-E998-A609-F623-C52ACBFC7797}"/>
              </a:ext>
            </a:extLst>
          </p:cNvPr>
          <p:cNvSpPr/>
          <p:nvPr/>
        </p:nvSpPr>
        <p:spPr>
          <a:xfrm>
            <a:off x="263544" y="129095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6B2C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61A13246-F2BB-E6EB-444F-69D36A4BC879}"/>
              </a:ext>
            </a:extLst>
          </p:cNvPr>
          <p:cNvSpPr/>
          <p:nvPr/>
        </p:nvSpPr>
        <p:spPr>
          <a:xfrm>
            <a:off x="170550" y="1546982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Plot it, print it, or save it. This is the point of the whole script.</a:t>
            </a:r>
            <a:endParaRPr lang="en-US" sz="125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4FCF1082-7311-A777-CA28-2FB633216100}"/>
              </a:ext>
            </a:extLst>
          </p:cNvPr>
          <p:cNvSpPr/>
          <p:nvPr/>
        </p:nvSpPr>
        <p:spPr>
          <a:xfrm>
            <a:off x="885336" y="1181222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Consume the result</a:t>
            </a:r>
            <a:endParaRPr lang="en-US" sz="1350" dirty="0"/>
          </a:p>
        </p:txBody>
      </p:sp>
      <p:sp>
        <p:nvSpPr>
          <p:cNvPr id="23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E8E4FACD-1643-4DA8-A4D0-330C6BBDAFA0}" type="slidenum">
              <a:rPr lang="en-US" sz="1000">
                <a:solidFill>
                  <a:schemeClr val="accent5"/>
                </a:solidFill>
                <a:latin typeface="Arial"/>
              </a:rPr>
              <a:t>28</a:t>
            </a:fld>
            <a:endParaRPr lang="en-US" sz="1000" dirty="0">
              <a:solidFill>
                <a:schemeClr val="accent5"/>
              </a:solidFill>
              <a:latin typeface="Arial"/>
            </a:endParaRPr>
          </a:p>
        </p:txBody>
      </p:sp>
      <p:sp>
        <p:nvSpPr>
          <p:cNvPr id="2" name="Harvard Footer">
            <a:extLst>
              <a:ext uri="{FF2B5EF4-FFF2-40B4-BE49-F238E27FC236}">
                <a16:creationId xmlns:a16="http://schemas.microsoft.com/office/drawing/2014/main" id="{7A68E271-0686-EFD0-F0F1-7B1B99E5A10D}"/>
              </a:ext>
            </a:extLst>
          </p:cNvPr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 dirty="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</p:spTree>
    <p:extLst>
      <p:ext uri="{BB962C8B-B14F-4D97-AF65-F5344CB8AC3E}">
        <p14:creationId xmlns:p14="http://schemas.microsoft.com/office/powerpoint/2010/main" val="39931848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BB1EB-980C-CD76-25F2-7EF6F2BCD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E0E30BE4-0465-DECA-DEBD-284941CCDCF7}"/>
              </a:ext>
            </a:extLst>
          </p:cNvPr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The basic R workflow</a:t>
            </a:r>
            <a:endParaRPr lang="en-US" sz="26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5FD9FD1-11F3-6971-5536-B17B89E0E9D9}"/>
              </a:ext>
            </a:extLst>
          </p:cNvPr>
          <p:cNvSpPr/>
          <p:nvPr/>
        </p:nvSpPr>
        <p:spPr>
          <a:xfrm>
            <a:off x="376034" y="777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The same five step pattern behind every script you run this morning.</a:t>
            </a:r>
            <a:endParaRPr lang="en-US" sz="135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6F9F1C77-9053-70A3-C18F-66767F2C0490}"/>
              </a:ext>
            </a:extLst>
          </p:cNvPr>
          <p:cNvSpPr/>
          <p:nvPr/>
        </p:nvSpPr>
        <p:spPr>
          <a:xfrm>
            <a:off x="2054623" y="1513695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B132B93-68E3-0204-C4F3-74CAF205F275}"/>
              </a:ext>
            </a:extLst>
          </p:cNvPr>
          <p:cNvSpPr/>
          <p:nvPr/>
        </p:nvSpPr>
        <p:spPr>
          <a:xfrm>
            <a:off x="2054623" y="1513695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50113E7-C7B4-C884-E1C1-E25F62AA0C0A}"/>
              </a:ext>
            </a:extLst>
          </p:cNvPr>
          <p:cNvSpPr/>
          <p:nvPr/>
        </p:nvSpPr>
        <p:spPr>
          <a:xfrm>
            <a:off x="2676415" y="1403967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Set your path</a:t>
            </a:r>
            <a:endParaRPr lang="en-US" sz="135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A742CD9-289A-AD25-C269-A8D14B37F981}"/>
              </a:ext>
            </a:extLst>
          </p:cNvPr>
          <p:cNvSpPr/>
          <p:nvPr/>
        </p:nvSpPr>
        <p:spPr>
          <a:xfrm>
            <a:off x="4282267" y="1403967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Point R at a local file, or a URL, so it knows where to look.</a:t>
            </a:r>
            <a:endParaRPr lang="en-US" sz="125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B31B260C-4A20-30DA-46A1-AFB0C1E29129}"/>
              </a:ext>
            </a:extLst>
          </p:cNvPr>
          <p:cNvSpPr/>
          <p:nvPr/>
        </p:nvSpPr>
        <p:spPr>
          <a:xfrm>
            <a:off x="2054623" y="2428095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3A3BFC73-59A5-128A-850C-DE97862E8AB5}"/>
              </a:ext>
            </a:extLst>
          </p:cNvPr>
          <p:cNvSpPr/>
          <p:nvPr/>
        </p:nvSpPr>
        <p:spPr>
          <a:xfrm>
            <a:off x="2054623" y="2428095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3018EDA-F928-2AFC-1794-205BC4E304A4}"/>
              </a:ext>
            </a:extLst>
          </p:cNvPr>
          <p:cNvSpPr/>
          <p:nvPr/>
        </p:nvSpPr>
        <p:spPr>
          <a:xfrm>
            <a:off x="2676415" y="2318367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Load libraries</a:t>
            </a:r>
            <a:endParaRPr lang="en-US" sz="135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7B431907-F983-7053-4E72-71A54C76E864}"/>
              </a:ext>
            </a:extLst>
          </p:cNvPr>
          <p:cNvSpPr/>
          <p:nvPr/>
        </p:nvSpPr>
        <p:spPr>
          <a:xfrm>
            <a:off x="4282267" y="2318367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library(quantmod), library(TTR), the specialized tools for this task.</a:t>
            </a:r>
            <a:endParaRPr lang="en-US" sz="125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47EA1EBD-6C23-22BE-CD4C-F9E468CF135C}"/>
              </a:ext>
            </a:extLst>
          </p:cNvPr>
          <p:cNvSpPr/>
          <p:nvPr/>
        </p:nvSpPr>
        <p:spPr>
          <a:xfrm>
            <a:off x="2054623" y="3342495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30E2E17C-AF08-97A1-A1B3-460CF9A1BCA4}"/>
              </a:ext>
            </a:extLst>
          </p:cNvPr>
          <p:cNvSpPr/>
          <p:nvPr/>
        </p:nvSpPr>
        <p:spPr>
          <a:xfrm>
            <a:off x="2054623" y="3342495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73FFE210-7FED-0DC1-3459-44A657B4DED9}"/>
              </a:ext>
            </a:extLst>
          </p:cNvPr>
          <p:cNvSpPr/>
          <p:nvPr/>
        </p:nvSpPr>
        <p:spPr>
          <a:xfrm>
            <a:off x="2676415" y="3232767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Read the data in</a:t>
            </a:r>
            <a:endParaRPr lang="en-US" sz="135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6BC24D13-E474-7163-D81F-7B1B2B37A31E}"/>
              </a:ext>
            </a:extLst>
          </p:cNvPr>
          <p:cNvSpPr/>
          <p:nvPr/>
        </p:nvSpPr>
        <p:spPr>
          <a:xfrm>
            <a:off x="4282267" y="3232767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read.csv</a:t>
            </a:r>
            <a:r>
              <a:rPr lang="en-US" sz="1250" dirty="0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() or similar brings the data into memory as an object.</a:t>
            </a:r>
            <a:endParaRPr lang="en-US" sz="1250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21C0EF5A-1546-EAA3-8B96-174F7BC8A982}"/>
              </a:ext>
            </a:extLst>
          </p:cNvPr>
          <p:cNvSpPr/>
          <p:nvPr/>
        </p:nvSpPr>
        <p:spPr>
          <a:xfrm>
            <a:off x="2054623" y="4390457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B040A474-B554-B98C-9EF2-CBB17DF7945D}"/>
              </a:ext>
            </a:extLst>
          </p:cNvPr>
          <p:cNvSpPr/>
          <p:nvPr/>
        </p:nvSpPr>
        <p:spPr>
          <a:xfrm>
            <a:off x="2054623" y="4390457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20F9FAE2-F9B5-8FB0-0041-1D96D32DF16B}"/>
              </a:ext>
            </a:extLst>
          </p:cNvPr>
          <p:cNvSpPr/>
          <p:nvPr/>
        </p:nvSpPr>
        <p:spPr>
          <a:xfrm>
            <a:off x="2676415" y="4280729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Apply a function</a:t>
            </a:r>
            <a:endParaRPr lang="en-US" sz="135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2928CD26-979E-DB87-0F85-0D60512A2F7D}"/>
              </a:ext>
            </a:extLst>
          </p:cNvPr>
          <p:cNvSpPr/>
          <p:nvPr/>
        </p:nvSpPr>
        <p:spPr>
          <a:xfrm>
            <a:off x="4282267" y="4280729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 library function transforms that object: SMA(), MACD(), RSI().</a:t>
            </a:r>
            <a:endParaRPr lang="en-US" sz="1250" dirty="0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D2EC6880-AF8A-5952-B51F-D7E225C4FC1B}"/>
              </a:ext>
            </a:extLst>
          </p:cNvPr>
          <p:cNvSpPr/>
          <p:nvPr/>
        </p:nvSpPr>
        <p:spPr>
          <a:xfrm>
            <a:off x="2054623" y="5657231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CB735604-9A50-69CC-DB67-0C6D6A917FCB}"/>
              </a:ext>
            </a:extLst>
          </p:cNvPr>
          <p:cNvSpPr/>
          <p:nvPr/>
        </p:nvSpPr>
        <p:spPr>
          <a:xfrm>
            <a:off x="2054623" y="5657231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156925CF-0D1E-0C82-BD37-B009BEEE2D1A}"/>
              </a:ext>
            </a:extLst>
          </p:cNvPr>
          <p:cNvSpPr/>
          <p:nvPr/>
        </p:nvSpPr>
        <p:spPr>
          <a:xfrm>
            <a:off x="2676415" y="5547503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Consume the result</a:t>
            </a:r>
            <a:endParaRPr lang="en-US" sz="1350" dirty="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0FD8E8C9-0DC4-FA72-B9A6-52B014C67D42}"/>
              </a:ext>
            </a:extLst>
          </p:cNvPr>
          <p:cNvSpPr/>
          <p:nvPr/>
        </p:nvSpPr>
        <p:spPr>
          <a:xfrm>
            <a:off x="4282267" y="5547503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Plot it, print it, or save it. This is the point of the whole script.</a:t>
            </a:r>
            <a:endParaRPr lang="en-US" sz="125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71A8D3F-72B2-F0EF-5B4A-3C5D8E1025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924" y="1024275"/>
            <a:ext cx="1201613" cy="93151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EF8A95B-B4A6-E92C-05EC-FBCE59C4841C}"/>
              </a:ext>
            </a:extLst>
          </p:cNvPr>
          <p:cNvGrpSpPr/>
          <p:nvPr/>
        </p:nvGrpSpPr>
        <p:grpSpPr>
          <a:xfrm>
            <a:off x="8484953" y="2098268"/>
            <a:ext cx="1321555" cy="1006531"/>
            <a:chOff x="919527" y="2384361"/>
            <a:chExt cx="1459728" cy="1071794"/>
          </a:xfrm>
        </p:grpSpPr>
        <p:pic>
          <p:nvPicPr>
            <p:cNvPr id="6" name="Picture 2" descr="Image result for hand white background">
              <a:extLst>
                <a:ext uri="{FF2B5EF4-FFF2-40B4-BE49-F238E27FC236}">
                  <a16:creationId xmlns:a16="http://schemas.microsoft.com/office/drawing/2014/main" id="{27D47FC4-C650-F30A-6AAD-C4398B6FDF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527" y="2449871"/>
              <a:ext cx="1091000" cy="9407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0" descr="http://cdn.xl.thumbs.canstockphoto.com/canstock14746167.jpg">
              <a:extLst>
                <a:ext uri="{FF2B5EF4-FFF2-40B4-BE49-F238E27FC236}">
                  <a16:creationId xmlns:a16="http://schemas.microsoft.com/office/drawing/2014/main" id="{6368DAFC-A61B-5248-97B1-40C2D696A2C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470" b="38097"/>
            <a:stretch/>
          </p:blipFill>
          <p:spPr bwMode="auto">
            <a:xfrm rot="5400000">
              <a:off x="1706921" y="2783821"/>
              <a:ext cx="1071794" cy="2728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6" name="Picture 6" descr="Image result for banana transparent background">
            <a:extLst>
              <a:ext uri="{FF2B5EF4-FFF2-40B4-BE49-F238E27FC236}">
                <a16:creationId xmlns:a16="http://schemas.microsoft.com/office/drawing/2014/main" id="{E0CB20F1-9845-26AF-B18D-E910DB3BC5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751" y="2950892"/>
            <a:ext cx="955958" cy="955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4EF0F28B-8B6F-CB7C-64AF-8C1A7A7C11C7}"/>
              </a:ext>
            </a:extLst>
          </p:cNvPr>
          <p:cNvGrpSpPr/>
          <p:nvPr/>
        </p:nvGrpSpPr>
        <p:grpSpPr>
          <a:xfrm>
            <a:off x="8580316" y="4753027"/>
            <a:ext cx="1130829" cy="605894"/>
            <a:chOff x="5001597" y="2799644"/>
            <a:chExt cx="2498122" cy="1373047"/>
          </a:xfrm>
        </p:grpSpPr>
        <p:pic>
          <p:nvPicPr>
            <p:cNvPr id="26" name="Picture 2" descr="Image result for half banana">
              <a:extLst>
                <a:ext uri="{FF2B5EF4-FFF2-40B4-BE49-F238E27FC236}">
                  <a16:creationId xmlns:a16="http://schemas.microsoft.com/office/drawing/2014/main" id="{5B40923C-A78C-18ED-ED69-36F323D19FF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065" b="28476"/>
            <a:stretch/>
          </p:blipFill>
          <p:spPr bwMode="auto">
            <a:xfrm rot="1615433" flipV="1">
              <a:off x="5001597" y="2799644"/>
              <a:ext cx="2381250" cy="11063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2" descr="Image result for hand white background">
              <a:extLst>
                <a:ext uri="{FF2B5EF4-FFF2-40B4-BE49-F238E27FC236}">
                  <a16:creationId xmlns:a16="http://schemas.microsoft.com/office/drawing/2014/main" id="{60BF1C9F-789E-1516-0A2A-51C3054CAD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27046" y="2816567"/>
              <a:ext cx="1572673" cy="13561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05EFF66-795A-7F56-AE20-CE98188CD119}"/>
              </a:ext>
            </a:extLst>
          </p:cNvPr>
          <p:cNvGrpSpPr/>
          <p:nvPr/>
        </p:nvGrpSpPr>
        <p:grpSpPr>
          <a:xfrm>
            <a:off x="8667013" y="4049333"/>
            <a:ext cx="957435" cy="741843"/>
            <a:chOff x="4262775" y="5030993"/>
            <a:chExt cx="1057538" cy="789944"/>
          </a:xfrm>
        </p:grpSpPr>
        <p:pic>
          <p:nvPicPr>
            <p:cNvPr id="33" name="Picture 2" descr="http://www.brainkandie.com/images/banana.png">
              <a:extLst>
                <a:ext uri="{FF2B5EF4-FFF2-40B4-BE49-F238E27FC236}">
                  <a16:creationId xmlns:a16="http://schemas.microsoft.com/office/drawing/2014/main" id="{82F2C2B2-642B-1B86-6927-A8F9EC5317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4262775" y="5030993"/>
              <a:ext cx="1057538" cy="6345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4" descr="http://cdn.xl.thumbs.canstockphoto.com/canstock14746167.jpg">
              <a:extLst>
                <a:ext uri="{FF2B5EF4-FFF2-40B4-BE49-F238E27FC236}">
                  <a16:creationId xmlns:a16="http://schemas.microsoft.com/office/drawing/2014/main" id="{564460B8-188C-2041-E91F-C871AFFD37A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470" b="38097"/>
            <a:stretch/>
          </p:blipFill>
          <p:spPr bwMode="auto">
            <a:xfrm rot="5400000">
              <a:off x="4757761" y="5371276"/>
              <a:ext cx="716823" cy="182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EC56FD4-36B5-DC15-CA26-F8623C7DAFB4}"/>
              </a:ext>
            </a:extLst>
          </p:cNvPr>
          <p:cNvGrpSpPr/>
          <p:nvPr/>
        </p:nvGrpSpPr>
        <p:grpSpPr>
          <a:xfrm>
            <a:off x="8560407" y="5582423"/>
            <a:ext cx="1170647" cy="551952"/>
            <a:chOff x="4884420" y="2092654"/>
            <a:chExt cx="3840480" cy="2250358"/>
          </a:xfrm>
        </p:grpSpPr>
        <p:pic>
          <p:nvPicPr>
            <p:cNvPr id="36" name="Picture 4" descr="http://sape.inf.usi.ch/sites/default/files/ggplot2-geom_blank-example.png">
              <a:extLst>
                <a:ext uri="{FF2B5EF4-FFF2-40B4-BE49-F238E27FC236}">
                  <a16:creationId xmlns:a16="http://schemas.microsoft.com/office/drawing/2014/main" id="{52392390-F04C-603E-3AD7-D61499CDC2B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06"/>
            <a:stretch/>
          </p:blipFill>
          <p:spPr bwMode="auto">
            <a:xfrm>
              <a:off x="4884420" y="2092654"/>
              <a:ext cx="3840480" cy="22503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Picture 2" descr="Image result for half banana">
              <a:extLst>
                <a:ext uri="{FF2B5EF4-FFF2-40B4-BE49-F238E27FC236}">
                  <a16:creationId xmlns:a16="http://schemas.microsoft.com/office/drawing/2014/main" id="{9FC1B100-85B8-C835-A76C-53C744B3C8A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065" b="28476"/>
            <a:stretch/>
          </p:blipFill>
          <p:spPr bwMode="auto">
            <a:xfrm rot="1615433" flipV="1">
              <a:off x="5469884" y="2498909"/>
              <a:ext cx="2787633" cy="12171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8" name="Harvard Footer"/>
          <p:cNvSpPr txBox="1"/>
          <p:nvPr/>
        </p:nvSpPr>
        <p:spPr>
          <a:xfrm>
            <a:off x="137319" y="649176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39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7958A1FC-64A5-4884-98E7-5C3513D5B3D9}" type="slidenum">
              <a:rPr lang="en-US" sz="1000">
                <a:solidFill>
                  <a:schemeClr val="accent5"/>
                </a:solidFill>
                <a:latin typeface="Arial"/>
              </a:rPr>
              <a:t>29</a:t>
            </a:fld>
            <a:endParaRPr lang="en-US" sz="1000">
              <a:solidFill>
                <a:schemeClr val="accent5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45258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51C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EEBC1E-855D-04DD-5999-235D86A90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15C8992-1767-42EF-CC17-24DA6AB48398}"/>
              </a:ext>
            </a:extLst>
          </p:cNvPr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9A6B2C">
              <a:alpha val="12000"/>
            </a:srgbClr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D41B2DA-14D9-DF16-0634-CBD6A159C84B}"/>
              </a:ext>
            </a:extLst>
          </p:cNvPr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solidFill>
            <a:srgbClr val="9A6B2C">
              <a:alpha val="12000"/>
            </a:srgbClr>
          </a:soli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669128C-21E1-407F-3D80-B3B0E9486A24}"/>
              </a:ext>
            </a:extLst>
          </p:cNvPr>
          <p:cNvSpPr/>
          <p:nvPr/>
        </p:nvSpPr>
        <p:spPr>
          <a:xfrm>
            <a:off x="640080" y="1325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Calibri" pitchFamily="34" charset="-122"/>
                <a:cs typeface="Calibri" pitchFamily="34" charset="-120"/>
              </a:rPr>
              <a:t>DAY 1  ·  8:00 TO 9:00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F0502020204030204"/>
              <a:ea typeface="+mn-ea"/>
              <a:cs typeface="+mn-cs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74EDC56-F8CB-327D-3564-AE36A003F8D1}"/>
              </a:ext>
            </a:extLst>
          </p:cNvPr>
          <p:cNvSpPr/>
          <p:nvPr/>
        </p:nvSpPr>
        <p:spPr>
          <a:xfrm>
            <a:off x="594360" y="173736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Cambria" pitchFamily="34" charset="-122"/>
                <a:cs typeface="Cambria" pitchFamily="34" charset="-120"/>
              </a:rPr>
              <a:t>Setup Review</a:t>
            </a:r>
            <a:endParaRPr kumimoji="0" lang="en-US" sz="4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F0502020204030204"/>
              <a:ea typeface="+mn-ea"/>
              <a:cs typeface="+mn-cs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C933C8E-D9B1-D968-6E09-06272D750756}"/>
              </a:ext>
            </a:extLst>
          </p:cNvPr>
          <p:cNvSpPr/>
          <p:nvPr/>
        </p:nvSpPr>
        <p:spPr>
          <a:xfrm>
            <a:off x="640080" y="370332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Calibri" pitchFamily="34" charset="-122"/>
                <a:cs typeface="Calibri" pitchFamily="34" charset="-120"/>
              </a:rPr>
              <a:t>Let’s confirm our toolchains are set up.  Ask for help if you’re not prepared.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F0502020204030204"/>
              <a:ea typeface="+mn-ea"/>
              <a:cs typeface="+mn-cs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3816A07-C179-703E-74B7-504BA50A017D}"/>
              </a:ext>
            </a:extLst>
          </p:cNvPr>
          <p:cNvSpPr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FA3C9"/>
                </a:solidFill>
                <a:effectLst/>
                <a:uLnTx/>
                <a:uFillTx/>
                <a:latin typeface="Arial" pitchFamily="34" charset="0"/>
                <a:ea typeface="Calibri" pitchFamily="34" charset="-122"/>
                <a:cs typeface="Calibri" pitchFamily="34" charset="-120"/>
              </a:rPr>
              <a:t>Generative AI in Finance   |   Executive MBA   |   Finance Masters + Data Science Masters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F0502020204030204"/>
              <a:ea typeface="+mn-ea"/>
              <a:cs typeface="+mn-cs"/>
            </a:endParaRPr>
          </a:p>
        </p:txBody>
      </p:sp>
      <p:sp>
        <p:nvSpPr>
          <p:cNvPr id="5" name="Harvard Footer">
            <a:extLst>
              <a:ext uri="{FF2B5EF4-FFF2-40B4-BE49-F238E27FC236}">
                <a16:creationId xmlns:a16="http://schemas.microsoft.com/office/drawing/2014/main" id="{9F47126B-D416-373E-0435-53070750C46B}"/>
              </a:ext>
            </a:extLst>
          </p:cNvPr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 dirty="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</p:spTree>
    <p:extLst>
      <p:ext uri="{BB962C8B-B14F-4D97-AF65-F5344CB8AC3E}">
        <p14:creationId xmlns:p14="http://schemas.microsoft.com/office/powerpoint/2010/main" val="38628332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C8B534-A280-8209-CC18-2E381D87C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77" y="2570332"/>
            <a:ext cx="7772400" cy="3279451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7561ADE6-AFBB-1846-92B8-01000B1DE0B9}"/>
              </a:ext>
            </a:extLst>
          </p:cNvPr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Install R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F93A55B-BD9F-BDB6-4F1B-955C19102DF8}"/>
              </a:ext>
            </a:extLst>
          </p:cNvPr>
          <p:cNvSpPr/>
          <p:nvPr/>
        </p:nvSpPr>
        <p:spPr>
          <a:xfrm>
            <a:off x="376034" y="777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Install the statistical engine for our technical trading rules.</a:t>
            </a:r>
            <a:endParaRPr lang="en-US" sz="13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C06B0B-EB2F-2B46-1981-8027EE7E48F4}"/>
              </a:ext>
            </a:extLst>
          </p:cNvPr>
          <p:cNvSpPr txBox="1"/>
          <p:nvPr/>
        </p:nvSpPr>
        <p:spPr>
          <a:xfrm>
            <a:off x="654977" y="1466674"/>
            <a:ext cx="60977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hlinkClick r:id="rId3"/>
              </a:rPr>
              <a:t>https://cran.r-project.org/</a:t>
            </a:r>
            <a:endParaRPr lang="en-US" sz="3200" dirty="0"/>
          </a:p>
        </p:txBody>
      </p:sp>
      <p:sp>
        <p:nvSpPr>
          <p:cNvPr id="7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8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026D2C31-B561-43ED-8745-336872947851}" type="slidenum">
              <a:rPr lang="en-US" sz="1000">
                <a:solidFill>
                  <a:schemeClr val="accent5"/>
                </a:solidFill>
                <a:latin typeface="Arial"/>
              </a:rPr>
              <a:t>31</a:t>
            </a:fld>
            <a:endParaRPr lang="en-US" sz="1000">
              <a:solidFill>
                <a:schemeClr val="accent5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98986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40939-2D01-3DDD-3DA8-C03EEB3B2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1615971E-F614-F051-F79F-B3CFC1F0C14C}"/>
              </a:ext>
            </a:extLst>
          </p:cNvPr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Install R-Studio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63ABABA-E2B3-8D3E-7217-0E83FEBF32F1}"/>
              </a:ext>
            </a:extLst>
          </p:cNvPr>
          <p:cNvSpPr/>
          <p:nvPr/>
        </p:nvSpPr>
        <p:spPr>
          <a:xfrm>
            <a:off x="376034" y="777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Install the IDE adding functionality to our software.</a:t>
            </a:r>
            <a:endParaRPr lang="en-US" sz="13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93A20E-A6B6-909B-CF5A-A661C27A1221}"/>
              </a:ext>
            </a:extLst>
          </p:cNvPr>
          <p:cNvSpPr txBox="1"/>
          <p:nvPr/>
        </p:nvSpPr>
        <p:spPr>
          <a:xfrm>
            <a:off x="654976" y="1466674"/>
            <a:ext cx="102972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hlinkClick r:id="rId2"/>
              </a:rPr>
              <a:t>https://docs.posit.co/ide/user/#rstudio-ide-oss-downloads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15FCBA-AC1D-B4C5-4541-F9E5C878E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76" y="2126431"/>
            <a:ext cx="7772400" cy="4207905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7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8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B215F416-6AF7-42B5-BE79-216B5F71969F}" type="slidenum">
              <a:rPr lang="en-US" sz="1000">
                <a:solidFill>
                  <a:schemeClr val="accent5"/>
                </a:solidFill>
                <a:latin typeface="Arial"/>
              </a:rPr>
              <a:t>32</a:t>
            </a:fld>
            <a:endParaRPr lang="en-US" sz="1000">
              <a:solidFill>
                <a:schemeClr val="accent5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762818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1C890-66E4-39F3-8384-390BD0C02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7D8590E-A94C-B3F9-81FA-D004498A124B}"/>
              </a:ext>
            </a:extLst>
          </p:cNvPr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Install Git for your operating system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C25FA7F-A385-3B47-6A39-61C40EC5D877}"/>
              </a:ext>
            </a:extLst>
          </p:cNvPr>
          <p:cNvSpPr/>
          <p:nvPr/>
        </p:nvSpPr>
        <p:spPr>
          <a:xfrm>
            <a:off x="376034" y="777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Git let’s you connect to the class repositories.</a:t>
            </a:r>
            <a:endParaRPr lang="en-US" sz="13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351711-1097-84E9-7F61-58B1F6740B15}"/>
              </a:ext>
            </a:extLst>
          </p:cNvPr>
          <p:cNvSpPr txBox="1"/>
          <p:nvPr/>
        </p:nvSpPr>
        <p:spPr>
          <a:xfrm>
            <a:off x="7431639" y="1788084"/>
            <a:ext cx="37569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linkClick r:id="rId2"/>
              </a:rPr>
              <a:t>https://brew.sh/</a:t>
            </a:r>
            <a:endParaRPr lang="en-US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F984E2-B19D-53A3-B483-398851544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1639" y="2235289"/>
            <a:ext cx="3886201" cy="21658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57CAC3-B1F5-6FEA-69EF-0AA1B3471B5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7011"/>
          <a:stretch>
            <a:fillRect/>
          </a:stretch>
        </p:blipFill>
        <p:spPr>
          <a:xfrm>
            <a:off x="7431639" y="4968611"/>
            <a:ext cx="4043737" cy="17506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7E3653-1B11-A238-33A9-955A61B6708B}"/>
              </a:ext>
            </a:extLst>
          </p:cNvPr>
          <p:cNvSpPr txBox="1"/>
          <p:nvPr/>
        </p:nvSpPr>
        <p:spPr>
          <a:xfrm>
            <a:off x="7347732" y="4535866"/>
            <a:ext cx="41276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linkClick r:id="rId5"/>
              </a:rPr>
              <a:t>https://git-scm.com/install/mac</a:t>
            </a:r>
            <a:endParaRPr lang="en-US" sz="2400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2644D4D9-82F9-BA3B-B795-9503DC4F1099}"/>
              </a:ext>
            </a:extLst>
          </p:cNvPr>
          <p:cNvSpPr/>
          <p:nvPr/>
        </p:nvSpPr>
        <p:spPr>
          <a:xfrm>
            <a:off x="7347732" y="1257732"/>
            <a:ext cx="36670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MAC</a:t>
            </a:r>
            <a:endParaRPr lang="en-US" sz="2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FA303B-C851-B155-8397-162127D1B2BF}"/>
              </a:ext>
            </a:extLst>
          </p:cNvPr>
          <p:cNvSpPr txBox="1"/>
          <p:nvPr/>
        </p:nvSpPr>
        <p:spPr>
          <a:xfrm>
            <a:off x="376034" y="2018916"/>
            <a:ext cx="6097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linkClick r:id="rId6"/>
              </a:rPr>
              <a:t>https://git-scm.com/install/windows</a:t>
            </a:r>
            <a:endParaRPr lang="en-US" sz="240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4A051192-4DE6-633B-36CC-47B1EE4BD9BB}"/>
              </a:ext>
            </a:extLst>
          </p:cNvPr>
          <p:cNvSpPr/>
          <p:nvPr/>
        </p:nvSpPr>
        <p:spPr>
          <a:xfrm>
            <a:off x="376034" y="1307592"/>
            <a:ext cx="36670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Windows</a:t>
            </a:r>
            <a:endParaRPr lang="en-US" sz="2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DC2F6F9-39C3-A5D9-FBDA-E1C1CC8487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6034" y="2950693"/>
            <a:ext cx="5595124" cy="2853454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7C5BE94-A98D-F3DC-16BE-A170952CD12B}"/>
              </a:ext>
            </a:extLst>
          </p:cNvPr>
          <p:cNvCxnSpPr/>
          <p:nvPr/>
        </p:nvCxnSpPr>
        <p:spPr>
          <a:xfrm>
            <a:off x="6473746" y="2018916"/>
            <a:ext cx="0" cy="442298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7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D79D3EDB-44E0-4D08-86F6-3D023D9EB111}" type="slidenum">
              <a:rPr lang="en-US" sz="1000">
                <a:solidFill>
                  <a:schemeClr val="accent5"/>
                </a:solidFill>
                <a:latin typeface="Arial"/>
              </a:rPr>
              <a:t>33</a:t>
            </a:fld>
            <a:endParaRPr lang="en-US" sz="1000">
              <a:solidFill>
                <a:schemeClr val="accent5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73967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87CB572D-8E67-C60D-C2AB-EB99C6A23755}"/>
              </a:ext>
            </a:extLst>
          </p:cNvPr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Install </a:t>
            </a:r>
            <a:r>
              <a:rPr lang="en-US" sz="2600" b="1" dirty="0" err="1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nodeJS</a:t>
            </a: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 [which includes NPM]</a:t>
            </a:r>
            <a:endParaRPr lang="en-US" sz="2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417410B-64BA-0ACB-85E0-A70646A70C00}"/>
              </a:ext>
            </a:extLst>
          </p:cNvPr>
          <p:cNvSpPr/>
          <p:nvPr/>
        </p:nvSpPr>
        <p:spPr>
          <a:xfrm>
            <a:off x="7316910" y="1159374"/>
            <a:ext cx="36670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MAC</a:t>
            </a:r>
            <a:endParaRPr lang="en-US" sz="26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2325BF6-7EB0-4520-7D3D-7832F52B3BCE}"/>
              </a:ext>
            </a:extLst>
          </p:cNvPr>
          <p:cNvSpPr/>
          <p:nvPr/>
        </p:nvSpPr>
        <p:spPr>
          <a:xfrm>
            <a:off x="345212" y="1159374"/>
            <a:ext cx="36670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Windows</a:t>
            </a:r>
            <a:endParaRPr lang="en-US" sz="26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2CE60F7-CEBF-7097-CA5F-D99DBAE81014}"/>
              </a:ext>
            </a:extLst>
          </p:cNvPr>
          <p:cNvCxnSpPr/>
          <p:nvPr/>
        </p:nvCxnSpPr>
        <p:spPr>
          <a:xfrm>
            <a:off x="6473746" y="1946998"/>
            <a:ext cx="0" cy="442298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FD7B9305-FA02-9A1D-D8BB-CBDB703C8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8133" y="1946998"/>
            <a:ext cx="5088061" cy="25660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9069606-55EC-F9B4-9AE5-2FF4D22CDE4B}"/>
              </a:ext>
            </a:extLst>
          </p:cNvPr>
          <p:cNvSpPr txBox="1"/>
          <p:nvPr/>
        </p:nvSpPr>
        <p:spPr>
          <a:xfrm>
            <a:off x="376034" y="684100"/>
            <a:ext cx="50880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linkClick r:id="rId3"/>
              </a:rPr>
              <a:t>https://nodejs.org/en/download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CA6A06-52AF-37E8-2201-64E4E841576B}"/>
              </a:ext>
            </a:extLst>
          </p:cNvPr>
          <p:cNvSpPr txBox="1"/>
          <p:nvPr/>
        </p:nvSpPr>
        <p:spPr>
          <a:xfrm>
            <a:off x="6750121" y="5429808"/>
            <a:ext cx="51482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1. Select node “LTS” [long-term-support], mac, &amp; brew.</a:t>
            </a:r>
            <a:br>
              <a:rPr lang="en-US" sz="1600" dirty="0"/>
            </a:br>
            <a:r>
              <a:rPr lang="en-US" sz="1600" dirty="0"/>
              <a:t>2. Get the brew command &amp; install it.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7BCD635-5D00-A489-F7EC-ED8C2D227B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517" y="1687344"/>
            <a:ext cx="5874848" cy="35884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A0B4352-B136-D48E-F82A-EBEB07EA1504}"/>
              </a:ext>
            </a:extLst>
          </p:cNvPr>
          <p:cNvSpPr txBox="1"/>
          <p:nvPr/>
        </p:nvSpPr>
        <p:spPr>
          <a:xfrm>
            <a:off x="237847" y="5414420"/>
            <a:ext cx="609771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1. Check: Settings → System → About → "System type”.   If it says "ARM-based processor," grab the ARM64 .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msi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 instead of x64.</a:t>
            </a:r>
            <a:endParaRPr lang="en-US" sz="1400" b="0" i="0" dirty="0">
              <a:solidFill>
                <a:srgbClr val="0A0A0A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D</a:t>
            </a:r>
            <a:r>
              <a:rPr lang="en-US" sz="1400" b="0" i="0" dirty="0"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ownload and run the appropriate Windows Installer (.</a:t>
            </a:r>
            <a:r>
              <a:rPr lang="en-US" sz="1400" b="0" i="0" dirty="0" err="1"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msi</a:t>
            </a:r>
            <a:r>
              <a:rPr lang="en-US" sz="1400" b="0" i="0" dirty="0">
                <a:solidFill>
                  <a:srgbClr val="0A0A0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), specifically node-v24.18.0-x64.msi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BA8CF2-3307-0F8B-C392-F80E6CAB302B}"/>
              </a:ext>
            </a:extLst>
          </p:cNvPr>
          <p:cNvSpPr/>
          <p:nvPr/>
        </p:nvSpPr>
        <p:spPr>
          <a:xfrm>
            <a:off x="248121" y="4931596"/>
            <a:ext cx="1385470" cy="46227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4F0F0A9-BD8C-CECB-1865-1095A7480285}"/>
              </a:ext>
            </a:extLst>
          </p:cNvPr>
          <p:cNvSpPr/>
          <p:nvPr/>
        </p:nvSpPr>
        <p:spPr>
          <a:xfrm>
            <a:off x="8027687" y="2464974"/>
            <a:ext cx="2956238" cy="46227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599242DF-92C6-4E8A-AB5A-49F21AAA7A2A}" type="slidenum">
              <a:rPr lang="en-US" sz="1000">
                <a:solidFill>
                  <a:schemeClr val="accent5"/>
                </a:solidFill>
                <a:latin typeface="Arial"/>
              </a:rPr>
              <a:t>34</a:t>
            </a:fld>
            <a:endParaRPr lang="en-US" sz="1000" dirty="0">
              <a:solidFill>
                <a:schemeClr val="accent5"/>
              </a:solidFill>
              <a:latin typeface="Arial"/>
            </a:endParaRPr>
          </a:p>
        </p:txBody>
      </p:sp>
      <p:sp>
        <p:nvSpPr>
          <p:cNvPr id="7" name="Harvard Footer">
            <a:extLst>
              <a:ext uri="{FF2B5EF4-FFF2-40B4-BE49-F238E27FC236}">
                <a16:creationId xmlns:a16="http://schemas.microsoft.com/office/drawing/2014/main" id="{DF6DA4B6-086A-00A2-6C6B-3891EB71900A}"/>
              </a:ext>
            </a:extLst>
          </p:cNvPr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 dirty="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</p:spTree>
    <p:extLst>
      <p:ext uri="{BB962C8B-B14F-4D97-AF65-F5344CB8AC3E}">
        <p14:creationId xmlns:p14="http://schemas.microsoft.com/office/powerpoint/2010/main" val="33515269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143" y="457200"/>
            <a:ext cx="110241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software installed, now we use git to get our class material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981200" y="1508760"/>
            <a:ext cx="548640" cy="548640"/>
          </a:xfrm>
          <a:prstGeom prst="ellipse">
            <a:avLst/>
          </a:prstGeom>
          <a:solidFill>
            <a:srgbClr val="A51C30"/>
          </a:solidFill>
          <a:ln/>
        </p:spPr>
      </p:sp>
      <p:sp>
        <p:nvSpPr>
          <p:cNvPr id="4" name="Text 2"/>
          <p:cNvSpPr/>
          <p:nvPr/>
        </p:nvSpPr>
        <p:spPr>
          <a:xfrm>
            <a:off x="19812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804160" y="14173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Template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804160" y="18288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your own copy of the course repo on GitHub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981200" y="2560320"/>
            <a:ext cx="548640" cy="548640"/>
          </a:xfrm>
          <a:prstGeom prst="ellipse">
            <a:avLst/>
          </a:prstGeom>
          <a:solidFill>
            <a:srgbClr val="A51C30"/>
          </a:solidFill>
          <a:ln/>
        </p:spPr>
      </p:sp>
      <p:sp>
        <p:nvSpPr>
          <p:cNvPr id="8" name="Text 6"/>
          <p:cNvSpPr/>
          <p:nvPr/>
        </p:nvSpPr>
        <p:spPr>
          <a:xfrm>
            <a:off x="198120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804160" y="24688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into RStudio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804160" y="28803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it as a Version Control project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981200" y="3611880"/>
            <a:ext cx="548640" cy="548640"/>
          </a:xfrm>
          <a:prstGeom prst="ellipse">
            <a:avLst/>
          </a:prstGeom>
          <a:solidFill>
            <a:srgbClr val="A51C30"/>
          </a:solidFill>
          <a:ln/>
        </p:spPr>
      </p:sp>
      <p:sp>
        <p:nvSpPr>
          <p:cNvPr id="12" name="Text 10"/>
          <p:cNvSpPr/>
          <p:nvPr/>
        </p:nvSpPr>
        <p:spPr>
          <a:xfrm>
            <a:off x="198120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804160" y="35204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Your Setup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804160" y="39319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git, node, and npm all work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981200" y="4663440"/>
            <a:ext cx="548640" cy="548640"/>
          </a:xfrm>
          <a:prstGeom prst="ellipse">
            <a:avLst/>
          </a:prstGeom>
          <a:solidFill>
            <a:srgbClr val="A51C30"/>
          </a:solidFill>
          <a:ln/>
        </p:spPr>
      </p:sp>
      <p:sp>
        <p:nvSpPr>
          <p:cNvPr id="16" name="Text 14"/>
          <p:cNvSpPr/>
          <p:nvPr/>
        </p:nvSpPr>
        <p:spPr>
          <a:xfrm>
            <a:off x="198120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804160" y="45720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Sign-Up &amp; Add Your API Keys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804160" y="49834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keys safely, never commit them</a:t>
            </a:r>
            <a:endParaRPr lang="en-US" sz="1300" dirty="0"/>
          </a:p>
        </p:txBody>
      </p:sp>
      <p:sp>
        <p:nvSpPr>
          <p:cNvPr id="19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0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F14C84DE-0EC1-43D2-902A-51E90926CB8B}" type="slidenum">
              <a:rPr lang="en-US" sz="1000">
                <a:solidFill>
                  <a:schemeClr val="accent5"/>
                </a:solidFill>
                <a:latin typeface="Arial"/>
              </a:rPr>
              <a:t>35</a:t>
            </a:fld>
            <a:endParaRPr lang="en-US" sz="1000" dirty="0">
              <a:solidFill>
                <a:schemeClr val="accent5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6787" y="457200"/>
            <a:ext cx="502920" cy="502920"/>
          </a:xfrm>
          <a:prstGeom prst="ellipse">
            <a:avLst/>
          </a:prstGeom>
          <a:solidFill>
            <a:srgbClr val="A51C30"/>
          </a:solidFill>
          <a:ln/>
        </p:spPr>
      </p:sp>
      <p:sp>
        <p:nvSpPr>
          <p:cNvPr id="3" name="Text 1"/>
          <p:cNvSpPr/>
          <p:nvPr/>
        </p:nvSpPr>
        <p:spPr>
          <a:xfrm>
            <a:off x="316787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02587" y="457200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Template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16787" y="1733630"/>
            <a:ext cx="4480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</a:t>
            </a: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www.github.com/kwartler/vienna-genai-finance-course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green “Use this template” button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“Create a new repository”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it genai-finance-[yourname] and click Create repository</a:t>
            </a:r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cs typeface="Arial" pitchFamily="34" charset="-120"/>
              </a:rPr>
              <a:t>Add a description</a:t>
            </a:r>
            <a:endParaRPr lang="en-US" sz="15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D4DDA8-867A-C131-4A82-364F9C3C07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136" y="1055536"/>
            <a:ext cx="6920501" cy="3507177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B061724-7146-5130-455D-281D1C7739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9589" y="3424789"/>
            <a:ext cx="4482911" cy="3183954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FD27E91-1E2B-5446-019D-A7D5DC2008CD}"/>
              </a:ext>
            </a:extLst>
          </p:cNvPr>
          <p:cNvSpPr/>
          <p:nvPr/>
        </p:nvSpPr>
        <p:spPr>
          <a:xfrm>
            <a:off x="11137186" y="1450500"/>
            <a:ext cx="955497" cy="46227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D982A54-F042-E6ED-2309-9942671B6BCE}"/>
              </a:ext>
            </a:extLst>
          </p:cNvPr>
          <p:cNvCxnSpPr>
            <a:cxnSpLocks/>
            <a:stCxn id="12" idx="2"/>
            <a:endCxn id="11" idx="0"/>
          </p:cNvCxnSpPr>
          <p:nvPr/>
        </p:nvCxnSpPr>
        <p:spPr>
          <a:xfrm flipH="1">
            <a:off x="9251045" y="1912776"/>
            <a:ext cx="2363890" cy="151201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6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49499B9E-5510-4B38-B31F-2AB1CBC15A5C}" type="slidenum">
              <a:rPr lang="en-US" sz="1000">
                <a:solidFill>
                  <a:srgbClr val="1E1E1E"/>
                </a:solidFill>
                <a:latin typeface="Arial"/>
              </a:rPr>
              <a:t>36</a:t>
            </a:fld>
            <a:endParaRPr lang="en-US" sz="1000">
              <a:solidFill>
                <a:srgbClr val="1E1E1E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6720" y="480537"/>
            <a:ext cx="502920" cy="502920"/>
          </a:xfrm>
          <a:prstGeom prst="ellipse">
            <a:avLst/>
          </a:prstGeom>
          <a:solidFill>
            <a:srgbClr val="A51C30"/>
          </a:solidFill>
          <a:ln/>
        </p:spPr>
      </p:sp>
      <p:sp>
        <p:nvSpPr>
          <p:cNvPr id="3" name="Text 1"/>
          <p:cNvSpPr/>
          <p:nvPr/>
        </p:nvSpPr>
        <p:spPr>
          <a:xfrm>
            <a:off x="426720" y="48053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12520" y="480537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your template repo with RStudio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26720" y="1691640"/>
            <a:ext cx="4480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green Code button on your new repo, copy the HTTPS URL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RStudio: File → New Project → Version Control → Git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your repo URL, choose a folder, click Create Project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RStudio clones the repo and sets your working directory automatically</a:t>
            </a:r>
            <a:endParaRPr lang="en-US" sz="15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9B8DBD-C2F1-D83B-CAF7-E4AAD6626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434" y="1822760"/>
            <a:ext cx="4830396" cy="2447952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D9BB314-FEA4-464D-243E-0B204A92B2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353" t="23827" r="30745" b="35988"/>
          <a:stretch>
            <a:fillRect/>
          </a:stretch>
        </p:blipFill>
        <p:spPr>
          <a:xfrm>
            <a:off x="7610838" y="3214270"/>
            <a:ext cx="2090964" cy="19520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6CB0ABF-9B8D-C995-8EB2-43D8E2865E99}"/>
              </a:ext>
            </a:extLst>
          </p:cNvPr>
          <p:cNvSpPr/>
          <p:nvPr/>
        </p:nvSpPr>
        <p:spPr>
          <a:xfrm>
            <a:off x="9895299" y="2366395"/>
            <a:ext cx="544530" cy="26712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84C7B9-3260-0225-7D2A-4647E2652182}"/>
              </a:ext>
            </a:extLst>
          </p:cNvPr>
          <p:cNvSpPr/>
          <p:nvPr/>
        </p:nvSpPr>
        <p:spPr>
          <a:xfrm>
            <a:off x="7770260" y="4056751"/>
            <a:ext cx="1787704" cy="26712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4A1882A-9AA3-7533-52D2-BE5B998CDF43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8633290" y="2633523"/>
            <a:ext cx="1534274" cy="142322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1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85A21231-2AE3-4D43-BD91-B6D93BC2F8FE}" type="slidenum">
              <a:rPr lang="en-US" sz="1000">
                <a:solidFill>
                  <a:schemeClr val="accent5"/>
                </a:solidFill>
                <a:latin typeface="Arial"/>
              </a:rPr>
              <a:t>37</a:t>
            </a:fld>
            <a:endParaRPr lang="en-US" sz="1000">
              <a:solidFill>
                <a:schemeClr val="accent5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D28E5-7F82-D7C0-BE32-F4EEADC27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951C084-C73A-C5A8-1AC8-EF2C660FAFA8}"/>
              </a:ext>
            </a:extLst>
          </p:cNvPr>
          <p:cNvSpPr/>
          <p:nvPr/>
        </p:nvSpPr>
        <p:spPr>
          <a:xfrm>
            <a:off x="426720" y="480537"/>
            <a:ext cx="502920" cy="502920"/>
          </a:xfrm>
          <a:prstGeom prst="ellipse">
            <a:avLst/>
          </a:prstGeom>
          <a:solidFill>
            <a:srgbClr val="A51C30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877386A-7611-B74A-A62A-14244CD054FD}"/>
              </a:ext>
            </a:extLst>
          </p:cNvPr>
          <p:cNvSpPr/>
          <p:nvPr/>
        </p:nvSpPr>
        <p:spPr>
          <a:xfrm>
            <a:off x="426720" y="48053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06A946F-43BD-32E4-AEEB-0073E6FE0E89}"/>
              </a:ext>
            </a:extLst>
          </p:cNvPr>
          <p:cNvSpPr/>
          <p:nvPr/>
        </p:nvSpPr>
        <p:spPr>
          <a:xfrm>
            <a:off x="1112520" y="480537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your template repo with RStudio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2F620CD-610A-59D4-1E39-461543012FD7}"/>
              </a:ext>
            </a:extLst>
          </p:cNvPr>
          <p:cNvSpPr/>
          <p:nvPr/>
        </p:nvSpPr>
        <p:spPr>
          <a:xfrm>
            <a:off x="426720" y="1691640"/>
            <a:ext cx="4480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green Code button on your new repo, copy the HTTPS URL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RStudio: File → New Project → Version Control → Git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your repo URL, choose a folder, click Create Project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RStudio clones the repo and sets your working directory automatically</a:t>
            </a:r>
            <a:endParaRPr lang="en-US" sz="15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3100905-B99E-F23E-77A6-4E672DB53348}"/>
              </a:ext>
            </a:extLst>
          </p:cNvPr>
          <p:cNvGrpSpPr/>
          <p:nvPr/>
        </p:nvGrpSpPr>
        <p:grpSpPr>
          <a:xfrm>
            <a:off x="8322420" y="373465"/>
            <a:ext cx="2832533" cy="2046906"/>
            <a:chOff x="8024469" y="983457"/>
            <a:chExt cx="2832533" cy="204690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69CBABD-09D9-44B0-AF28-DEBF8260EE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24469" y="983457"/>
              <a:ext cx="2832533" cy="2046906"/>
            </a:xfrm>
            <a:prstGeom prst="rect">
              <a:avLst/>
            </a:prstGeom>
            <a:ln w="38100">
              <a:solidFill>
                <a:srgbClr val="C00000"/>
              </a:solidFill>
            </a:ln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6EE40E7-8588-392F-7416-091D0E2B352D}"/>
                </a:ext>
              </a:extLst>
            </p:cNvPr>
            <p:cNvSpPr/>
            <p:nvPr/>
          </p:nvSpPr>
          <p:spPr>
            <a:xfrm>
              <a:off x="8055291" y="2323804"/>
              <a:ext cx="2085302" cy="462276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0AF4CEB-0A8B-BADA-7F87-21FFD4593B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421" t="31441" r="33498" b="50000"/>
          <a:stretch>
            <a:fillRect/>
          </a:stretch>
        </p:blipFill>
        <p:spPr>
          <a:xfrm>
            <a:off x="8322420" y="2813192"/>
            <a:ext cx="2571184" cy="901557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5EBA59-5807-867C-6172-AD9DAFF4B1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0812" y="3880538"/>
            <a:ext cx="3454400" cy="2527300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  <p:sp>
        <p:nvSpPr>
          <p:cNvPr id="15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6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48D62510-02A7-492F-B00D-9056BA79FA45}" type="slidenum">
              <a:rPr lang="en-US" sz="1000">
                <a:solidFill>
                  <a:schemeClr val="accent5"/>
                </a:solidFill>
                <a:latin typeface="Arial"/>
              </a:rPr>
              <a:t>38</a:t>
            </a:fld>
            <a:endParaRPr lang="en-US" sz="1000" dirty="0">
              <a:solidFill>
                <a:schemeClr val="accent5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955160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0630" y="792179"/>
            <a:ext cx="502920" cy="502920"/>
          </a:xfrm>
          <a:prstGeom prst="ellipse">
            <a:avLst/>
          </a:prstGeom>
          <a:solidFill>
            <a:srgbClr val="A51C30"/>
          </a:solidFill>
          <a:ln/>
        </p:spPr>
      </p:sp>
      <p:sp>
        <p:nvSpPr>
          <p:cNvPr id="3" name="Text 1"/>
          <p:cNvSpPr/>
          <p:nvPr/>
        </p:nvSpPr>
        <p:spPr>
          <a:xfrm>
            <a:off x="360630" y="79217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46430" y="792179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Your Setup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0630" y="1752299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Terminal tab (not Console) in RStudio and run: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0630" y="2255219"/>
            <a:ext cx="4480560" cy="1188720"/>
          </a:xfrm>
          <a:prstGeom prst="rect">
            <a:avLst/>
          </a:prstGeom>
          <a:solidFill>
            <a:srgbClr val="293352"/>
          </a:solidFill>
          <a:ln/>
        </p:spPr>
      </p:sp>
      <p:sp>
        <p:nvSpPr>
          <p:cNvPr id="7" name="Text 5"/>
          <p:cNvSpPr/>
          <p:nvPr/>
        </p:nvSpPr>
        <p:spPr>
          <a:xfrm>
            <a:off x="589230" y="2392379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Courier New" pitchFamily="34" charset="-122"/>
                <a:cs typeface="Courier New" pitchFamily="34" charset="-120"/>
              </a:rPr>
              <a:t>git --version
</a:t>
            </a:r>
            <a:endParaRPr lang="en-US" sz="1400" dirty="0"/>
          </a:p>
          <a:p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Courier New" pitchFamily="34" charset="-122"/>
                <a:cs typeface="Courier New" pitchFamily="34" charset="-120"/>
              </a:rPr>
              <a:t>node --version
</a:t>
            </a:r>
            <a:endParaRPr lang="en-US" sz="1400" dirty="0"/>
          </a:p>
          <a:p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Courier New" pitchFamily="34" charset="-122"/>
                <a:cs typeface="Courier New" pitchFamily="34" charset="-120"/>
              </a:rPr>
              <a:t>npm --version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0630" y="3626819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should return version numbers. If any fail, flag an instructor! </a:t>
            </a:r>
            <a:endParaRPr lang="en-US" sz="13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FABF3CC-6479-6B25-ABE0-D043BD7C5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8728" y="1893413"/>
            <a:ext cx="5862642" cy="567546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EA64013-D665-19D9-A4A8-F23B01278A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8728" y="3099043"/>
            <a:ext cx="5862641" cy="567546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728AA5B-D8DB-B12A-F06E-35C19976CC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8730" y="4236529"/>
            <a:ext cx="5862640" cy="567546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  <p:sp>
        <p:nvSpPr>
          <p:cNvPr id="16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7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3B7E9F95-B7B4-4A9A-9DC4-E17D816DD59B}" type="slidenum">
              <a:rPr lang="en-US" sz="1000">
                <a:solidFill>
                  <a:schemeClr val="accent5"/>
                </a:solidFill>
                <a:latin typeface="Arial"/>
              </a:rPr>
              <a:t>39</a:t>
            </a:fld>
            <a:endParaRPr lang="en-US" sz="1000">
              <a:solidFill>
                <a:schemeClr val="accent5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92097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If something is not working yet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92097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Completely normal. This is what the rest of this hour is for.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85800" y="1600200"/>
            <a:ext cx="365760" cy="365760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88720" y="155448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Read the actual error message before asking for help. It usually says exactly what is wrong.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85800" y="2377440"/>
            <a:ext cx="365760" cy="365760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88720" y="233172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Ask your AI assistant to explain the error in plain language, the same habit you will use all week.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" y="3154680"/>
            <a:ext cx="365760" cy="365760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88720" y="310896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Raise your hand. An instructor will come to you.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85800" y="3931920"/>
            <a:ext cx="365760" cy="365760"/>
          </a:xfrm>
          <a:prstGeom prst="ellipse">
            <a:avLst/>
          </a:prstGeom>
          <a:solidFill>
            <a:srgbClr val="F1EEE3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88720" y="388620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If a tool truly will not install in time, pair with a neighbor until the next break. We can try to help at the break.  We will not let a setup issue stop your learning.  </a:t>
            </a: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However, we cannot overcome your administrative rights on your computer i.e. if your work computer does not let you install anything.  This is why the effort was assigned </a:t>
            </a:r>
            <a:r>
              <a:rPr lang="en-US" sz="1400" i="1" dirty="0">
                <a:solidFill>
                  <a:srgbClr val="FF0000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prior</a:t>
            </a:r>
            <a:r>
              <a:rPr lang="en-US" sz="1400" dirty="0">
                <a:solidFill>
                  <a:srgbClr val="FF0000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 to the module.   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8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9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11D37DE2-C1AB-4AD5-BF5A-5F309AAE682D}" type="slidenum">
              <a:rPr lang="en-US" sz="1000">
                <a:solidFill>
                  <a:schemeClr val="accent5"/>
                </a:solidFill>
                <a:latin typeface="Arial"/>
              </a:rPr>
              <a:t>40</a:t>
            </a:fld>
            <a:endParaRPr lang="en-US" sz="1000" dirty="0">
              <a:solidFill>
                <a:schemeClr val="accent5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4416" y="430040"/>
            <a:ext cx="502920" cy="502920"/>
          </a:xfrm>
          <a:prstGeom prst="ellipse">
            <a:avLst/>
          </a:prstGeom>
          <a:solidFill>
            <a:srgbClr val="A51C30"/>
          </a:solidFill>
          <a:ln/>
        </p:spPr>
      </p:sp>
      <p:sp>
        <p:nvSpPr>
          <p:cNvPr id="3" name="Text 1"/>
          <p:cNvSpPr/>
          <p:nvPr/>
        </p:nvSpPr>
        <p:spPr>
          <a:xfrm>
            <a:off x="324416" y="43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10216" y="430040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Sign-Up &amp; Add Your API Keys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4416" y="1389707"/>
            <a:ext cx="508955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 at </a:t>
            </a:r>
          </a:p>
          <a:p>
            <a:pPr marL="685800" lvl="1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www.newsapi.org</a:t>
            </a:r>
            <a:endParaRPr lang="en-US" sz="1500" dirty="0">
              <a:solidFill>
                <a:srgbClr val="1E1E1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685800" lvl="1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/>
              </a:rPr>
              <a:t>https://site.financialmodelingprep.com/</a:t>
            </a:r>
            <a:endParaRPr lang="en-US" sz="1500" dirty="0">
              <a:solidFill>
                <a:srgbClr val="1E1E1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685800" lvl="1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/>
              </a:rPr>
              <a:t>https://aistudio.google.com/prompts/new_chat</a:t>
            </a:r>
            <a:endParaRPr lang="en-US" sz="1500" dirty="0">
              <a:solidFill>
                <a:srgbClr val="1E1E1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Obtain API Keys for each site</a:t>
            </a:r>
          </a:p>
          <a:p>
            <a:pPr marL="685800" lvl="1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/>
              </a:rPr>
              <a:t>https://newsapi.org/account</a:t>
            </a:r>
            <a:endParaRPr lang="en-US" sz="1500" dirty="0">
              <a:solidFill>
                <a:srgbClr val="1E1E1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685800" lvl="1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/>
              </a:rPr>
              <a:t>https://site.financialmodelingprep.com/developer/docs/dashboard?tab=apiDetails</a:t>
            </a:r>
            <a:endParaRPr lang="en-US" sz="1500" dirty="0">
              <a:solidFill>
                <a:srgbClr val="1E1E1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685800" lvl="1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/>
              </a:rPr>
              <a:t>https://aistudio.google.com/app/api-keys</a:t>
            </a:r>
            <a:endParaRPr lang="en-US" sz="1500" dirty="0">
              <a:solidFill>
                <a:srgbClr val="1E1E1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keys.example.md in the repo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its instructions for where to store each key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b="1" u="sng" dirty="0">
                <a:solidFill>
                  <a:srgbClr val="FF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Never paste real API keys into R scripts</a:t>
            </a:r>
            <a:endParaRPr lang="en-US" sz="1500" b="1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b="1" u="sng" dirty="0">
                <a:solidFill>
                  <a:srgbClr val="FF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Never commit real keys to GitHub</a:t>
            </a:r>
            <a:endParaRPr lang="en-US" sz="1500" b="1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7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7CA0B7C3-FAAD-4F61-981A-51C93F1D7C22}" type="slidenum">
              <a:rPr lang="en-US" sz="1000">
                <a:solidFill>
                  <a:schemeClr val="accent5"/>
                </a:solidFill>
                <a:latin typeface="Arial"/>
              </a:rPr>
              <a:t>41</a:t>
            </a:fld>
            <a:endParaRPr lang="en-US" sz="1000">
              <a:solidFill>
                <a:schemeClr val="accent5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1EEE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7" y="523037"/>
            <a:ext cx="416966" cy="4169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Checklist: confirm your tools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8016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From the pre module setup. Work through this now, before we move on.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9A6B2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1560" y="161848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RStudio Desktop and R 4.x installed and opening without error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24028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9A6B2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221284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Node.js (LTS) installed: check by running node -v in a terminal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83464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9A6B2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28072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Git installed, a GitHub account created, templated version </a:t>
            </a:r>
            <a:r>
              <a:rPr lang="en-US" sz="1400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of class repo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42900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9A6B2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51560" y="340156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 saved API key from newsapi.org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402336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9A6B2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51560" y="399592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 saved API key from financialmodelingprep.com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461772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9A6B2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51560" y="459028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 saved Gemini API key from Google AI Studio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6B2C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Missing something? Raise your hand now. This is exactly what this hour is for.</a:t>
            </a:r>
            <a:endParaRPr lang="en-US" sz="13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1224FB8-9157-C1AF-A756-F990AA50F6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4757" y="1497767"/>
            <a:ext cx="5417820" cy="3611880"/>
          </a:xfrm>
          <a:prstGeom prst="rect">
            <a:avLst/>
          </a:prstGeom>
        </p:spPr>
      </p:pic>
      <p:sp>
        <p:nvSpPr>
          <p:cNvPr id="20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 dirty="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1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chemeClr val="accent5"/>
                </a:solidFill>
              </a:rPr>
              <a:t>42</a:t>
            </a:r>
            <a:endParaRPr lang="en-US" sz="1000" dirty="0">
              <a:solidFill>
                <a:schemeClr val="accent5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48640" y="47548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A quick orientation to OpenRouter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OpenRouter is a single API that can reach many different AI models. Instead of separate accounts for every model provider, one key and one endpoint reaches whichever model you name in the request.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8640" y="228600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2487168"/>
            <a:ext cx="457200" cy="457200"/>
          </a:xfrm>
          <a:prstGeom prst="ellipse">
            <a:avLst/>
          </a:prstGeom>
          <a:solidFill>
            <a:srgbClr val="9A6B2C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542032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9A6B2C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A shared class key, for today only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463040" y="288036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9F5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Your instructor will share a temporary OpenRouter key for in class use this week. Use it with claude-sonnet-4-6 or gemini-2.0-flash as the model. For pre module and independent work outside class, use your own personal Gemini key instead.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A3F4B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This afternoon's Repo 1 Build is the first time you will actually call this API from your own application.</a:t>
            </a:r>
            <a:endParaRPr lang="en-US" sz="1300" dirty="0"/>
          </a:p>
        </p:txBody>
      </p:sp>
      <p:sp>
        <p:nvSpPr>
          <p:cNvPr id="12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 dirty="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3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F07FF15A-FB1D-4362-AE41-FCC20A8865E7}" type="slidenum">
              <a:rPr lang="en-US" sz="1000">
                <a:solidFill>
                  <a:srgbClr val="1E1E1E"/>
                </a:solidFill>
                <a:latin typeface="Arial"/>
              </a:rPr>
              <a:t>43</a:t>
            </a:fld>
            <a:endParaRPr lang="en-US" sz="1000" dirty="0">
              <a:solidFill>
                <a:srgbClr val="1E1E1E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E1E1E"/>
      </a:dk1>
      <a:lt1>
        <a:srgbClr val="FFFFFF"/>
      </a:lt1>
      <a:dk2>
        <a:srgbClr val="293352"/>
      </a:dk2>
      <a:lt2>
        <a:srgbClr val="F3F3F1"/>
      </a:lt2>
      <a:accent1>
        <a:srgbClr val="A51C30"/>
      </a:accent1>
      <a:accent2>
        <a:srgbClr val="293352"/>
      </a:accent2>
      <a:accent3>
        <a:srgbClr val="4E84C4"/>
      </a:accent3>
      <a:accent4>
        <a:srgbClr val="C4961A"/>
      </a:accent4>
      <a:accent5>
        <a:srgbClr val="8996A0"/>
      </a:accent5>
      <a:accent6>
        <a:srgbClr val="1E1E1E"/>
      </a:accent6>
      <a:hlink>
        <a:srgbClr val="4E84C4"/>
      </a:hlink>
      <a:folHlink>
        <a:srgbClr val="946EB7"/>
      </a:folHlink>
    </a:clrScheme>
    <a:fontScheme name="Office">
      <a:majorFont>
        <a:latin typeface="Arial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3293</Words>
  <Application>Microsoft Macintosh PowerPoint</Application>
  <PresentationFormat>Widescreen</PresentationFormat>
  <Paragraphs>520</Paragraphs>
  <Slides>43</Slides>
  <Notes>20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Environment Setup and Orientation</dc:title>
  <dc:subject>PptxGenJS Presentation</dc:subject>
  <dc:creator>Ted Kwartler</dc:creator>
  <cp:lastModifiedBy>Ted Kwartler</cp:lastModifiedBy>
  <cp:revision>26</cp:revision>
  <dcterms:created xsi:type="dcterms:W3CDTF">2026-07-06T23:14:37Z</dcterms:created>
  <dcterms:modified xsi:type="dcterms:W3CDTF">2026-07-13T03:16:42Z</dcterms:modified>
</cp:coreProperties>
</file>