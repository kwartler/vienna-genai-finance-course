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mov" ContentType="video/quicktime"/>
  <Default Extension="mp4" ContentType="video/mp4"/>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63" r:id="rId3"/>
    <p:sldMasterId id="2147483690" r:id="rId4"/>
  </p:sldMasterIdLst>
  <p:notesMasterIdLst>
    <p:notesMasterId r:id="rId48"/>
  </p:notesMasterIdLst>
  <p:sldIdLst>
    <p:sldId id="256" r:id="rId5"/>
    <p:sldId id="257" r:id="rId6"/>
    <p:sldId id="271" r:id="rId7"/>
    <p:sldId id="286" r:id="rId8"/>
    <p:sldId id="287" r:id="rId9"/>
    <p:sldId id="289" r:id="rId10"/>
    <p:sldId id="300" r:id="rId11"/>
    <p:sldId id="303" r:id="rId12"/>
    <p:sldId id="2147483596" r:id="rId13"/>
    <p:sldId id="283" r:id="rId14"/>
    <p:sldId id="288" r:id="rId15"/>
    <p:sldId id="2147483630" r:id="rId16"/>
    <p:sldId id="2147483593" r:id="rId17"/>
    <p:sldId id="2147483594" r:id="rId18"/>
    <p:sldId id="2147483620" r:id="rId19"/>
    <p:sldId id="2147483609" r:id="rId20"/>
    <p:sldId id="2147483610" r:id="rId21"/>
    <p:sldId id="2147483633" r:id="rId22"/>
    <p:sldId id="2147483631" r:id="rId23"/>
    <p:sldId id="2147483621" r:id="rId24"/>
    <p:sldId id="2147483632" r:id="rId25"/>
    <p:sldId id="2147483622" r:id="rId26"/>
    <p:sldId id="2147483623" r:id="rId27"/>
    <p:sldId id="2147483624" r:id="rId28"/>
    <p:sldId id="2147483634" r:id="rId29"/>
    <p:sldId id="2147483636" r:id="rId30"/>
    <p:sldId id="2147483626" r:id="rId31"/>
    <p:sldId id="2147483627" r:id="rId32"/>
    <p:sldId id="2147483629" r:id="rId33"/>
    <p:sldId id="2147483637" r:id="rId34"/>
    <p:sldId id="258" r:id="rId35"/>
    <p:sldId id="259" r:id="rId36"/>
    <p:sldId id="260" r:id="rId37"/>
    <p:sldId id="261" r:id="rId38"/>
    <p:sldId id="268" r:id="rId39"/>
    <p:sldId id="269" r:id="rId40"/>
    <p:sldId id="270" r:id="rId41"/>
    <p:sldId id="262" r:id="rId42"/>
    <p:sldId id="263" r:id="rId43"/>
    <p:sldId id="264" r:id="rId44"/>
    <p:sldId id="265" r:id="rId45"/>
    <p:sldId id="266" r:id="rId46"/>
    <p:sldId id="267" r:id="rId4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33E5F03-EA3D-7565-B94E-82167EF8F528}" name="Author" initials="A" userId="S::author::615b8107-de2e-4290-b4af-dd4d206bbfb1"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varScale="1">
        <p:scale>
          <a:sx n="124" d="100"/>
          <a:sy n="124" d="100"/>
        </p:scale>
        <p:origin x="5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F1F1F"/>
                </a:solidFill>
                <a:latin typeface="Arial"/>
              </a:defRPr>
            </a:pPr>
            <a:r>
              <a:rPr lang="en-US" sz="1300" b="0" i="0" u="none" strike="noStrike">
                <a:solidFill>
                  <a:srgbClr val="1F1F1F"/>
                </a:solidFill>
                <a:latin typeface="Arial"/>
              </a:rPr>
              <a:t>Cumulative session cost</a:t>
            </a:r>
          </a:p>
        </c:rich>
      </c:tx>
      <c:overlay val="0"/>
    </c:title>
    <c:autoTitleDeleted val="0"/>
    <c:plotArea>
      <c:layout/>
      <c:barChart>
        <c:barDir val="col"/>
        <c:grouping val="clustered"/>
        <c:varyColors val="0"/>
        <c:ser>
          <c:idx val="0"/>
          <c:order val="0"/>
          <c:tx>
            <c:strRef>
              <c:f>Sheet1!$B$1</c:f>
              <c:strCache>
                <c:ptCount val="1"/>
                <c:pt idx="0">
                  <c:v>Cumulative</c:v>
                </c:pt>
              </c:strCache>
            </c:strRef>
          </c:tx>
          <c:spPr>
            <a:solidFill>
              <a:srgbClr val="A51C30"/>
            </a:solidFill>
            <a:effectLst/>
          </c:spPr>
          <c:invertIfNegative val="0"/>
          <c:dLbls>
            <c:numFmt formatCode="\$0.00" sourceLinked="0"/>
            <c:spPr>
              <a:noFill/>
              <a:ln>
                <a:noFill/>
              </a:ln>
              <a:effectLst/>
            </c:spPr>
            <c:txPr>
              <a:bodyPr/>
              <a:lstStyle/>
              <a:p>
                <a:pPr>
                  <a:defRPr sz="1200" b="1" i="0" u="none" strike="noStrike">
                    <a:solidFill>
                      <a:srgbClr val="1F1F1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Turn N</c:v>
                </c:pt>
                <c:pt idx="1">
                  <c:v>Turn N+1</c:v>
                </c:pt>
                <c:pt idx="2">
                  <c:v>Turn N+2</c:v>
                </c:pt>
              </c:strCache>
            </c:strRef>
          </c:cat>
          <c:val>
            <c:numRef>
              <c:f>Sheet1!$B$2:$B$4</c:f>
              <c:numCache>
                <c:formatCode>General</c:formatCode>
                <c:ptCount val="3"/>
                <c:pt idx="0">
                  <c:v>5</c:v>
                </c:pt>
                <c:pt idx="1">
                  <c:v>10.4</c:v>
                </c:pt>
                <c:pt idx="2">
                  <c:v>16.100000000000001</c:v>
                </c:pt>
              </c:numCache>
            </c:numRef>
          </c:val>
          <c:extLst>
            <c:ext xmlns:c16="http://schemas.microsoft.com/office/drawing/2014/chart" uri="{C3380CC4-5D6E-409C-BE32-E72D297353CC}">
              <c16:uniqueId val="{00000000-8DDD-854B-A759-BE34FFFD34D1}"/>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Arial"/>
              </a:defRPr>
            </a:pPr>
            <a:endParaRPr lang="en-US"/>
          </a:p>
        </c:txPr>
        <c:crossAx val="2094734552"/>
        <c:crosses val="autoZero"/>
        <c:auto val="1"/>
        <c:lblAlgn val="ctr"/>
        <c:lblOffset val="100"/>
        <c:noMultiLvlLbl val="1"/>
      </c:catAx>
      <c:valAx>
        <c:axId val="2094734552"/>
        <c:scaling>
          <c:orientation val="minMax"/>
          <c:max val="19"/>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solidFill>
      <a:srgbClr val="FFFFFF">
        <a:alpha val="80000"/>
      </a:srgbClr>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Context (with compaction)</c:v>
                </c:pt>
              </c:strCache>
            </c:strRef>
          </c:tx>
          <c:spPr>
            <a:ln w="31750" cap="flat">
              <a:solidFill>
                <a:srgbClr val="A51C30"/>
              </a:solidFill>
              <a:prstDash val="solid"/>
              <a:round/>
            </a:ln>
            <a:effectLst/>
          </c:spPr>
          <c:marker>
            <c:symbol val="none"/>
          </c:marker>
          <c:cat>
            <c:strRef>
              <c:f>Sheet1!$A$2:$A$32</c:f>
              <c:strCache>
                <c:ptCount val="31"/>
                <c:pt idx="0">
                  <c:v>0</c:v>
                </c:pt>
                <c:pt idx="5">
                  <c:v>5</c:v>
                </c:pt>
                <c:pt idx="10">
                  <c:v>10</c:v>
                </c:pt>
                <c:pt idx="15">
                  <c:v>15</c:v>
                </c:pt>
                <c:pt idx="20">
                  <c:v>20</c:v>
                </c:pt>
                <c:pt idx="25">
                  <c:v>25</c:v>
                </c:pt>
                <c:pt idx="30">
                  <c:v>30</c:v>
                </c:pt>
              </c:strCache>
            </c:strRef>
          </c:cat>
          <c:val>
            <c:numRef>
              <c:f>Sheet1!$B$2:$B$32</c:f>
              <c:numCache>
                <c:formatCode>General</c:formatCode>
                <c:ptCount val="31"/>
                <c:pt idx="0">
                  <c:v>50</c:v>
                </c:pt>
                <c:pt idx="1">
                  <c:v>331</c:v>
                </c:pt>
                <c:pt idx="2">
                  <c:v>528</c:v>
                </c:pt>
                <c:pt idx="3">
                  <c:v>668</c:v>
                </c:pt>
                <c:pt idx="4">
                  <c:v>766</c:v>
                </c:pt>
                <c:pt idx="5">
                  <c:v>835</c:v>
                </c:pt>
                <c:pt idx="6">
                  <c:v>884</c:v>
                </c:pt>
                <c:pt idx="7">
                  <c:v>918</c:v>
                </c:pt>
                <c:pt idx="8">
                  <c:v>942</c:v>
                </c:pt>
                <c:pt idx="9">
                  <c:v>959</c:v>
                </c:pt>
                <c:pt idx="10">
                  <c:v>50</c:v>
                </c:pt>
                <c:pt idx="11">
                  <c:v>331</c:v>
                </c:pt>
                <c:pt idx="12">
                  <c:v>528</c:v>
                </c:pt>
                <c:pt idx="13">
                  <c:v>668</c:v>
                </c:pt>
                <c:pt idx="14">
                  <c:v>766</c:v>
                </c:pt>
                <c:pt idx="15">
                  <c:v>835</c:v>
                </c:pt>
                <c:pt idx="16">
                  <c:v>884</c:v>
                </c:pt>
                <c:pt idx="17">
                  <c:v>918</c:v>
                </c:pt>
                <c:pt idx="18">
                  <c:v>942</c:v>
                </c:pt>
                <c:pt idx="19">
                  <c:v>959</c:v>
                </c:pt>
                <c:pt idx="20">
                  <c:v>50</c:v>
                </c:pt>
                <c:pt idx="21">
                  <c:v>331</c:v>
                </c:pt>
                <c:pt idx="22">
                  <c:v>528</c:v>
                </c:pt>
                <c:pt idx="23">
                  <c:v>668</c:v>
                </c:pt>
                <c:pt idx="24">
                  <c:v>766</c:v>
                </c:pt>
                <c:pt idx="25">
                  <c:v>835</c:v>
                </c:pt>
                <c:pt idx="26">
                  <c:v>884</c:v>
                </c:pt>
                <c:pt idx="27">
                  <c:v>918</c:v>
                </c:pt>
                <c:pt idx="28">
                  <c:v>942</c:v>
                </c:pt>
                <c:pt idx="29">
                  <c:v>959</c:v>
                </c:pt>
                <c:pt idx="30">
                  <c:v>50</c:v>
                </c:pt>
              </c:numCache>
            </c:numRef>
          </c:val>
          <c:smooth val="0"/>
          <c:extLst>
            <c:ext xmlns:c16="http://schemas.microsoft.com/office/drawing/2014/chart" uri="{C3380CC4-5D6E-409C-BE32-E72D297353CC}">
              <c16:uniqueId val="{00000000-4D9A-C14C-8EB8-30710E95F539}"/>
            </c:ext>
          </c:extLst>
        </c:ser>
        <c:ser>
          <c:idx val="1"/>
          <c:order val="1"/>
          <c:tx>
            <c:strRef>
              <c:f>Sheet1!$C$1</c:f>
              <c:strCache>
                <c:ptCount val="1"/>
                <c:pt idx="0">
                  <c:v>Window limit (1M)</c:v>
                </c:pt>
              </c:strCache>
            </c:strRef>
          </c:tx>
          <c:spPr>
            <a:ln w="31750" cap="flat">
              <a:solidFill>
                <a:srgbClr val="C7C2C4"/>
              </a:solidFill>
              <a:prstDash val="solid"/>
              <a:round/>
            </a:ln>
            <a:effectLst/>
          </c:spPr>
          <c:marker>
            <c:symbol val="none"/>
          </c:marker>
          <c:cat>
            <c:strRef>
              <c:f>Sheet1!$A$2:$A$32</c:f>
              <c:strCache>
                <c:ptCount val="31"/>
                <c:pt idx="0">
                  <c:v>0</c:v>
                </c:pt>
                <c:pt idx="5">
                  <c:v>5</c:v>
                </c:pt>
                <c:pt idx="10">
                  <c:v>10</c:v>
                </c:pt>
                <c:pt idx="15">
                  <c:v>15</c:v>
                </c:pt>
                <c:pt idx="20">
                  <c:v>20</c:v>
                </c:pt>
                <c:pt idx="25">
                  <c:v>25</c:v>
                </c:pt>
                <c:pt idx="30">
                  <c:v>30</c:v>
                </c:pt>
              </c:strCache>
            </c:strRef>
          </c:cat>
          <c:val>
            <c:numRef>
              <c:f>Sheet1!$C$2:$C$32</c:f>
              <c:numCache>
                <c:formatCode>General</c:formatCode>
                <c:ptCount val="31"/>
                <c:pt idx="0">
                  <c:v>1000</c:v>
                </c:pt>
                <c:pt idx="1">
                  <c:v>1000</c:v>
                </c:pt>
                <c:pt idx="2">
                  <c:v>1000</c:v>
                </c:pt>
                <c:pt idx="3">
                  <c:v>1000</c:v>
                </c:pt>
                <c:pt idx="4">
                  <c:v>1000</c:v>
                </c:pt>
                <c:pt idx="5">
                  <c:v>1000</c:v>
                </c:pt>
                <c:pt idx="6">
                  <c:v>1000</c:v>
                </c:pt>
                <c:pt idx="7">
                  <c:v>1000</c:v>
                </c:pt>
                <c:pt idx="8">
                  <c:v>1000</c:v>
                </c:pt>
                <c:pt idx="9">
                  <c:v>1000</c:v>
                </c:pt>
                <c:pt idx="10">
                  <c:v>1000</c:v>
                </c:pt>
                <c:pt idx="11">
                  <c:v>1000</c:v>
                </c:pt>
                <c:pt idx="12">
                  <c:v>1000</c:v>
                </c:pt>
                <c:pt idx="13">
                  <c:v>1000</c:v>
                </c:pt>
                <c:pt idx="14">
                  <c:v>1000</c:v>
                </c:pt>
                <c:pt idx="15">
                  <c:v>1000</c:v>
                </c:pt>
                <c:pt idx="16">
                  <c:v>1000</c:v>
                </c:pt>
                <c:pt idx="17">
                  <c:v>1000</c:v>
                </c:pt>
                <c:pt idx="18">
                  <c:v>1000</c:v>
                </c:pt>
                <c:pt idx="19">
                  <c:v>1000</c:v>
                </c:pt>
                <c:pt idx="20">
                  <c:v>1000</c:v>
                </c:pt>
                <c:pt idx="21">
                  <c:v>1000</c:v>
                </c:pt>
                <c:pt idx="22">
                  <c:v>1000</c:v>
                </c:pt>
                <c:pt idx="23">
                  <c:v>1000</c:v>
                </c:pt>
                <c:pt idx="24">
                  <c:v>1000</c:v>
                </c:pt>
                <c:pt idx="25">
                  <c:v>1000</c:v>
                </c:pt>
                <c:pt idx="26">
                  <c:v>1000</c:v>
                </c:pt>
                <c:pt idx="27">
                  <c:v>1000</c:v>
                </c:pt>
                <c:pt idx="28">
                  <c:v>1000</c:v>
                </c:pt>
                <c:pt idx="29">
                  <c:v>1000</c:v>
                </c:pt>
                <c:pt idx="30">
                  <c:v>1000</c:v>
                </c:pt>
              </c:numCache>
            </c:numRef>
          </c:val>
          <c:smooth val="0"/>
          <c:extLst>
            <c:ext xmlns:c16="http://schemas.microsoft.com/office/drawing/2014/chart" uri="{C3380CC4-5D6E-409C-BE32-E72D297353CC}">
              <c16:uniqueId val="{00000001-4D9A-C14C-8EB8-30710E95F539}"/>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900" b="0" i="0" u="none" strike="noStrike">
                    <a:solidFill>
                      <a:srgbClr val="6B6B6B"/>
                    </a:solidFill>
                    <a:latin typeface="Arial"/>
                  </a:defRPr>
                </a:pPr>
                <a:r>
                  <a:rPr lang="en-US" sz="900" b="0" i="0" u="none" strike="noStrike">
                    <a:solidFill>
                      <a:srgbClr val="6B6B6B"/>
                    </a:solidFill>
                    <a:latin typeface="Arial"/>
                  </a:rPr>
                  <a:t>Turn</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2"/>
        <c:crosses val="autoZero"/>
        <c:auto val="1"/>
        <c:lblAlgn val="ctr"/>
        <c:lblOffset val="100"/>
        <c:noMultiLvlLbl val="1"/>
      </c:catAx>
      <c:valAx>
        <c:axId val="2094734552"/>
        <c:scaling>
          <c:orientation val="minMax"/>
          <c:max val="1050"/>
          <c:min val="0"/>
        </c:scaling>
        <c:delete val="0"/>
        <c:axPos val="l"/>
        <c:majorGridlines>
          <c:spPr>
            <a:ln w="6350" cap="flat">
              <a:solidFill>
                <a:srgbClr val="E6E2E3"/>
              </a:solidFill>
              <a:prstDash val="solid"/>
              <a:round/>
            </a:ln>
          </c:spPr>
        </c:majorGridlines>
        <c:numFmt formatCode="#,##0&quot;k&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4"/>
        <c:crosses val="autoZero"/>
        <c:crossBetween val="between"/>
        <c:majorUnit val="250"/>
      </c:valAx>
      <c:spPr>
        <a:noFill/>
        <a:ln>
          <a:noFill/>
        </a:ln>
        <a:effectLst/>
      </c:spPr>
    </c:plotArea>
    <c:legend>
      <c:legendPos val="b"/>
      <c:overlay val="0"/>
      <c:txPr>
        <a:bodyPr/>
        <a:lstStyle/>
        <a:p>
          <a:pPr>
            <a:defRPr sz="900">
              <a:solidFill>
                <a:srgbClr val="222222"/>
              </a:solidFill>
            </a:defRPr>
          </a:pPr>
          <a:endParaRPr lang="en-US"/>
        </a:p>
      </c:txPr>
    </c:legend>
    <c:plotVisOnly val="1"/>
    <c:dispBlanksAs val="span"/>
    <c:showDLblsOverMax val="1"/>
  </c:chart>
  <c:spPr>
    <a:solidFill>
      <a:srgbClr val="FFFFFF">
        <a:alpha val="85000"/>
      </a:srgbClr>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With compaction</c:v>
                </c:pt>
              </c:strCache>
            </c:strRef>
          </c:tx>
          <c:spPr>
            <a:ln w="31750" cap="flat">
              <a:solidFill>
                <a:srgbClr val="A51C30"/>
              </a:solidFill>
              <a:prstDash val="solid"/>
              <a:round/>
            </a:ln>
            <a:effectLst/>
          </c:spPr>
          <c:marker>
            <c:symbol val="none"/>
          </c:marker>
          <c:cat>
            <c:strRef>
              <c:f>Sheet1!$A$2:$A$32</c:f>
              <c:strCache>
                <c:ptCount val="31"/>
                <c:pt idx="0">
                  <c:v>0</c:v>
                </c:pt>
                <c:pt idx="5">
                  <c:v>5</c:v>
                </c:pt>
                <c:pt idx="10">
                  <c:v>10</c:v>
                </c:pt>
                <c:pt idx="15">
                  <c:v>15</c:v>
                </c:pt>
                <c:pt idx="20">
                  <c:v>20</c:v>
                </c:pt>
                <c:pt idx="25">
                  <c:v>25</c:v>
                </c:pt>
                <c:pt idx="30">
                  <c:v>30</c:v>
                </c:pt>
              </c:strCache>
            </c:strRef>
          </c:cat>
          <c:val>
            <c:numRef>
              <c:f>Sheet1!$B$2:$B$32</c:f>
              <c:numCache>
                <c:formatCode>General</c:formatCode>
                <c:ptCount val="31"/>
                <c:pt idx="0">
                  <c:v>1</c:v>
                </c:pt>
                <c:pt idx="1">
                  <c:v>3.4</c:v>
                </c:pt>
                <c:pt idx="2">
                  <c:v>6.79</c:v>
                </c:pt>
                <c:pt idx="3">
                  <c:v>10.88</c:v>
                </c:pt>
                <c:pt idx="4">
                  <c:v>15.46</c:v>
                </c:pt>
                <c:pt idx="5">
                  <c:v>20.38</c:v>
                </c:pt>
                <c:pt idx="6">
                  <c:v>25.55</c:v>
                </c:pt>
                <c:pt idx="7">
                  <c:v>30.89</c:v>
                </c:pt>
                <c:pt idx="8">
                  <c:v>36.35</c:v>
                </c:pt>
                <c:pt idx="9">
                  <c:v>41.9</c:v>
                </c:pt>
                <c:pt idx="10">
                  <c:v>48.95</c:v>
                </c:pt>
                <c:pt idx="11">
                  <c:v>51.35</c:v>
                </c:pt>
                <c:pt idx="12">
                  <c:v>54.74</c:v>
                </c:pt>
                <c:pt idx="13">
                  <c:v>58.83</c:v>
                </c:pt>
                <c:pt idx="14">
                  <c:v>63.41</c:v>
                </c:pt>
                <c:pt idx="15">
                  <c:v>68.33</c:v>
                </c:pt>
                <c:pt idx="16">
                  <c:v>73.5</c:v>
                </c:pt>
                <c:pt idx="17">
                  <c:v>78.84</c:v>
                </c:pt>
                <c:pt idx="18">
                  <c:v>84.3</c:v>
                </c:pt>
                <c:pt idx="19">
                  <c:v>89.85</c:v>
                </c:pt>
                <c:pt idx="20">
                  <c:v>96.89</c:v>
                </c:pt>
                <c:pt idx="21">
                  <c:v>99.3</c:v>
                </c:pt>
                <c:pt idx="22">
                  <c:v>102.69</c:v>
                </c:pt>
                <c:pt idx="23">
                  <c:v>106.78</c:v>
                </c:pt>
                <c:pt idx="24">
                  <c:v>111.36</c:v>
                </c:pt>
                <c:pt idx="25">
                  <c:v>116.28</c:v>
                </c:pt>
                <c:pt idx="26">
                  <c:v>121.45</c:v>
                </c:pt>
                <c:pt idx="27">
                  <c:v>126.79</c:v>
                </c:pt>
                <c:pt idx="28">
                  <c:v>132.25</c:v>
                </c:pt>
                <c:pt idx="29">
                  <c:v>137.80000000000001</c:v>
                </c:pt>
                <c:pt idx="30">
                  <c:v>144.84</c:v>
                </c:pt>
              </c:numCache>
            </c:numRef>
          </c:val>
          <c:smooth val="0"/>
          <c:extLst>
            <c:ext xmlns:c16="http://schemas.microsoft.com/office/drawing/2014/chart" uri="{C3380CC4-5D6E-409C-BE32-E72D297353CC}">
              <c16:uniqueId val="{00000000-5FAB-5449-A74E-A4F436B5B502}"/>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900" b="0" i="0" u="none" strike="noStrike">
                    <a:solidFill>
                      <a:srgbClr val="6B6B6B"/>
                    </a:solidFill>
                    <a:latin typeface="Arial"/>
                  </a:defRPr>
                </a:pPr>
                <a:r>
                  <a:rPr lang="en-US" sz="900" b="0" i="0" u="none" strike="noStrike">
                    <a:solidFill>
                      <a:srgbClr val="6B6B6B"/>
                    </a:solidFill>
                    <a:latin typeface="Arial"/>
                  </a:rPr>
                  <a:t>Turn</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2"/>
        <c:crosses val="autoZero"/>
        <c:auto val="1"/>
        <c:lblAlgn val="ctr"/>
        <c:lblOffset val="100"/>
        <c:noMultiLvlLbl val="1"/>
      </c:catAx>
      <c:valAx>
        <c:axId val="2094734552"/>
        <c:scaling>
          <c:orientation val="minMax"/>
          <c:max val="160"/>
          <c:min val="0"/>
        </c:scaling>
        <c:delete val="0"/>
        <c:axPos val="l"/>
        <c:majorGridlines>
          <c:spPr>
            <a:ln w="6350" cap="flat">
              <a:solidFill>
                <a:srgbClr val="E6E2E3"/>
              </a:solidFill>
              <a:prstDash val="solid"/>
              <a:round/>
            </a:ln>
          </c:spPr>
        </c:majorGridlines>
        <c:numFmt formatCode="&quot;$&quot;#,##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4"/>
        <c:crosses val="autoZero"/>
        <c:crossBetween val="between"/>
        <c:majorUnit val="40"/>
      </c:valAx>
      <c:spPr>
        <a:noFill/>
        <a:ln>
          <a:noFill/>
        </a:ln>
        <a:effectLst/>
      </c:spPr>
    </c:plotArea>
    <c:legend>
      <c:legendPos val="b"/>
      <c:overlay val="0"/>
      <c:txPr>
        <a:bodyPr/>
        <a:lstStyle/>
        <a:p>
          <a:pPr>
            <a:defRPr sz="900">
              <a:solidFill>
                <a:srgbClr val="222222"/>
              </a:solidFill>
            </a:defRPr>
          </a:pPr>
          <a:endParaRPr lang="en-US"/>
        </a:p>
      </c:txPr>
    </c:legend>
    <c:plotVisOnly val="1"/>
    <c:dispBlanksAs val="span"/>
    <c:showDLblsOverMax val="1"/>
  </c:chart>
  <c:spPr>
    <a:solidFill>
      <a:srgbClr val="FFFFFF">
        <a:alpha val="85000"/>
      </a:srgbClr>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With compaction</c:v>
                </c:pt>
              </c:strCache>
            </c:strRef>
          </c:tx>
          <c:spPr>
            <a:ln w="31750" cap="flat">
              <a:solidFill>
                <a:srgbClr val="A51C30"/>
              </a:solidFill>
              <a:prstDash val="solid"/>
              <a:round/>
            </a:ln>
            <a:effectLst/>
          </c:spPr>
          <c:marker>
            <c:symbol val="none"/>
          </c:marker>
          <c:cat>
            <c:strRef>
              <c:f>Sheet1!$A$2:$A$32</c:f>
              <c:strCache>
                <c:ptCount val="31"/>
                <c:pt idx="0">
                  <c:v>0</c:v>
                </c:pt>
                <c:pt idx="5">
                  <c:v>5</c:v>
                </c:pt>
                <c:pt idx="10">
                  <c:v>10</c:v>
                </c:pt>
                <c:pt idx="15">
                  <c:v>15</c:v>
                </c:pt>
                <c:pt idx="20">
                  <c:v>20</c:v>
                </c:pt>
                <c:pt idx="25">
                  <c:v>25</c:v>
                </c:pt>
                <c:pt idx="30">
                  <c:v>30</c:v>
                </c:pt>
              </c:strCache>
            </c:strRef>
          </c:cat>
          <c:val>
            <c:numRef>
              <c:f>Sheet1!$B$2:$B$32</c:f>
              <c:numCache>
                <c:formatCode>General</c:formatCode>
                <c:ptCount val="31"/>
                <c:pt idx="0">
                  <c:v>1</c:v>
                </c:pt>
                <c:pt idx="1">
                  <c:v>3.4</c:v>
                </c:pt>
                <c:pt idx="2">
                  <c:v>6.79</c:v>
                </c:pt>
                <c:pt idx="3">
                  <c:v>10.88</c:v>
                </c:pt>
                <c:pt idx="4">
                  <c:v>15.46</c:v>
                </c:pt>
                <c:pt idx="5">
                  <c:v>20.38</c:v>
                </c:pt>
                <c:pt idx="6">
                  <c:v>25.55</c:v>
                </c:pt>
                <c:pt idx="7">
                  <c:v>30.89</c:v>
                </c:pt>
                <c:pt idx="8">
                  <c:v>36.35</c:v>
                </c:pt>
                <c:pt idx="9">
                  <c:v>41.9</c:v>
                </c:pt>
                <c:pt idx="10">
                  <c:v>48.95</c:v>
                </c:pt>
                <c:pt idx="11">
                  <c:v>51.35</c:v>
                </c:pt>
                <c:pt idx="12">
                  <c:v>54.74</c:v>
                </c:pt>
                <c:pt idx="13">
                  <c:v>58.83</c:v>
                </c:pt>
                <c:pt idx="14">
                  <c:v>63.41</c:v>
                </c:pt>
                <c:pt idx="15">
                  <c:v>68.33</c:v>
                </c:pt>
                <c:pt idx="16">
                  <c:v>73.5</c:v>
                </c:pt>
                <c:pt idx="17">
                  <c:v>78.84</c:v>
                </c:pt>
                <c:pt idx="18">
                  <c:v>84.3</c:v>
                </c:pt>
                <c:pt idx="19">
                  <c:v>89.85</c:v>
                </c:pt>
                <c:pt idx="20">
                  <c:v>96.89</c:v>
                </c:pt>
                <c:pt idx="21">
                  <c:v>99.3</c:v>
                </c:pt>
                <c:pt idx="22">
                  <c:v>102.69</c:v>
                </c:pt>
                <c:pt idx="23">
                  <c:v>106.78</c:v>
                </c:pt>
                <c:pt idx="24">
                  <c:v>111.36</c:v>
                </c:pt>
                <c:pt idx="25">
                  <c:v>116.28</c:v>
                </c:pt>
                <c:pt idx="26">
                  <c:v>121.45</c:v>
                </c:pt>
                <c:pt idx="27">
                  <c:v>126.79</c:v>
                </c:pt>
                <c:pt idx="28">
                  <c:v>132.25</c:v>
                </c:pt>
                <c:pt idx="29">
                  <c:v>137.80000000000001</c:v>
                </c:pt>
                <c:pt idx="30">
                  <c:v>144.84</c:v>
                </c:pt>
              </c:numCache>
            </c:numRef>
          </c:val>
          <c:smooth val="0"/>
          <c:extLst>
            <c:ext xmlns:c16="http://schemas.microsoft.com/office/drawing/2014/chart" uri="{C3380CC4-5D6E-409C-BE32-E72D297353CC}">
              <c16:uniqueId val="{00000000-B2F2-2042-A0F4-73C29F1BA5DD}"/>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900" b="0" i="0" u="none" strike="noStrike">
                    <a:solidFill>
                      <a:srgbClr val="6B6B6B"/>
                    </a:solidFill>
                    <a:latin typeface="Arial"/>
                  </a:defRPr>
                </a:pPr>
                <a:r>
                  <a:rPr lang="en-US" sz="900" b="0" i="0" u="none" strike="noStrike">
                    <a:solidFill>
                      <a:srgbClr val="6B6B6B"/>
                    </a:solidFill>
                    <a:latin typeface="Arial"/>
                  </a:rPr>
                  <a:t>Turn</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2"/>
        <c:crosses val="autoZero"/>
        <c:auto val="1"/>
        <c:lblAlgn val="ctr"/>
        <c:lblOffset val="100"/>
        <c:noMultiLvlLbl val="1"/>
      </c:catAx>
      <c:valAx>
        <c:axId val="2094734552"/>
        <c:scaling>
          <c:orientation val="minMax"/>
          <c:max val="160"/>
          <c:min val="0"/>
        </c:scaling>
        <c:delete val="0"/>
        <c:axPos val="l"/>
        <c:majorGridlines>
          <c:spPr>
            <a:ln w="6350" cap="flat">
              <a:solidFill>
                <a:srgbClr val="E6E2E3"/>
              </a:solidFill>
              <a:prstDash val="solid"/>
              <a:round/>
            </a:ln>
          </c:spPr>
        </c:majorGridlines>
        <c:numFmt formatCode="&quot;$&quot;#,##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4"/>
        <c:crosses val="autoZero"/>
        <c:crossBetween val="between"/>
        <c:majorUnit val="40"/>
      </c:valAx>
      <c:spPr>
        <a:noFill/>
        <a:ln>
          <a:noFill/>
        </a:ln>
        <a:effectLst/>
      </c:spPr>
    </c:plotArea>
    <c:legend>
      <c:legendPos val="b"/>
      <c:overlay val="0"/>
      <c:txPr>
        <a:bodyPr/>
        <a:lstStyle/>
        <a:p>
          <a:pPr>
            <a:defRPr sz="900">
              <a:solidFill>
                <a:srgbClr val="222222"/>
              </a:solidFill>
            </a:defRPr>
          </a:pPr>
          <a:endParaRPr lang="en-US"/>
        </a:p>
      </c:txPr>
    </c:legend>
    <c:plotVisOnly val="1"/>
    <c:dispBlanksAs val="span"/>
    <c:showDLblsOverMax val="1"/>
  </c:chart>
  <c:spPr>
    <a:solidFill>
      <a:srgbClr val="FFFFFF">
        <a:alpha val="85000"/>
      </a:srgbClr>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With compaction</c:v>
                </c:pt>
              </c:strCache>
            </c:strRef>
          </c:tx>
          <c:spPr>
            <a:ln w="31750" cap="flat">
              <a:solidFill>
                <a:srgbClr val="A51C30"/>
              </a:solidFill>
              <a:prstDash val="solid"/>
              <a:round/>
            </a:ln>
            <a:effectLst/>
          </c:spPr>
          <c:marker>
            <c:symbol val="none"/>
          </c:marker>
          <c:cat>
            <c:strRef>
              <c:f>Sheet1!$A$2:$A$32</c:f>
              <c:strCache>
                <c:ptCount val="31"/>
                <c:pt idx="0">
                  <c:v>0</c:v>
                </c:pt>
                <c:pt idx="5">
                  <c:v>5</c:v>
                </c:pt>
                <c:pt idx="10">
                  <c:v>10</c:v>
                </c:pt>
                <c:pt idx="15">
                  <c:v>15</c:v>
                </c:pt>
                <c:pt idx="20">
                  <c:v>20</c:v>
                </c:pt>
                <c:pt idx="25">
                  <c:v>25</c:v>
                </c:pt>
                <c:pt idx="30">
                  <c:v>30</c:v>
                </c:pt>
              </c:strCache>
            </c:strRef>
          </c:cat>
          <c:val>
            <c:numRef>
              <c:f>Sheet1!$B$2:$B$32</c:f>
              <c:numCache>
                <c:formatCode>General</c:formatCode>
                <c:ptCount val="31"/>
                <c:pt idx="0">
                  <c:v>1</c:v>
                </c:pt>
                <c:pt idx="1">
                  <c:v>3.4</c:v>
                </c:pt>
                <c:pt idx="2">
                  <c:v>6.79</c:v>
                </c:pt>
                <c:pt idx="3">
                  <c:v>10.88</c:v>
                </c:pt>
                <c:pt idx="4">
                  <c:v>15.46</c:v>
                </c:pt>
                <c:pt idx="5">
                  <c:v>20.38</c:v>
                </c:pt>
                <c:pt idx="6">
                  <c:v>25.55</c:v>
                </c:pt>
                <c:pt idx="7">
                  <c:v>30.89</c:v>
                </c:pt>
                <c:pt idx="8">
                  <c:v>36.35</c:v>
                </c:pt>
                <c:pt idx="9">
                  <c:v>41.9</c:v>
                </c:pt>
                <c:pt idx="10">
                  <c:v>48.95</c:v>
                </c:pt>
                <c:pt idx="11">
                  <c:v>51.35</c:v>
                </c:pt>
                <c:pt idx="12">
                  <c:v>54.74</c:v>
                </c:pt>
                <c:pt idx="13">
                  <c:v>58.83</c:v>
                </c:pt>
                <c:pt idx="14">
                  <c:v>63.41</c:v>
                </c:pt>
                <c:pt idx="15">
                  <c:v>68.33</c:v>
                </c:pt>
                <c:pt idx="16">
                  <c:v>73.5</c:v>
                </c:pt>
                <c:pt idx="17">
                  <c:v>78.84</c:v>
                </c:pt>
                <c:pt idx="18">
                  <c:v>84.3</c:v>
                </c:pt>
                <c:pt idx="19">
                  <c:v>89.85</c:v>
                </c:pt>
                <c:pt idx="20">
                  <c:v>96.89</c:v>
                </c:pt>
                <c:pt idx="21">
                  <c:v>99.3</c:v>
                </c:pt>
                <c:pt idx="22">
                  <c:v>102.69</c:v>
                </c:pt>
                <c:pt idx="23">
                  <c:v>106.78</c:v>
                </c:pt>
                <c:pt idx="24">
                  <c:v>111.36</c:v>
                </c:pt>
                <c:pt idx="25">
                  <c:v>116.28</c:v>
                </c:pt>
                <c:pt idx="26">
                  <c:v>121.45</c:v>
                </c:pt>
                <c:pt idx="27">
                  <c:v>126.79</c:v>
                </c:pt>
                <c:pt idx="28">
                  <c:v>132.25</c:v>
                </c:pt>
                <c:pt idx="29">
                  <c:v>137.80000000000001</c:v>
                </c:pt>
                <c:pt idx="30">
                  <c:v>144.84</c:v>
                </c:pt>
              </c:numCache>
            </c:numRef>
          </c:val>
          <c:smooth val="0"/>
          <c:extLst>
            <c:ext xmlns:c16="http://schemas.microsoft.com/office/drawing/2014/chart" uri="{C3380CC4-5D6E-409C-BE32-E72D297353CC}">
              <c16:uniqueId val="{00000000-8492-4444-9EA4-D681AD05D5B8}"/>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900" b="0" i="0" u="none" strike="noStrike">
                    <a:solidFill>
                      <a:srgbClr val="6B6B6B"/>
                    </a:solidFill>
                    <a:latin typeface="Arial"/>
                  </a:defRPr>
                </a:pPr>
                <a:r>
                  <a:rPr lang="en-US" sz="900" b="0" i="0" u="none" strike="noStrike">
                    <a:solidFill>
                      <a:srgbClr val="6B6B6B"/>
                    </a:solidFill>
                    <a:latin typeface="Arial"/>
                  </a:rPr>
                  <a:t>Turn</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2"/>
        <c:crosses val="autoZero"/>
        <c:auto val="1"/>
        <c:lblAlgn val="ctr"/>
        <c:lblOffset val="100"/>
        <c:noMultiLvlLbl val="1"/>
      </c:catAx>
      <c:valAx>
        <c:axId val="2094734552"/>
        <c:scaling>
          <c:orientation val="minMax"/>
          <c:max val="160"/>
          <c:min val="0"/>
        </c:scaling>
        <c:delete val="0"/>
        <c:axPos val="l"/>
        <c:majorGridlines>
          <c:spPr>
            <a:ln w="6350" cap="flat">
              <a:solidFill>
                <a:srgbClr val="E6E2E3"/>
              </a:solidFill>
              <a:prstDash val="solid"/>
              <a:round/>
            </a:ln>
          </c:spPr>
        </c:majorGridlines>
        <c:numFmt formatCode="&quot;$&quot;#,##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4"/>
        <c:crosses val="autoZero"/>
        <c:crossBetween val="between"/>
        <c:majorUnit val="40"/>
      </c:valAx>
      <c:spPr>
        <a:noFill/>
        <a:ln>
          <a:noFill/>
        </a:ln>
        <a:effectLst/>
      </c:spPr>
    </c:plotArea>
    <c:legend>
      <c:legendPos val="b"/>
      <c:overlay val="0"/>
      <c:txPr>
        <a:bodyPr/>
        <a:lstStyle/>
        <a:p>
          <a:pPr>
            <a:defRPr sz="900">
              <a:solidFill>
                <a:srgbClr val="222222"/>
              </a:solidFill>
            </a:defRPr>
          </a:pPr>
          <a:endParaRPr lang="en-US"/>
        </a:p>
      </c:txPr>
    </c:legend>
    <c:plotVisOnly val="1"/>
    <c:dispBlanksAs val="span"/>
    <c:showDLblsOverMax val="1"/>
  </c:chart>
  <c:spPr>
    <a:solidFill>
      <a:srgbClr val="FFFFFF">
        <a:alpha val="85000"/>
      </a:srgbClr>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With compaction</c:v>
                </c:pt>
              </c:strCache>
            </c:strRef>
          </c:tx>
          <c:spPr>
            <a:ln w="31750" cap="flat">
              <a:solidFill>
                <a:srgbClr val="A51C30"/>
              </a:solidFill>
              <a:prstDash val="solid"/>
              <a:round/>
            </a:ln>
            <a:effectLst/>
          </c:spPr>
          <c:marker>
            <c:symbol val="none"/>
          </c:marker>
          <c:cat>
            <c:strRef>
              <c:f>Sheet1!$A$2:$A$32</c:f>
              <c:strCache>
                <c:ptCount val="31"/>
                <c:pt idx="0">
                  <c:v>0</c:v>
                </c:pt>
                <c:pt idx="5">
                  <c:v>5</c:v>
                </c:pt>
                <c:pt idx="10">
                  <c:v>10</c:v>
                </c:pt>
                <c:pt idx="15">
                  <c:v>15</c:v>
                </c:pt>
                <c:pt idx="20">
                  <c:v>20</c:v>
                </c:pt>
                <c:pt idx="25">
                  <c:v>25</c:v>
                </c:pt>
                <c:pt idx="30">
                  <c:v>30</c:v>
                </c:pt>
              </c:strCache>
            </c:strRef>
          </c:cat>
          <c:val>
            <c:numRef>
              <c:f>Sheet1!$B$2:$B$32</c:f>
              <c:numCache>
                <c:formatCode>General</c:formatCode>
                <c:ptCount val="31"/>
                <c:pt idx="0">
                  <c:v>1</c:v>
                </c:pt>
                <c:pt idx="1">
                  <c:v>3.4</c:v>
                </c:pt>
                <c:pt idx="2">
                  <c:v>6.79</c:v>
                </c:pt>
                <c:pt idx="3">
                  <c:v>10.88</c:v>
                </c:pt>
                <c:pt idx="4">
                  <c:v>15.46</c:v>
                </c:pt>
                <c:pt idx="5">
                  <c:v>20.38</c:v>
                </c:pt>
                <c:pt idx="6">
                  <c:v>25.55</c:v>
                </c:pt>
                <c:pt idx="7">
                  <c:v>30.89</c:v>
                </c:pt>
                <c:pt idx="8">
                  <c:v>36.35</c:v>
                </c:pt>
                <c:pt idx="9">
                  <c:v>41.9</c:v>
                </c:pt>
                <c:pt idx="10">
                  <c:v>48.95</c:v>
                </c:pt>
                <c:pt idx="11">
                  <c:v>51.35</c:v>
                </c:pt>
                <c:pt idx="12">
                  <c:v>54.74</c:v>
                </c:pt>
                <c:pt idx="13">
                  <c:v>58.83</c:v>
                </c:pt>
                <c:pt idx="14">
                  <c:v>63.41</c:v>
                </c:pt>
                <c:pt idx="15">
                  <c:v>68.33</c:v>
                </c:pt>
                <c:pt idx="16">
                  <c:v>73.5</c:v>
                </c:pt>
                <c:pt idx="17">
                  <c:v>78.84</c:v>
                </c:pt>
                <c:pt idx="18">
                  <c:v>84.3</c:v>
                </c:pt>
                <c:pt idx="19">
                  <c:v>89.85</c:v>
                </c:pt>
                <c:pt idx="20">
                  <c:v>96.89</c:v>
                </c:pt>
                <c:pt idx="21">
                  <c:v>99.3</c:v>
                </c:pt>
                <c:pt idx="22">
                  <c:v>102.69</c:v>
                </c:pt>
                <c:pt idx="23">
                  <c:v>106.78</c:v>
                </c:pt>
                <c:pt idx="24">
                  <c:v>111.36</c:v>
                </c:pt>
                <c:pt idx="25">
                  <c:v>116.28</c:v>
                </c:pt>
                <c:pt idx="26">
                  <c:v>121.45</c:v>
                </c:pt>
                <c:pt idx="27">
                  <c:v>126.79</c:v>
                </c:pt>
                <c:pt idx="28">
                  <c:v>132.25</c:v>
                </c:pt>
                <c:pt idx="29">
                  <c:v>137.80000000000001</c:v>
                </c:pt>
                <c:pt idx="30">
                  <c:v>144.84</c:v>
                </c:pt>
              </c:numCache>
            </c:numRef>
          </c:val>
          <c:smooth val="0"/>
          <c:extLst>
            <c:ext xmlns:c16="http://schemas.microsoft.com/office/drawing/2014/chart" uri="{C3380CC4-5D6E-409C-BE32-E72D297353CC}">
              <c16:uniqueId val="{00000000-69AE-1649-BB2E-DF6C7B97D3FE}"/>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900" b="0" i="0" u="none" strike="noStrike">
                    <a:solidFill>
                      <a:srgbClr val="6B6B6B"/>
                    </a:solidFill>
                    <a:latin typeface="Arial"/>
                  </a:defRPr>
                </a:pPr>
                <a:r>
                  <a:rPr lang="en-US" sz="900" b="0" i="0" u="none" strike="noStrike">
                    <a:solidFill>
                      <a:srgbClr val="6B6B6B"/>
                    </a:solidFill>
                    <a:latin typeface="Arial"/>
                  </a:rPr>
                  <a:t>Turn</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2"/>
        <c:crosses val="autoZero"/>
        <c:auto val="1"/>
        <c:lblAlgn val="ctr"/>
        <c:lblOffset val="100"/>
        <c:noMultiLvlLbl val="1"/>
      </c:catAx>
      <c:valAx>
        <c:axId val="2094734552"/>
        <c:scaling>
          <c:orientation val="minMax"/>
          <c:max val="160"/>
          <c:min val="0"/>
        </c:scaling>
        <c:delete val="0"/>
        <c:axPos val="l"/>
        <c:majorGridlines>
          <c:spPr>
            <a:ln w="6350" cap="flat">
              <a:solidFill>
                <a:srgbClr val="E6E2E3"/>
              </a:solidFill>
              <a:prstDash val="solid"/>
              <a:round/>
            </a:ln>
          </c:spPr>
        </c:majorGridlines>
        <c:numFmt formatCode="&quot;$&quot;#,##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4"/>
        <c:crosses val="autoZero"/>
        <c:crossBetween val="between"/>
        <c:majorUnit val="40"/>
      </c:valAx>
      <c:spPr>
        <a:noFill/>
        <a:ln>
          <a:noFill/>
        </a:ln>
        <a:effectLst/>
      </c:spPr>
    </c:plotArea>
    <c:legend>
      <c:legendPos val="b"/>
      <c:overlay val="0"/>
      <c:txPr>
        <a:bodyPr/>
        <a:lstStyle/>
        <a:p>
          <a:pPr>
            <a:defRPr sz="900">
              <a:solidFill>
                <a:srgbClr val="222222"/>
              </a:solidFill>
            </a:defRPr>
          </a:pPr>
          <a:endParaRPr lang="en-US"/>
        </a:p>
      </c:txPr>
    </c:legend>
    <c:plotVisOnly val="1"/>
    <c:dispBlanksAs val="span"/>
    <c:showDLblsOverMax val="1"/>
  </c:chart>
  <c:spPr>
    <a:solidFill>
      <a:srgbClr val="FFFFFF">
        <a:alpha val="8500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9492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4DCC66-9B02-224C-A2DB-3E4D18413F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59286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4DCC66-9B02-224C-A2DB-3E4D18413F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27864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4DCC66-9B02-224C-A2DB-3E4D18413F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63082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4DCC66-9B02-224C-A2DB-3E4D18413F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241711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4DCC66-9B02-224C-A2DB-3E4D18413F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867538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Ted</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94DCC66-9B02-224C-A2DB-3E4D18413F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3831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D05EB-EB4F-15C0-F666-81A44E33A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1ADCD4-DD55-5634-FC71-602DD08EF6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7031E0-6916-58C0-E8E7-5630DD5355DD}"/>
              </a:ext>
            </a:extLst>
          </p:cNvPr>
          <p:cNvSpPr>
            <a:spLocks noGrp="1"/>
          </p:cNvSpPr>
          <p:nvPr>
            <p:ph type="body" idx="1"/>
          </p:nvPr>
        </p:nvSpPr>
        <p:spPr/>
        <p:txBody>
          <a:bodyPr/>
          <a:lstStyle/>
          <a:p>
            <a:pPr marL="0" marR="0" lvl="0" indent="0" algn="l" defTabSz="914400">
              <a:lnSpc>
                <a:spcPct val="100000"/>
              </a:lnSpc>
              <a:spcBef>
                <a:spcPts val="0"/>
              </a:spcBef>
              <a:spcAft>
                <a:spcPts val="0"/>
              </a:spcAft>
              <a:buNone/>
              <a:tabLst/>
              <a:defRPr/>
            </a:pPr>
            <a:r>
              <a:rPr lang="en-US" b="1">
                <a:solidFill>
                  <a:srgbClr val="101010"/>
                </a:solidFill>
                <a:latin typeface="Calibri"/>
              </a:rPr>
              <a:t>Ted</a:t>
            </a:r>
            <a:endParaRPr lang="en-US"/>
          </a:p>
          <a:p>
            <a:endParaRPr lang="en-US"/>
          </a:p>
        </p:txBody>
      </p:sp>
      <p:sp>
        <p:nvSpPr>
          <p:cNvPr id="4" name="Slide Number Placeholder 3">
            <a:extLst>
              <a:ext uri="{FF2B5EF4-FFF2-40B4-BE49-F238E27FC236}">
                <a16:creationId xmlns:a16="http://schemas.microsoft.com/office/drawing/2014/main" id="{A94C1B6E-B37F-63C8-F6D5-04BDB1111AD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86838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BE0F1-7A8D-8D34-E052-7CC52B3D97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EBD36D-4603-576A-164C-53ADF56B32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39F7CE-D73B-2E86-2DAC-EE60009EE6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rgbClr val="101010"/>
                </a:solidFill>
                <a:latin typeface="Calibri"/>
              </a:rPr>
              <a:t>Ted</a:t>
            </a:r>
            <a:endParaRPr lang="en-US" sz="1200" b="1" i="0">
              <a:solidFill>
                <a:srgbClr val="101010"/>
              </a:solidFill>
              <a:latin typeface="Calibri"/>
            </a:endParaRPr>
          </a:p>
          <a:p>
            <a:endParaRPr lang="en-US"/>
          </a:p>
        </p:txBody>
      </p:sp>
      <p:sp>
        <p:nvSpPr>
          <p:cNvPr id="4" name="Slide Number Placeholder 3">
            <a:extLst>
              <a:ext uri="{FF2B5EF4-FFF2-40B4-BE49-F238E27FC236}">
                <a16:creationId xmlns:a16="http://schemas.microsoft.com/office/drawing/2014/main" id="{765E665E-B2E1-3EE7-2DFB-00F05FDDFE2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70045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using my laptop fire up </a:t>
            </a:r>
            <a:r>
              <a:rPr lang="en-US" err="1"/>
              <a:t>lm</a:t>
            </a:r>
            <a:r>
              <a:rPr lang="en-US"/>
              <a:t> studio</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rgbClr val="101010"/>
                </a:solidFill>
                <a:latin typeface="Calibri"/>
              </a:rPr>
              <a:t>Ted</a:t>
            </a:r>
            <a:endParaRPr lang="en-US" sz="1200" b="1" i="0">
              <a:solidFill>
                <a:srgbClr val="101010"/>
              </a:solidFill>
              <a:latin typeface="Calibri"/>
              <a:ea typeface="Calibri"/>
              <a:cs typeface="Calibri"/>
            </a:endParaRPr>
          </a:p>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60908-D4F9-846F-2053-34E73565CE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154044-A509-C3A3-A873-0110DC57A0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66384F-615A-6F0F-1F9B-FD7DC31FCDA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rgbClr val="101010"/>
                </a:solidFill>
                <a:latin typeface="Calibri"/>
              </a:rPr>
              <a:t>Ted</a:t>
            </a:r>
            <a:endParaRPr lang="en-US" sz="1200" b="1" i="0">
              <a:solidFill>
                <a:srgbClr val="101010"/>
              </a:solidFill>
              <a:latin typeface="Calibri"/>
              <a:ea typeface="Calibri"/>
              <a:cs typeface="Calibri"/>
            </a:endParaRPr>
          </a:p>
          <a:p>
            <a:endParaRPr lang="en-US"/>
          </a:p>
        </p:txBody>
      </p:sp>
      <p:sp>
        <p:nvSpPr>
          <p:cNvPr id="4" name="Slide Number Placeholder 3">
            <a:extLst>
              <a:ext uri="{FF2B5EF4-FFF2-40B4-BE49-F238E27FC236}">
                <a16:creationId xmlns:a16="http://schemas.microsoft.com/office/drawing/2014/main" id="{2F1480D7-876A-A681-7EBB-D472D17C458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497534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7ACC2-7CBB-D68E-B196-62D8C98CC2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25A475-E95E-028A-8E81-1977E88CD5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FD5417-3C97-4972-18B5-55DC09C782F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298C120-2E1C-FBE5-A200-A4D87186330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825412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241A33"/>
                </a:solidFill>
                <a:latin typeface="Courier New" pitchFamily="34" charset="0"/>
                <a:ea typeface="Courier New" pitchFamily="34" charset="-122"/>
                <a:cs typeface="Courier New" pitchFamily="34" charset="-120"/>
              </a:rPr>
              <a:t>C(t) = </a:t>
            </a:r>
            <a:r>
              <a:rPr lang="en-US" sz="1200" b="1" dirty="0" err="1">
                <a:solidFill>
                  <a:srgbClr val="241A33"/>
                </a:solidFill>
                <a:latin typeface="Courier New" pitchFamily="34" charset="0"/>
                <a:ea typeface="Courier New" pitchFamily="34" charset="-122"/>
                <a:cs typeface="Courier New" pitchFamily="34" charset="-120"/>
              </a:rPr>
              <a:t>Cmax</a:t>
            </a:r>
            <a:r>
              <a:rPr lang="en-US" sz="1200" b="1" dirty="0">
                <a:solidFill>
                  <a:srgbClr val="241A33"/>
                </a:solidFill>
                <a:latin typeface="Courier New" pitchFamily="34" charset="0"/>
                <a:ea typeface="Courier New" pitchFamily="34" charset="-122"/>
                <a:cs typeface="Courier New" pitchFamily="34" charset="-120"/>
              </a:rPr>
              <a:t> - (</a:t>
            </a:r>
            <a:r>
              <a:rPr lang="en-US" sz="1200" b="1" dirty="0" err="1">
                <a:solidFill>
                  <a:srgbClr val="241A33"/>
                </a:solidFill>
                <a:latin typeface="Courier New" pitchFamily="34" charset="0"/>
                <a:ea typeface="Courier New" pitchFamily="34" charset="-122"/>
                <a:cs typeface="Courier New" pitchFamily="34" charset="-120"/>
              </a:rPr>
              <a:t>Cmax</a:t>
            </a:r>
            <a:r>
              <a:rPr lang="en-US" sz="1200" b="1" dirty="0">
                <a:solidFill>
                  <a:srgbClr val="241A33"/>
                </a:solidFill>
                <a:latin typeface="Courier New" pitchFamily="34" charset="0"/>
                <a:ea typeface="Courier New" pitchFamily="34" charset="-122"/>
                <a:cs typeface="Courier New" pitchFamily="34" charset="-120"/>
              </a:rPr>
              <a:t> - </a:t>
            </a:r>
            <a:r>
              <a:rPr lang="en-US" sz="1200" b="1" dirty="0" err="1">
                <a:solidFill>
                  <a:srgbClr val="241A33"/>
                </a:solidFill>
                <a:latin typeface="Courier New" pitchFamily="34" charset="0"/>
                <a:ea typeface="Courier New" pitchFamily="34" charset="-122"/>
                <a:cs typeface="Courier New" pitchFamily="34" charset="-120"/>
              </a:rPr>
              <a:t>Cmin</a:t>
            </a:r>
            <a:r>
              <a:rPr lang="en-US" sz="1200" b="1" dirty="0">
                <a:solidFill>
                  <a:srgbClr val="241A33"/>
                </a:solidFill>
                <a:latin typeface="Courier New" pitchFamily="34" charset="0"/>
                <a:ea typeface="Courier New" pitchFamily="34" charset="-122"/>
                <a:cs typeface="Courier New" pitchFamily="34" charset="-120"/>
              </a:rPr>
              <a:t>) * e^(-r * t')</a:t>
            </a:r>
            <a:br>
              <a:rPr lang="en-US" dirty="0"/>
            </a:br>
            <a:r>
              <a:rPr lang="en-US" dirty="0"/>
              <a:t>At turn t, context size equals the max size minus the span from minimum to max, scaled by an exponential decay term (Euler's number, about 2.718, raised to negative rate times turns since the last compaction), which makes the context start low after each compaction and rise toward the maximum</a:t>
            </a:r>
            <a:br>
              <a:rPr lang="en-US" dirty="0"/>
            </a:br>
            <a:br>
              <a:rPr lang="en-US" dirty="0"/>
            </a:br>
            <a:r>
              <a:rPr lang="en-US" dirty="0"/>
              <a:t>C(t) = The context size in tokens at turn t (the value the equation solves for)</a:t>
            </a:r>
          </a:p>
          <a:p>
            <a:r>
              <a:rPr lang="en-US" dirty="0" err="1"/>
              <a:t>Cmax</a:t>
            </a:r>
            <a:r>
              <a:rPr lang="en-US" dirty="0"/>
              <a:t> = The maximum context size, the ceiling the curve grows toward (1,000,000 tokens in the slide)</a:t>
            </a:r>
          </a:p>
          <a:p>
            <a:r>
              <a:rPr lang="en-US" dirty="0" err="1"/>
              <a:t>Cmin</a:t>
            </a:r>
            <a:r>
              <a:rPr lang="en-US" dirty="0"/>
              <a:t> = The post-compaction minimum context size, the floor C(t) starts from right after each compaction (50,000 tokens in the slide)</a:t>
            </a:r>
          </a:p>
          <a:p>
            <a:r>
              <a:rPr lang="en-US" dirty="0"/>
              <a:t>(</a:t>
            </a:r>
            <a:r>
              <a:rPr lang="en-US" dirty="0" err="1"/>
              <a:t>Cmax</a:t>
            </a:r>
            <a:r>
              <a:rPr lang="en-US" dirty="0"/>
              <a:t> - </a:t>
            </a:r>
            <a:r>
              <a:rPr lang="en-US" dirty="0" err="1"/>
              <a:t>Cmin</a:t>
            </a:r>
            <a:r>
              <a:rPr lang="en-US" dirty="0"/>
              <a:t>) = The growth span, the total range the context can climb across in one cycle, from the floor up to the ceiling (950,000 tokens in the slide)</a:t>
            </a:r>
          </a:p>
          <a:p>
            <a:r>
              <a:rPr lang="en-US" dirty="0"/>
              <a:t>e  = Euler's number, about 2.718, the base of the natural exponential</a:t>
            </a:r>
          </a:p>
          <a:p>
            <a:r>
              <a:rPr lang="en-US" dirty="0"/>
              <a:t>-r = The negative growth rate, the constant that sets how fast the context climbs toward </a:t>
            </a:r>
            <a:r>
              <a:rPr lang="en-US" dirty="0" err="1"/>
              <a:t>Cmax</a:t>
            </a:r>
            <a:r>
              <a:rPr lang="en-US" dirty="0"/>
              <a:t> (r = 0.35 per turn in the slide; negative because it drives exponential decay of the gap to the ceiling)</a:t>
            </a:r>
          </a:p>
          <a:p>
            <a:r>
              <a:rPr lang="en-US" dirty="0"/>
              <a:t>t’ = Turns since the last compaction, which resets to 0 each time compaction fires (not the absolute turn number)</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br>
              <a:rPr lang="en-US" dirty="0"/>
            </a:br>
            <a:r>
              <a:rPr lang="en-US" sz="1200" b="1" dirty="0">
                <a:solidFill>
                  <a:srgbClr val="241A33"/>
                </a:solidFill>
                <a:latin typeface="Courier New" pitchFamily="34" charset="0"/>
                <a:ea typeface="Courier New" pitchFamily="34" charset="-122"/>
                <a:cs typeface="Courier New" pitchFamily="34" charset="-120"/>
              </a:rPr>
              <a:t>Cost(N) = SUM[t=1..N] ( 5*C(t) + 25*O ) / 1e6</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Cumulative cost through turn N is the sum over every turn of that turn's input tokens times $5 plus its output tokens times $25, divided by one million, so each turn re-adds the cost of the whole context plus the new output.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Cost(N) = The cumulative cost in dollars through turn N (the value the equation solves for)</a:t>
            </a:r>
          </a:p>
          <a:p>
            <a:r>
              <a:rPr lang="en-US" dirty="0"/>
              <a:t>SUM[t=1..N] = Sum over every turn from the first (t = 1) through turn N, adding up each turn's cost</a:t>
            </a:r>
          </a:p>
          <a:p>
            <a:r>
              <a:rPr lang="en-US" dirty="0"/>
              <a:t>t = The turn index being summed over, running from 1 to N</a:t>
            </a:r>
          </a:p>
          <a:p>
            <a:r>
              <a:rPr lang="en-US" dirty="0"/>
              <a:t>N = The turn through which the cost is accumulated (the last turn in the sum)</a:t>
            </a:r>
          </a:p>
          <a:p>
            <a:r>
              <a:rPr lang="en-US" dirty="0"/>
              <a:t>5 = The input price, $5 per million tokens</a:t>
            </a:r>
          </a:p>
          <a:p>
            <a:r>
              <a:rPr lang="en-US" dirty="0"/>
              <a:t>C(t) = The input tokens at turn t, equal to the context size re-sent that turn (from the other equation)</a:t>
            </a:r>
          </a:p>
          <a:p>
            <a:r>
              <a:rPr lang="en-US" dirty="0"/>
              <a:t>5 * C(t) = That turn's input cost, before scaling, in dollars per million tokens</a:t>
            </a:r>
          </a:p>
          <a:p>
            <a:r>
              <a:rPr lang="en-US" dirty="0"/>
              <a:t>25 = The output price, $25 per million tokens</a:t>
            </a:r>
          </a:p>
          <a:p>
            <a:r>
              <a:rPr lang="en-US" dirty="0"/>
              <a:t>O = The output tokens generated that turn (a constant 30,000 in the slide)</a:t>
            </a:r>
          </a:p>
          <a:p>
            <a:r>
              <a:rPr lang="en-US" dirty="0"/>
              <a:t>25 * O = That turn's output cost, before scaling, in dollars per million tokens</a:t>
            </a:r>
          </a:p>
          <a:p>
            <a:r>
              <a:rPr lang="en-US" dirty="0"/>
              <a:t>1e6 = One million (10^6), the divisor that converts the per-million prices into actual dollars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FA703-F8CB-616A-93F7-81C980A375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487FC-55E3-5C8A-1F83-7B44B9E776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B0EF7-47E7-0210-FB39-39F8112624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D82D5F-49DA-4B2E-D5D4-A3FBB27DBAF1}"/>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3837110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39BF3-8117-FA1D-6DC0-155768778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F448E0-E992-2F11-9BA5-616A836234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0C2334-039D-6857-E240-30D8E5F740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38650B-C4C7-0A67-EAD8-BD9A7E031145}"/>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8780884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08C81-F54B-E993-2DCB-24BD7401F6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17476C-67F5-5804-81B7-FA21FB57F6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A772AF-CDC8-1F7A-13FC-E7E4ACF683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FD0CE5-C58A-05D9-CD02-AAD357FBF89B}"/>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6616129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lunch. Remind students the system prompt they save here is the one they will extend in the Repo 1 Build this afternoon.</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3.xml"/><Relationship Id="rId1" Type="http://schemas.openxmlformats.org/officeDocument/2006/relationships/tags" Target="../tags/tag1.xml"/><Relationship Id="rId4" Type="http://schemas.openxmlformats.org/officeDocument/2006/relationships/image" Target="../media/image9.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mp; Subtitle">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11430000" cy="443198"/>
          </a:xfrm>
          <a:prstGeom prst="rect">
            <a:avLst/>
          </a:prstGeom>
        </p:spPr>
        <p:txBody>
          <a:bodyPr wrap="square" lIns="0" tIns="0" rIns="0" bIns="0">
            <a:spAutoFit/>
          </a:bodyPr>
          <a:lstStyle>
            <a:lvl1pPr>
              <a:defRPr sz="3200">
                <a:solidFill>
                  <a:schemeClr val="bg1"/>
                </a:solidFill>
                <a:latin typeface="+mj-lt"/>
              </a:defRPr>
            </a:lvl1pPr>
          </a:lstStyle>
          <a:p>
            <a:r>
              <a:rPr lang="en-US"/>
              <a:t>Click to edit Master title style</a:t>
            </a:r>
          </a:p>
        </p:txBody>
      </p:sp>
      <p:sp>
        <p:nvSpPr>
          <p:cNvPr id="3" name="Subtitle 2"/>
          <p:cNvSpPr>
            <a:spLocks noGrp="1"/>
          </p:cNvSpPr>
          <p:nvPr>
            <p:ph type="subTitle" idx="1"/>
          </p:nvPr>
        </p:nvSpPr>
        <p:spPr>
          <a:xfrm>
            <a:off x="381000" y="857250"/>
            <a:ext cx="11430000" cy="246221"/>
          </a:xfrm>
          <a:prstGeom prst="rect">
            <a:avLst/>
          </a:prstGeom>
        </p:spPr>
        <p:txBody>
          <a:bodyPr wrap="square" lIns="0" tIns="0" rIns="0" bIns="0">
            <a:spAutoFit/>
          </a:bodyPr>
          <a:lstStyle>
            <a:lvl1pPr marL="0" indent="0" algn="l">
              <a:lnSpc>
                <a:spcPct val="100000"/>
              </a:lnSpc>
              <a:spcBef>
                <a:spcPts val="0"/>
              </a:spcBef>
              <a:buNone/>
              <a:defRPr sz="1600">
                <a:solidFill>
                  <a:schemeClr val="bg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Tree>
    <p:extLst>
      <p:ext uri="{BB962C8B-B14F-4D97-AF65-F5344CB8AC3E}">
        <p14:creationId xmlns:p14="http://schemas.microsoft.com/office/powerpoint/2010/main" val="60561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E3816-F2C0-B26C-72BD-B53B8DDDFA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05A158-5ACD-5467-C43B-DFF19A5FA1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D0D99B-8F81-1FA2-BD47-47CF7D01662A}"/>
              </a:ext>
            </a:extLst>
          </p:cNvPr>
          <p:cNvSpPr>
            <a:spLocks noGrp="1"/>
          </p:cNvSpPr>
          <p:nvPr>
            <p:ph type="dt" sz="half" idx="10"/>
          </p:nvPr>
        </p:nvSpPr>
        <p:spPr/>
        <p:txBody>
          <a:bodyPr/>
          <a:lstStyle/>
          <a:p>
            <a:fld id="{AD5B151E-BA0B-1545-BCB0-E6DC0FCDF45A}" type="datetimeFigureOut">
              <a:rPr lang="en-US" smtClean="0"/>
              <a:t>7/17/26</a:t>
            </a:fld>
            <a:endParaRPr lang="en-US"/>
          </a:p>
        </p:txBody>
      </p:sp>
      <p:sp>
        <p:nvSpPr>
          <p:cNvPr id="5" name="Footer Placeholder 4">
            <a:extLst>
              <a:ext uri="{FF2B5EF4-FFF2-40B4-BE49-F238E27FC236}">
                <a16:creationId xmlns:a16="http://schemas.microsoft.com/office/drawing/2014/main" id="{E733405C-58EE-2E86-7F72-C658CFEEFD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E362C2-AC05-B99B-26FA-4A5BFE485FB2}"/>
              </a:ext>
            </a:extLst>
          </p:cNvPr>
          <p:cNvSpPr>
            <a:spLocks noGrp="1"/>
          </p:cNvSpPr>
          <p:nvPr>
            <p:ph type="sldNum" sz="quarter" idx="12"/>
          </p:nvPr>
        </p:nvSpPr>
        <p:spPr/>
        <p:txBody>
          <a:bodyPr/>
          <a:lstStyle/>
          <a:p>
            <a:fld id="{11D57AE7-AC4C-0D48-80BC-0F2EE5480964}" type="slidenum">
              <a:rPr lang="en-US" smtClean="0"/>
              <a:t>‹#›</a:t>
            </a:fld>
            <a:endParaRPr lang="en-US"/>
          </a:p>
        </p:txBody>
      </p:sp>
    </p:spTree>
    <p:extLst>
      <p:ext uri="{BB962C8B-B14F-4D97-AF65-F5344CB8AC3E}">
        <p14:creationId xmlns:p14="http://schemas.microsoft.com/office/powerpoint/2010/main" val="2026530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ABD87-B7CE-57F0-82CF-67DA40FBB4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0F9AB4-7712-6123-3CED-9B6FC7F6AD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FE70AF-01BD-4476-FB38-752BBF64F157}"/>
              </a:ext>
            </a:extLst>
          </p:cNvPr>
          <p:cNvSpPr>
            <a:spLocks noGrp="1"/>
          </p:cNvSpPr>
          <p:nvPr>
            <p:ph type="dt" sz="half" idx="10"/>
          </p:nvPr>
        </p:nvSpPr>
        <p:spPr/>
        <p:txBody>
          <a:bodyPr/>
          <a:lstStyle/>
          <a:p>
            <a:fld id="{AD5B151E-BA0B-1545-BCB0-E6DC0FCDF45A}" type="datetimeFigureOut">
              <a:rPr lang="en-US" smtClean="0"/>
              <a:t>7/17/26</a:t>
            </a:fld>
            <a:endParaRPr lang="en-US"/>
          </a:p>
        </p:txBody>
      </p:sp>
      <p:sp>
        <p:nvSpPr>
          <p:cNvPr id="5" name="Footer Placeholder 4">
            <a:extLst>
              <a:ext uri="{FF2B5EF4-FFF2-40B4-BE49-F238E27FC236}">
                <a16:creationId xmlns:a16="http://schemas.microsoft.com/office/drawing/2014/main" id="{E9812EC6-CD0F-156E-28B3-5EB810D897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F548CA-759B-E2B1-D5D3-8905F5DE991B}"/>
              </a:ext>
            </a:extLst>
          </p:cNvPr>
          <p:cNvSpPr>
            <a:spLocks noGrp="1"/>
          </p:cNvSpPr>
          <p:nvPr>
            <p:ph type="sldNum" sz="quarter" idx="12"/>
          </p:nvPr>
        </p:nvSpPr>
        <p:spPr/>
        <p:txBody>
          <a:bodyPr/>
          <a:lstStyle/>
          <a:p>
            <a:fld id="{11D57AE7-AC4C-0D48-80BC-0F2EE5480964}" type="slidenum">
              <a:rPr lang="en-US" smtClean="0"/>
              <a:t>‹#›</a:t>
            </a:fld>
            <a:endParaRPr lang="en-US"/>
          </a:p>
        </p:txBody>
      </p:sp>
    </p:spTree>
    <p:extLst>
      <p:ext uri="{BB962C8B-B14F-4D97-AF65-F5344CB8AC3E}">
        <p14:creationId xmlns:p14="http://schemas.microsoft.com/office/powerpoint/2010/main" val="3986791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41927-74BE-CF14-98ED-4C9B9726B8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886ED14-E5C5-E9EB-DCA9-92995D4325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D60176-86ED-0592-D461-514708C95297}"/>
              </a:ext>
            </a:extLst>
          </p:cNvPr>
          <p:cNvSpPr>
            <a:spLocks noGrp="1"/>
          </p:cNvSpPr>
          <p:nvPr>
            <p:ph type="dt" sz="half" idx="10"/>
          </p:nvPr>
        </p:nvSpPr>
        <p:spPr/>
        <p:txBody>
          <a:bodyPr/>
          <a:lstStyle/>
          <a:p>
            <a:fld id="{AD5B151E-BA0B-1545-BCB0-E6DC0FCDF45A}" type="datetimeFigureOut">
              <a:rPr lang="en-US" smtClean="0"/>
              <a:t>7/17/26</a:t>
            </a:fld>
            <a:endParaRPr lang="en-US"/>
          </a:p>
        </p:txBody>
      </p:sp>
      <p:sp>
        <p:nvSpPr>
          <p:cNvPr id="5" name="Footer Placeholder 4">
            <a:extLst>
              <a:ext uri="{FF2B5EF4-FFF2-40B4-BE49-F238E27FC236}">
                <a16:creationId xmlns:a16="http://schemas.microsoft.com/office/drawing/2014/main" id="{472E56BA-357F-6EC9-5BD9-0AA991E7F8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253145-8930-48A4-9DB3-33B24CEA949B}"/>
              </a:ext>
            </a:extLst>
          </p:cNvPr>
          <p:cNvSpPr>
            <a:spLocks noGrp="1"/>
          </p:cNvSpPr>
          <p:nvPr>
            <p:ph type="sldNum" sz="quarter" idx="12"/>
          </p:nvPr>
        </p:nvSpPr>
        <p:spPr/>
        <p:txBody>
          <a:bodyPr/>
          <a:lstStyle/>
          <a:p>
            <a:fld id="{11D57AE7-AC4C-0D48-80BC-0F2EE5480964}" type="slidenum">
              <a:rPr lang="en-US" smtClean="0"/>
              <a:t>‹#›</a:t>
            </a:fld>
            <a:endParaRPr lang="en-US"/>
          </a:p>
        </p:txBody>
      </p:sp>
    </p:spTree>
    <p:extLst>
      <p:ext uri="{BB962C8B-B14F-4D97-AF65-F5344CB8AC3E}">
        <p14:creationId xmlns:p14="http://schemas.microsoft.com/office/powerpoint/2010/main" val="3985795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41D1B-02AB-BCC8-F7B4-AA79ED58B9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C07E1E-4883-06E3-B166-5DF78402D4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A2F557-FF29-0159-15B2-7F8B6DD7FF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E8252F7-E198-0669-6932-154C0E0048B4}"/>
              </a:ext>
            </a:extLst>
          </p:cNvPr>
          <p:cNvSpPr>
            <a:spLocks noGrp="1"/>
          </p:cNvSpPr>
          <p:nvPr>
            <p:ph type="dt" sz="half" idx="10"/>
          </p:nvPr>
        </p:nvSpPr>
        <p:spPr/>
        <p:txBody>
          <a:bodyPr/>
          <a:lstStyle/>
          <a:p>
            <a:fld id="{AD5B151E-BA0B-1545-BCB0-E6DC0FCDF45A}" type="datetimeFigureOut">
              <a:rPr lang="en-US" smtClean="0"/>
              <a:t>7/17/26</a:t>
            </a:fld>
            <a:endParaRPr lang="en-US"/>
          </a:p>
        </p:txBody>
      </p:sp>
      <p:sp>
        <p:nvSpPr>
          <p:cNvPr id="6" name="Footer Placeholder 5">
            <a:extLst>
              <a:ext uri="{FF2B5EF4-FFF2-40B4-BE49-F238E27FC236}">
                <a16:creationId xmlns:a16="http://schemas.microsoft.com/office/drawing/2014/main" id="{52C4FAE1-0D3E-4D76-BF24-8184AA90E8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11ACB4-6BBF-28D3-D40F-EC0AE5CC384B}"/>
              </a:ext>
            </a:extLst>
          </p:cNvPr>
          <p:cNvSpPr>
            <a:spLocks noGrp="1"/>
          </p:cNvSpPr>
          <p:nvPr>
            <p:ph type="sldNum" sz="quarter" idx="12"/>
          </p:nvPr>
        </p:nvSpPr>
        <p:spPr/>
        <p:txBody>
          <a:bodyPr/>
          <a:lstStyle/>
          <a:p>
            <a:fld id="{11D57AE7-AC4C-0D48-80BC-0F2EE5480964}" type="slidenum">
              <a:rPr lang="en-US" smtClean="0"/>
              <a:t>‹#›</a:t>
            </a:fld>
            <a:endParaRPr lang="en-US"/>
          </a:p>
        </p:txBody>
      </p:sp>
    </p:spTree>
    <p:extLst>
      <p:ext uri="{BB962C8B-B14F-4D97-AF65-F5344CB8AC3E}">
        <p14:creationId xmlns:p14="http://schemas.microsoft.com/office/powerpoint/2010/main" val="4119870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48BCF-5711-CA03-0A00-80F20B1956B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51D69A-B0A0-2034-2A98-E6C78992C0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3F8756-22A1-BC79-8C37-0AFD11100A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04228D-44ED-F589-A177-091BC1FDC1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6CEA1D-F584-39E9-859D-1EAE05B6AA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E9349A-7B44-28E3-EC81-16492CA1F05A}"/>
              </a:ext>
            </a:extLst>
          </p:cNvPr>
          <p:cNvSpPr>
            <a:spLocks noGrp="1"/>
          </p:cNvSpPr>
          <p:nvPr>
            <p:ph type="dt" sz="half" idx="10"/>
          </p:nvPr>
        </p:nvSpPr>
        <p:spPr/>
        <p:txBody>
          <a:bodyPr/>
          <a:lstStyle/>
          <a:p>
            <a:fld id="{AD5B151E-BA0B-1545-BCB0-E6DC0FCDF45A}" type="datetimeFigureOut">
              <a:rPr lang="en-US" smtClean="0"/>
              <a:t>7/17/26</a:t>
            </a:fld>
            <a:endParaRPr lang="en-US"/>
          </a:p>
        </p:txBody>
      </p:sp>
      <p:sp>
        <p:nvSpPr>
          <p:cNvPr id="8" name="Footer Placeholder 7">
            <a:extLst>
              <a:ext uri="{FF2B5EF4-FFF2-40B4-BE49-F238E27FC236}">
                <a16:creationId xmlns:a16="http://schemas.microsoft.com/office/drawing/2014/main" id="{B579D90E-DD1D-8F8B-9FAA-7C687BBBE66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5DBBA6D-A48E-92CB-318F-D030CFC2293D}"/>
              </a:ext>
            </a:extLst>
          </p:cNvPr>
          <p:cNvSpPr>
            <a:spLocks noGrp="1"/>
          </p:cNvSpPr>
          <p:nvPr>
            <p:ph type="sldNum" sz="quarter" idx="12"/>
          </p:nvPr>
        </p:nvSpPr>
        <p:spPr/>
        <p:txBody>
          <a:bodyPr/>
          <a:lstStyle/>
          <a:p>
            <a:fld id="{11D57AE7-AC4C-0D48-80BC-0F2EE5480964}" type="slidenum">
              <a:rPr lang="en-US" smtClean="0"/>
              <a:t>‹#›</a:t>
            </a:fld>
            <a:endParaRPr lang="en-US"/>
          </a:p>
        </p:txBody>
      </p:sp>
    </p:spTree>
    <p:extLst>
      <p:ext uri="{BB962C8B-B14F-4D97-AF65-F5344CB8AC3E}">
        <p14:creationId xmlns:p14="http://schemas.microsoft.com/office/powerpoint/2010/main" val="3776938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9EA80-9FA0-F622-0656-A169CCDD1D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C09AC0D-0D5A-4742-D202-8611FD6921AA}"/>
              </a:ext>
            </a:extLst>
          </p:cNvPr>
          <p:cNvSpPr>
            <a:spLocks noGrp="1"/>
          </p:cNvSpPr>
          <p:nvPr>
            <p:ph type="dt" sz="half" idx="10"/>
          </p:nvPr>
        </p:nvSpPr>
        <p:spPr/>
        <p:txBody>
          <a:bodyPr/>
          <a:lstStyle/>
          <a:p>
            <a:fld id="{AD5B151E-BA0B-1545-BCB0-E6DC0FCDF45A}" type="datetimeFigureOut">
              <a:rPr lang="en-US" smtClean="0"/>
              <a:t>7/17/26</a:t>
            </a:fld>
            <a:endParaRPr lang="en-US"/>
          </a:p>
        </p:txBody>
      </p:sp>
      <p:sp>
        <p:nvSpPr>
          <p:cNvPr id="4" name="Footer Placeholder 3">
            <a:extLst>
              <a:ext uri="{FF2B5EF4-FFF2-40B4-BE49-F238E27FC236}">
                <a16:creationId xmlns:a16="http://schemas.microsoft.com/office/drawing/2014/main" id="{79A5554C-E068-44F7-C03C-2D031CA36C7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E7F5E2-EEE2-8D38-F80D-5ABEF899E943}"/>
              </a:ext>
            </a:extLst>
          </p:cNvPr>
          <p:cNvSpPr>
            <a:spLocks noGrp="1"/>
          </p:cNvSpPr>
          <p:nvPr>
            <p:ph type="sldNum" sz="quarter" idx="12"/>
          </p:nvPr>
        </p:nvSpPr>
        <p:spPr/>
        <p:txBody>
          <a:bodyPr/>
          <a:lstStyle/>
          <a:p>
            <a:fld id="{11D57AE7-AC4C-0D48-80BC-0F2EE5480964}" type="slidenum">
              <a:rPr lang="en-US" smtClean="0"/>
              <a:t>‹#›</a:t>
            </a:fld>
            <a:endParaRPr lang="en-US"/>
          </a:p>
        </p:txBody>
      </p:sp>
    </p:spTree>
    <p:extLst>
      <p:ext uri="{BB962C8B-B14F-4D97-AF65-F5344CB8AC3E}">
        <p14:creationId xmlns:p14="http://schemas.microsoft.com/office/powerpoint/2010/main" val="2799117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7EED68-6DF5-98D9-B869-A90FBEEB0DD4}"/>
              </a:ext>
            </a:extLst>
          </p:cNvPr>
          <p:cNvSpPr>
            <a:spLocks noGrp="1"/>
          </p:cNvSpPr>
          <p:nvPr>
            <p:ph type="dt" sz="half" idx="10"/>
          </p:nvPr>
        </p:nvSpPr>
        <p:spPr/>
        <p:txBody>
          <a:bodyPr/>
          <a:lstStyle/>
          <a:p>
            <a:fld id="{AD5B151E-BA0B-1545-BCB0-E6DC0FCDF45A}" type="datetimeFigureOut">
              <a:rPr lang="en-US" smtClean="0"/>
              <a:t>7/17/26</a:t>
            </a:fld>
            <a:endParaRPr lang="en-US"/>
          </a:p>
        </p:txBody>
      </p:sp>
      <p:sp>
        <p:nvSpPr>
          <p:cNvPr id="3" name="Footer Placeholder 2">
            <a:extLst>
              <a:ext uri="{FF2B5EF4-FFF2-40B4-BE49-F238E27FC236}">
                <a16:creationId xmlns:a16="http://schemas.microsoft.com/office/drawing/2014/main" id="{13D3FFBB-740D-07BB-D76F-1011561D80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3B181F-1EE6-E3EB-6DEF-B0B472FDAD16}"/>
              </a:ext>
            </a:extLst>
          </p:cNvPr>
          <p:cNvSpPr>
            <a:spLocks noGrp="1"/>
          </p:cNvSpPr>
          <p:nvPr>
            <p:ph type="sldNum" sz="quarter" idx="12"/>
          </p:nvPr>
        </p:nvSpPr>
        <p:spPr/>
        <p:txBody>
          <a:bodyPr/>
          <a:lstStyle/>
          <a:p>
            <a:fld id="{11D57AE7-AC4C-0D48-80BC-0F2EE5480964}" type="slidenum">
              <a:rPr lang="en-US" smtClean="0"/>
              <a:t>‹#›</a:t>
            </a:fld>
            <a:endParaRPr lang="en-US"/>
          </a:p>
        </p:txBody>
      </p:sp>
    </p:spTree>
    <p:extLst>
      <p:ext uri="{BB962C8B-B14F-4D97-AF65-F5344CB8AC3E}">
        <p14:creationId xmlns:p14="http://schemas.microsoft.com/office/powerpoint/2010/main" val="923555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56769-E817-9F9A-E2E1-1E646991F2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228DE6E-D519-839B-CC35-1BAF0BFA87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AAAC8C3-16B4-8A91-3188-E4CDA78023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D10EC2-46C3-61A2-4042-B9AB0EA3517B}"/>
              </a:ext>
            </a:extLst>
          </p:cNvPr>
          <p:cNvSpPr>
            <a:spLocks noGrp="1"/>
          </p:cNvSpPr>
          <p:nvPr>
            <p:ph type="dt" sz="half" idx="10"/>
          </p:nvPr>
        </p:nvSpPr>
        <p:spPr/>
        <p:txBody>
          <a:bodyPr/>
          <a:lstStyle/>
          <a:p>
            <a:fld id="{AD5B151E-BA0B-1545-BCB0-E6DC0FCDF45A}" type="datetimeFigureOut">
              <a:rPr lang="en-US" smtClean="0"/>
              <a:t>7/17/26</a:t>
            </a:fld>
            <a:endParaRPr lang="en-US"/>
          </a:p>
        </p:txBody>
      </p:sp>
      <p:sp>
        <p:nvSpPr>
          <p:cNvPr id="6" name="Footer Placeholder 5">
            <a:extLst>
              <a:ext uri="{FF2B5EF4-FFF2-40B4-BE49-F238E27FC236}">
                <a16:creationId xmlns:a16="http://schemas.microsoft.com/office/drawing/2014/main" id="{87917E75-A91E-B053-5FA6-DFEC7999E5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D5C352-91B6-27DE-AE05-4D645B7EBC8A}"/>
              </a:ext>
            </a:extLst>
          </p:cNvPr>
          <p:cNvSpPr>
            <a:spLocks noGrp="1"/>
          </p:cNvSpPr>
          <p:nvPr>
            <p:ph type="sldNum" sz="quarter" idx="12"/>
          </p:nvPr>
        </p:nvSpPr>
        <p:spPr/>
        <p:txBody>
          <a:bodyPr/>
          <a:lstStyle/>
          <a:p>
            <a:fld id="{11D57AE7-AC4C-0D48-80BC-0F2EE5480964}" type="slidenum">
              <a:rPr lang="en-US" smtClean="0"/>
              <a:t>‹#›</a:t>
            </a:fld>
            <a:endParaRPr lang="en-US"/>
          </a:p>
        </p:txBody>
      </p:sp>
    </p:spTree>
    <p:extLst>
      <p:ext uri="{BB962C8B-B14F-4D97-AF65-F5344CB8AC3E}">
        <p14:creationId xmlns:p14="http://schemas.microsoft.com/office/powerpoint/2010/main" val="426276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ED969-23DC-90E5-5DC4-8B9697F2F3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11E4F2-D02E-0296-8171-1E1AC89632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E10EFC-F315-2AA9-8B52-6750DA23CE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B8F0D9-3370-F48C-F4D1-A51858455401}"/>
              </a:ext>
            </a:extLst>
          </p:cNvPr>
          <p:cNvSpPr>
            <a:spLocks noGrp="1"/>
          </p:cNvSpPr>
          <p:nvPr>
            <p:ph type="dt" sz="half" idx="10"/>
          </p:nvPr>
        </p:nvSpPr>
        <p:spPr/>
        <p:txBody>
          <a:bodyPr/>
          <a:lstStyle/>
          <a:p>
            <a:fld id="{AD5B151E-BA0B-1545-BCB0-E6DC0FCDF45A}" type="datetimeFigureOut">
              <a:rPr lang="en-US" smtClean="0"/>
              <a:t>7/17/26</a:t>
            </a:fld>
            <a:endParaRPr lang="en-US"/>
          </a:p>
        </p:txBody>
      </p:sp>
      <p:sp>
        <p:nvSpPr>
          <p:cNvPr id="6" name="Footer Placeholder 5">
            <a:extLst>
              <a:ext uri="{FF2B5EF4-FFF2-40B4-BE49-F238E27FC236}">
                <a16:creationId xmlns:a16="http://schemas.microsoft.com/office/drawing/2014/main" id="{DE04CBBA-AC62-11AB-1FFA-281637569E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1D1DA9-879A-C020-AD6F-94CA984A470B}"/>
              </a:ext>
            </a:extLst>
          </p:cNvPr>
          <p:cNvSpPr>
            <a:spLocks noGrp="1"/>
          </p:cNvSpPr>
          <p:nvPr>
            <p:ph type="sldNum" sz="quarter" idx="12"/>
          </p:nvPr>
        </p:nvSpPr>
        <p:spPr/>
        <p:txBody>
          <a:bodyPr/>
          <a:lstStyle/>
          <a:p>
            <a:fld id="{11D57AE7-AC4C-0D48-80BC-0F2EE5480964}" type="slidenum">
              <a:rPr lang="en-US" smtClean="0"/>
              <a:t>‹#›</a:t>
            </a:fld>
            <a:endParaRPr lang="en-US"/>
          </a:p>
        </p:txBody>
      </p:sp>
    </p:spTree>
    <p:extLst>
      <p:ext uri="{BB962C8B-B14F-4D97-AF65-F5344CB8AC3E}">
        <p14:creationId xmlns:p14="http://schemas.microsoft.com/office/powerpoint/2010/main" val="4441653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A695B-9F32-0674-2C08-4D2754A1B4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ECF1D59-AC73-1336-984F-89FFD55337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893619-9C9B-8F98-7AF5-6F156E6AAB6C}"/>
              </a:ext>
            </a:extLst>
          </p:cNvPr>
          <p:cNvSpPr>
            <a:spLocks noGrp="1"/>
          </p:cNvSpPr>
          <p:nvPr>
            <p:ph type="dt" sz="half" idx="10"/>
          </p:nvPr>
        </p:nvSpPr>
        <p:spPr/>
        <p:txBody>
          <a:bodyPr/>
          <a:lstStyle/>
          <a:p>
            <a:fld id="{AD5B151E-BA0B-1545-BCB0-E6DC0FCDF45A}" type="datetimeFigureOut">
              <a:rPr lang="en-US" smtClean="0"/>
              <a:t>7/17/26</a:t>
            </a:fld>
            <a:endParaRPr lang="en-US"/>
          </a:p>
        </p:txBody>
      </p:sp>
      <p:sp>
        <p:nvSpPr>
          <p:cNvPr id="5" name="Footer Placeholder 4">
            <a:extLst>
              <a:ext uri="{FF2B5EF4-FFF2-40B4-BE49-F238E27FC236}">
                <a16:creationId xmlns:a16="http://schemas.microsoft.com/office/drawing/2014/main" id="{57D4CD2D-BA55-0B0D-41FD-9970E28FC4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E26984-CF46-9F21-7AE2-3EF80F5EAB1D}"/>
              </a:ext>
            </a:extLst>
          </p:cNvPr>
          <p:cNvSpPr>
            <a:spLocks noGrp="1"/>
          </p:cNvSpPr>
          <p:nvPr>
            <p:ph type="sldNum" sz="quarter" idx="12"/>
          </p:nvPr>
        </p:nvSpPr>
        <p:spPr/>
        <p:txBody>
          <a:bodyPr/>
          <a:lstStyle/>
          <a:p>
            <a:fld id="{11D57AE7-AC4C-0D48-80BC-0F2EE5480964}" type="slidenum">
              <a:rPr lang="en-US" smtClean="0"/>
              <a:t>‹#›</a:t>
            </a:fld>
            <a:endParaRPr lang="en-US"/>
          </a:p>
        </p:txBody>
      </p:sp>
    </p:spTree>
    <p:extLst>
      <p:ext uri="{BB962C8B-B14F-4D97-AF65-F5344CB8AC3E}">
        <p14:creationId xmlns:p14="http://schemas.microsoft.com/office/powerpoint/2010/main" val="27759609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F16CA5-D812-C092-1D99-9B1E97674BD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34BFE93-4602-A41E-9A28-B676576B33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ECEAE5-5860-DD75-647B-F7AB653722C8}"/>
              </a:ext>
            </a:extLst>
          </p:cNvPr>
          <p:cNvSpPr>
            <a:spLocks noGrp="1"/>
          </p:cNvSpPr>
          <p:nvPr>
            <p:ph type="dt" sz="half" idx="10"/>
          </p:nvPr>
        </p:nvSpPr>
        <p:spPr/>
        <p:txBody>
          <a:bodyPr/>
          <a:lstStyle/>
          <a:p>
            <a:fld id="{AD5B151E-BA0B-1545-BCB0-E6DC0FCDF45A}" type="datetimeFigureOut">
              <a:rPr lang="en-US" smtClean="0"/>
              <a:t>7/17/26</a:t>
            </a:fld>
            <a:endParaRPr lang="en-US"/>
          </a:p>
        </p:txBody>
      </p:sp>
      <p:sp>
        <p:nvSpPr>
          <p:cNvPr id="5" name="Footer Placeholder 4">
            <a:extLst>
              <a:ext uri="{FF2B5EF4-FFF2-40B4-BE49-F238E27FC236}">
                <a16:creationId xmlns:a16="http://schemas.microsoft.com/office/drawing/2014/main" id="{5AEDEC05-C177-525E-8E79-453F58F68B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1892AB-B5F4-B3AB-089C-67C59FCA199B}"/>
              </a:ext>
            </a:extLst>
          </p:cNvPr>
          <p:cNvSpPr>
            <a:spLocks noGrp="1"/>
          </p:cNvSpPr>
          <p:nvPr>
            <p:ph type="sldNum" sz="quarter" idx="12"/>
          </p:nvPr>
        </p:nvSpPr>
        <p:spPr/>
        <p:txBody>
          <a:bodyPr/>
          <a:lstStyle/>
          <a:p>
            <a:fld id="{11D57AE7-AC4C-0D48-80BC-0F2EE5480964}" type="slidenum">
              <a:rPr lang="en-US" smtClean="0"/>
              <a:t>‹#›</a:t>
            </a:fld>
            <a:endParaRPr lang="en-US"/>
          </a:p>
        </p:txBody>
      </p:sp>
    </p:spTree>
    <p:extLst>
      <p:ext uri="{BB962C8B-B14F-4D97-AF65-F5344CB8AC3E}">
        <p14:creationId xmlns:p14="http://schemas.microsoft.com/office/powerpoint/2010/main" val="2087859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Agenda">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D95DA-6F2D-4DB9-A4B6-50D3D1C65809}"/>
              </a:ext>
            </a:extLst>
          </p:cNvPr>
          <p:cNvSpPr>
            <a:spLocks noGrp="1"/>
          </p:cNvSpPr>
          <p:nvPr>
            <p:ph type="title"/>
          </p:nvPr>
        </p:nvSpPr>
        <p:spPr>
          <a:xfrm>
            <a:off x="378759" y="5090333"/>
            <a:ext cx="9715500" cy="747897"/>
          </a:xfrm>
          <a:prstGeom prst="rect">
            <a:avLst/>
          </a:prstGeom>
        </p:spPr>
        <p:txBody>
          <a:bodyPr wrap="square" lIns="0" tIns="0" rIns="0" bIns="0" anchor="b" anchorCtr="0">
            <a:spAutoFit/>
          </a:bodyPr>
          <a:lstStyle>
            <a:lvl1pPr>
              <a:lnSpc>
                <a:spcPct val="90000"/>
              </a:lnSpc>
              <a:defRPr sz="5400">
                <a:solidFill>
                  <a:srgbClr val="E5F8FF"/>
                </a:solidFill>
                <a:latin typeface="Arial Nova Light" panose="020B0304020202020204" pitchFamily="34" charset="0"/>
              </a:defRPr>
            </a:lvl1pPr>
          </a:lstStyle>
          <a:p>
            <a:r>
              <a:rPr lang="en-US"/>
              <a:t>Click to edit Master title style</a:t>
            </a:r>
          </a:p>
        </p:txBody>
      </p:sp>
      <p:pic>
        <p:nvPicPr>
          <p:cNvPr id="3" name="Picture 2">
            <a:extLst>
              <a:ext uri="{FF2B5EF4-FFF2-40B4-BE49-F238E27FC236}">
                <a16:creationId xmlns:a16="http://schemas.microsoft.com/office/drawing/2014/main" id="{5C487A85-65B5-4371-833A-AD6EFF69F55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5" name="Text Placeholder 4">
            <a:extLst>
              <a:ext uri="{FF2B5EF4-FFF2-40B4-BE49-F238E27FC236}">
                <a16:creationId xmlns:a16="http://schemas.microsoft.com/office/drawing/2014/main" id="{31E00A8F-8F29-4705-8469-E9075A8C1BA9}"/>
              </a:ext>
            </a:extLst>
          </p:cNvPr>
          <p:cNvSpPr>
            <a:spLocks noGrp="1"/>
          </p:cNvSpPr>
          <p:nvPr>
            <p:ph type="body" sz="quarter" idx="10"/>
          </p:nvPr>
        </p:nvSpPr>
        <p:spPr>
          <a:xfrm>
            <a:off x="8343900" y="914400"/>
            <a:ext cx="3467100" cy="2514600"/>
          </a:xfrm>
          <a:prstGeom prst="rect">
            <a:avLst/>
          </a:prstGeom>
        </p:spPr>
        <p:txBody>
          <a:bodyPr lIns="0" tIns="0" rIns="0" bIns="0"/>
          <a:lstStyle>
            <a:lvl1pPr>
              <a:lnSpc>
                <a:spcPct val="100000"/>
              </a:lnSpc>
              <a:spcBef>
                <a:spcPts val="1200"/>
              </a:spcBef>
              <a:buClr>
                <a:schemeClr val="bg1"/>
              </a:buClr>
              <a:defRPr sz="2000">
                <a:solidFill>
                  <a:schemeClr val="tx2"/>
                </a:solidFill>
              </a:defRPr>
            </a:lvl1pPr>
            <a:lvl2pPr marL="741363" indent="-284163">
              <a:lnSpc>
                <a:spcPct val="100000"/>
              </a:lnSpc>
              <a:spcBef>
                <a:spcPts val="600"/>
              </a:spcBef>
              <a:buClr>
                <a:schemeClr val="bg1"/>
              </a:buClr>
              <a:buFont typeface="Arial" panose="020B0604020202020204" pitchFamily="34" charset="0"/>
              <a:buChar char="–"/>
              <a:defRPr sz="1800">
                <a:solidFill>
                  <a:schemeClr val="tx2"/>
                </a:solidFill>
              </a:defRPr>
            </a:lvl2pPr>
            <a:lvl3pPr marL="1142971" indent="-228594">
              <a:lnSpc>
                <a:spcPct val="100000"/>
              </a:lnSpc>
              <a:spcBef>
                <a:spcPts val="600"/>
              </a:spcBef>
              <a:buClr>
                <a:schemeClr val="bg1"/>
              </a:buClr>
              <a:buFont typeface="Wingdings" panose="05000000000000000000" pitchFamily="2" charset="2"/>
              <a:buChar char="§"/>
              <a:defRPr sz="1600">
                <a:solidFill>
                  <a:schemeClr val="tx2"/>
                </a:solidFill>
              </a:defRPr>
            </a:lvl3pPr>
            <a:lvl4pPr>
              <a:defRPr sz="1600">
                <a:solidFill>
                  <a:schemeClr val="tx2"/>
                </a:solidFill>
              </a:defRPr>
            </a:lvl4pPr>
            <a:lvl5pPr>
              <a:defRPr sz="1600">
                <a:solidFill>
                  <a:schemeClr val="tx2"/>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747571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A49A41B-9CF1-4CD6-B1E3-F736C63833BC}"/>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01171" y="6172200"/>
            <a:ext cx="2743200" cy="356618"/>
          </a:xfrm>
          <a:prstGeom prst="rect">
            <a:avLst/>
          </a:prstGeom>
        </p:spPr>
      </p:pic>
      <p:sp>
        <p:nvSpPr>
          <p:cNvPr id="11" name="Subtitle 2">
            <a:extLst>
              <a:ext uri="{FF2B5EF4-FFF2-40B4-BE49-F238E27FC236}">
                <a16:creationId xmlns:a16="http://schemas.microsoft.com/office/drawing/2014/main" id="{A67014B0-AEAB-4CC8-BCED-661FF1CA2731}"/>
              </a:ext>
            </a:extLst>
          </p:cNvPr>
          <p:cNvSpPr>
            <a:spLocks noGrp="1"/>
          </p:cNvSpPr>
          <p:nvPr>
            <p:ph type="subTitle" idx="1"/>
          </p:nvPr>
        </p:nvSpPr>
        <p:spPr>
          <a:xfrm>
            <a:off x="381000" y="4204926"/>
            <a:ext cx="7971108" cy="723900"/>
          </a:xfrm>
          <a:prstGeom prst="rect">
            <a:avLst/>
          </a:prstGeom>
        </p:spPr>
        <p:txBody>
          <a:bodyPr lIns="0" tIns="0" rIns="0" bIns="0"/>
          <a:lstStyle>
            <a:lvl1pPr marL="0" indent="0" algn="l">
              <a:lnSpc>
                <a:spcPct val="100000"/>
              </a:lnSpc>
              <a:spcBef>
                <a:spcPts val="0"/>
              </a:spcBef>
              <a:buNone/>
              <a:defRPr sz="1800">
                <a:solidFill>
                  <a:schemeClr val="tx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6" name="Rectangle 5">
            <a:extLst>
              <a:ext uri="{FF2B5EF4-FFF2-40B4-BE49-F238E27FC236}">
                <a16:creationId xmlns:a16="http://schemas.microsoft.com/office/drawing/2014/main" id="{2E5D8143-A159-4278-916B-DB3850ADE74C}"/>
              </a:ext>
              <a:ext uri="{C183D7F6-B498-43B3-948B-1728B52AA6E4}">
                <adec:decorative xmlns:adec="http://schemas.microsoft.com/office/drawing/2017/decorative" val="1"/>
              </a:ext>
            </a:extLst>
          </p:cNvPr>
          <p:cNvSpPr>
            <a:spLocks noChangeAspect="1"/>
          </p:cNvSpPr>
          <p:nvPr/>
        </p:nvSpPr>
        <p:spPr>
          <a:xfrm>
            <a:off x="381000" y="3429000"/>
            <a:ext cx="457200" cy="1143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
        <p:nvSpPr>
          <p:cNvPr id="8" name="Title 1">
            <a:extLst>
              <a:ext uri="{FF2B5EF4-FFF2-40B4-BE49-F238E27FC236}">
                <a16:creationId xmlns:a16="http://schemas.microsoft.com/office/drawing/2014/main" id="{47F5323D-6831-4D66-AAB2-4C1920E06475}"/>
              </a:ext>
            </a:extLst>
          </p:cNvPr>
          <p:cNvSpPr>
            <a:spLocks noGrp="1"/>
          </p:cNvSpPr>
          <p:nvPr>
            <p:ph type="title"/>
          </p:nvPr>
        </p:nvSpPr>
        <p:spPr>
          <a:xfrm>
            <a:off x="381000" y="1738312"/>
            <a:ext cx="7969282" cy="1495794"/>
          </a:xfrm>
          <a:prstGeom prst="rect">
            <a:avLst/>
          </a:prstGeom>
        </p:spPr>
        <p:txBody>
          <a:bodyPr wrap="square" lIns="0" tIns="0" rIns="0" bIns="0" anchor="b" anchorCtr="0">
            <a:spAutoFit/>
          </a:bodyPr>
          <a:lstStyle>
            <a:lvl1pPr>
              <a:defRPr lang="en-US" sz="5400" dirty="0">
                <a:solidFill>
                  <a:srgbClr val="E5F8FF"/>
                </a:solidFill>
                <a:latin typeface="Arial Nova Light" panose="020B0304020202020204" pitchFamily="34" charset="0"/>
              </a:defRPr>
            </a:lvl1pPr>
          </a:lstStyle>
          <a:p>
            <a:pPr marL="0" lvl="0"/>
            <a:r>
              <a:rPr lang="en-US"/>
              <a:t>Click to edit Master title style</a:t>
            </a:r>
          </a:p>
        </p:txBody>
      </p:sp>
    </p:spTree>
    <p:extLst>
      <p:ext uri="{BB962C8B-B14F-4D97-AF65-F5344CB8AC3E}">
        <p14:creationId xmlns:p14="http://schemas.microsoft.com/office/powerpoint/2010/main" val="10437723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ver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A49A41B-9CF1-4CD6-B1E3-F736C63833BC}"/>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01171" y="6172200"/>
            <a:ext cx="2743200" cy="356618"/>
          </a:xfrm>
          <a:prstGeom prst="rect">
            <a:avLst/>
          </a:prstGeom>
        </p:spPr>
      </p:pic>
      <p:sp>
        <p:nvSpPr>
          <p:cNvPr id="11" name="Subtitle 2">
            <a:extLst>
              <a:ext uri="{FF2B5EF4-FFF2-40B4-BE49-F238E27FC236}">
                <a16:creationId xmlns:a16="http://schemas.microsoft.com/office/drawing/2014/main" id="{A67014B0-AEAB-4CC8-BCED-661FF1CA2731}"/>
              </a:ext>
            </a:extLst>
          </p:cNvPr>
          <p:cNvSpPr>
            <a:spLocks noGrp="1"/>
          </p:cNvSpPr>
          <p:nvPr>
            <p:ph type="subTitle" idx="1"/>
          </p:nvPr>
        </p:nvSpPr>
        <p:spPr>
          <a:xfrm>
            <a:off x="381000" y="4204926"/>
            <a:ext cx="7971108" cy="723900"/>
          </a:xfrm>
          <a:prstGeom prst="rect">
            <a:avLst/>
          </a:prstGeom>
        </p:spPr>
        <p:txBody>
          <a:bodyPr lIns="0" tIns="0" rIns="0" bIns="0"/>
          <a:lstStyle>
            <a:lvl1pPr marL="0" indent="0" algn="l">
              <a:lnSpc>
                <a:spcPct val="100000"/>
              </a:lnSpc>
              <a:spcBef>
                <a:spcPts val="0"/>
              </a:spcBef>
              <a:buNone/>
              <a:defRPr sz="1800">
                <a:solidFill>
                  <a:schemeClr val="tx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6" name="Rectangle 5">
            <a:extLst>
              <a:ext uri="{FF2B5EF4-FFF2-40B4-BE49-F238E27FC236}">
                <a16:creationId xmlns:a16="http://schemas.microsoft.com/office/drawing/2014/main" id="{2E5D8143-A159-4278-916B-DB3850ADE74C}"/>
              </a:ext>
              <a:ext uri="{C183D7F6-B498-43B3-948B-1728B52AA6E4}">
                <adec:decorative xmlns:adec="http://schemas.microsoft.com/office/drawing/2017/decorative" val="1"/>
              </a:ext>
            </a:extLst>
          </p:cNvPr>
          <p:cNvSpPr>
            <a:spLocks noChangeAspect="1"/>
          </p:cNvSpPr>
          <p:nvPr/>
        </p:nvSpPr>
        <p:spPr>
          <a:xfrm>
            <a:off x="381000" y="3429000"/>
            <a:ext cx="457200" cy="1143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
        <p:nvSpPr>
          <p:cNvPr id="8" name="Title 1">
            <a:extLst>
              <a:ext uri="{FF2B5EF4-FFF2-40B4-BE49-F238E27FC236}">
                <a16:creationId xmlns:a16="http://schemas.microsoft.com/office/drawing/2014/main" id="{47F5323D-6831-4D66-AAB2-4C1920E06475}"/>
              </a:ext>
            </a:extLst>
          </p:cNvPr>
          <p:cNvSpPr>
            <a:spLocks noGrp="1"/>
          </p:cNvSpPr>
          <p:nvPr>
            <p:ph type="title"/>
          </p:nvPr>
        </p:nvSpPr>
        <p:spPr>
          <a:xfrm>
            <a:off x="381000" y="1738312"/>
            <a:ext cx="7969282" cy="1495794"/>
          </a:xfrm>
          <a:prstGeom prst="rect">
            <a:avLst/>
          </a:prstGeom>
        </p:spPr>
        <p:txBody>
          <a:bodyPr wrap="square" lIns="0" tIns="0" rIns="0" bIns="0" anchor="b" anchorCtr="0">
            <a:spAutoFit/>
          </a:bodyPr>
          <a:lstStyle>
            <a:lvl1pPr>
              <a:defRPr lang="en-US" sz="5400" dirty="0">
                <a:solidFill>
                  <a:srgbClr val="E5F8FF"/>
                </a:solidFill>
                <a:effectLst>
                  <a:glow rad="127000">
                    <a:srgbClr val="0D32A4"/>
                  </a:glow>
                </a:effectLst>
                <a:latin typeface="Arial Nova Light" panose="020B0304020202020204" pitchFamily="34" charset="0"/>
              </a:defRPr>
            </a:lvl1pPr>
          </a:lstStyle>
          <a:p>
            <a:pPr marL="0" lvl="0"/>
            <a:r>
              <a:rPr lang="en-US"/>
              <a:t>Click to edit Master title style</a:t>
            </a:r>
          </a:p>
        </p:txBody>
      </p:sp>
    </p:spTree>
    <p:extLst>
      <p:ext uri="{BB962C8B-B14F-4D97-AF65-F5344CB8AC3E}">
        <p14:creationId xmlns:p14="http://schemas.microsoft.com/office/powerpoint/2010/main" val="17686548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D95DA-6F2D-4DB9-A4B6-50D3D1C65809}"/>
              </a:ext>
            </a:extLst>
          </p:cNvPr>
          <p:cNvSpPr>
            <a:spLocks noGrp="1"/>
          </p:cNvSpPr>
          <p:nvPr>
            <p:ph type="title"/>
          </p:nvPr>
        </p:nvSpPr>
        <p:spPr>
          <a:xfrm>
            <a:off x="378759" y="5090333"/>
            <a:ext cx="9715500" cy="747897"/>
          </a:xfrm>
          <a:prstGeom prst="rect">
            <a:avLst/>
          </a:prstGeom>
        </p:spPr>
        <p:txBody>
          <a:bodyPr wrap="square" lIns="0" tIns="0" rIns="0" bIns="0" anchor="b" anchorCtr="0">
            <a:spAutoFit/>
          </a:bodyPr>
          <a:lstStyle>
            <a:lvl1pPr>
              <a:lnSpc>
                <a:spcPct val="90000"/>
              </a:lnSpc>
              <a:defRPr sz="5400">
                <a:solidFill>
                  <a:srgbClr val="E5F8FF"/>
                </a:solidFill>
                <a:latin typeface="Arial Nova Light" panose="020B0304020202020204" pitchFamily="34" charset="0"/>
              </a:defRPr>
            </a:lvl1pPr>
          </a:lstStyle>
          <a:p>
            <a:r>
              <a:rPr lang="en-US"/>
              <a:t>Click to edit Master title style</a:t>
            </a:r>
          </a:p>
        </p:txBody>
      </p:sp>
      <p:pic>
        <p:nvPicPr>
          <p:cNvPr id="3" name="Picture 2">
            <a:extLst>
              <a:ext uri="{FF2B5EF4-FFF2-40B4-BE49-F238E27FC236}">
                <a16:creationId xmlns:a16="http://schemas.microsoft.com/office/drawing/2014/main" id="{5C487A85-65B5-4371-833A-AD6EFF69F55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5" name="Text Placeholder 4">
            <a:extLst>
              <a:ext uri="{FF2B5EF4-FFF2-40B4-BE49-F238E27FC236}">
                <a16:creationId xmlns:a16="http://schemas.microsoft.com/office/drawing/2014/main" id="{31E00A8F-8F29-4705-8469-E9075A8C1BA9}"/>
              </a:ext>
            </a:extLst>
          </p:cNvPr>
          <p:cNvSpPr>
            <a:spLocks noGrp="1"/>
          </p:cNvSpPr>
          <p:nvPr>
            <p:ph type="body" sz="quarter" idx="10"/>
          </p:nvPr>
        </p:nvSpPr>
        <p:spPr>
          <a:xfrm>
            <a:off x="8343900" y="914400"/>
            <a:ext cx="3467100" cy="2514600"/>
          </a:xfrm>
          <a:prstGeom prst="rect">
            <a:avLst/>
          </a:prstGeom>
        </p:spPr>
        <p:txBody>
          <a:bodyPr lIns="0" tIns="0" rIns="0" bIns="0"/>
          <a:lstStyle>
            <a:lvl1pPr>
              <a:lnSpc>
                <a:spcPct val="100000"/>
              </a:lnSpc>
              <a:spcBef>
                <a:spcPts val="1200"/>
              </a:spcBef>
              <a:buClr>
                <a:schemeClr val="bg1"/>
              </a:buClr>
              <a:defRPr sz="2000">
                <a:solidFill>
                  <a:schemeClr val="tx2"/>
                </a:solidFill>
              </a:defRPr>
            </a:lvl1pPr>
            <a:lvl2pPr marL="741363" indent="-284163">
              <a:lnSpc>
                <a:spcPct val="100000"/>
              </a:lnSpc>
              <a:spcBef>
                <a:spcPts val="600"/>
              </a:spcBef>
              <a:buClr>
                <a:schemeClr val="bg1"/>
              </a:buClr>
              <a:buFont typeface="Arial" panose="020B0604020202020204" pitchFamily="34" charset="0"/>
              <a:buChar char="–"/>
              <a:defRPr sz="1800">
                <a:solidFill>
                  <a:schemeClr val="tx2"/>
                </a:solidFill>
              </a:defRPr>
            </a:lvl2pPr>
            <a:lvl3pPr marL="1142971" indent="-228594">
              <a:lnSpc>
                <a:spcPct val="100000"/>
              </a:lnSpc>
              <a:spcBef>
                <a:spcPts val="600"/>
              </a:spcBef>
              <a:buClr>
                <a:schemeClr val="bg1"/>
              </a:buClr>
              <a:buFont typeface="Wingdings" panose="05000000000000000000" pitchFamily="2" charset="2"/>
              <a:buChar char="§"/>
              <a:defRPr sz="1600">
                <a:solidFill>
                  <a:schemeClr val="tx2"/>
                </a:solidFill>
              </a:defRPr>
            </a:lvl3pPr>
            <a:lvl4pPr>
              <a:defRPr sz="1600">
                <a:solidFill>
                  <a:schemeClr val="tx2"/>
                </a:solidFill>
              </a:defRPr>
            </a:lvl4pPr>
            <a:lvl5pPr>
              <a:defRPr sz="1600">
                <a:solidFill>
                  <a:schemeClr val="tx2"/>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380376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ivider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5" name="Title 1">
            <a:extLst>
              <a:ext uri="{FF2B5EF4-FFF2-40B4-BE49-F238E27FC236}">
                <a16:creationId xmlns:a16="http://schemas.microsoft.com/office/drawing/2014/main" id="{D7D3C83F-1685-4A4A-8993-74D3219027D6}"/>
              </a:ext>
            </a:extLst>
          </p:cNvPr>
          <p:cNvSpPr>
            <a:spLocks noGrp="1"/>
          </p:cNvSpPr>
          <p:nvPr>
            <p:ph type="title"/>
          </p:nvPr>
        </p:nvSpPr>
        <p:spPr>
          <a:xfrm>
            <a:off x="381000" y="4343400"/>
            <a:ext cx="8027894" cy="1495794"/>
          </a:xfrm>
          <a:prstGeom prst="rect">
            <a:avLst/>
          </a:prstGeom>
        </p:spPr>
        <p:txBody>
          <a:bodyPr wrap="square" lIns="0" tIns="0" rIns="0" bIns="0" anchor="b" anchorCtr="0">
            <a:spAutoFit/>
          </a:bodyPr>
          <a:lstStyle>
            <a:lvl1pPr>
              <a:defRPr lang="en-US" sz="5400" dirty="0">
                <a:solidFill>
                  <a:srgbClr val="E5F8FF"/>
                </a:solidFill>
                <a:latin typeface="Arial Nova Light" panose="020B0304020202020204" pitchFamily="34" charset="0"/>
              </a:defRPr>
            </a:lvl1pPr>
          </a:lstStyle>
          <a:p>
            <a:pPr lvl="0"/>
            <a:r>
              <a:rPr lang="en-US"/>
              <a:t>Click to edit Master title style</a:t>
            </a:r>
          </a:p>
        </p:txBody>
      </p:sp>
      <p:sp>
        <p:nvSpPr>
          <p:cNvPr id="7" name="Rectangle 6">
            <a:extLst>
              <a:ext uri="{FF2B5EF4-FFF2-40B4-BE49-F238E27FC236}">
                <a16:creationId xmlns:a16="http://schemas.microsoft.com/office/drawing/2014/main" id="{B5B0BFDB-C4BC-4E6F-8090-A00E82B41E85}"/>
              </a:ext>
              <a:ext uri="{C183D7F6-B498-43B3-948B-1728B52AA6E4}">
                <adec:decorative xmlns:adec="http://schemas.microsoft.com/office/drawing/2017/decorative" val="1"/>
              </a:ext>
            </a:extLst>
          </p:cNvPr>
          <p:cNvSpPr>
            <a:spLocks noChangeAspect="1"/>
          </p:cNvSpPr>
          <p:nvPr/>
        </p:nvSpPr>
        <p:spPr>
          <a:xfrm>
            <a:off x="381000" y="400050"/>
            <a:ext cx="457200" cy="1143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
        <p:nvSpPr>
          <p:cNvPr id="3" name="Text Placeholder 2">
            <a:extLst>
              <a:ext uri="{FF2B5EF4-FFF2-40B4-BE49-F238E27FC236}">
                <a16:creationId xmlns:a16="http://schemas.microsoft.com/office/drawing/2014/main" id="{9AF30D4F-5FE4-4AA6-812B-A00AFC98112E}"/>
              </a:ext>
            </a:extLst>
          </p:cNvPr>
          <p:cNvSpPr>
            <a:spLocks noGrp="1"/>
          </p:cNvSpPr>
          <p:nvPr>
            <p:ph type="body" sz="quarter" idx="10"/>
          </p:nvPr>
        </p:nvSpPr>
        <p:spPr>
          <a:xfrm>
            <a:off x="1066799" y="349478"/>
            <a:ext cx="7315201" cy="215444"/>
          </a:xfrm>
          <a:prstGeom prst="rect">
            <a:avLst/>
          </a:prstGeom>
        </p:spPr>
        <p:txBody>
          <a:bodyPr lIns="0" tIns="0" rIns="0" bIns="0">
            <a:spAutoFit/>
          </a:bodyPr>
          <a:lstStyle>
            <a:lvl1pPr marL="0" indent="0">
              <a:lnSpc>
                <a:spcPct val="100000"/>
              </a:lnSpc>
              <a:buNone/>
              <a:defRPr sz="1400" cap="all" spc="300" baseline="0">
                <a:solidFill>
                  <a:schemeClr val="tx2"/>
                </a:solidFill>
              </a:defRPr>
            </a:lvl1pPr>
            <a:lvl2pPr marL="457189" indent="0">
              <a:buNone/>
              <a:defRPr/>
            </a:lvl2pPr>
            <a:lvl3pPr marL="914377" indent="0">
              <a:buNone/>
              <a:defRPr/>
            </a:lvl3pPr>
            <a:lvl4pPr marL="1371566" indent="0">
              <a:buNone/>
              <a:defRPr/>
            </a:lvl4pPr>
            <a:lvl5pPr marL="1828755" indent="0">
              <a:buNone/>
              <a:defRPr/>
            </a:lvl5pPr>
          </a:lstStyle>
          <a:p>
            <a:pPr lvl="0"/>
            <a:r>
              <a:rPr lang="en-US"/>
              <a:t>Click to edit Master text styles</a:t>
            </a:r>
          </a:p>
        </p:txBody>
      </p:sp>
    </p:spTree>
    <p:extLst>
      <p:ext uri="{BB962C8B-B14F-4D97-AF65-F5344CB8AC3E}">
        <p14:creationId xmlns:p14="http://schemas.microsoft.com/office/powerpoint/2010/main" val="1405201022"/>
      </p:ext>
    </p:extLst>
  </p:cSld>
  <p:clrMapOvr>
    <a:masterClrMapping/>
  </p:clrMapOvr>
  <p:extLst>
    <p:ext uri="{DCECCB84-F9BA-43D5-87BE-67443E8EF086}">
      <p15:sldGuideLst xmlns:p15="http://schemas.microsoft.com/office/powerpoint/2012/main">
        <p15:guide id="1" orient="horz" pos="28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vider blue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5" name="Title 1">
            <a:extLst>
              <a:ext uri="{FF2B5EF4-FFF2-40B4-BE49-F238E27FC236}">
                <a16:creationId xmlns:a16="http://schemas.microsoft.com/office/drawing/2014/main" id="{D7D3C83F-1685-4A4A-8993-74D3219027D6}"/>
              </a:ext>
            </a:extLst>
          </p:cNvPr>
          <p:cNvSpPr>
            <a:spLocks noGrp="1"/>
          </p:cNvSpPr>
          <p:nvPr>
            <p:ph type="title"/>
          </p:nvPr>
        </p:nvSpPr>
        <p:spPr>
          <a:xfrm>
            <a:off x="381000" y="3595503"/>
            <a:ext cx="4457700" cy="2243691"/>
          </a:xfrm>
          <a:prstGeom prst="rect">
            <a:avLst/>
          </a:prstGeom>
        </p:spPr>
        <p:txBody>
          <a:bodyPr wrap="square" lIns="0" tIns="0" rIns="0" bIns="0" anchor="b" anchorCtr="0">
            <a:spAutoFit/>
          </a:bodyPr>
          <a:lstStyle>
            <a:lvl1pPr>
              <a:defRPr lang="en-US" sz="5400" dirty="0">
                <a:solidFill>
                  <a:srgbClr val="E5F8FF"/>
                </a:solidFill>
                <a:latin typeface="Arial Nova Light" panose="020B0304020202020204" pitchFamily="34" charset="0"/>
              </a:defRPr>
            </a:lvl1pPr>
          </a:lstStyle>
          <a:p>
            <a:pPr lvl="0"/>
            <a:r>
              <a:rPr lang="en-US"/>
              <a:t>Click to edit Master title style</a:t>
            </a:r>
          </a:p>
        </p:txBody>
      </p:sp>
      <p:sp>
        <p:nvSpPr>
          <p:cNvPr id="7" name="Rectangle 6">
            <a:extLst>
              <a:ext uri="{FF2B5EF4-FFF2-40B4-BE49-F238E27FC236}">
                <a16:creationId xmlns:a16="http://schemas.microsoft.com/office/drawing/2014/main" id="{B5B0BFDB-C4BC-4E6F-8090-A00E82B41E85}"/>
              </a:ext>
              <a:ext uri="{C183D7F6-B498-43B3-948B-1728B52AA6E4}">
                <adec:decorative xmlns:adec="http://schemas.microsoft.com/office/drawing/2017/decorative" val="1"/>
              </a:ext>
            </a:extLst>
          </p:cNvPr>
          <p:cNvSpPr>
            <a:spLocks noChangeAspect="1"/>
          </p:cNvSpPr>
          <p:nvPr/>
        </p:nvSpPr>
        <p:spPr>
          <a:xfrm>
            <a:off x="381000" y="400050"/>
            <a:ext cx="457200" cy="114300"/>
          </a:xfrm>
          <a:prstGeom prst="rect">
            <a:avLst/>
          </a:prstGeom>
          <a:solidFill>
            <a:srgbClr val="80C7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
        <p:nvSpPr>
          <p:cNvPr id="3" name="Text Placeholder 2">
            <a:extLst>
              <a:ext uri="{FF2B5EF4-FFF2-40B4-BE49-F238E27FC236}">
                <a16:creationId xmlns:a16="http://schemas.microsoft.com/office/drawing/2014/main" id="{9AF30D4F-5FE4-4AA6-812B-A00AFC98112E}"/>
              </a:ext>
            </a:extLst>
          </p:cNvPr>
          <p:cNvSpPr>
            <a:spLocks noGrp="1"/>
          </p:cNvSpPr>
          <p:nvPr>
            <p:ph type="body" sz="quarter" idx="10"/>
          </p:nvPr>
        </p:nvSpPr>
        <p:spPr>
          <a:xfrm>
            <a:off x="1066799" y="349478"/>
            <a:ext cx="3771901" cy="430887"/>
          </a:xfrm>
          <a:prstGeom prst="rect">
            <a:avLst/>
          </a:prstGeom>
        </p:spPr>
        <p:txBody>
          <a:bodyPr wrap="square" lIns="0" tIns="0" rIns="0" bIns="0">
            <a:spAutoFit/>
          </a:bodyPr>
          <a:lstStyle>
            <a:lvl1pPr marL="0" indent="0">
              <a:lnSpc>
                <a:spcPct val="100000"/>
              </a:lnSpc>
              <a:buNone/>
              <a:defRPr sz="1400" cap="all" spc="300" baseline="0">
                <a:solidFill>
                  <a:schemeClr val="tx2"/>
                </a:solidFill>
              </a:defRPr>
            </a:lvl1pPr>
            <a:lvl2pPr marL="457189" indent="0">
              <a:buNone/>
              <a:defRPr/>
            </a:lvl2pPr>
            <a:lvl3pPr marL="914377" indent="0">
              <a:buNone/>
              <a:defRPr/>
            </a:lvl3pPr>
            <a:lvl4pPr marL="1371566" indent="0">
              <a:buNone/>
              <a:defRPr/>
            </a:lvl4pPr>
            <a:lvl5pPr marL="1828755" indent="0">
              <a:buNone/>
              <a:defRPr/>
            </a:lvl5pPr>
          </a:lstStyle>
          <a:p>
            <a:pPr lvl="0"/>
            <a:r>
              <a:rPr lang="en-US"/>
              <a:t>Click to edit Master text styles</a:t>
            </a:r>
          </a:p>
        </p:txBody>
      </p:sp>
    </p:spTree>
    <p:extLst>
      <p:ext uri="{BB962C8B-B14F-4D97-AF65-F5344CB8AC3E}">
        <p14:creationId xmlns:p14="http://schemas.microsoft.com/office/powerpoint/2010/main" val="1079211278"/>
      </p:ext>
    </p:extLst>
  </p:cSld>
  <p:clrMapOvr>
    <a:masterClrMapping/>
  </p:clrMapOvr>
  <p:extLst>
    <p:ext uri="{DCECCB84-F9BA-43D5-87BE-67443E8EF086}">
      <p15:sldGuideLst xmlns:p15="http://schemas.microsoft.com/office/powerpoint/2012/main">
        <p15:guide id="1" orient="horz" pos="28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ide bar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801183"/>
            <a:ext cx="2286000" cy="1329595"/>
          </a:xfrm>
          <a:prstGeom prst="rect">
            <a:avLst/>
          </a:prstGeom>
        </p:spPr>
        <p:txBody>
          <a:bodyPr wrap="square" lIns="0" tIns="0" rIns="0" bIns="0">
            <a:spAutoFit/>
          </a:bodyPr>
          <a:lstStyle>
            <a:lvl1pPr>
              <a:defRPr sz="3200">
                <a:solidFill>
                  <a:srgbClr val="E5F8FF"/>
                </a:solidFill>
                <a:latin typeface="+mj-lt"/>
              </a:defRPr>
            </a:lvl1pPr>
          </a:lstStyle>
          <a:p>
            <a:r>
              <a:rPr lang="en-US"/>
              <a:t>Click to edit Master title style</a:t>
            </a:r>
          </a:p>
        </p:txBody>
      </p:sp>
      <p:sp>
        <p:nvSpPr>
          <p:cNvPr id="3" name="Content Placeholder 2"/>
          <p:cNvSpPr>
            <a:spLocks noGrp="1"/>
          </p:cNvSpPr>
          <p:nvPr>
            <p:ph idx="1"/>
          </p:nvPr>
        </p:nvSpPr>
        <p:spPr>
          <a:xfrm>
            <a:off x="3467100" y="400050"/>
            <a:ext cx="8343900" cy="5829300"/>
          </a:xfrm>
          <a:prstGeom prst="rect">
            <a:avLst/>
          </a:prstGeom>
        </p:spPr>
        <p:txBody>
          <a:bodyPr lIns="0" tIns="0" rIns="0" bIns="0" anchor="ctr" anchorCtr="0"/>
          <a:lstStyle>
            <a:lvl1pPr marL="228594" indent="-228594">
              <a:lnSpc>
                <a:spcPct val="100000"/>
              </a:lnSpc>
              <a:spcBef>
                <a:spcPts val="1200"/>
              </a:spcBef>
              <a:buClr>
                <a:srgbClr val="808080"/>
              </a:buClr>
              <a:buFont typeface="Arial" panose="020B0604020202020204" pitchFamily="34" charset="0"/>
              <a:buChar char="•"/>
              <a:defRPr sz="2400">
                <a:solidFill>
                  <a:schemeClr val="bg2"/>
                </a:solidFill>
                <a:latin typeface="Arial" panose="020B0604020202020204" pitchFamily="34" charset="0"/>
              </a:defRPr>
            </a:lvl1pPr>
            <a:lvl2pPr marL="685783" indent="-228594">
              <a:lnSpc>
                <a:spcPct val="100000"/>
              </a:lnSpc>
              <a:spcBef>
                <a:spcPts val="600"/>
              </a:spcBef>
              <a:buClr>
                <a:srgbClr val="808080"/>
              </a:buClr>
              <a:buFont typeface="Arial" panose="020B0604020202020204" pitchFamily="34" charset="0"/>
              <a:buChar char="–"/>
              <a:defRPr sz="1800">
                <a:solidFill>
                  <a:schemeClr val="bg2"/>
                </a:solidFill>
                <a:latin typeface="Arial" panose="020B0604020202020204" pitchFamily="34" charset="0"/>
              </a:defRPr>
            </a:lvl2pPr>
            <a:lvl3pPr marL="1066773" indent="-152396">
              <a:lnSpc>
                <a:spcPct val="100000"/>
              </a:lnSpc>
              <a:spcBef>
                <a:spcPts val="600"/>
              </a:spcBef>
              <a:buClr>
                <a:srgbClr val="808080"/>
              </a:buClr>
              <a:buFont typeface="Arial" panose="020B0604020202020204" pitchFamily="34" charset="0"/>
              <a:buChar char="▪"/>
              <a:defRPr sz="1400">
                <a:solidFill>
                  <a:schemeClr val="bg2"/>
                </a:solidFill>
                <a:latin typeface="Arial" panose="020B0604020202020204" pitchFamily="34" charset="0"/>
              </a:defRPr>
            </a:lvl3pPr>
            <a:lvl4pPr marL="1600160" indent="-228594">
              <a:lnSpc>
                <a:spcPct val="100000"/>
              </a:lnSpc>
              <a:spcBef>
                <a:spcPts val="400"/>
              </a:spcBef>
              <a:buClr>
                <a:schemeClr val="bg1">
                  <a:lumMod val="60000"/>
                  <a:lumOff val="40000"/>
                </a:schemeClr>
              </a:buClr>
              <a:buFont typeface="Arial" panose="020B0604020202020204" pitchFamily="34" charset="0"/>
              <a:buChar char="•"/>
              <a:defRPr sz="1200"/>
            </a:lvl4pPr>
            <a:lvl5pPr marL="2057349" indent="-228594">
              <a:lnSpc>
                <a:spcPct val="100000"/>
              </a:lnSpc>
              <a:spcBef>
                <a:spcPts val="400"/>
              </a:spcBef>
              <a:buClr>
                <a:schemeClr val="bg1">
                  <a:lumMod val="60000"/>
                  <a:lumOff val="40000"/>
                </a:schemeClr>
              </a:buClr>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4" name="Rectangle 3">
            <a:extLst>
              <a:ext uri="{FF2B5EF4-FFF2-40B4-BE49-F238E27FC236}">
                <a16:creationId xmlns:a16="http://schemas.microsoft.com/office/drawing/2014/main" id="{F7E372F5-2EC7-4733-8384-2D4149AFD478}"/>
              </a:ext>
              <a:ext uri="{C183D7F6-B498-43B3-948B-1728B52AA6E4}">
                <adec:decorative xmlns:adec="http://schemas.microsoft.com/office/drawing/2017/decorative" val="1"/>
              </a:ext>
            </a:extLst>
          </p:cNvPr>
          <p:cNvSpPr>
            <a:spLocks noChangeAspect="1"/>
          </p:cNvSpPr>
          <p:nvPr/>
        </p:nvSpPr>
        <p:spPr>
          <a:xfrm>
            <a:off x="381000" y="400050"/>
            <a:ext cx="457200" cy="114300"/>
          </a:xfrm>
          <a:prstGeom prst="rect">
            <a:avLst/>
          </a:prstGeom>
          <a:solidFill>
            <a:srgbClr val="80C7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
        <p:nvSpPr>
          <p:cNvPr id="6" name="Subtitle 2">
            <a:extLst>
              <a:ext uri="{FF2B5EF4-FFF2-40B4-BE49-F238E27FC236}">
                <a16:creationId xmlns:a16="http://schemas.microsoft.com/office/drawing/2014/main" id="{DD84B0B8-7C41-4C04-9E5E-65F066217219}"/>
              </a:ext>
            </a:extLst>
          </p:cNvPr>
          <p:cNvSpPr>
            <a:spLocks noGrp="1"/>
          </p:cNvSpPr>
          <p:nvPr>
            <p:ph type="subTitle" idx="10"/>
          </p:nvPr>
        </p:nvSpPr>
        <p:spPr>
          <a:xfrm>
            <a:off x="381000" y="2514600"/>
            <a:ext cx="2286000" cy="3714750"/>
          </a:xfrm>
          <a:prstGeom prst="rect">
            <a:avLst/>
          </a:prstGeom>
        </p:spPr>
        <p:txBody>
          <a:bodyPr wrap="square" lIns="0" tIns="0" rIns="0" bIns="0">
            <a:noAutofit/>
          </a:bodyPr>
          <a:lstStyle>
            <a:lvl1pPr marL="0" indent="0" algn="l">
              <a:lnSpc>
                <a:spcPct val="100000"/>
              </a:lnSpc>
              <a:spcBef>
                <a:spcPts val="1200"/>
              </a:spcBef>
              <a:buNone/>
              <a:defRPr sz="1600">
                <a:solidFill>
                  <a:srgbClr val="80C7FB"/>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Tree>
    <p:extLst>
      <p:ext uri="{BB962C8B-B14F-4D97-AF65-F5344CB8AC3E}">
        <p14:creationId xmlns:p14="http://schemas.microsoft.com/office/powerpoint/2010/main" val="5540357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ide bar blue w phot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801183"/>
            <a:ext cx="2286000" cy="1329595"/>
          </a:xfrm>
          <a:prstGeom prst="rect">
            <a:avLst/>
          </a:prstGeom>
        </p:spPr>
        <p:txBody>
          <a:bodyPr wrap="square" lIns="0" tIns="0" rIns="0" bIns="0">
            <a:spAutoFit/>
          </a:bodyPr>
          <a:lstStyle>
            <a:lvl1pPr>
              <a:defRPr sz="3200">
                <a:solidFill>
                  <a:srgbClr val="E5F8FF"/>
                </a:solidFill>
                <a:latin typeface="+mj-lt"/>
              </a:defRPr>
            </a:lvl1pPr>
          </a:lstStyle>
          <a:p>
            <a:r>
              <a:rPr lang="en-US"/>
              <a:t>Click to edit Master title style</a:t>
            </a:r>
          </a:p>
        </p:txBody>
      </p:sp>
      <p:sp>
        <p:nvSpPr>
          <p:cNvPr id="4" name="Rectangle 3">
            <a:extLst>
              <a:ext uri="{FF2B5EF4-FFF2-40B4-BE49-F238E27FC236}">
                <a16:creationId xmlns:a16="http://schemas.microsoft.com/office/drawing/2014/main" id="{F7E372F5-2EC7-4733-8384-2D4149AFD478}"/>
              </a:ext>
              <a:ext uri="{C183D7F6-B498-43B3-948B-1728B52AA6E4}">
                <adec:decorative xmlns:adec="http://schemas.microsoft.com/office/drawing/2017/decorative" val="1"/>
              </a:ext>
            </a:extLst>
          </p:cNvPr>
          <p:cNvSpPr>
            <a:spLocks noChangeAspect="1"/>
          </p:cNvSpPr>
          <p:nvPr/>
        </p:nvSpPr>
        <p:spPr>
          <a:xfrm>
            <a:off x="381000" y="400050"/>
            <a:ext cx="457200" cy="114300"/>
          </a:xfrm>
          <a:prstGeom prst="rect">
            <a:avLst/>
          </a:prstGeom>
          <a:solidFill>
            <a:srgbClr val="80C7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80C7FB"/>
              </a:solidFill>
            </a:endParaRPr>
          </a:p>
        </p:txBody>
      </p:sp>
      <p:sp>
        <p:nvSpPr>
          <p:cNvPr id="6" name="Subtitle 2">
            <a:extLst>
              <a:ext uri="{FF2B5EF4-FFF2-40B4-BE49-F238E27FC236}">
                <a16:creationId xmlns:a16="http://schemas.microsoft.com/office/drawing/2014/main" id="{DD84B0B8-7C41-4C04-9E5E-65F066217219}"/>
              </a:ext>
            </a:extLst>
          </p:cNvPr>
          <p:cNvSpPr>
            <a:spLocks noGrp="1"/>
          </p:cNvSpPr>
          <p:nvPr>
            <p:ph type="subTitle" idx="10"/>
          </p:nvPr>
        </p:nvSpPr>
        <p:spPr>
          <a:xfrm>
            <a:off x="381000" y="2514600"/>
            <a:ext cx="2286000" cy="3714750"/>
          </a:xfrm>
          <a:prstGeom prst="rect">
            <a:avLst/>
          </a:prstGeom>
        </p:spPr>
        <p:txBody>
          <a:bodyPr wrap="square" lIns="0" tIns="0" rIns="0" bIns="0">
            <a:noAutofit/>
          </a:bodyPr>
          <a:lstStyle>
            <a:lvl1pPr marL="0" indent="0" algn="l">
              <a:lnSpc>
                <a:spcPct val="100000"/>
              </a:lnSpc>
              <a:spcBef>
                <a:spcPts val="1200"/>
              </a:spcBef>
              <a:buNone/>
              <a:defRPr sz="1600">
                <a:solidFill>
                  <a:srgbClr val="80C7FB"/>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7" name="Picture Placeholder 6">
            <a:extLst>
              <a:ext uri="{FF2B5EF4-FFF2-40B4-BE49-F238E27FC236}">
                <a16:creationId xmlns:a16="http://schemas.microsoft.com/office/drawing/2014/main" id="{E8FAF2F2-81F0-496C-EB9C-AD35CB49960B}"/>
              </a:ext>
            </a:extLst>
          </p:cNvPr>
          <p:cNvSpPr>
            <a:spLocks noGrp="1"/>
          </p:cNvSpPr>
          <p:nvPr>
            <p:ph type="pic" sz="quarter" idx="11"/>
          </p:nvPr>
        </p:nvSpPr>
        <p:spPr>
          <a:xfrm>
            <a:off x="3009900" y="0"/>
            <a:ext cx="9182100" cy="6858000"/>
          </a:xfrm>
          <a:prstGeom prst="rect">
            <a:avLst/>
          </a:prstGeom>
          <a:noFill/>
          <a:ln>
            <a:noFill/>
          </a:ln>
        </p:spPr>
        <p:txBody>
          <a:bodyPr lIns="0" tIns="0" rIns="0" bIns="0" anchor="ctr" anchorCtr="1"/>
          <a:lstStyle>
            <a:lvl1pPr marL="0" indent="0">
              <a:buNone/>
              <a:defRPr>
                <a:solidFill>
                  <a:schemeClr val="bg2"/>
                </a:solidFill>
              </a:defRPr>
            </a:lvl1pPr>
          </a:lstStyle>
          <a:p>
            <a:r>
              <a:rPr lang="en-US"/>
              <a:t>Click icon to add picture</a:t>
            </a:r>
          </a:p>
        </p:txBody>
      </p:sp>
    </p:spTree>
    <p:extLst>
      <p:ext uri="{BB962C8B-B14F-4D97-AF65-F5344CB8AC3E}">
        <p14:creationId xmlns:p14="http://schemas.microsoft.com/office/powerpoint/2010/main" val="31091736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op bar blue">
    <p:bg>
      <p:bgPr>
        <a:solidFill>
          <a:schemeClr val="tx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2370DD2-DBFE-499C-8B5D-257216661960}"/>
              </a:ext>
              <a:ext uri="{C183D7F6-B498-43B3-948B-1728B52AA6E4}">
                <adec:decorative xmlns:adec="http://schemas.microsoft.com/office/drawing/2017/decorative" val="1"/>
              </a:ext>
            </a:extLst>
          </p:cNvPr>
          <p:cNvSpPr/>
          <p:nvPr/>
        </p:nvSpPr>
        <p:spPr>
          <a:xfrm>
            <a:off x="0" y="0"/>
            <a:ext cx="12192000" cy="34290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2"/>
              </a:solidFill>
            </a:endParaRPr>
          </a:p>
        </p:txBody>
      </p:sp>
      <p:sp>
        <p:nvSpPr>
          <p:cNvPr id="2" name="Title 1"/>
          <p:cNvSpPr>
            <a:spLocks noGrp="1"/>
          </p:cNvSpPr>
          <p:nvPr>
            <p:ph type="title"/>
          </p:nvPr>
        </p:nvSpPr>
        <p:spPr>
          <a:xfrm>
            <a:off x="382483" y="800100"/>
            <a:ext cx="3999017" cy="886397"/>
          </a:xfrm>
          <a:prstGeom prst="rect">
            <a:avLst/>
          </a:prstGeom>
        </p:spPr>
        <p:txBody>
          <a:bodyPr wrap="square" lIns="0" tIns="0" rIns="0" bIns="0">
            <a:spAutoFit/>
          </a:bodyPr>
          <a:lstStyle>
            <a:lvl1pPr>
              <a:defRPr sz="3200">
                <a:solidFill>
                  <a:schemeClr val="tx2"/>
                </a:solidFill>
                <a:latin typeface="+mj-lt"/>
              </a:defRPr>
            </a:lvl1pPr>
          </a:lstStyle>
          <a:p>
            <a:r>
              <a:rPr lang="en-US"/>
              <a:t>Click to edit Master title style</a:t>
            </a:r>
          </a:p>
        </p:txBody>
      </p:sp>
      <p:sp>
        <p:nvSpPr>
          <p:cNvPr id="12" name="Content Placeholder 11">
            <a:extLst>
              <a:ext uri="{FF2B5EF4-FFF2-40B4-BE49-F238E27FC236}">
                <a16:creationId xmlns:a16="http://schemas.microsoft.com/office/drawing/2014/main" id="{2F25C9EF-E3D6-4E9D-83B4-E16E0BAD9154}"/>
              </a:ext>
            </a:extLst>
          </p:cNvPr>
          <p:cNvSpPr>
            <a:spLocks noGrp="1" noChangeAspect="1"/>
          </p:cNvSpPr>
          <p:nvPr>
            <p:ph sz="quarter" idx="11"/>
          </p:nvPr>
        </p:nvSpPr>
        <p:spPr>
          <a:xfrm>
            <a:off x="4438650" y="2228850"/>
            <a:ext cx="3314700" cy="3314700"/>
          </a:xfrm>
          <a:prstGeom prst="rect">
            <a:avLst/>
          </a:prstGeom>
          <a:solidFill>
            <a:srgbClr val="E5F8FF"/>
          </a:solidFill>
        </p:spPr>
        <p:txBody>
          <a:bodyPr tIns="91440" bIns="91440" anchor="ctr" anchorCtr="0"/>
          <a:lstStyle>
            <a:lvl1pPr marL="0" indent="0" algn="ctr">
              <a:buNone/>
              <a:defRPr sz="1800">
                <a:solidFill>
                  <a:schemeClr val="bg2"/>
                </a:solidFill>
              </a:defRPr>
            </a:lvl1pPr>
            <a:lvl2pPr>
              <a:defRPr sz="1600">
                <a:solidFill>
                  <a:schemeClr val="bg2"/>
                </a:solidFill>
              </a:defRPr>
            </a:lvl2pPr>
            <a:lvl3pPr>
              <a:defRPr sz="1400">
                <a:solidFill>
                  <a:schemeClr val="bg2"/>
                </a:solidFill>
              </a:defRPr>
            </a:lvl3pPr>
            <a:lvl4pPr>
              <a:defRPr sz="1200">
                <a:solidFill>
                  <a:schemeClr val="bg2"/>
                </a:solidFill>
              </a:defRPr>
            </a:lvl4pPr>
            <a:lvl5pPr>
              <a:defRPr sz="1200">
                <a:solidFill>
                  <a:schemeClr val="bg2"/>
                </a:solidFill>
              </a:defRPr>
            </a:lvl5pPr>
          </a:lstStyle>
          <a:p>
            <a:pPr lvl="0"/>
            <a:r>
              <a:rPr lang="en-US"/>
              <a:t>Click to edit Master text styles</a:t>
            </a:r>
          </a:p>
        </p:txBody>
      </p:sp>
      <p:sp>
        <p:nvSpPr>
          <p:cNvPr id="13" name="Content Placeholder 11">
            <a:extLst>
              <a:ext uri="{FF2B5EF4-FFF2-40B4-BE49-F238E27FC236}">
                <a16:creationId xmlns:a16="http://schemas.microsoft.com/office/drawing/2014/main" id="{CC9ADC35-0177-4D0A-A2B4-6BE8CB97A65E}"/>
              </a:ext>
            </a:extLst>
          </p:cNvPr>
          <p:cNvSpPr>
            <a:spLocks noGrp="1" noChangeAspect="1"/>
          </p:cNvSpPr>
          <p:nvPr>
            <p:ph sz="quarter" idx="12"/>
          </p:nvPr>
        </p:nvSpPr>
        <p:spPr>
          <a:xfrm>
            <a:off x="552450" y="2228850"/>
            <a:ext cx="3314700" cy="3314700"/>
          </a:xfrm>
          <a:prstGeom prst="rect">
            <a:avLst/>
          </a:prstGeom>
          <a:solidFill>
            <a:srgbClr val="E5F8FF"/>
          </a:solidFill>
        </p:spPr>
        <p:txBody>
          <a:bodyPr tIns="91440" bIns="91440" anchor="ctr" anchorCtr="0"/>
          <a:lstStyle>
            <a:lvl1pPr marL="0" indent="0" algn="ctr">
              <a:buNone/>
              <a:defRPr sz="1800">
                <a:solidFill>
                  <a:schemeClr val="bg2"/>
                </a:solidFill>
              </a:defRPr>
            </a:lvl1pPr>
            <a:lvl2pPr>
              <a:defRPr sz="1600">
                <a:solidFill>
                  <a:schemeClr val="bg2"/>
                </a:solidFill>
              </a:defRPr>
            </a:lvl2pPr>
            <a:lvl3pPr>
              <a:defRPr sz="1400">
                <a:solidFill>
                  <a:schemeClr val="bg2"/>
                </a:solidFill>
              </a:defRPr>
            </a:lvl3pPr>
            <a:lvl4pPr>
              <a:defRPr sz="1200">
                <a:solidFill>
                  <a:schemeClr val="bg2"/>
                </a:solidFill>
              </a:defRPr>
            </a:lvl4pPr>
            <a:lvl5pPr>
              <a:defRPr sz="1200">
                <a:solidFill>
                  <a:schemeClr val="bg2"/>
                </a:solidFill>
              </a:defRPr>
            </a:lvl5pPr>
          </a:lstStyle>
          <a:p>
            <a:pPr lvl="0"/>
            <a:r>
              <a:rPr lang="en-US"/>
              <a:t>Click to edit Master text styles</a:t>
            </a:r>
          </a:p>
        </p:txBody>
      </p:sp>
      <p:sp>
        <p:nvSpPr>
          <p:cNvPr id="14" name="Content Placeholder 11">
            <a:extLst>
              <a:ext uri="{FF2B5EF4-FFF2-40B4-BE49-F238E27FC236}">
                <a16:creationId xmlns:a16="http://schemas.microsoft.com/office/drawing/2014/main" id="{887CCC8C-1CBB-4FA5-AC41-F8CE31E2C100}"/>
              </a:ext>
            </a:extLst>
          </p:cNvPr>
          <p:cNvSpPr>
            <a:spLocks noGrp="1" noChangeAspect="1"/>
          </p:cNvSpPr>
          <p:nvPr>
            <p:ph sz="quarter" idx="13"/>
          </p:nvPr>
        </p:nvSpPr>
        <p:spPr>
          <a:xfrm>
            <a:off x="8324850" y="2228850"/>
            <a:ext cx="3314700" cy="3314700"/>
          </a:xfrm>
          <a:prstGeom prst="rect">
            <a:avLst/>
          </a:prstGeom>
          <a:solidFill>
            <a:srgbClr val="E5F8FF"/>
          </a:solidFill>
        </p:spPr>
        <p:txBody>
          <a:bodyPr tIns="91440" bIns="91440" anchor="ctr" anchorCtr="0"/>
          <a:lstStyle>
            <a:lvl1pPr marL="0" indent="0" algn="ctr">
              <a:buNone/>
              <a:defRPr sz="1800">
                <a:solidFill>
                  <a:schemeClr val="bg2"/>
                </a:solidFill>
              </a:defRPr>
            </a:lvl1pPr>
            <a:lvl2pPr>
              <a:defRPr sz="1600">
                <a:solidFill>
                  <a:schemeClr val="bg2"/>
                </a:solidFill>
              </a:defRPr>
            </a:lvl2pPr>
            <a:lvl3pPr>
              <a:defRPr sz="1400">
                <a:solidFill>
                  <a:schemeClr val="bg2"/>
                </a:solidFill>
              </a:defRPr>
            </a:lvl3pPr>
            <a:lvl4pPr>
              <a:defRPr sz="1200">
                <a:solidFill>
                  <a:schemeClr val="bg2"/>
                </a:solidFill>
              </a:defRPr>
            </a:lvl4pPr>
            <a:lvl5pPr>
              <a:defRPr sz="1200">
                <a:solidFill>
                  <a:schemeClr val="bg2"/>
                </a:solidFill>
              </a:defRPr>
            </a:lvl5pPr>
          </a:lstStyle>
          <a:p>
            <a:pPr lvl="0"/>
            <a:r>
              <a:rPr lang="en-US"/>
              <a:t>Click to edit Master text styles</a:t>
            </a:r>
          </a:p>
        </p:txBody>
      </p:sp>
      <p:sp>
        <p:nvSpPr>
          <p:cNvPr id="15" name="Rectangle 14">
            <a:extLst>
              <a:ext uri="{FF2B5EF4-FFF2-40B4-BE49-F238E27FC236}">
                <a16:creationId xmlns:a16="http://schemas.microsoft.com/office/drawing/2014/main" id="{65E98A6F-4362-4A68-979C-B344868D9B85}"/>
              </a:ext>
              <a:ext uri="{C183D7F6-B498-43B3-948B-1728B52AA6E4}">
                <adec:decorative xmlns:adec="http://schemas.microsoft.com/office/drawing/2017/decorative" val="1"/>
              </a:ext>
            </a:extLst>
          </p:cNvPr>
          <p:cNvSpPr>
            <a:spLocks noChangeAspect="1"/>
          </p:cNvSpPr>
          <p:nvPr/>
        </p:nvSpPr>
        <p:spPr>
          <a:xfrm>
            <a:off x="381000" y="400050"/>
            <a:ext cx="457200" cy="114300"/>
          </a:xfrm>
          <a:prstGeom prst="rect">
            <a:avLst/>
          </a:prstGeom>
          <a:solidFill>
            <a:srgbClr val="80C7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200">
              <a:solidFill>
                <a:schemeClr val="tx2"/>
              </a:solidFill>
            </a:endParaRPr>
          </a:p>
        </p:txBody>
      </p:sp>
    </p:spTree>
    <p:extLst>
      <p:ext uri="{BB962C8B-B14F-4D97-AF65-F5344CB8AC3E}">
        <p14:creationId xmlns:p14="http://schemas.microsoft.com/office/powerpoint/2010/main" val="28488040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tatement blu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D95DA-6F2D-4DB9-A4B6-50D3D1C65809}"/>
              </a:ext>
            </a:extLst>
          </p:cNvPr>
          <p:cNvSpPr>
            <a:spLocks noGrp="1"/>
          </p:cNvSpPr>
          <p:nvPr>
            <p:ph type="title"/>
          </p:nvPr>
        </p:nvSpPr>
        <p:spPr>
          <a:xfrm>
            <a:off x="398556" y="3438303"/>
            <a:ext cx="9201150" cy="2676747"/>
          </a:xfrm>
          <a:prstGeom prst="rect">
            <a:avLst/>
          </a:prstGeom>
        </p:spPr>
        <p:txBody>
          <a:bodyPr wrap="square" lIns="0" tIns="0" rIns="0" bIns="0" anchor="t" anchorCtr="0">
            <a:noAutofit/>
          </a:bodyPr>
          <a:lstStyle>
            <a:lvl1pPr>
              <a:lnSpc>
                <a:spcPct val="90000"/>
              </a:lnSpc>
              <a:defRPr sz="5400">
                <a:solidFill>
                  <a:srgbClr val="E5F8FF"/>
                </a:solidFill>
                <a:latin typeface="Arial Nova Light" panose="020B0304020202020204" pitchFamily="34" charset="0"/>
              </a:defRPr>
            </a:lvl1pPr>
          </a:lstStyle>
          <a:p>
            <a:r>
              <a:rPr lang="en-US"/>
              <a:t>Click to edit Master title style</a:t>
            </a:r>
          </a:p>
        </p:txBody>
      </p:sp>
      <p:pic>
        <p:nvPicPr>
          <p:cNvPr id="3" name="Picture 2">
            <a:extLst>
              <a:ext uri="{FF2B5EF4-FFF2-40B4-BE49-F238E27FC236}">
                <a16:creationId xmlns:a16="http://schemas.microsoft.com/office/drawing/2014/main" id="{5C487A85-65B5-4371-833A-AD6EFF69F55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10" name="Rectangle 9">
            <a:extLst>
              <a:ext uri="{FF2B5EF4-FFF2-40B4-BE49-F238E27FC236}">
                <a16:creationId xmlns:a16="http://schemas.microsoft.com/office/drawing/2014/main" id="{06CBAE8D-A442-4706-952E-6CCFA561BE14}"/>
              </a:ext>
              <a:ext uri="{C183D7F6-B498-43B3-948B-1728B52AA6E4}">
                <adec:decorative xmlns:adec="http://schemas.microsoft.com/office/drawing/2017/decorative" val="1"/>
              </a:ext>
            </a:extLst>
          </p:cNvPr>
          <p:cNvSpPr>
            <a:spLocks noChangeAspect="1"/>
          </p:cNvSpPr>
          <p:nvPr/>
        </p:nvSpPr>
        <p:spPr>
          <a:xfrm>
            <a:off x="398556" y="2914650"/>
            <a:ext cx="457200" cy="114300"/>
          </a:xfrm>
          <a:prstGeom prst="rect">
            <a:avLst/>
          </a:prstGeom>
          <a:solidFill>
            <a:srgbClr val="80C7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Tree>
    <p:extLst>
      <p:ext uri="{BB962C8B-B14F-4D97-AF65-F5344CB8AC3E}">
        <p14:creationId xmlns:p14="http://schemas.microsoft.com/office/powerpoint/2010/main" val="3394200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op bar w/pattern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800100"/>
            <a:ext cx="4800600" cy="886397"/>
          </a:xfrm>
          <a:prstGeom prst="rect">
            <a:avLst/>
          </a:prstGeom>
        </p:spPr>
        <p:txBody>
          <a:bodyPr wrap="square" lIns="0" tIns="0" rIns="0" bIns="0" anchor="t" anchorCtr="0">
            <a:spAutoFit/>
          </a:bodyPr>
          <a:lstStyle>
            <a:lvl1pPr>
              <a:defRPr lang="en-US" sz="3200" dirty="0">
                <a:solidFill>
                  <a:schemeClr val="tx2"/>
                </a:solidFill>
              </a:defRPr>
            </a:lvl1pPr>
          </a:lstStyle>
          <a:p>
            <a:pPr marL="0" lvl="0"/>
            <a:r>
              <a:rPr lang="en-US"/>
              <a:t>Click to edit Master title style</a:t>
            </a:r>
          </a:p>
        </p:txBody>
      </p:sp>
      <p:pic>
        <p:nvPicPr>
          <p:cNvPr id="4" name="Picture 3"/>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18" name="Rectangle 17">
            <a:extLst>
              <a:ext uri="{FF2B5EF4-FFF2-40B4-BE49-F238E27FC236}">
                <a16:creationId xmlns:a16="http://schemas.microsoft.com/office/drawing/2014/main" id="{961E767C-1F50-4D42-AF6A-E15CED75F7A5}"/>
              </a:ext>
              <a:ext uri="{C183D7F6-B498-43B3-948B-1728B52AA6E4}">
                <adec:decorative xmlns:adec="http://schemas.microsoft.com/office/drawing/2017/decorative" val="1"/>
              </a:ext>
            </a:extLst>
          </p:cNvPr>
          <p:cNvSpPr>
            <a:spLocks noChangeAspect="1"/>
          </p:cNvSpPr>
          <p:nvPr/>
        </p:nvSpPr>
        <p:spPr>
          <a:xfrm>
            <a:off x="381000" y="400050"/>
            <a:ext cx="457200" cy="114300"/>
          </a:xfrm>
          <a:prstGeom prst="rect">
            <a:avLst/>
          </a:prstGeom>
          <a:solidFill>
            <a:srgbClr val="80C7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accent6"/>
              </a:solidFill>
            </a:endParaRPr>
          </a:p>
        </p:txBody>
      </p:sp>
    </p:spTree>
    <p:extLst>
      <p:ext uri="{BB962C8B-B14F-4D97-AF65-F5344CB8AC3E}">
        <p14:creationId xmlns:p14="http://schemas.microsoft.com/office/powerpoint/2010/main" val="41686657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op bar w/photo half blue">
    <p:bg>
      <p:bgPr>
        <a:solidFill>
          <a:schemeClr val="accent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6" name="Rectangle 5">
            <a:extLst>
              <a:ext uri="{FF2B5EF4-FFF2-40B4-BE49-F238E27FC236}">
                <a16:creationId xmlns:a16="http://schemas.microsoft.com/office/drawing/2014/main" id="{BEADD02D-4E86-18B9-EC0D-5EFAF43C6BBB}"/>
              </a:ext>
            </a:extLst>
          </p:cNvPr>
          <p:cNvSpPr/>
          <p:nvPr/>
        </p:nvSpPr>
        <p:spPr>
          <a:xfrm>
            <a:off x="0" y="0"/>
            <a:ext cx="12192000" cy="3429000"/>
          </a:xfrm>
          <a:prstGeom prst="rect">
            <a:avLst/>
          </a:prstGeom>
          <a:solidFill>
            <a:srgbClr val="0D32A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2"/>
              </a:solidFill>
            </a:endParaRPr>
          </a:p>
        </p:txBody>
      </p:sp>
      <p:sp>
        <p:nvSpPr>
          <p:cNvPr id="5" name="Picture Placeholder 6">
            <a:extLst>
              <a:ext uri="{FF2B5EF4-FFF2-40B4-BE49-F238E27FC236}">
                <a16:creationId xmlns:a16="http://schemas.microsoft.com/office/drawing/2014/main" id="{96F27EC7-A1F5-878A-4E9C-42D9EE7F3BF5}"/>
              </a:ext>
            </a:extLst>
          </p:cNvPr>
          <p:cNvSpPr>
            <a:spLocks noGrp="1"/>
          </p:cNvSpPr>
          <p:nvPr>
            <p:ph type="pic" sz="quarter" idx="11"/>
          </p:nvPr>
        </p:nvSpPr>
        <p:spPr>
          <a:xfrm>
            <a:off x="0" y="0"/>
            <a:ext cx="12192000" cy="3429000"/>
          </a:xfrm>
          <a:prstGeom prst="rect">
            <a:avLst/>
          </a:prstGeom>
          <a:noFill/>
          <a:ln>
            <a:noFill/>
          </a:ln>
        </p:spPr>
        <p:txBody>
          <a:bodyPr lIns="0" tIns="0" rIns="0" bIns="0" anchor="ctr" anchorCtr="1"/>
          <a:lstStyle>
            <a:lvl1pPr marL="0" indent="0">
              <a:buNone/>
              <a:defRPr>
                <a:solidFill>
                  <a:schemeClr val="tx2"/>
                </a:solidFill>
              </a:defRPr>
            </a:lvl1pPr>
          </a:lstStyle>
          <a:p>
            <a:r>
              <a:rPr lang="en-US"/>
              <a:t>Click icon to add picture</a:t>
            </a:r>
          </a:p>
        </p:txBody>
      </p:sp>
      <p:sp>
        <p:nvSpPr>
          <p:cNvPr id="7" name="Rectangle 6">
            <a:extLst>
              <a:ext uri="{FF2B5EF4-FFF2-40B4-BE49-F238E27FC236}">
                <a16:creationId xmlns:a16="http://schemas.microsoft.com/office/drawing/2014/main" id="{08033FDC-55EF-42E8-40A1-2BDB05C1834C}"/>
              </a:ext>
              <a:ext uri="{C183D7F6-B498-43B3-948B-1728B52AA6E4}">
                <adec:decorative xmlns:adec="http://schemas.microsoft.com/office/drawing/2017/decorative" val="1"/>
              </a:ext>
            </a:extLst>
          </p:cNvPr>
          <p:cNvSpPr>
            <a:spLocks noChangeAspect="1"/>
          </p:cNvSpPr>
          <p:nvPr/>
        </p:nvSpPr>
        <p:spPr>
          <a:xfrm>
            <a:off x="381000" y="3829050"/>
            <a:ext cx="457200" cy="114300"/>
          </a:xfrm>
          <a:prstGeom prst="rect">
            <a:avLst/>
          </a:prstGeom>
          <a:solidFill>
            <a:srgbClr val="80C7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accent6"/>
              </a:solidFill>
            </a:endParaRPr>
          </a:p>
        </p:txBody>
      </p:sp>
      <p:sp>
        <p:nvSpPr>
          <p:cNvPr id="2" name="Title 1"/>
          <p:cNvSpPr>
            <a:spLocks noGrp="1"/>
          </p:cNvSpPr>
          <p:nvPr>
            <p:ph type="title"/>
          </p:nvPr>
        </p:nvSpPr>
        <p:spPr>
          <a:xfrm>
            <a:off x="381569" y="4229100"/>
            <a:ext cx="4800600" cy="886397"/>
          </a:xfrm>
          <a:prstGeom prst="rect">
            <a:avLst/>
          </a:prstGeom>
        </p:spPr>
        <p:txBody>
          <a:bodyPr wrap="square" lIns="0" tIns="0" rIns="0" bIns="0" anchor="t" anchorCtr="0">
            <a:spAutoFit/>
          </a:bodyPr>
          <a:lstStyle>
            <a:lvl1pPr>
              <a:defRPr lang="en-US" sz="3200" dirty="0">
                <a:solidFill>
                  <a:schemeClr val="tx2"/>
                </a:solidFill>
              </a:defRPr>
            </a:lvl1pPr>
          </a:lstStyle>
          <a:p>
            <a:pPr marL="0" lvl="0"/>
            <a:r>
              <a:rPr lang="en-US"/>
              <a:t>Click to edit Master title style</a:t>
            </a:r>
          </a:p>
        </p:txBody>
      </p:sp>
      <p:sp>
        <p:nvSpPr>
          <p:cNvPr id="9" name="Content Placeholder 9">
            <a:extLst>
              <a:ext uri="{FF2B5EF4-FFF2-40B4-BE49-F238E27FC236}">
                <a16:creationId xmlns:a16="http://schemas.microsoft.com/office/drawing/2014/main" id="{22707C3E-AA17-F74E-2CC0-F61663C5E36B}"/>
              </a:ext>
            </a:extLst>
          </p:cNvPr>
          <p:cNvSpPr>
            <a:spLocks noGrp="1"/>
          </p:cNvSpPr>
          <p:nvPr>
            <p:ph sz="quarter" idx="14"/>
          </p:nvPr>
        </p:nvSpPr>
        <p:spPr>
          <a:xfrm>
            <a:off x="6096000" y="3829050"/>
            <a:ext cx="5715000" cy="2343150"/>
          </a:xfrm>
          <a:prstGeom prst="rect">
            <a:avLst/>
          </a:prstGeom>
        </p:spPr>
        <p:txBody>
          <a:bodyPr lIns="0" tIns="0" rIns="0" bIns="0"/>
          <a:lstStyle>
            <a:lvl1pPr marL="0" indent="0">
              <a:lnSpc>
                <a:spcPct val="100000"/>
              </a:lnSpc>
              <a:spcBef>
                <a:spcPts val="1800"/>
              </a:spcBef>
              <a:buClr>
                <a:srgbClr val="808080"/>
              </a:buClr>
              <a:buNone/>
              <a:defRPr sz="1800" b="0">
                <a:solidFill>
                  <a:schemeClr val="tx2"/>
                </a:solidFill>
              </a:defRPr>
            </a:lvl1pPr>
            <a:lvl2pPr marL="228594" indent="-228594">
              <a:lnSpc>
                <a:spcPct val="100000"/>
              </a:lnSpc>
              <a:spcBef>
                <a:spcPts val="1200"/>
              </a:spcBef>
              <a:buClr>
                <a:srgbClr val="80C7FB"/>
              </a:buClr>
              <a:buFont typeface="Arial" panose="020B0604020202020204" pitchFamily="34" charset="0"/>
              <a:buChar char="•"/>
              <a:defRPr sz="1600" b="0">
                <a:solidFill>
                  <a:schemeClr val="tx2"/>
                </a:solidFill>
              </a:defRPr>
            </a:lvl2pPr>
            <a:lvl3pPr marL="685783" indent="-228594">
              <a:lnSpc>
                <a:spcPct val="100000"/>
              </a:lnSpc>
              <a:spcBef>
                <a:spcPts val="600"/>
              </a:spcBef>
              <a:buClr>
                <a:srgbClr val="80C7FB"/>
              </a:buClr>
              <a:buFont typeface="Arial" panose="020B0604020202020204" pitchFamily="34" charset="0"/>
              <a:buChar char="–"/>
              <a:defRPr sz="1200" b="0">
                <a:solidFill>
                  <a:schemeClr val="tx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
        <p:nvSpPr>
          <p:cNvPr id="12" name="Subtitle 2">
            <a:extLst>
              <a:ext uri="{FF2B5EF4-FFF2-40B4-BE49-F238E27FC236}">
                <a16:creationId xmlns:a16="http://schemas.microsoft.com/office/drawing/2014/main" id="{7EC10F5B-4C21-AEA3-115E-942A040690DC}"/>
              </a:ext>
            </a:extLst>
          </p:cNvPr>
          <p:cNvSpPr>
            <a:spLocks noGrp="1"/>
          </p:cNvSpPr>
          <p:nvPr>
            <p:ph type="subTitle" idx="10"/>
          </p:nvPr>
        </p:nvSpPr>
        <p:spPr>
          <a:xfrm>
            <a:off x="381000" y="5600700"/>
            <a:ext cx="4800600" cy="571500"/>
          </a:xfrm>
          <a:prstGeom prst="rect">
            <a:avLst/>
          </a:prstGeom>
        </p:spPr>
        <p:txBody>
          <a:bodyPr wrap="square" lIns="0" tIns="0" rIns="0" bIns="0" anchor="t" anchorCtr="0">
            <a:noAutofit/>
          </a:bodyPr>
          <a:lstStyle>
            <a:lvl1pPr marL="0" indent="0" algn="l">
              <a:lnSpc>
                <a:spcPct val="100000"/>
              </a:lnSpc>
              <a:spcBef>
                <a:spcPts val="1200"/>
              </a:spcBef>
              <a:buNone/>
              <a:defRPr sz="1800">
                <a:solidFill>
                  <a:srgbClr val="80C7FB"/>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Tree>
    <p:extLst>
      <p:ext uri="{BB962C8B-B14F-4D97-AF65-F5344CB8AC3E}">
        <p14:creationId xmlns:p14="http://schemas.microsoft.com/office/powerpoint/2010/main" val="30684745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11430000" cy="443198"/>
          </a:xfrm>
          <a:prstGeom prst="rect">
            <a:avLst/>
          </a:prstGeom>
        </p:spPr>
        <p:txBody>
          <a:bodyPr wrap="square" lIns="0" tIns="0" rIns="0" bIns="0">
            <a:spAutoFit/>
          </a:bodyPr>
          <a:lstStyle>
            <a:lvl1pPr>
              <a:defRPr sz="3200">
                <a:solidFill>
                  <a:schemeClr val="bg1"/>
                </a:solidFill>
                <a:latin typeface="+mj-lt"/>
              </a:defRPr>
            </a:lvl1pPr>
          </a:lstStyle>
          <a:p>
            <a:r>
              <a:rPr lang="en-US"/>
              <a:t>Click to edit Master title style</a:t>
            </a:r>
          </a:p>
        </p:txBody>
      </p:sp>
    </p:spTree>
    <p:extLst>
      <p:ext uri="{BB962C8B-B14F-4D97-AF65-F5344CB8AC3E}">
        <p14:creationId xmlns:p14="http://schemas.microsoft.com/office/powerpoint/2010/main" val="32910925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11430000" cy="443198"/>
          </a:xfrm>
          <a:prstGeom prst="rect">
            <a:avLst/>
          </a:prstGeom>
        </p:spPr>
        <p:txBody>
          <a:bodyPr wrap="square" lIns="0" tIns="0" rIns="0" bIns="0">
            <a:spAutoFit/>
          </a:bodyPr>
          <a:lstStyle>
            <a:lvl1pPr>
              <a:defRPr sz="3200">
                <a:solidFill>
                  <a:schemeClr val="bg1"/>
                </a:solidFill>
                <a:latin typeface="+mj-lt"/>
              </a:defRPr>
            </a:lvl1pPr>
          </a:lstStyle>
          <a:p>
            <a:r>
              <a:rPr lang="en-US"/>
              <a:t>Click to edit Master title style</a:t>
            </a:r>
          </a:p>
        </p:txBody>
      </p:sp>
      <p:sp>
        <p:nvSpPr>
          <p:cNvPr id="3" name="Subtitle 2"/>
          <p:cNvSpPr>
            <a:spLocks noGrp="1"/>
          </p:cNvSpPr>
          <p:nvPr>
            <p:ph type="subTitle" idx="1"/>
          </p:nvPr>
        </p:nvSpPr>
        <p:spPr>
          <a:xfrm>
            <a:off x="381000" y="857250"/>
            <a:ext cx="11430000" cy="246221"/>
          </a:xfrm>
          <a:prstGeom prst="rect">
            <a:avLst/>
          </a:prstGeom>
        </p:spPr>
        <p:txBody>
          <a:bodyPr wrap="square" lIns="0" tIns="0" rIns="0" bIns="0">
            <a:spAutoFit/>
          </a:bodyPr>
          <a:lstStyle>
            <a:lvl1pPr marL="0" indent="0" algn="l">
              <a:lnSpc>
                <a:spcPct val="100000"/>
              </a:lnSpc>
              <a:spcBef>
                <a:spcPts val="0"/>
              </a:spcBef>
              <a:buNone/>
              <a:defRPr sz="1600">
                <a:solidFill>
                  <a:schemeClr val="bg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Tree>
    <p:extLst>
      <p:ext uri="{BB962C8B-B14F-4D97-AF65-F5344CB8AC3E}">
        <p14:creationId xmlns:p14="http://schemas.microsoft.com/office/powerpoint/2010/main" val="33943750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mp;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11430000" cy="443198"/>
          </a:xfrm>
          <a:prstGeom prst="rect">
            <a:avLst/>
          </a:prstGeom>
        </p:spPr>
        <p:txBody>
          <a:bodyPr wrap="square" lIns="0" tIns="0" rIns="0" bIns="0">
            <a:spAutoFit/>
          </a:bodyPr>
          <a:lstStyle>
            <a:lvl1pPr>
              <a:defRPr sz="3200">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00200"/>
            <a:ext cx="11430000" cy="4572000"/>
          </a:xfrm>
          <a:prstGeom prst="rect">
            <a:avLst/>
          </a:prstGeom>
        </p:spPr>
        <p:txBody>
          <a:bodyPr lIns="0" tIns="0" rIns="0" bIns="0"/>
          <a:lstStyle>
            <a:lvl1pPr marL="228594" indent="-228594">
              <a:lnSpc>
                <a:spcPct val="100000"/>
              </a:lnSpc>
              <a:spcBef>
                <a:spcPts val="1200"/>
              </a:spcBef>
              <a:buClr>
                <a:srgbClr val="808080"/>
              </a:buClr>
              <a:buFont typeface="Arial" panose="020B0604020202020204" pitchFamily="34" charset="0"/>
              <a:buChar char="•"/>
              <a:defRPr sz="2400">
                <a:solidFill>
                  <a:schemeClr val="bg2"/>
                </a:solidFill>
                <a:latin typeface="Arial" panose="020B0604020202020204" pitchFamily="34" charset="0"/>
              </a:defRPr>
            </a:lvl1pPr>
            <a:lvl2pPr marL="685783" indent="-228594">
              <a:lnSpc>
                <a:spcPct val="100000"/>
              </a:lnSpc>
              <a:spcBef>
                <a:spcPts val="600"/>
              </a:spcBef>
              <a:buClr>
                <a:srgbClr val="808080"/>
              </a:buClr>
              <a:buFont typeface="Arial" panose="020B0604020202020204" pitchFamily="34" charset="0"/>
              <a:buChar char="–"/>
              <a:defRPr sz="1800">
                <a:solidFill>
                  <a:schemeClr val="bg2"/>
                </a:solidFill>
                <a:latin typeface="Arial" panose="020B0604020202020204" pitchFamily="34" charset="0"/>
              </a:defRPr>
            </a:lvl2pPr>
            <a:lvl3pPr marL="1066773" indent="-152396">
              <a:lnSpc>
                <a:spcPct val="100000"/>
              </a:lnSpc>
              <a:spcBef>
                <a:spcPts val="600"/>
              </a:spcBef>
              <a:buClr>
                <a:srgbClr val="808080"/>
              </a:buClr>
              <a:buFont typeface="Arial" panose="020B0604020202020204" pitchFamily="34" charset="0"/>
              <a:buChar char="▪"/>
              <a:defRPr sz="1400">
                <a:solidFill>
                  <a:schemeClr val="bg2"/>
                </a:solidFill>
                <a:latin typeface="Arial" panose="020B0604020202020204" pitchFamily="34" charset="0"/>
              </a:defRPr>
            </a:lvl3pPr>
            <a:lvl4pPr marL="1600160" indent="-228594">
              <a:lnSpc>
                <a:spcPct val="100000"/>
              </a:lnSpc>
              <a:spcBef>
                <a:spcPts val="400"/>
              </a:spcBef>
              <a:buClr>
                <a:schemeClr val="bg1">
                  <a:lumMod val="60000"/>
                  <a:lumOff val="40000"/>
                </a:schemeClr>
              </a:buClr>
              <a:buFont typeface="Arial" panose="020B0604020202020204" pitchFamily="34" charset="0"/>
              <a:buChar char="•"/>
              <a:defRPr sz="1200"/>
            </a:lvl4pPr>
            <a:lvl5pPr marL="2057349" indent="-228594">
              <a:lnSpc>
                <a:spcPct val="100000"/>
              </a:lnSpc>
              <a:spcBef>
                <a:spcPts val="400"/>
              </a:spcBef>
              <a:buClr>
                <a:schemeClr val="bg1">
                  <a:lumMod val="60000"/>
                  <a:lumOff val="40000"/>
                </a:schemeClr>
              </a:buClr>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7901918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ubtitle &amp;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1" y="342900"/>
            <a:ext cx="11430000" cy="443198"/>
          </a:xfrm>
          <a:prstGeom prst="rect">
            <a:avLst/>
          </a:prstGeom>
        </p:spPr>
        <p:txBody>
          <a:bodyPr wrap="square" lIns="0" tIns="0" rIns="0" bIns="0">
            <a:spAutoFit/>
          </a:bodyPr>
          <a:lstStyle>
            <a:lvl1pPr>
              <a:defRPr sz="3200">
                <a:solidFill>
                  <a:schemeClr val="bg1"/>
                </a:solidFill>
                <a:latin typeface="+mj-lt"/>
              </a:defRPr>
            </a:lvl1pPr>
          </a:lstStyle>
          <a:p>
            <a:r>
              <a:rPr lang="en-US"/>
              <a:t>Click to edit Master title style</a:t>
            </a:r>
          </a:p>
        </p:txBody>
      </p:sp>
      <p:sp>
        <p:nvSpPr>
          <p:cNvPr id="3" name="Subtitle 2"/>
          <p:cNvSpPr>
            <a:spLocks noGrp="1"/>
          </p:cNvSpPr>
          <p:nvPr>
            <p:ph type="subTitle" idx="1"/>
          </p:nvPr>
        </p:nvSpPr>
        <p:spPr>
          <a:xfrm>
            <a:off x="385486" y="857250"/>
            <a:ext cx="11425529" cy="246221"/>
          </a:xfrm>
          <a:prstGeom prst="rect">
            <a:avLst/>
          </a:prstGeom>
        </p:spPr>
        <p:txBody>
          <a:bodyPr wrap="square" lIns="0" tIns="0" rIns="0" bIns="0">
            <a:spAutoFit/>
          </a:bodyPr>
          <a:lstStyle>
            <a:lvl1pPr marL="0" indent="0" algn="l">
              <a:lnSpc>
                <a:spcPct val="100000"/>
              </a:lnSpc>
              <a:spcBef>
                <a:spcPts val="0"/>
              </a:spcBef>
              <a:buNone/>
              <a:defRPr sz="1600">
                <a:solidFill>
                  <a:schemeClr val="bg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Content Placeholder 2"/>
          <p:cNvSpPr>
            <a:spLocks noGrp="1"/>
          </p:cNvSpPr>
          <p:nvPr>
            <p:ph idx="10"/>
          </p:nvPr>
        </p:nvSpPr>
        <p:spPr>
          <a:xfrm>
            <a:off x="385486" y="1600200"/>
            <a:ext cx="11425529" cy="4572000"/>
          </a:xfrm>
          <a:prstGeom prst="rect">
            <a:avLst/>
          </a:prstGeom>
        </p:spPr>
        <p:txBody>
          <a:bodyPr lIns="0" tIns="0" rIns="0" bIns="0"/>
          <a:lstStyle>
            <a:lvl1pPr marL="228594" indent="-228594">
              <a:lnSpc>
                <a:spcPct val="100000"/>
              </a:lnSpc>
              <a:spcBef>
                <a:spcPts val="1200"/>
              </a:spcBef>
              <a:buClr>
                <a:srgbClr val="808080"/>
              </a:buClr>
              <a:buFont typeface="Arial" panose="020B0604020202020204" pitchFamily="34" charset="0"/>
              <a:buChar char="•"/>
              <a:defRPr sz="2400">
                <a:solidFill>
                  <a:schemeClr val="bg2"/>
                </a:solidFill>
                <a:latin typeface="Arial" panose="020B0604020202020204" pitchFamily="34" charset="0"/>
              </a:defRPr>
            </a:lvl1pPr>
            <a:lvl2pPr marL="685783" indent="-228594">
              <a:lnSpc>
                <a:spcPct val="100000"/>
              </a:lnSpc>
              <a:spcBef>
                <a:spcPts val="600"/>
              </a:spcBef>
              <a:buClr>
                <a:srgbClr val="808080"/>
              </a:buClr>
              <a:buFont typeface="Arial" panose="020B0604020202020204" pitchFamily="34" charset="0"/>
              <a:buChar char="–"/>
              <a:defRPr sz="1800">
                <a:solidFill>
                  <a:schemeClr val="bg2"/>
                </a:solidFill>
                <a:latin typeface="Arial" panose="020B0604020202020204" pitchFamily="34" charset="0"/>
              </a:defRPr>
            </a:lvl2pPr>
            <a:lvl3pPr marL="1066773" indent="-152396">
              <a:lnSpc>
                <a:spcPct val="100000"/>
              </a:lnSpc>
              <a:spcBef>
                <a:spcPts val="600"/>
              </a:spcBef>
              <a:buClr>
                <a:srgbClr val="808080"/>
              </a:buClr>
              <a:buFont typeface="Arial" panose="020B0604020202020204" pitchFamily="34" charset="0"/>
              <a:buChar char="▪"/>
              <a:defRPr sz="1400">
                <a:solidFill>
                  <a:schemeClr val="bg2"/>
                </a:solidFill>
                <a:latin typeface="Arial" panose="020B0604020202020204" pitchFamily="34" charset="0"/>
              </a:defRPr>
            </a:lvl3pPr>
            <a:lvl4pPr marL="1600160" indent="-228594">
              <a:lnSpc>
                <a:spcPct val="100000"/>
              </a:lnSpc>
              <a:spcBef>
                <a:spcPts val="400"/>
              </a:spcBef>
              <a:buClr>
                <a:schemeClr val="bg1">
                  <a:lumMod val="60000"/>
                  <a:lumOff val="40000"/>
                </a:schemeClr>
              </a:buClr>
              <a:buFont typeface="Arial" panose="020B0604020202020204" pitchFamily="34" charset="0"/>
              <a:buChar char="•"/>
              <a:defRPr sz="1200"/>
            </a:lvl4pPr>
            <a:lvl5pPr marL="2057349" indent="-228594">
              <a:lnSpc>
                <a:spcPct val="100000"/>
              </a:lnSpc>
              <a:spcBef>
                <a:spcPts val="400"/>
              </a:spcBef>
              <a:buClr>
                <a:schemeClr val="bg1">
                  <a:lumMod val="60000"/>
                  <a:lumOff val="40000"/>
                </a:schemeClr>
              </a:buClr>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3220445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2 columns">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11430000" cy="443198"/>
          </a:xfrm>
          <a:prstGeom prst="rect">
            <a:avLst/>
          </a:prstGeom>
        </p:spPr>
        <p:txBody>
          <a:bodyPr wrap="square" lIns="0" tIns="0" rIns="0" bIns="0">
            <a:spAutoFit/>
          </a:bodyPr>
          <a:lstStyle>
            <a:lvl1pPr>
              <a:defRPr lang="en-US" sz="3200" dirty="0">
                <a:solidFill>
                  <a:schemeClr val="bg1"/>
                </a:solidFill>
                <a:latin typeface="+mj-lt"/>
              </a:defRPr>
            </a:lvl1pPr>
          </a:lstStyle>
          <a:p>
            <a:pPr lvl="0"/>
            <a:r>
              <a:rPr lang="en-US"/>
              <a:t>Click to edit Master title style</a:t>
            </a:r>
          </a:p>
        </p:txBody>
      </p:sp>
      <p:sp>
        <p:nvSpPr>
          <p:cNvPr id="10" name="Content Placeholder 9"/>
          <p:cNvSpPr>
            <a:spLocks noGrp="1"/>
          </p:cNvSpPr>
          <p:nvPr>
            <p:ph sz="quarter" idx="10"/>
          </p:nvPr>
        </p:nvSpPr>
        <p:spPr>
          <a:xfrm>
            <a:off x="381000" y="1600200"/>
            <a:ext cx="5486400" cy="4572000"/>
          </a:xfrm>
          <a:prstGeom prst="rect">
            <a:avLst/>
          </a:prstGeom>
        </p:spPr>
        <p:txBody>
          <a:bodyPr lIns="0" tIns="0" rIns="0" bIns="0"/>
          <a:lstStyle>
            <a:lvl1pPr>
              <a:lnSpc>
                <a:spcPct val="100000"/>
              </a:lnSpc>
              <a:spcBef>
                <a:spcPts val="1200"/>
              </a:spcBef>
              <a:buClr>
                <a:srgbClr val="808080"/>
              </a:buClr>
              <a:defRPr sz="2400">
                <a:solidFill>
                  <a:schemeClr val="bg2"/>
                </a:solidFill>
              </a:defRPr>
            </a:lvl1pPr>
            <a:lvl2pPr marL="685783" indent="-228594">
              <a:lnSpc>
                <a:spcPct val="100000"/>
              </a:lnSpc>
              <a:spcBef>
                <a:spcPts val="600"/>
              </a:spcBef>
              <a:buClr>
                <a:srgbClr val="808080"/>
              </a:buClr>
              <a:buFont typeface="Arial" panose="020B0604020202020204" pitchFamily="34" charset="0"/>
              <a:buChar char="–"/>
              <a:defRPr sz="1800">
                <a:solidFill>
                  <a:schemeClr val="bg2"/>
                </a:solidFill>
              </a:defRPr>
            </a:lvl2pPr>
            <a:lvl3pPr marL="1142971" indent="-228594">
              <a:lnSpc>
                <a:spcPct val="100000"/>
              </a:lnSpc>
              <a:spcBef>
                <a:spcPts val="600"/>
              </a:spcBef>
              <a:buClr>
                <a:srgbClr val="808080"/>
              </a:buClr>
              <a:buFont typeface="Wingdings" panose="05000000000000000000" pitchFamily="2" charset="2"/>
              <a:buChar char="§"/>
              <a:defRPr sz="1400">
                <a:solidFill>
                  <a:schemeClr val="bg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
        <p:nvSpPr>
          <p:cNvPr id="11" name="Content Placeholder 9"/>
          <p:cNvSpPr>
            <a:spLocks noGrp="1"/>
          </p:cNvSpPr>
          <p:nvPr>
            <p:ph sz="quarter" idx="11"/>
          </p:nvPr>
        </p:nvSpPr>
        <p:spPr>
          <a:xfrm>
            <a:off x="6324600" y="1600200"/>
            <a:ext cx="5486400" cy="4572000"/>
          </a:xfrm>
          <a:prstGeom prst="rect">
            <a:avLst/>
          </a:prstGeom>
        </p:spPr>
        <p:txBody>
          <a:bodyPr lIns="0" tIns="0" rIns="0" bIns="0"/>
          <a:lstStyle>
            <a:lvl1pPr>
              <a:lnSpc>
                <a:spcPct val="100000"/>
              </a:lnSpc>
              <a:spcBef>
                <a:spcPts val="1200"/>
              </a:spcBef>
              <a:buClr>
                <a:srgbClr val="808080"/>
              </a:buClr>
              <a:defRPr sz="2400">
                <a:solidFill>
                  <a:schemeClr val="bg2"/>
                </a:solidFill>
              </a:defRPr>
            </a:lvl1pPr>
            <a:lvl2pPr marL="685783" indent="-228594">
              <a:lnSpc>
                <a:spcPct val="100000"/>
              </a:lnSpc>
              <a:spcBef>
                <a:spcPts val="600"/>
              </a:spcBef>
              <a:buClr>
                <a:srgbClr val="808080"/>
              </a:buClr>
              <a:buFont typeface="Arial" panose="020B0604020202020204" pitchFamily="34" charset="0"/>
              <a:buChar char="–"/>
              <a:defRPr sz="1800">
                <a:solidFill>
                  <a:schemeClr val="bg2"/>
                </a:solidFill>
              </a:defRPr>
            </a:lvl2pPr>
            <a:lvl3pPr marL="1142971" indent="-228594">
              <a:lnSpc>
                <a:spcPct val="100000"/>
              </a:lnSpc>
              <a:spcBef>
                <a:spcPts val="600"/>
              </a:spcBef>
              <a:buClr>
                <a:srgbClr val="808080"/>
              </a:buClr>
              <a:buFont typeface="Wingdings" panose="05000000000000000000" pitchFamily="2" charset="2"/>
              <a:buChar char="§"/>
              <a:defRPr sz="1400">
                <a:solidFill>
                  <a:schemeClr val="bg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2898059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 columns w subtitles">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11430000" cy="443198"/>
          </a:xfrm>
          <a:prstGeom prst="rect">
            <a:avLst/>
          </a:prstGeom>
        </p:spPr>
        <p:txBody>
          <a:bodyPr wrap="square" lIns="0" tIns="0" rIns="0" bIns="0">
            <a:spAutoFit/>
          </a:bodyPr>
          <a:lstStyle>
            <a:lvl1pPr>
              <a:defRPr lang="en-US" sz="3200" dirty="0">
                <a:solidFill>
                  <a:schemeClr val="bg1"/>
                </a:solidFill>
                <a:latin typeface="+mj-lt"/>
              </a:defRPr>
            </a:lvl1pPr>
          </a:lstStyle>
          <a:p>
            <a:pPr lvl="0"/>
            <a:r>
              <a:rPr lang="en-US"/>
              <a:t>Click to edit Master title style</a:t>
            </a:r>
          </a:p>
        </p:txBody>
      </p:sp>
      <p:sp>
        <p:nvSpPr>
          <p:cNvPr id="4" name="Content Placeholder 3">
            <a:extLst>
              <a:ext uri="{FF2B5EF4-FFF2-40B4-BE49-F238E27FC236}">
                <a16:creationId xmlns:a16="http://schemas.microsoft.com/office/drawing/2014/main" id="{C1F1CEAD-C06E-4DD6-958D-A69C28387D94}"/>
              </a:ext>
            </a:extLst>
          </p:cNvPr>
          <p:cNvSpPr>
            <a:spLocks noGrp="1"/>
          </p:cNvSpPr>
          <p:nvPr>
            <p:ph sz="quarter" idx="13"/>
          </p:nvPr>
        </p:nvSpPr>
        <p:spPr>
          <a:xfrm>
            <a:off x="381000" y="1374370"/>
            <a:ext cx="5486400" cy="4797829"/>
          </a:xfrm>
          <a:prstGeom prst="rect">
            <a:avLst/>
          </a:prstGeom>
        </p:spPr>
        <p:txBody>
          <a:bodyPr lIns="0" tIns="0" rIns="0" bIns="91440"/>
          <a:lstStyle>
            <a:lvl1pPr marL="0" indent="0">
              <a:lnSpc>
                <a:spcPct val="100000"/>
              </a:lnSpc>
              <a:spcBef>
                <a:spcPts val="1800"/>
              </a:spcBef>
              <a:buNone/>
              <a:defRPr sz="2000" b="1" baseline="0">
                <a:solidFill>
                  <a:schemeClr val="bg1"/>
                </a:solidFill>
              </a:defRPr>
            </a:lvl1pPr>
            <a:lvl2pPr marL="230712" indent="-230712">
              <a:lnSpc>
                <a:spcPct val="100000"/>
              </a:lnSpc>
              <a:spcBef>
                <a:spcPts val="1200"/>
              </a:spcBef>
              <a:buClr>
                <a:srgbClr val="808080"/>
              </a:buClr>
              <a:defRPr sz="1800">
                <a:solidFill>
                  <a:schemeClr val="bg2"/>
                </a:solidFill>
              </a:defRPr>
            </a:lvl2pPr>
            <a:lvl3pPr marL="685783" indent="-230712">
              <a:lnSpc>
                <a:spcPct val="100000"/>
              </a:lnSpc>
              <a:spcBef>
                <a:spcPts val="600"/>
              </a:spcBef>
              <a:buClr>
                <a:srgbClr val="808080"/>
              </a:buClr>
              <a:buFont typeface="Arial" panose="020B0604020202020204" pitchFamily="34" charset="0"/>
              <a:buChar char="–"/>
              <a:defRPr sz="1400">
                <a:solidFill>
                  <a:schemeClr val="bg2"/>
                </a:solidFill>
              </a:defRPr>
            </a:lvl3pPr>
            <a:lvl4pPr marL="1140855" indent="-224361">
              <a:lnSpc>
                <a:spcPct val="100000"/>
              </a:lnSpc>
              <a:spcBef>
                <a:spcPts val="600"/>
              </a:spcBef>
              <a:buClr>
                <a:srgbClr val="808080"/>
              </a:buClr>
              <a:buFont typeface="Wingdings" panose="05000000000000000000" pitchFamily="2" charset="2"/>
              <a:buChar char="§"/>
              <a:defRPr sz="1200">
                <a:solidFill>
                  <a:schemeClr val="bg2"/>
                </a:solidFill>
              </a:defRPr>
            </a:lvl4pPr>
            <a:lvl5pPr>
              <a:lnSpc>
                <a:spcPct val="100000"/>
              </a:lnSpc>
              <a:spcBef>
                <a:spcPts val="400"/>
              </a:spcBef>
              <a:buClr>
                <a:srgbClr val="808080"/>
              </a:buClr>
              <a:defRPr sz="1867">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Content Placeholder 3">
            <a:extLst>
              <a:ext uri="{FF2B5EF4-FFF2-40B4-BE49-F238E27FC236}">
                <a16:creationId xmlns:a16="http://schemas.microsoft.com/office/drawing/2014/main" id="{A0C49344-5A94-4BB8-B1F8-EC9EB43874D0}"/>
              </a:ext>
            </a:extLst>
          </p:cNvPr>
          <p:cNvSpPr>
            <a:spLocks noGrp="1"/>
          </p:cNvSpPr>
          <p:nvPr>
            <p:ph sz="quarter" idx="14"/>
          </p:nvPr>
        </p:nvSpPr>
        <p:spPr>
          <a:xfrm>
            <a:off x="6324600" y="1374370"/>
            <a:ext cx="5486400" cy="4797829"/>
          </a:xfrm>
          <a:prstGeom prst="rect">
            <a:avLst/>
          </a:prstGeom>
        </p:spPr>
        <p:txBody>
          <a:bodyPr lIns="0" tIns="0" rIns="0" bIns="91440"/>
          <a:lstStyle>
            <a:lvl1pPr marL="0" indent="0">
              <a:lnSpc>
                <a:spcPct val="100000"/>
              </a:lnSpc>
              <a:spcBef>
                <a:spcPts val="1800"/>
              </a:spcBef>
              <a:buNone/>
              <a:defRPr sz="2000" b="1" baseline="0">
                <a:solidFill>
                  <a:schemeClr val="bg1"/>
                </a:solidFill>
              </a:defRPr>
            </a:lvl1pPr>
            <a:lvl2pPr marL="230712" indent="-230712">
              <a:lnSpc>
                <a:spcPct val="100000"/>
              </a:lnSpc>
              <a:spcBef>
                <a:spcPts val="1200"/>
              </a:spcBef>
              <a:buClr>
                <a:srgbClr val="808080"/>
              </a:buClr>
              <a:defRPr sz="1800">
                <a:solidFill>
                  <a:schemeClr val="bg2"/>
                </a:solidFill>
              </a:defRPr>
            </a:lvl2pPr>
            <a:lvl3pPr marL="685783" indent="-230712">
              <a:lnSpc>
                <a:spcPct val="100000"/>
              </a:lnSpc>
              <a:spcBef>
                <a:spcPts val="600"/>
              </a:spcBef>
              <a:buClr>
                <a:srgbClr val="808080"/>
              </a:buClr>
              <a:buFont typeface="Arial" panose="020B0604020202020204" pitchFamily="34" charset="0"/>
              <a:buChar char="–"/>
              <a:defRPr sz="1400">
                <a:solidFill>
                  <a:schemeClr val="bg2"/>
                </a:solidFill>
              </a:defRPr>
            </a:lvl3pPr>
            <a:lvl4pPr marL="1140855" indent="-224361">
              <a:lnSpc>
                <a:spcPct val="100000"/>
              </a:lnSpc>
              <a:spcBef>
                <a:spcPts val="600"/>
              </a:spcBef>
              <a:buClr>
                <a:srgbClr val="808080"/>
              </a:buClr>
              <a:buFont typeface="Wingdings" panose="05000000000000000000" pitchFamily="2" charset="2"/>
              <a:buChar char="§"/>
              <a:defRPr sz="1200">
                <a:solidFill>
                  <a:schemeClr val="bg2"/>
                </a:solidFill>
              </a:defRPr>
            </a:lvl4pPr>
            <a:lvl5pPr>
              <a:lnSpc>
                <a:spcPct val="100000"/>
              </a:lnSpc>
              <a:spcBef>
                <a:spcPts val="400"/>
              </a:spcBef>
              <a:buClr>
                <a:srgbClr val="808080"/>
              </a:buClr>
              <a:defRPr sz="1867">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779220378"/>
      </p:ext>
    </p:extLst>
  </p:cSld>
  <p:clrMapOvr>
    <a:masterClrMapping/>
  </p:clrMapOvr>
  <p:extLst>
    <p:ext uri="{DCECCB84-F9BA-43D5-87BE-67443E8EF086}">
      <p15:sldGuideLst xmlns:p15="http://schemas.microsoft.com/office/powerpoint/2012/main">
        <p15:guide id="1" orient="horz" pos="120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columns w subtitles">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11430000" cy="443198"/>
          </a:xfrm>
          <a:prstGeom prst="rect">
            <a:avLst/>
          </a:prstGeom>
        </p:spPr>
        <p:txBody>
          <a:bodyPr wrap="square" lIns="0" tIns="0" rIns="0" bIns="0">
            <a:spAutoFit/>
          </a:bodyPr>
          <a:lstStyle>
            <a:lvl1pPr>
              <a:defRPr lang="en-US" sz="3200" dirty="0">
                <a:solidFill>
                  <a:schemeClr val="bg1"/>
                </a:solidFill>
                <a:latin typeface="+mj-lt"/>
              </a:defRPr>
            </a:lvl1pPr>
          </a:lstStyle>
          <a:p>
            <a:pPr lvl="0"/>
            <a:r>
              <a:rPr lang="en-US"/>
              <a:t>Click to edit Master title style</a:t>
            </a:r>
          </a:p>
        </p:txBody>
      </p:sp>
      <p:sp>
        <p:nvSpPr>
          <p:cNvPr id="9" name="Content Placeholder 9"/>
          <p:cNvSpPr>
            <a:spLocks noGrp="1"/>
          </p:cNvSpPr>
          <p:nvPr>
            <p:ph sz="quarter" idx="13"/>
          </p:nvPr>
        </p:nvSpPr>
        <p:spPr>
          <a:xfrm>
            <a:off x="381000" y="1371600"/>
            <a:ext cx="3526327" cy="4800600"/>
          </a:xfrm>
          <a:prstGeom prst="rect">
            <a:avLst/>
          </a:prstGeom>
        </p:spPr>
        <p:txBody>
          <a:bodyPr lIns="0" tIns="0" rIns="0" bIns="0"/>
          <a:lstStyle>
            <a:lvl1pPr marL="0" indent="0">
              <a:lnSpc>
                <a:spcPct val="100000"/>
              </a:lnSpc>
              <a:spcBef>
                <a:spcPts val="1800"/>
              </a:spcBef>
              <a:buClr>
                <a:srgbClr val="808080"/>
              </a:buClr>
              <a:buNone/>
              <a:defRPr sz="1800" b="1">
                <a:solidFill>
                  <a:schemeClr val="bg1"/>
                </a:solidFill>
              </a:defRPr>
            </a:lvl1pPr>
            <a:lvl2pPr marL="228594" indent="-228594">
              <a:lnSpc>
                <a:spcPct val="100000"/>
              </a:lnSpc>
              <a:spcBef>
                <a:spcPts val="1200"/>
              </a:spcBef>
              <a:buClr>
                <a:srgbClr val="808080"/>
              </a:buClr>
              <a:buFont typeface="Arial" panose="020B0604020202020204" pitchFamily="34" charset="0"/>
              <a:buChar char="•"/>
              <a:defRPr sz="1600">
                <a:solidFill>
                  <a:schemeClr val="bg2"/>
                </a:solidFill>
              </a:defRPr>
            </a:lvl2pPr>
            <a:lvl3pPr marL="685783" indent="-228594">
              <a:lnSpc>
                <a:spcPct val="100000"/>
              </a:lnSpc>
              <a:spcBef>
                <a:spcPts val="600"/>
              </a:spcBef>
              <a:buClr>
                <a:srgbClr val="808080"/>
              </a:buClr>
              <a:buFont typeface="Arial" panose="020B0604020202020204" pitchFamily="34" charset="0"/>
              <a:buChar char="–"/>
              <a:defRPr sz="1200">
                <a:solidFill>
                  <a:schemeClr val="bg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
        <p:nvSpPr>
          <p:cNvPr id="12" name="Content Placeholder 9">
            <a:extLst>
              <a:ext uri="{FF2B5EF4-FFF2-40B4-BE49-F238E27FC236}">
                <a16:creationId xmlns:a16="http://schemas.microsoft.com/office/drawing/2014/main" id="{3C9CA1AB-E8E8-4338-8BB5-4C9F95D3899A}"/>
              </a:ext>
            </a:extLst>
          </p:cNvPr>
          <p:cNvSpPr>
            <a:spLocks noGrp="1"/>
          </p:cNvSpPr>
          <p:nvPr>
            <p:ph sz="quarter" idx="14"/>
          </p:nvPr>
        </p:nvSpPr>
        <p:spPr>
          <a:xfrm>
            <a:off x="4332836" y="1371600"/>
            <a:ext cx="3526327" cy="4800600"/>
          </a:xfrm>
          <a:prstGeom prst="rect">
            <a:avLst/>
          </a:prstGeom>
        </p:spPr>
        <p:txBody>
          <a:bodyPr lIns="0" tIns="0" rIns="0" bIns="0"/>
          <a:lstStyle>
            <a:lvl1pPr marL="0" indent="0">
              <a:lnSpc>
                <a:spcPct val="100000"/>
              </a:lnSpc>
              <a:spcBef>
                <a:spcPts val="1800"/>
              </a:spcBef>
              <a:buClr>
                <a:srgbClr val="808080"/>
              </a:buClr>
              <a:buNone/>
              <a:defRPr sz="1800" b="1">
                <a:solidFill>
                  <a:schemeClr val="bg1"/>
                </a:solidFill>
              </a:defRPr>
            </a:lvl1pPr>
            <a:lvl2pPr marL="228594" indent="-228594">
              <a:lnSpc>
                <a:spcPct val="100000"/>
              </a:lnSpc>
              <a:spcBef>
                <a:spcPts val="1200"/>
              </a:spcBef>
              <a:buClr>
                <a:srgbClr val="808080"/>
              </a:buClr>
              <a:buFont typeface="Arial" panose="020B0604020202020204" pitchFamily="34" charset="0"/>
              <a:buChar char="•"/>
              <a:defRPr sz="1600">
                <a:solidFill>
                  <a:schemeClr val="bg2"/>
                </a:solidFill>
              </a:defRPr>
            </a:lvl2pPr>
            <a:lvl3pPr marL="685783" indent="-228594">
              <a:lnSpc>
                <a:spcPct val="100000"/>
              </a:lnSpc>
              <a:spcBef>
                <a:spcPts val="600"/>
              </a:spcBef>
              <a:buClr>
                <a:srgbClr val="808080"/>
              </a:buClr>
              <a:buFont typeface="Arial" panose="020B0604020202020204" pitchFamily="34" charset="0"/>
              <a:buChar char="–"/>
              <a:defRPr sz="1200">
                <a:solidFill>
                  <a:schemeClr val="bg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
        <p:nvSpPr>
          <p:cNvPr id="13" name="Content Placeholder 9">
            <a:extLst>
              <a:ext uri="{FF2B5EF4-FFF2-40B4-BE49-F238E27FC236}">
                <a16:creationId xmlns:a16="http://schemas.microsoft.com/office/drawing/2014/main" id="{B6586213-13AB-4801-9939-C1924B01D7D1}"/>
              </a:ext>
            </a:extLst>
          </p:cNvPr>
          <p:cNvSpPr>
            <a:spLocks noGrp="1"/>
          </p:cNvSpPr>
          <p:nvPr>
            <p:ph sz="quarter" idx="15"/>
          </p:nvPr>
        </p:nvSpPr>
        <p:spPr>
          <a:xfrm>
            <a:off x="8284230" y="1371600"/>
            <a:ext cx="3526327" cy="4800600"/>
          </a:xfrm>
          <a:prstGeom prst="rect">
            <a:avLst/>
          </a:prstGeom>
        </p:spPr>
        <p:txBody>
          <a:bodyPr lIns="0" tIns="0" rIns="0" bIns="0"/>
          <a:lstStyle>
            <a:lvl1pPr marL="0" indent="0">
              <a:lnSpc>
                <a:spcPct val="100000"/>
              </a:lnSpc>
              <a:spcBef>
                <a:spcPts val="1800"/>
              </a:spcBef>
              <a:buClr>
                <a:srgbClr val="808080"/>
              </a:buClr>
              <a:buNone/>
              <a:defRPr sz="1800" b="1">
                <a:solidFill>
                  <a:schemeClr val="bg1"/>
                </a:solidFill>
              </a:defRPr>
            </a:lvl1pPr>
            <a:lvl2pPr marL="228594" indent="-228594">
              <a:lnSpc>
                <a:spcPct val="100000"/>
              </a:lnSpc>
              <a:spcBef>
                <a:spcPts val="1200"/>
              </a:spcBef>
              <a:buClr>
                <a:srgbClr val="808080"/>
              </a:buClr>
              <a:buFont typeface="Arial" panose="020B0604020202020204" pitchFamily="34" charset="0"/>
              <a:buChar char="•"/>
              <a:defRPr sz="1600">
                <a:solidFill>
                  <a:schemeClr val="bg2"/>
                </a:solidFill>
              </a:defRPr>
            </a:lvl2pPr>
            <a:lvl3pPr marL="685783" indent="-228594">
              <a:lnSpc>
                <a:spcPct val="100000"/>
              </a:lnSpc>
              <a:spcBef>
                <a:spcPts val="600"/>
              </a:spcBef>
              <a:buClr>
                <a:srgbClr val="808080"/>
              </a:buClr>
              <a:buFont typeface="Arial" panose="020B0604020202020204" pitchFamily="34" charset="0"/>
              <a:buChar char="–"/>
              <a:defRPr sz="1200">
                <a:solidFill>
                  <a:schemeClr val="bg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78276633"/>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21CDB-95CE-458B-A911-027A05894B80}"/>
              </a:ext>
            </a:extLst>
          </p:cNvPr>
          <p:cNvSpPr>
            <a:spLocks noGrp="1"/>
          </p:cNvSpPr>
          <p:nvPr>
            <p:ph type="title"/>
          </p:nvPr>
        </p:nvSpPr>
        <p:spPr>
          <a:xfrm>
            <a:off x="838200" y="-457200"/>
            <a:ext cx="10515600" cy="395816"/>
          </a:xfrm>
          <a:prstGeom prst="rect">
            <a:avLst/>
          </a:prstGeom>
        </p:spPr>
        <p:txBody>
          <a:bodyPr/>
          <a:lstStyle>
            <a:lvl1pPr algn="ctr">
              <a:defRPr sz="2400">
                <a:solidFill>
                  <a:schemeClr val="tx1"/>
                </a:solidFill>
              </a:defRPr>
            </a:lvl1pPr>
          </a:lstStyle>
          <a:p>
            <a:r>
              <a:rPr lang="en-US"/>
              <a:t>Click to edit Master title style</a:t>
            </a:r>
          </a:p>
        </p:txBody>
      </p:sp>
    </p:spTree>
    <p:extLst>
      <p:ext uri="{BB962C8B-B14F-4D97-AF65-F5344CB8AC3E}">
        <p14:creationId xmlns:p14="http://schemas.microsoft.com/office/powerpoint/2010/main" val="11945313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End log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0B410-C7E4-4036-89E5-3C58E91B269B}"/>
              </a:ext>
            </a:extLst>
          </p:cNvPr>
          <p:cNvSpPr>
            <a:spLocks noGrp="1"/>
          </p:cNvSpPr>
          <p:nvPr>
            <p:ph type="title"/>
          </p:nvPr>
        </p:nvSpPr>
        <p:spPr>
          <a:xfrm>
            <a:off x="838200" y="-457200"/>
            <a:ext cx="10515600" cy="395816"/>
          </a:xfrm>
          <a:prstGeom prst="rect">
            <a:avLst/>
          </a:prstGeom>
        </p:spPr>
        <p:txBody>
          <a:bodyPr/>
          <a:lstStyle>
            <a:lvl1pPr algn="ctr">
              <a:defRPr sz="2400"/>
            </a:lvl1pPr>
          </a:lstStyle>
          <a:p>
            <a:r>
              <a:rPr lang="en-US"/>
              <a:t>Click to edit Master title style</a:t>
            </a:r>
          </a:p>
        </p:txBody>
      </p:sp>
      <p:sp>
        <p:nvSpPr>
          <p:cNvPr id="209" name="Rectangle 208">
            <a:extLst>
              <a:ext uri="{FF2B5EF4-FFF2-40B4-BE49-F238E27FC236}">
                <a16:creationId xmlns:a16="http://schemas.microsoft.com/office/drawing/2014/main" id="{5BC7EE9C-562A-4519-B67A-EB99114D5C54}"/>
              </a:ext>
              <a:ext uri="{C183D7F6-B498-43B3-948B-1728B52AA6E4}">
                <adec:decorative xmlns:adec="http://schemas.microsoft.com/office/drawing/2017/decorative" val="1"/>
              </a:ext>
            </a:extLst>
          </p:cNvPr>
          <p:cNvSpPr>
            <a:spLocks noChangeAspect="1"/>
          </p:cNvSpPr>
          <p:nvPr/>
        </p:nvSpPr>
        <p:spPr>
          <a:xfrm>
            <a:off x="381000" y="400050"/>
            <a:ext cx="457200" cy="1143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pic>
        <p:nvPicPr>
          <p:cNvPr id="210" name="Picture 209">
            <a:extLst>
              <a:ext uri="{FF2B5EF4-FFF2-40B4-BE49-F238E27FC236}">
                <a16:creationId xmlns:a16="http://schemas.microsoft.com/office/drawing/2014/main" id="{9F395D62-9AFB-429C-85A8-BAAB83043A5B}"/>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01171" y="6172200"/>
            <a:ext cx="2743200" cy="356618"/>
          </a:xfrm>
          <a:prstGeom prst="rect">
            <a:avLst/>
          </a:prstGeom>
        </p:spPr>
      </p:pic>
    </p:spTree>
    <p:extLst>
      <p:ext uri="{BB962C8B-B14F-4D97-AF65-F5344CB8AC3E}">
        <p14:creationId xmlns:p14="http://schemas.microsoft.com/office/powerpoint/2010/main" val="35827766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19665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Long Headlin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Tree>
    <p:extLst>
      <p:ext uri="{BB962C8B-B14F-4D97-AF65-F5344CB8AC3E}">
        <p14:creationId xmlns:p14="http://schemas.microsoft.com/office/powerpoint/2010/main" val="22142652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Title Onl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p>
        </p:txBody>
      </p:sp>
    </p:spTree>
    <p:extLst>
      <p:ext uri="{BB962C8B-B14F-4D97-AF65-F5344CB8AC3E}">
        <p14:creationId xmlns:p14="http://schemas.microsoft.com/office/powerpoint/2010/main" val="3993649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I_Blank">
    <p:spTree>
      <p:nvGrpSpPr>
        <p:cNvPr id="1" name=""/>
        <p:cNvGrpSpPr/>
        <p:nvPr/>
      </p:nvGrpSpPr>
      <p:grpSpPr>
        <a:xfrm>
          <a:off x="0" y="0"/>
          <a:ext cx="0" cy="0"/>
          <a:chOff x="0" y="0"/>
          <a:chExt cx="0" cy="0"/>
        </a:xfrm>
      </p:grpSpPr>
      <p:sp>
        <p:nvSpPr>
          <p:cNvPr id="9" name="Slide Number Placeholder 3">
            <a:extLst>
              <a:ext uri="{FF2B5EF4-FFF2-40B4-BE49-F238E27FC236}">
                <a16:creationId xmlns:a16="http://schemas.microsoft.com/office/drawing/2014/main" id="{6EC68F1B-6FFA-4D0F-D73F-22CEBB1BE3CF}"/>
              </a:ext>
            </a:extLst>
          </p:cNvPr>
          <p:cNvSpPr>
            <a:spLocks noGrp="1"/>
          </p:cNvSpPr>
          <p:nvPr>
            <p:ph type="sldNum" sz="quarter" idx="4"/>
          </p:nvPr>
        </p:nvSpPr>
        <p:spPr>
          <a:xfrm>
            <a:off x="109863" y="6485816"/>
            <a:ext cx="689128" cy="365125"/>
          </a:xfrm>
          <a:prstGeom prst="rect">
            <a:avLst/>
          </a:prstGeom>
        </p:spPr>
        <p:txBody>
          <a:bodyPr vert="horz" lIns="91440" tIns="45720" rIns="91440" bIns="45720" rtlCol="0" anchor="ctr"/>
          <a:lstStyle>
            <a:lvl1pPr algn="l">
              <a:defRPr sz="1000">
                <a:solidFill>
                  <a:schemeClr val="tx1">
                    <a:tint val="82000"/>
                  </a:schemeClr>
                </a:solidFill>
              </a:defRPr>
            </a:lvl1pPr>
          </a:lstStyle>
          <a:p>
            <a:fld id="{A673C63F-D27F-4A38-92F9-D2191D3E013A}" type="slidenum">
              <a:rPr lang="en-US" smtClean="0"/>
              <a:pPr/>
              <a:t>‹#›</a:t>
            </a:fld>
            <a:endParaRPr lang="en-US"/>
          </a:p>
        </p:txBody>
      </p:sp>
      <p:sp>
        <p:nvSpPr>
          <p:cNvPr id="12" name="Title 1">
            <a:extLst>
              <a:ext uri="{FF2B5EF4-FFF2-40B4-BE49-F238E27FC236}">
                <a16:creationId xmlns:a16="http://schemas.microsoft.com/office/drawing/2014/main" id="{23B4747D-4C45-621F-69A3-84E52035A95C}"/>
              </a:ext>
            </a:extLst>
          </p:cNvPr>
          <p:cNvSpPr>
            <a:spLocks noGrp="1"/>
          </p:cNvSpPr>
          <p:nvPr>
            <p:ph type="title"/>
          </p:nvPr>
        </p:nvSpPr>
        <p:spPr>
          <a:xfrm>
            <a:off x="454532" y="152400"/>
            <a:ext cx="11198752" cy="485335"/>
          </a:xfrm>
        </p:spPr>
        <p:txBody>
          <a:bodyPr/>
          <a:lstStyle>
            <a:lvl1pPr>
              <a:defRPr>
                <a:solidFill>
                  <a:schemeClr val="accent1"/>
                </a:solidFill>
              </a:defRPr>
            </a:lvl1pPr>
          </a:lstStyle>
          <a:p>
            <a:r>
              <a:rPr lang="en-US"/>
              <a:t>Click to edit Master title style</a:t>
            </a:r>
            <a:endParaRPr/>
          </a:p>
        </p:txBody>
      </p:sp>
      <p:sp>
        <p:nvSpPr>
          <p:cNvPr id="13" name="Content Placeholder 6">
            <a:extLst>
              <a:ext uri="{FF2B5EF4-FFF2-40B4-BE49-F238E27FC236}">
                <a16:creationId xmlns:a16="http://schemas.microsoft.com/office/drawing/2014/main" id="{3AF8E267-A055-E4B5-7C83-C9E7263CD716}"/>
              </a:ext>
            </a:extLst>
          </p:cNvPr>
          <p:cNvSpPr>
            <a:spLocks noGrp="1"/>
          </p:cNvSpPr>
          <p:nvPr>
            <p:ph sz="quarter" idx="13" hasCustomPrompt="1"/>
          </p:nvPr>
        </p:nvSpPr>
        <p:spPr>
          <a:xfrm>
            <a:off x="454530" y="1447800"/>
            <a:ext cx="6307777" cy="4636008"/>
          </a:xfrm>
        </p:spPr>
        <p:txBody>
          <a:bodyPr/>
          <a:lstStyle>
            <a:lvl1pPr>
              <a:defRPr/>
            </a:lvl1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14" name="Text Placeholder 53">
            <a:extLst>
              <a:ext uri="{FF2B5EF4-FFF2-40B4-BE49-F238E27FC236}">
                <a16:creationId xmlns:a16="http://schemas.microsoft.com/office/drawing/2014/main" id="{5286239C-17D4-055D-7506-54C72635A7B6}"/>
              </a:ext>
            </a:extLst>
          </p:cNvPr>
          <p:cNvSpPr>
            <a:spLocks noGrp="1"/>
          </p:cNvSpPr>
          <p:nvPr>
            <p:ph type="body" sz="quarter" idx="14" hasCustomPrompt="1"/>
          </p:nvPr>
        </p:nvSpPr>
        <p:spPr>
          <a:xfrm>
            <a:off x="454532" y="731530"/>
            <a:ext cx="11198745" cy="365739"/>
          </a:xfrm>
        </p:spPr>
        <p:txBody>
          <a:bodyPr/>
          <a:lstStyle>
            <a:lvl1pPr marL="0" indent="0">
              <a:spcBef>
                <a:spcPts val="0"/>
              </a:spcBef>
              <a:buNone/>
              <a:defRPr sz="2000">
                <a:solidFill>
                  <a:schemeClr val="tx1"/>
                </a:solidFill>
              </a:defRPr>
            </a:lvl1pPr>
            <a:lvl2pPr marL="0" indent="0">
              <a:spcBef>
                <a:spcPts val="0"/>
              </a:spcBef>
              <a:buNone/>
              <a:defRPr sz="2000">
                <a:solidFill>
                  <a:srgbClr val="724D8D"/>
                </a:solidFill>
              </a:defRPr>
            </a:lvl2pPr>
            <a:lvl3pPr marL="0" indent="0">
              <a:spcBef>
                <a:spcPts val="0"/>
              </a:spcBef>
              <a:buNone/>
              <a:defRPr sz="2000">
                <a:solidFill>
                  <a:srgbClr val="724D8D"/>
                </a:solidFill>
              </a:defRPr>
            </a:lvl3pPr>
            <a:lvl4pPr marL="0" indent="0">
              <a:spcBef>
                <a:spcPts val="0"/>
              </a:spcBef>
              <a:buNone/>
              <a:defRPr sz="2000">
                <a:solidFill>
                  <a:srgbClr val="724D8D"/>
                </a:solidFill>
              </a:defRPr>
            </a:lvl4pPr>
            <a:lvl5pPr marL="0" indent="0">
              <a:spcBef>
                <a:spcPts val="0"/>
              </a:spcBef>
              <a:buNone/>
              <a:defRPr sz="2000">
                <a:solidFill>
                  <a:srgbClr val="724D8D"/>
                </a:solidFill>
              </a:defRPr>
            </a:lvl5pPr>
            <a:lvl6pPr marL="0" indent="0">
              <a:spcBef>
                <a:spcPts val="0"/>
              </a:spcBef>
              <a:buNone/>
              <a:defRPr sz="2000">
                <a:solidFill>
                  <a:srgbClr val="724D8D"/>
                </a:solidFill>
              </a:defRPr>
            </a:lvl6pPr>
            <a:lvl7pPr marL="0" indent="0">
              <a:spcBef>
                <a:spcPts val="0"/>
              </a:spcBef>
              <a:buNone/>
              <a:defRPr sz="2000">
                <a:solidFill>
                  <a:srgbClr val="724D8D"/>
                </a:solidFill>
              </a:defRPr>
            </a:lvl7pPr>
            <a:lvl8pPr marL="0" indent="0">
              <a:spcBef>
                <a:spcPts val="0"/>
              </a:spcBef>
              <a:buNone/>
              <a:defRPr sz="2000">
                <a:solidFill>
                  <a:srgbClr val="724D8D"/>
                </a:solidFill>
              </a:defRPr>
            </a:lvl8pPr>
            <a:lvl9pPr marL="0" indent="0">
              <a:spcBef>
                <a:spcPts val="0"/>
              </a:spcBef>
              <a:buNone/>
              <a:defRPr sz="2000">
                <a:solidFill>
                  <a:srgbClr val="724D8D"/>
                </a:solidFill>
              </a:defRPr>
            </a:lvl9pPr>
          </a:lstStyle>
          <a:p>
            <a:pPr lvl="0"/>
            <a:r>
              <a:t>Click to add subtitle</a:t>
            </a:r>
          </a:p>
        </p:txBody>
      </p:sp>
    </p:spTree>
    <p:extLst>
      <p:ext uri="{BB962C8B-B14F-4D97-AF65-F5344CB8AC3E}">
        <p14:creationId xmlns:p14="http://schemas.microsoft.com/office/powerpoint/2010/main" val="37142344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Title, Subtitle, Conten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6710D8F-0C63-AC41-AED8-7250F0DC1BE5}"/>
              </a:ext>
            </a:extLst>
          </p:cNvPr>
          <p:cNvGraphicFramePr>
            <a:graphicFrameLocks noChangeAspect="1"/>
          </p:cNvGraphicFramePr>
          <p:nvPr>
            <p:custDataLst>
              <p:tags r:id="rId1"/>
            </p:custDataLst>
            <p:extLst>
              <p:ext uri="{D42A27DB-BD31-4B8C-83A1-F6EECF244321}">
                <p14:modId xmlns:p14="http://schemas.microsoft.com/office/powerpoint/2010/main" val="1090509469"/>
              </p:ext>
            </p:extLst>
          </p:nvPr>
        </p:nvGraphicFramePr>
        <p:xfrm>
          <a:off x="1589"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Object 5" hidden="1">
                        <a:extLst>
                          <a:ext uri="{FF2B5EF4-FFF2-40B4-BE49-F238E27FC236}">
                            <a16:creationId xmlns:a16="http://schemas.microsoft.com/office/drawing/2014/main" id="{F6710D8F-0C63-AC41-AED8-7250F0DC1BE5}"/>
                          </a:ext>
                        </a:extLst>
                      </p:cNvPr>
                      <p:cNvPicPr/>
                      <p:nvPr/>
                    </p:nvPicPr>
                    <p:blipFill>
                      <a:blip r:embed="rId4"/>
                      <a:stretch>
                        <a:fillRect/>
                      </a:stretch>
                    </p:blipFill>
                    <p:spPr>
                      <a:xfrm>
                        <a:off x="1589"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B793E11-CA7F-4409-AF5F-4334AE726D78}"/>
              </a:ext>
            </a:extLst>
          </p:cNvPr>
          <p:cNvSpPr>
            <a:spLocks noGrp="1"/>
          </p:cNvSpPr>
          <p:nvPr>
            <p:ph type="title" hasCustomPrompt="1"/>
          </p:nvPr>
        </p:nvSpPr>
        <p:spPr>
          <a:xfrm>
            <a:off x="457200" y="384049"/>
            <a:ext cx="11274552" cy="364097"/>
          </a:xfrm>
        </p:spPr>
        <p:txBody>
          <a:bodyPr vert="horz"/>
          <a:lstStyle/>
          <a:p>
            <a:r>
              <a:rPr lang="en-US"/>
              <a:t>Click to edit master title style</a:t>
            </a:r>
          </a:p>
        </p:txBody>
      </p:sp>
      <p:sp>
        <p:nvSpPr>
          <p:cNvPr id="3" name="Content Placeholder 2">
            <a:extLst>
              <a:ext uri="{FF2B5EF4-FFF2-40B4-BE49-F238E27FC236}">
                <a16:creationId xmlns:a16="http://schemas.microsoft.com/office/drawing/2014/main" id="{24FC1E18-3994-4821-BBED-2E435EACD903}"/>
              </a:ext>
            </a:extLst>
          </p:cNvPr>
          <p:cNvSpPr>
            <a:spLocks noGrp="1"/>
          </p:cNvSpPr>
          <p:nvPr>
            <p:ph idx="1" hasCustomPrompt="1"/>
          </p:nvPr>
        </p:nvSpPr>
        <p:spPr/>
        <p:txBody>
          <a:bodyPr/>
          <a:lstStyle>
            <a:lvl1pPr>
              <a:spcBef>
                <a:spcPts val="0"/>
              </a:spcBef>
              <a:defRPr sz="1600"/>
            </a:lvl1pPr>
            <a:lvl2pPr>
              <a:spcBef>
                <a:spcPts val="0"/>
              </a:spcBef>
              <a:defRPr sz="1600"/>
            </a:lvl2pPr>
            <a:lvl3pPr>
              <a:spcBef>
                <a:spcPts val="0"/>
              </a:spcBef>
              <a:defRPr sz="1600"/>
            </a:lvl3pPr>
            <a:lvl4pPr>
              <a:spcBef>
                <a:spcPts val="0"/>
              </a:spcBef>
              <a:defRPr sz="1600"/>
            </a:lvl4pPr>
            <a:lvl5pPr>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8">
            <a:extLst>
              <a:ext uri="{FF2B5EF4-FFF2-40B4-BE49-F238E27FC236}">
                <a16:creationId xmlns:a16="http://schemas.microsoft.com/office/drawing/2014/main" id="{CF42219C-BCA8-76FE-3C4F-1BE9F057E36D}"/>
              </a:ext>
            </a:extLst>
          </p:cNvPr>
          <p:cNvSpPr>
            <a:spLocks noGrp="1"/>
          </p:cNvSpPr>
          <p:nvPr>
            <p:ph type="body" sz="quarter" idx="13" hasCustomPrompt="1"/>
          </p:nvPr>
        </p:nvSpPr>
        <p:spPr>
          <a:xfrm>
            <a:off x="457200" y="822363"/>
            <a:ext cx="11264901"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1960735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2BD75D-9591-3B43-9FB3-01B3C14778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3">
            <a:extLst>
              <a:ext uri="{FF2B5EF4-FFF2-40B4-BE49-F238E27FC236}">
                <a16:creationId xmlns:a16="http://schemas.microsoft.com/office/drawing/2014/main" id="{D5648383-7006-D74F-8E56-EA2C807A296B}"/>
              </a:ext>
            </a:extLst>
          </p:cNvPr>
          <p:cNvSpPr>
            <a:spLocks noGrp="1"/>
          </p:cNvSpPr>
          <p:nvPr>
            <p:ph type="ftr" sz="quarter" idx="13"/>
          </p:nvPr>
        </p:nvSpPr>
        <p:spPr>
          <a:xfrm>
            <a:off x="407989" y="6498453"/>
            <a:ext cx="6919087" cy="270483"/>
          </a:xfrm>
          <a:prstGeom prst="rect">
            <a:avLst/>
          </a:prstGeom>
        </p:spPr>
        <p:txBody>
          <a:bodyPr/>
          <a:lstStyle>
            <a:lvl1pPr algn="l">
              <a:defRPr sz="600">
                <a:solidFill>
                  <a:schemeClr val="tx1"/>
                </a:solidFill>
              </a:defRPr>
            </a:lvl1pPr>
          </a:lstStyle>
          <a:p>
            <a:r>
              <a:rPr lang="en-AU"/>
              <a:t>© Cochlear Limited 2023</a:t>
            </a:r>
            <a:endParaRPr lang="en-US"/>
          </a:p>
        </p:txBody>
      </p:sp>
      <p:sp>
        <p:nvSpPr>
          <p:cNvPr id="4" name="Title 3">
            <a:extLst>
              <a:ext uri="{FF2B5EF4-FFF2-40B4-BE49-F238E27FC236}">
                <a16:creationId xmlns:a16="http://schemas.microsoft.com/office/drawing/2014/main" id="{C5229D4E-8206-D746-9436-18533241309F}"/>
              </a:ext>
            </a:extLst>
          </p:cNvPr>
          <p:cNvSpPr>
            <a:spLocks noGrp="1"/>
          </p:cNvSpPr>
          <p:nvPr>
            <p:ph type="title"/>
          </p:nvPr>
        </p:nvSpPr>
        <p:spPr>
          <a:xfrm>
            <a:off x="407988" y="536078"/>
            <a:ext cx="10412412" cy="510402"/>
          </a:xfrm>
        </p:spPr>
        <p:txBody>
          <a:bodyPr/>
          <a:lstStyle>
            <a:lvl1pPr>
              <a:defRPr>
                <a:solidFill>
                  <a:schemeClr val="tx1"/>
                </a:solidFill>
              </a:defRPr>
            </a:lvl1pPr>
          </a:lstStyle>
          <a:p>
            <a:r>
              <a:rPr lang="en-US"/>
              <a:t>Click to edit Master title style</a:t>
            </a:r>
          </a:p>
        </p:txBody>
      </p:sp>
      <p:sp>
        <p:nvSpPr>
          <p:cNvPr id="8" name="Text Placeholder 11">
            <a:extLst>
              <a:ext uri="{FF2B5EF4-FFF2-40B4-BE49-F238E27FC236}">
                <a16:creationId xmlns:a16="http://schemas.microsoft.com/office/drawing/2014/main" id="{C21587DB-9D7C-4742-8570-FE759455D929}"/>
              </a:ext>
            </a:extLst>
          </p:cNvPr>
          <p:cNvSpPr>
            <a:spLocks noGrp="1"/>
          </p:cNvSpPr>
          <p:nvPr>
            <p:ph type="body" sz="quarter" idx="14"/>
          </p:nvPr>
        </p:nvSpPr>
        <p:spPr>
          <a:xfrm>
            <a:off x="407989" y="166564"/>
            <a:ext cx="6990339" cy="201737"/>
          </a:xfrm>
        </p:spPr>
        <p:txBody>
          <a:bodyPr>
            <a:noAutofit/>
          </a:bodyPr>
          <a:lstStyle>
            <a:lvl1pPr>
              <a:defRPr sz="1050" b="1">
                <a:solidFill>
                  <a:schemeClr val="tx1">
                    <a:lumMod val="60000"/>
                    <a:lumOff val="40000"/>
                  </a:schemeClr>
                </a:solidFill>
              </a:defRPr>
            </a:lvl1pPr>
          </a:lstStyle>
          <a:p>
            <a:pPr lvl="0"/>
            <a:r>
              <a:rPr lang="en-US"/>
              <a:t>Click to edit Master text styles</a:t>
            </a:r>
          </a:p>
        </p:txBody>
      </p:sp>
    </p:spTree>
    <p:extLst>
      <p:ext uri="{BB962C8B-B14F-4D97-AF65-F5344CB8AC3E}">
        <p14:creationId xmlns:p14="http://schemas.microsoft.com/office/powerpoint/2010/main" val="359650788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800034" y="1828800"/>
            <a:ext cx="7560401" cy="1970800"/>
          </a:xfrm>
          <a:prstGeom prst="rect">
            <a:avLst/>
          </a:prstGeom>
        </p:spPr>
        <p:txBody>
          <a:bodyPr/>
          <a:lstStyle>
            <a:lvl1pPr>
              <a:defRPr sz="6933"/>
            </a:lvl1pPr>
          </a:lstStyle>
          <a:p>
            <a:r>
              <a:t>Title Text</a:t>
            </a:r>
          </a:p>
        </p:txBody>
      </p:sp>
      <p:sp>
        <p:nvSpPr>
          <p:cNvPr id="12" name="Body Level One…"/>
          <p:cNvSpPr txBox="1">
            <a:spLocks noGrp="1"/>
          </p:cNvSpPr>
          <p:nvPr>
            <p:ph type="body" sz="quarter" idx="1"/>
          </p:nvPr>
        </p:nvSpPr>
        <p:spPr>
          <a:xfrm>
            <a:off x="800034" y="4106866"/>
            <a:ext cx="7483601" cy="1547201"/>
          </a:xfrm>
          <a:prstGeom prst="rect">
            <a:avLst/>
          </a:prstGeom>
        </p:spPr>
        <p:txBody>
          <a:bodyPr>
            <a:normAutofit/>
          </a:bodyPr>
          <a:lstStyle>
            <a:lvl1pPr marL="457189" indent="-304792">
              <a:buClrTx/>
              <a:buSzTx/>
              <a:buFontTx/>
              <a:buNone/>
              <a:defRPr sz="3733" b="0">
                <a:solidFill>
                  <a:srgbClr val="2D8FE2"/>
                </a:solidFill>
              </a:defRPr>
            </a:lvl1pPr>
            <a:lvl2pPr marL="457189" indent="330192">
              <a:buClrTx/>
              <a:buSzTx/>
              <a:buFontTx/>
              <a:buNone/>
              <a:defRPr sz="3733" b="0">
                <a:solidFill>
                  <a:srgbClr val="2D8FE2"/>
                </a:solidFill>
              </a:defRPr>
            </a:lvl2pPr>
            <a:lvl3pPr marL="457189" indent="965176">
              <a:buClrTx/>
              <a:buSzTx/>
              <a:buFontTx/>
              <a:buNone/>
              <a:defRPr sz="3733" b="0">
                <a:solidFill>
                  <a:srgbClr val="2D8FE2"/>
                </a:solidFill>
              </a:defRPr>
            </a:lvl3pPr>
            <a:lvl4pPr marL="457189" indent="1574761">
              <a:buClrTx/>
              <a:buSzTx/>
              <a:buFontTx/>
              <a:buNone/>
              <a:defRPr sz="3733" b="0">
                <a:solidFill>
                  <a:srgbClr val="2D8FE2"/>
                </a:solidFill>
              </a:defRPr>
            </a:lvl4pPr>
            <a:lvl5pPr marL="457189" indent="2184345">
              <a:buClrTx/>
              <a:buSzTx/>
              <a:buFontTx/>
              <a:buNone/>
              <a:defRPr sz="3733" b="0">
                <a:solidFill>
                  <a:srgbClr val="2D8FE2"/>
                </a:solidFill>
              </a:defRPr>
            </a:lvl5pPr>
          </a:lstStyle>
          <a:p>
            <a:r>
              <a:t>Body Level One</a:t>
            </a:r>
          </a:p>
          <a:p>
            <a:pPr lvl="1"/>
            <a:r>
              <a:t>Body Level Two</a:t>
            </a:r>
          </a:p>
          <a:p>
            <a:pPr lvl="2"/>
            <a:r>
              <a:t>Body Level Three</a:t>
            </a:r>
          </a:p>
          <a:p>
            <a:pPr lvl="3"/>
            <a:r>
              <a:t>Body Level Four</a:t>
            </a:r>
          </a:p>
          <a:p>
            <a:pPr lvl="4"/>
            <a:r>
              <a:t>Body Level Five</a:t>
            </a:r>
          </a:p>
        </p:txBody>
      </p:sp>
      <p:sp>
        <p:nvSpPr>
          <p:cNvPr id="13" name="Google Shape;20;p3"/>
          <p:cNvSpPr/>
          <p:nvPr/>
        </p:nvSpPr>
        <p:spPr>
          <a:xfrm flipH="1">
            <a:off x="145" y="-2"/>
            <a:ext cx="102801"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213969690"/>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type="tx">
  <p:cSld name="White-Blank_1">
    <p:spTree>
      <p:nvGrpSpPr>
        <p:cNvPr id="1" name=""/>
        <p:cNvGrpSpPr/>
        <p:nvPr/>
      </p:nvGrpSpPr>
      <p:grpSpPr>
        <a:xfrm>
          <a:off x="0" y="0"/>
          <a:ext cx="0" cy="0"/>
          <a:chOff x="0" y="0"/>
          <a:chExt cx="0" cy="0"/>
        </a:xfrm>
      </p:grpSpPr>
      <p:sp>
        <p:nvSpPr>
          <p:cNvPr id="31" name="Title Text"/>
          <p:cNvSpPr txBox="1">
            <a:spLocks noGrp="1"/>
          </p:cNvSpPr>
          <p:nvPr>
            <p:ph type="title"/>
          </p:nvPr>
        </p:nvSpPr>
        <p:spPr>
          <a:xfrm>
            <a:off x="800032" y="2503666"/>
            <a:ext cx="2522001" cy="1970801"/>
          </a:xfrm>
          <a:prstGeom prst="rect">
            <a:avLst/>
          </a:prstGeom>
        </p:spPr>
        <p:txBody>
          <a:bodyPr anchor="ctr"/>
          <a:lstStyle>
            <a:lvl1pPr>
              <a:defRPr sz="4400"/>
            </a:lvl1pPr>
          </a:lstStyle>
          <a:p>
            <a:r>
              <a:t>Title Text</a:t>
            </a:r>
          </a:p>
        </p:txBody>
      </p:sp>
      <p:sp>
        <p:nvSpPr>
          <p:cNvPr id="32" name="Body Level One…"/>
          <p:cNvSpPr txBox="1">
            <a:spLocks noGrp="1"/>
          </p:cNvSpPr>
          <p:nvPr>
            <p:ph type="body" sz="quarter" idx="1"/>
          </p:nvPr>
        </p:nvSpPr>
        <p:spPr>
          <a:xfrm>
            <a:off x="5181600" y="2833366"/>
            <a:ext cx="6133600" cy="1191201"/>
          </a:xfrm>
          <a:prstGeom prst="rect">
            <a:avLst/>
          </a:prstGeom>
        </p:spPr>
        <p:txBody>
          <a:bodyPr anchor="ctr">
            <a:normAutofit/>
          </a:bodyPr>
          <a:lstStyle>
            <a:lvl1pPr indent="-482588">
              <a:buSzPts val="2100"/>
              <a:buFontTx/>
              <a:buAutoNum type="arabicPeriod"/>
              <a:defRPr sz="2800"/>
            </a:lvl1pPr>
            <a:lvl2pPr marL="1430831" indent="-634984">
              <a:buSzPts val="2100"/>
              <a:buFontTx/>
              <a:buAutoNum type="alphaLcPeriod"/>
              <a:defRPr sz="2800"/>
            </a:lvl2pPr>
            <a:lvl3pPr marL="2040416" indent="-634984">
              <a:buSzPts val="2100"/>
              <a:buFontTx/>
              <a:buAutoNum type="romanLcPeriod"/>
              <a:defRPr sz="2800"/>
            </a:lvl3pPr>
            <a:lvl4pPr marL="2650000" indent="-634984">
              <a:buSzPts val="2100"/>
              <a:buFontTx/>
              <a:buAutoNum type="arabicPeriod"/>
              <a:defRPr sz="2800"/>
            </a:lvl4pPr>
            <a:lvl5pPr marL="3259585" indent="-634984">
              <a:buSzPts val="2100"/>
              <a:buFontTx/>
              <a:buAutoNum type="alphaLcPeriod"/>
              <a:defRPr sz="2800"/>
            </a:lvl5pPr>
          </a:lstStyle>
          <a:p>
            <a:r>
              <a:t>Body Level One</a:t>
            </a:r>
          </a:p>
          <a:p>
            <a:pPr lvl="1"/>
            <a:r>
              <a:t>Body Level Two</a:t>
            </a:r>
          </a:p>
          <a:p>
            <a:pPr lvl="2"/>
            <a:r>
              <a:t>Body Level Three</a:t>
            </a:r>
          </a:p>
          <a:p>
            <a:pPr lvl="3"/>
            <a:r>
              <a:t>Body Level Four</a:t>
            </a:r>
          </a:p>
          <a:p>
            <a:pPr lvl="4"/>
            <a:r>
              <a:t>Body Level Five</a:t>
            </a:r>
          </a:p>
        </p:txBody>
      </p:sp>
      <p:sp>
        <p:nvSpPr>
          <p:cNvPr id="33" name="Google Shape;33;p5"/>
          <p:cNvSpPr/>
          <p:nvPr/>
        </p:nvSpPr>
        <p:spPr>
          <a:xfrm flipH="1">
            <a:off x="3657599" y="1451112"/>
            <a:ext cx="3" cy="3956000"/>
          </a:xfrm>
          <a:prstGeom prst="line">
            <a:avLst/>
          </a:prstGeom>
          <a:ln w="12700">
            <a:solidFill>
              <a:srgbClr val="E3E7F0"/>
            </a:solidFill>
            <a:miter/>
          </a:ln>
        </p:spPr>
        <p:txBody>
          <a:bodyPr lIns="60959" rIns="60959"/>
          <a:lstStyle/>
          <a:p>
            <a:endParaRPr sz="2400"/>
          </a:p>
        </p:txBody>
      </p:sp>
      <p:sp>
        <p:nvSpPr>
          <p:cNvPr id="3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977283094"/>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type="tx">
  <p:cSld name="Plain Slide 1">
    <p:spTree>
      <p:nvGrpSpPr>
        <p:cNvPr id="1" name=""/>
        <p:cNvGrpSpPr/>
        <p:nvPr/>
      </p:nvGrpSpPr>
      <p:grpSpPr>
        <a:xfrm>
          <a:off x="0" y="0"/>
          <a:ext cx="0" cy="0"/>
          <a:chOff x="0" y="0"/>
          <a:chExt cx="0" cy="0"/>
        </a:xfrm>
      </p:grpSpPr>
      <p:sp>
        <p:nvSpPr>
          <p:cNvPr id="41" name="Title Text"/>
          <p:cNvSpPr txBox="1">
            <a:spLocks noGrp="1"/>
          </p:cNvSpPr>
          <p:nvPr>
            <p:ph type="title"/>
          </p:nvPr>
        </p:nvSpPr>
        <p:spPr>
          <a:xfrm>
            <a:off x="304801" y="182880"/>
            <a:ext cx="10040401" cy="792000"/>
          </a:xfrm>
          <a:prstGeom prst="rect">
            <a:avLst/>
          </a:prstGeom>
        </p:spPr>
        <p:txBody>
          <a:bodyPr anchor="ctr"/>
          <a:lstStyle>
            <a:lvl1pPr>
              <a:defRPr sz="3867"/>
            </a:lvl1pPr>
          </a:lstStyle>
          <a:p>
            <a:r>
              <a:t>Title Text</a:t>
            </a:r>
          </a:p>
        </p:txBody>
      </p:sp>
      <p:sp>
        <p:nvSpPr>
          <p:cNvPr id="42" name="Body Level One…"/>
          <p:cNvSpPr txBox="1">
            <a:spLocks noGrp="1"/>
          </p:cNvSpPr>
          <p:nvPr>
            <p:ph type="body" sz="half" idx="1"/>
          </p:nvPr>
        </p:nvSpPr>
        <p:spPr>
          <a:xfrm>
            <a:off x="304800" y="1341120"/>
            <a:ext cx="10166400" cy="2249601"/>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43" name="Google Shape;40;p6"/>
          <p:cNvSpPr/>
          <p:nvPr/>
        </p:nvSpPr>
        <p:spPr>
          <a:xfrm flipH="1">
            <a:off x="145" y="-2"/>
            <a:ext cx="102801"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576079992"/>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type="tx">
  <p:cSld name="Plain Slide 1_1_1">
    <p:spTree>
      <p:nvGrpSpPr>
        <p:cNvPr id="1" name=""/>
        <p:cNvGrpSpPr/>
        <p:nvPr/>
      </p:nvGrpSpPr>
      <p:grpSpPr>
        <a:xfrm>
          <a:off x="0" y="0"/>
          <a:ext cx="0" cy="0"/>
          <a:chOff x="0" y="0"/>
          <a:chExt cx="0" cy="0"/>
        </a:xfrm>
      </p:grpSpPr>
      <p:sp>
        <p:nvSpPr>
          <p:cNvPr id="62" name="Title Text"/>
          <p:cNvSpPr txBox="1">
            <a:spLocks noGrp="1"/>
          </p:cNvSpPr>
          <p:nvPr>
            <p:ph type="title"/>
          </p:nvPr>
        </p:nvSpPr>
        <p:spPr>
          <a:xfrm>
            <a:off x="304801" y="182880"/>
            <a:ext cx="10040401" cy="792000"/>
          </a:xfrm>
          <a:prstGeom prst="rect">
            <a:avLst/>
          </a:prstGeom>
        </p:spPr>
        <p:txBody>
          <a:bodyPr anchor="ctr"/>
          <a:lstStyle>
            <a:lvl1pPr>
              <a:defRPr sz="3867"/>
            </a:lvl1pPr>
          </a:lstStyle>
          <a:p>
            <a:r>
              <a:t>Title Text</a:t>
            </a:r>
          </a:p>
        </p:txBody>
      </p:sp>
      <p:sp>
        <p:nvSpPr>
          <p:cNvPr id="63" name="Body Level One…"/>
          <p:cNvSpPr txBox="1">
            <a:spLocks noGrp="1"/>
          </p:cNvSpPr>
          <p:nvPr>
            <p:ph type="body" sz="quarter" idx="1"/>
          </p:nvPr>
        </p:nvSpPr>
        <p:spPr>
          <a:xfrm>
            <a:off x="304801" y="1341133"/>
            <a:ext cx="3801201" cy="2249600"/>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64" name="Google Shape;55;p8"/>
          <p:cNvSpPr/>
          <p:nvPr/>
        </p:nvSpPr>
        <p:spPr>
          <a:xfrm flipH="1">
            <a:off x="145" y="-2"/>
            <a:ext cx="102801"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65" name="Google Shape;57;p8"/>
          <p:cNvSpPr txBox="1">
            <a:spLocks noGrp="1"/>
          </p:cNvSpPr>
          <p:nvPr>
            <p:ph type="body" sz="quarter" idx="21"/>
          </p:nvPr>
        </p:nvSpPr>
        <p:spPr>
          <a:xfrm>
            <a:off x="4106237" y="1341133"/>
            <a:ext cx="3801201" cy="2249600"/>
          </a:xfrm>
          <a:prstGeom prst="rect">
            <a:avLst/>
          </a:prstGeom>
        </p:spPr>
        <p:txBody>
          <a:bodyPr>
            <a:normAutofit/>
          </a:bodyPr>
          <a:lstStyle/>
          <a:p>
            <a:endParaRPr/>
          </a:p>
        </p:txBody>
      </p:sp>
      <p:sp>
        <p:nvSpPr>
          <p:cNvPr id="66" name="Google Shape;58;p8"/>
          <p:cNvSpPr txBox="1">
            <a:spLocks noGrp="1"/>
          </p:cNvSpPr>
          <p:nvPr>
            <p:ph type="body" sz="quarter" idx="22"/>
          </p:nvPr>
        </p:nvSpPr>
        <p:spPr>
          <a:xfrm>
            <a:off x="7907676" y="1341133"/>
            <a:ext cx="3801201" cy="2249600"/>
          </a:xfrm>
          <a:prstGeom prst="rect">
            <a:avLst/>
          </a:prstGeom>
        </p:spPr>
        <p:txBody>
          <a:bodyPr>
            <a:normAutofit/>
          </a:bodyPr>
          <a:lstStyle/>
          <a:p>
            <a:endParaRPr/>
          </a:p>
        </p:txBody>
      </p:sp>
      <p:sp>
        <p:nvSpPr>
          <p:cNvPr id="6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607251636"/>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type="tx">
  <p:cSld name="Plain Slide 2">
    <p:spTree>
      <p:nvGrpSpPr>
        <p:cNvPr id="1" name=""/>
        <p:cNvGrpSpPr/>
        <p:nvPr/>
      </p:nvGrpSpPr>
      <p:grpSpPr>
        <a:xfrm>
          <a:off x="0" y="0"/>
          <a:ext cx="0" cy="0"/>
          <a:chOff x="0" y="0"/>
          <a:chExt cx="0" cy="0"/>
        </a:xfrm>
      </p:grpSpPr>
      <p:sp>
        <p:nvSpPr>
          <p:cNvPr id="74" name="Body Level One…"/>
          <p:cNvSpPr txBox="1">
            <a:spLocks noGrp="1"/>
          </p:cNvSpPr>
          <p:nvPr>
            <p:ph type="body" sz="quarter" idx="1"/>
          </p:nvPr>
        </p:nvSpPr>
        <p:spPr>
          <a:xfrm>
            <a:off x="304800" y="1335525"/>
            <a:ext cx="4626000" cy="2249601"/>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75" name="Google Shape;63;p9"/>
          <p:cNvSpPr txBox="1">
            <a:spLocks noGrp="1"/>
          </p:cNvSpPr>
          <p:nvPr>
            <p:ph type="body" sz="quarter" idx="21"/>
          </p:nvPr>
        </p:nvSpPr>
        <p:spPr>
          <a:xfrm>
            <a:off x="5883825" y="1335526"/>
            <a:ext cx="4626001" cy="2249599"/>
          </a:xfrm>
          <a:prstGeom prst="rect">
            <a:avLst/>
          </a:prstGeom>
        </p:spPr>
        <p:txBody>
          <a:bodyPr>
            <a:normAutofit/>
          </a:bodyPr>
          <a:lstStyle/>
          <a:p>
            <a:endParaRPr/>
          </a:p>
        </p:txBody>
      </p:sp>
      <p:sp>
        <p:nvSpPr>
          <p:cNvPr id="76" name="Google Shape;64;p9"/>
          <p:cNvSpPr txBox="1">
            <a:spLocks noGrp="1"/>
          </p:cNvSpPr>
          <p:nvPr>
            <p:ph type="body" sz="quarter" idx="22"/>
          </p:nvPr>
        </p:nvSpPr>
        <p:spPr>
          <a:xfrm>
            <a:off x="304799" y="4113300"/>
            <a:ext cx="4626001" cy="2249600"/>
          </a:xfrm>
          <a:prstGeom prst="rect">
            <a:avLst/>
          </a:prstGeom>
        </p:spPr>
        <p:txBody>
          <a:bodyPr>
            <a:normAutofit/>
          </a:bodyPr>
          <a:lstStyle/>
          <a:p>
            <a:endParaRPr/>
          </a:p>
        </p:txBody>
      </p:sp>
      <p:sp>
        <p:nvSpPr>
          <p:cNvPr id="77" name="Google Shape;65;p9"/>
          <p:cNvSpPr txBox="1">
            <a:spLocks noGrp="1"/>
          </p:cNvSpPr>
          <p:nvPr>
            <p:ph type="body" sz="quarter" idx="23"/>
          </p:nvPr>
        </p:nvSpPr>
        <p:spPr>
          <a:xfrm>
            <a:off x="5883825" y="4113300"/>
            <a:ext cx="4626001" cy="2249600"/>
          </a:xfrm>
          <a:prstGeom prst="rect">
            <a:avLst/>
          </a:prstGeom>
        </p:spPr>
        <p:txBody>
          <a:bodyPr>
            <a:normAutofit/>
          </a:bodyPr>
          <a:lstStyle/>
          <a:p>
            <a:endParaRPr/>
          </a:p>
        </p:txBody>
      </p:sp>
      <p:sp>
        <p:nvSpPr>
          <p:cNvPr id="78" name="Title Text"/>
          <p:cNvSpPr txBox="1">
            <a:spLocks noGrp="1"/>
          </p:cNvSpPr>
          <p:nvPr>
            <p:ph type="title"/>
          </p:nvPr>
        </p:nvSpPr>
        <p:spPr>
          <a:xfrm>
            <a:off x="304801" y="182880"/>
            <a:ext cx="10040401" cy="792000"/>
          </a:xfrm>
          <a:prstGeom prst="rect">
            <a:avLst/>
          </a:prstGeom>
        </p:spPr>
        <p:txBody>
          <a:bodyPr anchor="ctr"/>
          <a:lstStyle>
            <a:lvl1pPr>
              <a:defRPr sz="3867"/>
            </a:lvl1pPr>
          </a:lstStyle>
          <a:p>
            <a:r>
              <a:t>Title Text</a:t>
            </a:r>
          </a:p>
        </p:txBody>
      </p:sp>
      <p:sp>
        <p:nvSpPr>
          <p:cNvPr id="79" name="Google Shape;67;p9"/>
          <p:cNvSpPr/>
          <p:nvPr/>
        </p:nvSpPr>
        <p:spPr>
          <a:xfrm flipH="1">
            <a:off x="145" y="-2"/>
            <a:ext cx="102801"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52525174"/>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type="tx">
  <p:cSld name="1_Blue Bar Text">
    <p:spTree>
      <p:nvGrpSpPr>
        <p:cNvPr id="1" name=""/>
        <p:cNvGrpSpPr/>
        <p:nvPr/>
      </p:nvGrpSpPr>
      <p:grpSpPr>
        <a:xfrm>
          <a:off x="0" y="0"/>
          <a:ext cx="0" cy="0"/>
          <a:chOff x="0" y="0"/>
          <a:chExt cx="0" cy="0"/>
        </a:xfrm>
      </p:grpSpPr>
      <p:sp>
        <p:nvSpPr>
          <p:cNvPr id="87" name="Google Shape;72;p10"/>
          <p:cNvSpPr/>
          <p:nvPr/>
        </p:nvSpPr>
        <p:spPr>
          <a:xfrm>
            <a:off x="0" y="-2"/>
            <a:ext cx="4724400" cy="6858001"/>
          </a:xfrm>
          <a:prstGeom prst="rect">
            <a:avLst/>
          </a:prstGeom>
          <a:solidFill>
            <a:srgbClr val="2D8FE2"/>
          </a:solidFill>
          <a:ln w="12700">
            <a:miter lim="400000"/>
          </a:ln>
        </p:spPr>
        <p:txBody>
          <a:bodyPr lIns="60959" rIns="60959" anchor="ctr"/>
          <a:lstStyle/>
          <a:p>
            <a:pPr algn="ctr">
              <a:defRPr sz="1800">
                <a:solidFill>
                  <a:srgbClr val="FFFFFF"/>
                </a:solidFill>
              </a:defRPr>
            </a:pPr>
            <a:endParaRPr sz="2400"/>
          </a:p>
        </p:txBody>
      </p:sp>
      <p:sp>
        <p:nvSpPr>
          <p:cNvPr id="88" name="Body Level One…"/>
          <p:cNvSpPr txBox="1">
            <a:spLocks noGrp="1"/>
          </p:cNvSpPr>
          <p:nvPr>
            <p:ph type="body" idx="1"/>
          </p:nvPr>
        </p:nvSpPr>
        <p:spPr>
          <a:xfrm>
            <a:off x="4991100" y="987552"/>
            <a:ext cx="6572400" cy="5410401"/>
          </a:xfrm>
          <a:prstGeom prst="rect">
            <a:avLst/>
          </a:prstGeom>
        </p:spPr>
        <p:txBody>
          <a:bodyPr>
            <a:normAutofit/>
          </a:bodyPr>
          <a:lstStyle>
            <a:lvl1pPr>
              <a:buFont typeface="Arial"/>
            </a:lvl1pPr>
            <a:lvl2pPr>
              <a:buFont typeface="Arial"/>
            </a:lvl2pPr>
            <a:lvl3pPr>
              <a:buFont typeface="Arial"/>
            </a:lvl3pPr>
            <a:lvl4pPr>
              <a:buFont typeface="Arial"/>
            </a:lvl4pPr>
            <a:lvl5pPr>
              <a:buFont typeface="Arial"/>
            </a:lvl5pPr>
          </a:lstStyle>
          <a:p>
            <a:r>
              <a:t>Body Level One</a:t>
            </a:r>
          </a:p>
          <a:p>
            <a:pPr lvl="1"/>
            <a:r>
              <a:t>Body Level Two</a:t>
            </a:r>
          </a:p>
          <a:p>
            <a:pPr lvl="2"/>
            <a:r>
              <a:t>Body Level Three</a:t>
            </a:r>
          </a:p>
          <a:p>
            <a:pPr lvl="3"/>
            <a:r>
              <a:t>Body Level Four</a:t>
            </a:r>
          </a:p>
          <a:p>
            <a:pPr lvl="4"/>
            <a:r>
              <a:t>Body Level Five</a:t>
            </a:r>
          </a:p>
        </p:txBody>
      </p:sp>
      <p:sp>
        <p:nvSpPr>
          <p:cNvPr id="89" name="Title Text"/>
          <p:cNvSpPr txBox="1">
            <a:spLocks noGrp="1"/>
          </p:cNvSpPr>
          <p:nvPr>
            <p:ph type="title"/>
          </p:nvPr>
        </p:nvSpPr>
        <p:spPr>
          <a:xfrm>
            <a:off x="408825" y="1020801"/>
            <a:ext cx="3802400" cy="1274001"/>
          </a:xfrm>
          <a:prstGeom prst="rect">
            <a:avLst/>
          </a:prstGeom>
        </p:spPr>
        <p:txBody>
          <a:bodyPr anchor="t"/>
          <a:lstStyle>
            <a:lvl1pPr>
              <a:defRPr sz="3200"/>
            </a:lvl1pPr>
          </a:lstStyle>
          <a:p>
            <a:r>
              <a:t>Title Text</a:t>
            </a:r>
          </a:p>
        </p:txBody>
      </p:sp>
      <p:sp>
        <p:nvSpPr>
          <p:cNvPr id="9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923855742"/>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1_Grey Bar text">
    <p:spTree>
      <p:nvGrpSpPr>
        <p:cNvPr id="1" name=""/>
        <p:cNvGrpSpPr/>
        <p:nvPr/>
      </p:nvGrpSpPr>
      <p:grpSpPr>
        <a:xfrm>
          <a:off x="0" y="0"/>
          <a:ext cx="0" cy="0"/>
          <a:chOff x="0" y="0"/>
          <a:chExt cx="0" cy="0"/>
        </a:xfrm>
      </p:grpSpPr>
      <p:sp>
        <p:nvSpPr>
          <p:cNvPr id="97" name="Google Shape;80;p11"/>
          <p:cNvSpPr/>
          <p:nvPr/>
        </p:nvSpPr>
        <p:spPr>
          <a:xfrm>
            <a:off x="0" y="-2"/>
            <a:ext cx="4724400" cy="6858001"/>
          </a:xfrm>
          <a:prstGeom prst="rect">
            <a:avLst/>
          </a:prstGeom>
          <a:solidFill>
            <a:srgbClr val="53718F"/>
          </a:solidFill>
          <a:ln w="12700">
            <a:miter lim="400000"/>
          </a:ln>
        </p:spPr>
        <p:txBody>
          <a:bodyPr lIns="60959" rIns="60959" anchor="ctr"/>
          <a:lstStyle/>
          <a:p>
            <a:pPr algn="ctr">
              <a:defRPr>
                <a:solidFill>
                  <a:srgbClr val="FFFFFF"/>
                </a:solidFill>
              </a:defRPr>
            </a:pPr>
            <a:endParaRPr sz="2400"/>
          </a:p>
        </p:txBody>
      </p:sp>
      <p:sp>
        <p:nvSpPr>
          <p:cNvPr id="98" name="Body Level One…"/>
          <p:cNvSpPr txBox="1">
            <a:spLocks noGrp="1"/>
          </p:cNvSpPr>
          <p:nvPr>
            <p:ph type="body" idx="1"/>
          </p:nvPr>
        </p:nvSpPr>
        <p:spPr>
          <a:xfrm>
            <a:off x="4991100" y="987552"/>
            <a:ext cx="6572000" cy="5410401"/>
          </a:xfrm>
          <a:prstGeom prst="rect">
            <a:avLst/>
          </a:prstGeom>
        </p:spPr>
        <p:txBody>
          <a:bodyPr>
            <a:normAutofit/>
          </a:bodyPr>
          <a:lstStyle>
            <a:lvl1pPr>
              <a:buFont typeface="Arial"/>
            </a:lvl1pPr>
            <a:lvl2pPr>
              <a:buFont typeface="Arial"/>
            </a:lvl2pPr>
            <a:lvl3pPr>
              <a:buFont typeface="Arial"/>
            </a:lvl3pPr>
            <a:lvl4pPr>
              <a:buFont typeface="Arial"/>
            </a:lvl4pPr>
            <a:lvl5pPr>
              <a:buFont typeface="Arial"/>
            </a:lvl5pPr>
          </a:lstStyle>
          <a:p>
            <a:r>
              <a:t>Body Level One</a:t>
            </a:r>
          </a:p>
          <a:p>
            <a:pPr lvl="1"/>
            <a:r>
              <a:t>Body Level Two</a:t>
            </a:r>
          </a:p>
          <a:p>
            <a:pPr lvl="2"/>
            <a:r>
              <a:t>Body Level Three</a:t>
            </a:r>
          </a:p>
          <a:p>
            <a:pPr lvl="3"/>
            <a:r>
              <a:t>Body Level Four</a:t>
            </a:r>
          </a:p>
          <a:p>
            <a:pPr lvl="4"/>
            <a:r>
              <a:t>Body Level Five</a:t>
            </a:r>
          </a:p>
        </p:txBody>
      </p:sp>
      <p:sp>
        <p:nvSpPr>
          <p:cNvPr id="99" name="Title Text"/>
          <p:cNvSpPr txBox="1">
            <a:spLocks noGrp="1"/>
          </p:cNvSpPr>
          <p:nvPr>
            <p:ph type="title"/>
          </p:nvPr>
        </p:nvSpPr>
        <p:spPr>
          <a:xfrm>
            <a:off x="408825" y="1020801"/>
            <a:ext cx="3802400" cy="1274001"/>
          </a:xfrm>
          <a:prstGeom prst="rect">
            <a:avLst/>
          </a:prstGeom>
        </p:spPr>
        <p:txBody>
          <a:bodyPr anchor="t"/>
          <a:lstStyle>
            <a:lvl1pPr>
              <a:defRPr sz="3200"/>
            </a:lvl1pPr>
          </a:lstStyle>
          <a:p>
            <a:r>
              <a:t>Title Text</a:t>
            </a:r>
          </a:p>
        </p:txBody>
      </p:sp>
      <p:sp>
        <p:nvSpPr>
          <p:cNvPr id="10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952815306"/>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type="tx">
  <p:cSld name="1_Black Bar text">
    <p:spTree>
      <p:nvGrpSpPr>
        <p:cNvPr id="1" name=""/>
        <p:cNvGrpSpPr/>
        <p:nvPr/>
      </p:nvGrpSpPr>
      <p:grpSpPr>
        <a:xfrm>
          <a:off x="0" y="0"/>
          <a:ext cx="0" cy="0"/>
          <a:chOff x="0" y="0"/>
          <a:chExt cx="0" cy="0"/>
        </a:xfrm>
      </p:grpSpPr>
      <p:sp>
        <p:nvSpPr>
          <p:cNvPr id="107" name="Google Shape;88;p12"/>
          <p:cNvSpPr/>
          <p:nvPr/>
        </p:nvSpPr>
        <p:spPr>
          <a:xfrm>
            <a:off x="0" y="-2"/>
            <a:ext cx="4724400" cy="6858001"/>
          </a:xfrm>
          <a:prstGeom prst="rect">
            <a:avLst/>
          </a:prstGeom>
          <a:solidFill>
            <a:srgbClr val="0A0A0C"/>
          </a:solidFill>
          <a:ln w="12700">
            <a:miter lim="400000"/>
          </a:ln>
        </p:spPr>
        <p:txBody>
          <a:bodyPr lIns="60959" rIns="60959" anchor="ctr"/>
          <a:lstStyle/>
          <a:p>
            <a:pPr algn="ctr">
              <a:defRPr>
                <a:solidFill>
                  <a:srgbClr val="FFFFFF"/>
                </a:solidFill>
              </a:defRPr>
            </a:pPr>
            <a:endParaRPr sz="2400"/>
          </a:p>
        </p:txBody>
      </p:sp>
      <p:sp>
        <p:nvSpPr>
          <p:cNvPr id="108" name="Body Level One…"/>
          <p:cNvSpPr txBox="1">
            <a:spLocks noGrp="1"/>
          </p:cNvSpPr>
          <p:nvPr>
            <p:ph type="body" idx="1"/>
          </p:nvPr>
        </p:nvSpPr>
        <p:spPr>
          <a:xfrm>
            <a:off x="4991100" y="987552"/>
            <a:ext cx="6572000" cy="5410401"/>
          </a:xfrm>
          <a:prstGeom prst="rect">
            <a:avLst/>
          </a:prstGeom>
        </p:spPr>
        <p:txBody>
          <a:bodyPr>
            <a:normAutofit/>
          </a:bodyPr>
          <a:lstStyle>
            <a:lvl1pPr>
              <a:buFont typeface="Arial"/>
            </a:lvl1pPr>
            <a:lvl2pPr>
              <a:buFont typeface="Arial"/>
            </a:lvl2pPr>
            <a:lvl3pPr>
              <a:buFont typeface="Arial"/>
            </a:lvl3pPr>
            <a:lvl4pPr>
              <a:buFont typeface="Arial"/>
            </a:lvl4pPr>
            <a:lvl5pPr>
              <a:buFont typeface="Arial"/>
            </a:lvl5pPr>
          </a:lstStyle>
          <a:p>
            <a:r>
              <a:t>Body Level One</a:t>
            </a:r>
          </a:p>
          <a:p>
            <a:pPr lvl="1"/>
            <a:r>
              <a:t>Body Level Two</a:t>
            </a:r>
          </a:p>
          <a:p>
            <a:pPr lvl="2"/>
            <a:r>
              <a:t>Body Level Three</a:t>
            </a:r>
          </a:p>
          <a:p>
            <a:pPr lvl="3"/>
            <a:r>
              <a:t>Body Level Four</a:t>
            </a:r>
          </a:p>
          <a:p>
            <a:pPr lvl="4"/>
            <a:r>
              <a:t>Body Level Five</a:t>
            </a:r>
          </a:p>
        </p:txBody>
      </p:sp>
      <p:sp>
        <p:nvSpPr>
          <p:cNvPr id="109" name="Title Text"/>
          <p:cNvSpPr txBox="1">
            <a:spLocks noGrp="1"/>
          </p:cNvSpPr>
          <p:nvPr>
            <p:ph type="title"/>
          </p:nvPr>
        </p:nvSpPr>
        <p:spPr>
          <a:xfrm>
            <a:off x="408825" y="1020801"/>
            <a:ext cx="3802400" cy="1274001"/>
          </a:xfrm>
          <a:prstGeom prst="rect">
            <a:avLst/>
          </a:prstGeom>
        </p:spPr>
        <p:txBody>
          <a:bodyPr anchor="t"/>
          <a:lstStyle>
            <a:lvl1pPr>
              <a:defRPr sz="3200"/>
            </a:lvl1pPr>
          </a:lstStyle>
          <a:p>
            <a:r>
              <a:t>Title Text</a:t>
            </a:r>
          </a:p>
        </p:txBody>
      </p:sp>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080797166"/>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type="tx">
  <p:cSld name="1_White Bar Text">
    <p:spTree>
      <p:nvGrpSpPr>
        <p:cNvPr id="1" name=""/>
        <p:cNvGrpSpPr/>
        <p:nvPr/>
      </p:nvGrpSpPr>
      <p:grpSpPr>
        <a:xfrm>
          <a:off x="0" y="0"/>
          <a:ext cx="0" cy="0"/>
          <a:chOff x="0" y="0"/>
          <a:chExt cx="0" cy="0"/>
        </a:xfrm>
      </p:grpSpPr>
      <p:sp>
        <p:nvSpPr>
          <p:cNvPr id="117" name="Google Shape;96;p13"/>
          <p:cNvSpPr/>
          <p:nvPr/>
        </p:nvSpPr>
        <p:spPr>
          <a:xfrm>
            <a:off x="4724402" y="-2"/>
            <a:ext cx="7467601"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118" name="Body Level One…"/>
          <p:cNvSpPr txBox="1">
            <a:spLocks noGrp="1"/>
          </p:cNvSpPr>
          <p:nvPr>
            <p:ph type="body" idx="1"/>
          </p:nvPr>
        </p:nvSpPr>
        <p:spPr>
          <a:xfrm>
            <a:off x="4991100" y="987552"/>
            <a:ext cx="6572000" cy="5410401"/>
          </a:xfrm>
          <a:prstGeom prst="rect">
            <a:avLst/>
          </a:prstGeom>
        </p:spPr>
        <p:txBody>
          <a:bodyPr>
            <a:normAutofit/>
          </a:bodyPr>
          <a:lstStyle>
            <a:lvl1pPr>
              <a:buFont typeface="Arial"/>
            </a:lvl1pPr>
            <a:lvl2pPr>
              <a:buFont typeface="Arial"/>
            </a:lvl2pPr>
            <a:lvl3pPr>
              <a:buFont typeface="Arial"/>
            </a:lvl3pPr>
            <a:lvl4pPr>
              <a:buFont typeface="Arial"/>
            </a:lvl4pPr>
            <a:lvl5pPr>
              <a:buFont typeface="Arial"/>
            </a:lvl5pPr>
          </a:lstStyle>
          <a:p>
            <a:r>
              <a:t>Body Level One</a:t>
            </a:r>
          </a:p>
          <a:p>
            <a:pPr lvl="1"/>
            <a:r>
              <a:t>Body Level Two</a:t>
            </a:r>
          </a:p>
          <a:p>
            <a:pPr lvl="2"/>
            <a:r>
              <a:t>Body Level Three</a:t>
            </a:r>
          </a:p>
          <a:p>
            <a:pPr lvl="3"/>
            <a:r>
              <a:t>Body Level Four</a:t>
            </a:r>
          </a:p>
          <a:p>
            <a:pPr lvl="4"/>
            <a:r>
              <a:t>Body Level Five</a:t>
            </a:r>
          </a:p>
        </p:txBody>
      </p:sp>
      <p:sp>
        <p:nvSpPr>
          <p:cNvPr id="119"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sp>
        <p:nvSpPr>
          <p:cNvPr id="12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713871831"/>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type="tx">
  <p:cSld name="White-Single Word">
    <p:spTree>
      <p:nvGrpSpPr>
        <p:cNvPr id="1" name=""/>
        <p:cNvGrpSpPr/>
        <p:nvPr/>
      </p:nvGrpSpPr>
      <p:grpSpPr>
        <a:xfrm>
          <a:off x="0" y="0"/>
          <a:ext cx="0" cy="0"/>
          <a:chOff x="0" y="0"/>
          <a:chExt cx="0" cy="0"/>
        </a:xfrm>
      </p:grpSpPr>
      <p:sp>
        <p:nvSpPr>
          <p:cNvPr id="127" name="Title Text"/>
          <p:cNvSpPr txBox="1">
            <a:spLocks noGrp="1"/>
          </p:cNvSpPr>
          <p:nvPr>
            <p:ph type="title"/>
          </p:nvPr>
        </p:nvSpPr>
        <p:spPr>
          <a:prstGeom prst="rect">
            <a:avLst/>
          </a:prstGeom>
        </p:spPr>
        <p:txBody>
          <a:bodyPr/>
          <a:lstStyle/>
          <a:p>
            <a:r>
              <a:t>Title Text</a:t>
            </a: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273491078"/>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type="tx">
  <p:cSld name="Grey-Blank_1">
    <p:spTree>
      <p:nvGrpSpPr>
        <p:cNvPr id="1" name=""/>
        <p:cNvGrpSpPr/>
        <p:nvPr/>
      </p:nvGrpSpPr>
      <p:grpSpPr>
        <a:xfrm>
          <a:off x="0" y="0"/>
          <a:ext cx="0" cy="0"/>
          <a:chOff x="0" y="0"/>
          <a:chExt cx="0" cy="0"/>
        </a:xfrm>
      </p:grpSpPr>
      <p:sp>
        <p:nvSpPr>
          <p:cNvPr id="135" name="Google Shape;110;p15"/>
          <p:cNvSpPr/>
          <p:nvPr/>
        </p:nvSpPr>
        <p:spPr>
          <a:xfrm>
            <a:off x="-2" y="-2"/>
            <a:ext cx="12192001" cy="6858001"/>
          </a:xfrm>
          <a:prstGeom prst="rect">
            <a:avLst/>
          </a:prstGeom>
          <a:solidFill>
            <a:srgbClr val="53718F"/>
          </a:solidFill>
          <a:ln w="12700">
            <a:miter lim="400000"/>
          </a:ln>
        </p:spPr>
        <p:txBody>
          <a:bodyPr lIns="60959" rIns="60959" anchor="ctr"/>
          <a:lstStyle/>
          <a:p>
            <a:pPr algn="ctr">
              <a:defRPr>
                <a:solidFill>
                  <a:srgbClr val="FFFFFF"/>
                </a:solidFill>
              </a:defRPr>
            </a:pPr>
            <a:endParaRPr sz="2400"/>
          </a:p>
        </p:txBody>
      </p:sp>
      <p:sp>
        <p:nvSpPr>
          <p:cNvPr id="136" name="Title Text"/>
          <p:cNvSpPr txBox="1">
            <a:spLocks noGrp="1"/>
          </p:cNvSpPr>
          <p:nvPr>
            <p:ph type="title"/>
          </p:nvPr>
        </p:nvSpPr>
        <p:spPr>
          <a:prstGeom prst="rect">
            <a:avLst/>
          </a:prstGeom>
        </p:spPr>
        <p:txBody>
          <a:bodyPr/>
          <a:lstStyle/>
          <a:p>
            <a:r>
              <a:t>Title Text</a:t>
            </a:r>
          </a:p>
        </p:txBody>
      </p:sp>
      <p:sp>
        <p:nvSpPr>
          <p:cNvPr id="13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571590131"/>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type="tx">
  <p:cSld name="Blue-Blank_1">
    <p:spTree>
      <p:nvGrpSpPr>
        <p:cNvPr id="1" name=""/>
        <p:cNvGrpSpPr/>
        <p:nvPr/>
      </p:nvGrpSpPr>
      <p:grpSpPr>
        <a:xfrm>
          <a:off x="0" y="0"/>
          <a:ext cx="0" cy="0"/>
          <a:chOff x="0" y="0"/>
          <a:chExt cx="0" cy="0"/>
        </a:xfrm>
      </p:grpSpPr>
      <p:sp>
        <p:nvSpPr>
          <p:cNvPr id="144" name="Google Shape;116;p16"/>
          <p:cNvSpPr/>
          <p:nvPr/>
        </p:nvSpPr>
        <p:spPr>
          <a:xfrm>
            <a:off x="-2" y="-2"/>
            <a:ext cx="12192001"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145" name="Title Text"/>
          <p:cNvSpPr txBox="1">
            <a:spLocks noGrp="1"/>
          </p:cNvSpPr>
          <p:nvPr>
            <p:ph type="title"/>
          </p:nvPr>
        </p:nvSpPr>
        <p:spPr>
          <a:prstGeom prst="rect">
            <a:avLst/>
          </a:prstGeom>
        </p:spPr>
        <p:txBody>
          <a:bodyPr/>
          <a:lstStyle/>
          <a:p>
            <a:r>
              <a:t>Title Text</a:t>
            </a:r>
          </a:p>
        </p:txBody>
      </p:sp>
      <p:sp>
        <p:nvSpPr>
          <p:cNvPr id="14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607982669"/>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type="tx">
  <p:cSld name="Black-Blank_1">
    <p:spTree>
      <p:nvGrpSpPr>
        <p:cNvPr id="1" name=""/>
        <p:cNvGrpSpPr/>
        <p:nvPr/>
      </p:nvGrpSpPr>
      <p:grpSpPr>
        <a:xfrm>
          <a:off x="0" y="0"/>
          <a:ext cx="0" cy="0"/>
          <a:chOff x="0" y="0"/>
          <a:chExt cx="0" cy="0"/>
        </a:xfrm>
      </p:grpSpPr>
      <p:sp>
        <p:nvSpPr>
          <p:cNvPr id="153" name="Title Text"/>
          <p:cNvSpPr txBox="1">
            <a:spLocks noGrp="1"/>
          </p:cNvSpPr>
          <p:nvPr>
            <p:ph type="title"/>
          </p:nvPr>
        </p:nvSpPr>
        <p:spPr>
          <a:prstGeom prst="rect">
            <a:avLst/>
          </a:prstGeom>
        </p:spPr>
        <p:txBody>
          <a:bodyPr/>
          <a:lstStyle/>
          <a:p>
            <a:r>
              <a:t>Title Text</a:t>
            </a:r>
          </a:p>
        </p:txBody>
      </p:sp>
      <p:sp>
        <p:nvSpPr>
          <p:cNvPr id="15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011936512"/>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type="tx">
  <p:cSld name="Non-US">
    <p:spTree>
      <p:nvGrpSpPr>
        <p:cNvPr id="1" name=""/>
        <p:cNvGrpSpPr/>
        <p:nvPr/>
      </p:nvGrpSpPr>
      <p:grpSpPr>
        <a:xfrm>
          <a:off x="0" y="0"/>
          <a:ext cx="0" cy="0"/>
          <a:chOff x="0" y="0"/>
          <a:chExt cx="0" cy="0"/>
        </a:xfrm>
      </p:grpSpPr>
      <p:sp>
        <p:nvSpPr>
          <p:cNvPr id="16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16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163" name="Google Shape;130;p18" descr="Google Shape;130;p18"/>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1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389153850"/>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type="tx">
  <p:cSld name="United States">
    <p:spTree>
      <p:nvGrpSpPr>
        <p:cNvPr id="1" name=""/>
        <p:cNvGrpSpPr/>
        <p:nvPr/>
      </p:nvGrpSpPr>
      <p:grpSpPr>
        <a:xfrm>
          <a:off x="0" y="0"/>
          <a:ext cx="0" cy="0"/>
          <a:chOff x="0" y="0"/>
          <a:chExt cx="0" cy="0"/>
        </a:xfrm>
      </p:grpSpPr>
      <p:sp>
        <p:nvSpPr>
          <p:cNvPr id="17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17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173" name="Google Shape;137;p19" descr="Google Shape;137;p19"/>
          <p:cNvPicPr>
            <a:picLocks noChangeAspect="1"/>
          </p:cNvPicPr>
          <p:nvPr/>
        </p:nvPicPr>
        <p:blipFill>
          <a:blip r:embed="rId2"/>
          <a:stretch>
            <a:fillRect/>
          </a:stretch>
        </p:blipFill>
        <p:spPr>
          <a:xfrm>
            <a:off x="5334000" y="17"/>
            <a:ext cx="6858000" cy="6858001"/>
          </a:xfrm>
          <a:prstGeom prst="rect">
            <a:avLst/>
          </a:prstGeom>
          <a:ln w="12700">
            <a:miter lim="400000"/>
          </a:ln>
        </p:spPr>
      </p:pic>
      <p:sp>
        <p:nvSpPr>
          <p:cNvPr id="1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321983524"/>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type="tx">
  <p:cSld name="World Map">
    <p:spTree>
      <p:nvGrpSpPr>
        <p:cNvPr id="1" name=""/>
        <p:cNvGrpSpPr/>
        <p:nvPr/>
      </p:nvGrpSpPr>
      <p:grpSpPr>
        <a:xfrm>
          <a:off x="0" y="0"/>
          <a:ext cx="0" cy="0"/>
          <a:chOff x="0" y="0"/>
          <a:chExt cx="0" cy="0"/>
        </a:xfrm>
      </p:grpSpPr>
      <p:sp>
        <p:nvSpPr>
          <p:cNvPr id="18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18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183" name="Google Shape;145;p20" descr="Google Shape;145;p20"/>
          <p:cNvPicPr>
            <a:picLocks noChangeAspect="1"/>
          </p:cNvPicPr>
          <p:nvPr/>
        </p:nvPicPr>
        <p:blipFill>
          <a:blip r:embed="rId2"/>
          <a:stretch>
            <a:fillRect/>
          </a:stretch>
        </p:blipFill>
        <p:spPr>
          <a:xfrm>
            <a:off x="5161026" y="0"/>
            <a:ext cx="6858001" cy="6858000"/>
          </a:xfrm>
          <a:prstGeom prst="rect">
            <a:avLst/>
          </a:prstGeom>
          <a:ln w="12700">
            <a:miter lim="400000"/>
          </a:ln>
        </p:spPr>
      </p:pic>
      <p:sp>
        <p:nvSpPr>
          <p:cNvPr id="1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022180575"/>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type="tx">
  <p:cSld name="North American Union">
    <p:spTree>
      <p:nvGrpSpPr>
        <p:cNvPr id="1" name=""/>
        <p:cNvGrpSpPr/>
        <p:nvPr/>
      </p:nvGrpSpPr>
      <p:grpSpPr>
        <a:xfrm>
          <a:off x="0" y="0"/>
          <a:ext cx="0" cy="0"/>
          <a:chOff x="0" y="0"/>
          <a:chExt cx="0" cy="0"/>
        </a:xfrm>
      </p:grpSpPr>
      <p:sp>
        <p:nvSpPr>
          <p:cNvPr id="19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19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193" name="Google Shape;152;p21" descr="Google Shape;152;p21"/>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19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119504289"/>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type="tx">
  <p:cSld name="APAC">
    <p:spTree>
      <p:nvGrpSpPr>
        <p:cNvPr id="1" name=""/>
        <p:cNvGrpSpPr/>
        <p:nvPr/>
      </p:nvGrpSpPr>
      <p:grpSpPr>
        <a:xfrm>
          <a:off x="0" y="0"/>
          <a:ext cx="0" cy="0"/>
          <a:chOff x="0" y="0"/>
          <a:chExt cx="0" cy="0"/>
        </a:xfrm>
      </p:grpSpPr>
      <p:sp>
        <p:nvSpPr>
          <p:cNvPr id="20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0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203" name="Google Shape;159;p22" descr="Google Shape;159;p22"/>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20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432784672"/>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type="tx">
  <p:cSld name="South America">
    <p:spTree>
      <p:nvGrpSpPr>
        <p:cNvPr id="1" name=""/>
        <p:cNvGrpSpPr/>
        <p:nvPr/>
      </p:nvGrpSpPr>
      <p:grpSpPr>
        <a:xfrm>
          <a:off x="0" y="0"/>
          <a:ext cx="0" cy="0"/>
          <a:chOff x="0" y="0"/>
          <a:chExt cx="0" cy="0"/>
        </a:xfrm>
      </p:grpSpPr>
      <p:sp>
        <p:nvSpPr>
          <p:cNvPr id="21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1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213" name="Google Shape;166;p23" descr="Google Shape;166;p23"/>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2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489744612"/>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type="tx">
  <p:cSld name="Africa">
    <p:spTree>
      <p:nvGrpSpPr>
        <p:cNvPr id="1" name=""/>
        <p:cNvGrpSpPr/>
        <p:nvPr/>
      </p:nvGrpSpPr>
      <p:grpSpPr>
        <a:xfrm>
          <a:off x="0" y="0"/>
          <a:ext cx="0" cy="0"/>
          <a:chOff x="0" y="0"/>
          <a:chExt cx="0" cy="0"/>
        </a:xfrm>
      </p:grpSpPr>
      <p:sp>
        <p:nvSpPr>
          <p:cNvPr id="22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2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223" name="Google Shape;173;p24" descr="Google Shape;173;p24"/>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2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583008811"/>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type="tx">
  <p:cSld name="Europe">
    <p:spTree>
      <p:nvGrpSpPr>
        <p:cNvPr id="1" name=""/>
        <p:cNvGrpSpPr/>
        <p:nvPr/>
      </p:nvGrpSpPr>
      <p:grpSpPr>
        <a:xfrm>
          <a:off x="0" y="0"/>
          <a:ext cx="0" cy="0"/>
          <a:chOff x="0" y="0"/>
          <a:chExt cx="0" cy="0"/>
        </a:xfrm>
      </p:grpSpPr>
      <p:pic>
        <p:nvPicPr>
          <p:cNvPr id="231" name="Google Shape;177;p25" descr="Google Shape;177;p25"/>
          <p:cNvPicPr>
            <a:picLocks noChangeAspect="1"/>
          </p:cNvPicPr>
          <p:nvPr/>
        </p:nvPicPr>
        <p:blipFill>
          <a:blip r:embed="rId2"/>
          <a:stretch>
            <a:fillRect/>
          </a:stretch>
        </p:blipFill>
        <p:spPr>
          <a:xfrm>
            <a:off x="5334000" y="23801"/>
            <a:ext cx="6858000" cy="6858001"/>
          </a:xfrm>
          <a:prstGeom prst="rect">
            <a:avLst/>
          </a:prstGeom>
          <a:ln w="12700">
            <a:miter lim="400000"/>
          </a:ln>
        </p:spPr>
      </p:pic>
      <p:sp>
        <p:nvSpPr>
          <p:cNvPr id="232"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33"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sp>
        <p:nvSpPr>
          <p:cNvPr id="23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199234324"/>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type="tx">
  <p:cSld name="Europe_1">
    <p:spTree>
      <p:nvGrpSpPr>
        <p:cNvPr id="1" name=""/>
        <p:cNvGrpSpPr/>
        <p:nvPr/>
      </p:nvGrpSpPr>
      <p:grpSpPr>
        <a:xfrm>
          <a:off x="0" y="0"/>
          <a:ext cx="0" cy="0"/>
          <a:chOff x="0" y="0"/>
          <a:chExt cx="0" cy="0"/>
        </a:xfrm>
      </p:grpSpPr>
      <p:sp>
        <p:nvSpPr>
          <p:cNvPr id="24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4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243" name="Google Shape;187;p26" descr="Google Shape;187;p26"/>
          <p:cNvPicPr>
            <a:picLocks noChangeAspect="1"/>
          </p:cNvPicPr>
          <p:nvPr/>
        </p:nvPicPr>
        <p:blipFill>
          <a:blip r:embed="rId2"/>
          <a:stretch>
            <a:fillRect/>
          </a:stretch>
        </p:blipFill>
        <p:spPr>
          <a:xfrm>
            <a:off x="5334007" y="0"/>
            <a:ext cx="6858001" cy="6858000"/>
          </a:xfrm>
          <a:prstGeom prst="rect">
            <a:avLst/>
          </a:prstGeom>
          <a:ln w="12700">
            <a:miter lim="400000"/>
          </a:ln>
        </p:spPr>
      </p:pic>
      <p:sp>
        <p:nvSpPr>
          <p:cNvPr id="2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310747205"/>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type="tx">
  <p:cSld name="Non-US_1">
    <p:spTree>
      <p:nvGrpSpPr>
        <p:cNvPr id="1" name=""/>
        <p:cNvGrpSpPr/>
        <p:nvPr/>
      </p:nvGrpSpPr>
      <p:grpSpPr>
        <a:xfrm>
          <a:off x="0" y="0"/>
          <a:ext cx="0" cy="0"/>
          <a:chOff x="0" y="0"/>
          <a:chExt cx="0" cy="0"/>
        </a:xfrm>
      </p:grpSpPr>
      <p:pic>
        <p:nvPicPr>
          <p:cNvPr id="251" name="Google Shape;191;p27" descr="Google Shape;191;p27"/>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252"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53"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sp>
        <p:nvSpPr>
          <p:cNvPr id="25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517874426"/>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type="tx">
  <p:cSld name="United States_1">
    <p:spTree>
      <p:nvGrpSpPr>
        <p:cNvPr id="1" name=""/>
        <p:cNvGrpSpPr/>
        <p:nvPr/>
      </p:nvGrpSpPr>
      <p:grpSpPr>
        <a:xfrm>
          <a:off x="0" y="0"/>
          <a:ext cx="0" cy="0"/>
          <a:chOff x="0" y="0"/>
          <a:chExt cx="0" cy="0"/>
        </a:xfrm>
      </p:grpSpPr>
      <p:sp>
        <p:nvSpPr>
          <p:cNvPr id="26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6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263" name="Google Shape;201;p28" descr="Google Shape;201;p28"/>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2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364916768"/>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type="tx">
  <p:cSld name="World Map_1">
    <p:spTree>
      <p:nvGrpSpPr>
        <p:cNvPr id="1" name=""/>
        <p:cNvGrpSpPr/>
        <p:nvPr/>
      </p:nvGrpSpPr>
      <p:grpSpPr>
        <a:xfrm>
          <a:off x="0" y="0"/>
          <a:ext cx="0" cy="0"/>
          <a:chOff x="0" y="0"/>
          <a:chExt cx="0" cy="0"/>
        </a:xfrm>
      </p:grpSpPr>
      <p:sp>
        <p:nvSpPr>
          <p:cNvPr id="27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7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273" name="Google Shape;208;p29" descr="Google Shape;208;p29"/>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2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595538530"/>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type="tx">
  <p:cSld name="North American Union_1">
    <p:spTree>
      <p:nvGrpSpPr>
        <p:cNvPr id="1" name=""/>
        <p:cNvGrpSpPr/>
        <p:nvPr/>
      </p:nvGrpSpPr>
      <p:grpSpPr>
        <a:xfrm>
          <a:off x="0" y="0"/>
          <a:ext cx="0" cy="0"/>
          <a:chOff x="0" y="0"/>
          <a:chExt cx="0" cy="0"/>
        </a:xfrm>
      </p:grpSpPr>
      <p:sp>
        <p:nvSpPr>
          <p:cNvPr id="28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8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283" name="Google Shape;215;p30" descr="Google Shape;215;p30"/>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2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628707468"/>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type="tx">
  <p:cSld name="APAC_1">
    <p:spTree>
      <p:nvGrpSpPr>
        <p:cNvPr id="1" name=""/>
        <p:cNvGrpSpPr/>
        <p:nvPr/>
      </p:nvGrpSpPr>
      <p:grpSpPr>
        <a:xfrm>
          <a:off x="0" y="0"/>
          <a:ext cx="0" cy="0"/>
          <a:chOff x="0" y="0"/>
          <a:chExt cx="0" cy="0"/>
        </a:xfrm>
      </p:grpSpPr>
      <p:sp>
        <p:nvSpPr>
          <p:cNvPr id="29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9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293" name="Google Shape;222;p31" descr="Google Shape;222;p31"/>
          <p:cNvPicPr>
            <a:picLocks noChangeAspect="1"/>
          </p:cNvPicPr>
          <p:nvPr/>
        </p:nvPicPr>
        <p:blipFill>
          <a:blip r:embed="rId2"/>
          <a:stretch>
            <a:fillRect/>
          </a:stretch>
        </p:blipFill>
        <p:spPr>
          <a:xfrm>
            <a:off x="5334000" y="23801"/>
            <a:ext cx="6858000" cy="6858001"/>
          </a:xfrm>
          <a:prstGeom prst="rect">
            <a:avLst/>
          </a:prstGeom>
          <a:ln w="12700">
            <a:miter lim="400000"/>
          </a:ln>
        </p:spPr>
      </p:pic>
      <p:sp>
        <p:nvSpPr>
          <p:cNvPr id="29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17103478"/>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type="tx">
  <p:cSld name="South America_1">
    <p:spTree>
      <p:nvGrpSpPr>
        <p:cNvPr id="1" name=""/>
        <p:cNvGrpSpPr/>
        <p:nvPr/>
      </p:nvGrpSpPr>
      <p:grpSpPr>
        <a:xfrm>
          <a:off x="0" y="0"/>
          <a:ext cx="0" cy="0"/>
          <a:chOff x="0" y="0"/>
          <a:chExt cx="0" cy="0"/>
        </a:xfrm>
      </p:grpSpPr>
      <p:sp>
        <p:nvSpPr>
          <p:cNvPr id="30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30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303" name="Google Shape;229;p32" descr="Google Shape;229;p32"/>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30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171190281"/>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type="tx">
  <p:cSld name="Africa_1">
    <p:spTree>
      <p:nvGrpSpPr>
        <p:cNvPr id="1" name=""/>
        <p:cNvGrpSpPr/>
        <p:nvPr/>
      </p:nvGrpSpPr>
      <p:grpSpPr>
        <a:xfrm>
          <a:off x="0" y="0"/>
          <a:ext cx="0" cy="0"/>
          <a:chOff x="0" y="0"/>
          <a:chExt cx="0" cy="0"/>
        </a:xfrm>
      </p:grpSpPr>
      <p:sp>
        <p:nvSpPr>
          <p:cNvPr id="31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31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313" name="Google Shape;236;p33" descr="Google Shape;236;p33"/>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3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91829702"/>
      </p:ext>
    </p:extLst>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type="tx">
  <p:cSld name="Europe_2">
    <p:spTree>
      <p:nvGrpSpPr>
        <p:cNvPr id="1" name=""/>
        <p:cNvGrpSpPr/>
        <p:nvPr/>
      </p:nvGrpSpPr>
      <p:grpSpPr>
        <a:xfrm>
          <a:off x="0" y="0"/>
          <a:ext cx="0" cy="0"/>
          <a:chOff x="0" y="0"/>
          <a:chExt cx="0" cy="0"/>
        </a:xfrm>
      </p:grpSpPr>
      <p:sp>
        <p:nvSpPr>
          <p:cNvPr id="32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32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323" name="Google Shape;243;p34" descr="Google Shape;243;p34"/>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3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597772728"/>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type="tx">
  <p:cSld name="Europe_1_2">
    <p:spTree>
      <p:nvGrpSpPr>
        <p:cNvPr id="1" name=""/>
        <p:cNvGrpSpPr/>
        <p:nvPr/>
      </p:nvGrpSpPr>
      <p:grpSpPr>
        <a:xfrm>
          <a:off x="0" y="0"/>
          <a:ext cx="0" cy="0"/>
          <a:chOff x="0" y="0"/>
          <a:chExt cx="0" cy="0"/>
        </a:xfrm>
      </p:grpSpPr>
      <p:sp>
        <p:nvSpPr>
          <p:cNvPr id="33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33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333" name="Google Shape;250;p35" descr="Google Shape;250;p35"/>
          <p:cNvPicPr>
            <a:picLocks noChangeAspect="1"/>
          </p:cNvPicPr>
          <p:nvPr/>
        </p:nvPicPr>
        <p:blipFill>
          <a:blip r:embed="rId2"/>
          <a:stretch>
            <a:fillRect/>
          </a:stretch>
        </p:blipFill>
        <p:spPr>
          <a:xfrm>
            <a:off x="5334007" y="0"/>
            <a:ext cx="6858001" cy="6858000"/>
          </a:xfrm>
          <a:prstGeom prst="rect">
            <a:avLst/>
          </a:prstGeom>
          <a:ln w="12700">
            <a:miter lim="400000"/>
          </a:ln>
        </p:spPr>
      </p:pic>
      <p:sp>
        <p:nvSpPr>
          <p:cNvPr id="33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181012290"/>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type="tx">
  <p:cSld name="Europe_1_1">
    <p:spTree>
      <p:nvGrpSpPr>
        <p:cNvPr id="1" name=""/>
        <p:cNvGrpSpPr/>
        <p:nvPr/>
      </p:nvGrpSpPr>
      <p:grpSpPr>
        <a:xfrm>
          <a:off x="0" y="0"/>
          <a:ext cx="0" cy="0"/>
          <a:chOff x="0" y="0"/>
          <a:chExt cx="0" cy="0"/>
        </a:xfrm>
      </p:grpSpPr>
      <p:sp>
        <p:nvSpPr>
          <p:cNvPr id="34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34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343" name="Google Shape;259;p36" descr="Google Shape;259;p36"/>
          <p:cNvPicPr>
            <a:picLocks noChangeAspect="1"/>
          </p:cNvPicPr>
          <p:nvPr/>
        </p:nvPicPr>
        <p:blipFill>
          <a:blip r:embed="rId2"/>
          <a:stretch>
            <a:fillRect/>
          </a:stretch>
        </p:blipFill>
        <p:spPr>
          <a:xfrm rot="20447192">
            <a:off x="7280453" y="1067385"/>
            <a:ext cx="4688233" cy="4688235"/>
          </a:xfrm>
          <a:prstGeom prst="rect">
            <a:avLst/>
          </a:prstGeom>
          <a:ln w="12700">
            <a:miter lim="400000"/>
          </a:ln>
        </p:spPr>
      </p:pic>
      <p:sp>
        <p:nvSpPr>
          <p:cNvPr id="3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45127845"/>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type="tx">
  <p:cSld name="Chart Slide 1">
    <p:spTree>
      <p:nvGrpSpPr>
        <p:cNvPr id="1" name=""/>
        <p:cNvGrpSpPr/>
        <p:nvPr/>
      </p:nvGrpSpPr>
      <p:grpSpPr>
        <a:xfrm>
          <a:off x="0" y="0"/>
          <a:ext cx="0" cy="0"/>
          <a:chOff x="0" y="0"/>
          <a:chExt cx="0" cy="0"/>
        </a:xfrm>
      </p:grpSpPr>
      <p:sp>
        <p:nvSpPr>
          <p:cNvPr id="351" name="Google Shape;261;p37"/>
          <p:cNvSpPr/>
          <p:nvPr/>
        </p:nvSpPr>
        <p:spPr>
          <a:xfrm>
            <a:off x="7467600" y="-2"/>
            <a:ext cx="4724400"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352" name="Body Level One…"/>
          <p:cNvSpPr txBox="1">
            <a:spLocks noGrp="1"/>
          </p:cNvSpPr>
          <p:nvPr>
            <p:ph type="body" sz="quarter" idx="1"/>
          </p:nvPr>
        </p:nvSpPr>
        <p:spPr>
          <a:xfrm>
            <a:off x="7852501" y="3598665"/>
            <a:ext cx="3856401" cy="2364803"/>
          </a:xfrm>
          <a:prstGeom prst="rect">
            <a:avLst/>
          </a:prstGeom>
        </p:spPr>
        <p:txBody>
          <a:bodyPr>
            <a:normAutofit/>
          </a:bodyPr>
          <a:lstStyle>
            <a:lvl1pPr marL="457189" indent="-304792">
              <a:buClrTx/>
              <a:buSzTx/>
              <a:buFontTx/>
              <a:buNone/>
              <a:defRPr sz="1600"/>
            </a:lvl1pPr>
            <a:lvl2pPr marL="457189" indent="330192">
              <a:buClrTx/>
              <a:buSzTx/>
              <a:buFontTx/>
              <a:buNone/>
              <a:defRPr sz="1600"/>
            </a:lvl2pPr>
            <a:lvl3pPr marL="457189" indent="965176">
              <a:buClrTx/>
              <a:buSzTx/>
              <a:buFontTx/>
              <a:buNone/>
              <a:defRPr sz="1600"/>
            </a:lvl3pPr>
            <a:lvl4pPr marL="457189" indent="1574761">
              <a:buClrTx/>
              <a:buSzTx/>
              <a:buFontTx/>
              <a:buNone/>
              <a:defRPr sz="1600"/>
            </a:lvl4pPr>
            <a:lvl5pPr marL="457189" indent="2184345">
              <a:buClrTx/>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353" name="Title Text"/>
          <p:cNvSpPr txBox="1">
            <a:spLocks noGrp="1"/>
          </p:cNvSpPr>
          <p:nvPr>
            <p:ph type="title"/>
          </p:nvPr>
        </p:nvSpPr>
        <p:spPr>
          <a:xfrm>
            <a:off x="7876034" y="1024134"/>
            <a:ext cx="3832801" cy="1274001"/>
          </a:xfrm>
          <a:prstGeom prst="rect">
            <a:avLst/>
          </a:prstGeom>
        </p:spPr>
        <p:txBody>
          <a:bodyPr anchor="t"/>
          <a:lstStyle>
            <a:lvl1pPr>
              <a:defRPr sz="3200"/>
            </a:lvl1pPr>
          </a:lstStyle>
          <a:p>
            <a:r>
              <a:t>Title Text</a:t>
            </a:r>
          </a:p>
        </p:txBody>
      </p:sp>
      <p:sp>
        <p:nvSpPr>
          <p:cNvPr id="35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549263562"/>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type="tx">
  <p:cSld name="Chart Slide 2">
    <p:spTree>
      <p:nvGrpSpPr>
        <p:cNvPr id="1" name=""/>
        <p:cNvGrpSpPr/>
        <p:nvPr/>
      </p:nvGrpSpPr>
      <p:grpSpPr>
        <a:xfrm>
          <a:off x="0" y="0"/>
          <a:ext cx="0" cy="0"/>
          <a:chOff x="0" y="0"/>
          <a:chExt cx="0" cy="0"/>
        </a:xfrm>
      </p:grpSpPr>
      <p:sp>
        <p:nvSpPr>
          <p:cNvPr id="361" name="Google Shape;268;p38"/>
          <p:cNvSpPr/>
          <p:nvPr/>
        </p:nvSpPr>
        <p:spPr>
          <a:xfrm>
            <a:off x="0" y="-2"/>
            <a:ext cx="4724400"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362"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a:lvl1pPr>
            <a:lvl2pPr marL="457189" indent="330192">
              <a:buClrTx/>
              <a:buSzTx/>
              <a:buFontTx/>
              <a:buNone/>
              <a:defRPr sz="1600"/>
            </a:lvl2pPr>
            <a:lvl3pPr marL="457189" indent="965176">
              <a:buClrTx/>
              <a:buSzTx/>
              <a:buFontTx/>
              <a:buNone/>
              <a:defRPr sz="1600"/>
            </a:lvl3pPr>
            <a:lvl4pPr marL="457189" indent="1574761">
              <a:buClrTx/>
              <a:buSzTx/>
              <a:buFontTx/>
              <a:buNone/>
              <a:defRPr sz="1600"/>
            </a:lvl4pPr>
            <a:lvl5pPr marL="457189" indent="2184345">
              <a:buClrTx/>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363"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sp>
        <p:nvSpPr>
          <p:cNvPr id="3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099871631"/>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type="tx">
  <p:cSld name="Chart Slide 3">
    <p:spTree>
      <p:nvGrpSpPr>
        <p:cNvPr id="1" name=""/>
        <p:cNvGrpSpPr/>
        <p:nvPr/>
      </p:nvGrpSpPr>
      <p:grpSpPr>
        <a:xfrm>
          <a:off x="0" y="0"/>
          <a:ext cx="0" cy="0"/>
          <a:chOff x="0" y="0"/>
          <a:chExt cx="0" cy="0"/>
        </a:xfrm>
      </p:grpSpPr>
      <p:sp>
        <p:nvSpPr>
          <p:cNvPr id="371" name="Body Level One…"/>
          <p:cNvSpPr txBox="1">
            <a:spLocks noGrp="1"/>
          </p:cNvSpPr>
          <p:nvPr>
            <p:ph type="body" sz="quarter" idx="1"/>
          </p:nvPr>
        </p:nvSpPr>
        <p:spPr>
          <a:xfrm>
            <a:off x="7876034" y="3598665"/>
            <a:ext cx="3832801" cy="2364803"/>
          </a:xfrm>
          <a:prstGeom prst="rect">
            <a:avLst/>
          </a:prstGeom>
        </p:spPr>
        <p:txBody>
          <a:bodyPr>
            <a:normAutofit/>
          </a:bodyPr>
          <a:lstStyle>
            <a:lvl1pPr marL="457189" indent="-304792">
              <a:buClrTx/>
              <a:buSzTx/>
              <a:buFontTx/>
              <a:buNone/>
              <a:defRPr sz="1600" b="0">
                <a:solidFill>
                  <a:srgbClr val="000000"/>
                </a:solidFill>
              </a:defRPr>
            </a:lvl1pPr>
            <a:lvl2pPr marL="457189" indent="330192">
              <a:buClrTx/>
              <a:buSzTx/>
              <a:buFontTx/>
              <a:buNone/>
              <a:defRPr sz="1600" b="0">
                <a:solidFill>
                  <a:srgbClr val="000000"/>
                </a:solidFill>
              </a:defRPr>
            </a:lvl2pPr>
            <a:lvl3pPr marL="457189" indent="965176">
              <a:buClrTx/>
              <a:buSzTx/>
              <a:buFontTx/>
              <a:buNone/>
              <a:defRPr sz="1600" b="0">
                <a:solidFill>
                  <a:srgbClr val="000000"/>
                </a:solidFill>
              </a:defRPr>
            </a:lvl3pPr>
            <a:lvl4pPr marL="457189" indent="1574761">
              <a:buClrTx/>
              <a:buSzTx/>
              <a:buFontTx/>
              <a:buNone/>
              <a:defRPr sz="1600" b="0">
                <a:solidFill>
                  <a:srgbClr val="000000"/>
                </a:solidFill>
              </a:defRPr>
            </a:lvl4pPr>
            <a:lvl5pPr marL="457189" indent="2184345">
              <a:buClrTx/>
              <a:buSzTx/>
              <a:buFontTx/>
              <a:buNone/>
              <a:defRPr sz="1600" b="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372" name="Title Text"/>
          <p:cNvSpPr txBox="1">
            <a:spLocks noGrp="1"/>
          </p:cNvSpPr>
          <p:nvPr>
            <p:ph type="title"/>
          </p:nvPr>
        </p:nvSpPr>
        <p:spPr>
          <a:xfrm>
            <a:off x="7876034" y="1024134"/>
            <a:ext cx="3832801" cy="1274001"/>
          </a:xfrm>
          <a:prstGeom prst="rect">
            <a:avLst/>
          </a:prstGeom>
        </p:spPr>
        <p:txBody>
          <a:bodyPr anchor="t"/>
          <a:lstStyle>
            <a:lvl1pPr>
              <a:defRPr sz="3200"/>
            </a:lvl1pPr>
          </a:lstStyle>
          <a:p>
            <a:r>
              <a:t>Title Text</a:t>
            </a:r>
          </a:p>
        </p:txBody>
      </p:sp>
      <p:sp>
        <p:nvSpPr>
          <p:cNvPr id="37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478816435"/>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type="tx">
  <p:cSld name="Chart Slide 4">
    <p:spTree>
      <p:nvGrpSpPr>
        <p:cNvPr id="1" name=""/>
        <p:cNvGrpSpPr/>
        <p:nvPr/>
      </p:nvGrpSpPr>
      <p:grpSpPr>
        <a:xfrm>
          <a:off x="0" y="0"/>
          <a:ext cx="0" cy="0"/>
          <a:chOff x="0" y="0"/>
          <a:chExt cx="0" cy="0"/>
        </a:xfrm>
      </p:grpSpPr>
      <p:sp>
        <p:nvSpPr>
          <p:cNvPr id="380"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sp>
        <p:nvSpPr>
          <p:cNvPr id="38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38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221686667"/>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type="tx">
  <p:cSld name="Chart Slide 6">
    <p:spTree>
      <p:nvGrpSpPr>
        <p:cNvPr id="1" name=""/>
        <p:cNvGrpSpPr/>
        <p:nvPr/>
      </p:nvGrpSpPr>
      <p:grpSpPr>
        <a:xfrm>
          <a:off x="0" y="0"/>
          <a:ext cx="0" cy="0"/>
          <a:chOff x="0" y="0"/>
          <a:chExt cx="0" cy="0"/>
        </a:xfrm>
      </p:grpSpPr>
      <p:sp>
        <p:nvSpPr>
          <p:cNvPr id="389" name="Title Text"/>
          <p:cNvSpPr txBox="1">
            <a:spLocks noGrp="1"/>
          </p:cNvSpPr>
          <p:nvPr>
            <p:ph type="title"/>
          </p:nvPr>
        </p:nvSpPr>
        <p:spPr>
          <a:xfrm>
            <a:off x="301099" y="182880"/>
            <a:ext cx="10252801" cy="792000"/>
          </a:xfrm>
          <a:prstGeom prst="rect">
            <a:avLst/>
          </a:prstGeom>
        </p:spPr>
        <p:txBody>
          <a:bodyPr anchor="ctr"/>
          <a:lstStyle>
            <a:lvl1pPr>
              <a:defRPr sz="3200"/>
            </a:lvl1pPr>
          </a:lstStyle>
          <a:p>
            <a:r>
              <a:t>Title Text</a:t>
            </a:r>
          </a:p>
        </p:txBody>
      </p:sp>
      <p:sp>
        <p:nvSpPr>
          <p:cNvPr id="39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540469390"/>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type="tx">
  <p:cSld name="1_Blue Bar Text_1_1">
    <p:spTree>
      <p:nvGrpSpPr>
        <p:cNvPr id="1" name=""/>
        <p:cNvGrpSpPr/>
        <p:nvPr/>
      </p:nvGrpSpPr>
      <p:grpSpPr>
        <a:xfrm>
          <a:off x="0" y="0"/>
          <a:ext cx="0" cy="0"/>
          <a:chOff x="0" y="0"/>
          <a:chExt cx="0" cy="0"/>
        </a:xfrm>
      </p:grpSpPr>
      <p:sp>
        <p:nvSpPr>
          <p:cNvPr id="397"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sp>
        <p:nvSpPr>
          <p:cNvPr id="398"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39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849636449"/>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type="tx">
  <p:cSld name="1_Grey Bar text_1">
    <p:spTree>
      <p:nvGrpSpPr>
        <p:cNvPr id="1" name=""/>
        <p:cNvGrpSpPr/>
        <p:nvPr/>
      </p:nvGrpSpPr>
      <p:grpSpPr>
        <a:xfrm>
          <a:off x="0" y="0"/>
          <a:ext cx="0" cy="0"/>
          <a:chOff x="0" y="0"/>
          <a:chExt cx="0" cy="0"/>
        </a:xfrm>
      </p:grpSpPr>
      <p:sp>
        <p:nvSpPr>
          <p:cNvPr id="406" name="Google Shape;304;p43"/>
          <p:cNvSpPr/>
          <p:nvPr/>
        </p:nvSpPr>
        <p:spPr>
          <a:xfrm>
            <a:off x="0" y="-2"/>
            <a:ext cx="4724400" cy="6858001"/>
          </a:xfrm>
          <a:prstGeom prst="rect">
            <a:avLst/>
          </a:prstGeom>
          <a:solidFill>
            <a:srgbClr val="53718F"/>
          </a:solidFill>
          <a:ln w="12700">
            <a:miter lim="400000"/>
          </a:ln>
        </p:spPr>
        <p:txBody>
          <a:bodyPr lIns="60959" rIns="60959" anchor="ctr"/>
          <a:lstStyle/>
          <a:p>
            <a:pPr algn="ctr">
              <a:defRPr>
                <a:solidFill>
                  <a:srgbClr val="FFFFFF"/>
                </a:solidFill>
              </a:defRPr>
            </a:pPr>
            <a:endParaRPr sz="2400"/>
          </a:p>
        </p:txBody>
      </p:sp>
      <p:sp>
        <p:nvSpPr>
          <p:cNvPr id="407"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lvl1pPr>
            <a:lvl2pPr marL="457189" indent="330192">
              <a:buClrTx/>
              <a:buSzTx/>
              <a:buFontTx/>
              <a:buNone/>
              <a:defRPr sz="1600" b="0"/>
            </a:lvl2pPr>
            <a:lvl3pPr marL="457189" indent="965176">
              <a:buClrTx/>
              <a:buSzTx/>
              <a:buFontTx/>
              <a:buNone/>
              <a:defRPr sz="1600" b="0"/>
            </a:lvl3pPr>
            <a:lvl4pPr marL="457189" indent="1574761">
              <a:buClrTx/>
              <a:buSzTx/>
              <a:buFontTx/>
              <a:buNone/>
              <a:defRPr sz="1600" b="0"/>
            </a:lvl4pPr>
            <a:lvl5pPr marL="457189" indent="2184345">
              <a:buClrTx/>
              <a:buSzTx/>
              <a:buFontTx/>
              <a:buNone/>
              <a:defRPr sz="1600" b="0"/>
            </a:lvl5pPr>
          </a:lstStyle>
          <a:p>
            <a:r>
              <a:t>Body Level One</a:t>
            </a:r>
          </a:p>
          <a:p>
            <a:pPr lvl="1"/>
            <a:r>
              <a:t>Body Level Two</a:t>
            </a:r>
          </a:p>
          <a:p>
            <a:pPr lvl="2"/>
            <a:r>
              <a:t>Body Level Three</a:t>
            </a:r>
          </a:p>
          <a:p>
            <a:pPr lvl="3"/>
            <a:r>
              <a:t>Body Level Four</a:t>
            </a:r>
          </a:p>
          <a:p>
            <a:pPr lvl="4"/>
            <a:r>
              <a:t>Body Level Five</a:t>
            </a:r>
          </a:p>
        </p:txBody>
      </p:sp>
      <p:sp>
        <p:nvSpPr>
          <p:cNvPr id="408"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sp>
        <p:nvSpPr>
          <p:cNvPr id="40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71537593"/>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type="tx">
  <p:cSld name="1_Blue Bar Text_1">
    <p:spTree>
      <p:nvGrpSpPr>
        <p:cNvPr id="1" name=""/>
        <p:cNvGrpSpPr/>
        <p:nvPr/>
      </p:nvGrpSpPr>
      <p:grpSpPr>
        <a:xfrm>
          <a:off x="0" y="0"/>
          <a:ext cx="0" cy="0"/>
          <a:chOff x="0" y="0"/>
          <a:chExt cx="0" cy="0"/>
        </a:xfrm>
      </p:grpSpPr>
      <p:sp>
        <p:nvSpPr>
          <p:cNvPr id="416" name="Google Shape;317;p44"/>
          <p:cNvSpPr/>
          <p:nvPr/>
        </p:nvSpPr>
        <p:spPr>
          <a:xfrm>
            <a:off x="0" y="-2"/>
            <a:ext cx="4724400" cy="6858001"/>
          </a:xfrm>
          <a:prstGeom prst="rect">
            <a:avLst/>
          </a:prstGeom>
          <a:solidFill>
            <a:srgbClr val="2D8FE2"/>
          </a:solidFill>
          <a:ln w="12700">
            <a:miter lim="400000"/>
          </a:ln>
        </p:spPr>
        <p:txBody>
          <a:bodyPr lIns="60959" rIns="60959" anchor="ctr"/>
          <a:lstStyle/>
          <a:p>
            <a:pPr algn="ctr">
              <a:defRPr sz="1800">
                <a:solidFill>
                  <a:srgbClr val="FFFFFF"/>
                </a:solidFill>
              </a:defRPr>
            </a:pPr>
            <a:endParaRPr sz="2400"/>
          </a:p>
        </p:txBody>
      </p:sp>
      <p:sp>
        <p:nvSpPr>
          <p:cNvPr id="417"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a:lvl1pPr>
            <a:lvl2pPr marL="457189" indent="330192">
              <a:buClrTx/>
              <a:buSzTx/>
              <a:buFontTx/>
              <a:buNone/>
              <a:defRPr sz="1600"/>
            </a:lvl2pPr>
            <a:lvl3pPr marL="457189" indent="965176">
              <a:buClrTx/>
              <a:buSzTx/>
              <a:buFontTx/>
              <a:buNone/>
              <a:defRPr sz="1600"/>
            </a:lvl3pPr>
            <a:lvl4pPr marL="457189" indent="1574761">
              <a:buClrTx/>
              <a:buSzTx/>
              <a:buFontTx/>
              <a:buNone/>
              <a:defRPr sz="1600"/>
            </a:lvl4pPr>
            <a:lvl5pPr marL="457189" indent="2184345">
              <a:buClrTx/>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418"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sp>
        <p:nvSpPr>
          <p:cNvPr id="4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338041427"/>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type="tx">
  <p:cSld name="1_Black Bar text_1">
    <p:spTree>
      <p:nvGrpSpPr>
        <p:cNvPr id="1" name=""/>
        <p:cNvGrpSpPr/>
        <p:nvPr/>
      </p:nvGrpSpPr>
      <p:grpSpPr>
        <a:xfrm>
          <a:off x="0" y="0"/>
          <a:ext cx="0" cy="0"/>
          <a:chOff x="0" y="0"/>
          <a:chExt cx="0" cy="0"/>
        </a:xfrm>
      </p:grpSpPr>
      <p:sp>
        <p:nvSpPr>
          <p:cNvPr id="426" name="Google Shape;330;p45"/>
          <p:cNvSpPr/>
          <p:nvPr/>
        </p:nvSpPr>
        <p:spPr>
          <a:xfrm>
            <a:off x="0" y="-2"/>
            <a:ext cx="4724400" cy="6858001"/>
          </a:xfrm>
          <a:prstGeom prst="rect">
            <a:avLst/>
          </a:prstGeom>
          <a:solidFill>
            <a:srgbClr val="0A0A0C"/>
          </a:solidFill>
          <a:ln w="12700">
            <a:miter lim="400000"/>
          </a:ln>
        </p:spPr>
        <p:txBody>
          <a:bodyPr lIns="60959" rIns="60959" anchor="ctr"/>
          <a:lstStyle/>
          <a:p>
            <a:pPr algn="ctr">
              <a:defRPr>
                <a:solidFill>
                  <a:srgbClr val="FFFFFF"/>
                </a:solidFill>
              </a:defRPr>
            </a:pPr>
            <a:endParaRPr sz="2400"/>
          </a:p>
        </p:txBody>
      </p:sp>
      <p:sp>
        <p:nvSpPr>
          <p:cNvPr id="427"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lvl1pPr>
            <a:lvl2pPr marL="457189" indent="330192">
              <a:buClrTx/>
              <a:buSzTx/>
              <a:buFontTx/>
              <a:buNone/>
              <a:defRPr sz="1600" b="0"/>
            </a:lvl2pPr>
            <a:lvl3pPr marL="457189" indent="965176">
              <a:buClrTx/>
              <a:buSzTx/>
              <a:buFontTx/>
              <a:buNone/>
              <a:defRPr sz="1600" b="0"/>
            </a:lvl3pPr>
            <a:lvl4pPr marL="457189" indent="1574761">
              <a:buClrTx/>
              <a:buSzTx/>
              <a:buFontTx/>
              <a:buNone/>
              <a:defRPr sz="1600" b="0"/>
            </a:lvl4pPr>
            <a:lvl5pPr marL="457189" indent="2184345">
              <a:buClrTx/>
              <a:buSzTx/>
              <a:buFontTx/>
              <a:buNone/>
              <a:defRPr sz="1600" b="0"/>
            </a:lvl5pPr>
          </a:lstStyle>
          <a:p>
            <a:r>
              <a:t>Body Level One</a:t>
            </a:r>
          </a:p>
          <a:p>
            <a:pPr lvl="1"/>
            <a:r>
              <a:t>Body Level Two</a:t>
            </a:r>
          </a:p>
          <a:p>
            <a:pPr lvl="2"/>
            <a:r>
              <a:t>Body Level Three</a:t>
            </a:r>
          </a:p>
          <a:p>
            <a:pPr lvl="3"/>
            <a:r>
              <a:t>Body Level Four</a:t>
            </a:r>
          </a:p>
          <a:p>
            <a:pPr lvl="4"/>
            <a:r>
              <a:t>Body Level Five</a:t>
            </a:r>
          </a:p>
        </p:txBody>
      </p:sp>
      <p:sp>
        <p:nvSpPr>
          <p:cNvPr id="428"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sp>
        <p:nvSpPr>
          <p:cNvPr id="42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06047536"/>
      </p:ext>
    </p:extLst>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type="tx">
  <p:cSld name="Team Members">
    <p:spTree>
      <p:nvGrpSpPr>
        <p:cNvPr id="1" name=""/>
        <p:cNvGrpSpPr/>
        <p:nvPr/>
      </p:nvGrpSpPr>
      <p:grpSpPr>
        <a:xfrm>
          <a:off x="0" y="0"/>
          <a:ext cx="0" cy="0"/>
          <a:chOff x="0" y="0"/>
          <a:chExt cx="0" cy="0"/>
        </a:xfrm>
      </p:grpSpPr>
      <p:sp>
        <p:nvSpPr>
          <p:cNvPr id="436" name="Title Text"/>
          <p:cNvSpPr txBox="1">
            <a:spLocks noGrp="1"/>
          </p:cNvSpPr>
          <p:nvPr>
            <p:ph type="title"/>
          </p:nvPr>
        </p:nvSpPr>
        <p:spPr>
          <a:xfrm>
            <a:off x="301099" y="182880"/>
            <a:ext cx="10252801" cy="792000"/>
          </a:xfrm>
          <a:prstGeom prst="rect">
            <a:avLst/>
          </a:prstGeom>
        </p:spPr>
        <p:txBody>
          <a:bodyPr anchor="t"/>
          <a:lstStyle>
            <a:lvl1pPr>
              <a:defRPr sz="3200"/>
            </a:lvl1pPr>
          </a:lstStyle>
          <a:p>
            <a:r>
              <a:t>Title Text</a:t>
            </a:r>
          </a:p>
        </p:txBody>
      </p:sp>
      <p:sp>
        <p:nvSpPr>
          <p:cNvPr id="437" name="Body Level One…"/>
          <p:cNvSpPr txBox="1">
            <a:spLocks noGrp="1"/>
          </p:cNvSpPr>
          <p:nvPr>
            <p:ph type="body" sz="quarter" idx="1"/>
          </p:nvPr>
        </p:nvSpPr>
        <p:spPr>
          <a:xfrm>
            <a:off x="1084566" y="1219201"/>
            <a:ext cx="4093601" cy="444801"/>
          </a:xfrm>
          <a:prstGeom prst="rect">
            <a:avLst/>
          </a:prstGeom>
        </p:spPr>
        <p:txBody>
          <a:bodyPr>
            <a:normAutofit/>
          </a:bodyPr>
          <a:lstStyle>
            <a:lvl1pPr marL="457189" indent="-304792">
              <a:buClrTx/>
              <a:buSzTx/>
              <a:buFontTx/>
              <a:buNone/>
              <a:defRPr sz="2000">
                <a:solidFill>
                  <a:srgbClr val="2D8FE2"/>
                </a:solidFill>
              </a:defRPr>
            </a:lvl1pPr>
            <a:lvl2pPr marL="457189" indent="330192">
              <a:buClrTx/>
              <a:buSzTx/>
              <a:buFontTx/>
              <a:buNone/>
              <a:defRPr sz="2000">
                <a:solidFill>
                  <a:srgbClr val="2D8FE2"/>
                </a:solidFill>
              </a:defRPr>
            </a:lvl2pPr>
            <a:lvl3pPr marL="457189" indent="965176">
              <a:buClrTx/>
              <a:buSzTx/>
              <a:buFontTx/>
              <a:buNone/>
              <a:defRPr sz="2000">
                <a:solidFill>
                  <a:srgbClr val="2D8FE2"/>
                </a:solidFill>
              </a:defRPr>
            </a:lvl3pPr>
            <a:lvl4pPr marL="457189" indent="1574761">
              <a:buClrTx/>
              <a:buSzTx/>
              <a:buFontTx/>
              <a:buNone/>
              <a:defRPr sz="2000">
                <a:solidFill>
                  <a:srgbClr val="2D8FE2"/>
                </a:solidFill>
              </a:defRPr>
            </a:lvl4pPr>
            <a:lvl5pPr marL="457189" indent="2184345">
              <a:buClrTx/>
              <a:buSzTx/>
              <a:buFontTx/>
              <a:buNone/>
              <a:defRPr sz="2000">
                <a:solidFill>
                  <a:srgbClr val="2D8FE2"/>
                </a:solidFill>
              </a:defRPr>
            </a:lvl5pPr>
          </a:lstStyle>
          <a:p>
            <a:r>
              <a:t>Body Level One</a:t>
            </a:r>
          </a:p>
          <a:p>
            <a:pPr lvl="1"/>
            <a:r>
              <a:t>Body Level Two</a:t>
            </a:r>
          </a:p>
          <a:p>
            <a:pPr lvl="2"/>
            <a:r>
              <a:t>Body Level Three</a:t>
            </a:r>
          </a:p>
          <a:p>
            <a:pPr lvl="3"/>
            <a:r>
              <a:t>Body Level Four</a:t>
            </a:r>
          </a:p>
          <a:p>
            <a:pPr lvl="4"/>
            <a:r>
              <a:t>Body Level Five</a:t>
            </a:r>
          </a:p>
        </p:txBody>
      </p:sp>
      <p:sp>
        <p:nvSpPr>
          <p:cNvPr id="438" name="Google Shape;353;p46"/>
          <p:cNvSpPr/>
          <p:nvPr/>
        </p:nvSpPr>
        <p:spPr>
          <a:xfrm>
            <a:off x="320034" y="1360440"/>
            <a:ext cx="609601" cy="609601"/>
          </a:xfrm>
          <a:prstGeom prst="ellipse">
            <a:avLst/>
          </a:prstGeom>
          <a:solidFill>
            <a:srgbClr val="E3E7F0"/>
          </a:solidFill>
          <a:ln>
            <a:solidFill>
              <a:srgbClr val="F2F0EE"/>
            </a:solidFill>
          </a:ln>
        </p:spPr>
        <p:txBody>
          <a:bodyPr lIns="60959" rIns="60959" anchor="ctr"/>
          <a:lstStyle/>
          <a:p>
            <a:endParaRPr sz="2400"/>
          </a:p>
        </p:txBody>
      </p:sp>
      <p:sp>
        <p:nvSpPr>
          <p:cNvPr id="439" name="Google Shape;354;p46"/>
          <p:cNvSpPr/>
          <p:nvPr/>
        </p:nvSpPr>
        <p:spPr>
          <a:xfrm>
            <a:off x="320034" y="2620308"/>
            <a:ext cx="609601" cy="609601"/>
          </a:xfrm>
          <a:prstGeom prst="ellipse">
            <a:avLst/>
          </a:prstGeom>
          <a:solidFill>
            <a:srgbClr val="E3E7F0"/>
          </a:solidFill>
          <a:ln>
            <a:solidFill>
              <a:srgbClr val="F2F0EE"/>
            </a:solidFill>
          </a:ln>
        </p:spPr>
        <p:txBody>
          <a:bodyPr lIns="60959" rIns="60959" anchor="ctr"/>
          <a:lstStyle/>
          <a:p>
            <a:endParaRPr sz="2400"/>
          </a:p>
        </p:txBody>
      </p:sp>
      <p:sp>
        <p:nvSpPr>
          <p:cNvPr id="440" name="Google Shape;355;p46"/>
          <p:cNvSpPr/>
          <p:nvPr/>
        </p:nvSpPr>
        <p:spPr>
          <a:xfrm>
            <a:off x="320034" y="3830641"/>
            <a:ext cx="609601" cy="609601"/>
          </a:xfrm>
          <a:prstGeom prst="ellipse">
            <a:avLst/>
          </a:prstGeom>
          <a:solidFill>
            <a:srgbClr val="E3E7F0"/>
          </a:solidFill>
          <a:ln>
            <a:solidFill>
              <a:srgbClr val="F2F0EE"/>
            </a:solidFill>
          </a:ln>
        </p:spPr>
        <p:txBody>
          <a:bodyPr lIns="60959" rIns="60959" anchor="ctr"/>
          <a:lstStyle/>
          <a:p>
            <a:endParaRPr sz="2400"/>
          </a:p>
        </p:txBody>
      </p:sp>
      <p:sp>
        <p:nvSpPr>
          <p:cNvPr id="441" name="Google Shape;356;p46"/>
          <p:cNvSpPr/>
          <p:nvPr/>
        </p:nvSpPr>
        <p:spPr>
          <a:xfrm>
            <a:off x="320034" y="5028306"/>
            <a:ext cx="609601" cy="609601"/>
          </a:xfrm>
          <a:prstGeom prst="ellipse">
            <a:avLst/>
          </a:prstGeom>
          <a:solidFill>
            <a:srgbClr val="E3E7F0"/>
          </a:solidFill>
          <a:ln>
            <a:solidFill>
              <a:srgbClr val="F2F0EE"/>
            </a:solidFill>
          </a:ln>
        </p:spPr>
        <p:txBody>
          <a:bodyPr lIns="60959" rIns="60959" anchor="ctr"/>
          <a:lstStyle/>
          <a:p>
            <a:endParaRPr sz="2400"/>
          </a:p>
        </p:txBody>
      </p:sp>
      <p:sp>
        <p:nvSpPr>
          <p:cNvPr id="442" name="Google Shape;365;p46"/>
          <p:cNvSpPr/>
          <p:nvPr/>
        </p:nvSpPr>
        <p:spPr>
          <a:xfrm>
            <a:off x="6096000" y="1360440"/>
            <a:ext cx="609600" cy="609601"/>
          </a:xfrm>
          <a:prstGeom prst="ellipse">
            <a:avLst/>
          </a:prstGeom>
          <a:solidFill>
            <a:srgbClr val="E3E7F0"/>
          </a:solidFill>
          <a:ln>
            <a:solidFill>
              <a:srgbClr val="F2F0EE"/>
            </a:solidFill>
          </a:ln>
        </p:spPr>
        <p:txBody>
          <a:bodyPr lIns="60959" rIns="60959" anchor="ctr"/>
          <a:lstStyle/>
          <a:p>
            <a:endParaRPr sz="2400"/>
          </a:p>
        </p:txBody>
      </p:sp>
      <p:sp>
        <p:nvSpPr>
          <p:cNvPr id="443" name="Google Shape;366;p46"/>
          <p:cNvSpPr/>
          <p:nvPr/>
        </p:nvSpPr>
        <p:spPr>
          <a:xfrm>
            <a:off x="6096000" y="2620308"/>
            <a:ext cx="609600" cy="609601"/>
          </a:xfrm>
          <a:prstGeom prst="ellipse">
            <a:avLst/>
          </a:prstGeom>
          <a:solidFill>
            <a:srgbClr val="E3E7F0"/>
          </a:solidFill>
          <a:ln>
            <a:solidFill>
              <a:srgbClr val="F2F0EE"/>
            </a:solidFill>
          </a:ln>
        </p:spPr>
        <p:txBody>
          <a:bodyPr lIns="60959" rIns="60959" anchor="ctr"/>
          <a:lstStyle/>
          <a:p>
            <a:endParaRPr sz="2400"/>
          </a:p>
        </p:txBody>
      </p:sp>
      <p:sp>
        <p:nvSpPr>
          <p:cNvPr id="444" name="Google Shape;367;p46"/>
          <p:cNvSpPr/>
          <p:nvPr/>
        </p:nvSpPr>
        <p:spPr>
          <a:xfrm>
            <a:off x="6096000" y="3830641"/>
            <a:ext cx="609600" cy="609601"/>
          </a:xfrm>
          <a:prstGeom prst="ellipse">
            <a:avLst/>
          </a:prstGeom>
          <a:solidFill>
            <a:srgbClr val="E3E7F0"/>
          </a:solidFill>
          <a:ln>
            <a:solidFill>
              <a:srgbClr val="F2F0EE"/>
            </a:solidFill>
          </a:ln>
        </p:spPr>
        <p:txBody>
          <a:bodyPr lIns="60959" rIns="60959" anchor="ctr"/>
          <a:lstStyle/>
          <a:p>
            <a:endParaRPr sz="2400"/>
          </a:p>
        </p:txBody>
      </p:sp>
      <p:sp>
        <p:nvSpPr>
          <p:cNvPr id="445" name="Google Shape;368;p46"/>
          <p:cNvSpPr/>
          <p:nvPr/>
        </p:nvSpPr>
        <p:spPr>
          <a:xfrm>
            <a:off x="6096000" y="5028306"/>
            <a:ext cx="609600" cy="609601"/>
          </a:xfrm>
          <a:prstGeom prst="ellipse">
            <a:avLst/>
          </a:prstGeom>
          <a:solidFill>
            <a:srgbClr val="E3E7F0"/>
          </a:solidFill>
          <a:ln>
            <a:solidFill>
              <a:srgbClr val="F2F0EE"/>
            </a:solidFill>
          </a:ln>
        </p:spPr>
        <p:txBody>
          <a:bodyPr lIns="60959" rIns="60959" anchor="ctr"/>
          <a:lstStyle/>
          <a:p>
            <a:endParaRPr sz="2400"/>
          </a:p>
        </p:txBody>
      </p:sp>
      <p:sp>
        <p:nvSpPr>
          <p:cNvPr id="44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814336203"/>
      </p:ext>
    </p:extLst>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type="tx">
  <p:cSld name="Quote 1">
    <p:spTree>
      <p:nvGrpSpPr>
        <p:cNvPr id="1" name=""/>
        <p:cNvGrpSpPr/>
        <p:nvPr/>
      </p:nvGrpSpPr>
      <p:grpSpPr>
        <a:xfrm>
          <a:off x="0" y="0"/>
          <a:ext cx="0" cy="0"/>
          <a:chOff x="0" y="0"/>
          <a:chExt cx="0" cy="0"/>
        </a:xfrm>
      </p:grpSpPr>
      <p:sp>
        <p:nvSpPr>
          <p:cNvPr id="453" name="Google Shape;372;p47"/>
          <p:cNvSpPr/>
          <p:nvPr/>
        </p:nvSpPr>
        <p:spPr>
          <a:xfrm flipH="1">
            <a:off x="4604954" y="1130653"/>
            <a:ext cx="1" cy="4591201"/>
          </a:xfrm>
          <a:prstGeom prst="line">
            <a:avLst/>
          </a:prstGeom>
          <a:ln w="12700">
            <a:solidFill>
              <a:srgbClr val="A5A5A5"/>
            </a:solidFill>
            <a:miter/>
          </a:ln>
        </p:spPr>
        <p:txBody>
          <a:bodyPr lIns="60959" rIns="60959"/>
          <a:lstStyle/>
          <a:p>
            <a:endParaRPr sz="2400"/>
          </a:p>
        </p:txBody>
      </p:sp>
      <p:sp>
        <p:nvSpPr>
          <p:cNvPr id="454" name="Body Level One…"/>
          <p:cNvSpPr txBox="1">
            <a:spLocks noGrp="1"/>
          </p:cNvSpPr>
          <p:nvPr>
            <p:ph type="body" sz="quarter" idx="1"/>
          </p:nvPr>
        </p:nvSpPr>
        <p:spPr>
          <a:xfrm>
            <a:off x="4991749" y="1825574"/>
            <a:ext cx="6323603" cy="1755201"/>
          </a:xfrm>
          <a:prstGeom prst="rect">
            <a:avLst/>
          </a:prstGeom>
        </p:spPr>
        <p:txBody>
          <a:bodyPr>
            <a:normAutofit/>
          </a:bodyPr>
          <a:lstStyle>
            <a:lvl1pPr marL="457189" indent="-304792">
              <a:buClrTx/>
              <a:buSzTx/>
              <a:buFontTx/>
              <a:buNone/>
              <a:defRPr sz="4000" b="0">
                <a:solidFill>
                  <a:srgbClr val="23232D"/>
                </a:solidFill>
              </a:defRPr>
            </a:lvl1pPr>
            <a:lvl2pPr marL="457189" indent="330192">
              <a:buClrTx/>
              <a:buSzTx/>
              <a:buFontTx/>
              <a:buNone/>
              <a:defRPr sz="4000" b="0">
                <a:solidFill>
                  <a:srgbClr val="23232D"/>
                </a:solidFill>
              </a:defRPr>
            </a:lvl2pPr>
            <a:lvl3pPr marL="457189" indent="965176">
              <a:buClrTx/>
              <a:buSzTx/>
              <a:buFontTx/>
              <a:buNone/>
              <a:defRPr sz="4000" b="0">
                <a:solidFill>
                  <a:srgbClr val="23232D"/>
                </a:solidFill>
              </a:defRPr>
            </a:lvl3pPr>
            <a:lvl4pPr marL="457189" indent="1574761">
              <a:buClrTx/>
              <a:buSzTx/>
              <a:buFontTx/>
              <a:buNone/>
              <a:defRPr sz="4000" b="0">
                <a:solidFill>
                  <a:srgbClr val="23232D"/>
                </a:solidFill>
              </a:defRPr>
            </a:lvl4pPr>
            <a:lvl5pPr marL="457189" indent="2184345">
              <a:buClrTx/>
              <a:buSzTx/>
              <a:buFontTx/>
              <a:buNone/>
              <a:defRPr sz="4000" b="0">
                <a:solidFill>
                  <a:srgbClr val="23232D"/>
                </a:solidFill>
              </a:defRPr>
            </a:lvl5pPr>
          </a:lstStyle>
          <a:p>
            <a:r>
              <a:t>Body Level One</a:t>
            </a:r>
          </a:p>
          <a:p>
            <a:pPr lvl="1"/>
            <a:r>
              <a:t>Body Level Two</a:t>
            </a:r>
          </a:p>
          <a:p>
            <a:pPr lvl="2"/>
            <a:r>
              <a:t>Body Level Three</a:t>
            </a:r>
          </a:p>
          <a:p>
            <a:pPr lvl="3"/>
            <a:r>
              <a:t>Body Level Four</a:t>
            </a:r>
          </a:p>
          <a:p>
            <a:pPr lvl="4"/>
            <a:r>
              <a:t>Body Level Five</a:t>
            </a:r>
          </a:p>
        </p:txBody>
      </p:sp>
      <p:sp>
        <p:nvSpPr>
          <p:cNvPr id="4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275995980"/>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type="tx">
  <p:cSld name="Quote 1_1_1">
    <p:spTree>
      <p:nvGrpSpPr>
        <p:cNvPr id="1" name=""/>
        <p:cNvGrpSpPr/>
        <p:nvPr/>
      </p:nvGrpSpPr>
      <p:grpSpPr>
        <a:xfrm>
          <a:off x="0" y="0"/>
          <a:ext cx="0" cy="0"/>
          <a:chOff x="0" y="0"/>
          <a:chExt cx="0" cy="0"/>
        </a:xfrm>
      </p:grpSpPr>
      <p:sp>
        <p:nvSpPr>
          <p:cNvPr id="471" name="Google Shape;386;p49"/>
          <p:cNvSpPr/>
          <p:nvPr/>
        </p:nvSpPr>
        <p:spPr>
          <a:xfrm>
            <a:off x="0" y="0"/>
            <a:ext cx="12192000" cy="6858000"/>
          </a:xfrm>
          <a:prstGeom prst="rect">
            <a:avLst/>
          </a:prstGeom>
          <a:solidFill>
            <a:srgbClr val="53718F"/>
          </a:solidFill>
          <a:ln w="12700">
            <a:miter lim="400000"/>
          </a:ln>
        </p:spPr>
        <p:txBody>
          <a:bodyPr lIns="60959" rIns="60959" anchor="ctr"/>
          <a:lstStyle/>
          <a:p>
            <a:pPr algn="ctr">
              <a:defRPr>
                <a:solidFill>
                  <a:srgbClr val="FFFFFF"/>
                </a:solidFill>
              </a:defRPr>
            </a:pPr>
            <a:endParaRPr sz="2400"/>
          </a:p>
        </p:txBody>
      </p:sp>
      <p:sp>
        <p:nvSpPr>
          <p:cNvPr id="472" name="Body Level One…"/>
          <p:cNvSpPr txBox="1">
            <a:spLocks noGrp="1"/>
          </p:cNvSpPr>
          <p:nvPr>
            <p:ph type="body" sz="half" idx="1"/>
          </p:nvPr>
        </p:nvSpPr>
        <p:spPr>
          <a:xfrm>
            <a:off x="1071809" y="1665866"/>
            <a:ext cx="10048401" cy="1755201"/>
          </a:xfrm>
          <a:prstGeom prst="rect">
            <a:avLst/>
          </a:prstGeom>
        </p:spPr>
        <p:txBody>
          <a:bodyPr>
            <a:normAutofit/>
          </a:bodyPr>
          <a:lstStyle>
            <a:lvl1pPr marL="457189" indent="-304792">
              <a:buClrTx/>
              <a:buSzTx/>
              <a:buFontTx/>
              <a:buNone/>
              <a:defRPr sz="4800" b="0">
                <a:latin typeface="Roboto Light"/>
                <a:ea typeface="Roboto Light"/>
                <a:cs typeface="Roboto Light"/>
                <a:sym typeface="Roboto Light"/>
              </a:defRPr>
            </a:lvl1pPr>
            <a:lvl2pPr marL="457189" indent="330192">
              <a:buClrTx/>
              <a:buSzTx/>
              <a:buFontTx/>
              <a:buNone/>
              <a:defRPr sz="4800" b="0">
                <a:latin typeface="Roboto Light"/>
                <a:ea typeface="Roboto Light"/>
                <a:cs typeface="Roboto Light"/>
                <a:sym typeface="Roboto Light"/>
              </a:defRPr>
            </a:lvl2pPr>
            <a:lvl3pPr marL="457189" indent="965176">
              <a:buClrTx/>
              <a:buSzTx/>
              <a:buFontTx/>
              <a:buNone/>
              <a:defRPr sz="4800" b="0">
                <a:latin typeface="Roboto Light"/>
                <a:ea typeface="Roboto Light"/>
                <a:cs typeface="Roboto Light"/>
                <a:sym typeface="Roboto Light"/>
              </a:defRPr>
            </a:lvl3pPr>
            <a:lvl4pPr marL="457189" indent="1574761">
              <a:buClrTx/>
              <a:buSzTx/>
              <a:buFontTx/>
              <a:buNone/>
              <a:defRPr sz="4800" b="0">
                <a:latin typeface="Roboto Light"/>
                <a:ea typeface="Roboto Light"/>
                <a:cs typeface="Roboto Light"/>
                <a:sym typeface="Roboto Light"/>
              </a:defRPr>
            </a:lvl4pPr>
            <a:lvl5pPr marL="457189" indent="2184345">
              <a:buClrTx/>
              <a:buSzTx/>
              <a:buFontTx/>
              <a:buNone/>
              <a:defRPr sz="4800" b="0">
                <a:latin typeface="Roboto Light"/>
                <a:ea typeface="Roboto Light"/>
                <a:cs typeface="Roboto Light"/>
                <a:sym typeface="Roboto Light"/>
              </a:defRPr>
            </a:lvl5pPr>
          </a:lstStyle>
          <a:p>
            <a:r>
              <a:t>Body Level One</a:t>
            </a:r>
          </a:p>
          <a:p>
            <a:pPr lvl="1"/>
            <a:r>
              <a:t>Body Level Two</a:t>
            </a:r>
          </a:p>
          <a:p>
            <a:pPr lvl="2"/>
            <a:r>
              <a:t>Body Level Three</a:t>
            </a:r>
          </a:p>
          <a:p>
            <a:pPr lvl="3"/>
            <a:r>
              <a:t>Body Level Four</a:t>
            </a:r>
          </a:p>
          <a:p>
            <a:pPr lvl="4"/>
            <a:r>
              <a:t>Body Level Five</a:t>
            </a:r>
          </a:p>
        </p:txBody>
      </p:sp>
      <p:sp>
        <p:nvSpPr>
          <p:cNvPr id="47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549920588"/>
      </p:ext>
    </p:extLst>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type="tx">
  <p:cSld name="Quote 1_1_1_1">
    <p:spTree>
      <p:nvGrpSpPr>
        <p:cNvPr id="1" name=""/>
        <p:cNvGrpSpPr/>
        <p:nvPr/>
      </p:nvGrpSpPr>
      <p:grpSpPr>
        <a:xfrm>
          <a:off x="0" y="0"/>
          <a:ext cx="0" cy="0"/>
          <a:chOff x="0" y="0"/>
          <a:chExt cx="0" cy="0"/>
        </a:xfrm>
      </p:grpSpPr>
      <p:sp>
        <p:nvSpPr>
          <p:cNvPr id="480" name="Google Shape;393;p50"/>
          <p:cNvSpPr/>
          <p:nvPr/>
        </p:nvSpPr>
        <p:spPr>
          <a:xfrm>
            <a:off x="0" y="0"/>
            <a:ext cx="12192000" cy="6858000"/>
          </a:xfrm>
          <a:prstGeom prst="rect">
            <a:avLst/>
          </a:prstGeom>
          <a:solidFill>
            <a:srgbClr val="2D8FE2"/>
          </a:solidFill>
          <a:ln w="12700">
            <a:miter lim="400000"/>
          </a:ln>
        </p:spPr>
        <p:txBody>
          <a:bodyPr lIns="60959" rIns="60959" anchor="ctr"/>
          <a:lstStyle/>
          <a:p>
            <a:pPr algn="ctr">
              <a:defRPr>
                <a:solidFill>
                  <a:srgbClr val="2D8FE2"/>
                </a:solidFill>
              </a:defRPr>
            </a:pPr>
            <a:endParaRPr sz="2400"/>
          </a:p>
        </p:txBody>
      </p:sp>
      <p:sp>
        <p:nvSpPr>
          <p:cNvPr id="481" name="Body Level One…"/>
          <p:cNvSpPr txBox="1">
            <a:spLocks noGrp="1"/>
          </p:cNvSpPr>
          <p:nvPr>
            <p:ph type="body" sz="half" idx="1"/>
          </p:nvPr>
        </p:nvSpPr>
        <p:spPr>
          <a:xfrm>
            <a:off x="1071809" y="1665866"/>
            <a:ext cx="10048401" cy="1755201"/>
          </a:xfrm>
          <a:prstGeom prst="rect">
            <a:avLst/>
          </a:prstGeom>
        </p:spPr>
        <p:txBody>
          <a:bodyPr>
            <a:normAutofit/>
          </a:bodyPr>
          <a:lstStyle>
            <a:lvl1pPr marL="457189" indent="-304792">
              <a:buClrTx/>
              <a:buSzTx/>
              <a:buFontTx/>
              <a:buNone/>
              <a:defRPr sz="4800" b="0">
                <a:latin typeface="Roboto Light"/>
                <a:ea typeface="Roboto Light"/>
                <a:cs typeface="Roboto Light"/>
                <a:sym typeface="Roboto Light"/>
              </a:defRPr>
            </a:lvl1pPr>
            <a:lvl2pPr marL="457189" indent="330192">
              <a:buClrTx/>
              <a:buSzTx/>
              <a:buFontTx/>
              <a:buNone/>
              <a:defRPr sz="4800" b="0">
                <a:latin typeface="Roboto Light"/>
                <a:ea typeface="Roboto Light"/>
                <a:cs typeface="Roboto Light"/>
                <a:sym typeface="Roboto Light"/>
              </a:defRPr>
            </a:lvl2pPr>
            <a:lvl3pPr marL="457189" indent="965176">
              <a:buClrTx/>
              <a:buSzTx/>
              <a:buFontTx/>
              <a:buNone/>
              <a:defRPr sz="4800" b="0">
                <a:latin typeface="Roboto Light"/>
                <a:ea typeface="Roboto Light"/>
                <a:cs typeface="Roboto Light"/>
                <a:sym typeface="Roboto Light"/>
              </a:defRPr>
            </a:lvl3pPr>
            <a:lvl4pPr marL="457189" indent="1574761">
              <a:buClrTx/>
              <a:buSzTx/>
              <a:buFontTx/>
              <a:buNone/>
              <a:defRPr sz="4800" b="0">
                <a:latin typeface="Roboto Light"/>
                <a:ea typeface="Roboto Light"/>
                <a:cs typeface="Roboto Light"/>
                <a:sym typeface="Roboto Light"/>
              </a:defRPr>
            </a:lvl4pPr>
            <a:lvl5pPr marL="457189" indent="2184345">
              <a:buClrTx/>
              <a:buSzTx/>
              <a:buFontTx/>
              <a:buNone/>
              <a:defRPr sz="4800" b="0">
                <a:latin typeface="Roboto Light"/>
                <a:ea typeface="Roboto Light"/>
                <a:cs typeface="Roboto Light"/>
                <a:sym typeface="Roboto Light"/>
              </a:defRPr>
            </a:lvl5pPr>
          </a:lstStyle>
          <a:p>
            <a:r>
              <a:t>Body Level One</a:t>
            </a:r>
          </a:p>
          <a:p>
            <a:pPr lvl="1"/>
            <a:r>
              <a:t>Body Level Two</a:t>
            </a:r>
          </a:p>
          <a:p>
            <a:pPr lvl="2"/>
            <a:r>
              <a:t>Body Level Three</a:t>
            </a:r>
          </a:p>
          <a:p>
            <a:pPr lvl="3"/>
            <a:r>
              <a:t>Body Level Four</a:t>
            </a:r>
          </a:p>
          <a:p>
            <a:pPr lvl="4"/>
            <a:r>
              <a:t>Body Level Five</a:t>
            </a:r>
          </a:p>
        </p:txBody>
      </p:sp>
      <p:sp>
        <p:nvSpPr>
          <p:cNvPr id="48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655309926"/>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type="tx">
  <p:cSld name="Image 1">
    <p:spTree>
      <p:nvGrpSpPr>
        <p:cNvPr id="1" name=""/>
        <p:cNvGrpSpPr/>
        <p:nvPr/>
      </p:nvGrpSpPr>
      <p:grpSpPr>
        <a:xfrm>
          <a:off x="0" y="0"/>
          <a:ext cx="0" cy="0"/>
          <a:chOff x="0" y="0"/>
          <a:chExt cx="0" cy="0"/>
        </a:xfrm>
      </p:grpSpPr>
      <p:sp>
        <p:nvSpPr>
          <p:cNvPr id="497" name="Google Shape;406;p52"/>
          <p:cNvSpPr/>
          <p:nvPr/>
        </p:nvSpPr>
        <p:spPr>
          <a:xfrm flipH="1">
            <a:off x="145" y="-2"/>
            <a:ext cx="102801"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498"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sp>
        <p:nvSpPr>
          <p:cNvPr id="499"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500" name="Google Shape;409;p52"/>
          <p:cNvSpPr/>
          <p:nvPr/>
        </p:nvSpPr>
        <p:spPr>
          <a:xfrm>
            <a:off x="6105600" y="1096851"/>
            <a:ext cx="4790801" cy="4803200"/>
          </a:xfrm>
          <a:prstGeom prst="rect">
            <a:avLst/>
          </a:prstGeom>
          <a:solidFill>
            <a:srgbClr val="E3E7F0"/>
          </a:solidFill>
          <a:ln>
            <a:solidFill>
              <a:srgbClr val="F2F0EE"/>
            </a:solidFill>
          </a:ln>
        </p:spPr>
        <p:txBody>
          <a:bodyPr lIns="60959" rIns="60959" anchor="ctr"/>
          <a:lstStyle/>
          <a:p>
            <a:endParaRPr sz="2400"/>
          </a:p>
        </p:txBody>
      </p:sp>
      <p:sp>
        <p:nvSpPr>
          <p:cNvPr id="50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513532657"/>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type="tx">
  <p:cSld name="Image 2">
    <p:spTree>
      <p:nvGrpSpPr>
        <p:cNvPr id="1" name=""/>
        <p:cNvGrpSpPr/>
        <p:nvPr/>
      </p:nvGrpSpPr>
      <p:grpSpPr>
        <a:xfrm>
          <a:off x="0" y="0"/>
          <a:ext cx="0" cy="0"/>
          <a:chOff x="0" y="0"/>
          <a:chExt cx="0" cy="0"/>
        </a:xfrm>
      </p:grpSpPr>
      <p:sp>
        <p:nvSpPr>
          <p:cNvPr id="508" name="Title Text"/>
          <p:cNvSpPr txBox="1">
            <a:spLocks noGrp="1"/>
          </p:cNvSpPr>
          <p:nvPr>
            <p:ph type="title"/>
          </p:nvPr>
        </p:nvSpPr>
        <p:spPr>
          <a:xfrm>
            <a:off x="7879934" y="1024134"/>
            <a:ext cx="3829201" cy="1274001"/>
          </a:xfrm>
          <a:prstGeom prst="rect">
            <a:avLst/>
          </a:prstGeom>
        </p:spPr>
        <p:txBody>
          <a:bodyPr anchor="t"/>
          <a:lstStyle>
            <a:lvl1pPr>
              <a:defRPr sz="3200"/>
            </a:lvl1pPr>
          </a:lstStyle>
          <a:p>
            <a:r>
              <a:t>Title Text</a:t>
            </a:r>
          </a:p>
        </p:txBody>
      </p:sp>
      <p:sp>
        <p:nvSpPr>
          <p:cNvPr id="509" name="Body Level One…"/>
          <p:cNvSpPr txBox="1">
            <a:spLocks noGrp="1"/>
          </p:cNvSpPr>
          <p:nvPr>
            <p:ph type="body" sz="quarter" idx="1"/>
          </p:nvPr>
        </p:nvSpPr>
        <p:spPr>
          <a:xfrm>
            <a:off x="7879934" y="3598665"/>
            <a:ext cx="3829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510" name="Google Shape;416;p53"/>
          <p:cNvSpPr/>
          <p:nvPr/>
        </p:nvSpPr>
        <p:spPr>
          <a:xfrm>
            <a:off x="-1" y="0"/>
            <a:ext cx="7328803" cy="6858000"/>
          </a:xfrm>
          <a:prstGeom prst="rect">
            <a:avLst/>
          </a:prstGeom>
          <a:solidFill>
            <a:srgbClr val="E3E7F0"/>
          </a:solidFill>
          <a:ln>
            <a:solidFill>
              <a:srgbClr val="F2F0EE"/>
            </a:solidFill>
          </a:ln>
        </p:spPr>
        <p:txBody>
          <a:bodyPr lIns="60959" rIns="60959" anchor="ctr"/>
          <a:lstStyle/>
          <a:p>
            <a:endParaRPr sz="2400"/>
          </a:p>
        </p:txBody>
      </p:sp>
      <p:sp>
        <p:nvSpPr>
          <p:cNvPr id="5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544417924"/>
      </p:ext>
    </p:extLst>
  </p:cSld>
  <p:clrMapOvr>
    <a:masterClrMapping/>
  </p:clrMapOvr>
  <p:transition spd="med"/>
</p:sldLayout>
</file>

<file path=ppt/slideLayouts/slideLayout88.xml><?xml version="1.0" encoding="utf-8"?>
<p:sldLayout xmlns:a="http://schemas.openxmlformats.org/drawingml/2006/main" xmlns:r="http://schemas.openxmlformats.org/officeDocument/2006/relationships" xmlns:p="http://schemas.openxmlformats.org/presentationml/2006/main" type="tx">
  <p:cSld name="Image 3">
    <p:spTree>
      <p:nvGrpSpPr>
        <p:cNvPr id="1" name=""/>
        <p:cNvGrpSpPr/>
        <p:nvPr/>
      </p:nvGrpSpPr>
      <p:grpSpPr>
        <a:xfrm>
          <a:off x="0" y="0"/>
          <a:ext cx="0" cy="0"/>
          <a:chOff x="0" y="0"/>
          <a:chExt cx="0" cy="0"/>
        </a:xfrm>
      </p:grpSpPr>
      <p:sp>
        <p:nvSpPr>
          <p:cNvPr id="518"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sp>
        <p:nvSpPr>
          <p:cNvPr id="519"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520" name="Google Shape;423;p54"/>
          <p:cNvSpPr/>
          <p:nvPr/>
        </p:nvSpPr>
        <p:spPr>
          <a:xfrm>
            <a:off x="4891375" y="0"/>
            <a:ext cx="7328801" cy="6858000"/>
          </a:xfrm>
          <a:prstGeom prst="rect">
            <a:avLst/>
          </a:prstGeom>
          <a:solidFill>
            <a:srgbClr val="E3E7F0"/>
          </a:solidFill>
          <a:ln>
            <a:solidFill>
              <a:srgbClr val="F2F0EE"/>
            </a:solidFill>
          </a:ln>
        </p:spPr>
        <p:txBody>
          <a:bodyPr lIns="60959" rIns="60959" anchor="ctr"/>
          <a:lstStyle/>
          <a:p>
            <a:endParaRPr sz="2400"/>
          </a:p>
        </p:txBody>
      </p:sp>
      <p:sp>
        <p:nvSpPr>
          <p:cNvPr id="5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762200484"/>
      </p:ext>
    </p:extLst>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type="tx">
  <p:cSld name="Blue Bar-Left">
    <p:spTree>
      <p:nvGrpSpPr>
        <p:cNvPr id="1" name=""/>
        <p:cNvGrpSpPr/>
        <p:nvPr/>
      </p:nvGrpSpPr>
      <p:grpSpPr>
        <a:xfrm>
          <a:off x="0" y="0"/>
          <a:ext cx="0" cy="0"/>
          <a:chOff x="0" y="0"/>
          <a:chExt cx="0" cy="0"/>
        </a:xfrm>
      </p:grpSpPr>
      <p:sp>
        <p:nvSpPr>
          <p:cNvPr id="535" name="Google Shape;429;p56"/>
          <p:cNvSpPr/>
          <p:nvPr/>
        </p:nvSpPr>
        <p:spPr>
          <a:xfrm flipH="1">
            <a:off x="-172" y="-2"/>
            <a:ext cx="5007600"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53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586141514"/>
      </p:ext>
    </p:extLst>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type="tx">
  <p:cSld name="Grey Bar-Left">
    <p:spTree>
      <p:nvGrpSpPr>
        <p:cNvPr id="1" name=""/>
        <p:cNvGrpSpPr/>
        <p:nvPr/>
      </p:nvGrpSpPr>
      <p:grpSpPr>
        <a:xfrm>
          <a:off x="0" y="0"/>
          <a:ext cx="0" cy="0"/>
          <a:chOff x="0" y="0"/>
          <a:chExt cx="0" cy="0"/>
        </a:xfrm>
      </p:grpSpPr>
      <p:sp>
        <p:nvSpPr>
          <p:cNvPr id="543" name="Google Shape;434;p57"/>
          <p:cNvSpPr/>
          <p:nvPr/>
        </p:nvSpPr>
        <p:spPr>
          <a:xfrm flipH="1">
            <a:off x="-172" y="-2"/>
            <a:ext cx="5007600" cy="6858001"/>
          </a:xfrm>
          <a:prstGeom prst="rect">
            <a:avLst/>
          </a:prstGeom>
          <a:solidFill>
            <a:srgbClr val="53718F"/>
          </a:solidFill>
          <a:ln w="12700">
            <a:miter lim="400000"/>
          </a:ln>
        </p:spPr>
        <p:txBody>
          <a:bodyPr lIns="60959" rIns="60959" anchor="ctr"/>
          <a:lstStyle/>
          <a:p>
            <a:pPr algn="ctr">
              <a:defRPr>
                <a:solidFill>
                  <a:srgbClr val="FFFFFF"/>
                </a:solidFill>
              </a:defRPr>
            </a:pPr>
            <a:endParaRPr sz="2400"/>
          </a:p>
        </p:txBody>
      </p:sp>
      <p:sp>
        <p:nvSpPr>
          <p:cNvPr id="5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430119927"/>
      </p:ext>
    </p:extLst>
  </p:cSld>
  <p:clrMapOvr>
    <a:masterClrMapping/>
  </p:clrMapOvr>
  <p:transition spd="med"/>
</p:sldLayout>
</file>

<file path=ppt/slideLayouts/slideLayout91.xml><?xml version="1.0" encoding="utf-8"?>
<p:sldLayout xmlns:a="http://schemas.openxmlformats.org/drawingml/2006/main" xmlns:r="http://schemas.openxmlformats.org/officeDocument/2006/relationships" xmlns:p="http://schemas.openxmlformats.org/presentationml/2006/main" type="tx">
  <p:cSld name="Black Bar-Left">
    <p:spTree>
      <p:nvGrpSpPr>
        <p:cNvPr id="1" name=""/>
        <p:cNvGrpSpPr/>
        <p:nvPr/>
      </p:nvGrpSpPr>
      <p:grpSpPr>
        <a:xfrm>
          <a:off x="0" y="0"/>
          <a:ext cx="0" cy="0"/>
          <a:chOff x="0" y="0"/>
          <a:chExt cx="0" cy="0"/>
        </a:xfrm>
      </p:grpSpPr>
      <p:sp>
        <p:nvSpPr>
          <p:cNvPr id="551" name="Google Shape;439;p58"/>
          <p:cNvSpPr/>
          <p:nvPr/>
        </p:nvSpPr>
        <p:spPr>
          <a:xfrm flipH="1">
            <a:off x="-172" y="-2"/>
            <a:ext cx="5007600" cy="6858001"/>
          </a:xfrm>
          <a:prstGeom prst="rect">
            <a:avLst/>
          </a:prstGeom>
          <a:solidFill>
            <a:srgbClr val="FFFFFF"/>
          </a:solidFill>
          <a:ln w="12700">
            <a:miter lim="400000"/>
          </a:ln>
        </p:spPr>
        <p:txBody>
          <a:bodyPr lIns="60959" rIns="60959" anchor="ctr"/>
          <a:lstStyle/>
          <a:p>
            <a:pPr algn="ctr">
              <a:defRPr>
                <a:solidFill>
                  <a:srgbClr val="FFFFFF"/>
                </a:solidFill>
              </a:defRPr>
            </a:pPr>
            <a:endParaRPr sz="2400"/>
          </a:p>
        </p:txBody>
      </p:sp>
      <p:sp>
        <p:nvSpPr>
          <p:cNvPr id="55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963129622"/>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type="tx">
  <p:cSld name="White Bar-Left">
    <p:spTree>
      <p:nvGrpSpPr>
        <p:cNvPr id="1" name=""/>
        <p:cNvGrpSpPr/>
        <p:nvPr/>
      </p:nvGrpSpPr>
      <p:grpSpPr>
        <a:xfrm>
          <a:off x="0" y="0"/>
          <a:ext cx="0" cy="0"/>
          <a:chOff x="0" y="0"/>
          <a:chExt cx="0" cy="0"/>
        </a:xfrm>
      </p:grpSpPr>
      <p:sp>
        <p:nvSpPr>
          <p:cNvPr id="559" name="Google Shape;444;p59"/>
          <p:cNvSpPr/>
          <p:nvPr/>
        </p:nvSpPr>
        <p:spPr>
          <a:xfrm flipH="1">
            <a:off x="5007599" y="0"/>
            <a:ext cx="7184403" cy="6858000"/>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56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373510574"/>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type="tx">
  <p:cSld name="White Line-Left">
    <p:spTree>
      <p:nvGrpSpPr>
        <p:cNvPr id="1" name=""/>
        <p:cNvGrpSpPr/>
        <p:nvPr/>
      </p:nvGrpSpPr>
      <p:grpSpPr>
        <a:xfrm>
          <a:off x="0" y="0"/>
          <a:ext cx="0" cy="0"/>
          <a:chOff x="0" y="0"/>
          <a:chExt cx="0" cy="0"/>
        </a:xfrm>
      </p:grpSpPr>
      <p:sp>
        <p:nvSpPr>
          <p:cNvPr id="567" name="Google Shape;449;p60"/>
          <p:cNvSpPr/>
          <p:nvPr/>
        </p:nvSpPr>
        <p:spPr>
          <a:xfrm flipH="1">
            <a:off x="5007429" y="1"/>
            <a:ext cx="1" cy="6858001"/>
          </a:xfrm>
          <a:prstGeom prst="line">
            <a:avLst/>
          </a:prstGeom>
          <a:ln w="12700">
            <a:solidFill>
              <a:srgbClr val="7F8FA4"/>
            </a:solidFill>
            <a:miter/>
          </a:ln>
        </p:spPr>
        <p:txBody>
          <a:bodyPr lIns="60959" rIns="60959"/>
          <a:lstStyle/>
          <a:p>
            <a:endParaRPr sz="2400"/>
          </a:p>
        </p:txBody>
      </p:sp>
      <p:sp>
        <p:nvSpPr>
          <p:cNvPr id="568" name="Title Text"/>
          <p:cNvSpPr txBox="1">
            <a:spLocks noGrp="1"/>
          </p:cNvSpPr>
          <p:nvPr>
            <p:ph type="title"/>
          </p:nvPr>
        </p:nvSpPr>
        <p:spPr>
          <a:xfrm>
            <a:off x="426720" y="1024127"/>
            <a:ext cx="3802400" cy="1274003"/>
          </a:xfrm>
          <a:prstGeom prst="rect">
            <a:avLst/>
          </a:prstGeom>
        </p:spPr>
        <p:txBody>
          <a:bodyPr anchor="t"/>
          <a:lstStyle>
            <a:lvl1pPr>
              <a:defRPr sz="3200"/>
            </a:lvl1pPr>
          </a:lstStyle>
          <a:p>
            <a:r>
              <a:t>Title Text</a:t>
            </a:r>
          </a:p>
        </p:txBody>
      </p:sp>
      <p:sp>
        <p:nvSpPr>
          <p:cNvPr id="569"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57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454277140"/>
      </p:ext>
    </p:extLst>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type="tx">
  <p:cSld name="TITLE">
    <p:spTree>
      <p:nvGrpSpPr>
        <p:cNvPr id="1" name=""/>
        <p:cNvGrpSpPr/>
        <p:nvPr/>
      </p:nvGrpSpPr>
      <p:grpSpPr>
        <a:xfrm>
          <a:off x="0" y="0"/>
          <a:ext cx="0" cy="0"/>
          <a:chOff x="0" y="0"/>
          <a:chExt cx="0" cy="0"/>
        </a:xfrm>
      </p:grpSpPr>
      <p:sp>
        <p:nvSpPr>
          <p:cNvPr id="577" name="Title Text"/>
          <p:cNvSpPr txBox="1">
            <a:spLocks noGrp="1"/>
          </p:cNvSpPr>
          <p:nvPr>
            <p:ph type="title"/>
          </p:nvPr>
        </p:nvSpPr>
        <p:spPr>
          <a:xfrm>
            <a:off x="415611" y="992766"/>
            <a:ext cx="11360801" cy="2736801"/>
          </a:xfrm>
          <a:prstGeom prst="rect">
            <a:avLst/>
          </a:prstGeom>
        </p:spPr>
        <p:txBody>
          <a:bodyPr/>
          <a:lstStyle>
            <a:lvl1pPr algn="ctr">
              <a:defRPr sz="6933"/>
            </a:lvl1pPr>
          </a:lstStyle>
          <a:p>
            <a:r>
              <a:t>Title Text</a:t>
            </a:r>
          </a:p>
        </p:txBody>
      </p:sp>
      <p:sp>
        <p:nvSpPr>
          <p:cNvPr id="578" name="Body Level One…"/>
          <p:cNvSpPr txBox="1">
            <a:spLocks noGrp="1"/>
          </p:cNvSpPr>
          <p:nvPr>
            <p:ph type="body" sz="quarter" idx="1"/>
          </p:nvPr>
        </p:nvSpPr>
        <p:spPr>
          <a:xfrm>
            <a:off x="415599" y="3778834"/>
            <a:ext cx="11360803" cy="1056801"/>
          </a:xfrm>
          <a:prstGeom prst="rect">
            <a:avLst/>
          </a:prstGeom>
        </p:spPr>
        <p:txBody>
          <a:bodyPr>
            <a:normAutofit/>
          </a:bodyPr>
          <a:lstStyle>
            <a:lvl1pPr marL="457189" indent="-304792" algn="ctr">
              <a:lnSpc>
                <a:spcPct val="100000"/>
              </a:lnSpc>
              <a:buClrTx/>
              <a:buSzTx/>
              <a:buFontTx/>
              <a:buNone/>
              <a:defRPr sz="3733" b="0">
                <a:solidFill>
                  <a:srgbClr val="2D8FE2"/>
                </a:solidFill>
              </a:defRPr>
            </a:lvl1pPr>
            <a:lvl2pPr marL="457189" indent="330192" algn="ctr">
              <a:lnSpc>
                <a:spcPct val="100000"/>
              </a:lnSpc>
              <a:buClrTx/>
              <a:buSzTx/>
              <a:buFontTx/>
              <a:buNone/>
              <a:defRPr sz="3733" b="0">
                <a:solidFill>
                  <a:srgbClr val="2D8FE2"/>
                </a:solidFill>
              </a:defRPr>
            </a:lvl2pPr>
            <a:lvl3pPr marL="457189" indent="965176" algn="ctr">
              <a:lnSpc>
                <a:spcPct val="100000"/>
              </a:lnSpc>
              <a:buClrTx/>
              <a:buSzTx/>
              <a:buFontTx/>
              <a:buNone/>
              <a:defRPr sz="3733" b="0">
                <a:solidFill>
                  <a:srgbClr val="2D8FE2"/>
                </a:solidFill>
              </a:defRPr>
            </a:lvl3pPr>
            <a:lvl4pPr marL="457189" indent="1574761" algn="ctr">
              <a:lnSpc>
                <a:spcPct val="100000"/>
              </a:lnSpc>
              <a:buClrTx/>
              <a:buSzTx/>
              <a:buFontTx/>
              <a:buNone/>
              <a:defRPr sz="3733" b="0">
                <a:solidFill>
                  <a:srgbClr val="2D8FE2"/>
                </a:solidFill>
              </a:defRPr>
            </a:lvl4pPr>
            <a:lvl5pPr marL="457189" indent="2184345" algn="ctr">
              <a:lnSpc>
                <a:spcPct val="100000"/>
              </a:lnSpc>
              <a:buClrTx/>
              <a:buSzTx/>
              <a:buFontTx/>
              <a:buNone/>
              <a:defRPr sz="3733" b="0">
                <a:solidFill>
                  <a:srgbClr val="2D8FE2"/>
                </a:solidFill>
              </a:defRPr>
            </a:lvl5pPr>
          </a:lstStyle>
          <a:p>
            <a:r>
              <a:t>Body Level One</a:t>
            </a:r>
          </a:p>
          <a:p>
            <a:pPr lvl="1"/>
            <a:r>
              <a:t>Body Level Two</a:t>
            </a:r>
          </a:p>
          <a:p>
            <a:pPr lvl="2"/>
            <a:r>
              <a:t>Body Level Three</a:t>
            </a:r>
          </a:p>
          <a:p>
            <a:pPr lvl="3"/>
            <a:r>
              <a:t>Body Level Four</a:t>
            </a:r>
          </a:p>
          <a:p>
            <a:pPr lvl="4"/>
            <a:r>
              <a:t>Body Level Five</a:t>
            </a:r>
          </a:p>
        </p:txBody>
      </p:sp>
      <p:sp>
        <p:nvSpPr>
          <p:cNvPr id="579" name="Google Shape;458;p61"/>
          <p:cNvSpPr/>
          <p:nvPr/>
        </p:nvSpPr>
        <p:spPr>
          <a:xfrm>
            <a:off x="8733" y="6482334"/>
            <a:ext cx="3852800" cy="375601"/>
          </a:xfrm>
          <a:prstGeom prst="rect">
            <a:avLst/>
          </a:prstGeom>
          <a:solidFill>
            <a:srgbClr val="0A0A0C"/>
          </a:solidFill>
          <a:ln w="12700">
            <a:miter lim="400000"/>
          </a:ln>
        </p:spPr>
        <p:txBody>
          <a:bodyPr lIns="60959" rIns="60959" anchor="ctr"/>
          <a:lstStyle/>
          <a:p>
            <a:endParaRPr sz="2400"/>
          </a:p>
        </p:txBody>
      </p:sp>
      <p:sp>
        <p:nvSpPr>
          <p:cNvPr id="5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354826332"/>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slideLayout" Target="../slideLayouts/slideLayout40.xml"/><Relationship Id="rId3" Type="http://schemas.openxmlformats.org/officeDocument/2006/relationships/slideLayout" Target="../slideLayouts/slideLayout17.xml"/><Relationship Id="rId21" Type="http://schemas.openxmlformats.org/officeDocument/2006/relationships/slideLayout" Target="../slideLayouts/slideLayout35.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image" Target="../media/image1.png"/><Relationship Id="rId10" Type="http://schemas.openxmlformats.org/officeDocument/2006/relationships/slideLayout" Target="../slideLayouts/slideLayout24.xml"/><Relationship Id="rId19" Type="http://schemas.openxmlformats.org/officeDocument/2006/relationships/slideLayout" Target="../slideLayouts/slideLayout33.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53.xml"/><Relationship Id="rId18" Type="http://schemas.openxmlformats.org/officeDocument/2006/relationships/slideLayout" Target="../slideLayouts/slideLayout58.xml"/><Relationship Id="rId26" Type="http://schemas.openxmlformats.org/officeDocument/2006/relationships/slideLayout" Target="../slideLayouts/slideLayout66.xml"/><Relationship Id="rId39" Type="http://schemas.openxmlformats.org/officeDocument/2006/relationships/slideLayout" Target="../slideLayouts/slideLayout79.xml"/><Relationship Id="rId21" Type="http://schemas.openxmlformats.org/officeDocument/2006/relationships/slideLayout" Target="../slideLayouts/slideLayout61.xml"/><Relationship Id="rId34" Type="http://schemas.openxmlformats.org/officeDocument/2006/relationships/slideLayout" Target="../slideLayouts/slideLayout74.xml"/><Relationship Id="rId42" Type="http://schemas.openxmlformats.org/officeDocument/2006/relationships/slideLayout" Target="../slideLayouts/slideLayout82.xml"/><Relationship Id="rId47" Type="http://schemas.openxmlformats.org/officeDocument/2006/relationships/slideLayout" Target="../slideLayouts/slideLayout87.xml"/><Relationship Id="rId50" Type="http://schemas.openxmlformats.org/officeDocument/2006/relationships/slideLayout" Target="../slideLayouts/slideLayout90.xml"/><Relationship Id="rId55" Type="http://schemas.openxmlformats.org/officeDocument/2006/relationships/theme" Target="../theme/theme4.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9" Type="http://schemas.openxmlformats.org/officeDocument/2006/relationships/slideLayout" Target="../slideLayouts/slideLayout69.xml"/><Relationship Id="rId11" Type="http://schemas.openxmlformats.org/officeDocument/2006/relationships/slideLayout" Target="../slideLayouts/slideLayout51.xml"/><Relationship Id="rId24" Type="http://schemas.openxmlformats.org/officeDocument/2006/relationships/slideLayout" Target="../slideLayouts/slideLayout64.xml"/><Relationship Id="rId32" Type="http://schemas.openxmlformats.org/officeDocument/2006/relationships/slideLayout" Target="../slideLayouts/slideLayout72.xml"/><Relationship Id="rId37" Type="http://schemas.openxmlformats.org/officeDocument/2006/relationships/slideLayout" Target="../slideLayouts/slideLayout77.xml"/><Relationship Id="rId40" Type="http://schemas.openxmlformats.org/officeDocument/2006/relationships/slideLayout" Target="../slideLayouts/slideLayout80.xml"/><Relationship Id="rId45" Type="http://schemas.openxmlformats.org/officeDocument/2006/relationships/slideLayout" Target="../slideLayouts/slideLayout85.xml"/><Relationship Id="rId53" Type="http://schemas.openxmlformats.org/officeDocument/2006/relationships/slideLayout" Target="../slideLayouts/slideLayout93.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31" Type="http://schemas.openxmlformats.org/officeDocument/2006/relationships/slideLayout" Target="../slideLayouts/slideLayout71.xml"/><Relationship Id="rId44" Type="http://schemas.openxmlformats.org/officeDocument/2006/relationships/slideLayout" Target="../slideLayouts/slideLayout84.xml"/><Relationship Id="rId52" Type="http://schemas.openxmlformats.org/officeDocument/2006/relationships/slideLayout" Target="../slideLayouts/slideLayout92.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 Id="rId22" Type="http://schemas.openxmlformats.org/officeDocument/2006/relationships/slideLayout" Target="../slideLayouts/slideLayout62.xml"/><Relationship Id="rId27" Type="http://schemas.openxmlformats.org/officeDocument/2006/relationships/slideLayout" Target="../slideLayouts/slideLayout67.xml"/><Relationship Id="rId30" Type="http://schemas.openxmlformats.org/officeDocument/2006/relationships/slideLayout" Target="../slideLayouts/slideLayout70.xml"/><Relationship Id="rId35" Type="http://schemas.openxmlformats.org/officeDocument/2006/relationships/slideLayout" Target="../slideLayouts/slideLayout75.xml"/><Relationship Id="rId43" Type="http://schemas.openxmlformats.org/officeDocument/2006/relationships/slideLayout" Target="../slideLayouts/slideLayout83.xml"/><Relationship Id="rId48" Type="http://schemas.openxmlformats.org/officeDocument/2006/relationships/slideLayout" Target="../slideLayouts/slideLayout88.xml"/><Relationship Id="rId8" Type="http://schemas.openxmlformats.org/officeDocument/2006/relationships/slideLayout" Target="../slideLayouts/slideLayout48.xml"/><Relationship Id="rId51" Type="http://schemas.openxmlformats.org/officeDocument/2006/relationships/slideLayout" Target="../slideLayouts/slideLayout91.xml"/><Relationship Id="rId3" Type="http://schemas.openxmlformats.org/officeDocument/2006/relationships/slideLayout" Target="../slideLayouts/slideLayout43.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5" Type="http://schemas.openxmlformats.org/officeDocument/2006/relationships/slideLayout" Target="../slideLayouts/slideLayout65.xml"/><Relationship Id="rId33" Type="http://schemas.openxmlformats.org/officeDocument/2006/relationships/slideLayout" Target="../slideLayouts/slideLayout73.xml"/><Relationship Id="rId38" Type="http://schemas.openxmlformats.org/officeDocument/2006/relationships/slideLayout" Target="../slideLayouts/slideLayout78.xml"/><Relationship Id="rId46" Type="http://schemas.openxmlformats.org/officeDocument/2006/relationships/slideLayout" Target="../slideLayouts/slideLayout86.xml"/><Relationship Id="rId20" Type="http://schemas.openxmlformats.org/officeDocument/2006/relationships/slideLayout" Target="../slideLayouts/slideLayout60.xml"/><Relationship Id="rId41" Type="http://schemas.openxmlformats.org/officeDocument/2006/relationships/slideLayout" Target="../slideLayouts/slideLayout81.xml"/><Relationship Id="rId54" Type="http://schemas.openxmlformats.org/officeDocument/2006/relationships/slideLayout" Target="../slideLayouts/slideLayout94.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5" Type="http://schemas.openxmlformats.org/officeDocument/2006/relationships/slideLayout" Target="../slideLayouts/slideLayout55.xml"/><Relationship Id="rId23" Type="http://schemas.openxmlformats.org/officeDocument/2006/relationships/slideLayout" Target="../slideLayouts/slideLayout63.xml"/><Relationship Id="rId28" Type="http://schemas.openxmlformats.org/officeDocument/2006/relationships/slideLayout" Target="../slideLayouts/slideLayout68.xml"/><Relationship Id="rId36" Type="http://schemas.openxmlformats.org/officeDocument/2006/relationships/slideLayout" Target="../slideLayouts/slideLayout76.xml"/><Relationship Id="rId49" Type="http://schemas.openxmlformats.org/officeDocument/2006/relationships/slideLayout" Target="../slideLayouts/slideLayout8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745"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D69ADB-A529-0005-E22E-897E078171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964A7E-7DB7-5720-BE8B-C16AC77A00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CEBDD0-E0C2-B4AB-5AF5-120DE2C318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D5B151E-BA0B-1545-BCB0-E6DC0FCDF45A}" type="datetimeFigureOut">
              <a:rPr lang="en-US" smtClean="0"/>
              <a:t>7/17/26</a:t>
            </a:fld>
            <a:endParaRPr lang="en-US"/>
          </a:p>
        </p:txBody>
      </p:sp>
      <p:sp>
        <p:nvSpPr>
          <p:cNvPr id="5" name="Footer Placeholder 4">
            <a:extLst>
              <a:ext uri="{FF2B5EF4-FFF2-40B4-BE49-F238E27FC236}">
                <a16:creationId xmlns:a16="http://schemas.microsoft.com/office/drawing/2014/main" id="{0329C0E5-E8F9-40F3-9087-52879579E6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812504F-9C2E-EB01-D4E6-BD11EDA760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D57AE7-AC4C-0D48-80BC-0F2EE5480964}" type="slidenum">
              <a:rPr lang="en-US" smtClean="0"/>
              <a:t>‹#›</a:t>
            </a:fld>
            <a:endParaRPr lang="en-US"/>
          </a:p>
        </p:txBody>
      </p:sp>
    </p:spTree>
    <p:extLst>
      <p:ext uri="{BB962C8B-B14F-4D97-AF65-F5344CB8AC3E}">
        <p14:creationId xmlns:p14="http://schemas.microsoft.com/office/powerpoint/2010/main" val="184389883"/>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8">
            <a:extLst>
              <a:ext uri="{28A0092B-C50C-407E-A947-70E740481C1C}">
                <a14:useLocalDpi xmlns:a14="http://schemas.microsoft.com/office/drawing/2010/main"/>
              </a:ext>
            </a:extLst>
          </a:blip>
          <a:stretch>
            <a:fillRect/>
          </a:stretch>
        </p:blipFill>
        <p:spPr>
          <a:xfrm>
            <a:off x="10403079" y="6451744"/>
            <a:ext cx="1438656" cy="187024"/>
          </a:xfrm>
          <a:prstGeom prst="rect">
            <a:avLst/>
          </a:prstGeom>
        </p:spPr>
      </p:pic>
      <p:sp>
        <p:nvSpPr>
          <p:cNvPr id="7" name="fl" descr="                              &#10;"/>
          <p:cNvSpPr txBox="1"/>
          <p:nvPr/>
        </p:nvSpPr>
        <p:spPr>
          <a:xfrm>
            <a:off x="5381061" y="6701002"/>
            <a:ext cx="1429879" cy="83100"/>
          </a:xfrm>
          <a:prstGeom prst="rect">
            <a:avLst/>
          </a:prstGeom>
          <a:noFill/>
        </p:spPr>
        <p:txBody>
          <a:bodyPr vert="horz" wrap="none" lIns="0" tIns="0" rIns="0" bIns="0" rtlCol="0" anchor="ctr" anchorCtr="0">
            <a:spAutoFit/>
          </a:bodyPr>
          <a:lstStyle/>
          <a:p>
            <a:pPr marL="0" marR="0" indent="0" algn="ctr" defTabSz="1219170" rtl="0" eaLnBrk="1" fontAlgn="base" latinLnBrk="0" hangingPunct="1">
              <a:lnSpc>
                <a:spcPct val="90000"/>
              </a:lnSpc>
              <a:spcBef>
                <a:spcPts val="133"/>
              </a:spcBef>
              <a:spcAft>
                <a:spcPts val="133"/>
              </a:spcAft>
              <a:buClrTx/>
              <a:buSzTx/>
              <a:buFontTx/>
              <a:buNone/>
              <a:tabLst/>
              <a:defRPr/>
            </a:pPr>
            <a:endParaRPr/>
          </a:p>
        </p:txBody>
      </p:sp>
      <p:sp>
        <p:nvSpPr>
          <p:cNvPr id="6" name="TextBox 19"/>
          <p:cNvSpPr txBox="1"/>
          <p:nvPr/>
        </p:nvSpPr>
        <p:spPr>
          <a:xfrm>
            <a:off x="5120251" y="6702028"/>
            <a:ext cx="94577" cy="83100"/>
          </a:xfrm>
          <a:prstGeom prst="rect">
            <a:avLst/>
          </a:prstGeom>
        </p:spPr>
        <p:txBody>
          <a:bodyPr vert="horz" wrap="none" lIns="0" tIns="0" rIns="0" bIns="0" rtlCol="0" anchor="ctr" anchorCtr="0">
            <a:spAutoFit/>
          </a:bodyPr>
          <a:ls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a:lstStyle>
          <a:p>
            <a:pPr algn="r" rtl="0" fontAlgn="base">
              <a:lnSpc>
                <a:spcPct val="90000"/>
              </a:lnSpc>
              <a:spcBef>
                <a:spcPct val="0"/>
              </a:spcBef>
              <a:spcAft>
                <a:spcPct val="0"/>
              </a:spcAft>
              <a:buClr>
                <a:schemeClr val="bg1"/>
              </a:buClr>
            </a:pPr>
            <a:fld id="{58EC7406-F4CC-4ABF-902E-2AF4E70E5C0F}" type="slidenum">
              <a:rPr lang="en-US" sz="600" b="0" kern="1200" smtClean="0">
                <a:solidFill>
                  <a:srgbClr val="808080"/>
                </a:solidFill>
                <a:latin typeface="Arial" panose="020B0604020202020204" pitchFamily="34" charset="0"/>
                <a:ea typeface="+mn-ea"/>
                <a:cs typeface="+mn-cs"/>
              </a:rPr>
              <a:pPr algn="r" rtl="0" fontAlgn="base">
                <a:lnSpc>
                  <a:spcPct val="90000"/>
                </a:lnSpc>
                <a:spcBef>
                  <a:spcPct val="0"/>
                </a:spcBef>
                <a:spcAft>
                  <a:spcPct val="0"/>
                </a:spcAft>
                <a:buClr>
                  <a:schemeClr val="bg1"/>
                </a:buClr>
              </a:pPr>
              <a:t>‹#›</a:t>
            </a:fld>
            <a:endParaRPr lang="en-US" sz="600" b="0" kern="1200" err="1">
              <a:solidFill>
                <a:srgbClr val="808080"/>
              </a:solidFill>
              <a:latin typeface="Arial" panose="020B0604020202020204" pitchFamily="34" charset="0"/>
              <a:ea typeface="+mn-ea"/>
              <a:cs typeface="+mn-cs"/>
            </a:endParaRPr>
          </a:p>
        </p:txBody>
      </p:sp>
    </p:spTree>
    <p:extLst>
      <p:ext uri="{BB962C8B-B14F-4D97-AF65-F5344CB8AC3E}">
        <p14:creationId xmlns:p14="http://schemas.microsoft.com/office/powerpoint/2010/main" val="1040198081"/>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 id="2147483685" r:id="rId22"/>
    <p:sldLayoutId id="2147483686" r:id="rId23"/>
    <p:sldLayoutId id="2147483687" r:id="rId24"/>
    <p:sldLayoutId id="2147483688" r:id="rId25"/>
    <p:sldLayoutId id="2147483689" r:id="rId26"/>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pos="240">
          <p15:clr>
            <a:srgbClr val="F26B43"/>
          </p15:clr>
        </p15:guide>
        <p15:guide id="4" pos="74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A0A0C"/>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256574" y="4279392"/>
            <a:ext cx="10893201" cy="1605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75" tIns="34275" rIns="34275" bIns="34275" anchor="b">
            <a:normAutofit/>
          </a:bodyPr>
          <a:lstStyle/>
          <a:p>
            <a:r>
              <a:t>Title Text</a:t>
            </a:r>
          </a:p>
        </p:txBody>
      </p:sp>
      <p:sp>
        <p:nvSpPr>
          <p:cNvPr id="3" name="Body Level One…"/>
          <p:cNvSpPr txBox="1">
            <a:spLocks noGrp="1"/>
          </p:cNvSpPr>
          <p:nvPr>
            <p:ph type="body" idx="1"/>
          </p:nvPr>
        </p:nvSpPr>
        <p:spPr>
          <a:xfrm>
            <a:off x="609600" y="1600200"/>
            <a:ext cx="10972800" cy="4525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75" tIns="34275" rIns="34275" bIns="34275"/>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384652" y="6356350"/>
            <a:ext cx="352948" cy="348846"/>
          </a:xfrm>
          <a:prstGeom prst="rect">
            <a:avLst/>
          </a:prstGeom>
          <a:ln w="12700">
            <a:miter lim="400000"/>
          </a:ln>
        </p:spPr>
        <p:txBody>
          <a:bodyPr wrap="none" lIns="91424" tIns="91424" rIns="91424" bIns="91424">
            <a:spAutoFit/>
          </a:bodyPr>
          <a:lstStyle>
            <a:lvl1pPr algn="r">
              <a:defRPr sz="1067">
                <a:solidFill>
                  <a:srgbClr val="A5A5A5"/>
                </a:solidFill>
                <a:latin typeface="Roboto"/>
                <a:ea typeface="Roboto"/>
                <a:cs typeface="Roboto"/>
                <a:sym typeface="Roboto"/>
              </a:defRPr>
            </a:lvl1pPr>
          </a:lstStyle>
          <a:p>
            <a:fld id="{86CB4B4D-7CA3-9044-876B-883B54F8677D}" type="slidenum">
              <a:t>‹#›</a:t>
            </a:fld>
            <a:endParaRPr/>
          </a:p>
        </p:txBody>
      </p:sp>
    </p:spTree>
    <p:extLst>
      <p:ext uri="{BB962C8B-B14F-4D97-AF65-F5344CB8AC3E}">
        <p14:creationId xmlns:p14="http://schemas.microsoft.com/office/powerpoint/2010/main" val="117923789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 id="2147483710" r:id="rId20"/>
    <p:sldLayoutId id="2147483711" r:id="rId21"/>
    <p:sldLayoutId id="2147483712" r:id="rId22"/>
    <p:sldLayoutId id="2147483713" r:id="rId23"/>
    <p:sldLayoutId id="2147483714" r:id="rId24"/>
    <p:sldLayoutId id="2147483715" r:id="rId25"/>
    <p:sldLayoutId id="2147483716" r:id="rId26"/>
    <p:sldLayoutId id="2147483717" r:id="rId27"/>
    <p:sldLayoutId id="2147483718" r:id="rId28"/>
    <p:sldLayoutId id="2147483719" r:id="rId29"/>
    <p:sldLayoutId id="2147483720" r:id="rId30"/>
    <p:sldLayoutId id="2147483721" r:id="rId31"/>
    <p:sldLayoutId id="2147483722" r:id="rId32"/>
    <p:sldLayoutId id="2147483723" r:id="rId33"/>
    <p:sldLayoutId id="2147483724" r:id="rId34"/>
    <p:sldLayoutId id="2147483725" r:id="rId35"/>
    <p:sldLayoutId id="2147483726" r:id="rId36"/>
    <p:sldLayoutId id="2147483727" r:id="rId37"/>
    <p:sldLayoutId id="2147483728" r:id="rId38"/>
    <p:sldLayoutId id="2147483729" r:id="rId39"/>
    <p:sldLayoutId id="2147483730" r:id="rId40"/>
    <p:sldLayoutId id="2147483731" r:id="rId41"/>
    <p:sldLayoutId id="2147483732" r:id="rId42"/>
    <p:sldLayoutId id="2147483733" r:id="rId43"/>
    <p:sldLayoutId id="2147483734" r:id="rId44"/>
    <p:sldLayoutId id="2147483735" r:id="rId45"/>
    <p:sldLayoutId id="2147483736" r:id="rId46"/>
    <p:sldLayoutId id="2147483737" r:id="rId47"/>
    <p:sldLayoutId id="2147483738" r:id="rId48"/>
    <p:sldLayoutId id="2147483739" r:id="rId49"/>
    <p:sldLayoutId id="2147483740" r:id="rId50"/>
    <p:sldLayoutId id="2147483741" r:id="rId51"/>
    <p:sldLayoutId id="2147483742" r:id="rId52"/>
    <p:sldLayoutId id="2147483743" r:id="rId53"/>
    <p:sldLayoutId id="2147483744" r:id="rId54"/>
  </p:sldLayoutIdLst>
  <p:transition spd="med"/>
  <p:txStyles>
    <p:titleStyle>
      <a:lvl1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Roboto"/>
          <a:ea typeface="Roboto"/>
          <a:cs typeface="Roboto"/>
          <a:sym typeface="Roboto"/>
        </a:defRPr>
      </a:lvl1pPr>
      <a:lvl2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Roboto"/>
          <a:ea typeface="Roboto"/>
          <a:cs typeface="Roboto"/>
          <a:sym typeface="Roboto"/>
        </a:defRPr>
      </a:lvl2pPr>
      <a:lvl3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Roboto"/>
          <a:ea typeface="Roboto"/>
          <a:cs typeface="Roboto"/>
          <a:sym typeface="Roboto"/>
        </a:defRPr>
      </a:lvl3pPr>
      <a:lvl4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Roboto"/>
          <a:ea typeface="Roboto"/>
          <a:cs typeface="Roboto"/>
          <a:sym typeface="Roboto"/>
        </a:defRPr>
      </a:lvl4pPr>
      <a:lvl5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Roboto"/>
          <a:ea typeface="Roboto"/>
          <a:cs typeface="Roboto"/>
          <a:sym typeface="Roboto"/>
        </a:defRPr>
      </a:lvl5pPr>
      <a:lvl6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Roboto"/>
          <a:ea typeface="Roboto"/>
          <a:cs typeface="Roboto"/>
          <a:sym typeface="Roboto"/>
        </a:defRPr>
      </a:lvl6pPr>
      <a:lvl7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Roboto"/>
          <a:ea typeface="Roboto"/>
          <a:cs typeface="Roboto"/>
          <a:sym typeface="Roboto"/>
        </a:defRPr>
      </a:lvl7pPr>
      <a:lvl8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Roboto"/>
          <a:ea typeface="Roboto"/>
          <a:cs typeface="Roboto"/>
          <a:sym typeface="Roboto"/>
        </a:defRPr>
      </a:lvl8pPr>
      <a:lvl9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Roboto"/>
          <a:ea typeface="Roboto"/>
          <a:cs typeface="Roboto"/>
          <a:sym typeface="Roboto"/>
        </a:defRPr>
      </a:lvl9pPr>
    </p:titleStyle>
    <p:bodyStyle>
      <a:lvl1pPr marL="609585" marR="0" indent="-457189"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Roboto"/>
          <a:ea typeface="Roboto"/>
          <a:cs typeface="Roboto"/>
          <a:sym typeface="Roboto"/>
        </a:defRPr>
      </a:lvl1pPr>
      <a:lvl2pPr marL="1305526" marR="0" indent="-518146"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Roboto"/>
          <a:ea typeface="Roboto"/>
          <a:cs typeface="Roboto"/>
          <a:sym typeface="Roboto"/>
        </a:defRPr>
      </a:lvl2pPr>
      <a:lvl3pPr marL="2031949" marR="0" indent="-609585"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Roboto"/>
          <a:ea typeface="Roboto"/>
          <a:cs typeface="Roboto"/>
          <a:sym typeface="Roboto"/>
        </a:defRPr>
      </a:lvl3pPr>
      <a:lvl4pPr marL="2641534" marR="0" indent="-609585"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Roboto"/>
          <a:ea typeface="Roboto"/>
          <a:cs typeface="Roboto"/>
          <a:sym typeface="Roboto"/>
        </a:defRPr>
      </a:lvl4pPr>
      <a:lvl5pPr marL="3251119" marR="0" indent="-609585"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Roboto"/>
          <a:ea typeface="Roboto"/>
          <a:cs typeface="Roboto"/>
          <a:sym typeface="Roboto"/>
        </a:defRPr>
      </a:lvl5pPr>
      <a:lvl6pPr marL="3860703" marR="0" indent="-609585"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Roboto"/>
          <a:ea typeface="Roboto"/>
          <a:cs typeface="Roboto"/>
          <a:sym typeface="Roboto"/>
        </a:defRPr>
      </a:lvl6pPr>
      <a:lvl7pPr marL="4470288" marR="0" indent="-609585"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Roboto"/>
          <a:ea typeface="Roboto"/>
          <a:cs typeface="Roboto"/>
          <a:sym typeface="Roboto"/>
        </a:defRPr>
      </a:lvl7pPr>
      <a:lvl8pPr marL="5079873" marR="0" indent="-609585"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Roboto"/>
          <a:ea typeface="Roboto"/>
          <a:cs typeface="Roboto"/>
          <a:sym typeface="Roboto"/>
        </a:defRPr>
      </a:lvl8pPr>
      <a:lvl9pPr marL="5689458" marR="0" indent="-609585"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Roboto"/>
          <a:ea typeface="Roboto"/>
          <a:cs typeface="Roboto"/>
          <a:sym typeface="Roboto"/>
        </a:defRPr>
      </a:lvl9pPr>
    </p:bodyStyle>
    <p:otherStyle>
      <a:lvl1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mn-lt"/>
          <a:ea typeface="+mn-ea"/>
          <a:cs typeface="+mn-cs"/>
          <a:sym typeface="Roboto"/>
        </a:defRPr>
      </a:lvl1pPr>
      <a:lvl2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mn-lt"/>
          <a:ea typeface="+mn-ea"/>
          <a:cs typeface="+mn-cs"/>
          <a:sym typeface="Roboto"/>
        </a:defRPr>
      </a:lvl2pPr>
      <a:lvl3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mn-lt"/>
          <a:ea typeface="+mn-ea"/>
          <a:cs typeface="+mn-cs"/>
          <a:sym typeface="Roboto"/>
        </a:defRPr>
      </a:lvl3pPr>
      <a:lvl4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mn-lt"/>
          <a:ea typeface="+mn-ea"/>
          <a:cs typeface="+mn-cs"/>
          <a:sym typeface="Roboto"/>
        </a:defRPr>
      </a:lvl4pPr>
      <a:lvl5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mn-lt"/>
          <a:ea typeface="+mn-ea"/>
          <a:cs typeface="+mn-cs"/>
          <a:sym typeface="Roboto"/>
        </a:defRPr>
      </a:lvl5pPr>
      <a:lvl6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mn-lt"/>
          <a:ea typeface="+mn-ea"/>
          <a:cs typeface="+mn-cs"/>
          <a:sym typeface="Roboto"/>
        </a:defRPr>
      </a:lvl6pPr>
      <a:lvl7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mn-lt"/>
          <a:ea typeface="+mn-ea"/>
          <a:cs typeface="+mn-cs"/>
          <a:sym typeface="Roboto"/>
        </a:defRPr>
      </a:lvl7pPr>
      <a:lvl8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mn-lt"/>
          <a:ea typeface="+mn-ea"/>
          <a:cs typeface="+mn-cs"/>
          <a:sym typeface="Roboto"/>
        </a:defRPr>
      </a:lvl8pPr>
      <a:lvl9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mn-lt"/>
          <a:ea typeface="+mn-ea"/>
          <a:cs typeface="+mn-cs"/>
          <a:sym typeface="Roboto"/>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31.jpeg"/></Relationships>
</file>

<file path=ppt/slides/_rels/slide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27.xml"/><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27.xml"/><Relationship Id="rId4" Type="http://schemas.openxmlformats.org/officeDocument/2006/relationships/image" Target="../media/image37.jpeg"/></Relationships>
</file>

<file path=ppt/slides/_rels/slide1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7.xml"/></Relationships>
</file>

<file path=ppt/slides/_rels/slide1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slideLayout" Target="../slideLayouts/slideLayout26.xml"/><Relationship Id="rId7" Type="http://schemas.openxmlformats.org/officeDocument/2006/relationships/image" Target="../media/image42.png"/><Relationship Id="rId2" Type="http://schemas.openxmlformats.org/officeDocument/2006/relationships/video" Target="../media/media1.mov"/><Relationship Id="rId1" Type="http://schemas.microsoft.com/office/2007/relationships/media" Target="../media/media1.mov"/><Relationship Id="rId6" Type="http://schemas.openxmlformats.org/officeDocument/2006/relationships/image" Target="../media/image41.jpeg"/><Relationship Id="rId5" Type="http://schemas.openxmlformats.org/officeDocument/2006/relationships/image" Target="../media/image40.png"/><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2.xml"/><Relationship Id="rId1" Type="http://schemas.openxmlformats.org/officeDocument/2006/relationships/slideLayout" Target="../slideLayouts/slideLayout27.xml"/><Relationship Id="rId4" Type="http://schemas.openxmlformats.org/officeDocument/2006/relationships/image" Target="../media/image45.jpeg"/></Relationships>
</file>

<file path=ppt/slides/_rels/slide15.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svg"/><Relationship Id="rId2" Type="http://schemas.openxmlformats.org/officeDocument/2006/relationships/notesSlide" Target="../notesSlides/notesSlide14.xml"/><Relationship Id="rId1" Type="http://schemas.openxmlformats.org/officeDocument/2006/relationships/slideLayout" Target="../slideLayouts/slideLayout27.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jpeg"/><Relationship Id="rId9" Type="http://schemas.openxmlformats.org/officeDocument/2006/relationships/image" Target="../media/image53.png"/></Relationships>
</file>

<file path=ppt/slides/_rels/slide17.xml.rels><?xml version="1.0" encoding="UTF-8" standalone="yes"?>
<Relationships xmlns="http://schemas.openxmlformats.org/package/2006/relationships"><Relationship Id="rId8" Type="http://schemas.openxmlformats.org/officeDocument/2006/relationships/image" Target="../media/image59.jpeg"/><Relationship Id="rId3" Type="http://schemas.microsoft.com/office/2007/relationships/media" Target="../media/media3.mp4"/><Relationship Id="rId7" Type="http://schemas.openxmlformats.org/officeDocument/2006/relationships/image" Target="../media/image58.jpe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notesSlide" Target="../notesSlides/notesSlide15.xml"/><Relationship Id="rId5" Type="http://schemas.openxmlformats.org/officeDocument/2006/relationships/slideLayout" Target="../slideLayouts/slideLayout27.xml"/><Relationship Id="rId4" Type="http://schemas.openxmlformats.org/officeDocument/2006/relationships/video" Target="../media/media3.mp4"/></Relationships>
</file>

<file path=ppt/slides/_rels/slide1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7.xml"/><Relationship Id="rId4" Type="http://schemas.openxmlformats.org/officeDocument/2006/relationships/image" Target="../media/image6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2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2.xml"/><Relationship Id="rId4" Type="http://schemas.openxmlformats.org/officeDocument/2006/relationships/chart" Target="../charts/chart6.xml"/></Relationships>
</file>

<file path=ppt/slides/_rels/slide3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9966960" y="-1188720"/>
            <a:ext cx="3840480" cy="3840480"/>
          </a:xfrm>
          <a:prstGeom prst="ellipse">
            <a:avLst/>
          </a:prstGeom>
          <a:solidFill>
            <a:srgbClr val="9A6B2C">
              <a:alpha val="12000"/>
            </a:srgbClr>
          </a:solidFill>
          <a:ln/>
        </p:spPr>
      </p:sp>
      <p:sp>
        <p:nvSpPr>
          <p:cNvPr id="3" name="Shape 1"/>
          <p:cNvSpPr/>
          <p:nvPr/>
        </p:nvSpPr>
        <p:spPr>
          <a:xfrm>
            <a:off x="-1463040" y="4937760"/>
            <a:ext cx="3291840" cy="3291840"/>
          </a:xfrm>
          <a:prstGeom prst="ellipse">
            <a:avLst/>
          </a:prstGeom>
          <a:solidFill>
            <a:srgbClr val="9A6B2C">
              <a:alpha val="12000"/>
            </a:srgbClr>
          </a:solidFill>
          <a:ln/>
        </p:spPr>
      </p:sp>
      <p:sp>
        <p:nvSpPr>
          <p:cNvPr id="4" name="Shape 2"/>
          <p:cNvSpPr/>
          <p:nvPr/>
        </p:nvSpPr>
        <p:spPr>
          <a:xfrm>
            <a:off x="640080" y="548640"/>
            <a:ext cx="640080" cy="640080"/>
          </a:xfrm>
          <a:prstGeom prst="ellipse">
            <a:avLst/>
          </a:prstGeom>
          <a:solidFill>
            <a:srgbClr val="9A6B2C"/>
          </a:solidFill>
          <a:ln/>
        </p:spPr>
      </p:sp>
      <p:pic>
        <p:nvPicPr>
          <p:cNvPr id="5" name="Image 0" descr="preencoded.png"/>
          <p:cNvPicPr>
            <a:picLocks noChangeAspect="1"/>
          </p:cNvPicPr>
          <p:nvPr/>
        </p:nvPicPr>
        <p:blipFill>
          <a:blip r:embed="rId3"/>
          <a:stretch>
            <a:fillRect/>
          </a:stretch>
        </p:blipFill>
        <p:spPr>
          <a:xfrm>
            <a:off x="716890" y="625450"/>
            <a:ext cx="486461" cy="486461"/>
          </a:xfrm>
          <a:prstGeom prst="rect">
            <a:avLst/>
          </a:prstGeom>
        </p:spPr>
      </p:pic>
      <p:sp>
        <p:nvSpPr>
          <p:cNvPr id="6" name="Text 3"/>
          <p:cNvSpPr/>
          <p:nvPr/>
        </p:nvSpPr>
        <p:spPr>
          <a:xfrm>
            <a:off x="640080" y="1325880"/>
            <a:ext cx="5486400" cy="365760"/>
          </a:xfrm>
          <a:prstGeom prst="rect">
            <a:avLst/>
          </a:prstGeom>
          <a:noFill/>
          <a:ln/>
        </p:spPr>
        <p:txBody>
          <a:bodyPr wrap="square" rtlCol="0" anchor="ctr"/>
          <a:lstStyle/>
          <a:p>
            <a:pPr marL="0" indent="0">
              <a:buNone/>
            </a:pPr>
            <a:r>
              <a:rPr lang="en-US" sz="1300" b="1" kern="0" spc="200" dirty="0">
                <a:solidFill>
                  <a:srgbClr val="9A6B2C"/>
                </a:solidFill>
                <a:latin typeface="Calibri" pitchFamily="34" charset="0"/>
                <a:ea typeface="Calibri" pitchFamily="34" charset="-122"/>
                <a:cs typeface="Calibri" pitchFamily="34" charset="-120"/>
              </a:rPr>
              <a:t>DAY 1  ·  11:00 – 12:00</a:t>
            </a:r>
            <a:endParaRPr lang="en-US" sz="1300" dirty="0"/>
          </a:p>
        </p:txBody>
      </p:sp>
      <p:sp>
        <p:nvSpPr>
          <p:cNvPr id="7" name="Text 4"/>
          <p:cNvSpPr/>
          <p:nvPr/>
        </p:nvSpPr>
        <p:spPr>
          <a:xfrm>
            <a:off x="594360" y="1737360"/>
            <a:ext cx="9601200" cy="2011680"/>
          </a:xfrm>
          <a:prstGeom prst="rect">
            <a:avLst/>
          </a:prstGeom>
          <a:noFill/>
          <a:ln/>
        </p:spPr>
        <p:txBody>
          <a:bodyPr wrap="square" rtlCol="0" anchor="ctr"/>
          <a:lstStyle/>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Prompt Engineering &amp;</a:t>
            </a:r>
            <a:endParaRPr lang="en-US" sz="3800" dirty="0"/>
          </a:p>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System Prompt Best Practices</a:t>
            </a:r>
            <a:endParaRPr lang="en-US" sz="3800" dirty="0"/>
          </a:p>
        </p:txBody>
      </p:sp>
      <p:sp>
        <p:nvSpPr>
          <p:cNvPr id="8" name="Text 5"/>
          <p:cNvSpPr/>
          <p:nvPr/>
        </p:nvSpPr>
        <p:spPr>
          <a:xfrm>
            <a:off x="640080" y="3794760"/>
            <a:ext cx="8686800" cy="73152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The instructions you write are the interface. Learn to shape them on purpose, not by accident.</a:t>
            </a:r>
            <a:endParaRPr lang="en-US" sz="1600" dirty="0"/>
          </a:p>
        </p:txBody>
      </p:sp>
      <p:sp>
        <p:nvSpPr>
          <p:cNvPr id="9" name="Text 6"/>
          <p:cNvSpPr/>
          <p:nvPr/>
        </p:nvSpPr>
        <p:spPr>
          <a:xfrm>
            <a:off x="640080" y="6126480"/>
            <a:ext cx="10058400" cy="365760"/>
          </a:xfrm>
          <a:prstGeom prst="rect">
            <a:avLst/>
          </a:prstGeom>
          <a:noFill/>
          <a:ln/>
        </p:spPr>
        <p:txBody>
          <a:bodyPr wrap="square" rtlCol="0" anchor="ctr"/>
          <a:lstStyle/>
          <a:p>
            <a:pPr marL="0" indent="0">
              <a:buNone/>
            </a:pPr>
            <a:r>
              <a:rPr lang="en-US" sz="1200" dirty="0">
                <a:solidFill>
                  <a:srgbClr val="8FA3C9"/>
                </a:solidFill>
                <a:latin typeface="Calibri" pitchFamily="34" charset="0"/>
                <a:ea typeface="Calibri" pitchFamily="34" charset="-122"/>
                <a:cs typeface="Calibri" pitchFamily="34" charset="-120"/>
              </a:rPr>
              <a:t>Generative AI in Finance   |   EA Executive MBA   |   Finance Masters + Data Science Masters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marL="0" indent="0">
              <a:buNone/>
            </a:pPr>
            <a:r>
              <a:rPr lang="en-US" sz="3000" b="1" dirty="0">
                <a:solidFill>
                  <a:srgbClr val="14213D"/>
                </a:solidFill>
                <a:latin typeface="Cambria" pitchFamily="34" charset="0"/>
                <a:ea typeface="Cambria" pitchFamily="34" charset="-122"/>
                <a:cs typeface="Cambria" pitchFamily="34" charset="-120"/>
              </a:rPr>
              <a:t>What we cover this session</a:t>
            </a:r>
            <a:endParaRPr lang="en-US" sz="3000" dirty="0"/>
          </a:p>
        </p:txBody>
      </p:sp>
      <p:sp>
        <p:nvSpPr>
          <p:cNvPr id="3" name="Shape 1"/>
          <p:cNvSpPr/>
          <p:nvPr/>
        </p:nvSpPr>
        <p:spPr>
          <a:xfrm>
            <a:off x="548640" y="1943355"/>
            <a:ext cx="11064240" cy="658368"/>
          </a:xfrm>
          <a:prstGeom prst="roundRect">
            <a:avLst>
              <a:gd name="adj" fmla="val 8333"/>
            </a:avLst>
          </a:prstGeom>
          <a:solidFill>
            <a:srgbClr val="FFFFFF"/>
          </a:solidFill>
          <a:ln/>
          <a:effectLst>
            <a:outerShdw blurRad="63500" dist="25400" dir="5400000" algn="bl" rotWithShape="0">
              <a:srgbClr val="000000">
                <a:alpha val="8000"/>
              </a:srgbClr>
            </a:outerShdw>
          </a:effectLst>
        </p:spPr>
      </p:sp>
      <p:sp>
        <p:nvSpPr>
          <p:cNvPr id="4" name="Shape 2"/>
          <p:cNvSpPr/>
          <p:nvPr/>
        </p:nvSpPr>
        <p:spPr>
          <a:xfrm>
            <a:off x="777240" y="2062227"/>
            <a:ext cx="420624" cy="420624"/>
          </a:xfrm>
          <a:prstGeom prst="ellipse">
            <a:avLst/>
          </a:prstGeom>
          <a:solidFill>
            <a:srgbClr val="F1EEE3"/>
          </a:solidFill>
          <a:ln/>
        </p:spPr>
      </p:sp>
      <p:sp>
        <p:nvSpPr>
          <p:cNvPr id="5" name="Text 3"/>
          <p:cNvSpPr/>
          <p:nvPr/>
        </p:nvSpPr>
        <p:spPr>
          <a:xfrm>
            <a:off x="777240" y="2062227"/>
            <a:ext cx="420624" cy="420624"/>
          </a:xfrm>
          <a:prstGeom prst="rect">
            <a:avLst/>
          </a:prstGeom>
          <a:noFill/>
          <a:ln/>
        </p:spPr>
        <p:txBody>
          <a:bodyPr wrap="square" rtlCol="0" anchor="ctr"/>
          <a:lstStyle/>
          <a:p>
            <a:pPr marL="0" indent="0" algn="ctr">
              <a:buNone/>
            </a:pPr>
            <a:r>
              <a:rPr lang="en-US" sz="1600" b="1" dirty="0">
                <a:solidFill>
                  <a:srgbClr val="9A6B2C"/>
                </a:solidFill>
                <a:latin typeface="Cambria" pitchFamily="34" charset="0"/>
              </a:rPr>
              <a:t>2</a:t>
            </a:r>
            <a:endParaRPr lang="en-US" sz="1600" dirty="0"/>
          </a:p>
        </p:txBody>
      </p:sp>
      <p:sp>
        <p:nvSpPr>
          <p:cNvPr id="6" name="Text 4"/>
          <p:cNvSpPr/>
          <p:nvPr/>
        </p:nvSpPr>
        <p:spPr>
          <a:xfrm>
            <a:off x="1417320" y="2016507"/>
            <a:ext cx="9966960" cy="512064"/>
          </a:xfrm>
          <a:prstGeom prst="rect">
            <a:avLst/>
          </a:prstGeom>
          <a:noFill/>
          <a:ln/>
        </p:spPr>
        <p:txBody>
          <a:bodyPr wrap="square" rtlCol="0" anchor="ctr"/>
          <a:lstStyle/>
          <a:p>
            <a:pPr marL="0" indent="0">
              <a:buNone/>
            </a:pPr>
            <a:r>
              <a:rPr lang="en-US" sz="1500" dirty="0">
                <a:solidFill>
                  <a:srgbClr val="14213D"/>
                </a:solidFill>
                <a:latin typeface="Calibri" pitchFamily="34" charset="0"/>
                <a:ea typeface="Calibri" pitchFamily="34" charset="-122"/>
                <a:cs typeface="Calibri" pitchFamily="34" charset="-120"/>
              </a:rPr>
              <a:t>Debrief your haggl.com system prompt experiment</a:t>
            </a:r>
            <a:endParaRPr lang="en-US" sz="1500" dirty="0"/>
          </a:p>
        </p:txBody>
      </p:sp>
      <p:sp>
        <p:nvSpPr>
          <p:cNvPr id="7" name="Shape 5"/>
          <p:cNvSpPr/>
          <p:nvPr/>
        </p:nvSpPr>
        <p:spPr>
          <a:xfrm>
            <a:off x="548640" y="2720595"/>
            <a:ext cx="11064240" cy="658368"/>
          </a:xfrm>
          <a:prstGeom prst="roundRect">
            <a:avLst>
              <a:gd name="adj" fmla="val 8333"/>
            </a:avLst>
          </a:prstGeom>
          <a:solidFill>
            <a:srgbClr val="FFFFFF"/>
          </a:solidFill>
          <a:ln/>
          <a:effectLst>
            <a:outerShdw blurRad="63500" dist="25400" dir="5400000" algn="bl" rotWithShape="0">
              <a:srgbClr val="000000">
                <a:alpha val="8000"/>
              </a:srgbClr>
            </a:outerShdw>
          </a:effectLst>
        </p:spPr>
      </p:sp>
      <p:sp>
        <p:nvSpPr>
          <p:cNvPr id="8" name="Shape 6"/>
          <p:cNvSpPr/>
          <p:nvPr/>
        </p:nvSpPr>
        <p:spPr>
          <a:xfrm>
            <a:off x="777240" y="2839467"/>
            <a:ext cx="420624" cy="420624"/>
          </a:xfrm>
          <a:prstGeom prst="ellipse">
            <a:avLst/>
          </a:prstGeom>
          <a:solidFill>
            <a:srgbClr val="F1EEE3"/>
          </a:solidFill>
          <a:ln/>
        </p:spPr>
      </p:sp>
      <p:sp>
        <p:nvSpPr>
          <p:cNvPr id="9" name="Text 7"/>
          <p:cNvSpPr/>
          <p:nvPr/>
        </p:nvSpPr>
        <p:spPr>
          <a:xfrm>
            <a:off x="777240" y="2839467"/>
            <a:ext cx="420624" cy="420624"/>
          </a:xfrm>
          <a:prstGeom prst="rect">
            <a:avLst/>
          </a:prstGeom>
          <a:noFill/>
          <a:ln/>
        </p:spPr>
        <p:txBody>
          <a:bodyPr wrap="square" rtlCol="0" anchor="ctr"/>
          <a:lstStyle/>
          <a:p>
            <a:pPr marL="0" indent="0" algn="ctr">
              <a:buNone/>
            </a:pPr>
            <a:r>
              <a:rPr lang="en-US" sz="1600" b="1" dirty="0">
                <a:solidFill>
                  <a:srgbClr val="9A6B2C"/>
                </a:solidFill>
                <a:latin typeface="Cambria" pitchFamily="34" charset="0"/>
              </a:rPr>
              <a:t>3</a:t>
            </a:r>
            <a:endParaRPr lang="en-US" sz="1600" dirty="0"/>
          </a:p>
        </p:txBody>
      </p:sp>
      <p:sp>
        <p:nvSpPr>
          <p:cNvPr id="10" name="Text 8"/>
          <p:cNvSpPr/>
          <p:nvPr/>
        </p:nvSpPr>
        <p:spPr>
          <a:xfrm>
            <a:off x="1417320" y="2793747"/>
            <a:ext cx="9966960" cy="512064"/>
          </a:xfrm>
          <a:prstGeom prst="rect">
            <a:avLst/>
          </a:prstGeom>
          <a:noFill/>
          <a:ln/>
        </p:spPr>
        <p:txBody>
          <a:bodyPr wrap="square" rtlCol="0" anchor="ctr"/>
          <a:lstStyle/>
          <a:p>
            <a:pPr marL="0" indent="0">
              <a:buNone/>
            </a:pPr>
            <a:r>
              <a:rPr lang="en-US" sz="1500" dirty="0">
                <a:solidFill>
                  <a:srgbClr val="14213D"/>
                </a:solidFill>
                <a:latin typeface="Calibri" pitchFamily="34" charset="0"/>
                <a:ea typeface="Calibri" pitchFamily="34" charset="-122"/>
                <a:cs typeface="Calibri" pitchFamily="34" charset="-120"/>
              </a:rPr>
              <a:t>Prompt structure: role, context, task, format, constraints</a:t>
            </a:r>
            <a:endParaRPr lang="en-US" sz="1500" dirty="0"/>
          </a:p>
        </p:txBody>
      </p:sp>
      <p:sp>
        <p:nvSpPr>
          <p:cNvPr id="11" name="Shape 9"/>
          <p:cNvSpPr/>
          <p:nvPr/>
        </p:nvSpPr>
        <p:spPr>
          <a:xfrm>
            <a:off x="548640" y="3497835"/>
            <a:ext cx="11064240" cy="658368"/>
          </a:xfrm>
          <a:prstGeom prst="roundRect">
            <a:avLst>
              <a:gd name="adj" fmla="val 8333"/>
            </a:avLst>
          </a:prstGeom>
          <a:solidFill>
            <a:srgbClr val="FFFFFF"/>
          </a:solidFill>
          <a:ln/>
          <a:effectLst>
            <a:outerShdw blurRad="63500" dist="25400" dir="5400000" algn="bl" rotWithShape="0">
              <a:srgbClr val="000000">
                <a:alpha val="8000"/>
              </a:srgbClr>
            </a:outerShdw>
          </a:effectLst>
        </p:spPr>
      </p:sp>
      <p:sp>
        <p:nvSpPr>
          <p:cNvPr id="12" name="Shape 10"/>
          <p:cNvSpPr/>
          <p:nvPr/>
        </p:nvSpPr>
        <p:spPr>
          <a:xfrm>
            <a:off x="777240" y="3616707"/>
            <a:ext cx="420624" cy="420624"/>
          </a:xfrm>
          <a:prstGeom prst="ellipse">
            <a:avLst/>
          </a:prstGeom>
          <a:solidFill>
            <a:srgbClr val="F1EEE3"/>
          </a:solidFill>
          <a:ln/>
        </p:spPr>
      </p:sp>
      <p:sp>
        <p:nvSpPr>
          <p:cNvPr id="13" name="Text 11"/>
          <p:cNvSpPr/>
          <p:nvPr/>
        </p:nvSpPr>
        <p:spPr>
          <a:xfrm>
            <a:off x="777240" y="3616707"/>
            <a:ext cx="420624" cy="420624"/>
          </a:xfrm>
          <a:prstGeom prst="rect">
            <a:avLst/>
          </a:prstGeom>
          <a:noFill/>
          <a:ln/>
        </p:spPr>
        <p:txBody>
          <a:bodyPr wrap="square" rtlCol="0" anchor="ctr"/>
          <a:lstStyle/>
          <a:p>
            <a:pPr marL="0" indent="0" algn="ctr">
              <a:buNone/>
            </a:pPr>
            <a:r>
              <a:rPr lang="en-US" sz="1600" b="1" dirty="0">
                <a:solidFill>
                  <a:srgbClr val="9A6B2C"/>
                </a:solidFill>
                <a:latin typeface="Cambria" pitchFamily="34" charset="0"/>
              </a:rPr>
              <a:t>4</a:t>
            </a:r>
            <a:endParaRPr lang="en-US" sz="1600" dirty="0"/>
          </a:p>
        </p:txBody>
      </p:sp>
      <p:sp>
        <p:nvSpPr>
          <p:cNvPr id="14" name="Text 12"/>
          <p:cNvSpPr/>
          <p:nvPr/>
        </p:nvSpPr>
        <p:spPr>
          <a:xfrm>
            <a:off x="1417320" y="3570987"/>
            <a:ext cx="9966960" cy="512064"/>
          </a:xfrm>
          <a:prstGeom prst="rect">
            <a:avLst/>
          </a:prstGeom>
          <a:noFill/>
          <a:ln/>
        </p:spPr>
        <p:txBody>
          <a:bodyPr wrap="square" rtlCol="0" anchor="ctr"/>
          <a:lstStyle/>
          <a:p>
            <a:pPr marL="0" indent="0">
              <a:buNone/>
            </a:pPr>
            <a:r>
              <a:rPr lang="en-US" sz="1500" dirty="0">
                <a:solidFill>
                  <a:srgbClr val="14213D"/>
                </a:solidFill>
                <a:latin typeface="Calibri" pitchFamily="34" charset="0"/>
                <a:ea typeface="Calibri" pitchFamily="34" charset="-122"/>
                <a:cs typeface="Calibri" pitchFamily="34" charset="-120"/>
              </a:rPr>
              <a:t>System prompt anatomy: persona, boundaries, output format</a:t>
            </a:r>
            <a:endParaRPr lang="en-US" sz="1500" dirty="0"/>
          </a:p>
        </p:txBody>
      </p:sp>
      <p:sp>
        <p:nvSpPr>
          <p:cNvPr id="15" name="Shape 13"/>
          <p:cNvSpPr/>
          <p:nvPr/>
        </p:nvSpPr>
        <p:spPr>
          <a:xfrm>
            <a:off x="548640" y="4275075"/>
            <a:ext cx="11064240" cy="658368"/>
          </a:xfrm>
          <a:prstGeom prst="roundRect">
            <a:avLst>
              <a:gd name="adj" fmla="val 8333"/>
            </a:avLst>
          </a:prstGeom>
          <a:solidFill>
            <a:srgbClr val="FFFFFF"/>
          </a:solidFill>
          <a:ln/>
          <a:effectLst>
            <a:outerShdw blurRad="63500" dist="25400" dir="5400000" algn="bl" rotWithShape="0">
              <a:srgbClr val="000000">
                <a:alpha val="8000"/>
              </a:srgbClr>
            </a:outerShdw>
          </a:effectLst>
        </p:spPr>
      </p:sp>
      <p:sp>
        <p:nvSpPr>
          <p:cNvPr id="16" name="Shape 14"/>
          <p:cNvSpPr/>
          <p:nvPr/>
        </p:nvSpPr>
        <p:spPr>
          <a:xfrm>
            <a:off x="777240" y="4393947"/>
            <a:ext cx="420624" cy="420624"/>
          </a:xfrm>
          <a:prstGeom prst="ellipse">
            <a:avLst/>
          </a:prstGeom>
          <a:solidFill>
            <a:srgbClr val="F1EEE3"/>
          </a:solidFill>
          <a:ln/>
        </p:spPr>
      </p:sp>
      <p:sp>
        <p:nvSpPr>
          <p:cNvPr id="17" name="Text 15"/>
          <p:cNvSpPr/>
          <p:nvPr/>
        </p:nvSpPr>
        <p:spPr>
          <a:xfrm>
            <a:off x="777240" y="4393947"/>
            <a:ext cx="420624" cy="420624"/>
          </a:xfrm>
          <a:prstGeom prst="rect">
            <a:avLst/>
          </a:prstGeom>
          <a:noFill/>
          <a:ln/>
        </p:spPr>
        <p:txBody>
          <a:bodyPr wrap="square" rtlCol="0" anchor="ctr"/>
          <a:lstStyle/>
          <a:p>
            <a:pPr marL="0" indent="0" algn="ctr">
              <a:buNone/>
            </a:pPr>
            <a:r>
              <a:rPr lang="en-US" sz="1600" b="1" dirty="0">
                <a:solidFill>
                  <a:srgbClr val="9A6B2C"/>
                </a:solidFill>
                <a:latin typeface="Cambria" pitchFamily="34" charset="0"/>
              </a:rPr>
              <a:t>5</a:t>
            </a:r>
            <a:endParaRPr lang="en-US" sz="1600" dirty="0"/>
          </a:p>
        </p:txBody>
      </p:sp>
      <p:sp>
        <p:nvSpPr>
          <p:cNvPr id="18" name="Text 16"/>
          <p:cNvSpPr/>
          <p:nvPr/>
        </p:nvSpPr>
        <p:spPr>
          <a:xfrm>
            <a:off x="1417320" y="4348227"/>
            <a:ext cx="9966960" cy="512064"/>
          </a:xfrm>
          <a:prstGeom prst="rect">
            <a:avLst/>
          </a:prstGeom>
          <a:noFill/>
          <a:ln/>
        </p:spPr>
        <p:txBody>
          <a:bodyPr wrap="square" rtlCol="0" anchor="ctr"/>
          <a:lstStyle/>
          <a:p>
            <a:pPr marL="0" indent="0">
              <a:buNone/>
            </a:pPr>
            <a:r>
              <a:rPr lang="en-US" sz="1500" dirty="0">
                <a:solidFill>
                  <a:srgbClr val="14213D"/>
                </a:solidFill>
                <a:latin typeface="Calibri" pitchFamily="34" charset="0"/>
                <a:ea typeface="Calibri" pitchFamily="34" charset="-122"/>
                <a:cs typeface="Calibri" pitchFamily="34" charset="-120"/>
              </a:rPr>
              <a:t>Hands on: prompts that return structured JSON</a:t>
            </a:r>
            <a:endParaRPr lang="en-US" sz="1500" dirty="0"/>
          </a:p>
        </p:txBody>
      </p:sp>
      <p:sp>
        <p:nvSpPr>
          <p:cNvPr id="19" name="Shape 17"/>
          <p:cNvSpPr/>
          <p:nvPr/>
        </p:nvSpPr>
        <p:spPr>
          <a:xfrm>
            <a:off x="548640" y="5052315"/>
            <a:ext cx="11064240" cy="658368"/>
          </a:xfrm>
          <a:prstGeom prst="roundRect">
            <a:avLst>
              <a:gd name="adj" fmla="val 8333"/>
            </a:avLst>
          </a:prstGeom>
          <a:solidFill>
            <a:srgbClr val="FFFFFF"/>
          </a:solidFill>
          <a:ln/>
          <a:effectLst>
            <a:outerShdw blurRad="63500" dist="25400" dir="5400000" algn="bl" rotWithShape="0">
              <a:srgbClr val="000000">
                <a:alpha val="8000"/>
              </a:srgbClr>
            </a:outerShdw>
          </a:effectLst>
        </p:spPr>
      </p:sp>
      <p:sp>
        <p:nvSpPr>
          <p:cNvPr id="20" name="Shape 18"/>
          <p:cNvSpPr/>
          <p:nvPr/>
        </p:nvSpPr>
        <p:spPr>
          <a:xfrm>
            <a:off x="777240" y="5171187"/>
            <a:ext cx="420624" cy="420624"/>
          </a:xfrm>
          <a:prstGeom prst="ellipse">
            <a:avLst/>
          </a:prstGeom>
          <a:solidFill>
            <a:srgbClr val="F1EEE3"/>
          </a:solidFill>
          <a:ln/>
        </p:spPr>
      </p:sp>
      <p:sp>
        <p:nvSpPr>
          <p:cNvPr id="21" name="Text 19"/>
          <p:cNvSpPr/>
          <p:nvPr/>
        </p:nvSpPr>
        <p:spPr>
          <a:xfrm>
            <a:off x="777240" y="5171187"/>
            <a:ext cx="420624" cy="420624"/>
          </a:xfrm>
          <a:prstGeom prst="rect">
            <a:avLst/>
          </a:prstGeom>
          <a:noFill/>
          <a:ln/>
        </p:spPr>
        <p:txBody>
          <a:bodyPr wrap="square" rtlCol="0" anchor="ctr"/>
          <a:lstStyle/>
          <a:p>
            <a:pPr marL="0" indent="0" algn="ctr">
              <a:buNone/>
            </a:pPr>
            <a:r>
              <a:rPr lang="en-US" sz="1600" b="1" dirty="0">
                <a:solidFill>
                  <a:srgbClr val="9A6B2C"/>
                </a:solidFill>
                <a:latin typeface="Cambria" pitchFamily="34" charset="0"/>
              </a:rPr>
              <a:t>6</a:t>
            </a:r>
            <a:endParaRPr lang="en-US" sz="1600" dirty="0"/>
          </a:p>
        </p:txBody>
      </p:sp>
      <p:sp>
        <p:nvSpPr>
          <p:cNvPr id="22" name="Text 20"/>
          <p:cNvSpPr/>
          <p:nvPr/>
        </p:nvSpPr>
        <p:spPr>
          <a:xfrm>
            <a:off x="1417320" y="5125467"/>
            <a:ext cx="9966960" cy="512064"/>
          </a:xfrm>
          <a:prstGeom prst="rect">
            <a:avLst/>
          </a:prstGeom>
          <a:noFill/>
          <a:ln/>
        </p:spPr>
        <p:txBody>
          <a:bodyPr wrap="square" rtlCol="0" anchor="ctr"/>
          <a:lstStyle/>
          <a:p>
            <a:pPr marL="0" indent="0">
              <a:buNone/>
            </a:pPr>
            <a:r>
              <a:rPr lang="en-US" sz="1500" dirty="0">
                <a:solidFill>
                  <a:srgbClr val="14213D"/>
                </a:solidFill>
                <a:latin typeface="Calibri" pitchFamily="34" charset="0"/>
                <a:ea typeface="Calibri" pitchFamily="34" charset="-122"/>
                <a:cs typeface="Calibri" pitchFamily="34" charset="-120"/>
              </a:rPr>
              <a:t>Prompt injection risks and responsible prompt design</a:t>
            </a:r>
            <a:endParaRPr lang="en-US" sz="1500" dirty="0"/>
          </a:p>
        </p:txBody>
      </p:sp>
      <p:sp>
        <p:nvSpPr>
          <p:cNvPr id="23" name="Shape 21"/>
          <p:cNvSpPr/>
          <p:nvPr/>
        </p:nvSpPr>
        <p:spPr>
          <a:xfrm>
            <a:off x="548640" y="5829555"/>
            <a:ext cx="11064240" cy="658368"/>
          </a:xfrm>
          <a:prstGeom prst="roundRect">
            <a:avLst>
              <a:gd name="adj" fmla="val 8333"/>
            </a:avLst>
          </a:prstGeom>
          <a:solidFill>
            <a:srgbClr val="FFFFFF"/>
          </a:solidFill>
          <a:ln/>
          <a:effectLst>
            <a:outerShdw blurRad="63500" dist="25400" dir="5400000" algn="bl" rotWithShape="0">
              <a:srgbClr val="000000">
                <a:alpha val="8000"/>
              </a:srgbClr>
            </a:outerShdw>
          </a:effectLst>
        </p:spPr>
      </p:sp>
      <p:sp>
        <p:nvSpPr>
          <p:cNvPr id="24" name="Shape 22"/>
          <p:cNvSpPr/>
          <p:nvPr/>
        </p:nvSpPr>
        <p:spPr>
          <a:xfrm>
            <a:off x="777240" y="5948427"/>
            <a:ext cx="420624" cy="420624"/>
          </a:xfrm>
          <a:prstGeom prst="ellipse">
            <a:avLst/>
          </a:prstGeom>
          <a:solidFill>
            <a:srgbClr val="F1EEE3"/>
          </a:solidFill>
          <a:ln/>
        </p:spPr>
      </p:sp>
      <p:sp>
        <p:nvSpPr>
          <p:cNvPr id="25" name="Text 23"/>
          <p:cNvSpPr/>
          <p:nvPr/>
        </p:nvSpPr>
        <p:spPr>
          <a:xfrm>
            <a:off x="777240" y="5948427"/>
            <a:ext cx="420624" cy="420624"/>
          </a:xfrm>
          <a:prstGeom prst="rect">
            <a:avLst/>
          </a:prstGeom>
          <a:noFill/>
          <a:ln/>
        </p:spPr>
        <p:txBody>
          <a:bodyPr wrap="square" rtlCol="0" anchor="ctr"/>
          <a:lstStyle/>
          <a:p>
            <a:pPr marL="0" indent="0" algn="ctr">
              <a:buNone/>
            </a:pPr>
            <a:r>
              <a:rPr lang="en-US" sz="1600" b="1" dirty="0">
                <a:solidFill>
                  <a:srgbClr val="9A6B2C"/>
                </a:solidFill>
                <a:latin typeface="Cambria" pitchFamily="34" charset="0"/>
              </a:rPr>
              <a:t>7</a:t>
            </a:r>
            <a:endParaRPr lang="en-US" sz="1600" dirty="0"/>
          </a:p>
        </p:txBody>
      </p:sp>
      <p:sp>
        <p:nvSpPr>
          <p:cNvPr id="26" name="Text 24"/>
          <p:cNvSpPr/>
          <p:nvPr/>
        </p:nvSpPr>
        <p:spPr>
          <a:xfrm>
            <a:off x="1417320" y="5902707"/>
            <a:ext cx="9966960" cy="512064"/>
          </a:xfrm>
          <a:prstGeom prst="rect">
            <a:avLst/>
          </a:prstGeom>
          <a:noFill/>
          <a:ln/>
        </p:spPr>
        <p:txBody>
          <a:bodyPr wrap="square" rtlCol="0" anchor="ctr"/>
          <a:lstStyle/>
          <a:p>
            <a:pPr marL="0" indent="0">
              <a:buNone/>
            </a:pPr>
            <a:r>
              <a:rPr lang="en-US" sz="1500" dirty="0">
                <a:solidFill>
                  <a:srgbClr val="14213D"/>
                </a:solidFill>
                <a:latin typeface="Calibri" pitchFamily="34" charset="0"/>
                <a:ea typeface="Calibri" pitchFamily="34" charset="-122"/>
                <a:cs typeface="Calibri" pitchFamily="34" charset="-120"/>
              </a:rPr>
              <a:t>Save your best system prompt to your repo</a:t>
            </a:r>
            <a:endParaRPr lang="en-US" sz="1500" dirty="0"/>
          </a:p>
        </p:txBody>
      </p:sp>
      <p:sp>
        <p:nvSpPr>
          <p:cNvPr id="28" name="Shape 1">
            <a:extLst>
              <a:ext uri="{FF2B5EF4-FFF2-40B4-BE49-F238E27FC236}">
                <a16:creationId xmlns:a16="http://schemas.microsoft.com/office/drawing/2014/main" id="{933FCFD5-4434-350A-A749-FDF190908070}"/>
              </a:ext>
            </a:extLst>
          </p:cNvPr>
          <p:cNvSpPr/>
          <p:nvPr/>
        </p:nvSpPr>
        <p:spPr>
          <a:xfrm>
            <a:off x="536655" y="1088891"/>
            <a:ext cx="11064240" cy="658368"/>
          </a:xfrm>
          <a:prstGeom prst="roundRect">
            <a:avLst>
              <a:gd name="adj" fmla="val 8333"/>
            </a:avLst>
          </a:prstGeom>
          <a:solidFill>
            <a:srgbClr val="FFFFFF"/>
          </a:solidFill>
          <a:ln/>
          <a:effectLst>
            <a:outerShdw blurRad="63500" dist="25400" dir="5400000" algn="bl" rotWithShape="0">
              <a:srgbClr val="000000">
                <a:alpha val="8000"/>
              </a:srgbClr>
            </a:outerShdw>
          </a:effectLst>
        </p:spPr>
      </p:sp>
      <p:sp>
        <p:nvSpPr>
          <p:cNvPr id="29" name="Shape 2">
            <a:extLst>
              <a:ext uri="{FF2B5EF4-FFF2-40B4-BE49-F238E27FC236}">
                <a16:creationId xmlns:a16="http://schemas.microsoft.com/office/drawing/2014/main" id="{A322ACA4-1167-9223-0BD5-AB3D8671361D}"/>
              </a:ext>
            </a:extLst>
          </p:cNvPr>
          <p:cNvSpPr/>
          <p:nvPr/>
        </p:nvSpPr>
        <p:spPr>
          <a:xfrm>
            <a:off x="765255" y="1207763"/>
            <a:ext cx="420624" cy="420624"/>
          </a:xfrm>
          <a:prstGeom prst="ellipse">
            <a:avLst/>
          </a:prstGeom>
          <a:solidFill>
            <a:srgbClr val="F1EEE3"/>
          </a:solidFill>
          <a:ln/>
        </p:spPr>
      </p:sp>
      <p:sp>
        <p:nvSpPr>
          <p:cNvPr id="30" name="Text 3">
            <a:extLst>
              <a:ext uri="{FF2B5EF4-FFF2-40B4-BE49-F238E27FC236}">
                <a16:creationId xmlns:a16="http://schemas.microsoft.com/office/drawing/2014/main" id="{515BC3B7-A59D-22AF-934D-6BC97855747F}"/>
              </a:ext>
            </a:extLst>
          </p:cNvPr>
          <p:cNvSpPr/>
          <p:nvPr/>
        </p:nvSpPr>
        <p:spPr>
          <a:xfrm>
            <a:off x="765255" y="1207763"/>
            <a:ext cx="420624" cy="420624"/>
          </a:xfrm>
          <a:prstGeom prst="rect">
            <a:avLst/>
          </a:prstGeom>
          <a:noFill/>
          <a:ln/>
        </p:spPr>
        <p:txBody>
          <a:bodyPr wrap="square" rtlCol="0" anchor="ctr"/>
          <a:lstStyle/>
          <a:p>
            <a:pPr marL="0" indent="0" algn="ctr">
              <a:buNone/>
            </a:pPr>
            <a:r>
              <a:rPr lang="en-US" sz="1600" b="1" dirty="0">
                <a:solidFill>
                  <a:srgbClr val="9A6B2C"/>
                </a:solidFill>
                <a:latin typeface="Cambria" pitchFamily="34" charset="0"/>
                <a:ea typeface="Cambria" pitchFamily="34" charset="-122"/>
                <a:cs typeface="Cambria" pitchFamily="34" charset="-120"/>
              </a:rPr>
              <a:t>1</a:t>
            </a:r>
            <a:endParaRPr lang="en-US" sz="1600" dirty="0"/>
          </a:p>
        </p:txBody>
      </p:sp>
      <p:sp>
        <p:nvSpPr>
          <p:cNvPr id="31" name="Text 4">
            <a:extLst>
              <a:ext uri="{FF2B5EF4-FFF2-40B4-BE49-F238E27FC236}">
                <a16:creationId xmlns:a16="http://schemas.microsoft.com/office/drawing/2014/main" id="{3DAAFA5A-1B84-0470-5D87-D34D37EAC901}"/>
              </a:ext>
            </a:extLst>
          </p:cNvPr>
          <p:cNvSpPr/>
          <p:nvPr/>
        </p:nvSpPr>
        <p:spPr>
          <a:xfrm>
            <a:off x="1405335" y="1162043"/>
            <a:ext cx="9966960" cy="512064"/>
          </a:xfrm>
          <a:prstGeom prst="rect">
            <a:avLst/>
          </a:prstGeom>
          <a:noFill/>
          <a:ln/>
        </p:spPr>
        <p:txBody>
          <a:bodyPr wrap="square" rtlCol="0" anchor="ctr"/>
          <a:lstStyle/>
          <a:p>
            <a:pPr marL="0" indent="0">
              <a:buNone/>
            </a:pPr>
            <a:r>
              <a:rPr lang="en-US" sz="1500" dirty="0">
                <a:solidFill>
                  <a:srgbClr val="14213D"/>
                </a:solidFill>
                <a:latin typeface="Calibri" pitchFamily="34" charset="0"/>
                <a:ea typeface="Calibri" pitchFamily="34" charset="-122"/>
                <a:cs typeface="Calibri" pitchFamily="34" charset="-120"/>
              </a:rPr>
              <a:t>Deep-dive on the mechanics &amp; characteristics of generative AI</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28AE1460-B040-697B-CC78-CD160A91D5A0}"/>
              </a:ext>
            </a:extLst>
          </p:cNvPr>
          <p:cNvSpPr/>
          <p:nvPr/>
        </p:nvSpPr>
        <p:spPr>
          <a:xfrm>
            <a:off x="609600" y="1950720"/>
            <a:ext cx="5178014" cy="2926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5333" b="1" i="0" u="none" strike="noStrike" kern="1200" cap="none" spc="0" normalizeH="0" baseline="0" noProof="0">
                <a:ln>
                  <a:noFill/>
                </a:ln>
                <a:solidFill>
                  <a:srgbClr val="FFFFFF"/>
                </a:solidFill>
                <a:effectLst/>
                <a:uLnTx/>
                <a:uFillTx/>
                <a:latin typeface="Arial Black" pitchFamily="34" charset="0"/>
                <a:ea typeface="Arial Black" pitchFamily="34" charset="-122"/>
                <a:cs typeface="Arial Black" pitchFamily="34" charset="-120"/>
              </a:rPr>
              <a:t>What animal is walking on the fence?</a:t>
            </a:r>
            <a:endParaRPr kumimoji="0" lang="en-US" sz="53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1">
            <a:extLst>
              <a:ext uri="{FF2B5EF4-FFF2-40B4-BE49-F238E27FC236}">
                <a16:creationId xmlns:a16="http://schemas.microsoft.com/office/drawing/2014/main" id="{935EED49-735D-2A16-2315-AE657B7B1B4B}"/>
              </a:ext>
            </a:extLst>
          </p:cNvPr>
          <p:cNvSpPr/>
          <p:nvPr/>
        </p:nvSpPr>
        <p:spPr>
          <a:xfrm>
            <a:off x="853440" y="4876800"/>
            <a:ext cx="5242560" cy="73152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srgbClr val="FFFFFF"/>
                </a:solidFill>
                <a:effectLst/>
                <a:uLnTx/>
                <a:uFillTx/>
                <a:latin typeface="Palatino Linotype" pitchFamily="34" charset="0"/>
                <a:ea typeface="Palatino Linotype" pitchFamily="34" charset="-122"/>
                <a:cs typeface="Palatino Linotype" pitchFamily="34" charset="-120"/>
              </a:rPr>
              <a:t>Look closely before you answer.</a:t>
            </a: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Picture 5" descr="A cat walking on a fence  Description automatically generated">
            <a:extLst>
              <a:ext uri="{FF2B5EF4-FFF2-40B4-BE49-F238E27FC236}">
                <a16:creationId xmlns:a16="http://schemas.microsoft.com/office/drawing/2014/main" id="{4FCB30F9-80D4-1337-1B74-C4B56B3B5DD3}"/>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715421" y="1324595"/>
            <a:ext cx="4603158" cy="4721669"/>
          </a:xfrm>
          <a:prstGeom prst="roundRect">
            <a:avLst/>
          </a:prstGeom>
          <a:noFill/>
        </p:spPr>
      </p:pic>
      <p:sp>
        <p:nvSpPr>
          <p:cNvPr id="7" name="Rounded Rectangle 21">
            <a:extLst>
              <a:ext uri="{FF2B5EF4-FFF2-40B4-BE49-F238E27FC236}">
                <a16:creationId xmlns:a16="http://schemas.microsoft.com/office/drawing/2014/main" id="{5F1166F2-F49E-5C3C-2F4E-B56BADA65835}"/>
              </a:ext>
            </a:extLst>
          </p:cNvPr>
          <p:cNvSpPr/>
          <p:nvPr/>
        </p:nvSpPr>
        <p:spPr>
          <a:xfrm>
            <a:off x="8360229" y="2508570"/>
            <a:ext cx="1574418" cy="1574418"/>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110004020202020204"/>
              <a:ea typeface="+mn-ea"/>
              <a:cs typeface="+mn-cs"/>
            </a:endParaRPr>
          </a:p>
        </p:txBody>
      </p:sp>
    </p:spTree>
    <p:extLst>
      <p:ext uri="{BB962C8B-B14F-4D97-AF65-F5344CB8AC3E}">
        <p14:creationId xmlns:p14="http://schemas.microsoft.com/office/powerpoint/2010/main" val="95394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479D1-C129-6CBA-9D42-01FE7654B6E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FBAC15F-4199-3CD6-E026-68DF45FBAC5B}"/>
              </a:ext>
            </a:extLst>
          </p:cNvPr>
          <p:cNvSpPr/>
          <p:nvPr/>
        </p:nvSpPr>
        <p:spPr>
          <a:xfrm>
            <a:off x="609600" y="1950720"/>
            <a:ext cx="5178014" cy="2926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5333" b="1" i="0" u="none" strike="noStrike" kern="1200" cap="none" spc="0" normalizeH="0" baseline="0" noProof="0">
                <a:ln>
                  <a:noFill/>
                </a:ln>
                <a:solidFill>
                  <a:srgbClr val="FFFFFF"/>
                </a:solidFill>
                <a:effectLst/>
                <a:uLnTx/>
                <a:uFillTx/>
                <a:latin typeface="Arial Black" pitchFamily="34" charset="0"/>
                <a:ea typeface="Arial Black" pitchFamily="34" charset="-122"/>
                <a:cs typeface="Arial Black" pitchFamily="34" charset="-120"/>
              </a:rPr>
              <a:t>It’s a cat.</a:t>
            </a:r>
            <a:endParaRPr kumimoji="0" lang="en-US" sz="53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A929D30C-DE6C-3205-FEA4-C0B6868888F4}"/>
              </a:ext>
            </a:extLst>
          </p:cNvPr>
          <p:cNvSpPr/>
          <p:nvPr/>
        </p:nvSpPr>
        <p:spPr>
          <a:xfrm>
            <a:off x="853440" y="4876800"/>
            <a:ext cx="5242560" cy="73152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srgbClr val="FFFFFF"/>
                </a:solidFill>
                <a:effectLst/>
                <a:uLnTx/>
                <a:uFillTx/>
                <a:latin typeface="Palatino Linotype" pitchFamily="34" charset="0"/>
                <a:ea typeface="Palatino Linotype" pitchFamily="34" charset="-122"/>
                <a:cs typeface="Palatino Linotype" pitchFamily="34" charset="-120"/>
              </a:rPr>
              <a:t>Your eye finished the picture from the parts you could see.</a:t>
            </a:r>
            <a:endParaRPr kumimoji="0" lang="en-US" sz="24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9" name="Picture 8" descr="A cat walking on a fence  Description automatically generated">
            <a:extLst>
              <a:ext uri="{FF2B5EF4-FFF2-40B4-BE49-F238E27FC236}">
                <a16:creationId xmlns:a16="http://schemas.microsoft.com/office/drawing/2014/main" id="{E4B4C410-68BA-EAB7-4058-3E26A870E15A}"/>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715421" y="1324595"/>
            <a:ext cx="4603158" cy="4721669"/>
          </a:xfrm>
          <a:prstGeom prst="roundRect">
            <a:avLst/>
          </a:prstGeom>
          <a:noFill/>
        </p:spPr>
      </p:pic>
    </p:spTree>
    <p:extLst>
      <p:ext uri="{BB962C8B-B14F-4D97-AF65-F5344CB8AC3E}">
        <p14:creationId xmlns:p14="http://schemas.microsoft.com/office/powerpoint/2010/main" val="1818471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7B357-72BC-8088-55D0-3219A80F4C80}"/>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A0F84B21-56A4-D6BE-40F0-154B4F2664DA}"/>
              </a:ext>
            </a:extLst>
          </p:cNvPr>
          <p:cNvSpPr/>
          <p:nvPr/>
        </p:nvSpPr>
        <p:spPr>
          <a:xfrm>
            <a:off x="609600" y="1950720"/>
            <a:ext cx="5178014" cy="2926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5333" b="1" i="0" u="none" strike="noStrike" kern="1200" cap="none" spc="0" normalizeH="0" baseline="0" noProof="0">
                <a:ln>
                  <a:noFill/>
                </a:ln>
                <a:solidFill>
                  <a:srgbClr val="FFFFFF"/>
                </a:solidFill>
                <a:effectLst/>
                <a:uLnTx/>
                <a:uFillTx/>
                <a:latin typeface="Arial Black" pitchFamily="34" charset="0"/>
                <a:ea typeface="Arial Black" pitchFamily="34" charset="-122"/>
                <a:cs typeface="Arial Black" pitchFamily="34" charset="-120"/>
              </a:rPr>
              <a:t>Sometimes the pattern is wrong.</a:t>
            </a:r>
            <a:endParaRPr kumimoji="0" lang="en-US" sz="53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1">
            <a:extLst>
              <a:ext uri="{FF2B5EF4-FFF2-40B4-BE49-F238E27FC236}">
                <a16:creationId xmlns:a16="http://schemas.microsoft.com/office/drawing/2014/main" id="{80D0E1EB-9126-6BD1-221F-F32CDDD021CC}"/>
              </a:ext>
            </a:extLst>
          </p:cNvPr>
          <p:cNvSpPr/>
          <p:nvPr/>
        </p:nvSpPr>
        <p:spPr>
          <a:xfrm>
            <a:off x="853440" y="4876800"/>
            <a:ext cx="5242560" cy="73152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srgbClr val="FFFFFF"/>
                </a:solidFill>
                <a:effectLst/>
                <a:uLnTx/>
                <a:uFillTx/>
                <a:latin typeface="Palatino Linotype" pitchFamily="34" charset="0"/>
                <a:ea typeface="Palatino Linotype" pitchFamily="34" charset="-122"/>
                <a:cs typeface="Palatino Linotype" pitchFamily="34" charset="-120"/>
              </a:rPr>
              <a:t>AI does the same thing — confidently. Treat its output as a signal, not authority.</a:t>
            </a:r>
            <a:endParaRPr kumimoji="0" lang="en-US" sz="24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6" name="Picture 5" descr="A cat walking on a fence  Description automatically generated">
            <a:extLst>
              <a:ext uri="{FF2B5EF4-FFF2-40B4-BE49-F238E27FC236}">
                <a16:creationId xmlns:a16="http://schemas.microsoft.com/office/drawing/2014/main" id="{97E356F7-BE69-210F-7A6B-7827258DDFBC}"/>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715421" y="1324595"/>
            <a:ext cx="4603158" cy="4721669"/>
          </a:xfrm>
          <a:prstGeom prst="roundRect">
            <a:avLst/>
          </a:prstGeom>
          <a:noFill/>
        </p:spPr>
      </p:pic>
      <p:pic>
        <p:nvPicPr>
          <p:cNvPr id="7" name="Picture 6">
            <a:extLst>
              <a:ext uri="{FF2B5EF4-FFF2-40B4-BE49-F238E27FC236}">
                <a16:creationId xmlns:a16="http://schemas.microsoft.com/office/drawing/2014/main" id="{5104C5BC-A185-5BAE-73AF-8219FA82C759}"/>
              </a:ext>
            </a:extLst>
          </p:cNvPr>
          <p:cNvPicPr>
            <a:picLocks noChangeAspect="1"/>
          </p:cNvPicPr>
          <p:nvPr/>
        </p:nvPicPr>
        <p:blipFill>
          <a:blip r:embed="rId4">
            <a:extLst>
              <a:ext uri="{28A0092B-C50C-407E-A947-70E740481C1C}">
                <a14:useLocalDpi xmlns:a14="http://schemas.microsoft.com/office/drawing/2010/main" val="0"/>
              </a:ext>
            </a:extLst>
          </a:blip>
          <a:srcRect t="2" b="2"/>
          <a:stretch/>
        </p:blipFill>
        <p:spPr>
          <a:xfrm>
            <a:off x="6735402" y="1324595"/>
            <a:ext cx="4603158" cy="4721669"/>
          </a:xfrm>
          <a:prstGeom prst="roundRect">
            <a:avLst/>
          </a:prstGeom>
          <a:noFill/>
        </p:spPr>
      </p:pic>
    </p:spTree>
    <p:extLst>
      <p:ext uri="{BB962C8B-B14F-4D97-AF65-F5344CB8AC3E}">
        <p14:creationId xmlns:p14="http://schemas.microsoft.com/office/powerpoint/2010/main" val="3291755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5C663-298F-50D1-587D-5877CE77BFE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C2D55E4-4338-167B-383D-817944984C0C}"/>
              </a:ext>
            </a:extLst>
          </p:cNvPr>
          <p:cNvSpPr/>
          <p:nvPr/>
        </p:nvSpPr>
        <p:spPr>
          <a:xfrm>
            <a:off x="609600" y="2249444"/>
            <a:ext cx="5048922" cy="1922033"/>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srgbClr val="FFFFFF"/>
                </a:solidFill>
                <a:effectLst/>
                <a:uLnTx/>
                <a:uFillTx/>
                <a:latin typeface="Arial Black" pitchFamily="34" charset="0"/>
                <a:ea typeface="Arial Black" pitchFamily="34" charset="-122"/>
                <a:cs typeface="Arial Black" pitchFamily="34" charset="-120"/>
              </a:rPr>
              <a:t>Generative AI is a form of data compression.</a:t>
            </a:r>
            <a:endParaRPr kumimoji="0" lang="en-US" sz="4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EA384AEA-8B9C-EB10-F05B-E523558C6C6A}"/>
              </a:ext>
            </a:extLst>
          </p:cNvPr>
          <p:cNvSpPr/>
          <p:nvPr/>
        </p:nvSpPr>
        <p:spPr>
          <a:xfrm>
            <a:off x="609600" y="4171477"/>
            <a:ext cx="5048922" cy="36576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a:ln>
                  <a:noFill/>
                </a:ln>
                <a:solidFill>
                  <a:srgbClr val="FFFFFF"/>
                </a:solidFill>
                <a:effectLst/>
                <a:uLnTx/>
                <a:uFillTx/>
                <a:latin typeface="Palatino Linotype" pitchFamily="34" charset="0"/>
                <a:ea typeface="Palatino Linotype" pitchFamily="34" charset="-122"/>
                <a:cs typeface="Palatino Linotype" pitchFamily="34" charset="-120"/>
              </a:rPr>
              <a:t>Compress the world. Decompress on demand.</a:t>
            </a: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3701CE65-DA59-B669-4DFE-C7D5770725B7}"/>
              </a:ext>
            </a:extLst>
          </p:cNvPr>
          <p:cNvPicPr>
            <a:picLocks noChangeAspect="1"/>
          </p:cNvPicPr>
          <p:nvPr/>
        </p:nvPicPr>
        <p:blipFill>
          <a:blip r:embed="rId3"/>
          <a:stretch>
            <a:fillRect/>
          </a:stretch>
        </p:blipFill>
        <p:spPr>
          <a:xfrm>
            <a:off x="6096000" y="1950720"/>
            <a:ext cx="5655733" cy="2675467"/>
          </a:xfrm>
          <a:prstGeom prst="rect">
            <a:avLst/>
          </a:prstGeom>
        </p:spPr>
      </p:pic>
    </p:spTree>
    <p:extLst>
      <p:ext uri="{BB962C8B-B14F-4D97-AF65-F5344CB8AC3E}">
        <p14:creationId xmlns:p14="http://schemas.microsoft.com/office/powerpoint/2010/main" val="1785242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210CA-1D94-D3CF-658D-799A3C5066FB}"/>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9CF61B02-07B4-D717-86A7-390A5C876A02}"/>
              </a:ext>
            </a:extLst>
          </p:cNvPr>
          <p:cNvSpPr/>
          <p:nvPr/>
        </p:nvSpPr>
        <p:spPr>
          <a:xfrm>
            <a:off x="609600" y="1950720"/>
            <a:ext cx="4661647" cy="17068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Arial Black" pitchFamily="34" charset="0"/>
                <a:ea typeface="Arial Black" pitchFamily="34" charset="-122"/>
                <a:cs typeface="Arial Black" pitchFamily="34" charset="-120"/>
              </a:rPr>
              <a:t>2T tokens compressed into 208B parameters is a lossy compression.</a:t>
            </a: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1">
            <a:extLst>
              <a:ext uri="{FF2B5EF4-FFF2-40B4-BE49-F238E27FC236}">
                <a16:creationId xmlns:a16="http://schemas.microsoft.com/office/drawing/2014/main" id="{E6150120-759D-21AC-7725-D425B182F919}"/>
              </a:ext>
            </a:extLst>
          </p:cNvPr>
          <p:cNvSpPr/>
          <p:nvPr/>
        </p:nvSpPr>
        <p:spPr>
          <a:xfrm>
            <a:off x="839096" y="3429000"/>
            <a:ext cx="4202654" cy="73152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a:ln>
                  <a:noFill/>
                </a:ln>
                <a:solidFill>
                  <a:srgbClr val="FFFFFF"/>
                </a:solidFill>
                <a:effectLst/>
                <a:uLnTx/>
                <a:uFillTx/>
                <a:latin typeface="Palatino Linotype" pitchFamily="34" charset="0"/>
                <a:ea typeface="Palatino Linotype" pitchFamily="34" charset="-122"/>
                <a:cs typeface="Palatino Linotype" pitchFamily="34" charset="-120"/>
              </a:rPr>
              <a:t>Which is why it sometimes hallucinates the cat where there isn't one.</a:t>
            </a: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ADB90A27-C004-AD58-C76B-964886E7CAD3}"/>
              </a:ext>
            </a:extLst>
          </p:cNvPr>
          <p:cNvPicPr>
            <a:picLocks noChangeAspect="1"/>
          </p:cNvPicPr>
          <p:nvPr/>
        </p:nvPicPr>
        <p:blipFill>
          <a:blip r:embed="rId3"/>
          <a:stretch>
            <a:fillRect/>
          </a:stretch>
        </p:blipFill>
        <p:spPr>
          <a:xfrm>
            <a:off x="5761716" y="2091266"/>
            <a:ext cx="5655733" cy="2675467"/>
          </a:xfrm>
          <a:prstGeom prst="rect">
            <a:avLst/>
          </a:prstGeom>
        </p:spPr>
      </p:pic>
    </p:spTree>
    <p:extLst>
      <p:ext uri="{BB962C8B-B14F-4D97-AF65-F5344CB8AC3E}">
        <p14:creationId xmlns:p14="http://schemas.microsoft.com/office/powerpoint/2010/main" val="4255200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5EC59-EBC9-034A-84B6-D802B8364C45}"/>
              </a:ext>
            </a:extLst>
          </p:cNvPr>
          <p:cNvSpPr>
            <a:spLocks noGrp="1"/>
          </p:cNvSpPr>
          <p:nvPr>
            <p:ph type="title"/>
          </p:nvPr>
        </p:nvSpPr>
        <p:spPr>
          <a:xfrm>
            <a:off x="381000" y="342900"/>
            <a:ext cx="11430000" cy="886397"/>
          </a:xfrm>
        </p:spPr>
        <p:txBody>
          <a:bodyPr/>
          <a:lstStyle/>
          <a:p>
            <a:r>
              <a:rPr lang="en-US"/>
              <a:t>Fundamental differences</a:t>
            </a:r>
            <a:br>
              <a:rPr lang="en-US"/>
            </a:br>
            <a:endParaRPr lang="en-US"/>
          </a:p>
        </p:txBody>
      </p:sp>
      <p:sp>
        <p:nvSpPr>
          <p:cNvPr id="3" name="Subtitle 2">
            <a:extLst>
              <a:ext uri="{FF2B5EF4-FFF2-40B4-BE49-F238E27FC236}">
                <a16:creationId xmlns:a16="http://schemas.microsoft.com/office/drawing/2014/main" id="{C02D2FF1-43BF-3F72-4ECE-80CD102B419D}"/>
              </a:ext>
            </a:extLst>
          </p:cNvPr>
          <p:cNvSpPr>
            <a:spLocks noGrp="1"/>
          </p:cNvSpPr>
          <p:nvPr>
            <p:ph type="subTitle" idx="1"/>
          </p:nvPr>
        </p:nvSpPr>
        <p:spPr>
          <a:xfrm>
            <a:off x="381000" y="857250"/>
            <a:ext cx="11430000" cy="246221"/>
          </a:xfrm>
        </p:spPr>
        <p:txBody>
          <a:bodyPr/>
          <a:lstStyle/>
          <a:p>
            <a:r>
              <a:rPr lang="en-US"/>
              <a:t>From the “old” way to ”new”</a:t>
            </a:r>
          </a:p>
        </p:txBody>
      </p:sp>
      <p:sp>
        <p:nvSpPr>
          <p:cNvPr id="4" name="Shape 4">
            <a:extLst>
              <a:ext uri="{FF2B5EF4-FFF2-40B4-BE49-F238E27FC236}">
                <a16:creationId xmlns:a16="http://schemas.microsoft.com/office/drawing/2014/main" id="{C29B1B39-497A-A4A5-B7A8-5CB0C7ACF857}"/>
              </a:ext>
            </a:extLst>
          </p:cNvPr>
          <p:cNvSpPr/>
          <p:nvPr/>
        </p:nvSpPr>
        <p:spPr>
          <a:xfrm>
            <a:off x="609600" y="1620578"/>
            <a:ext cx="5364480" cy="4646659"/>
          </a:xfrm>
          <a:prstGeom prst="rect">
            <a:avLst/>
          </a:prstGeom>
          <a:solidFill>
            <a:srgbClr val="E6E6D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5">
            <a:extLst>
              <a:ext uri="{FF2B5EF4-FFF2-40B4-BE49-F238E27FC236}">
                <a16:creationId xmlns:a16="http://schemas.microsoft.com/office/drawing/2014/main" id="{04755A98-D729-7E3F-0748-DE155527EC2D}"/>
              </a:ext>
            </a:extLst>
          </p:cNvPr>
          <p:cNvSpPr/>
          <p:nvPr/>
        </p:nvSpPr>
        <p:spPr>
          <a:xfrm>
            <a:off x="609600" y="1620579"/>
            <a:ext cx="97536" cy="4023360"/>
          </a:xfrm>
          <a:prstGeom prst="rect">
            <a:avLst/>
          </a:prstGeom>
          <a:solidFill>
            <a:srgbClr val="96968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6">
            <a:extLst>
              <a:ext uri="{FF2B5EF4-FFF2-40B4-BE49-F238E27FC236}">
                <a16:creationId xmlns:a16="http://schemas.microsoft.com/office/drawing/2014/main" id="{3AC0F9C2-7EC1-969E-31AB-13FB9DBFF4C6}"/>
              </a:ext>
            </a:extLst>
          </p:cNvPr>
          <p:cNvSpPr/>
          <p:nvPr/>
        </p:nvSpPr>
        <p:spPr>
          <a:xfrm>
            <a:off x="914400" y="1803459"/>
            <a:ext cx="4876800"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000000"/>
                </a:solidFill>
                <a:effectLst/>
                <a:uLnTx/>
                <a:uFillTx/>
                <a:latin typeface="Arial Black" pitchFamily="34" charset="0"/>
                <a:ea typeface="Arial Black" pitchFamily="34" charset="-122"/>
                <a:cs typeface="Arial Black" pitchFamily="34" charset="-120"/>
              </a:rPr>
              <a:t>2 + 2 = 4</a:t>
            </a:r>
            <a:endParaRPr kumimoji="0" lang="en-US" sz="21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7">
            <a:extLst>
              <a:ext uri="{FF2B5EF4-FFF2-40B4-BE49-F238E27FC236}">
                <a16:creationId xmlns:a16="http://schemas.microsoft.com/office/drawing/2014/main" id="{FA2C060E-99D0-0449-D82D-5D4FF8470BE5}"/>
              </a:ext>
            </a:extLst>
          </p:cNvPr>
          <p:cNvSpPr/>
          <p:nvPr/>
        </p:nvSpPr>
        <p:spPr>
          <a:xfrm>
            <a:off x="975360" y="4626235"/>
            <a:ext cx="4815840" cy="1436804"/>
          </a:xfrm>
          <a:prstGeom prst="rect">
            <a:avLst/>
          </a:prstGeom>
          <a:noFill/>
          <a:ln/>
        </p:spPr>
        <p:txBody>
          <a:bodyPr wrap="square" lIns="0" tIns="0" rIns="0" bIns="0" rtlCol="0" anchor="t"/>
          <a:lstStyle/>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Calculators, traditional rules engines.</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Same input always produces the same output.</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Bugs are reproducible. Tests are deterministic. Audit is straightforward.</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Engineers debug by reading the code.</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8">
            <a:extLst>
              <a:ext uri="{FF2B5EF4-FFF2-40B4-BE49-F238E27FC236}">
                <a16:creationId xmlns:a16="http://schemas.microsoft.com/office/drawing/2014/main" id="{4E3DB81A-43F5-6D80-6D07-15D67F4548C9}"/>
              </a:ext>
            </a:extLst>
          </p:cNvPr>
          <p:cNvSpPr/>
          <p:nvPr/>
        </p:nvSpPr>
        <p:spPr>
          <a:xfrm>
            <a:off x="6217920" y="1620579"/>
            <a:ext cx="5364480" cy="4646658"/>
          </a:xfrm>
          <a:prstGeom prst="rect">
            <a:avLst/>
          </a:prstGeom>
          <a:solidFill>
            <a:srgbClr val="E6E6D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9">
            <a:extLst>
              <a:ext uri="{FF2B5EF4-FFF2-40B4-BE49-F238E27FC236}">
                <a16:creationId xmlns:a16="http://schemas.microsoft.com/office/drawing/2014/main" id="{755AABDA-D06D-3C57-1B5A-E04A2A387756}"/>
              </a:ext>
            </a:extLst>
          </p:cNvPr>
          <p:cNvSpPr/>
          <p:nvPr/>
        </p:nvSpPr>
        <p:spPr>
          <a:xfrm>
            <a:off x="6217920" y="1620579"/>
            <a:ext cx="97536" cy="4646658"/>
          </a:xfrm>
          <a:prstGeom prst="rect">
            <a:avLst/>
          </a:prstGeom>
          <a:solidFill>
            <a:schemeClr val="bg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10">
            <a:extLst>
              <a:ext uri="{FF2B5EF4-FFF2-40B4-BE49-F238E27FC236}">
                <a16:creationId xmlns:a16="http://schemas.microsoft.com/office/drawing/2014/main" id="{BB90EA4D-3EA3-EF02-F548-8944FA3D89CC}"/>
              </a:ext>
            </a:extLst>
          </p:cNvPr>
          <p:cNvSpPr/>
          <p:nvPr/>
        </p:nvSpPr>
        <p:spPr>
          <a:xfrm>
            <a:off x="6522720" y="1803459"/>
            <a:ext cx="4876800"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000000"/>
                </a:solidFill>
                <a:effectLst/>
                <a:uLnTx/>
                <a:uFillTx/>
                <a:latin typeface="Arial Black" pitchFamily="34" charset="0"/>
                <a:ea typeface="Arial Black" pitchFamily="34" charset="-122"/>
                <a:cs typeface="Arial Black" pitchFamily="34" charset="-120"/>
              </a:rPr>
              <a:t>2 + 2 = 99.99% probability of 4</a:t>
            </a:r>
            <a:endParaRPr kumimoji="0" lang="en-US" sz="21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11">
            <a:extLst>
              <a:ext uri="{FF2B5EF4-FFF2-40B4-BE49-F238E27FC236}">
                <a16:creationId xmlns:a16="http://schemas.microsoft.com/office/drawing/2014/main" id="{8C45D627-11A9-F833-1B2D-00465E2ADA57}"/>
              </a:ext>
            </a:extLst>
          </p:cNvPr>
          <p:cNvSpPr/>
          <p:nvPr/>
        </p:nvSpPr>
        <p:spPr>
          <a:xfrm>
            <a:off x="6583680" y="4606285"/>
            <a:ext cx="4815840" cy="1606006"/>
          </a:xfrm>
          <a:prstGeom prst="rect">
            <a:avLst/>
          </a:prstGeom>
          <a:noFill/>
          <a:ln/>
        </p:spPr>
        <p:txBody>
          <a:bodyPr wrap="square" lIns="0" tIns="0" rIns="0" bIns="0" rtlCol="0" anchor="t"/>
          <a:lstStyle/>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ML &amp; generative AI — decision trees, random forests, neural nets, LLMs.</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Same input may produce different outputs</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Failure modes are statistical. Evaluation is quality control, not unit tests.</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You debug by reading the data.</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6">
            <a:extLst>
              <a:ext uri="{FF2B5EF4-FFF2-40B4-BE49-F238E27FC236}">
                <a16:creationId xmlns:a16="http://schemas.microsoft.com/office/drawing/2014/main" id="{81B1969B-D917-A8B4-C069-7F8942CF7A9D}"/>
              </a:ext>
            </a:extLst>
          </p:cNvPr>
          <p:cNvSpPr/>
          <p:nvPr/>
        </p:nvSpPr>
        <p:spPr>
          <a:xfrm>
            <a:off x="609600" y="1285299"/>
            <a:ext cx="4876800" cy="33528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000000"/>
                </a:solidFill>
                <a:effectLst/>
                <a:uLnTx/>
                <a:uFillTx/>
                <a:latin typeface="Arial Black" pitchFamily="34" charset="0"/>
                <a:ea typeface="Arial Black" pitchFamily="34" charset="-122"/>
                <a:cs typeface="Arial Black" pitchFamily="34" charset="-120"/>
              </a:rPr>
              <a:t>Deterministic</a:t>
            </a:r>
            <a:endParaRPr kumimoji="0" lang="en-US" sz="21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6">
            <a:extLst>
              <a:ext uri="{FF2B5EF4-FFF2-40B4-BE49-F238E27FC236}">
                <a16:creationId xmlns:a16="http://schemas.microsoft.com/office/drawing/2014/main" id="{2E9110AC-CDC0-F6F6-6BCF-787914DFB30D}"/>
              </a:ext>
            </a:extLst>
          </p:cNvPr>
          <p:cNvSpPr/>
          <p:nvPr/>
        </p:nvSpPr>
        <p:spPr>
          <a:xfrm>
            <a:off x="6217920" y="1285299"/>
            <a:ext cx="4876800" cy="33528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000000"/>
                </a:solidFill>
                <a:effectLst/>
                <a:uLnTx/>
                <a:uFillTx/>
                <a:latin typeface="Arial Black" pitchFamily="34" charset="0"/>
                <a:ea typeface="Arial Black" pitchFamily="34" charset="-122"/>
                <a:cs typeface="Arial Black" pitchFamily="34" charset="-120"/>
              </a:rPr>
              <a:t>Probabilistic</a:t>
            </a:r>
            <a:endParaRPr kumimoji="0" lang="en-US" sz="21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9">
            <a:extLst>
              <a:ext uri="{FF2B5EF4-FFF2-40B4-BE49-F238E27FC236}">
                <a16:creationId xmlns:a16="http://schemas.microsoft.com/office/drawing/2014/main" id="{70E0E248-1279-4B1E-1A92-F35D17ED20CF}"/>
              </a:ext>
            </a:extLst>
          </p:cNvPr>
          <p:cNvSpPr/>
          <p:nvPr/>
        </p:nvSpPr>
        <p:spPr>
          <a:xfrm>
            <a:off x="621792" y="1620578"/>
            <a:ext cx="97536" cy="4646659"/>
          </a:xfrm>
          <a:prstGeom prst="rect">
            <a:avLst/>
          </a:prstGeom>
          <a:solidFill>
            <a:schemeClr val="bg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 name="Picture 15">
            <a:extLst>
              <a:ext uri="{FF2B5EF4-FFF2-40B4-BE49-F238E27FC236}">
                <a16:creationId xmlns:a16="http://schemas.microsoft.com/office/drawing/2014/main" id="{3F56A938-B8E0-2A22-4DA9-4452EB9D5637}"/>
              </a:ext>
            </a:extLst>
          </p:cNvPr>
          <p:cNvPicPr>
            <a:picLocks noChangeAspect="1"/>
          </p:cNvPicPr>
          <p:nvPr/>
        </p:nvPicPr>
        <p:blipFill>
          <a:blip r:embed="rId3"/>
          <a:stretch>
            <a:fillRect/>
          </a:stretch>
        </p:blipFill>
        <p:spPr>
          <a:xfrm>
            <a:off x="902208" y="2108259"/>
            <a:ext cx="4584192" cy="2498026"/>
          </a:xfrm>
          <a:prstGeom prst="rect">
            <a:avLst/>
          </a:prstGeom>
        </p:spPr>
      </p:pic>
      <p:pic>
        <p:nvPicPr>
          <p:cNvPr id="17" name="Picture 16">
            <a:extLst>
              <a:ext uri="{FF2B5EF4-FFF2-40B4-BE49-F238E27FC236}">
                <a16:creationId xmlns:a16="http://schemas.microsoft.com/office/drawing/2014/main" id="{5B4A8289-5085-35FE-FE5E-9D5387BCE495}"/>
              </a:ext>
            </a:extLst>
          </p:cNvPr>
          <p:cNvPicPr>
            <a:picLocks noChangeAspect="1"/>
          </p:cNvPicPr>
          <p:nvPr/>
        </p:nvPicPr>
        <p:blipFill>
          <a:blip r:embed="rId4"/>
          <a:stretch>
            <a:fillRect/>
          </a:stretch>
        </p:blipFill>
        <p:spPr>
          <a:xfrm>
            <a:off x="6496547" y="2100640"/>
            <a:ext cx="4598173" cy="2505645"/>
          </a:xfrm>
          <a:prstGeom prst="rect">
            <a:avLst/>
          </a:prstGeom>
        </p:spPr>
      </p:pic>
    </p:spTree>
    <p:extLst>
      <p:ext uri="{BB962C8B-B14F-4D97-AF65-F5344CB8AC3E}">
        <p14:creationId xmlns:p14="http://schemas.microsoft.com/office/powerpoint/2010/main" val="2004520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hape 4"/>
          <p:cNvSpPr/>
          <p:nvPr/>
        </p:nvSpPr>
        <p:spPr>
          <a:xfrm>
            <a:off x="3181738" y="2345932"/>
            <a:ext cx="2341823" cy="3048000"/>
          </a:xfrm>
          <a:prstGeom prst="rect">
            <a:avLst/>
          </a:prstGeom>
          <a:solidFill>
            <a:schemeClr val="accent1">
              <a:lumMod val="25000"/>
              <a:lumOff val="75000"/>
            </a:schemeClr>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3335850" y="2589772"/>
            <a:ext cx="2187710"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460073"/>
                </a:solidFill>
                <a:effectLst/>
                <a:uLnTx/>
                <a:uFillTx/>
                <a:latin typeface="Arial Black" pitchFamily="34" charset="0"/>
                <a:ea typeface="Arial Black" pitchFamily="34" charset="-122"/>
                <a:cs typeface="Arial Black" pitchFamily="34" charset="-120"/>
              </a:rPr>
              <a:t>PROMPT</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3335850" y="3382252"/>
            <a:ext cx="2004831" cy="18288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dirty="0">
                <a:ln>
                  <a:noFill/>
                </a:ln>
                <a:solidFill>
                  <a:srgbClr val="460073"/>
                </a:solidFill>
                <a:effectLst/>
                <a:uLnTx/>
                <a:uFillTx/>
                <a:latin typeface="Arial" pitchFamily="34" charset="0"/>
                <a:ea typeface="Arial" pitchFamily="34" charset="-122"/>
                <a:cs typeface="Arial" pitchFamily="34" charset="-120"/>
              </a:rPr>
              <a:t>What you ask. The model conditions every prediction on this context.</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5492051" y="3443212"/>
            <a:ext cx="609600" cy="85344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0672CB"/>
                </a:solidFill>
                <a:effectLst/>
                <a:uLnTx/>
                <a:uFillTx/>
                <a:latin typeface="Arial Black" pitchFamily="34" charset="0"/>
                <a:ea typeface="Arial Black" pitchFamily="34" charset="-122"/>
                <a:cs typeface="Arial Black" pitchFamily="34" charset="-120"/>
              </a:rPr>
              <a:t>›</a:t>
            </a:r>
            <a:endParaRPr kumimoji="0" lang="en-US" sz="4800" b="0" i="0" u="none" strike="noStrike" kern="1200" cap="none" spc="0" normalizeH="0" baseline="0" noProof="0" dirty="0">
              <a:ln>
                <a:noFill/>
              </a:ln>
              <a:solidFill>
                <a:srgbClr val="0672CB"/>
              </a:solidFill>
              <a:effectLst/>
              <a:uLnTx/>
              <a:uFillTx/>
              <a:latin typeface="Calibri" panose="020F0502020204030204"/>
              <a:ea typeface="+mn-ea"/>
              <a:cs typeface="+mn-cs"/>
            </a:endParaRPr>
          </a:p>
        </p:txBody>
      </p:sp>
      <p:sp>
        <p:nvSpPr>
          <p:cNvPr id="11" name="Shape 8"/>
          <p:cNvSpPr/>
          <p:nvPr/>
        </p:nvSpPr>
        <p:spPr>
          <a:xfrm>
            <a:off x="5972202" y="2345932"/>
            <a:ext cx="2341823" cy="3048000"/>
          </a:xfrm>
          <a:prstGeom prst="rect">
            <a:avLst/>
          </a:prstGeom>
          <a:solidFill>
            <a:schemeClr val="accent1">
              <a:lumMod val="50000"/>
              <a:lumOff val="50000"/>
            </a:schemeClr>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6126313" y="2589772"/>
            <a:ext cx="2187711"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MODEL IN ACTION</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6126314" y="3382252"/>
            <a:ext cx="2004831" cy="18288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Rapidly predicting the next token, then the next, building the response one piece at a time.</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8292789" y="3443212"/>
            <a:ext cx="609600" cy="85344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0672CB"/>
                </a:solidFill>
                <a:effectLst/>
                <a:uLnTx/>
                <a:uFillTx/>
                <a:latin typeface="Arial Black" pitchFamily="34" charset="0"/>
                <a:ea typeface="Arial Black" pitchFamily="34" charset="-122"/>
                <a:cs typeface="Arial Black" pitchFamily="34" charset="-120"/>
              </a:rPr>
              <a:t>›</a:t>
            </a:r>
            <a:endParaRPr kumimoji="0" lang="en-US" sz="4800" b="0" i="0" u="none" strike="noStrike" kern="1200" cap="none" spc="0" normalizeH="0" baseline="0" noProof="0" dirty="0">
              <a:ln>
                <a:noFill/>
              </a:ln>
              <a:solidFill>
                <a:srgbClr val="0672CB"/>
              </a:solidFill>
              <a:effectLst/>
              <a:uLnTx/>
              <a:uFillTx/>
              <a:latin typeface="Calibri" panose="020F0502020204030204"/>
              <a:ea typeface="+mn-ea"/>
              <a:cs typeface="+mn-cs"/>
            </a:endParaRPr>
          </a:p>
        </p:txBody>
      </p:sp>
      <p:sp>
        <p:nvSpPr>
          <p:cNvPr id="15" name="Shape 12"/>
          <p:cNvSpPr/>
          <p:nvPr/>
        </p:nvSpPr>
        <p:spPr>
          <a:xfrm>
            <a:off x="8772940" y="2345932"/>
            <a:ext cx="2341823" cy="3048000"/>
          </a:xfrm>
          <a:prstGeom prst="rect">
            <a:avLst/>
          </a:prstGeom>
          <a:solidFill>
            <a:schemeClr val="accent1">
              <a:lumMod val="90000"/>
              <a:lumOff val="10000"/>
            </a:schemeClr>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8927051" y="2589772"/>
            <a:ext cx="2187711"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OUTPUT</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8927052" y="3382252"/>
            <a:ext cx="2004831" cy="18288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An original answer assembled token-by-token from what the model has learned.</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EC74B135-4DDB-4796-FEEB-B9B620CAA0BC}"/>
              </a:ext>
            </a:extLst>
          </p:cNvPr>
          <p:cNvSpPr>
            <a:spLocks noGrp="1"/>
          </p:cNvSpPr>
          <p:nvPr>
            <p:ph type="title"/>
          </p:nvPr>
        </p:nvSpPr>
        <p:spPr>
          <a:xfrm>
            <a:off x="381000" y="342900"/>
            <a:ext cx="11430000" cy="886397"/>
          </a:xfrm>
        </p:spPr>
        <p:txBody>
          <a:bodyPr/>
          <a:lstStyle/>
          <a:p>
            <a:r>
              <a:rPr lang="en-US"/>
              <a:t>What's going on in the background?</a:t>
            </a:r>
            <a:br>
              <a:rPr lang="en-US"/>
            </a:br>
            <a:endParaRPr lang="en-US"/>
          </a:p>
        </p:txBody>
      </p:sp>
      <p:sp>
        <p:nvSpPr>
          <p:cNvPr id="19" name="Subtitle 18">
            <a:extLst>
              <a:ext uri="{FF2B5EF4-FFF2-40B4-BE49-F238E27FC236}">
                <a16:creationId xmlns:a16="http://schemas.microsoft.com/office/drawing/2014/main" id="{93A5D19B-135F-CDC9-6C4B-B3A75FB154FC}"/>
              </a:ext>
            </a:extLst>
          </p:cNvPr>
          <p:cNvSpPr>
            <a:spLocks noGrp="1"/>
          </p:cNvSpPr>
          <p:nvPr>
            <p:ph type="subTitle" idx="1"/>
          </p:nvPr>
        </p:nvSpPr>
        <p:spPr>
          <a:xfrm>
            <a:off x="381000" y="857250"/>
            <a:ext cx="11430000" cy="492443"/>
          </a:xfrm>
        </p:spPr>
        <p:txBody>
          <a:bodyPr/>
          <a:lstStyle/>
          <a:p>
            <a:r>
              <a:rPr lang="en-US"/>
              <a:t>An LLM is a </a:t>
            </a:r>
            <a:r>
              <a:rPr lang="en-US" err="1"/>
              <a:t>vlookup</a:t>
            </a:r>
            <a:r>
              <a:rPr lang="en-US"/>
              <a:t> table, predicting one token (~4 characters) at a time, conditioned on everything before it.</a:t>
            </a:r>
          </a:p>
          <a:p>
            <a:endParaRPr lang="en-US"/>
          </a:p>
        </p:txBody>
      </p:sp>
      <p:sp>
        <p:nvSpPr>
          <p:cNvPr id="3" name="Shape 4">
            <a:extLst>
              <a:ext uri="{FF2B5EF4-FFF2-40B4-BE49-F238E27FC236}">
                <a16:creationId xmlns:a16="http://schemas.microsoft.com/office/drawing/2014/main" id="{F7D63473-19D6-B672-A7BC-C04210DD1669}"/>
              </a:ext>
            </a:extLst>
          </p:cNvPr>
          <p:cNvSpPr/>
          <p:nvPr/>
        </p:nvSpPr>
        <p:spPr>
          <a:xfrm>
            <a:off x="381000" y="2345932"/>
            <a:ext cx="2341823" cy="3048000"/>
          </a:xfrm>
          <a:prstGeom prst="rect">
            <a:avLst/>
          </a:prstGeom>
          <a:solidFill>
            <a:schemeClr val="accent1">
              <a:lumMod val="25000"/>
              <a:lumOff val="75000"/>
            </a:schemeClr>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5">
            <a:extLst>
              <a:ext uri="{FF2B5EF4-FFF2-40B4-BE49-F238E27FC236}">
                <a16:creationId xmlns:a16="http://schemas.microsoft.com/office/drawing/2014/main" id="{700502BF-3F3E-CB83-B677-11DE4D1CF69E}"/>
              </a:ext>
            </a:extLst>
          </p:cNvPr>
          <p:cNvSpPr/>
          <p:nvPr/>
        </p:nvSpPr>
        <p:spPr>
          <a:xfrm>
            <a:off x="535112" y="2589772"/>
            <a:ext cx="2187710"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2133" b="1" dirty="0">
                <a:solidFill>
                  <a:srgbClr val="460073"/>
                </a:solidFill>
                <a:latin typeface="Arial Black" pitchFamily="34" charset="0"/>
                <a:ea typeface="Arial Black" pitchFamily="34" charset="-122"/>
                <a:cs typeface="Arial Black" pitchFamily="34" charset="-120"/>
              </a:rPr>
              <a:t>SYSTEM </a:t>
            </a:r>
            <a:r>
              <a:rPr kumimoji="0" lang="en-US" sz="2133" b="1" i="0" u="none" strike="noStrike" kern="1200" cap="none" spc="0" normalizeH="0" baseline="0" noProof="0" dirty="0">
                <a:ln>
                  <a:noFill/>
                </a:ln>
                <a:solidFill>
                  <a:srgbClr val="460073"/>
                </a:solidFill>
                <a:effectLst/>
                <a:uLnTx/>
                <a:uFillTx/>
                <a:latin typeface="Arial Black" pitchFamily="34" charset="0"/>
                <a:ea typeface="Arial Black" pitchFamily="34" charset="-122"/>
                <a:cs typeface="Arial Black" pitchFamily="34" charset="-120"/>
              </a:rPr>
              <a:t>PROMPT</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6">
            <a:extLst>
              <a:ext uri="{FF2B5EF4-FFF2-40B4-BE49-F238E27FC236}">
                <a16:creationId xmlns:a16="http://schemas.microsoft.com/office/drawing/2014/main" id="{13A21CF9-720F-E639-F2F2-01346D54719A}"/>
              </a:ext>
            </a:extLst>
          </p:cNvPr>
          <p:cNvSpPr/>
          <p:nvPr/>
        </p:nvSpPr>
        <p:spPr>
          <a:xfrm>
            <a:off x="535112" y="3382252"/>
            <a:ext cx="2004831" cy="18288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dirty="0">
                <a:ln>
                  <a:noFill/>
                </a:ln>
                <a:solidFill>
                  <a:srgbClr val="460073"/>
                </a:solidFill>
                <a:effectLst/>
                <a:uLnTx/>
                <a:uFillTx/>
                <a:latin typeface="Arial" pitchFamily="34" charset="0"/>
                <a:ea typeface="Arial" pitchFamily="34" charset="-122"/>
                <a:cs typeface="Arial" pitchFamily="34" charset="-120"/>
              </a:rPr>
              <a:t>The preamble to the model that is appended to each incoming prompt.  </a:t>
            </a:r>
            <a:r>
              <a:rPr lang="en-US" sz="1467" dirty="0">
                <a:solidFill>
                  <a:srgbClr val="460073"/>
                </a:solidFill>
                <a:latin typeface="Arial" pitchFamily="34" charset="0"/>
                <a:ea typeface="Arial" pitchFamily="34" charset="-122"/>
                <a:cs typeface="Arial" pitchFamily="34" charset="-120"/>
              </a:rPr>
              <a:t>The system prompt adds context &amp; instructions.</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7">
            <a:extLst>
              <a:ext uri="{FF2B5EF4-FFF2-40B4-BE49-F238E27FC236}">
                <a16:creationId xmlns:a16="http://schemas.microsoft.com/office/drawing/2014/main" id="{5DA94BC9-FE0D-E3EB-3946-DA87B13E7D93}"/>
              </a:ext>
            </a:extLst>
          </p:cNvPr>
          <p:cNvSpPr/>
          <p:nvPr/>
        </p:nvSpPr>
        <p:spPr>
          <a:xfrm>
            <a:off x="2642344" y="3429000"/>
            <a:ext cx="609600" cy="85344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0672CB"/>
                </a:solidFill>
                <a:effectLst/>
                <a:uLnTx/>
                <a:uFillTx/>
                <a:latin typeface="Arial Black" pitchFamily="34" charset="0"/>
                <a:ea typeface="Arial Black" pitchFamily="34" charset="-122"/>
                <a:cs typeface="Arial Black" pitchFamily="34" charset="-120"/>
              </a:rPr>
              <a:t>›</a:t>
            </a:r>
            <a:endParaRPr kumimoji="0" lang="en-US" sz="4800" b="0" i="0" u="none" strike="noStrike" kern="1200" cap="none" spc="0" normalizeH="0" baseline="0" noProof="0" dirty="0">
              <a:ln>
                <a:noFill/>
              </a:ln>
              <a:solidFill>
                <a:srgbClr val="0672CB"/>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457200" y="2167128"/>
            <a:ext cx="2880360" cy="32918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555555"/>
                </a:solidFill>
                <a:effectLst/>
                <a:uLnTx/>
                <a:uFillTx/>
                <a:latin typeface="Arial" pitchFamily="34" charset="0"/>
                <a:ea typeface="Arial" pitchFamily="34" charset="-122"/>
                <a:cs typeface="Arial" pitchFamily="34" charset="-120"/>
              </a:rPr>
              <a:t>What do I need to do today?</a:t>
            </a:r>
            <a:endParaRPr kumimoji="0" lang="en-US" sz="1200" b="0" i="0" u="none" strike="noStrike" kern="1200" cap="none" spc="0" normalizeH="0" baseline="0" noProof="0">
              <a:ln>
                <a:noFill/>
              </a:ln>
              <a:solidFill>
                <a:srgbClr val="808080"/>
              </a:solidFill>
              <a:effectLst/>
              <a:uLnTx/>
              <a:uFillTx/>
              <a:latin typeface="Arial"/>
              <a:ea typeface="+mn-ea"/>
              <a:cs typeface="+mn-cs"/>
            </a:endParaRPr>
          </a:p>
        </p:txBody>
      </p:sp>
      <p:sp>
        <p:nvSpPr>
          <p:cNvPr id="6" name="Shape 4"/>
          <p:cNvSpPr/>
          <p:nvPr/>
        </p:nvSpPr>
        <p:spPr>
          <a:xfrm>
            <a:off x="3474720" y="2331720"/>
            <a:ext cx="1669551" cy="927528"/>
          </a:xfrm>
          <a:prstGeom prst="line">
            <a:avLst/>
          </a:prstGeom>
          <a:noFill/>
          <a:ln w="12700">
            <a:solidFill>
              <a:srgbClr val="99999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7" name="Shape 5"/>
          <p:cNvSpPr/>
          <p:nvPr/>
        </p:nvSpPr>
        <p:spPr>
          <a:xfrm>
            <a:off x="3822500" y="2501563"/>
            <a:ext cx="640080" cy="256032"/>
          </a:xfrm>
          <a:prstGeom prst="roundRect">
            <a:avLst>
              <a:gd name="adj" fmla="val 14286"/>
            </a:avLst>
          </a:prstGeom>
          <a:solidFill>
            <a:srgbClr val="FFFFFF"/>
          </a:solidFill>
          <a:ln w="9525">
            <a:solidFill>
              <a:srgbClr val="CCCCC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8" name="Text 6"/>
          <p:cNvSpPr/>
          <p:nvPr/>
        </p:nvSpPr>
        <p:spPr>
          <a:xfrm>
            <a:off x="3822500" y="2501563"/>
            <a:ext cx="64008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888888"/>
                </a:solidFill>
                <a:effectLst/>
                <a:uLnTx/>
                <a:uFillTx/>
                <a:latin typeface="Arial Black" pitchFamily="34" charset="0"/>
                <a:ea typeface="Arial Black" pitchFamily="34" charset="-122"/>
                <a:cs typeface="Arial Black" pitchFamily="34" charset="-120"/>
              </a:rPr>
              <a:t>× 0.1</a:t>
            </a:r>
            <a:endParaRPr kumimoji="0" lang="en-US" sz="1000" b="0" i="0" u="none" strike="noStrike" kern="1200" cap="none" spc="0" normalizeH="0" baseline="0" noProof="0">
              <a:ln>
                <a:noFill/>
              </a:ln>
              <a:solidFill>
                <a:srgbClr val="808080"/>
              </a:solidFill>
              <a:effectLst/>
              <a:uLnTx/>
              <a:uFillTx/>
              <a:latin typeface="Arial"/>
              <a:ea typeface="+mn-ea"/>
              <a:cs typeface="+mn-cs"/>
            </a:endParaRPr>
          </a:p>
        </p:txBody>
      </p:sp>
      <p:sp>
        <p:nvSpPr>
          <p:cNvPr id="9" name="Text 7"/>
          <p:cNvSpPr/>
          <p:nvPr/>
        </p:nvSpPr>
        <p:spPr>
          <a:xfrm>
            <a:off x="457200" y="2990088"/>
            <a:ext cx="2880360" cy="32918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555555"/>
                </a:solidFill>
                <a:effectLst/>
                <a:uLnTx/>
                <a:uFillTx/>
                <a:latin typeface="Arial" pitchFamily="34" charset="0"/>
                <a:ea typeface="Arial" pitchFamily="34" charset="-122"/>
                <a:cs typeface="Arial" pitchFamily="34" charset="-120"/>
              </a:rPr>
              <a:t>I miss my dog.</a:t>
            </a:r>
            <a:endParaRPr kumimoji="0" lang="en-US" sz="1200" b="0" i="0" u="none" strike="noStrike" kern="1200" cap="none" spc="0" normalizeH="0" baseline="0" noProof="0">
              <a:ln>
                <a:noFill/>
              </a:ln>
              <a:solidFill>
                <a:srgbClr val="808080"/>
              </a:solidFill>
              <a:effectLst/>
              <a:uLnTx/>
              <a:uFillTx/>
              <a:latin typeface="Arial"/>
              <a:ea typeface="+mn-ea"/>
              <a:cs typeface="+mn-cs"/>
            </a:endParaRPr>
          </a:p>
        </p:txBody>
      </p:sp>
      <p:sp>
        <p:nvSpPr>
          <p:cNvPr id="10" name="Shape 8"/>
          <p:cNvSpPr/>
          <p:nvPr/>
        </p:nvSpPr>
        <p:spPr>
          <a:xfrm>
            <a:off x="3474720" y="3154680"/>
            <a:ext cx="1576255" cy="350279"/>
          </a:xfrm>
          <a:prstGeom prst="line">
            <a:avLst/>
          </a:prstGeom>
          <a:noFill/>
          <a:ln w="12700">
            <a:solidFill>
              <a:srgbClr val="99999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11" name="Shape 9"/>
          <p:cNvSpPr/>
          <p:nvPr/>
        </p:nvSpPr>
        <p:spPr>
          <a:xfrm>
            <a:off x="3785182" y="3093624"/>
            <a:ext cx="640080" cy="256032"/>
          </a:xfrm>
          <a:prstGeom prst="roundRect">
            <a:avLst>
              <a:gd name="adj" fmla="val 14286"/>
            </a:avLst>
          </a:prstGeom>
          <a:solidFill>
            <a:srgbClr val="FFFFFF"/>
          </a:solidFill>
          <a:ln w="9525">
            <a:solidFill>
              <a:srgbClr val="CCCCC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12" name="Text 10"/>
          <p:cNvSpPr/>
          <p:nvPr/>
        </p:nvSpPr>
        <p:spPr>
          <a:xfrm>
            <a:off x="3785182" y="3093624"/>
            <a:ext cx="64008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888888"/>
                </a:solidFill>
                <a:effectLst/>
                <a:uLnTx/>
                <a:uFillTx/>
                <a:latin typeface="Arial Black" pitchFamily="34" charset="0"/>
                <a:ea typeface="Arial Black" pitchFamily="34" charset="-122"/>
                <a:cs typeface="Arial Black" pitchFamily="34" charset="-120"/>
              </a:rPr>
              <a:t>× 0.1</a:t>
            </a:r>
            <a:endParaRPr kumimoji="0" lang="en-US" sz="1000" b="0" i="0" u="none" strike="noStrike" kern="1200" cap="none" spc="0" normalizeH="0" baseline="0" noProof="0">
              <a:ln>
                <a:noFill/>
              </a:ln>
              <a:solidFill>
                <a:srgbClr val="808080"/>
              </a:solidFill>
              <a:effectLst/>
              <a:uLnTx/>
              <a:uFillTx/>
              <a:latin typeface="Arial"/>
              <a:ea typeface="+mn-ea"/>
              <a:cs typeface="+mn-cs"/>
            </a:endParaRPr>
          </a:p>
        </p:txBody>
      </p:sp>
      <p:sp>
        <p:nvSpPr>
          <p:cNvPr id="13" name="Text 11"/>
          <p:cNvSpPr/>
          <p:nvPr/>
        </p:nvSpPr>
        <p:spPr>
          <a:xfrm>
            <a:off x="457200" y="4087368"/>
            <a:ext cx="2880360" cy="32918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555555"/>
                </a:solidFill>
                <a:effectLst/>
                <a:uLnTx/>
                <a:uFillTx/>
                <a:latin typeface="Arial" pitchFamily="34" charset="0"/>
                <a:ea typeface="Arial" pitchFamily="34" charset="-122"/>
                <a:cs typeface="Arial" pitchFamily="34" charset="-120"/>
              </a:rPr>
              <a:t>My favorite color is blue.</a:t>
            </a:r>
            <a:endParaRPr kumimoji="0" lang="en-US" sz="1200" b="0" i="0" u="none" strike="noStrike" kern="1200" cap="none" spc="0" normalizeH="0" baseline="0" noProof="0">
              <a:ln>
                <a:noFill/>
              </a:ln>
              <a:solidFill>
                <a:srgbClr val="808080"/>
              </a:solidFill>
              <a:effectLst/>
              <a:uLnTx/>
              <a:uFillTx/>
              <a:latin typeface="Arial"/>
              <a:ea typeface="+mn-ea"/>
              <a:cs typeface="+mn-cs"/>
            </a:endParaRPr>
          </a:p>
        </p:txBody>
      </p:sp>
      <p:sp>
        <p:nvSpPr>
          <p:cNvPr id="14" name="Shape 12"/>
          <p:cNvSpPr/>
          <p:nvPr/>
        </p:nvSpPr>
        <p:spPr>
          <a:xfrm flipV="1">
            <a:off x="3474721" y="3806855"/>
            <a:ext cx="1508760" cy="445105"/>
          </a:xfrm>
          <a:prstGeom prst="line">
            <a:avLst/>
          </a:prstGeom>
          <a:noFill/>
          <a:ln w="9525">
            <a:solidFill>
              <a:srgbClr val="BBBBBB"/>
            </a:solidFill>
            <a:prstDash val="dash"/>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15" name="Shape 13"/>
          <p:cNvSpPr/>
          <p:nvPr/>
        </p:nvSpPr>
        <p:spPr>
          <a:xfrm>
            <a:off x="3785182" y="3910680"/>
            <a:ext cx="640080" cy="256032"/>
          </a:xfrm>
          <a:prstGeom prst="roundRect">
            <a:avLst>
              <a:gd name="adj" fmla="val 14286"/>
            </a:avLst>
          </a:prstGeom>
          <a:solidFill>
            <a:srgbClr val="FFFFFF"/>
          </a:solidFill>
          <a:ln w="9525">
            <a:solidFill>
              <a:srgbClr val="CCCCC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16" name="Text 14"/>
          <p:cNvSpPr/>
          <p:nvPr/>
        </p:nvSpPr>
        <p:spPr>
          <a:xfrm>
            <a:off x="3785182" y="3910680"/>
            <a:ext cx="64008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888888"/>
                </a:solidFill>
                <a:effectLst/>
                <a:uLnTx/>
                <a:uFillTx/>
                <a:latin typeface="Arial Black" pitchFamily="34" charset="0"/>
                <a:ea typeface="Arial Black" pitchFamily="34" charset="-122"/>
                <a:cs typeface="Arial Black" pitchFamily="34" charset="-120"/>
              </a:rPr>
              <a:t>× 0.0</a:t>
            </a:r>
            <a:endParaRPr kumimoji="0" lang="en-US" sz="1000" b="0" i="0" u="none" strike="noStrike" kern="1200" cap="none" spc="0" normalizeH="0" baseline="0" noProof="0">
              <a:ln>
                <a:noFill/>
              </a:ln>
              <a:solidFill>
                <a:srgbClr val="808080"/>
              </a:solidFill>
              <a:effectLst/>
              <a:uLnTx/>
              <a:uFillTx/>
              <a:latin typeface="Arial"/>
              <a:ea typeface="+mn-ea"/>
              <a:cs typeface="+mn-cs"/>
            </a:endParaRPr>
          </a:p>
        </p:txBody>
      </p:sp>
      <p:sp>
        <p:nvSpPr>
          <p:cNvPr id="17" name="Text 15"/>
          <p:cNvSpPr/>
          <p:nvPr/>
        </p:nvSpPr>
        <p:spPr>
          <a:xfrm>
            <a:off x="457200" y="4910328"/>
            <a:ext cx="2880360" cy="32918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This is getting hot!</a:t>
            </a:r>
            <a:endParaRPr kumimoji="0" lang="en-US" sz="1200" b="0" i="0" u="none" strike="noStrike" kern="1200" cap="none" spc="0" normalizeH="0" baseline="0" noProof="0">
              <a:ln>
                <a:noFill/>
              </a:ln>
              <a:solidFill>
                <a:srgbClr val="808080"/>
              </a:solidFill>
              <a:effectLst/>
              <a:uLnTx/>
              <a:uFillTx/>
              <a:latin typeface="Arial"/>
              <a:ea typeface="+mn-ea"/>
              <a:cs typeface="+mn-cs"/>
            </a:endParaRPr>
          </a:p>
        </p:txBody>
      </p:sp>
      <p:sp>
        <p:nvSpPr>
          <p:cNvPr id="18" name="Shape 16"/>
          <p:cNvSpPr/>
          <p:nvPr/>
        </p:nvSpPr>
        <p:spPr>
          <a:xfrm flipV="1">
            <a:off x="3474720" y="4063186"/>
            <a:ext cx="1669551" cy="1011734"/>
          </a:xfrm>
          <a:prstGeom prst="line">
            <a:avLst/>
          </a:prstGeom>
          <a:noFill/>
          <a:ln w="63500">
            <a:solidFill>
              <a:schemeClr val="bg1"/>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19" name="Shape 17"/>
          <p:cNvSpPr/>
          <p:nvPr/>
        </p:nvSpPr>
        <p:spPr>
          <a:xfrm>
            <a:off x="3753920" y="4489358"/>
            <a:ext cx="777240" cy="256032"/>
          </a:xfrm>
          <a:prstGeom prst="roundRect">
            <a:avLst>
              <a:gd name="adj" fmla="val 14286"/>
            </a:avLst>
          </a:prstGeom>
          <a:solidFill>
            <a:srgbClr val="FFFFFF"/>
          </a:solidFill>
          <a:ln w="9525">
            <a:solidFill>
              <a:schemeClr val="bg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20" name="Text 18"/>
          <p:cNvSpPr/>
          <p:nvPr/>
        </p:nvSpPr>
        <p:spPr>
          <a:xfrm>
            <a:off x="3753920" y="4489358"/>
            <a:ext cx="77724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672CB"/>
                </a:solidFill>
                <a:effectLst/>
                <a:uLnTx/>
                <a:uFillTx/>
                <a:latin typeface="Arial Black" pitchFamily="34" charset="0"/>
                <a:ea typeface="Arial Black" pitchFamily="34" charset="-122"/>
                <a:cs typeface="Arial Black" pitchFamily="34" charset="-120"/>
              </a:rPr>
              <a:t>× 9.5</a:t>
            </a:r>
            <a:endParaRPr kumimoji="0" lang="en-US" sz="1200" b="0" i="0" u="none" strike="noStrike" kern="1200" cap="none" spc="0" normalizeH="0" baseline="0" noProof="0">
              <a:ln>
                <a:noFill/>
              </a:ln>
              <a:solidFill>
                <a:srgbClr val="0672CB"/>
              </a:solidFill>
              <a:effectLst/>
              <a:uLnTx/>
              <a:uFillTx/>
              <a:latin typeface="Arial"/>
              <a:ea typeface="+mn-ea"/>
              <a:cs typeface="+mn-cs"/>
            </a:endParaRPr>
          </a:p>
        </p:txBody>
      </p:sp>
      <p:sp>
        <p:nvSpPr>
          <p:cNvPr id="21" name="Shape 19"/>
          <p:cNvSpPr/>
          <p:nvPr/>
        </p:nvSpPr>
        <p:spPr>
          <a:xfrm>
            <a:off x="5029200" y="2788920"/>
            <a:ext cx="1828800" cy="1828800"/>
          </a:xfrm>
          <a:prstGeom prst="ellipse">
            <a:avLst/>
          </a:prstGeom>
          <a:solidFill>
            <a:schemeClr val="bg1"/>
          </a:solidFill>
          <a:ln w="25400">
            <a:noFill/>
            <a:prstDash val="solid"/>
          </a:ln>
          <a:effectLst>
            <a:outerShdw blurRad="152400" dist="38100" dir="8100000" algn="bl" rotWithShape="0">
              <a:srgbClr val="00000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22" name="Text 20"/>
          <p:cNvSpPr/>
          <p:nvPr/>
        </p:nvSpPr>
        <p:spPr>
          <a:xfrm>
            <a:off x="5029200" y="2788920"/>
            <a:ext cx="1828800" cy="18288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Arial Black" pitchFamily="34" charset="0"/>
                <a:ea typeface="Arial Black" pitchFamily="34" charset="-122"/>
                <a:cs typeface="Arial Black" pitchFamily="34" charset="-120"/>
              </a:rPr>
              <a:t>Σ Weighted Sum</a:t>
            </a:r>
            <a:endParaRPr kumimoji="0" lang="en-US" sz="1300" b="0" i="0" u="none" strike="noStrike" kern="1200" cap="none" spc="0" normalizeH="0" baseline="0" noProof="0">
              <a:ln>
                <a:noFill/>
              </a:ln>
              <a:solidFill>
                <a:srgbClr val="80808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Arial"/>
                <a:ea typeface="+mn-ea"/>
                <a:cs typeface="+mn-cs"/>
              </a:rPr>
              <a:t> </a:t>
            </a:r>
            <a:endParaRPr kumimoji="0" lang="en-US" sz="1300" b="0" i="0" u="none" strike="noStrike" kern="1200" cap="none" spc="0" normalizeH="0" baseline="0" noProof="0">
              <a:ln>
                <a:noFill/>
              </a:ln>
              <a:solidFill>
                <a:srgbClr val="80808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D2155">
                    <a:lumMod val="10000"/>
                    <a:lumOff val="90000"/>
                  </a:srgbClr>
                </a:solidFill>
                <a:effectLst/>
                <a:uLnTx/>
                <a:uFillTx/>
                <a:latin typeface="Arial" pitchFamily="34" charset="0"/>
                <a:ea typeface="Arial" pitchFamily="34" charset="-122"/>
                <a:cs typeface="Arial" pitchFamily="34" charset="-120"/>
              </a:rPr>
              <a:t>Past threshold?</a:t>
            </a:r>
            <a:endParaRPr kumimoji="0" lang="en-US" sz="1300" b="0" i="0" u="none" strike="noStrike" kern="1200" cap="none" spc="0" normalizeH="0" baseline="0" noProof="0">
              <a:ln>
                <a:noFill/>
              </a:ln>
              <a:solidFill>
                <a:srgbClr val="0D2155">
                  <a:lumMod val="10000"/>
                  <a:lumOff val="90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Arial"/>
                <a:ea typeface="+mn-ea"/>
                <a:cs typeface="+mn-cs"/>
              </a:rPr>
              <a:t> </a:t>
            </a:r>
            <a:endParaRPr kumimoji="0" lang="en-US" sz="1300" b="0" i="0" u="none" strike="noStrike" kern="1200" cap="none" spc="0" normalizeH="0" baseline="0" noProof="0">
              <a:ln>
                <a:noFill/>
              </a:ln>
              <a:solidFill>
                <a:srgbClr val="80808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Arial Black" pitchFamily="34" charset="0"/>
                <a:ea typeface="Arial Black" pitchFamily="34" charset="-122"/>
                <a:cs typeface="Arial Black" pitchFamily="34" charset="-120"/>
              </a:rPr>
              <a:t>→ ACTIVATE</a:t>
            </a:r>
            <a:endParaRPr kumimoji="0" lang="en-US" sz="1300" b="0" i="0" u="none" strike="noStrike" kern="1200" cap="none" spc="0" normalizeH="0" baseline="0" noProof="0">
              <a:ln>
                <a:noFill/>
              </a:ln>
              <a:solidFill>
                <a:srgbClr val="808080"/>
              </a:solidFill>
              <a:effectLst/>
              <a:uLnTx/>
              <a:uFillTx/>
              <a:latin typeface="Arial"/>
              <a:ea typeface="+mn-ea"/>
              <a:cs typeface="+mn-cs"/>
            </a:endParaRPr>
          </a:p>
        </p:txBody>
      </p:sp>
      <p:sp>
        <p:nvSpPr>
          <p:cNvPr id="23" name="Shape 21"/>
          <p:cNvSpPr/>
          <p:nvPr/>
        </p:nvSpPr>
        <p:spPr>
          <a:xfrm>
            <a:off x="6903720" y="3703320"/>
            <a:ext cx="868680" cy="0"/>
          </a:xfrm>
          <a:prstGeom prst="line">
            <a:avLst/>
          </a:prstGeom>
          <a:noFill/>
          <a:ln w="50800">
            <a:solidFill>
              <a:schemeClr val="bg1"/>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24" name="Text 22"/>
          <p:cNvSpPr/>
          <p:nvPr/>
        </p:nvSpPr>
        <p:spPr>
          <a:xfrm>
            <a:off x="7863840" y="3337560"/>
            <a:ext cx="1755575"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Black" pitchFamily="34" charset="0"/>
                <a:ea typeface="Arial Black" pitchFamily="34" charset="-122"/>
                <a:cs typeface="Arial Black" pitchFamily="34" charset="-120"/>
              </a:rPr>
              <a:t>I need to move my hand!</a:t>
            </a: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25" name="Shape 23"/>
          <p:cNvSpPr/>
          <p:nvPr/>
        </p:nvSpPr>
        <p:spPr>
          <a:xfrm>
            <a:off x="457200" y="5532120"/>
            <a:ext cx="3374136" cy="457200"/>
          </a:xfrm>
          <a:prstGeom prst="rect">
            <a:avLst/>
          </a:prstGeom>
          <a:solidFill>
            <a:srgbClr val="E8E8E8"/>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26" name="Shape 24"/>
          <p:cNvSpPr/>
          <p:nvPr/>
        </p:nvSpPr>
        <p:spPr>
          <a:xfrm>
            <a:off x="3831336" y="5532120"/>
            <a:ext cx="3374136" cy="457200"/>
          </a:xfrm>
          <a:prstGeom prst="rect">
            <a:avLst/>
          </a:prstGeom>
          <a:solidFill>
            <a:srgbClr val="FFE9B3"/>
          </a:solidFill>
          <a:ln w="12700">
            <a:solidFill>
              <a:srgbClr val="FFE9B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27" name="Shape 25"/>
          <p:cNvSpPr/>
          <p:nvPr/>
        </p:nvSpPr>
        <p:spPr>
          <a:xfrm>
            <a:off x="7205472" y="5532120"/>
            <a:ext cx="2811780" cy="457200"/>
          </a:xfrm>
          <a:prstGeom prst="rect">
            <a:avLst/>
          </a:prstGeom>
          <a:solidFill>
            <a:srgbClr val="FFB380"/>
          </a:solidFill>
          <a:ln w="12700">
            <a:solidFill>
              <a:srgbClr val="FFB38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28" name="Shape 26"/>
          <p:cNvSpPr/>
          <p:nvPr/>
        </p:nvSpPr>
        <p:spPr>
          <a:xfrm>
            <a:off x="10017252" y="5532120"/>
            <a:ext cx="1687068" cy="457200"/>
          </a:xfrm>
          <a:prstGeom prst="rect">
            <a:avLst/>
          </a:prstGeom>
          <a:solidFill>
            <a:schemeClr val="bg1"/>
          </a:solidFill>
          <a:ln w="12700">
            <a:solidFill>
              <a:schemeClr val="bg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29" name="Shape 27"/>
          <p:cNvSpPr/>
          <p:nvPr/>
        </p:nvSpPr>
        <p:spPr>
          <a:xfrm>
            <a:off x="457200" y="5532120"/>
            <a:ext cx="11247120" cy="457200"/>
          </a:xfrm>
          <a:prstGeom prst="rect">
            <a:avLst/>
          </a:prstGeom>
          <a:solidFill>
            <a:schemeClr val="bg1">
              <a:alpha val="0"/>
            </a:schemeClr>
          </a:solidFill>
          <a:ln w="9525">
            <a:solidFill>
              <a:srgbClr val="8888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30" name="Shape 28"/>
          <p:cNvSpPr/>
          <p:nvPr/>
        </p:nvSpPr>
        <p:spPr>
          <a:xfrm>
            <a:off x="10017252" y="5394960"/>
            <a:ext cx="0" cy="731520"/>
          </a:xfrm>
          <a:prstGeom prst="line">
            <a:avLst/>
          </a:prstGeom>
          <a:noFill/>
          <a:ln w="25400">
            <a:solidFill>
              <a:schemeClr val="bg1"/>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31" name="Text 29"/>
          <p:cNvSpPr/>
          <p:nvPr/>
        </p:nvSpPr>
        <p:spPr>
          <a:xfrm>
            <a:off x="9240012" y="5148072"/>
            <a:ext cx="155448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200" normalizeH="0" baseline="0" noProof="0">
                <a:ln>
                  <a:noFill/>
                </a:ln>
                <a:solidFill>
                  <a:srgbClr val="000000"/>
                </a:solidFill>
                <a:effectLst/>
                <a:uLnTx/>
                <a:uFillTx/>
                <a:latin typeface="Arial Black" pitchFamily="34" charset="0"/>
                <a:ea typeface="Arial Black" pitchFamily="34" charset="-122"/>
                <a:cs typeface="Arial Black" pitchFamily="34" charset="-120"/>
              </a:rPr>
              <a:t>THRESHOLD</a:t>
            </a:r>
            <a:endParaRPr kumimoji="0" lang="en-US" sz="800" b="0" i="0" u="none" strike="noStrike" kern="1200" cap="none" spc="0" normalizeH="0" baseline="0" noProof="0">
              <a:ln>
                <a:noFill/>
              </a:ln>
              <a:solidFill>
                <a:srgbClr val="808080"/>
              </a:solidFill>
              <a:effectLst/>
              <a:uLnTx/>
              <a:uFillTx/>
              <a:latin typeface="Arial"/>
              <a:ea typeface="+mn-ea"/>
              <a:cs typeface="+mn-cs"/>
            </a:endParaRPr>
          </a:p>
        </p:txBody>
      </p:sp>
      <p:sp>
        <p:nvSpPr>
          <p:cNvPr id="32" name="Text 30"/>
          <p:cNvSpPr/>
          <p:nvPr/>
        </p:nvSpPr>
        <p:spPr>
          <a:xfrm>
            <a:off x="548640" y="6035040"/>
            <a:ext cx="9144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50" normalizeH="0" baseline="0" noProof="0">
                <a:ln>
                  <a:noFill/>
                </a:ln>
                <a:solidFill>
                  <a:srgbClr val="666666"/>
                </a:solidFill>
                <a:effectLst/>
                <a:uLnTx/>
                <a:uFillTx/>
                <a:latin typeface="Arial Black" pitchFamily="34" charset="0"/>
                <a:ea typeface="Arial Black" pitchFamily="34" charset="-122"/>
                <a:cs typeface="Arial Black" pitchFamily="34" charset="-120"/>
              </a:rPr>
              <a:t>COOL</a:t>
            </a:r>
            <a:endParaRPr kumimoji="0" lang="en-US" sz="900" b="0" i="0" u="none" strike="noStrike" kern="1200" cap="none" spc="0" normalizeH="0" baseline="0" noProof="0">
              <a:ln>
                <a:noFill/>
              </a:ln>
              <a:solidFill>
                <a:srgbClr val="808080"/>
              </a:solidFill>
              <a:effectLst/>
              <a:uLnTx/>
              <a:uFillTx/>
              <a:latin typeface="Arial"/>
              <a:ea typeface="+mn-ea"/>
              <a:cs typeface="+mn-cs"/>
            </a:endParaRPr>
          </a:p>
        </p:txBody>
      </p:sp>
      <p:sp>
        <p:nvSpPr>
          <p:cNvPr id="33" name="Text 31"/>
          <p:cNvSpPr/>
          <p:nvPr/>
        </p:nvSpPr>
        <p:spPr>
          <a:xfrm>
            <a:off x="5180990" y="6035040"/>
            <a:ext cx="91440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50" normalizeH="0" baseline="0" noProof="0">
                <a:ln>
                  <a:noFill/>
                </a:ln>
                <a:solidFill>
                  <a:srgbClr val="B07000"/>
                </a:solidFill>
                <a:effectLst/>
                <a:uLnTx/>
                <a:uFillTx/>
                <a:latin typeface="Arial Black" pitchFamily="34" charset="0"/>
                <a:ea typeface="Arial Black" pitchFamily="34" charset="-122"/>
                <a:cs typeface="Arial Black" pitchFamily="34" charset="-120"/>
              </a:rPr>
              <a:t>WARM</a:t>
            </a:r>
            <a:endParaRPr kumimoji="0" lang="en-US" sz="900" b="0" i="0" u="none" strike="noStrike" kern="1200" cap="none" spc="0" normalizeH="0" baseline="0" noProof="0">
              <a:ln>
                <a:noFill/>
              </a:ln>
              <a:solidFill>
                <a:srgbClr val="808080"/>
              </a:solidFill>
              <a:effectLst/>
              <a:uLnTx/>
              <a:uFillTx/>
              <a:latin typeface="Arial"/>
              <a:ea typeface="+mn-ea"/>
              <a:cs typeface="+mn-cs"/>
            </a:endParaRPr>
          </a:p>
        </p:txBody>
      </p:sp>
      <p:sp>
        <p:nvSpPr>
          <p:cNvPr id="34" name="Text 32"/>
          <p:cNvSpPr/>
          <p:nvPr/>
        </p:nvSpPr>
        <p:spPr>
          <a:xfrm>
            <a:off x="8105242" y="6035040"/>
            <a:ext cx="91440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50" normalizeH="0" baseline="0" noProof="0">
                <a:ln>
                  <a:noFill/>
                </a:ln>
                <a:solidFill>
                  <a:srgbClr val="CC5500"/>
                </a:solidFill>
                <a:effectLst/>
                <a:uLnTx/>
                <a:uFillTx/>
                <a:latin typeface="Arial Black" pitchFamily="34" charset="0"/>
                <a:ea typeface="Arial Black" pitchFamily="34" charset="-122"/>
                <a:cs typeface="Arial Black" pitchFamily="34" charset="-120"/>
              </a:rPr>
              <a:t>HOT</a:t>
            </a:r>
            <a:endParaRPr kumimoji="0" lang="en-US" sz="900" b="0" i="0" u="none" strike="noStrike" kern="1200" cap="none" spc="0" normalizeH="0" baseline="0" noProof="0">
              <a:ln>
                <a:noFill/>
              </a:ln>
              <a:solidFill>
                <a:srgbClr val="808080"/>
              </a:solidFill>
              <a:effectLst/>
              <a:uLnTx/>
              <a:uFillTx/>
              <a:latin typeface="Arial"/>
              <a:ea typeface="+mn-ea"/>
              <a:cs typeface="+mn-cs"/>
            </a:endParaRPr>
          </a:p>
        </p:txBody>
      </p:sp>
      <p:pic>
        <p:nvPicPr>
          <p:cNvPr id="35" name="Image 0" descr="preencoded.png"/>
          <p:cNvPicPr>
            <a:picLocks noChangeAspect="1"/>
          </p:cNvPicPr>
          <p:nvPr/>
        </p:nvPicPr>
        <p:blipFill>
          <a:blip r:embed="rId3"/>
          <a:stretch>
            <a:fillRect/>
          </a:stretch>
        </p:blipFill>
        <p:spPr>
          <a:xfrm>
            <a:off x="11292840" y="5623560"/>
            <a:ext cx="274320" cy="274320"/>
          </a:xfrm>
          <a:prstGeom prst="rect">
            <a:avLst/>
          </a:prstGeom>
          <a:solidFill>
            <a:schemeClr val="bg1"/>
          </a:solidFill>
          <a:ln>
            <a:solidFill>
              <a:schemeClr val="bg1"/>
            </a:solidFill>
          </a:ln>
        </p:spPr>
      </p:pic>
      <p:sp>
        <p:nvSpPr>
          <p:cNvPr id="36" name="Text 33"/>
          <p:cNvSpPr/>
          <p:nvPr/>
        </p:nvSpPr>
        <p:spPr>
          <a:xfrm>
            <a:off x="10129723" y="6035040"/>
            <a:ext cx="155448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50" normalizeH="0" baseline="0" noProof="0">
                <a:ln>
                  <a:noFill/>
                </a:ln>
                <a:solidFill>
                  <a:srgbClr val="0672CB"/>
                </a:solidFill>
                <a:effectLst/>
                <a:uLnTx/>
                <a:uFillTx/>
                <a:latin typeface="Arial Black" pitchFamily="34" charset="0"/>
                <a:ea typeface="Arial Black" pitchFamily="34" charset="-122"/>
                <a:cs typeface="Arial Black" pitchFamily="34" charset="-120"/>
              </a:rPr>
              <a:t>ACTIVATED!</a:t>
            </a:r>
            <a:endParaRPr kumimoji="0" lang="en-US" sz="900" b="0" i="0" u="none" strike="noStrike" kern="1200" cap="none" spc="0" normalizeH="0" baseline="0" noProof="0">
              <a:ln>
                <a:noFill/>
              </a:ln>
              <a:solidFill>
                <a:srgbClr val="0672CB"/>
              </a:solidFill>
              <a:effectLst/>
              <a:uLnTx/>
              <a:uFillTx/>
              <a:latin typeface="Arial"/>
              <a:ea typeface="+mn-ea"/>
              <a:cs typeface="+mn-cs"/>
            </a:endParaRPr>
          </a:p>
        </p:txBody>
      </p:sp>
      <p:sp>
        <p:nvSpPr>
          <p:cNvPr id="37" name="Text 34"/>
          <p:cNvSpPr/>
          <p:nvPr/>
        </p:nvSpPr>
        <p:spPr>
          <a:xfrm>
            <a:off x="457200" y="6263640"/>
            <a:ext cx="112471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672CB"/>
                </a:solidFill>
                <a:effectLst/>
                <a:uLnTx/>
                <a:uFillTx/>
                <a:latin typeface="Palatino Linotype" pitchFamily="34" charset="0"/>
                <a:ea typeface="Palatino Linotype" pitchFamily="34" charset="-122"/>
                <a:cs typeface="Palatino Linotype" pitchFamily="34" charset="-120"/>
              </a:rPr>
              <a:t>As heat grows and its weight is high, the weighted sum crosses the threshold — you're activated!</a:t>
            </a:r>
            <a:endParaRPr kumimoji="0" lang="en-US" sz="1200" b="0" i="0" u="none" strike="noStrike" kern="1200" cap="none" spc="0" normalizeH="0" baseline="0" noProof="0">
              <a:ln>
                <a:noFill/>
              </a:ln>
              <a:solidFill>
                <a:srgbClr val="0672CB"/>
              </a:solidFill>
              <a:effectLst/>
              <a:uLnTx/>
              <a:uFillTx/>
              <a:latin typeface="Arial"/>
              <a:ea typeface="+mn-ea"/>
              <a:cs typeface="+mn-cs"/>
            </a:endParaRPr>
          </a:p>
        </p:txBody>
      </p:sp>
      <p:pic>
        <p:nvPicPr>
          <p:cNvPr id="42" name="Picture 41">
            <a:extLst>
              <a:ext uri="{FF2B5EF4-FFF2-40B4-BE49-F238E27FC236}">
                <a16:creationId xmlns:a16="http://schemas.microsoft.com/office/drawing/2014/main" id="{929FEBBB-9548-89D7-64E3-AE5CF555641E}"/>
              </a:ext>
            </a:extLst>
          </p:cNvPr>
          <p:cNvPicPr>
            <a:picLocks noChangeAspect="1"/>
          </p:cNvPicPr>
          <p:nvPr/>
        </p:nvPicPr>
        <p:blipFill>
          <a:blip r:embed="rId4"/>
          <a:stretch>
            <a:fillRect/>
          </a:stretch>
        </p:blipFill>
        <p:spPr>
          <a:xfrm>
            <a:off x="9094376" y="2108544"/>
            <a:ext cx="2880360" cy="2880360"/>
          </a:xfrm>
          <a:prstGeom prst="rect">
            <a:avLst/>
          </a:prstGeom>
        </p:spPr>
      </p:pic>
      <p:sp>
        <p:nvSpPr>
          <p:cNvPr id="4" name="Title 3">
            <a:extLst>
              <a:ext uri="{FF2B5EF4-FFF2-40B4-BE49-F238E27FC236}">
                <a16:creationId xmlns:a16="http://schemas.microsoft.com/office/drawing/2014/main" id="{96EBF07D-6A3A-C576-08DE-67BCCA91C5AB}"/>
              </a:ext>
            </a:extLst>
          </p:cNvPr>
          <p:cNvSpPr>
            <a:spLocks noGrp="1"/>
          </p:cNvSpPr>
          <p:nvPr>
            <p:ph type="title"/>
          </p:nvPr>
        </p:nvSpPr>
        <p:spPr>
          <a:xfrm>
            <a:off x="381000" y="342900"/>
            <a:ext cx="11430000" cy="443198"/>
          </a:xfrm>
        </p:spPr>
        <p:txBody>
          <a:bodyPr/>
          <a:lstStyle/>
          <a:p>
            <a:r>
              <a:rPr lang="en-US" dirty="0"/>
              <a:t>Core concept of LLMs: Models have different weights</a:t>
            </a:r>
          </a:p>
        </p:txBody>
      </p:sp>
      <p:sp>
        <p:nvSpPr>
          <p:cNvPr id="40" name="Subtitle 39">
            <a:extLst>
              <a:ext uri="{FF2B5EF4-FFF2-40B4-BE49-F238E27FC236}">
                <a16:creationId xmlns:a16="http://schemas.microsoft.com/office/drawing/2014/main" id="{F23BFD82-848B-D61C-0E9A-52E673516E94}"/>
              </a:ext>
            </a:extLst>
          </p:cNvPr>
          <p:cNvSpPr>
            <a:spLocks noGrp="1"/>
          </p:cNvSpPr>
          <p:nvPr>
            <p:ph type="subTitle" idx="1"/>
          </p:nvPr>
        </p:nvSpPr>
        <p:spPr>
          <a:xfrm>
            <a:off x="381000" y="857250"/>
            <a:ext cx="11430000" cy="984885"/>
          </a:xfrm>
        </p:spPr>
        <p:txBody>
          <a:bodyPr/>
          <a:lstStyle/>
          <a:p>
            <a:r>
              <a:rPr lang="en-US"/>
              <a:t>Weights are the learned numbers that decide how much each input matters. Weights are learned through repeated experience — every burn, every near-miss, every safe touch teaches the system to pay more attention to 'hot' and less to noise.  For LLMs the examples are text passages.</a:t>
            </a:r>
          </a:p>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CF185-4135-2419-45B9-69DB0B46CDB0}"/>
              </a:ext>
            </a:extLst>
          </p:cNvPr>
          <p:cNvSpPr>
            <a:spLocks noGrp="1"/>
          </p:cNvSpPr>
          <p:nvPr>
            <p:ph type="title"/>
          </p:nvPr>
        </p:nvSpPr>
        <p:spPr>
          <a:xfrm>
            <a:off x="301099" y="182880"/>
            <a:ext cx="11678568" cy="792000"/>
          </a:xfrm>
        </p:spPr>
        <p:txBody>
          <a:bodyPr>
            <a:noAutofit/>
          </a:bodyPr>
          <a:lstStyle/>
          <a:p>
            <a:r>
              <a:rPr lang="en-US" sz="2000" dirty="0">
                <a:solidFill>
                  <a:schemeClr val="accent1"/>
                </a:solidFill>
              </a:rPr>
              <a:t>Words are represented as vectors of numbers (embeddings) that place similar meanings near each other, learned from how tokens co-occur across training data. The model's weights are the learned parameters that predict the next token.</a:t>
            </a:r>
          </a:p>
        </p:txBody>
      </p:sp>
      <p:pic>
        <p:nvPicPr>
          <p:cNvPr id="3" name="Picture 2">
            <a:extLst>
              <a:ext uri="{FF2B5EF4-FFF2-40B4-BE49-F238E27FC236}">
                <a16:creationId xmlns:a16="http://schemas.microsoft.com/office/drawing/2014/main" id="{7477E037-24DB-5A79-2948-4AD6C3247453}"/>
              </a:ext>
            </a:extLst>
          </p:cNvPr>
          <p:cNvPicPr>
            <a:picLocks noChangeAspect="1"/>
          </p:cNvPicPr>
          <p:nvPr/>
        </p:nvPicPr>
        <p:blipFill>
          <a:blip r:embed="rId2"/>
          <a:stretch>
            <a:fillRect/>
          </a:stretch>
        </p:blipFill>
        <p:spPr>
          <a:xfrm>
            <a:off x="1759553" y="1628117"/>
            <a:ext cx="8186951" cy="4390996"/>
          </a:xfrm>
          <a:prstGeom prst="rect">
            <a:avLst/>
          </a:prstGeom>
        </p:spPr>
      </p:pic>
    </p:spTree>
    <p:extLst>
      <p:ext uri="{BB962C8B-B14F-4D97-AF65-F5344CB8AC3E}">
        <p14:creationId xmlns:p14="http://schemas.microsoft.com/office/powerpoint/2010/main" val="399856340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418C0-CBAE-06D8-0E22-E1A7546DE6E5}"/>
              </a:ext>
            </a:extLst>
          </p:cNvPr>
          <p:cNvSpPr>
            <a:spLocks noGrp="1"/>
          </p:cNvSpPr>
          <p:nvPr>
            <p:ph type="title"/>
          </p:nvPr>
        </p:nvSpPr>
        <p:spPr>
          <a:xfrm>
            <a:off x="301099" y="182880"/>
            <a:ext cx="11605323" cy="792000"/>
          </a:xfrm>
        </p:spPr>
        <p:txBody>
          <a:bodyPr>
            <a:normAutofit fontScale="90000"/>
          </a:bodyPr>
          <a:lstStyle/>
          <a:p>
            <a:r>
              <a:rPr lang="en-US" dirty="0"/>
              <a:t>In a hyperspace words &amp; concepts are identified in close proximity.</a:t>
            </a:r>
          </a:p>
        </p:txBody>
      </p:sp>
      <p:pic>
        <p:nvPicPr>
          <p:cNvPr id="3" name="Picture 2">
            <a:extLst>
              <a:ext uri="{FF2B5EF4-FFF2-40B4-BE49-F238E27FC236}">
                <a16:creationId xmlns:a16="http://schemas.microsoft.com/office/drawing/2014/main" id="{2350FDA9-64A5-6975-8CB9-F008D6F5691C}"/>
              </a:ext>
            </a:extLst>
          </p:cNvPr>
          <p:cNvPicPr>
            <a:picLocks noChangeAspect="1"/>
          </p:cNvPicPr>
          <p:nvPr/>
        </p:nvPicPr>
        <p:blipFill>
          <a:blip r:embed="rId2"/>
          <a:stretch>
            <a:fillRect/>
          </a:stretch>
        </p:blipFill>
        <p:spPr>
          <a:xfrm>
            <a:off x="422876" y="1445308"/>
            <a:ext cx="7803979" cy="3967385"/>
          </a:xfrm>
          <a:prstGeom prst="rect">
            <a:avLst/>
          </a:prstGeom>
        </p:spPr>
      </p:pic>
      <p:sp>
        <p:nvSpPr>
          <p:cNvPr id="4" name="Rectangle 3">
            <a:extLst>
              <a:ext uri="{FF2B5EF4-FFF2-40B4-BE49-F238E27FC236}">
                <a16:creationId xmlns:a16="http://schemas.microsoft.com/office/drawing/2014/main" id="{DC6D6D8F-0382-C020-39A8-5B60D2E953B8}"/>
              </a:ext>
            </a:extLst>
          </p:cNvPr>
          <p:cNvSpPr/>
          <p:nvPr/>
        </p:nvSpPr>
        <p:spPr>
          <a:xfrm>
            <a:off x="422876" y="5831121"/>
            <a:ext cx="11346248" cy="369330"/>
          </a:xfrm>
          <a:prstGeom prst="rect">
            <a:avLst/>
          </a:prstGeom>
          <a:solidFill>
            <a:schemeClr val="accent1"/>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spAutoFit/>
          </a:bodyPr>
          <a:lstStyle/>
          <a:p>
            <a:pPr defTabSz="1219170" hangingPunct="0"/>
            <a:r>
              <a:rPr lang="en-US" sz="1600" kern="0" dirty="0">
                <a:solidFill>
                  <a:srgbClr val="FAFAFF"/>
                </a:solidFill>
                <a:latin typeface="Arial"/>
                <a:ea typeface="+mj-ea"/>
                <a:cs typeface="Arial"/>
                <a:sym typeface="Arial"/>
              </a:rPr>
              <a:t>Example: OpenAI embedding models will create 1536 sixteen digit numbers to represent a token (~4 characters).</a:t>
            </a:r>
          </a:p>
        </p:txBody>
      </p:sp>
    </p:spTree>
    <p:extLst>
      <p:ext uri="{BB962C8B-B14F-4D97-AF65-F5344CB8AC3E}">
        <p14:creationId xmlns:p14="http://schemas.microsoft.com/office/powerpoint/2010/main" val="395784070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A6A56F32-4C13-54B2-0E9C-73C099E4C230}"/>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0B26346E-8DA2-3E68-37B8-1DC20160EFB1}"/>
              </a:ext>
            </a:extLst>
          </p:cNvPr>
          <p:cNvSpPr txBox="1"/>
          <p:nvPr/>
        </p:nvSpPr>
        <p:spPr>
          <a:xfrm>
            <a:off x="572551" y="2034185"/>
            <a:ext cx="1718676" cy="523220"/>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dirty="0">
                <a:solidFill>
                  <a:srgbClr val="96968C"/>
                </a:solidFill>
                <a:latin typeface="Arial" panose="02110004020202020204"/>
              </a:rPr>
              <a:t>SYS </a:t>
            </a:r>
            <a:r>
              <a:rPr kumimoji="0" lang="en-US" sz="1400" b="0" i="0" u="none" strike="noStrike" kern="1200" cap="none" spc="0" normalizeH="0" baseline="0" noProof="0" dirty="0">
                <a:ln>
                  <a:noFill/>
                </a:ln>
                <a:solidFill>
                  <a:srgbClr val="96968C"/>
                </a:solidFill>
                <a:effectLst/>
                <a:uLnTx/>
                <a:uFillTx/>
                <a:latin typeface="Arial" panose="02110004020202020204"/>
                <a:ea typeface="+mn-ea"/>
                <a:cs typeface="+mn-cs"/>
              </a:rPr>
              <a:t>PROMPT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1400" dirty="0">
                <a:solidFill>
                  <a:srgbClr val="96968C"/>
                </a:solidFill>
                <a:latin typeface="Arial" panose="02110004020202020204"/>
              </a:rPr>
              <a:t>&amp; USER PROMPT</a:t>
            </a:r>
            <a:r>
              <a:rPr kumimoji="0" lang="en-US" sz="1400" b="0" i="0" u="none" strike="noStrike" kern="1200" cap="none" spc="0" normalizeH="0" baseline="0" noProof="0" dirty="0">
                <a:ln>
                  <a:noFill/>
                </a:ln>
                <a:solidFill>
                  <a:srgbClr val="96968C"/>
                </a:solidFill>
                <a:effectLst/>
                <a:uLnTx/>
                <a:uFillTx/>
                <a:latin typeface="Arial" panose="02110004020202020204"/>
                <a:ea typeface="+mn-ea"/>
                <a:cs typeface="+mn-cs"/>
              </a:rPr>
              <a:t> </a:t>
            </a:r>
          </a:p>
        </p:txBody>
      </p:sp>
      <p:sp>
        <p:nvSpPr>
          <p:cNvPr id="16" name="TextBox 15">
            <a:extLst>
              <a:ext uri="{FF2B5EF4-FFF2-40B4-BE49-F238E27FC236}">
                <a16:creationId xmlns:a16="http://schemas.microsoft.com/office/drawing/2014/main" id="{85F2FD13-310E-43AD-18D1-085ADC7D6BA5}"/>
              </a:ext>
            </a:extLst>
          </p:cNvPr>
          <p:cNvSpPr txBox="1"/>
          <p:nvPr/>
        </p:nvSpPr>
        <p:spPr>
          <a:xfrm>
            <a:off x="665019" y="3287328"/>
            <a:ext cx="1757352" cy="7834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96968C"/>
                </a:solidFill>
                <a:effectLst/>
                <a:uLnTx/>
                <a:uFillTx/>
                <a:latin typeface="Arial" panose="02110004020202020204"/>
                <a:ea typeface="+mn-ea"/>
                <a:cs typeface="+mn-cs"/>
              </a:rPr>
              <a:t>THE MODEL IN ACTION</a:t>
            </a:r>
            <a:endParaRPr kumimoji="0" lang="en-US" sz="1400" b="0" i="0" u="none" strike="noStrike" kern="1200" cap="none" spc="0" normalizeH="0" baseline="0" noProof="0">
              <a:ln>
                <a:noFill/>
              </a:ln>
              <a:solidFill>
                <a:srgbClr val="FFFFFF"/>
              </a:solidFill>
              <a:effectLst/>
              <a:uLnTx/>
              <a:uFillTx/>
              <a:latin typeface="Arial" panose="0211000402020202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110004020202020204"/>
                <a:ea typeface="+mn-ea"/>
                <a:cs typeface="+mn-cs"/>
              </a:rPr>
              <a:t>Rapidly predicting line by line to build the response</a:t>
            </a:r>
          </a:p>
        </p:txBody>
      </p:sp>
      <p:sp>
        <p:nvSpPr>
          <p:cNvPr id="17" name="TextBox 16">
            <a:extLst>
              <a:ext uri="{FF2B5EF4-FFF2-40B4-BE49-F238E27FC236}">
                <a16:creationId xmlns:a16="http://schemas.microsoft.com/office/drawing/2014/main" id="{A820ACF9-3BF2-4B2F-ECB8-6801FE4A5E5D}"/>
              </a:ext>
            </a:extLst>
          </p:cNvPr>
          <p:cNvSpPr txBox="1"/>
          <p:nvPr/>
        </p:nvSpPr>
        <p:spPr>
          <a:xfrm>
            <a:off x="665019" y="5885080"/>
            <a:ext cx="1757352" cy="6463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96968C"/>
                </a:solidFill>
                <a:effectLst/>
                <a:uLnTx/>
                <a:uFillTx/>
                <a:latin typeface="Arial" panose="02110004020202020204"/>
                <a:ea typeface="+mn-ea"/>
                <a:cs typeface="+mn-cs"/>
              </a:rPr>
              <a:t>OUTPUT</a:t>
            </a:r>
            <a:endParaRPr kumimoji="0" lang="en-US" sz="1400" b="0" i="0" u="none" strike="noStrike" kern="1200" cap="none" spc="0" normalizeH="0" baseline="0" noProof="0">
              <a:ln>
                <a:noFill/>
              </a:ln>
              <a:solidFill>
                <a:srgbClr val="FFFFFF"/>
              </a:solidFill>
              <a:effectLst/>
              <a:uLnTx/>
              <a:uFillTx/>
              <a:latin typeface="Arial" panose="0211000402020202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110004020202020204"/>
                <a:ea typeface="+mn-ea"/>
                <a:cs typeface="+mn-cs"/>
              </a:rPr>
              <a:t>An original output based on what it’s learned</a:t>
            </a:r>
          </a:p>
        </p:txBody>
      </p:sp>
      <p:pic>
        <p:nvPicPr>
          <p:cNvPr id="18" name="Picture 2">
            <a:extLst>
              <a:ext uri="{FF2B5EF4-FFF2-40B4-BE49-F238E27FC236}">
                <a16:creationId xmlns:a16="http://schemas.microsoft.com/office/drawing/2014/main" id="{03485B61-32FB-7575-37F2-B73B65966FB0}"/>
              </a:ext>
            </a:extLst>
          </p:cNvPr>
          <p:cNvPicPr>
            <a:picLocks noChangeAspect="1" noChangeArrowheads="1"/>
          </p:cNvPicPr>
          <p:nvPr/>
        </p:nvPicPr>
        <p:blipFill>
          <a:blip r:embed="rId5"/>
          <a:srcRect/>
          <a:stretch/>
        </p:blipFill>
        <p:spPr bwMode="auto">
          <a:xfrm>
            <a:off x="2506022" y="6006512"/>
            <a:ext cx="7517529" cy="68046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6398869E-92FE-9A3D-17C6-DBFBA4B65189}"/>
              </a:ext>
            </a:extLst>
          </p:cNvPr>
          <p:cNvPicPr>
            <a:picLocks noChangeAspect="1"/>
          </p:cNvPicPr>
          <p:nvPr/>
        </p:nvPicPr>
        <p:blipFill>
          <a:blip r:embed="rId6"/>
          <a:stretch>
            <a:fillRect/>
          </a:stretch>
        </p:blipFill>
        <p:spPr>
          <a:xfrm>
            <a:off x="2506022" y="2609764"/>
            <a:ext cx="5031319" cy="202061"/>
          </a:xfrm>
          <a:prstGeom prst="rect">
            <a:avLst/>
          </a:prstGeom>
        </p:spPr>
      </p:pic>
      <p:pic>
        <p:nvPicPr>
          <p:cNvPr id="20" name="data center LLM 1">
            <a:hlinkClick r:id="" action="ppaction://media"/>
            <a:extLst>
              <a:ext uri="{FF2B5EF4-FFF2-40B4-BE49-F238E27FC236}">
                <a16:creationId xmlns:a16="http://schemas.microsoft.com/office/drawing/2014/main" id="{3658DAC2-2358-88FE-6F0C-AD7DBE226F50}"/>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2924127" y="3338105"/>
            <a:ext cx="8362089" cy="1817549"/>
          </a:xfrm>
          <a:prstGeom prst="rect">
            <a:avLst/>
          </a:prstGeom>
        </p:spPr>
      </p:pic>
      <p:cxnSp>
        <p:nvCxnSpPr>
          <p:cNvPr id="23" name="Straight Connector 22">
            <a:extLst>
              <a:ext uri="{FF2B5EF4-FFF2-40B4-BE49-F238E27FC236}">
                <a16:creationId xmlns:a16="http://schemas.microsoft.com/office/drawing/2014/main" id="{7E94B25F-8F8B-9A1B-BE1C-28B93DB665C9}"/>
              </a:ext>
            </a:extLst>
          </p:cNvPr>
          <p:cNvCxnSpPr/>
          <p:nvPr/>
        </p:nvCxnSpPr>
        <p:spPr>
          <a:xfrm>
            <a:off x="2506022" y="3012622"/>
            <a:ext cx="451821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27281F4-FDEA-0BEE-A1C6-EF4FB1C08172}"/>
              </a:ext>
            </a:extLst>
          </p:cNvPr>
          <p:cNvCxnSpPr/>
          <p:nvPr/>
        </p:nvCxnSpPr>
        <p:spPr>
          <a:xfrm>
            <a:off x="2506022" y="5612207"/>
            <a:ext cx="451821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744DEEA2-56F9-E4E3-3A92-FF9FF109CD6F}"/>
              </a:ext>
            </a:extLst>
          </p:cNvPr>
          <p:cNvSpPr>
            <a:spLocks noGrp="1"/>
          </p:cNvSpPr>
          <p:nvPr>
            <p:ph type="title"/>
          </p:nvPr>
        </p:nvSpPr>
        <p:spPr>
          <a:xfrm>
            <a:off x="381000" y="342901"/>
            <a:ext cx="11430000" cy="1329595"/>
          </a:xfrm>
        </p:spPr>
        <p:txBody>
          <a:bodyPr/>
          <a:lstStyle/>
          <a:p>
            <a:r>
              <a:rPr lang="en-US" dirty="0"/>
              <a:t>In the background, models are made of weights making probabilistic predictions of the next token.</a:t>
            </a:r>
            <a:br>
              <a:rPr lang="en-US" dirty="0"/>
            </a:br>
            <a:endParaRPr lang="en-US" dirty="0"/>
          </a:p>
        </p:txBody>
      </p:sp>
      <p:pic>
        <p:nvPicPr>
          <p:cNvPr id="7" name="Picture 6">
            <a:extLst>
              <a:ext uri="{FF2B5EF4-FFF2-40B4-BE49-F238E27FC236}">
                <a16:creationId xmlns:a16="http://schemas.microsoft.com/office/drawing/2014/main" id="{6C12478D-0870-2F68-4257-1AB742534A8F}"/>
              </a:ext>
            </a:extLst>
          </p:cNvPr>
          <p:cNvPicPr>
            <a:picLocks noChangeAspect="1"/>
          </p:cNvPicPr>
          <p:nvPr/>
        </p:nvPicPr>
        <p:blipFill>
          <a:blip r:embed="rId8"/>
          <a:stretch>
            <a:fillRect/>
          </a:stretch>
        </p:blipFill>
        <p:spPr>
          <a:xfrm>
            <a:off x="2422371" y="1991761"/>
            <a:ext cx="7772400" cy="430446"/>
          </a:xfrm>
          <a:prstGeom prst="rect">
            <a:avLst/>
          </a:prstGeom>
        </p:spPr>
      </p:pic>
    </p:spTree>
    <p:extLst>
      <p:ext uri="{BB962C8B-B14F-4D97-AF65-F5344CB8AC3E}">
        <p14:creationId xmlns:p14="http://schemas.microsoft.com/office/powerpoint/2010/main" val="4137593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667"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0"/>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0"/>
                                        </p:tgtEl>
                                      </p:cBhvr>
                                    </p:cmd>
                                  </p:childTnLst>
                                </p:cTn>
                              </p:par>
                            </p:childTnLst>
                          </p:cTn>
                        </p:par>
                      </p:childTnLst>
                    </p:cTn>
                  </p:par>
                </p:childTnLst>
              </p:cTn>
              <p:nextCondLst>
                <p:cond evt="onClick" delay="0">
                  <p:tgtEl>
                    <p:spTgt spid="20"/>
                  </p:tgtEl>
                </p:cond>
              </p:nextCondLst>
            </p:seq>
            <p:video>
              <p:cMediaNode vol="80000">
                <p:cTn id="12" fill="hold" display="0">
                  <p:stCondLst>
                    <p:cond delay="indefinite"/>
                  </p:stCondLst>
                </p:cTn>
                <p:tgtEl>
                  <p:spTgt spid="20"/>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5355F1C1-504F-E10E-3C60-6C5D0150594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839E9FC-1295-5B95-501B-6C0A5D46C3D4}"/>
              </a:ext>
            </a:extLst>
          </p:cNvPr>
          <p:cNvPicPr>
            <a:picLocks noChangeAspect="1"/>
          </p:cNvPicPr>
          <p:nvPr/>
        </p:nvPicPr>
        <p:blipFill>
          <a:blip r:embed="rId3"/>
          <a:srcRect/>
          <a:stretch/>
        </p:blipFill>
        <p:spPr>
          <a:xfrm>
            <a:off x="546109" y="1785424"/>
            <a:ext cx="4721905" cy="4407933"/>
          </a:xfrm>
          <a:prstGeom prst="rect">
            <a:avLst/>
          </a:prstGeom>
        </p:spPr>
      </p:pic>
      <p:sp>
        <p:nvSpPr>
          <p:cNvPr id="3" name="TextBox 2">
            <a:extLst>
              <a:ext uri="{FF2B5EF4-FFF2-40B4-BE49-F238E27FC236}">
                <a16:creationId xmlns:a16="http://schemas.microsoft.com/office/drawing/2014/main" id="{7F491AE1-EFB9-0456-5825-239B2D14A937}"/>
              </a:ext>
            </a:extLst>
          </p:cNvPr>
          <p:cNvSpPr txBox="1"/>
          <p:nvPr/>
        </p:nvSpPr>
        <p:spPr>
          <a:xfrm>
            <a:off x="491226" y="1477647"/>
            <a:ext cx="3881214"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96968C"/>
                </a:solidFill>
                <a:effectLst/>
                <a:uLnTx/>
                <a:uFillTx/>
                <a:latin typeface="Arial Black" panose="00000700000000000000" pitchFamily="2" charset="0"/>
                <a:ea typeface="+mn-ea"/>
                <a:cs typeface="+mn-cs"/>
              </a:rPr>
              <a:t>Prompt: A Data Center is</a:t>
            </a:r>
            <a:endParaRPr kumimoji="0" lang="en-AU" sz="1400" b="0" i="0" u="none" strike="noStrike" kern="1200" cap="none" spc="0" normalizeH="0" baseline="0" noProof="0">
              <a:ln>
                <a:noFill/>
              </a:ln>
              <a:solidFill>
                <a:srgbClr val="96968C"/>
              </a:solidFill>
              <a:effectLst/>
              <a:uLnTx/>
              <a:uFillTx/>
              <a:latin typeface="Arial Black" panose="00000700000000000000" pitchFamily="2" charset="0"/>
              <a:ea typeface="+mn-ea"/>
              <a:cs typeface="+mn-cs"/>
            </a:endParaRPr>
          </a:p>
        </p:txBody>
      </p:sp>
      <p:sp>
        <p:nvSpPr>
          <p:cNvPr id="4" name="TextBox 3">
            <a:extLst>
              <a:ext uri="{FF2B5EF4-FFF2-40B4-BE49-F238E27FC236}">
                <a16:creationId xmlns:a16="http://schemas.microsoft.com/office/drawing/2014/main" id="{6FD918B3-3A88-D1F4-CAB1-B49CBA8E643C}"/>
              </a:ext>
            </a:extLst>
          </p:cNvPr>
          <p:cNvSpPr txBox="1"/>
          <p:nvPr/>
        </p:nvSpPr>
        <p:spPr>
          <a:xfrm>
            <a:off x="6339943" y="1477647"/>
            <a:ext cx="3881214"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96968C"/>
                </a:solidFill>
                <a:effectLst/>
                <a:uLnTx/>
                <a:uFillTx/>
                <a:latin typeface="Arial Black" panose="00000700000000000000" pitchFamily="2" charset="0"/>
                <a:ea typeface="+mn-ea"/>
                <a:cs typeface="+mn-cs"/>
              </a:rPr>
              <a:t>Prompt: A Data Center is</a:t>
            </a:r>
            <a:endParaRPr kumimoji="0" lang="en-AU" sz="1400" b="0" i="0" u="none" strike="noStrike" kern="1200" cap="none" spc="0" normalizeH="0" baseline="0" noProof="0">
              <a:ln>
                <a:noFill/>
              </a:ln>
              <a:solidFill>
                <a:srgbClr val="96968C"/>
              </a:solidFill>
              <a:effectLst/>
              <a:uLnTx/>
              <a:uFillTx/>
              <a:latin typeface="Arial Black" panose="00000700000000000000" pitchFamily="2" charset="0"/>
              <a:ea typeface="+mn-ea"/>
              <a:cs typeface="+mn-cs"/>
            </a:endParaRPr>
          </a:p>
        </p:txBody>
      </p:sp>
      <p:pic>
        <p:nvPicPr>
          <p:cNvPr id="5" name="Picture 4">
            <a:extLst>
              <a:ext uri="{FF2B5EF4-FFF2-40B4-BE49-F238E27FC236}">
                <a16:creationId xmlns:a16="http://schemas.microsoft.com/office/drawing/2014/main" id="{D8FFD327-599B-B351-7868-56996A50E7F9}"/>
              </a:ext>
            </a:extLst>
          </p:cNvPr>
          <p:cNvPicPr>
            <a:picLocks noChangeAspect="1"/>
          </p:cNvPicPr>
          <p:nvPr/>
        </p:nvPicPr>
        <p:blipFill>
          <a:blip r:embed="rId4"/>
          <a:srcRect t="82" b="82"/>
          <a:stretch/>
        </p:blipFill>
        <p:spPr>
          <a:xfrm>
            <a:off x="6512064" y="1785424"/>
            <a:ext cx="4729677" cy="4407933"/>
          </a:xfrm>
          <a:prstGeom prst="rect">
            <a:avLst/>
          </a:prstGeom>
        </p:spPr>
      </p:pic>
      <p:sp>
        <p:nvSpPr>
          <p:cNvPr id="6" name="Shape 9">
            <a:extLst>
              <a:ext uri="{FF2B5EF4-FFF2-40B4-BE49-F238E27FC236}">
                <a16:creationId xmlns:a16="http://schemas.microsoft.com/office/drawing/2014/main" id="{D06C5AF8-9E22-E889-EA90-9D08204F519D}"/>
              </a:ext>
            </a:extLst>
          </p:cNvPr>
          <p:cNvSpPr/>
          <p:nvPr/>
        </p:nvSpPr>
        <p:spPr>
          <a:xfrm>
            <a:off x="6433080" y="1785424"/>
            <a:ext cx="75306" cy="4407933"/>
          </a:xfrm>
          <a:prstGeom prst="rect">
            <a:avLst/>
          </a:prstGeom>
          <a:solidFill>
            <a:schemeClr val="bg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9">
            <a:extLst>
              <a:ext uri="{FF2B5EF4-FFF2-40B4-BE49-F238E27FC236}">
                <a16:creationId xmlns:a16="http://schemas.microsoft.com/office/drawing/2014/main" id="{FB29CC92-BD29-9C0A-2FE2-158683A4ED7F}"/>
              </a:ext>
            </a:extLst>
          </p:cNvPr>
          <p:cNvSpPr/>
          <p:nvPr/>
        </p:nvSpPr>
        <p:spPr>
          <a:xfrm>
            <a:off x="491226" y="1785424"/>
            <a:ext cx="57409" cy="4407933"/>
          </a:xfrm>
          <a:prstGeom prst="rect">
            <a:avLst/>
          </a:prstGeom>
          <a:solidFill>
            <a:schemeClr val="bg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itle 9">
            <a:extLst>
              <a:ext uri="{FF2B5EF4-FFF2-40B4-BE49-F238E27FC236}">
                <a16:creationId xmlns:a16="http://schemas.microsoft.com/office/drawing/2014/main" id="{10463F3E-313D-5F25-019B-2E74163D3254}"/>
              </a:ext>
            </a:extLst>
          </p:cNvPr>
          <p:cNvSpPr>
            <a:spLocks noGrp="1"/>
          </p:cNvSpPr>
          <p:nvPr>
            <p:ph type="title"/>
          </p:nvPr>
        </p:nvSpPr>
        <p:spPr>
          <a:xfrm>
            <a:off x="381000" y="342900"/>
            <a:ext cx="11430000" cy="886397"/>
          </a:xfrm>
        </p:spPr>
        <p:txBody>
          <a:bodyPr/>
          <a:lstStyle/>
          <a:p>
            <a:r>
              <a:rPr lang="en-US" dirty="0"/>
              <a:t>We see variability since AI output is probabilistic token by token.</a:t>
            </a:r>
            <a:br>
              <a:rPr lang="en-US" dirty="0"/>
            </a:br>
            <a:endParaRPr lang="en-US" dirty="0"/>
          </a:p>
        </p:txBody>
      </p:sp>
    </p:spTree>
    <p:extLst>
      <p:ext uri="{BB962C8B-B14F-4D97-AF65-F5344CB8AC3E}">
        <p14:creationId xmlns:p14="http://schemas.microsoft.com/office/powerpoint/2010/main" val="1833988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4"/>
          <p:cNvSpPr/>
          <p:nvPr/>
        </p:nvSpPr>
        <p:spPr>
          <a:xfrm>
            <a:off x="609600" y="1702525"/>
            <a:ext cx="5364480" cy="4023360"/>
          </a:xfrm>
          <a:prstGeom prst="rect">
            <a:avLst/>
          </a:prstGeom>
          <a:solidFill>
            <a:srgbClr val="E6E6D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p:cNvSpPr/>
          <p:nvPr/>
        </p:nvSpPr>
        <p:spPr>
          <a:xfrm>
            <a:off x="609600" y="1702525"/>
            <a:ext cx="97536" cy="4023360"/>
          </a:xfrm>
          <a:prstGeom prst="rect">
            <a:avLst/>
          </a:prstGeom>
          <a:solidFill>
            <a:schemeClr val="bg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914400" y="1885405"/>
            <a:ext cx="4876800"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000000"/>
                </a:solidFill>
                <a:effectLst/>
                <a:uLnTx/>
                <a:uFillTx/>
                <a:latin typeface="Arial Black" pitchFamily="34" charset="0"/>
                <a:ea typeface="Arial Black" pitchFamily="34" charset="-122"/>
                <a:cs typeface="Arial Black" pitchFamily="34" charset="-120"/>
              </a:rPr>
              <a:t>FRONTIER  •  CLOSED</a:t>
            </a:r>
            <a:endParaRPr kumimoji="0" lang="en-US" sz="21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1036320" y="2555965"/>
            <a:ext cx="4815840" cy="3048000"/>
          </a:xfrm>
          <a:prstGeom prst="rect">
            <a:avLst/>
          </a:prstGeom>
          <a:noFill/>
          <a:ln/>
        </p:spPr>
        <p:txBody>
          <a:bodyPr wrap="square" lIns="0" tIns="0" rIns="0" bIns="0" rtlCol="0" anchor="t"/>
          <a:lstStyle/>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Hosted-only, top-tier capability, premium price.</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Claude Opus 4.8+ / Sonnet 4.5 (Anthropic).</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GPT-5.6 (OpenAI).</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Gemini 3+ (Google).</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Grok 4.1 (</a:t>
            </a:r>
            <a:r>
              <a:rPr kumimoji="0" lang="en-US" sz="1467" b="0" i="0" u="none" strike="noStrike" kern="1200" cap="none" spc="0" normalizeH="0" baseline="0" noProof="0" dirty="0" err="1">
                <a:ln>
                  <a:noFill/>
                </a:ln>
                <a:solidFill>
                  <a:srgbClr val="000000"/>
                </a:solidFill>
                <a:effectLst/>
                <a:uLnTx/>
                <a:uFillTx/>
                <a:latin typeface="Arial" pitchFamily="34" charset="0"/>
                <a:ea typeface="Arial" pitchFamily="34" charset="-122"/>
                <a:cs typeface="Arial" pitchFamily="34" charset="-120"/>
              </a:rPr>
              <a:t>xAI</a:t>
            </a: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6217920" y="1702525"/>
            <a:ext cx="5364480" cy="4023360"/>
          </a:xfrm>
          <a:prstGeom prst="rect">
            <a:avLst/>
          </a:prstGeom>
          <a:solidFill>
            <a:srgbClr val="E6E6D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9"/>
          <p:cNvSpPr/>
          <p:nvPr/>
        </p:nvSpPr>
        <p:spPr>
          <a:xfrm>
            <a:off x="6217920" y="1702525"/>
            <a:ext cx="97536" cy="4023360"/>
          </a:xfrm>
          <a:prstGeom prst="rect">
            <a:avLst/>
          </a:prstGeom>
          <a:solidFill>
            <a:schemeClr val="accent6"/>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0"/>
          <p:cNvSpPr/>
          <p:nvPr/>
        </p:nvSpPr>
        <p:spPr>
          <a:xfrm>
            <a:off x="6522720" y="1885405"/>
            <a:ext cx="4876800"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000000"/>
                </a:solidFill>
                <a:effectLst/>
                <a:uLnTx/>
                <a:uFillTx/>
                <a:latin typeface="Arial Black" pitchFamily="34" charset="0"/>
                <a:ea typeface="Arial Black" pitchFamily="34" charset="-122"/>
                <a:cs typeface="Arial Black" pitchFamily="34" charset="-120"/>
              </a:rPr>
              <a:t>FRONTIER  •  OPEN WEIGHT</a:t>
            </a:r>
            <a:endParaRPr kumimoji="0" lang="en-US" sz="21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6644640" y="2555965"/>
            <a:ext cx="4815840" cy="3048000"/>
          </a:xfrm>
          <a:prstGeom prst="rect">
            <a:avLst/>
          </a:prstGeom>
          <a:noFill/>
          <a:ln/>
        </p:spPr>
        <p:txBody>
          <a:bodyPr wrap="square" lIns="0" tIns="0" rIns="0" bIns="0" rtlCol="0" anchor="t"/>
          <a:lstStyle/>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Deployable on-prem, capability rising, cost dropping.</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Llama 4 Maverick (Meta).</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DeepSeek V3.2 / R1 — 90% price drop in one move.</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Mistral Large 3, Qwen 3.</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GPT-OSS-120B/20B (Apache 2.0) — OpenAI's first open-weight since GPT-2.</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itle 2">
            <a:extLst>
              <a:ext uri="{FF2B5EF4-FFF2-40B4-BE49-F238E27FC236}">
                <a16:creationId xmlns:a16="http://schemas.microsoft.com/office/drawing/2014/main" id="{F7121DDA-AEC5-3199-C4E2-E38360C20506}"/>
              </a:ext>
            </a:extLst>
          </p:cNvPr>
          <p:cNvSpPr>
            <a:spLocks noGrp="1"/>
          </p:cNvSpPr>
          <p:nvPr>
            <p:ph type="title"/>
          </p:nvPr>
        </p:nvSpPr>
        <p:spPr>
          <a:xfrm>
            <a:off x="381000" y="342900"/>
            <a:ext cx="11430000" cy="886397"/>
          </a:xfrm>
        </p:spPr>
        <p:txBody>
          <a:bodyPr/>
          <a:lstStyle/>
          <a:p>
            <a:r>
              <a:rPr lang="en-US"/>
              <a:t>Frontier vs Open-Weight — the Gap is Closing Fast</a:t>
            </a:r>
            <a:br>
              <a:rPr lang="en-US"/>
            </a:br>
            <a:endParaRPr lang="en-US"/>
          </a:p>
        </p:txBody>
      </p:sp>
      <p:sp>
        <p:nvSpPr>
          <p:cNvPr id="4" name="Subtitle 3">
            <a:extLst>
              <a:ext uri="{FF2B5EF4-FFF2-40B4-BE49-F238E27FC236}">
                <a16:creationId xmlns:a16="http://schemas.microsoft.com/office/drawing/2014/main" id="{6260DFA7-83F1-15BA-B177-73C5A6682FE9}"/>
              </a:ext>
            </a:extLst>
          </p:cNvPr>
          <p:cNvSpPr>
            <a:spLocks noGrp="1"/>
          </p:cNvSpPr>
          <p:nvPr>
            <p:ph type="subTitle" idx="1"/>
          </p:nvPr>
        </p:nvSpPr>
        <p:spPr>
          <a:xfrm>
            <a:off x="381000" y="857250"/>
            <a:ext cx="11430000" cy="492443"/>
          </a:xfrm>
        </p:spPr>
        <p:txBody>
          <a:bodyPr/>
          <a:lstStyle/>
          <a:p>
            <a:r>
              <a:rPr lang="en-US" dirty="0"/>
              <a:t>The interesting business decision used to be "which model." It's becoming "where you run it."</a:t>
            </a:r>
          </a:p>
          <a:p>
            <a:endParaRPr lang="en-US" dirty="0"/>
          </a:p>
        </p:txBody>
      </p:sp>
      <p:pic>
        <p:nvPicPr>
          <p:cNvPr id="2" name="Picture 1" descr="Maxime Walzberg - Yollama">
            <a:extLst>
              <a:ext uri="{FF2B5EF4-FFF2-40B4-BE49-F238E27FC236}">
                <a16:creationId xmlns:a16="http://schemas.microsoft.com/office/drawing/2014/main" id="{F504230C-64BC-90F2-CBA9-2828CC94A8A1}"/>
              </a:ext>
            </a:extLst>
          </p:cNvPr>
          <p:cNvPicPr>
            <a:picLocks noChangeAspect="1"/>
          </p:cNvPicPr>
          <p:nvPr/>
        </p:nvPicPr>
        <p:blipFill>
          <a:blip r:embed="rId3"/>
          <a:stretch>
            <a:fillRect/>
          </a:stretch>
        </p:blipFill>
        <p:spPr>
          <a:xfrm>
            <a:off x="7592603" y="4477626"/>
            <a:ext cx="2996955" cy="225267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8" name="Picture 37" descr="File:Google cloud.png - Wikimedia Commons">
            <a:extLst>
              <a:ext uri="{FF2B5EF4-FFF2-40B4-BE49-F238E27FC236}">
                <a16:creationId xmlns:a16="http://schemas.microsoft.com/office/drawing/2014/main" id="{7AB901C6-D552-DAF8-7FAB-1E95CC03CDA0}"/>
              </a:ext>
            </a:extLst>
          </p:cNvPr>
          <p:cNvPicPr>
            <a:picLocks noChangeAspect="1"/>
          </p:cNvPicPr>
          <p:nvPr/>
        </p:nvPicPr>
        <p:blipFill>
          <a:blip r:embed="rId3"/>
          <a:stretch>
            <a:fillRect/>
          </a:stretch>
        </p:blipFill>
        <p:spPr>
          <a:xfrm>
            <a:off x="4633095" y="6254535"/>
            <a:ext cx="603322" cy="603322"/>
          </a:xfrm>
          <a:prstGeom prst="rect">
            <a:avLst/>
          </a:prstGeom>
        </p:spPr>
      </p:pic>
      <p:sp>
        <p:nvSpPr>
          <p:cNvPr id="23" name="Shape 20"/>
          <p:cNvSpPr/>
          <p:nvPr/>
        </p:nvSpPr>
        <p:spPr>
          <a:xfrm>
            <a:off x="7952474" y="2194560"/>
            <a:ext cx="2011680" cy="3169920"/>
          </a:xfrm>
          <a:prstGeom prst="rect">
            <a:avLst/>
          </a:prstGeom>
          <a:solidFill>
            <a:schemeClr val="bg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Freeform 32">
            <a:extLst>
              <a:ext uri="{FF2B5EF4-FFF2-40B4-BE49-F238E27FC236}">
                <a16:creationId xmlns:a16="http://schemas.microsoft.com/office/drawing/2014/main" id="{9567A1B2-611D-D1AB-DDC8-E0575F7E7085}"/>
              </a:ext>
            </a:extLst>
          </p:cNvPr>
          <p:cNvSpPr/>
          <p:nvPr/>
        </p:nvSpPr>
        <p:spPr>
          <a:xfrm>
            <a:off x="6018742" y="2194560"/>
            <a:ext cx="2011680" cy="3169920"/>
          </a:xfrm>
          <a:custGeom>
            <a:avLst/>
            <a:gdLst>
              <a:gd name="csX0" fmla="*/ 0 w 2444496"/>
              <a:gd name="csY0" fmla="*/ 0 h 3169920"/>
              <a:gd name="csX1" fmla="*/ 1898565 w 2444496"/>
              <a:gd name="csY1" fmla="*/ 0 h 3169920"/>
              <a:gd name="csX2" fmla="*/ 2170176 w 2444496"/>
              <a:gd name="csY2" fmla="*/ 0 h 3169920"/>
              <a:gd name="csX3" fmla="*/ 2171531 w 2444496"/>
              <a:gd name="csY3" fmla="*/ 0 h 3169920"/>
              <a:gd name="csX4" fmla="*/ 2444496 w 2444496"/>
              <a:gd name="csY4" fmla="*/ 1584960 h 3169920"/>
              <a:gd name="csX5" fmla="*/ 2171531 w 2444496"/>
              <a:gd name="csY5" fmla="*/ 3169920 h 3169920"/>
              <a:gd name="csX6" fmla="*/ 2170176 w 2444496"/>
              <a:gd name="csY6" fmla="*/ 3169920 h 3169920"/>
              <a:gd name="csX7" fmla="*/ 1898565 w 2444496"/>
              <a:gd name="csY7" fmla="*/ 3169920 h 3169920"/>
              <a:gd name="csX8" fmla="*/ 0 w 2444496"/>
              <a:gd name="csY8" fmla="*/ 3169920 h 3169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44496" h="3169920">
                <a:moveTo>
                  <a:pt x="0" y="0"/>
                </a:moveTo>
                <a:lnTo>
                  <a:pt x="1898565" y="0"/>
                </a:lnTo>
                <a:lnTo>
                  <a:pt x="2170176" y="0"/>
                </a:lnTo>
                <a:lnTo>
                  <a:pt x="2171531" y="0"/>
                </a:lnTo>
                <a:lnTo>
                  <a:pt x="2444496" y="1584960"/>
                </a:lnTo>
                <a:lnTo>
                  <a:pt x="2171531" y="3169920"/>
                </a:lnTo>
                <a:lnTo>
                  <a:pt x="2170176" y="3169920"/>
                </a:lnTo>
                <a:lnTo>
                  <a:pt x="1898565" y="3169920"/>
                </a:lnTo>
                <a:lnTo>
                  <a:pt x="0" y="3169920"/>
                </a:lnTo>
                <a:close/>
              </a:path>
            </a:pathLst>
          </a:custGeom>
          <a:solidFill>
            <a:srgbClr val="E6E6DC"/>
          </a:solidFill>
          <a:ln>
            <a:solidFill>
              <a:schemeClr val="bg1"/>
            </a:solidFill>
          </a:ln>
        </p:spPr>
        <p:txBody>
          <a:bodyPr wrap="square">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6BF18FC4-F3B4-E95E-D8C9-5181A50C265E}"/>
              </a:ext>
            </a:extLst>
          </p:cNvPr>
          <p:cNvSpPr/>
          <p:nvPr/>
        </p:nvSpPr>
        <p:spPr>
          <a:xfrm>
            <a:off x="4127337" y="2194560"/>
            <a:ext cx="2011680" cy="3169920"/>
          </a:xfrm>
          <a:custGeom>
            <a:avLst/>
            <a:gdLst>
              <a:gd name="csX0" fmla="*/ 0 w 2444496"/>
              <a:gd name="csY0" fmla="*/ 0 h 3169920"/>
              <a:gd name="csX1" fmla="*/ 1898565 w 2444496"/>
              <a:gd name="csY1" fmla="*/ 0 h 3169920"/>
              <a:gd name="csX2" fmla="*/ 2170176 w 2444496"/>
              <a:gd name="csY2" fmla="*/ 0 h 3169920"/>
              <a:gd name="csX3" fmla="*/ 2171531 w 2444496"/>
              <a:gd name="csY3" fmla="*/ 0 h 3169920"/>
              <a:gd name="csX4" fmla="*/ 2444496 w 2444496"/>
              <a:gd name="csY4" fmla="*/ 1584960 h 3169920"/>
              <a:gd name="csX5" fmla="*/ 2171531 w 2444496"/>
              <a:gd name="csY5" fmla="*/ 3169920 h 3169920"/>
              <a:gd name="csX6" fmla="*/ 2170176 w 2444496"/>
              <a:gd name="csY6" fmla="*/ 3169920 h 3169920"/>
              <a:gd name="csX7" fmla="*/ 1898565 w 2444496"/>
              <a:gd name="csY7" fmla="*/ 3169920 h 3169920"/>
              <a:gd name="csX8" fmla="*/ 0 w 2444496"/>
              <a:gd name="csY8" fmla="*/ 3169920 h 3169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44496" h="3169920">
                <a:moveTo>
                  <a:pt x="0" y="0"/>
                </a:moveTo>
                <a:lnTo>
                  <a:pt x="1898565" y="0"/>
                </a:lnTo>
                <a:lnTo>
                  <a:pt x="2170176" y="0"/>
                </a:lnTo>
                <a:lnTo>
                  <a:pt x="2171531" y="0"/>
                </a:lnTo>
                <a:lnTo>
                  <a:pt x="2444496" y="1584960"/>
                </a:lnTo>
                <a:lnTo>
                  <a:pt x="2171531" y="3169920"/>
                </a:lnTo>
                <a:lnTo>
                  <a:pt x="2170176" y="3169920"/>
                </a:lnTo>
                <a:lnTo>
                  <a:pt x="1898565" y="3169920"/>
                </a:lnTo>
                <a:lnTo>
                  <a:pt x="0" y="3169920"/>
                </a:lnTo>
                <a:close/>
              </a:path>
            </a:pathLst>
          </a:custGeom>
          <a:solidFill>
            <a:srgbClr val="E6E6DC"/>
          </a:solidFill>
          <a:ln>
            <a:solidFill>
              <a:schemeClr val="bg1"/>
            </a:solidFill>
          </a:ln>
        </p:spPr>
        <p:txBody>
          <a:bodyPr wrap="square">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Freeform 30">
            <a:extLst>
              <a:ext uri="{FF2B5EF4-FFF2-40B4-BE49-F238E27FC236}">
                <a16:creationId xmlns:a16="http://schemas.microsoft.com/office/drawing/2014/main" id="{FE3C4080-230F-1DCB-ABFA-EA1F1ECF2555}"/>
              </a:ext>
            </a:extLst>
          </p:cNvPr>
          <p:cNvSpPr/>
          <p:nvPr/>
        </p:nvSpPr>
        <p:spPr>
          <a:xfrm>
            <a:off x="2230177" y="2194560"/>
            <a:ext cx="2011680" cy="3169920"/>
          </a:xfrm>
          <a:custGeom>
            <a:avLst/>
            <a:gdLst>
              <a:gd name="csX0" fmla="*/ 0 w 2444496"/>
              <a:gd name="csY0" fmla="*/ 0 h 3169920"/>
              <a:gd name="csX1" fmla="*/ 1898565 w 2444496"/>
              <a:gd name="csY1" fmla="*/ 0 h 3169920"/>
              <a:gd name="csX2" fmla="*/ 2170176 w 2444496"/>
              <a:gd name="csY2" fmla="*/ 0 h 3169920"/>
              <a:gd name="csX3" fmla="*/ 2171531 w 2444496"/>
              <a:gd name="csY3" fmla="*/ 0 h 3169920"/>
              <a:gd name="csX4" fmla="*/ 2444496 w 2444496"/>
              <a:gd name="csY4" fmla="*/ 1584960 h 3169920"/>
              <a:gd name="csX5" fmla="*/ 2171531 w 2444496"/>
              <a:gd name="csY5" fmla="*/ 3169920 h 3169920"/>
              <a:gd name="csX6" fmla="*/ 2170176 w 2444496"/>
              <a:gd name="csY6" fmla="*/ 3169920 h 3169920"/>
              <a:gd name="csX7" fmla="*/ 1898565 w 2444496"/>
              <a:gd name="csY7" fmla="*/ 3169920 h 3169920"/>
              <a:gd name="csX8" fmla="*/ 0 w 2444496"/>
              <a:gd name="csY8" fmla="*/ 3169920 h 3169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44496" h="3169920">
                <a:moveTo>
                  <a:pt x="0" y="0"/>
                </a:moveTo>
                <a:lnTo>
                  <a:pt x="1898565" y="0"/>
                </a:lnTo>
                <a:lnTo>
                  <a:pt x="2170176" y="0"/>
                </a:lnTo>
                <a:lnTo>
                  <a:pt x="2171531" y="0"/>
                </a:lnTo>
                <a:lnTo>
                  <a:pt x="2444496" y="1584960"/>
                </a:lnTo>
                <a:lnTo>
                  <a:pt x="2171531" y="3169920"/>
                </a:lnTo>
                <a:lnTo>
                  <a:pt x="2170176" y="3169920"/>
                </a:lnTo>
                <a:lnTo>
                  <a:pt x="1898565" y="3169920"/>
                </a:lnTo>
                <a:lnTo>
                  <a:pt x="0" y="3169920"/>
                </a:lnTo>
                <a:close/>
              </a:path>
            </a:pathLst>
          </a:custGeom>
          <a:solidFill>
            <a:srgbClr val="E6E6DC"/>
          </a:solidFill>
          <a:ln>
            <a:solidFill>
              <a:schemeClr val="bg1"/>
            </a:solidFill>
          </a:ln>
        </p:spPr>
        <p:txBody>
          <a:bodyPr wrap="square">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2352097" y="2377440"/>
            <a:ext cx="1926336" cy="4267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1" u="none" strike="noStrike" kern="1200" cap="none" spc="0" normalizeH="0" baseline="0" noProof="0">
                <a:ln>
                  <a:noFill/>
                </a:ln>
                <a:solidFill>
                  <a:srgbClr val="96968C"/>
                </a:solidFill>
                <a:effectLst/>
                <a:uLnTx/>
                <a:uFillTx/>
                <a:latin typeface="Palatino Linotype" pitchFamily="34" charset="0"/>
                <a:ea typeface="Palatino Linotype" pitchFamily="34" charset="-122"/>
                <a:cs typeface="Palatino Linotype" pitchFamily="34" charset="-120"/>
              </a:rPr>
              <a:t>Late 90s</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0"/>
          <p:cNvSpPr/>
          <p:nvPr/>
        </p:nvSpPr>
        <p:spPr>
          <a:xfrm>
            <a:off x="2352097" y="2865120"/>
            <a:ext cx="1926336" cy="10363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Black" pitchFamily="34" charset="0"/>
                <a:ea typeface="Arial Black" pitchFamily="34" charset="-122"/>
                <a:cs typeface="Arial Black" pitchFamily="34" charset="-120"/>
              </a:rPr>
              <a:t>The Internet</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2352097" y="4023360"/>
            <a:ext cx="1926336" cy="12192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0672CB"/>
                </a:solidFill>
                <a:effectLst/>
                <a:uLnTx/>
                <a:uFillTx/>
                <a:latin typeface="Arial" pitchFamily="34" charset="0"/>
                <a:ea typeface="Arial" pitchFamily="34" charset="-122"/>
                <a:cs typeface="Arial" pitchFamily="34" charset="-120"/>
              </a:rPr>
              <a:t>Marginal cost of distribution → 0</a:t>
            </a:r>
            <a:endParaRPr kumimoji="0" lang="en-US" sz="1333" b="0" i="0" u="none" strike="noStrike" kern="1200" cap="none" spc="0" normalizeH="0" baseline="0" noProof="0">
              <a:ln>
                <a:noFill/>
              </a:ln>
              <a:solidFill>
                <a:srgbClr val="0672CB"/>
              </a:solidFill>
              <a:effectLst/>
              <a:uLnTx/>
              <a:uFillTx/>
              <a:latin typeface="Calibri" panose="020F0502020204030204"/>
              <a:ea typeface="+mn-ea"/>
              <a:cs typeface="+mn-cs"/>
            </a:endParaRPr>
          </a:p>
        </p:txBody>
      </p:sp>
      <p:sp>
        <p:nvSpPr>
          <p:cNvPr id="16" name="Text 13"/>
          <p:cNvSpPr/>
          <p:nvPr/>
        </p:nvSpPr>
        <p:spPr>
          <a:xfrm>
            <a:off x="4249257" y="2377440"/>
            <a:ext cx="1926336" cy="4267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1" u="none" strike="noStrike" kern="1200" cap="none" spc="0" normalizeH="0" baseline="0" noProof="0">
                <a:ln>
                  <a:noFill/>
                </a:ln>
                <a:solidFill>
                  <a:srgbClr val="96968C"/>
                </a:solidFill>
                <a:effectLst/>
                <a:uLnTx/>
                <a:uFillTx/>
                <a:latin typeface="Palatino Linotype" pitchFamily="34" charset="0"/>
                <a:ea typeface="Palatino Linotype" pitchFamily="34" charset="-122"/>
                <a:cs typeface="Palatino Linotype" pitchFamily="34" charset="-120"/>
              </a:rPr>
              <a:t>Early 2000s</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p:nvPr/>
        </p:nvSpPr>
        <p:spPr>
          <a:xfrm>
            <a:off x="4249257" y="2865120"/>
            <a:ext cx="1926336" cy="10363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Black" pitchFamily="34" charset="0"/>
                <a:ea typeface="Arial Black" pitchFamily="34" charset="-122"/>
                <a:cs typeface="Arial Black" pitchFamily="34" charset="-120"/>
              </a:rPr>
              <a:t>Cloud Compute</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p:nvPr/>
        </p:nvSpPr>
        <p:spPr>
          <a:xfrm>
            <a:off x="4249257" y="4023360"/>
            <a:ext cx="1926336" cy="12192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0672CB"/>
                </a:solidFill>
                <a:effectLst/>
                <a:uLnTx/>
                <a:uFillTx/>
                <a:latin typeface="Arial" pitchFamily="34" charset="0"/>
                <a:ea typeface="Arial" pitchFamily="34" charset="-122"/>
                <a:cs typeface="Arial" pitchFamily="34" charset="-120"/>
              </a:rPr>
              <a:t>Marginal cost of data capture &amp; compute scale → 0</a:t>
            </a:r>
            <a:endParaRPr kumimoji="0" lang="en-US" sz="1333" b="0" i="0" u="none" strike="noStrike" kern="1200" cap="none" spc="0" normalizeH="0" baseline="0" noProof="0">
              <a:ln>
                <a:noFill/>
              </a:ln>
              <a:solidFill>
                <a:srgbClr val="0672CB"/>
              </a:solidFill>
              <a:effectLst/>
              <a:uLnTx/>
              <a:uFillTx/>
              <a:latin typeface="Calibri" panose="020F0502020204030204"/>
              <a:ea typeface="+mn-ea"/>
              <a:cs typeface="+mn-cs"/>
            </a:endParaRPr>
          </a:p>
        </p:txBody>
      </p:sp>
      <p:sp>
        <p:nvSpPr>
          <p:cNvPr id="20" name="Text 17"/>
          <p:cNvSpPr/>
          <p:nvPr/>
        </p:nvSpPr>
        <p:spPr>
          <a:xfrm>
            <a:off x="6177238" y="2377440"/>
            <a:ext cx="1926336" cy="4267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1" u="none" strike="noStrike" kern="1200" cap="none" spc="0" normalizeH="0" baseline="0" noProof="0">
                <a:ln>
                  <a:noFill/>
                </a:ln>
                <a:solidFill>
                  <a:srgbClr val="96968C"/>
                </a:solidFill>
                <a:effectLst/>
                <a:uLnTx/>
                <a:uFillTx/>
                <a:latin typeface="Palatino Linotype" pitchFamily="34" charset="0"/>
                <a:ea typeface="Palatino Linotype" pitchFamily="34" charset="-122"/>
                <a:cs typeface="Palatino Linotype" pitchFamily="34" charset="-120"/>
              </a:rPr>
              <a:t>2010s</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8"/>
          <p:cNvSpPr/>
          <p:nvPr/>
        </p:nvSpPr>
        <p:spPr>
          <a:xfrm>
            <a:off x="6177238" y="2865120"/>
            <a:ext cx="1926336" cy="10363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Black" pitchFamily="34" charset="0"/>
                <a:ea typeface="Arial Black" pitchFamily="34" charset="-122"/>
                <a:cs typeface="Arial Black" pitchFamily="34" charset="-120"/>
              </a:rPr>
              <a:t>Enterprise OSS</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6177238" y="4023360"/>
            <a:ext cx="1926336" cy="12192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0672CB"/>
                </a:solidFill>
                <a:effectLst/>
                <a:uLnTx/>
                <a:uFillTx/>
                <a:latin typeface="Arial" pitchFamily="34" charset="0"/>
                <a:ea typeface="Arial" pitchFamily="34" charset="-122"/>
                <a:cs typeface="Arial" pitchFamily="34" charset="-120"/>
              </a:rPr>
              <a:t>Marginal cost of app development → 0</a:t>
            </a:r>
            <a:endParaRPr kumimoji="0" lang="en-US" sz="1333" b="0" i="0" u="none" strike="noStrike" kern="1200" cap="none" spc="0" normalizeH="0" baseline="0" noProof="0">
              <a:ln>
                <a:noFill/>
              </a:ln>
              <a:solidFill>
                <a:srgbClr val="0672CB"/>
              </a:solidFill>
              <a:effectLst/>
              <a:uLnTx/>
              <a:uFillTx/>
              <a:latin typeface="Calibri" panose="020F0502020204030204"/>
              <a:ea typeface="+mn-ea"/>
              <a:cs typeface="+mn-cs"/>
            </a:endParaRPr>
          </a:p>
        </p:txBody>
      </p:sp>
      <p:sp>
        <p:nvSpPr>
          <p:cNvPr id="24" name="Text 21"/>
          <p:cNvSpPr/>
          <p:nvPr/>
        </p:nvSpPr>
        <p:spPr>
          <a:xfrm>
            <a:off x="8074394" y="2377440"/>
            <a:ext cx="1926336" cy="4267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1" u="none" strike="noStrike" kern="1200" cap="none" spc="0" normalizeH="0" baseline="0" noProof="0">
                <a:ln>
                  <a:noFill/>
                </a:ln>
                <a:solidFill>
                  <a:srgbClr val="DCAFFF"/>
                </a:solidFill>
                <a:effectLst/>
                <a:uLnTx/>
                <a:uFillTx/>
                <a:latin typeface="Palatino Linotype" pitchFamily="34" charset="0"/>
                <a:ea typeface="Palatino Linotype" pitchFamily="34" charset="-122"/>
                <a:cs typeface="Palatino Linotype" pitchFamily="34" charset="-120"/>
              </a:rPr>
              <a:t>Now</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2"/>
          <p:cNvSpPr/>
          <p:nvPr/>
        </p:nvSpPr>
        <p:spPr>
          <a:xfrm>
            <a:off x="8074394" y="2865120"/>
            <a:ext cx="1926336" cy="10363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Black" pitchFamily="34" charset="0"/>
                <a:ea typeface="Arial Black" pitchFamily="34" charset="-122"/>
                <a:cs typeface="Arial Black" pitchFamily="34" charset="-120"/>
              </a:rPr>
              <a:t>Generative &amp; Agentic AI</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3"/>
          <p:cNvSpPr/>
          <p:nvPr/>
        </p:nvSpPr>
        <p:spPr>
          <a:xfrm>
            <a:off x="8074394" y="4023360"/>
            <a:ext cx="1692357" cy="12192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Marginal cost of creation &amp; action → 0</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Freeform 29">
            <a:extLst>
              <a:ext uri="{FF2B5EF4-FFF2-40B4-BE49-F238E27FC236}">
                <a16:creationId xmlns:a16="http://schemas.microsoft.com/office/drawing/2014/main" id="{E273B403-35BA-8753-4BB3-F169F6875DF1}"/>
              </a:ext>
            </a:extLst>
          </p:cNvPr>
          <p:cNvSpPr/>
          <p:nvPr/>
        </p:nvSpPr>
        <p:spPr>
          <a:xfrm>
            <a:off x="353568" y="2194560"/>
            <a:ext cx="2011680" cy="3169920"/>
          </a:xfrm>
          <a:custGeom>
            <a:avLst/>
            <a:gdLst>
              <a:gd name="csX0" fmla="*/ 0 w 2444496"/>
              <a:gd name="csY0" fmla="*/ 0 h 3169920"/>
              <a:gd name="csX1" fmla="*/ 1898565 w 2444496"/>
              <a:gd name="csY1" fmla="*/ 0 h 3169920"/>
              <a:gd name="csX2" fmla="*/ 2170176 w 2444496"/>
              <a:gd name="csY2" fmla="*/ 0 h 3169920"/>
              <a:gd name="csX3" fmla="*/ 2171531 w 2444496"/>
              <a:gd name="csY3" fmla="*/ 0 h 3169920"/>
              <a:gd name="csX4" fmla="*/ 2444496 w 2444496"/>
              <a:gd name="csY4" fmla="*/ 1584960 h 3169920"/>
              <a:gd name="csX5" fmla="*/ 2171531 w 2444496"/>
              <a:gd name="csY5" fmla="*/ 3169920 h 3169920"/>
              <a:gd name="csX6" fmla="*/ 2170176 w 2444496"/>
              <a:gd name="csY6" fmla="*/ 3169920 h 3169920"/>
              <a:gd name="csX7" fmla="*/ 1898565 w 2444496"/>
              <a:gd name="csY7" fmla="*/ 3169920 h 3169920"/>
              <a:gd name="csX8" fmla="*/ 0 w 2444496"/>
              <a:gd name="csY8" fmla="*/ 3169920 h 3169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44496" h="3169920">
                <a:moveTo>
                  <a:pt x="0" y="0"/>
                </a:moveTo>
                <a:lnTo>
                  <a:pt x="1898565" y="0"/>
                </a:lnTo>
                <a:lnTo>
                  <a:pt x="2170176" y="0"/>
                </a:lnTo>
                <a:lnTo>
                  <a:pt x="2171531" y="0"/>
                </a:lnTo>
                <a:lnTo>
                  <a:pt x="2444496" y="1584960"/>
                </a:lnTo>
                <a:lnTo>
                  <a:pt x="2171531" y="3169920"/>
                </a:lnTo>
                <a:lnTo>
                  <a:pt x="2170176" y="3169920"/>
                </a:lnTo>
                <a:lnTo>
                  <a:pt x="1898565" y="3169920"/>
                </a:lnTo>
                <a:lnTo>
                  <a:pt x="0" y="3169920"/>
                </a:lnTo>
                <a:close/>
              </a:path>
            </a:pathLst>
          </a:custGeom>
          <a:solidFill>
            <a:srgbClr val="E6E6DC"/>
          </a:solidFill>
          <a:ln>
            <a:solidFill>
              <a:schemeClr val="bg1"/>
            </a:solidFill>
          </a:ln>
        </p:spPr>
        <p:txBody>
          <a:bodyPr wrap="square">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475488" y="2377440"/>
            <a:ext cx="1926336" cy="4267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1" u="none" strike="noStrike" kern="1200" cap="none" spc="0" normalizeH="0" baseline="0" noProof="0">
                <a:ln>
                  <a:noFill/>
                </a:ln>
                <a:solidFill>
                  <a:srgbClr val="96968C"/>
                </a:solidFill>
                <a:effectLst/>
                <a:uLnTx/>
                <a:uFillTx/>
                <a:latin typeface="Palatino Linotype" pitchFamily="34" charset="0"/>
                <a:ea typeface="Palatino Linotype" pitchFamily="34" charset="-122"/>
                <a:cs typeface="Palatino Linotype" pitchFamily="34" charset="-120"/>
              </a:rPr>
              <a:t>1980s</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475488" y="2865120"/>
            <a:ext cx="1926336" cy="10363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Black" pitchFamily="34" charset="0"/>
                <a:ea typeface="Arial Black" pitchFamily="34" charset="-122"/>
                <a:cs typeface="Arial Black" pitchFamily="34" charset="-120"/>
              </a:rPr>
              <a:t>Personal Computer</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75488" y="4023360"/>
            <a:ext cx="1926336" cy="12192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0672CB"/>
                </a:solidFill>
                <a:effectLst/>
                <a:uLnTx/>
                <a:uFillTx/>
                <a:latin typeface="Arial" pitchFamily="34" charset="0"/>
                <a:ea typeface="Arial" pitchFamily="34" charset="-122"/>
                <a:cs typeface="Arial" pitchFamily="34" charset="-120"/>
              </a:rPr>
              <a:t>Marginal cost of computation → 0</a:t>
            </a:r>
            <a:endParaRPr kumimoji="0" lang="en-US" sz="1333" b="0" i="0" u="none" strike="noStrike" kern="1200" cap="none" spc="0" normalizeH="0" baseline="0" noProof="0">
              <a:ln>
                <a:noFill/>
              </a:ln>
              <a:solidFill>
                <a:srgbClr val="0672CB"/>
              </a:solidFill>
              <a:effectLst/>
              <a:uLnTx/>
              <a:uFillTx/>
              <a:latin typeface="Calibri" panose="020F0502020204030204"/>
              <a:ea typeface="+mn-ea"/>
              <a:cs typeface="+mn-cs"/>
            </a:endParaRPr>
          </a:p>
        </p:txBody>
      </p:sp>
      <p:sp>
        <p:nvSpPr>
          <p:cNvPr id="11" name="Title 10">
            <a:extLst>
              <a:ext uri="{FF2B5EF4-FFF2-40B4-BE49-F238E27FC236}">
                <a16:creationId xmlns:a16="http://schemas.microsoft.com/office/drawing/2014/main" id="{9AF807E7-7E1D-7198-0C14-7392A03B4AED}"/>
              </a:ext>
            </a:extLst>
          </p:cNvPr>
          <p:cNvSpPr>
            <a:spLocks noGrp="1"/>
          </p:cNvSpPr>
          <p:nvPr>
            <p:ph type="title"/>
          </p:nvPr>
        </p:nvSpPr>
        <p:spPr>
          <a:xfrm>
            <a:off x="381000" y="342900"/>
            <a:ext cx="11430000" cy="443198"/>
          </a:xfrm>
        </p:spPr>
        <p:txBody>
          <a:bodyPr/>
          <a:lstStyle/>
          <a:p>
            <a:r>
              <a:rPr lang="en-US" dirty="0"/>
              <a:t>Is Generative AI a new frontier for the business world?</a:t>
            </a:r>
          </a:p>
        </p:txBody>
      </p:sp>
      <p:sp>
        <p:nvSpPr>
          <p:cNvPr id="15" name="Subtitle 14">
            <a:extLst>
              <a:ext uri="{FF2B5EF4-FFF2-40B4-BE49-F238E27FC236}">
                <a16:creationId xmlns:a16="http://schemas.microsoft.com/office/drawing/2014/main" id="{63500E59-22E4-F6C0-6EC5-052B7967E677}"/>
              </a:ext>
            </a:extLst>
          </p:cNvPr>
          <p:cNvSpPr>
            <a:spLocks noGrp="1"/>
          </p:cNvSpPr>
          <p:nvPr>
            <p:ph type="subTitle" idx="1"/>
          </p:nvPr>
        </p:nvSpPr>
        <p:spPr>
          <a:xfrm>
            <a:off x="381000" y="857250"/>
            <a:ext cx="11430000" cy="738664"/>
          </a:xfrm>
        </p:spPr>
        <p:txBody>
          <a:bodyPr/>
          <a:lstStyle/>
          <a:p>
            <a:r>
              <a:rPr lang="en-US" dirty="0"/>
              <a:t>Each computing wave drove a marginal cost to zero. Generative AI may continue the pattern.  The largest and most successful companies in history stemmed from these shifts.</a:t>
            </a:r>
          </a:p>
          <a:p>
            <a:endParaRPr lang="en-US" dirty="0"/>
          </a:p>
        </p:txBody>
      </p:sp>
      <p:pic>
        <p:nvPicPr>
          <p:cNvPr id="7" name="Picture 6" descr="r/singularity - MY MODEL CANNOT GENERALIZE OUT OF DISTRIBUTION THEN WE'LL TRAIN IT UNTIL THERE IS NOTHING LEFT OUT OF DISTRIBUTION">
            <a:extLst>
              <a:ext uri="{FF2B5EF4-FFF2-40B4-BE49-F238E27FC236}">
                <a16:creationId xmlns:a16="http://schemas.microsoft.com/office/drawing/2014/main" id="{CC984C92-C139-068E-04F0-23107FC1E131}"/>
              </a:ext>
            </a:extLst>
          </p:cNvPr>
          <p:cNvPicPr>
            <a:picLocks noChangeAspect="1"/>
          </p:cNvPicPr>
          <p:nvPr/>
        </p:nvPicPr>
        <p:blipFill>
          <a:blip r:embed="rId4"/>
          <a:stretch>
            <a:fillRect/>
          </a:stretch>
        </p:blipFill>
        <p:spPr>
          <a:xfrm>
            <a:off x="9839903" y="2194560"/>
            <a:ext cx="2305397" cy="3169920"/>
          </a:xfrm>
          <a:prstGeom prst="rect">
            <a:avLst/>
          </a:prstGeom>
        </p:spPr>
      </p:pic>
      <p:pic>
        <p:nvPicPr>
          <p:cNvPr id="27" name="Picture 26" descr="File:Dell Logo.png - Wikimedia Commons">
            <a:extLst>
              <a:ext uri="{FF2B5EF4-FFF2-40B4-BE49-F238E27FC236}">
                <a16:creationId xmlns:a16="http://schemas.microsoft.com/office/drawing/2014/main" id="{109AD9FF-A2AC-3FE3-8AB8-B5E6B98CC6F5}"/>
              </a:ext>
            </a:extLst>
          </p:cNvPr>
          <p:cNvPicPr>
            <a:picLocks noChangeAspect="1"/>
          </p:cNvPicPr>
          <p:nvPr/>
        </p:nvPicPr>
        <p:blipFill>
          <a:blip r:embed="rId5"/>
          <a:stretch>
            <a:fillRect/>
          </a:stretch>
        </p:blipFill>
        <p:spPr>
          <a:xfrm>
            <a:off x="669334" y="5561866"/>
            <a:ext cx="815640" cy="247163"/>
          </a:xfrm>
          <a:prstGeom prst="rect">
            <a:avLst/>
          </a:prstGeom>
        </p:spPr>
      </p:pic>
      <p:pic>
        <p:nvPicPr>
          <p:cNvPr id="28" name="Picture 27" descr="File:IBM logo.svg - Wikimedia Commons">
            <a:extLst>
              <a:ext uri="{FF2B5EF4-FFF2-40B4-BE49-F238E27FC236}">
                <a16:creationId xmlns:a16="http://schemas.microsoft.com/office/drawing/2014/main" id="{3AD54DD7-48BE-90B1-8EF4-F798A6328DAA}"/>
              </a:ext>
            </a:extLst>
          </p:cNvPr>
          <p:cNvPicPr>
            <a:picLocks noChangeAspect="1"/>
          </p:cNvPicPr>
          <p:nvPr/>
        </p:nvPicPr>
        <p:blipFill>
          <a:blip r:embed="rId6"/>
          <a:stretch>
            <a:fillRect/>
          </a:stretch>
        </p:blipFill>
        <p:spPr>
          <a:xfrm>
            <a:off x="627565" y="6388303"/>
            <a:ext cx="899179" cy="335787"/>
          </a:xfrm>
          <a:prstGeom prst="rect">
            <a:avLst/>
          </a:prstGeom>
        </p:spPr>
      </p:pic>
      <p:pic>
        <p:nvPicPr>
          <p:cNvPr id="29" name="Picture 28" descr="File:Amazon logo.svg - Wikimedia Commons">
            <a:extLst>
              <a:ext uri="{FF2B5EF4-FFF2-40B4-BE49-F238E27FC236}">
                <a16:creationId xmlns:a16="http://schemas.microsoft.com/office/drawing/2014/main" id="{45D4DC43-183D-6D6C-BF7F-C5293E0CC4AC}"/>
              </a:ext>
            </a:extLst>
          </p:cNvPr>
          <p:cNvPicPr>
            <a:picLocks noChangeAspect="1"/>
          </p:cNvPicPr>
          <p:nvPr/>
        </p:nvPicPr>
        <p:blipFill>
          <a:blip r:embed="rId7"/>
          <a:stretch>
            <a:fillRect/>
          </a:stretch>
        </p:blipFill>
        <p:spPr>
          <a:xfrm>
            <a:off x="2443726" y="5523572"/>
            <a:ext cx="1071728" cy="323751"/>
          </a:xfrm>
          <a:prstGeom prst="rect">
            <a:avLst/>
          </a:prstGeom>
        </p:spPr>
      </p:pic>
      <p:pic>
        <p:nvPicPr>
          <p:cNvPr id="34" name="Picture 33" descr="File:Google 2015 logo.svg - Wikimedia Commons">
            <a:extLst>
              <a:ext uri="{FF2B5EF4-FFF2-40B4-BE49-F238E27FC236}">
                <a16:creationId xmlns:a16="http://schemas.microsoft.com/office/drawing/2014/main" id="{7558129B-9E9B-2603-9521-A0D5FA62122D}"/>
              </a:ext>
            </a:extLst>
          </p:cNvPr>
          <p:cNvPicPr>
            <a:picLocks noChangeAspect="1"/>
          </p:cNvPicPr>
          <p:nvPr/>
        </p:nvPicPr>
        <p:blipFill>
          <a:blip r:embed="rId8"/>
          <a:stretch>
            <a:fillRect/>
          </a:stretch>
        </p:blipFill>
        <p:spPr>
          <a:xfrm>
            <a:off x="2352097" y="5912145"/>
            <a:ext cx="1254987" cy="424212"/>
          </a:xfrm>
          <a:prstGeom prst="rect">
            <a:avLst/>
          </a:prstGeom>
        </p:spPr>
      </p:pic>
      <p:pic>
        <p:nvPicPr>
          <p:cNvPr id="35" name="Picture 34" descr="File:Microsoft Azure Logo.svg - Wikimedia Commons">
            <a:extLst>
              <a:ext uri="{FF2B5EF4-FFF2-40B4-BE49-F238E27FC236}">
                <a16:creationId xmlns:a16="http://schemas.microsoft.com/office/drawing/2014/main" id="{CDFAD64B-BB45-928C-969E-E17691041190}"/>
              </a:ext>
            </a:extLst>
          </p:cNvPr>
          <p:cNvPicPr>
            <a:picLocks noChangeAspect="1"/>
          </p:cNvPicPr>
          <p:nvPr/>
        </p:nvPicPr>
        <p:blipFill>
          <a:blip r:embed="rId9"/>
          <a:stretch>
            <a:fillRect/>
          </a:stretch>
        </p:blipFill>
        <p:spPr>
          <a:xfrm>
            <a:off x="4358376" y="5519438"/>
            <a:ext cx="1152760" cy="332019"/>
          </a:xfrm>
          <a:prstGeom prst="rect">
            <a:avLst/>
          </a:prstGeom>
        </p:spPr>
      </p:pic>
      <p:pic>
        <p:nvPicPr>
          <p:cNvPr id="36" name="Picture 35" descr="File:Amazon Web Services Logo.svg - Wikimedia Commons">
            <a:extLst>
              <a:ext uri="{FF2B5EF4-FFF2-40B4-BE49-F238E27FC236}">
                <a16:creationId xmlns:a16="http://schemas.microsoft.com/office/drawing/2014/main" id="{77CDA5DE-33B8-8F64-EA82-E16C19CD74F0}"/>
              </a:ext>
            </a:extLst>
          </p:cNvPr>
          <p:cNvPicPr>
            <a:picLocks noChangeAspect="1"/>
          </p:cNvPicPr>
          <p:nvPr/>
        </p:nvPicPr>
        <p:blipFill>
          <a:blip r:embed="rId10"/>
          <a:stretch>
            <a:fillRect/>
          </a:stretch>
        </p:blipFill>
        <p:spPr>
          <a:xfrm>
            <a:off x="4594120" y="5920402"/>
            <a:ext cx="681273" cy="407699"/>
          </a:xfrm>
          <a:prstGeom prst="rect">
            <a:avLst/>
          </a:prstGeom>
        </p:spPr>
      </p:pic>
      <p:pic>
        <p:nvPicPr>
          <p:cNvPr id="37" name="Picture 36" descr="File:MSFT logo png grey.png - Wikimedia Commons">
            <a:extLst>
              <a:ext uri="{FF2B5EF4-FFF2-40B4-BE49-F238E27FC236}">
                <a16:creationId xmlns:a16="http://schemas.microsoft.com/office/drawing/2014/main" id="{4D4956DF-0FD0-5E5B-1DFC-1CC42C7D9499}"/>
              </a:ext>
            </a:extLst>
          </p:cNvPr>
          <p:cNvPicPr>
            <a:picLocks noChangeAspect="1"/>
          </p:cNvPicPr>
          <p:nvPr/>
        </p:nvPicPr>
        <p:blipFill>
          <a:blip r:embed="rId11"/>
          <a:stretch>
            <a:fillRect/>
          </a:stretch>
        </p:blipFill>
        <p:spPr>
          <a:xfrm>
            <a:off x="263534" y="5825007"/>
            <a:ext cx="1627241" cy="598488"/>
          </a:xfrm>
          <a:prstGeom prst="rect">
            <a:avLst/>
          </a:prstGeom>
        </p:spPr>
      </p:pic>
      <p:pic>
        <p:nvPicPr>
          <p:cNvPr id="39" name="Graphic 38" descr="File:Octicons-mark-github.svg - Wikimedia Commons">
            <a:extLst>
              <a:ext uri="{FF2B5EF4-FFF2-40B4-BE49-F238E27FC236}">
                <a16:creationId xmlns:a16="http://schemas.microsoft.com/office/drawing/2014/main" id="{5E101302-3E0C-8BE0-1A5F-73A8842B49E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689195" y="5419056"/>
            <a:ext cx="532783" cy="532783"/>
          </a:xfrm>
          <a:prstGeom prst="rect">
            <a:avLst/>
          </a:prstGeom>
        </p:spPr>
      </p:pic>
      <p:pic>
        <p:nvPicPr>
          <p:cNvPr id="40" name="Picture 39" descr="File:Red Hat Logo 2019.svg - Wikimedia Commons">
            <a:extLst>
              <a:ext uri="{FF2B5EF4-FFF2-40B4-BE49-F238E27FC236}">
                <a16:creationId xmlns:a16="http://schemas.microsoft.com/office/drawing/2014/main" id="{36FC16B5-E5E7-DFDE-9283-35C883ED1CF9}"/>
              </a:ext>
            </a:extLst>
          </p:cNvPr>
          <p:cNvPicPr>
            <a:picLocks noChangeAspect="1"/>
          </p:cNvPicPr>
          <p:nvPr/>
        </p:nvPicPr>
        <p:blipFill>
          <a:blip r:embed="rId13"/>
          <a:stretch>
            <a:fillRect/>
          </a:stretch>
        </p:blipFill>
        <p:spPr>
          <a:xfrm>
            <a:off x="6370060" y="5985189"/>
            <a:ext cx="1171052" cy="2781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855AA985-E1CD-7ACA-0C3E-761D9006A3A1}"/>
            </a:ext>
          </a:extLst>
        </p:cNvPr>
        <p:cNvGrpSpPr/>
        <p:nvPr/>
      </p:nvGrpSpPr>
      <p:grpSpPr>
        <a:xfrm>
          <a:off x="0" y="0"/>
          <a:ext cx="0" cy="0"/>
          <a:chOff x="0" y="0"/>
          <a:chExt cx="0" cy="0"/>
        </a:xfrm>
      </p:grpSpPr>
      <p:sp>
        <p:nvSpPr>
          <p:cNvPr id="7" name="Shape 4">
            <a:extLst>
              <a:ext uri="{FF2B5EF4-FFF2-40B4-BE49-F238E27FC236}">
                <a16:creationId xmlns:a16="http://schemas.microsoft.com/office/drawing/2014/main" id="{4AAA4E64-A993-DA01-B6DA-7F2B1391FEF1}"/>
              </a:ext>
            </a:extLst>
          </p:cNvPr>
          <p:cNvSpPr/>
          <p:nvPr/>
        </p:nvSpPr>
        <p:spPr>
          <a:xfrm>
            <a:off x="403050" y="1868494"/>
            <a:ext cx="3879066" cy="4157331"/>
          </a:xfrm>
          <a:prstGeom prst="rect">
            <a:avLst/>
          </a:prstGeom>
          <a:solidFill>
            <a:schemeClr val="accent1">
              <a:lumMod val="25000"/>
              <a:lumOff val="75000"/>
            </a:schemeClr>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49DC6280-E0B7-D9C8-F81B-2DD57C2AAFD9}"/>
              </a:ext>
            </a:extLst>
          </p:cNvPr>
          <p:cNvSpPr/>
          <p:nvPr/>
        </p:nvSpPr>
        <p:spPr>
          <a:xfrm>
            <a:off x="556813" y="2072640"/>
            <a:ext cx="2471678" cy="514933"/>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460073"/>
                </a:solidFill>
                <a:effectLst/>
                <a:uLnTx/>
                <a:uFillTx/>
                <a:latin typeface="Arial Black" pitchFamily="34" charset="0"/>
                <a:ea typeface="Arial Black" pitchFamily="34" charset="-122"/>
                <a:cs typeface="Arial Black" pitchFamily="34" charset="-120"/>
              </a:rPr>
              <a:t>March 30, 2023</a:t>
            </a:r>
            <a:endParaRPr kumimoji="0" lang="en-US" sz="21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a:extLst>
              <a:ext uri="{FF2B5EF4-FFF2-40B4-BE49-F238E27FC236}">
                <a16:creationId xmlns:a16="http://schemas.microsoft.com/office/drawing/2014/main" id="{B222EAFC-F8DA-82FC-B401-77B98B1AE984}"/>
              </a:ext>
            </a:extLst>
          </p:cNvPr>
          <p:cNvSpPr/>
          <p:nvPr/>
        </p:nvSpPr>
        <p:spPr>
          <a:xfrm>
            <a:off x="556810" y="2393577"/>
            <a:ext cx="3725306" cy="193996"/>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460073"/>
                </a:solidFill>
                <a:effectLst/>
                <a:uLnTx/>
                <a:uFillTx/>
                <a:latin typeface="Arial" pitchFamily="34" charset="0"/>
                <a:ea typeface="Arial" pitchFamily="34" charset="-122"/>
                <a:cs typeface="Arial" pitchFamily="34" charset="-120"/>
              </a:rPr>
              <a:t>First viral AI text to video.  “Clearly fake.”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2">
            <a:extLst>
              <a:ext uri="{FF2B5EF4-FFF2-40B4-BE49-F238E27FC236}">
                <a16:creationId xmlns:a16="http://schemas.microsoft.com/office/drawing/2014/main" id="{0311B153-7482-F602-2D3E-362E34334AC8}"/>
              </a:ext>
            </a:extLst>
          </p:cNvPr>
          <p:cNvSpPr/>
          <p:nvPr/>
        </p:nvSpPr>
        <p:spPr>
          <a:xfrm>
            <a:off x="5174428" y="1868496"/>
            <a:ext cx="6614524" cy="4157330"/>
          </a:xfrm>
          <a:prstGeom prst="rect">
            <a:avLst/>
          </a:prstGeom>
          <a:solidFill>
            <a:schemeClr val="accent1">
              <a:lumMod val="75000"/>
              <a:lumOff val="25000"/>
            </a:schemeClr>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3">
            <a:extLst>
              <a:ext uri="{FF2B5EF4-FFF2-40B4-BE49-F238E27FC236}">
                <a16:creationId xmlns:a16="http://schemas.microsoft.com/office/drawing/2014/main" id="{E99BD5A2-22E6-43C5-78AD-70D9BC1C7886}"/>
              </a:ext>
            </a:extLst>
          </p:cNvPr>
          <p:cNvSpPr/>
          <p:nvPr/>
        </p:nvSpPr>
        <p:spPr>
          <a:xfrm>
            <a:off x="5390731" y="2072640"/>
            <a:ext cx="3576560" cy="514933"/>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FFFFFF"/>
                </a:solidFill>
                <a:effectLst/>
                <a:uLnTx/>
                <a:uFillTx/>
                <a:latin typeface="Arial Black" pitchFamily="34" charset="0"/>
                <a:ea typeface="Arial Black" pitchFamily="34" charset="-122"/>
                <a:cs typeface="Arial Black" pitchFamily="34" charset="-120"/>
              </a:rPr>
              <a:t>February 10, 2026</a:t>
            </a:r>
            <a:endParaRPr kumimoji="0" lang="en-US" sz="21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4">
            <a:extLst>
              <a:ext uri="{FF2B5EF4-FFF2-40B4-BE49-F238E27FC236}">
                <a16:creationId xmlns:a16="http://schemas.microsoft.com/office/drawing/2014/main" id="{708B349D-3735-E1C6-96DA-C93CD926E21F}"/>
              </a:ext>
            </a:extLst>
          </p:cNvPr>
          <p:cNvSpPr/>
          <p:nvPr/>
        </p:nvSpPr>
        <p:spPr>
          <a:xfrm>
            <a:off x="5390732" y="2393577"/>
            <a:ext cx="2752807" cy="1544798"/>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AI video is high definition &amp; broadcast quality.  “Is this real?”</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Will_Smith_Eating_Spaghetti_Original.mp4">
            <a:hlinkClick r:id="" action="ppaction://media"/>
            <a:extLst>
              <a:ext uri="{FF2B5EF4-FFF2-40B4-BE49-F238E27FC236}">
                <a16:creationId xmlns:a16="http://schemas.microsoft.com/office/drawing/2014/main" id="{1DCEBCD2-5DEB-D45E-71BC-17D5F0C2F560}"/>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043953" y="3027917"/>
            <a:ext cx="2751020" cy="2751019"/>
          </a:xfrm>
          <a:prstGeom prst="rect">
            <a:avLst/>
          </a:prstGeom>
        </p:spPr>
      </p:pic>
      <p:pic>
        <p:nvPicPr>
          <p:cNvPr id="14" name="rapidsave.com_will_smith_eating_spaghetti_by_seedance_20_is-6t3nh3120qig1.mp4">
            <a:hlinkClick r:id="" action="ppaction://media"/>
            <a:extLst>
              <a:ext uri="{FF2B5EF4-FFF2-40B4-BE49-F238E27FC236}">
                <a16:creationId xmlns:a16="http://schemas.microsoft.com/office/drawing/2014/main" id="{E38CAAC9-9BD8-F6B6-8F8F-17E868E2787A}"/>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5547360" y="3027918"/>
            <a:ext cx="4890704" cy="2751019"/>
          </a:xfrm>
          <a:prstGeom prst="rect">
            <a:avLst/>
          </a:prstGeom>
        </p:spPr>
      </p:pic>
      <p:sp>
        <p:nvSpPr>
          <p:cNvPr id="2" name="Title 1">
            <a:extLst>
              <a:ext uri="{FF2B5EF4-FFF2-40B4-BE49-F238E27FC236}">
                <a16:creationId xmlns:a16="http://schemas.microsoft.com/office/drawing/2014/main" id="{13070F9A-A9A9-6056-0E35-74AF06F76BD6}"/>
              </a:ext>
            </a:extLst>
          </p:cNvPr>
          <p:cNvSpPr>
            <a:spLocks noGrp="1"/>
          </p:cNvSpPr>
          <p:nvPr>
            <p:ph type="title"/>
          </p:nvPr>
        </p:nvSpPr>
        <p:spPr/>
        <p:txBody>
          <a:bodyPr/>
          <a:lstStyle/>
          <a:p>
            <a:r>
              <a:rPr lang="en-US" dirty="0"/>
              <a:t>AI is currently in a hyperbolic capability curve.</a:t>
            </a:r>
          </a:p>
        </p:txBody>
      </p:sp>
      <p:sp>
        <p:nvSpPr>
          <p:cNvPr id="3" name="Subtitle 2">
            <a:extLst>
              <a:ext uri="{FF2B5EF4-FFF2-40B4-BE49-F238E27FC236}">
                <a16:creationId xmlns:a16="http://schemas.microsoft.com/office/drawing/2014/main" id="{6A88D292-AD85-F169-7D05-7ED876E82D09}"/>
              </a:ext>
            </a:extLst>
          </p:cNvPr>
          <p:cNvSpPr>
            <a:spLocks noGrp="1"/>
          </p:cNvSpPr>
          <p:nvPr>
            <p:ph type="subTitle" idx="1"/>
          </p:nvPr>
        </p:nvSpPr>
        <p:spPr>
          <a:xfrm>
            <a:off x="381000" y="857250"/>
            <a:ext cx="11430000" cy="492443"/>
          </a:xfrm>
        </p:spPr>
        <p:txBody>
          <a:bodyPr/>
          <a:lstStyle/>
          <a:p>
            <a:r>
              <a:rPr lang="en-US" dirty="0"/>
              <a:t>Keeping up to date is hard for individuals &amp; businesses.  Today’s application may need to be changed in the future to reduce cost, improve latency or expand capability</a:t>
            </a:r>
          </a:p>
        </p:txBody>
      </p:sp>
    </p:spTree>
    <p:extLst>
      <p:ext uri="{BB962C8B-B14F-4D97-AF65-F5344CB8AC3E}">
        <p14:creationId xmlns:p14="http://schemas.microsoft.com/office/powerpoint/2010/main" val="1519506542"/>
      </p:ext>
    </p:extLst>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video>
              <p:cMediaNode vol="80000">
                <p:cTn id="3" fill="hold" display="0">
                  <p:stCondLst>
                    <p:cond delay="indefinite"/>
                  </p:stCondLst>
                </p:cTn>
                <p:tgtEl>
                  <p:spTgt spid="14"/>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D2676-63C4-BDFF-098A-A4F42A2A9407}"/>
              </a:ext>
            </a:extLst>
          </p:cNvPr>
          <p:cNvSpPr>
            <a:spLocks noGrp="1"/>
          </p:cNvSpPr>
          <p:nvPr>
            <p:ph type="title"/>
          </p:nvPr>
        </p:nvSpPr>
        <p:spPr/>
        <p:txBody>
          <a:bodyPr/>
          <a:lstStyle/>
          <a:p>
            <a:r>
              <a:rPr lang="en-US" dirty="0"/>
              <a:t>And organizations are choking on the bills</a:t>
            </a:r>
          </a:p>
        </p:txBody>
      </p:sp>
      <p:sp>
        <p:nvSpPr>
          <p:cNvPr id="3" name="Subtitle 2">
            <a:extLst>
              <a:ext uri="{FF2B5EF4-FFF2-40B4-BE49-F238E27FC236}">
                <a16:creationId xmlns:a16="http://schemas.microsoft.com/office/drawing/2014/main" id="{EBCA3486-1423-556E-A807-75AF4EBB85D0}"/>
              </a:ext>
            </a:extLst>
          </p:cNvPr>
          <p:cNvSpPr>
            <a:spLocks noGrp="1"/>
          </p:cNvSpPr>
          <p:nvPr>
            <p:ph type="subTitle" idx="1"/>
          </p:nvPr>
        </p:nvSpPr>
        <p:spPr/>
        <p:txBody>
          <a:bodyPr/>
          <a:lstStyle/>
          <a:p>
            <a:r>
              <a:rPr lang="en-US" dirty="0"/>
              <a:t>Models are “demand based pricing” based on the number of tokens consumed.</a:t>
            </a:r>
          </a:p>
        </p:txBody>
      </p:sp>
      <p:pic>
        <p:nvPicPr>
          <p:cNvPr id="6" name="Picture 5">
            <a:extLst>
              <a:ext uri="{FF2B5EF4-FFF2-40B4-BE49-F238E27FC236}">
                <a16:creationId xmlns:a16="http://schemas.microsoft.com/office/drawing/2014/main" id="{2DAED5E9-FB7A-C1CE-AE35-B98748921B46}"/>
              </a:ext>
            </a:extLst>
          </p:cNvPr>
          <p:cNvPicPr>
            <a:picLocks noChangeAspect="1"/>
          </p:cNvPicPr>
          <p:nvPr/>
        </p:nvPicPr>
        <p:blipFill>
          <a:blip r:embed="rId2"/>
          <a:stretch>
            <a:fillRect/>
          </a:stretch>
        </p:blipFill>
        <p:spPr>
          <a:xfrm>
            <a:off x="6457353" y="1417835"/>
            <a:ext cx="4569292" cy="2541086"/>
          </a:xfrm>
          <a:prstGeom prst="rect">
            <a:avLst/>
          </a:prstGeom>
          <a:ln>
            <a:solidFill>
              <a:schemeClr val="accent1"/>
            </a:solidFill>
          </a:ln>
        </p:spPr>
      </p:pic>
      <p:pic>
        <p:nvPicPr>
          <p:cNvPr id="7" name="Picture 6">
            <a:extLst>
              <a:ext uri="{FF2B5EF4-FFF2-40B4-BE49-F238E27FC236}">
                <a16:creationId xmlns:a16="http://schemas.microsoft.com/office/drawing/2014/main" id="{B0A354F6-B101-55BE-39E9-79A5A026A518}"/>
              </a:ext>
            </a:extLst>
          </p:cNvPr>
          <p:cNvPicPr>
            <a:picLocks noChangeAspect="1"/>
          </p:cNvPicPr>
          <p:nvPr/>
        </p:nvPicPr>
        <p:blipFill>
          <a:blip r:embed="rId3"/>
          <a:stretch>
            <a:fillRect/>
          </a:stretch>
        </p:blipFill>
        <p:spPr>
          <a:xfrm>
            <a:off x="6457353" y="4077290"/>
            <a:ext cx="4559017" cy="2245178"/>
          </a:xfrm>
          <a:prstGeom prst="rect">
            <a:avLst/>
          </a:prstGeom>
          <a:ln>
            <a:solidFill>
              <a:schemeClr val="accent1"/>
            </a:solidFill>
          </a:ln>
        </p:spPr>
      </p:pic>
      <p:pic>
        <p:nvPicPr>
          <p:cNvPr id="8" name="Picture 7" descr="Tokens Memes · ProgrammerHumor.io">
            <a:extLst>
              <a:ext uri="{FF2B5EF4-FFF2-40B4-BE49-F238E27FC236}">
                <a16:creationId xmlns:a16="http://schemas.microsoft.com/office/drawing/2014/main" id="{B085E861-F86B-D435-0953-78F4E97B8E70}"/>
              </a:ext>
            </a:extLst>
          </p:cNvPr>
          <p:cNvPicPr>
            <a:picLocks noChangeAspect="1"/>
          </p:cNvPicPr>
          <p:nvPr/>
        </p:nvPicPr>
        <p:blipFill>
          <a:blip r:embed="rId4"/>
          <a:stretch>
            <a:fillRect/>
          </a:stretch>
        </p:blipFill>
        <p:spPr>
          <a:xfrm>
            <a:off x="1606278" y="1174623"/>
            <a:ext cx="4128370" cy="5614583"/>
          </a:xfrm>
          <a:prstGeom prst="rect">
            <a:avLst/>
          </a:prstGeom>
        </p:spPr>
      </p:pic>
    </p:spTree>
    <p:extLst>
      <p:ext uri="{BB962C8B-B14F-4D97-AF65-F5344CB8AC3E}">
        <p14:creationId xmlns:p14="http://schemas.microsoft.com/office/powerpoint/2010/main" val="2547828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3E257-9D34-42B0-EDCA-FDEF83E5D163}"/>
              </a:ext>
            </a:extLst>
          </p:cNvPr>
          <p:cNvSpPr>
            <a:spLocks noGrp="1"/>
          </p:cNvSpPr>
          <p:nvPr>
            <p:ph type="title"/>
          </p:nvPr>
        </p:nvSpPr>
        <p:spPr/>
        <p:txBody>
          <a:bodyPr/>
          <a:lstStyle/>
          <a:p>
            <a:r>
              <a:rPr lang="en-US" dirty="0"/>
              <a:t>Cultivate an adaptive mindset.</a:t>
            </a:r>
          </a:p>
        </p:txBody>
      </p:sp>
    </p:spTree>
    <p:extLst>
      <p:ext uri="{BB962C8B-B14F-4D97-AF65-F5344CB8AC3E}">
        <p14:creationId xmlns:p14="http://schemas.microsoft.com/office/powerpoint/2010/main" val="351716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7C23A-1EA0-DADE-AEA9-F50F7A92CF42}"/>
            </a:ext>
          </a:extLst>
        </p:cNvPr>
        <p:cNvGrpSpPr/>
        <p:nvPr/>
      </p:nvGrpSpPr>
      <p:grpSpPr>
        <a:xfrm>
          <a:off x="0" y="0"/>
          <a:ext cx="0" cy="0"/>
          <a:chOff x="0" y="0"/>
          <a:chExt cx="0" cy="0"/>
        </a:xfrm>
      </p:grpSpPr>
      <p:sp>
        <p:nvSpPr>
          <p:cNvPr id="7" name="Shape 4">
            <a:extLst>
              <a:ext uri="{FF2B5EF4-FFF2-40B4-BE49-F238E27FC236}">
                <a16:creationId xmlns:a16="http://schemas.microsoft.com/office/drawing/2014/main" id="{7C99B9E0-AA95-35CF-2451-3AF51A7E63EC}"/>
              </a:ext>
            </a:extLst>
          </p:cNvPr>
          <p:cNvSpPr/>
          <p:nvPr/>
        </p:nvSpPr>
        <p:spPr>
          <a:xfrm>
            <a:off x="609600" y="2072640"/>
            <a:ext cx="10850880" cy="4023360"/>
          </a:xfrm>
          <a:prstGeom prst="rect">
            <a:avLst/>
          </a:prstGeom>
          <a:solidFill>
            <a:srgbClr val="E6E6D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a:extLst>
              <a:ext uri="{FF2B5EF4-FFF2-40B4-BE49-F238E27FC236}">
                <a16:creationId xmlns:a16="http://schemas.microsoft.com/office/drawing/2014/main" id="{00A1CFC8-D9EC-8ED4-5CF8-FB87A887BC8E}"/>
              </a:ext>
            </a:extLst>
          </p:cNvPr>
          <p:cNvSpPr/>
          <p:nvPr/>
        </p:nvSpPr>
        <p:spPr>
          <a:xfrm>
            <a:off x="609600" y="2072640"/>
            <a:ext cx="97536" cy="4023360"/>
          </a:xfrm>
          <a:prstGeom prst="rect">
            <a:avLst/>
          </a:prstGeom>
          <a:solidFill>
            <a:schemeClr val="bg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29D5D071-A94F-3DEC-0FDE-D94D7F0FEC56}"/>
              </a:ext>
            </a:extLst>
          </p:cNvPr>
          <p:cNvPicPr>
            <a:picLocks noChangeAspect="1"/>
          </p:cNvPicPr>
          <p:nvPr/>
        </p:nvPicPr>
        <p:blipFill>
          <a:blip r:embed="rId3"/>
          <a:stretch>
            <a:fillRect/>
          </a:stretch>
        </p:blipFill>
        <p:spPr>
          <a:xfrm>
            <a:off x="807129" y="2150122"/>
            <a:ext cx="5895513" cy="3930342"/>
          </a:xfrm>
          <a:prstGeom prst="rect">
            <a:avLst/>
          </a:prstGeom>
        </p:spPr>
      </p:pic>
      <p:sp>
        <p:nvSpPr>
          <p:cNvPr id="6" name="Text 3">
            <a:extLst>
              <a:ext uri="{FF2B5EF4-FFF2-40B4-BE49-F238E27FC236}">
                <a16:creationId xmlns:a16="http://schemas.microsoft.com/office/drawing/2014/main" id="{050DAF08-0FB4-EB4A-7FDA-2BF1A6688597}"/>
              </a:ext>
            </a:extLst>
          </p:cNvPr>
          <p:cNvSpPr/>
          <p:nvPr/>
        </p:nvSpPr>
        <p:spPr>
          <a:xfrm>
            <a:off x="6960773" y="3585229"/>
            <a:ext cx="4241576" cy="998181"/>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672CB"/>
                </a:solidFill>
                <a:effectLst/>
                <a:uLnTx/>
                <a:uFillTx/>
                <a:latin typeface="Palatino Linotype" pitchFamily="34" charset="0"/>
                <a:ea typeface="+mn-ea"/>
                <a:cs typeface="+mn-cs"/>
              </a:rPr>
              <a:t>Open-weight Models lag by ~4-7 months in capability but costs only the hardware to host.</a:t>
            </a:r>
            <a:endParaRPr kumimoji="0" lang="en-US" sz="2000" b="0" i="0" u="none" strike="noStrike" kern="1200" cap="none" spc="0" normalizeH="0" baseline="0" noProof="0" dirty="0">
              <a:ln>
                <a:noFill/>
              </a:ln>
              <a:solidFill>
                <a:srgbClr val="0672CB"/>
              </a:solidFill>
              <a:effectLst/>
              <a:uLnTx/>
              <a:uFillTx/>
              <a:latin typeface="Calibri" panose="020F0502020204030204"/>
              <a:ea typeface="+mn-ea"/>
              <a:cs typeface="+mn-cs"/>
            </a:endParaRPr>
          </a:p>
        </p:txBody>
      </p:sp>
      <p:sp>
        <p:nvSpPr>
          <p:cNvPr id="3" name="Title 2">
            <a:extLst>
              <a:ext uri="{FF2B5EF4-FFF2-40B4-BE49-F238E27FC236}">
                <a16:creationId xmlns:a16="http://schemas.microsoft.com/office/drawing/2014/main" id="{BD86A0F6-4198-8839-24CF-F48B3C54719A}"/>
              </a:ext>
            </a:extLst>
          </p:cNvPr>
          <p:cNvSpPr>
            <a:spLocks noGrp="1"/>
          </p:cNvSpPr>
          <p:nvPr>
            <p:ph type="title"/>
          </p:nvPr>
        </p:nvSpPr>
        <p:spPr>
          <a:xfrm>
            <a:off x="381000" y="342900"/>
            <a:ext cx="11430000" cy="443198"/>
          </a:xfrm>
        </p:spPr>
        <p:txBody>
          <a:bodyPr/>
          <a:lstStyle/>
          <a:p>
            <a:r>
              <a:rPr lang="en-US" dirty="0"/>
              <a:t>Model Distillation (Weight Copying) Impacts your choice.</a:t>
            </a:r>
          </a:p>
        </p:txBody>
      </p:sp>
    </p:spTree>
    <p:extLst>
      <p:ext uri="{BB962C8B-B14F-4D97-AF65-F5344CB8AC3E}">
        <p14:creationId xmlns:p14="http://schemas.microsoft.com/office/powerpoint/2010/main" val="4234088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3D0D7-D7F9-9E30-02EF-2CD6075D67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30955C-88EA-D1CE-CF5A-8A8BB6F6EC89}"/>
              </a:ext>
            </a:extLst>
          </p:cNvPr>
          <p:cNvSpPr>
            <a:spLocks noGrp="1"/>
          </p:cNvSpPr>
          <p:nvPr>
            <p:ph type="title"/>
          </p:nvPr>
        </p:nvSpPr>
        <p:spPr/>
        <p:txBody>
          <a:bodyPr/>
          <a:lstStyle/>
          <a:p>
            <a:r>
              <a:rPr lang="en-US" dirty="0"/>
              <a:t>If you rent your model you pay for consumption in tokens.</a:t>
            </a:r>
          </a:p>
        </p:txBody>
      </p:sp>
    </p:spTree>
    <p:extLst>
      <p:ext uri="{BB962C8B-B14F-4D97-AF65-F5344CB8AC3E}">
        <p14:creationId xmlns:p14="http://schemas.microsoft.com/office/powerpoint/2010/main" val="27040493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92" name="Group 91">
            <a:extLst>
              <a:ext uri="{FF2B5EF4-FFF2-40B4-BE49-F238E27FC236}">
                <a16:creationId xmlns:a16="http://schemas.microsoft.com/office/drawing/2014/main" id="{1D9832DC-8395-D6B4-DB0A-638FDF1F7B0D}"/>
              </a:ext>
            </a:extLst>
          </p:cNvPr>
          <p:cNvGrpSpPr/>
          <p:nvPr/>
        </p:nvGrpSpPr>
        <p:grpSpPr>
          <a:xfrm>
            <a:off x="441960" y="987552"/>
            <a:ext cx="2715768" cy="310896"/>
            <a:chOff x="9976104" y="923544"/>
            <a:chExt cx="2715768" cy="310896"/>
          </a:xfrm>
        </p:grpSpPr>
        <p:sp>
          <p:nvSpPr>
            <p:cNvPr id="2" name="Shape 0"/>
            <p:cNvSpPr/>
            <p:nvPr/>
          </p:nvSpPr>
          <p:spPr>
            <a:xfrm>
              <a:off x="9976104" y="923544"/>
              <a:ext cx="2715768" cy="310896"/>
            </a:xfrm>
            <a:prstGeom prst="roundRect">
              <a:avLst>
                <a:gd name="adj" fmla="val 50000"/>
              </a:avLst>
            </a:prstGeom>
            <a:solidFill>
              <a:srgbClr val="FFFFFF"/>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9976104" y="923544"/>
              <a:ext cx="271576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API pricing example</a:t>
              </a:r>
              <a:r>
                <a:rPr kumimoji="0" lang="en-US" sz="10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  no caching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 name="Text 2"/>
          <p:cNvSpPr/>
          <p:nvPr/>
        </p:nvSpPr>
        <p:spPr>
          <a:xfrm>
            <a:off x="502920" y="155448"/>
            <a:ext cx="11569215"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Demand Based pricing: How tokens accumulate across turns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12064" y="627494"/>
            <a:ext cx="1106424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Every turn re-sends the whole conversation as input. Last turn's output becomes context, so input tokens grow each turn.</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02920" y="1298448"/>
            <a:ext cx="33832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1</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691640"/>
            <a:ext cx="3383280" cy="2871216"/>
          </a:xfrm>
          <a:prstGeom prst="roundRect">
            <a:avLst>
              <a:gd name="adj" fmla="val 1911"/>
            </a:avLst>
          </a:prstGeom>
          <a:solidFill>
            <a:srgbClr val="FFFFFF">
              <a:alpha val="70000"/>
            </a:srgbClr>
          </a:solidFill>
          <a:ln w="12700">
            <a:solidFill>
              <a:srgbClr val="A51C3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548640" y="1435608"/>
            <a:ext cx="3291840" cy="219456"/>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Model input (context window)</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640080" y="1801368"/>
            <a:ext cx="3108960" cy="365760"/>
          </a:xfrm>
          <a:prstGeom prst="roundRect">
            <a:avLst>
              <a:gd name="adj" fmla="val 12500"/>
            </a:avLst>
          </a:prstGeom>
          <a:solidFill>
            <a:srgbClr val="EFEEF2"/>
          </a:solidFill>
          <a:ln w="12700">
            <a:solidFill>
              <a:srgbClr val="9A98A3"/>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768096" y="18013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System prompt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2788920" y="18013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500</a:t>
            </a:r>
            <a:r>
              <a:rPr kumimoji="0" lang="en-US" sz="950" b="0"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640080" y="2258568"/>
            <a:ext cx="3108960" cy="365760"/>
          </a:xfrm>
          <a:prstGeom prst="roundRect">
            <a:avLst>
              <a:gd name="adj" fmla="val 12500"/>
            </a:avLst>
          </a:prstGeom>
          <a:solidFill>
            <a:srgbClr val="A51C30"/>
          </a:solidFill>
          <a:ln w="12700">
            <a:solidFill>
              <a:srgbClr val="A51C3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768096" y="22585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User query 1</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2788920" y="22585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50</a:t>
            </a:r>
            <a:r>
              <a:rPr kumimoji="0" lang="en-US" sz="9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1786128" y="2340864"/>
            <a:ext cx="566928" cy="201168"/>
          </a:xfrm>
          <a:prstGeom prst="roundRect">
            <a:avLst>
              <a:gd name="adj" fmla="val 50000"/>
            </a:avLst>
          </a:prstGeom>
          <a:solidFill>
            <a:srgbClr val="3F5165"/>
          </a:solidFill>
          <a:ln w="1270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1786128" y="2340864"/>
            <a:ext cx="56692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FFFF"/>
                </a:solidFill>
                <a:effectLst/>
                <a:uLnTx/>
                <a:uFillTx/>
                <a:latin typeface="Arial" pitchFamily="34" charset="0"/>
                <a:ea typeface="Arial" pitchFamily="34" charset="-122"/>
                <a:cs typeface="Arial" pitchFamily="34" charset="-120"/>
              </a:rPr>
              <a:t>NEW</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2112264" y="4581144"/>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502920" y="4700016"/>
            <a:ext cx="3383280" cy="512064"/>
          </a:xfrm>
          <a:prstGeom prst="roundRect">
            <a:avLst>
              <a:gd name="adj" fmla="val 10714"/>
            </a:avLst>
          </a:prstGeom>
          <a:solidFill>
            <a:srgbClr val="F5EAEC"/>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649224" y="4700016"/>
            <a:ext cx="1554480" cy="51206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Input this turn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2011680" y="4700016"/>
            <a:ext cx="1737360" cy="51206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550</a:t>
            </a:r>
            <a:r>
              <a:rPr kumimoji="0" lang="en-US" sz="11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tok</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2112264" y="5230368"/>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1325880" y="5340096"/>
            <a:ext cx="1737360" cy="347472"/>
          </a:xfrm>
          <a:prstGeom prst="roundRect">
            <a:avLst>
              <a:gd name="adj" fmla="val 15789"/>
            </a:avLst>
          </a:prstGeom>
          <a:solidFill>
            <a:srgbClr val="1F1F1F"/>
          </a:solidFill>
          <a:ln w="12700">
            <a:solidFill>
              <a:srgbClr val="333333"/>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1325880" y="5340096"/>
            <a:ext cx="173736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100" normalizeH="0" baseline="0" noProof="0" dirty="0">
                <a:ln>
                  <a:noFill/>
                </a:ln>
                <a:solidFill>
                  <a:srgbClr val="FFFFFF"/>
                </a:solidFill>
                <a:effectLst/>
                <a:uLnTx/>
                <a:uFillTx/>
                <a:latin typeface="Arial" pitchFamily="34" charset="0"/>
                <a:ea typeface="Arial" pitchFamily="34" charset="-122"/>
                <a:cs typeface="Arial" pitchFamily="34" charset="-120"/>
              </a:rPr>
              <a:t>LLM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2112264" y="5705856"/>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640080" y="5797296"/>
            <a:ext cx="3108960" cy="384048"/>
          </a:xfrm>
          <a:prstGeom prst="roundRect">
            <a:avLst>
              <a:gd name="adj" fmla="val 11905"/>
            </a:avLst>
          </a:prstGeom>
          <a:solidFill>
            <a:srgbClr val="3F5165"/>
          </a:solidFill>
          <a:ln w="12700">
            <a:solidFill>
              <a:srgbClr val="333333"/>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768096" y="5797296"/>
            <a:ext cx="20574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Response 1 (output)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2788920" y="5797296"/>
            <a:ext cx="822960" cy="38404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200</a:t>
            </a:r>
            <a:r>
              <a:rPr kumimoji="0" lang="en-US" sz="9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4434840" y="1298448"/>
            <a:ext cx="33832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2</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4434840" y="1691640"/>
            <a:ext cx="3383280" cy="2871216"/>
          </a:xfrm>
          <a:prstGeom prst="roundRect">
            <a:avLst>
              <a:gd name="adj" fmla="val 1911"/>
            </a:avLst>
          </a:prstGeom>
          <a:solidFill>
            <a:srgbClr val="FFFFFF">
              <a:alpha val="70000"/>
            </a:srgbClr>
          </a:solidFill>
          <a:ln w="12700">
            <a:solidFill>
              <a:srgbClr val="A51C3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4480560" y="1435608"/>
            <a:ext cx="3291840" cy="219456"/>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Model input (context window)</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4572000" y="1801368"/>
            <a:ext cx="3108960" cy="365760"/>
          </a:xfrm>
          <a:prstGeom prst="roundRect">
            <a:avLst>
              <a:gd name="adj" fmla="val 12500"/>
            </a:avLst>
          </a:prstGeom>
          <a:solidFill>
            <a:srgbClr val="EFEEF2"/>
          </a:solidFill>
          <a:ln w="12700">
            <a:solidFill>
              <a:srgbClr val="9A98A3"/>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4700016" y="18013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System prompt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6720840" y="18013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500</a:t>
            </a:r>
            <a:r>
              <a:rPr kumimoji="0" lang="en-US" sz="950" b="0"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4572000" y="2258568"/>
            <a:ext cx="3108960" cy="365760"/>
          </a:xfrm>
          <a:prstGeom prst="roundRect">
            <a:avLst>
              <a:gd name="adj" fmla="val 12500"/>
            </a:avLst>
          </a:prstGeom>
          <a:solidFill>
            <a:srgbClr val="F6E7EA"/>
          </a:solidFill>
          <a:ln w="12700">
            <a:solidFill>
              <a:srgbClr val="A51C3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p:cNvSpPr/>
          <p:nvPr/>
        </p:nvSpPr>
        <p:spPr>
          <a:xfrm>
            <a:off x="4700016" y="22585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query 1</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a:off x="6720840" y="22585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50</a:t>
            </a:r>
            <a:r>
              <a:rPr kumimoji="0" lang="en-US" sz="9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5"/>
          <p:cNvSpPr/>
          <p:nvPr/>
        </p:nvSpPr>
        <p:spPr>
          <a:xfrm>
            <a:off x="4572000" y="2715768"/>
            <a:ext cx="3108960" cy="365760"/>
          </a:xfrm>
          <a:prstGeom prst="roundRect">
            <a:avLst>
              <a:gd name="adj" fmla="val 12500"/>
            </a:avLst>
          </a:prstGeom>
          <a:solidFill>
            <a:srgbClr val="ECEFF2"/>
          </a:solidFill>
          <a:ln w="12700">
            <a:solidFill>
              <a:srgbClr val="3F5165"/>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6"/>
          <p:cNvSpPr/>
          <p:nvPr/>
        </p:nvSpPr>
        <p:spPr>
          <a:xfrm>
            <a:off x="4700016" y="27157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Response 1</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6720840" y="27157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200</a:t>
            </a:r>
            <a:r>
              <a:rPr kumimoji="0" lang="en-US" sz="950" b="0"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8"/>
          <p:cNvSpPr/>
          <p:nvPr/>
        </p:nvSpPr>
        <p:spPr>
          <a:xfrm>
            <a:off x="4572000" y="3172968"/>
            <a:ext cx="3108960" cy="365760"/>
          </a:xfrm>
          <a:prstGeom prst="roundRect">
            <a:avLst>
              <a:gd name="adj" fmla="val 12500"/>
            </a:avLst>
          </a:prstGeom>
          <a:solidFill>
            <a:srgbClr val="A51C30"/>
          </a:solidFill>
          <a:ln w="12700">
            <a:solidFill>
              <a:srgbClr val="A51C3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9"/>
          <p:cNvSpPr/>
          <p:nvPr/>
        </p:nvSpPr>
        <p:spPr>
          <a:xfrm>
            <a:off x="4700016" y="31729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User query 2</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40"/>
          <p:cNvSpPr/>
          <p:nvPr/>
        </p:nvSpPr>
        <p:spPr>
          <a:xfrm>
            <a:off x="6720840" y="31729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40</a:t>
            </a:r>
            <a:r>
              <a:rPr kumimoji="0" lang="en-US" sz="9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Shape 41"/>
          <p:cNvSpPr/>
          <p:nvPr/>
        </p:nvSpPr>
        <p:spPr>
          <a:xfrm>
            <a:off x="5728208" y="3245104"/>
            <a:ext cx="566928" cy="201168"/>
          </a:xfrm>
          <a:prstGeom prst="roundRect">
            <a:avLst>
              <a:gd name="adj" fmla="val 50000"/>
            </a:avLst>
          </a:prstGeom>
          <a:solidFill>
            <a:srgbClr val="3F5165"/>
          </a:solidFill>
          <a:ln w="1270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 42"/>
          <p:cNvSpPr/>
          <p:nvPr/>
        </p:nvSpPr>
        <p:spPr>
          <a:xfrm>
            <a:off x="5728208" y="3245104"/>
            <a:ext cx="56692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FFFF"/>
                </a:solidFill>
                <a:effectLst/>
                <a:uLnTx/>
                <a:uFillTx/>
                <a:latin typeface="Arial" pitchFamily="34" charset="0"/>
                <a:ea typeface="Arial" pitchFamily="34" charset="-122"/>
                <a:cs typeface="Arial" pitchFamily="34" charset="-120"/>
              </a:rPr>
              <a:t>NEW</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43"/>
          <p:cNvSpPr/>
          <p:nvPr/>
        </p:nvSpPr>
        <p:spPr>
          <a:xfrm>
            <a:off x="6044184" y="4581144"/>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4"/>
          <p:cNvSpPr/>
          <p:nvPr/>
        </p:nvSpPr>
        <p:spPr>
          <a:xfrm>
            <a:off x="4434840" y="4700016"/>
            <a:ext cx="3383280" cy="512064"/>
          </a:xfrm>
          <a:prstGeom prst="roundRect">
            <a:avLst>
              <a:gd name="adj" fmla="val 10714"/>
            </a:avLst>
          </a:prstGeom>
          <a:solidFill>
            <a:srgbClr val="F5EAEC"/>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45"/>
          <p:cNvSpPr/>
          <p:nvPr/>
        </p:nvSpPr>
        <p:spPr>
          <a:xfrm>
            <a:off x="4581144" y="4700016"/>
            <a:ext cx="1554480" cy="51206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Input this turn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 46"/>
          <p:cNvSpPr/>
          <p:nvPr/>
        </p:nvSpPr>
        <p:spPr>
          <a:xfrm>
            <a:off x="5943600" y="4700016"/>
            <a:ext cx="1737360" cy="51206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790</a:t>
            </a:r>
            <a:r>
              <a:rPr kumimoji="0" lang="en-US" sz="11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tok</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hape 47"/>
          <p:cNvSpPr/>
          <p:nvPr/>
        </p:nvSpPr>
        <p:spPr>
          <a:xfrm>
            <a:off x="6044184" y="5230368"/>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p:cNvSpPr/>
          <p:nvPr/>
        </p:nvSpPr>
        <p:spPr>
          <a:xfrm>
            <a:off x="5257800" y="5340096"/>
            <a:ext cx="1737360" cy="347472"/>
          </a:xfrm>
          <a:prstGeom prst="roundRect">
            <a:avLst>
              <a:gd name="adj" fmla="val 15789"/>
            </a:avLst>
          </a:prstGeom>
          <a:solidFill>
            <a:srgbClr val="1F1F1F"/>
          </a:solidFill>
          <a:ln w="12700">
            <a:solidFill>
              <a:srgbClr val="333333"/>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 49"/>
          <p:cNvSpPr/>
          <p:nvPr/>
        </p:nvSpPr>
        <p:spPr>
          <a:xfrm>
            <a:off x="5257800" y="5340096"/>
            <a:ext cx="173736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100" normalizeH="0" baseline="0" noProof="0" dirty="0">
                <a:ln>
                  <a:noFill/>
                </a:ln>
                <a:solidFill>
                  <a:srgbClr val="FFFFFF"/>
                </a:solidFill>
                <a:effectLst/>
                <a:uLnTx/>
                <a:uFillTx/>
                <a:latin typeface="Arial" pitchFamily="34" charset="0"/>
                <a:ea typeface="Arial" pitchFamily="34" charset="-122"/>
                <a:cs typeface="Arial" pitchFamily="34" charset="-120"/>
              </a:rPr>
              <a:t>LLM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Shape 50"/>
          <p:cNvSpPr/>
          <p:nvPr/>
        </p:nvSpPr>
        <p:spPr>
          <a:xfrm>
            <a:off x="6044184" y="5705856"/>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1"/>
          <p:cNvSpPr/>
          <p:nvPr/>
        </p:nvSpPr>
        <p:spPr>
          <a:xfrm>
            <a:off x="4572000" y="5797296"/>
            <a:ext cx="3108960" cy="384048"/>
          </a:xfrm>
          <a:prstGeom prst="roundRect">
            <a:avLst>
              <a:gd name="adj" fmla="val 11905"/>
            </a:avLst>
          </a:prstGeom>
          <a:solidFill>
            <a:srgbClr val="3F5165"/>
          </a:solidFill>
          <a:ln w="12700">
            <a:solidFill>
              <a:srgbClr val="333333"/>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 52"/>
          <p:cNvSpPr/>
          <p:nvPr/>
        </p:nvSpPr>
        <p:spPr>
          <a:xfrm>
            <a:off x="4700016" y="5797296"/>
            <a:ext cx="20574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Response 2 (output)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Text 53"/>
          <p:cNvSpPr/>
          <p:nvPr/>
        </p:nvSpPr>
        <p:spPr>
          <a:xfrm>
            <a:off x="6720840" y="5797296"/>
            <a:ext cx="822960" cy="38404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250</a:t>
            </a:r>
            <a:r>
              <a:rPr kumimoji="0" lang="en-US" sz="9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54"/>
          <p:cNvSpPr/>
          <p:nvPr/>
        </p:nvSpPr>
        <p:spPr>
          <a:xfrm>
            <a:off x="8366760" y="1298448"/>
            <a:ext cx="33832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3</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Shape 55"/>
          <p:cNvSpPr/>
          <p:nvPr/>
        </p:nvSpPr>
        <p:spPr>
          <a:xfrm>
            <a:off x="8366760" y="1691640"/>
            <a:ext cx="3383280" cy="2871216"/>
          </a:xfrm>
          <a:prstGeom prst="roundRect">
            <a:avLst>
              <a:gd name="adj" fmla="val 1911"/>
            </a:avLst>
          </a:prstGeom>
          <a:solidFill>
            <a:srgbClr val="FFFFFF">
              <a:alpha val="70000"/>
            </a:srgbClr>
          </a:solidFill>
          <a:ln w="12700">
            <a:solidFill>
              <a:srgbClr val="A51C3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 56"/>
          <p:cNvSpPr/>
          <p:nvPr/>
        </p:nvSpPr>
        <p:spPr>
          <a:xfrm>
            <a:off x="8412480" y="1435608"/>
            <a:ext cx="3291840" cy="219456"/>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Model input (context window)</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Shape 57"/>
          <p:cNvSpPr/>
          <p:nvPr/>
        </p:nvSpPr>
        <p:spPr>
          <a:xfrm>
            <a:off x="8503920" y="1801368"/>
            <a:ext cx="3108960" cy="365760"/>
          </a:xfrm>
          <a:prstGeom prst="roundRect">
            <a:avLst>
              <a:gd name="adj" fmla="val 12500"/>
            </a:avLst>
          </a:prstGeom>
          <a:solidFill>
            <a:srgbClr val="EFEEF2"/>
          </a:solidFill>
          <a:ln w="12700">
            <a:solidFill>
              <a:srgbClr val="9A98A3"/>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Text 58"/>
          <p:cNvSpPr/>
          <p:nvPr/>
        </p:nvSpPr>
        <p:spPr>
          <a:xfrm>
            <a:off x="8631936" y="18013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System prompt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Text 59"/>
          <p:cNvSpPr/>
          <p:nvPr/>
        </p:nvSpPr>
        <p:spPr>
          <a:xfrm>
            <a:off x="10652760" y="18013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500</a:t>
            </a:r>
            <a:r>
              <a:rPr kumimoji="0" lang="en-US" sz="950" b="0"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Shape 60"/>
          <p:cNvSpPr/>
          <p:nvPr/>
        </p:nvSpPr>
        <p:spPr>
          <a:xfrm>
            <a:off x="8503920" y="2258568"/>
            <a:ext cx="3108960" cy="365760"/>
          </a:xfrm>
          <a:prstGeom prst="roundRect">
            <a:avLst>
              <a:gd name="adj" fmla="val 12500"/>
            </a:avLst>
          </a:prstGeom>
          <a:solidFill>
            <a:srgbClr val="F6E7EA"/>
          </a:solidFill>
          <a:ln w="12700">
            <a:solidFill>
              <a:srgbClr val="A51C3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61"/>
          <p:cNvSpPr/>
          <p:nvPr/>
        </p:nvSpPr>
        <p:spPr>
          <a:xfrm>
            <a:off x="8631936" y="22585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query 1</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Text 62"/>
          <p:cNvSpPr/>
          <p:nvPr/>
        </p:nvSpPr>
        <p:spPr>
          <a:xfrm>
            <a:off x="10652760" y="22585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50</a:t>
            </a:r>
            <a:r>
              <a:rPr kumimoji="0" lang="en-US" sz="9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Shape 63"/>
          <p:cNvSpPr/>
          <p:nvPr/>
        </p:nvSpPr>
        <p:spPr>
          <a:xfrm>
            <a:off x="8503920" y="2715768"/>
            <a:ext cx="3108960" cy="365760"/>
          </a:xfrm>
          <a:prstGeom prst="roundRect">
            <a:avLst>
              <a:gd name="adj" fmla="val 12500"/>
            </a:avLst>
          </a:prstGeom>
          <a:solidFill>
            <a:srgbClr val="ECEFF2"/>
          </a:solidFill>
          <a:ln w="12700">
            <a:solidFill>
              <a:srgbClr val="3F5165"/>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Text 64"/>
          <p:cNvSpPr/>
          <p:nvPr/>
        </p:nvSpPr>
        <p:spPr>
          <a:xfrm>
            <a:off x="8631936" y="27157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Response 1</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Text 65"/>
          <p:cNvSpPr/>
          <p:nvPr/>
        </p:nvSpPr>
        <p:spPr>
          <a:xfrm>
            <a:off x="10652760" y="27157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200</a:t>
            </a:r>
            <a:r>
              <a:rPr kumimoji="0" lang="en-US" sz="950" b="0"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Shape 66"/>
          <p:cNvSpPr/>
          <p:nvPr/>
        </p:nvSpPr>
        <p:spPr>
          <a:xfrm>
            <a:off x="8503920" y="3172968"/>
            <a:ext cx="3108960" cy="365760"/>
          </a:xfrm>
          <a:prstGeom prst="roundRect">
            <a:avLst>
              <a:gd name="adj" fmla="val 12500"/>
            </a:avLst>
          </a:prstGeom>
          <a:solidFill>
            <a:srgbClr val="F6E7EA"/>
          </a:solidFill>
          <a:ln w="12700">
            <a:solidFill>
              <a:srgbClr val="A51C3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Text 67"/>
          <p:cNvSpPr/>
          <p:nvPr/>
        </p:nvSpPr>
        <p:spPr>
          <a:xfrm>
            <a:off x="8631936" y="31729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query 2</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0" name="Text 68"/>
          <p:cNvSpPr/>
          <p:nvPr/>
        </p:nvSpPr>
        <p:spPr>
          <a:xfrm>
            <a:off x="10652760" y="31729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40</a:t>
            </a:r>
            <a:r>
              <a:rPr kumimoji="0" lang="en-US" sz="9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Shape 69"/>
          <p:cNvSpPr/>
          <p:nvPr/>
        </p:nvSpPr>
        <p:spPr>
          <a:xfrm>
            <a:off x="8503920" y="3630168"/>
            <a:ext cx="3108960" cy="365760"/>
          </a:xfrm>
          <a:prstGeom prst="roundRect">
            <a:avLst>
              <a:gd name="adj" fmla="val 12500"/>
            </a:avLst>
          </a:prstGeom>
          <a:solidFill>
            <a:srgbClr val="ECEFF2"/>
          </a:solidFill>
          <a:ln w="12700">
            <a:solidFill>
              <a:srgbClr val="3F5165"/>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Text 70"/>
          <p:cNvSpPr/>
          <p:nvPr/>
        </p:nvSpPr>
        <p:spPr>
          <a:xfrm>
            <a:off x="8631936" y="36301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Response 2</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Text 71"/>
          <p:cNvSpPr/>
          <p:nvPr/>
        </p:nvSpPr>
        <p:spPr>
          <a:xfrm>
            <a:off x="10652760" y="36301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250</a:t>
            </a:r>
            <a:r>
              <a:rPr kumimoji="0" lang="en-US" sz="950" b="0"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4" name="Shape 72"/>
          <p:cNvSpPr/>
          <p:nvPr/>
        </p:nvSpPr>
        <p:spPr>
          <a:xfrm>
            <a:off x="8503920" y="4087368"/>
            <a:ext cx="3108960" cy="365760"/>
          </a:xfrm>
          <a:prstGeom prst="roundRect">
            <a:avLst>
              <a:gd name="adj" fmla="val 12500"/>
            </a:avLst>
          </a:prstGeom>
          <a:solidFill>
            <a:srgbClr val="A51C30"/>
          </a:solidFill>
          <a:ln w="12700">
            <a:solidFill>
              <a:srgbClr val="A51C3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Text 73"/>
          <p:cNvSpPr/>
          <p:nvPr/>
        </p:nvSpPr>
        <p:spPr>
          <a:xfrm>
            <a:off x="8631936" y="40873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User query 3</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6" name="Text 74"/>
          <p:cNvSpPr/>
          <p:nvPr/>
        </p:nvSpPr>
        <p:spPr>
          <a:xfrm>
            <a:off x="10652760" y="40873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60</a:t>
            </a:r>
            <a:r>
              <a:rPr kumimoji="0" lang="en-US" sz="9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7" name="Shape 75"/>
          <p:cNvSpPr/>
          <p:nvPr/>
        </p:nvSpPr>
        <p:spPr>
          <a:xfrm>
            <a:off x="9670288" y="4159504"/>
            <a:ext cx="566928" cy="201168"/>
          </a:xfrm>
          <a:prstGeom prst="roundRect">
            <a:avLst>
              <a:gd name="adj" fmla="val 50000"/>
            </a:avLst>
          </a:prstGeom>
          <a:solidFill>
            <a:srgbClr val="3F5165"/>
          </a:solidFill>
          <a:ln w="1270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Text 76"/>
          <p:cNvSpPr/>
          <p:nvPr/>
        </p:nvSpPr>
        <p:spPr>
          <a:xfrm>
            <a:off x="9670288" y="4159504"/>
            <a:ext cx="56692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FFFF"/>
                </a:solidFill>
                <a:effectLst/>
                <a:uLnTx/>
                <a:uFillTx/>
                <a:latin typeface="Arial" pitchFamily="34" charset="0"/>
                <a:ea typeface="Arial" pitchFamily="34" charset="-122"/>
                <a:cs typeface="Arial" pitchFamily="34" charset="-120"/>
              </a:rPr>
              <a:t>NEW</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9" name="Shape 77"/>
          <p:cNvSpPr/>
          <p:nvPr/>
        </p:nvSpPr>
        <p:spPr>
          <a:xfrm>
            <a:off x="9976104" y="4581144"/>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Shape 78"/>
          <p:cNvSpPr/>
          <p:nvPr/>
        </p:nvSpPr>
        <p:spPr>
          <a:xfrm>
            <a:off x="8366760" y="4700016"/>
            <a:ext cx="3383280" cy="512064"/>
          </a:xfrm>
          <a:prstGeom prst="roundRect">
            <a:avLst>
              <a:gd name="adj" fmla="val 10714"/>
            </a:avLst>
          </a:prstGeom>
          <a:solidFill>
            <a:srgbClr val="F5EAEC"/>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Text 79"/>
          <p:cNvSpPr/>
          <p:nvPr/>
        </p:nvSpPr>
        <p:spPr>
          <a:xfrm>
            <a:off x="8513064" y="4700016"/>
            <a:ext cx="1554480" cy="51206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Input this turn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2" name="Text 80"/>
          <p:cNvSpPr/>
          <p:nvPr/>
        </p:nvSpPr>
        <p:spPr>
          <a:xfrm>
            <a:off x="9875520" y="4700016"/>
            <a:ext cx="1737360" cy="51206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1,100</a:t>
            </a:r>
            <a:r>
              <a:rPr kumimoji="0" lang="en-US" sz="11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tok</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3" name="Shape 81"/>
          <p:cNvSpPr/>
          <p:nvPr/>
        </p:nvSpPr>
        <p:spPr>
          <a:xfrm>
            <a:off x="9976104" y="5230368"/>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Shape 82"/>
          <p:cNvSpPr/>
          <p:nvPr/>
        </p:nvSpPr>
        <p:spPr>
          <a:xfrm>
            <a:off x="9189720" y="5340096"/>
            <a:ext cx="1737360" cy="347472"/>
          </a:xfrm>
          <a:prstGeom prst="roundRect">
            <a:avLst>
              <a:gd name="adj" fmla="val 15789"/>
            </a:avLst>
          </a:prstGeom>
          <a:solidFill>
            <a:srgbClr val="1F1F1F"/>
          </a:solidFill>
          <a:ln w="12700">
            <a:solidFill>
              <a:srgbClr val="333333"/>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Text 83"/>
          <p:cNvSpPr/>
          <p:nvPr/>
        </p:nvSpPr>
        <p:spPr>
          <a:xfrm>
            <a:off x="9189720" y="5340096"/>
            <a:ext cx="173736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100" normalizeH="0" baseline="0" noProof="0" dirty="0">
                <a:ln>
                  <a:noFill/>
                </a:ln>
                <a:solidFill>
                  <a:srgbClr val="FFFFFF"/>
                </a:solidFill>
                <a:effectLst/>
                <a:uLnTx/>
                <a:uFillTx/>
                <a:latin typeface="Arial" pitchFamily="34" charset="0"/>
                <a:ea typeface="Arial" pitchFamily="34" charset="-122"/>
                <a:cs typeface="Arial" pitchFamily="34" charset="-120"/>
              </a:rPr>
              <a:t>LLM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6" name="Shape 84"/>
          <p:cNvSpPr/>
          <p:nvPr/>
        </p:nvSpPr>
        <p:spPr>
          <a:xfrm>
            <a:off x="9976104" y="5705856"/>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Shape 85"/>
          <p:cNvSpPr/>
          <p:nvPr/>
        </p:nvSpPr>
        <p:spPr>
          <a:xfrm>
            <a:off x="8503920" y="5797296"/>
            <a:ext cx="3108960" cy="384048"/>
          </a:xfrm>
          <a:prstGeom prst="roundRect">
            <a:avLst>
              <a:gd name="adj" fmla="val 11905"/>
            </a:avLst>
          </a:prstGeom>
          <a:solidFill>
            <a:srgbClr val="3F5165"/>
          </a:solidFill>
          <a:ln w="12700">
            <a:solidFill>
              <a:srgbClr val="333333"/>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Text 86"/>
          <p:cNvSpPr/>
          <p:nvPr/>
        </p:nvSpPr>
        <p:spPr>
          <a:xfrm>
            <a:off x="8631936" y="5797296"/>
            <a:ext cx="20574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Response 3 (output)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9" name="Text 87"/>
          <p:cNvSpPr/>
          <p:nvPr/>
        </p:nvSpPr>
        <p:spPr>
          <a:xfrm>
            <a:off x="10652760" y="5797296"/>
            <a:ext cx="822960" cy="38404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300</a:t>
            </a:r>
            <a:r>
              <a:rPr kumimoji="0" lang="en-US" sz="9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 name="Text 88"/>
          <p:cNvSpPr/>
          <p:nvPr/>
        </p:nvSpPr>
        <p:spPr>
          <a:xfrm>
            <a:off x="3977640" y="2743200"/>
            <a:ext cx="45720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C9A9AD"/>
                </a:solidFill>
                <a:effectLst/>
                <a:uLnTx/>
                <a:uFillTx/>
                <a:latin typeface="Arial" pitchFamily="34" charset="0"/>
                <a:ea typeface="Arial" pitchFamily="34" charset="-122"/>
                <a:cs typeface="Arial" pitchFamily="34" charset="-120"/>
              </a:rPr>
              <a:t>→</a:t>
            </a:r>
            <a:endParaRPr kumimoji="0" lang="en-US" sz="4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 name="Text 89"/>
          <p:cNvSpPr/>
          <p:nvPr/>
        </p:nvSpPr>
        <p:spPr>
          <a:xfrm>
            <a:off x="7909560" y="2743200"/>
            <a:ext cx="45720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C9A9AD"/>
                </a:solidFill>
                <a:effectLst/>
                <a:uLnTx/>
                <a:uFillTx/>
                <a:latin typeface="Arial" pitchFamily="34" charset="0"/>
                <a:ea typeface="Arial" pitchFamily="34" charset="-122"/>
                <a:cs typeface="Arial" pitchFamily="34" charset="-120"/>
              </a:rPr>
              <a:t>→</a:t>
            </a:r>
            <a:endParaRPr kumimoji="0" lang="en-US" sz="4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2" name="Text 100"/>
          <p:cNvSpPr/>
          <p:nvPr/>
        </p:nvSpPr>
        <p:spPr>
          <a:xfrm>
            <a:off x="566928" y="6446520"/>
            <a:ext cx="73152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Input grows every turn:  </a:t>
            </a:r>
            <a:r>
              <a:rPr kumimoji="0" lang="en-US" sz="10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550  &gt;  790  &gt;  1,100 tokens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 2"/>
          <p:cNvSpPr/>
          <p:nvPr/>
        </p:nvSpPr>
        <p:spPr>
          <a:xfrm>
            <a:off x="502920" y="101922"/>
            <a:ext cx="832104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The cost of a filling context window</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66928" y="536522"/>
            <a:ext cx="1106424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Pricing assumption: </a:t>
            </a:r>
            <a:r>
              <a:rPr kumimoji="0" lang="en-US" sz="13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$5 per million input tokens</a:t>
            </a:r>
            <a:r>
              <a:rPr kumimoji="0" lang="en-US" sz="135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and  </a:t>
            </a:r>
            <a:r>
              <a:rPr kumimoji="0" lang="en-US" sz="13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$25 per million output tokens</a:t>
            </a:r>
            <a:r>
              <a:rPr kumimoji="0" lang="en-US" sz="135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Context window capacity: 1,000,000 tokens.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02920" y="1298448"/>
            <a:ext cx="33832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N</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292608" y="1572768"/>
            <a:ext cx="150876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used / 1M limit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612648" y="1810512"/>
            <a:ext cx="868680" cy="2331720"/>
          </a:xfrm>
          <a:prstGeom prst="roundRect">
            <a:avLst>
              <a:gd name="adj" fmla="val 6316"/>
            </a:avLst>
          </a:prstGeom>
          <a:solidFill>
            <a:srgbClr val="FFFFFF">
              <a:alpha val="75000"/>
            </a:srgbClr>
          </a:solidFill>
          <a:ln w="15875">
            <a:solidFill>
              <a:srgbClr val="A51C3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649224" y="2208459"/>
            <a:ext cx="795528" cy="1897197"/>
          </a:xfrm>
          <a:prstGeom prst="roundRect">
            <a:avLst>
              <a:gd name="adj" fmla="val 5747"/>
            </a:avLst>
          </a:prstGeom>
          <a:solidFill>
            <a:srgbClr val="A51C30"/>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612648" y="2263323"/>
            <a:ext cx="868680" cy="548640"/>
          </a:xfrm>
          <a:prstGeom prst="rect">
            <a:avLst/>
          </a:prstGeom>
          <a:noFill/>
          <a:ln/>
        </p:spPr>
        <p:txBody>
          <a:bodyPr wrap="square" lIns="0" tIns="0" rIns="0" bIns="0" rtlCol="0" anchor="t"/>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840k</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84%</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1673352" y="1810512"/>
            <a:ext cx="2121408" cy="2331720"/>
          </a:xfrm>
          <a:prstGeom prst="roundRect">
            <a:avLst>
              <a:gd name="adj" fmla="val 2586"/>
            </a:avLst>
          </a:prstGeom>
          <a:solidFill>
            <a:srgbClr val="FFFFFF">
              <a:alpha val="92000"/>
            </a:srgbClr>
          </a:solidFill>
          <a:ln w="12700">
            <a:solidFill>
              <a:srgbClr val="E4DFE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1837944" y="1956816"/>
            <a:ext cx="115214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New query this turn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2944368" y="1956816"/>
            <a:ext cx="6858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A51C30"/>
                </a:solidFill>
                <a:effectLst/>
                <a:uLnTx/>
                <a:uFillTx/>
                <a:latin typeface="Arial" pitchFamily="34" charset="0"/>
                <a:ea typeface="Arial" pitchFamily="34" charset="-122"/>
                <a:cs typeface="Arial" pitchFamily="34" charset="-120"/>
              </a:rPr>
              <a:t>+40k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1837944" y="2359152"/>
            <a:ext cx="1792224" cy="0"/>
          </a:xfrm>
          <a:prstGeom prst="line">
            <a:avLst/>
          </a:prstGeom>
          <a:noFill/>
          <a:ln w="12700">
            <a:solidFill>
              <a:srgbClr val="E4D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1837944" y="2468880"/>
            <a:ext cx="101498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Input · 800k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2807208" y="2468880"/>
            <a:ext cx="82296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$4.00</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1837944" y="2834640"/>
            <a:ext cx="101498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Output · 40k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2807208" y="2834640"/>
            <a:ext cx="82296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$1.00</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1837944" y="3273552"/>
            <a:ext cx="1792224" cy="0"/>
          </a:xfrm>
          <a:prstGeom prst="line">
            <a:avLst/>
          </a:prstGeom>
          <a:noFill/>
          <a:ln w="12700">
            <a:solidFill>
              <a:srgbClr val="E4D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1837944" y="3383280"/>
            <a:ext cx="786384"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cost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2532888" y="3383280"/>
            <a:ext cx="1097280" cy="6400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3F5165"/>
                </a:solidFill>
                <a:effectLst/>
                <a:uLnTx/>
                <a:uFillTx/>
                <a:latin typeface="Arial" pitchFamily="34" charset="0"/>
                <a:ea typeface="Arial" pitchFamily="34" charset="-122"/>
                <a:cs typeface="Arial" pitchFamily="34" charset="-120"/>
              </a:rPr>
              <a:t>$5.00</a:t>
            </a: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4434840" y="1298448"/>
            <a:ext cx="33832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N+1</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224528" y="1572768"/>
            <a:ext cx="150876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used / 1M limit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4544568" y="1810512"/>
            <a:ext cx="868680" cy="2331720"/>
          </a:xfrm>
          <a:prstGeom prst="roundRect">
            <a:avLst>
              <a:gd name="adj" fmla="val 6316"/>
            </a:avLst>
          </a:prstGeom>
          <a:solidFill>
            <a:srgbClr val="FFFFFF">
              <a:alpha val="75000"/>
            </a:srgbClr>
          </a:solidFill>
          <a:ln w="15875">
            <a:solidFill>
              <a:srgbClr val="A51C3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4581144" y="2027773"/>
            <a:ext cx="795528" cy="2077883"/>
          </a:xfrm>
          <a:prstGeom prst="roundRect">
            <a:avLst>
              <a:gd name="adj" fmla="val 5747"/>
            </a:avLst>
          </a:prstGeom>
          <a:solidFill>
            <a:srgbClr val="A51C30"/>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4544568" y="2082637"/>
            <a:ext cx="868680" cy="548640"/>
          </a:xfrm>
          <a:prstGeom prst="rect">
            <a:avLst/>
          </a:prstGeom>
          <a:noFill/>
          <a:ln/>
        </p:spPr>
        <p:txBody>
          <a:bodyPr wrap="square" lIns="0" tIns="0" rIns="0" bIns="0" rtlCol="0" anchor="t"/>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920k</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92%</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5605272" y="1810512"/>
            <a:ext cx="2121408" cy="2331720"/>
          </a:xfrm>
          <a:prstGeom prst="roundRect">
            <a:avLst>
              <a:gd name="adj" fmla="val 2586"/>
            </a:avLst>
          </a:prstGeom>
          <a:solidFill>
            <a:srgbClr val="FFFFFF">
              <a:alpha val="92000"/>
            </a:srgbClr>
          </a:solidFill>
          <a:ln w="12700">
            <a:solidFill>
              <a:srgbClr val="E4DFE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p:nvPr/>
        </p:nvSpPr>
        <p:spPr>
          <a:xfrm>
            <a:off x="5769864" y="1956816"/>
            <a:ext cx="115214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New query this turn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6876288" y="1956816"/>
            <a:ext cx="6858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A51C30"/>
                </a:solidFill>
                <a:effectLst/>
                <a:uLnTx/>
                <a:uFillTx/>
                <a:latin typeface="Arial" pitchFamily="34" charset="0"/>
                <a:ea typeface="Arial" pitchFamily="34" charset="-122"/>
                <a:cs typeface="Arial" pitchFamily="34" charset="-120"/>
              </a:rPr>
              <a:t>+40k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5769864" y="2359152"/>
            <a:ext cx="1792224" cy="0"/>
          </a:xfrm>
          <a:prstGeom prst="line">
            <a:avLst/>
          </a:prstGeom>
          <a:noFill/>
          <a:ln w="12700">
            <a:solidFill>
              <a:srgbClr val="E4D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5769864" y="2468880"/>
            <a:ext cx="101498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Input · 880k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6739128" y="2468880"/>
            <a:ext cx="82296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$4.40</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5769864" y="2834640"/>
            <a:ext cx="101498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Output · 40k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6739128" y="2834640"/>
            <a:ext cx="82296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$1.00</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5769864" y="3273552"/>
            <a:ext cx="1792224" cy="0"/>
          </a:xfrm>
          <a:prstGeom prst="line">
            <a:avLst/>
          </a:prstGeom>
          <a:noFill/>
          <a:ln w="12700">
            <a:solidFill>
              <a:srgbClr val="E4D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p:cNvSpPr/>
          <p:nvPr/>
        </p:nvSpPr>
        <p:spPr>
          <a:xfrm>
            <a:off x="5769864" y="3383280"/>
            <a:ext cx="786384"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cost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p:nvPr/>
        </p:nvSpPr>
        <p:spPr>
          <a:xfrm>
            <a:off x="6464808" y="3383280"/>
            <a:ext cx="1097280" cy="6400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3F5165"/>
                </a:solidFill>
                <a:effectLst/>
                <a:uLnTx/>
                <a:uFillTx/>
                <a:latin typeface="Arial" pitchFamily="34" charset="0"/>
                <a:ea typeface="Arial" pitchFamily="34" charset="-122"/>
                <a:cs typeface="Arial" pitchFamily="34" charset="-120"/>
              </a:rPr>
              <a:t>$5.40</a:t>
            </a: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p:nvPr/>
        </p:nvSpPr>
        <p:spPr>
          <a:xfrm>
            <a:off x="8366760" y="1298448"/>
            <a:ext cx="33832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N+2</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8156448" y="1572768"/>
            <a:ext cx="150876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used / 1M limit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8"/>
          <p:cNvSpPr/>
          <p:nvPr/>
        </p:nvSpPr>
        <p:spPr>
          <a:xfrm>
            <a:off x="8476488" y="1810512"/>
            <a:ext cx="868680" cy="2331720"/>
          </a:xfrm>
          <a:prstGeom prst="roundRect">
            <a:avLst>
              <a:gd name="adj" fmla="val 6316"/>
            </a:avLst>
          </a:prstGeom>
          <a:solidFill>
            <a:srgbClr val="FFFFFF">
              <a:alpha val="75000"/>
            </a:srgbClr>
          </a:solidFill>
          <a:ln w="15875">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p:cNvSpPr/>
          <p:nvPr/>
        </p:nvSpPr>
        <p:spPr>
          <a:xfrm>
            <a:off x="8513064" y="1892259"/>
            <a:ext cx="795528" cy="2213397"/>
          </a:xfrm>
          <a:prstGeom prst="roundRect">
            <a:avLst>
              <a:gd name="adj" fmla="val 5747"/>
            </a:avLst>
          </a:prstGeom>
          <a:solidFill>
            <a:srgbClr val="3F5165"/>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40"/>
          <p:cNvSpPr/>
          <p:nvPr/>
        </p:nvSpPr>
        <p:spPr>
          <a:xfrm>
            <a:off x="8476488" y="2276307"/>
            <a:ext cx="868680" cy="548640"/>
          </a:xfrm>
          <a:prstGeom prst="rect">
            <a:avLst/>
          </a:prstGeom>
          <a:noFill/>
          <a:ln/>
        </p:spPr>
        <p:txBody>
          <a:bodyPr wrap="square" lIns="0" tIns="0" rIns="0" bIns="0" rtlCol="0" anchor="t"/>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980k</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98%</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Shape 41"/>
          <p:cNvSpPr/>
          <p:nvPr/>
        </p:nvSpPr>
        <p:spPr>
          <a:xfrm>
            <a:off x="8343900" y="1792224"/>
            <a:ext cx="1133856" cy="219456"/>
          </a:xfrm>
          <a:prstGeom prst="roundRect">
            <a:avLst>
              <a:gd name="adj" fmla="val 50000"/>
            </a:avLst>
          </a:prstGeom>
          <a:solidFill>
            <a:srgbClr val="FFFFFF"/>
          </a:solidFill>
          <a:ln w="1270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 42"/>
          <p:cNvSpPr/>
          <p:nvPr/>
        </p:nvSpPr>
        <p:spPr>
          <a:xfrm>
            <a:off x="8343900" y="1792224"/>
            <a:ext cx="1133856"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3F5165"/>
                </a:solidFill>
                <a:effectLst/>
                <a:uLnTx/>
                <a:uFillTx/>
                <a:latin typeface="Arial" pitchFamily="34" charset="0"/>
                <a:ea typeface="Arial" pitchFamily="34" charset="-122"/>
                <a:cs typeface="Arial" pitchFamily="34" charset="-120"/>
              </a:rPr>
              <a:t>NEAR LIMIT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43"/>
          <p:cNvSpPr/>
          <p:nvPr/>
        </p:nvSpPr>
        <p:spPr>
          <a:xfrm>
            <a:off x="9537192" y="1810512"/>
            <a:ext cx="2121408" cy="2331720"/>
          </a:xfrm>
          <a:prstGeom prst="roundRect">
            <a:avLst>
              <a:gd name="adj" fmla="val 2586"/>
            </a:avLst>
          </a:prstGeom>
          <a:solidFill>
            <a:srgbClr val="FFFFFF">
              <a:alpha val="92000"/>
            </a:srgbClr>
          </a:solidFill>
          <a:ln w="12700">
            <a:solidFill>
              <a:srgbClr val="E4DFE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 44"/>
          <p:cNvSpPr/>
          <p:nvPr/>
        </p:nvSpPr>
        <p:spPr>
          <a:xfrm>
            <a:off x="9701784" y="1956816"/>
            <a:ext cx="115214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New query this turn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 45"/>
          <p:cNvSpPr/>
          <p:nvPr/>
        </p:nvSpPr>
        <p:spPr>
          <a:xfrm>
            <a:off x="10808208" y="1956816"/>
            <a:ext cx="6858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A51C30"/>
                </a:solidFill>
                <a:effectLst/>
                <a:uLnTx/>
                <a:uFillTx/>
                <a:latin typeface="Arial" pitchFamily="34" charset="0"/>
                <a:ea typeface="Arial" pitchFamily="34" charset="-122"/>
                <a:cs typeface="Arial" pitchFamily="34" charset="-120"/>
              </a:rPr>
              <a:t>+20k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Shape 46"/>
          <p:cNvSpPr/>
          <p:nvPr/>
        </p:nvSpPr>
        <p:spPr>
          <a:xfrm>
            <a:off x="9701784" y="2359152"/>
            <a:ext cx="1792224" cy="0"/>
          </a:xfrm>
          <a:prstGeom prst="line">
            <a:avLst/>
          </a:prstGeom>
          <a:noFill/>
          <a:ln w="12700">
            <a:solidFill>
              <a:srgbClr val="E4D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47"/>
          <p:cNvSpPr/>
          <p:nvPr/>
        </p:nvSpPr>
        <p:spPr>
          <a:xfrm>
            <a:off x="9701784" y="2468880"/>
            <a:ext cx="101498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Input · 940k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48"/>
          <p:cNvSpPr/>
          <p:nvPr/>
        </p:nvSpPr>
        <p:spPr>
          <a:xfrm>
            <a:off x="10671048" y="2468880"/>
            <a:ext cx="82296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$4.70</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Text 49"/>
          <p:cNvSpPr/>
          <p:nvPr/>
        </p:nvSpPr>
        <p:spPr>
          <a:xfrm>
            <a:off x="9701784" y="2834640"/>
            <a:ext cx="101498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Output · 40k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Text 50"/>
          <p:cNvSpPr/>
          <p:nvPr/>
        </p:nvSpPr>
        <p:spPr>
          <a:xfrm>
            <a:off x="10671048" y="2834640"/>
            <a:ext cx="82296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$1.00</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Shape 51"/>
          <p:cNvSpPr/>
          <p:nvPr/>
        </p:nvSpPr>
        <p:spPr>
          <a:xfrm>
            <a:off x="9701784" y="3273552"/>
            <a:ext cx="1792224" cy="0"/>
          </a:xfrm>
          <a:prstGeom prst="line">
            <a:avLst/>
          </a:prstGeom>
          <a:noFill/>
          <a:ln w="12700">
            <a:solidFill>
              <a:srgbClr val="E4D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 52"/>
          <p:cNvSpPr/>
          <p:nvPr/>
        </p:nvSpPr>
        <p:spPr>
          <a:xfrm>
            <a:off x="9701784" y="3383280"/>
            <a:ext cx="786384"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cost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Text 53"/>
          <p:cNvSpPr/>
          <p:nvPr/>
        </p:nvSpPr>
        <p:spPr>
          <a:xfrm>
            <a:off x="10396728" y="3383280"/>
            <a:ext cx="1097280" cy="6400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3F5165"/>
                </a:solidFill>
                <a:effectLst/>
                <a:uLnTx/>
                <a:uFillTx/>
                <a:latin typeface="Arial" pitchFamily="34" charset="0"/>
                <a:ea typeface="Arial" pitchFamily="34" charset="-122"/>
                <a:cs typeface="Arial" pitchFamily="34" charset="-120"/>
              </a:rPr>
              <a:t>$5.70</a:t>
            </a: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54"/>
          <p:cNvSpPr/>
          <p:nvPr/>
        </p:nvSpPr>
        <p:spPr>
          <a:xfrm>
            <a:off x="4069080" y="2651760"/>
            <a:ext cx="45720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C9A9AD"/>
                </a:solidFill>
                <a:effectLst/>
                <a:uLnTx/>
                <a:uFillTx/>
                <a:latin typeface="Arial" pitchFamily="34" charset="0"/>
                <a:ea typeface="Arial" pitchFamily="34" charset="-122"/>
                <a:cs typeface="Arial" pitchFamily="34" charset="-120"/>
              </a:rPr>
              <a:t>→</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Text 55"/>
          <p:cNvSpPr/>
          <p:nvPr/>
        </p:nvSpPr>
        <p:spPr>
          <a:xfrm>
            <a:off x="7955280" y="2651760"/>
            <a:ext cx="45720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C9A9AD"/>
                </a:solidFill>
                <a:effectLst/>
                <a:uLnTx/>
                <a:uFillTx/>
                <a:latin typeface="Arial" pitchFamily="34" charset="0"/>
                <a:ea typeface="Arial" pitchFamily="34" charset="-122"/>
                <a:cs typeface="Arial" pitchFamily="34" charset="-120"/>
              </a:rPr>
              <a:t>→</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58" name="Chart 0"/>
          <p:cNvGraphicFramePr/>
          <p:nvPr/>
        </p:nvGraphicFramePr>
        <p:xfrm>
          <a:off x="502920" y="4572000"/>
          <a:ext cx="5623560" cy="1572768"/>
        </p:xfrm>
        <a:graphic>
          <a:graphicData uri="http://schemas.openxmlformats.org/drawingml/2006/chart">
            <c:chart xmlns:c="http://schemas.openxmlformats.org/drawingml/2006/chart" xmlns:r="http://schemas.openxmlformats.org/officeDocument/2006/relationships" r:id="rId4"/>
          </a:graphicData>
        </a:graphic>
      </p:graphicFrame>
      <p:sp>
        <p:nvSpPr>
          <p:cNvPr id="59" name="Shape 56"/>
          <p:cNvSpPr/>
          <p:nvPr/>
        </p:nvSpPr>
        <p:spPr>
          <a:xfrm>
            <a:off x="6446520" y="4572000"/>
            <a:ext cx="5257800" cy="1572768"/>
          </a:xfrm>
          <a:prstGeom prst="roundRect">
            <a:avLst>
              <a:gd name="adj" fmla="val 3488"/>
            </a:avLst>
          </a:prstGeom>
          <a:solidFill>
            <a:srgbClr val="F5EAEC">
              <a:alpha val="90000"/>
            </a:srgbClr>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Text 57"/>
          <p:cNvSpPr/>
          <p:nvPr/>
        </p:nvSpPr>
        <p:spPr>
          <a:xfrm>
            <a:off x="6647688" y="4700016"/>
            <a:ext cx="4855464"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Why the cost climbs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Text 58"/>
          <p:cNvSpPr/>
          <p:nvPr/>
        </p:nvSpPr>
        <p:spPr>
          <a:xfrm>
            <a:off x="6647688" y="5029200"/>
            <a:ext cx="4855464" cy="100584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600"/>
              </a:spcAft>
              <a:buClrTx/>
              <a:buSzPct val="100000"/>
              <a:buFontTx/>
              <a:buChar char="•"/>
              <a:tabLst/>
              <a:defRPr/>
            </a:pP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Every turn re-bills the entire context, not just the new message.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At Turn N+2, about 920k of the 940k input tokens (98%) is history re-processed from earlier turns, roughly $4.60 of that turn's $4.70 input cost.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Text 59"/>
          <p:cNvSpPr/>
          <p:nvPr/>
        </p:nvSpPr>
        <p:spPr>
          <a:xfrm>
            <a:off x="502920" y="6272784"/>
            <a:ext cx="11228832" cy="512064"/>
          </a:xfrm>
          <a:prstGeom prst="rect">
            <a:avLst/>
          </a:prstGeom>
          <a:noFill/>
          <a:ln/>
        </p:spPr>
        <p:txBody>
          <a:bodyPr wrap="square" lIns="0" tIns="0" rIns="0" bIns="0"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The 1M window is a capacity limit, not a billed amount: you pay for tokens processed each turn, not for the size of the window.</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This is an API pricing example without caching. On subscription apps (e.g., Claude.ai) caching is provider-managed: it optimizes speed and capacity rather than lowering your bill, and the savings accrue to the provider.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3" name="Group 62">
            <a:extLst>
              <a:ext uri="{FF2B5EF4-FFF2-40B4-BE49-F238E27FC236}">
                <a16:creationId xmlns:a16="http://schemas.microsoft.com/office/drawing/2014/main" id="{0E337160-1A2E-646A-EA3F-BCEB119277EA}"/>
              </a:ext>
            </a:extLst>
          </p:cNvPr>
          <p:cNvGrpSpPr/>
          <p:nvPr/>
        </p:nvGrpSpPr>
        <p:grpSpPr>
          <a:xfrm>
            <a:off x="441960" y="987552"/>
            <a:ext cx="2715768" cy="310896"/>
            <a:chOff x="9976104" y="923544"/>
            <a:chExt cx="2715768" cy="310896"/>
          </a:xfrm>
        </p:grpSpPr>
        <p:sp>
          <p:nvSpPr>
            <p:cNvPr id="64" name="Shape 0">
              <a:extLst>
                <a:ext uri="{FF2B5EF4-FFF2-40B4-BE49-F238E27FC236}">
                  <a16:creationId xmlns:a16="http://schemas.microsoft.com/office/drawing/2014/main" id="{A623A1EB-0FE0-58B7-5499-229A75805D0D}"/>
                </a:ext>
              </a:extLst>
            </p:cNvPr>
            <p:cNvSpPr/>
            <p:nvPr/>
          </p:nvSpPr>
          <p:spPr>
            <a:xfrm>
              <a:off x="9976104" y="923544"/>
              <a:ext cx="2715768" cy="310896"/>
            </a:xfrm>
            <a:prstGeom prst="roundRect">
              <a:avLst>
                <a:gd name="adj" fmla="val 50000"/>
              </a:avLst>
            </a:prstGeom>
            <a:solidFill>
              <a:srgbClr val="FFFFFF"/>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ext 1">
              <a:extLst>
                <a:ext uri="{FF2B5EF4-FFF2-40B4-BE49-F238E27FC236}">
                  <a16:creationId xmlns:a16="http://schemas.microsoft.com/office/drawing/2014/main" id="{0838EAD5-CE4A-0D31-4ECF-FDE2F27E605F}"/>
                </a:ext>
              </a:extLst>
            </p:cNvPr>
            <p:cNvSpPr/>
            <p:nvPr/>
          </p:nvSpPr>
          <p:spPr>
            <a:xfrm>
              <a:off x="9976104" y="923544"/>
              <a:ext cx="271576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API pricing example</a:t>
              </a:r>
              <a:r>
                <a:rPr kumimoji="0" lang="en-US" sz="10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  no caching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CCD76A22-F40B-2821-9C1C-444E1B755BA2}"/>
              </a:ext>
            </a:extLst>
          </p:cNvPr>
          <p:cNvGrpSpPr/>
          <p:nvPr/>
        </p:nvGrpSpPr>
        <p:grpSpPr>
          <a:xfrm>
            <a:off x="457199" y="913374"/>
            <a:ext cx="2715768" cy="310896"/>
            <a:chOff x="9015984" y="365760"/>
            <a:chExt cx="2715768" cy="310896"/>
          </a:xfrm>
        </p:grpSpPr>
        <p:sp>
          <p:nvSpPr>
            <p:cNvPr id="2" name="Shape 0"/>
            <p:cNvSpPr/>
            <p:nvPr/>
          </p:nvSpPr>
          <p:spPr>
            <a:xfrm>
              <a:off x="9015984" y="365760"/>
              <a:ext cx="2715768" cy="310896"/>
            </a:xfrm>
            <a:prstGeom prst="roundRect">
              <a:avLst>
                <a:gd name="adj" fmla="val 50000"/>
              </a:avLst>
            </a:prstGeom>
            <a:solidFill>
              <a:srgbClr val="FFFFFF"/>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9015984" y="365760"/>
              <a:ext cx="271576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API pricing example</a:t>
              </a:r>
              <a:r>
                <a:rPr kumimoji="0" lang="en-US" sz="10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  no caching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 name="Text 2"/>
          <p:cNvSpPr/>
          <p:nvPr/>
        </p:nvSpPr>
        <p:spPr>
          <a:xfrm>
            <a:off x="457199" y="99662"/>
            <a:ext cx="11512193"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Compaction [conversation summarization] &amp; the shape of cumulative cost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02920" y="529326"/>
            <a:ext cx="1115568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Illustrative model. Context grows toward the 1M limit, compaction compresses it back to about 50k, and the cycle repeats.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1298448"/>
            <a:ext cx="553212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Context window over turns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217920" y="1298448"/>
            <a:ext cx="54864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Cumulative cost over turns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57200" y="1645920"/>
            <a:ext cx="5532120" cy="585216"/>
          </a:xfrm>
          <a:prstGeom prst="roundRect">
            <a:avLst>
              <a:gd name="adj" fmla="val 7813"/>
            </a:avLst>
          </a:prstGeom>
          <a:solidFill>
            <a:srgbClr val="F5EAEC">
              <a:alpha val="88000"/>
            </a:srgbClr>
          </a:solidFill>
          <a:ln w="12700">
            <a:solidFill>
              <a:srgbClr val="E0DB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585216" y="1664208"/>
            <a:ext cx="5276088"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222222"/>
                </a:solidFill>
                <a:effectLst/>
                <a:uLnTx/>
                <a:uFillTx/>
                <a:latin typeface="Courier New" pitchFamily="34" charset="0"/>
                <a:ea typeface="Courier New" pitchFamily="34" charset="-122"/>
                <a:cs typeface="Courier New" pitchFamily="34" charset="-120"/>
              </a:rPr>
              <a:t>C(t) = Cmax - (Cmax - Cmin) * e^(-r * 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6B6B6B"/>
                </a:solidFill>
                <a:effectLst/>
                <a:uLnTx/>
                <a:uFillTx/>
                <a:latin typeface="Courier New" pitchFamily="34" charset="0"/>
                <a:ea typeface="Courier New" pitchFamily="34" charset="-122"/>
                <a:cs typeface="Courier New" pitchFamily="34" charset="-120"/>
              </a:rPr>
              <a:t>t' = turns since last compaction;  reset to Cmin at limit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6217920" y="1645920"/>
            <a:ext cx="5486400" cy="585216"/>
          </a:xfrm>
          <a:prstGeom prst="roundRect">
            <a:avLst>
              <a:gd name="adj" fmla="val 7813"/>
            </a:avLst>
          </a:prstGeom>
          <a:solidFill>
            <a:srgbClr val="F5EAEC">
              <a:alpha val="88000"/>
            </a:srgbClr>
          </a:solidFill>
          <a:ln w="12700">
            <a:solidFill>
              <a:srgbClr val="E0DB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6345936" y="1664208"/>
            <a:ext cx="5230368"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222222"/>
                </a:solidFill>
                <a:effectLst/>
                <a:uLnTx/>
                <a:uFillTx/>
                <a:latin typeface="Courier New" pitchFamily="34" charset="0"/>
                <a:ea typeface="Courier New" pitchFamily="34" charset="-122"/>
                <a:cs typeface="Courier New" pitchFamily="34" charset="-120"/>
              </a:rPr>
              <a:t>Cost(N) = SUM[t=1..N] ( 5*C(t) + 25*O ) / 1e6</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6B6B6B"/>
                </a:solidFill>
                <a:effectLst/>
                <a:uLnTx/>
                <a:uFillTx/>
                <a:latin typeface="Courier New" pitchFamily="34" charset="0"/>
                <a:ea typeface="Courier New" pitchFamily="34" charset="-122"/>
                <a:cs typeface="Courier New" pitchFamily="34" charset="-120"/>
              </a:rPr>
              <a:t>C(t) = input tokens (context);  O = output tokens / turn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2" name="Chart 0"/>
          <p:cNvGraphicFramePr/>
          <p:nvPr>
            <p:extLst>
              <p:ext uri="{D42A27DB-BD31-4B8C-83A1-F6EECF244321}">
                <p14:modId xmlns:p14="http://schemas.microsoft.com/office/powerpoint/2010/main" val="3253761923"/>
              </p:ext>
            </p:extLst>
          </p:nvPr>
        </p:nvGraphicFramePr>
        <p:xfrm>
          <a:off x="457200" y="2409288"/>
          <a:ext cx="5532120" cy="28346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Chart 1"/>
          <p:cNvGraphicFramePr/>
          <p:nvPr>
            <p:extLst>
              <p:ext uri="{D42A27DB-BD31-4B8C-83A1-F6EECF244321}">
                <p14:modId xmlns:p14="http://schemas.microsoft.com/office/powerpoint/2010/main" val="3677596159"/>
              </p:ext>
            </p:extLst>
          </p:nvPr>
        </p:nvGraphicFramePr>
        <p:xfrm>
          <a:off x="6217920" y="2409288"/>
          <a:ext cx="5486400" cy="2834640"/>
        </p:xfrm>
        <a:graphic>
          <a:graphicData uri="http://schemas.openxmlformats.org/drawingml/2006/chart">
            <c:chart xmlns:c="http://schemas.openxmlformats.org/drawingml/2006/chart" xmlns:r="http://schemas.openxmlformats.org/officeDocument/2006/relationships" r:id="rId5"/>
          </a:graphicData>
        </a:graphic>
      </p:graphicFrame>
      <p:sp>
        <p:nvSpPr>
          <p:cNvPr id="14" name="Shape 10"/>
          <p:cNvSpPr/>
          <p:nvPr/>
        </p:nvSpPr>
        <p:spPr>
          <a:xfrm>
            <a:off x="7296912" y="2500728"/>
            <a:ext cx="2093668" cy="749808"/>
          </a:xfrm>
          <a:prstGeom prst="roundRect">
            <a:avLst>
              <a:gd name="adj" fmla="val 7317"/>
            </a:avLst>
          </a:prstGeom>
          <a:solidFill>
            <a:srgbClr val="FFFFFF">
              <a:alpha val="94000"/>
            </a:srgbClr>
          </a:solidFill>
          <a:ln w="1270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1"/>
          <p:cNvSpPr/>
          <p:nvPr/>
        </p:nvSpPr>
        <p:spPr>
          <a:xfrm>
            <a:off x="7406640" y="2537304"/>
            <a:ext cx="1983940" cy="6766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3F5165"/>
                </a:solidFill>
                <a:effectLst/>
                <a:uLnTx/>
                <a:uFillTx/>
                <a:latin typeface="Arial" pitchFamily="34" charset="0"/>
                <a:ea typeface="Arial" pitchFamily="34" charset="-122"/>
                <a:cs typeface="Arial" pitchFamily="34" charset="-120"/>
              </a:rPr>
              <a:t>Step-ups = compaction calls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Each summary call adds about $6. Compaction is a real cost.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2"/>
          <p:cNvSpPr/>
          <p:nvPr/>
        </p:nvSpPr>
        <p:spPr>
          <a:xfrm>
            <a:off x="457200" y="5495237"/>
            <a:ext cx="11247120" cy="1265160"/>
          </a:xfrm>
          <a:prstGeom prst="roundRect">
            <a:avLst>
              <a:gd name="adj" fmla="val 3750"/>
            </a:avLst>
          </a:prstGeom>
          <a:solidFill>
            <a:srgbClr val="F5EAEC">
              <a:alpha val="85000"/>
            </a:srgbClr>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3"/>
          <p:cNvSpPr/>
          <p:nvPr/>
        </p:nvSpPr>
        <p:spPr>
          <a:xfrm>
            <a:off x="658368" y="5568389"/>
            <a:ext cx="1088136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Takeaway:  </a:t>
            </a: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compaction lowers the context re-billed each turn (the dips), but each compaction is itself a summary call that costs about $6 here (the step-ups). Over 30 turns the totals nearly match: about $145 with compaction versus $146 without. It pulls ahead the longer the session runs, since the dips repeat while each summary is paid once.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4"/>
          <p:cNvSpPr/>
          <p:nvPr/>
        </p:nvSpPr>
        <p:spPr>
          <a:xfrm>
            <a:off x="658368" y="6135317"/>
            <a:ext cx="1088136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Assumptions (all figures fictitious, for teaching): </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9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Input tokens each turn equal the current context size (the whole context is re-sent).  Output is a constant 30,000 tokens per turn.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9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Compaction is itself an LLM call: it reads the context and writes a 50,000-token summary, billed at the same $5 / $25 rates.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9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API pricing example with no caching; on subscription apps caching is provider-managed and does not lower your bill.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72BDD-57AB-FF0D-1346-C7C4387EE3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1D088F-8907-AC2F-0EA2-7315D14239EC}"/>
              </a:ext>
            </a:extLst>
          </p:cNvPr>
          <p:cNvSpPr>
            <a:spLocks noGrp="1"/>
          </p:cNvSpPr>
          <p:nvPr>
            <p:ph type="title"/>
          </p:nvPr>
        </p:nvSpPr>
        <p:spPr/>
        <p:txBody>
          <a:bodyPr/>
          <a:lstStyle/>
          <a:p>
            <a:r>
              <a:rPr lang="en-US" dirty="0"/>
              <a:t>Self-hosting, organizations can save with caching.</a:t>
            </a:r>
          </a:p>
        </p:txBody>
      </p:sp>
    </p:spTree>
    <p:extLst>
      <p:ext uri="{BB962C8B-B14F-4D97-AF65-F5344CB8AC3E}">
        <p14:creationId xmlns:p14="http://schemas.microsoft.com/office/powerpoint/2010/main" val="1286277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A108F-27B5-E019-9A97-121905B062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CA5EE7-B1D4-8716-790F-B0D0DFEB731B}"/>
              </a:ext>
            </a:extLst>
          </p:cNvPr>
          <p:cNvSpPr>
            <a:spLocks noGrp="1"/>
          </p:cNvSpPr>
          <p:nvPr>
            <p:ph type="title"/>
          </p:nvPr>
        </p:nvSpPr>
        <p:spPr>
          <a:xfrm>
            <a:off x="381000" y="342900"/>
            <a:ext cx="11430000" cy="492443"/>
          </a:xfrm>
        </p:spPr>
        <p:txBody>
          <a:bodyPr/>
          <a:lstStyle/>
          <a:p>
            <a:pPr algn="l"/>
            <a:r>
              <a:rPr lang="en-US" dirty="0">
                <a:solidFill>
                  <a:schemeClr val="accent1"/>
                </a:solidFill>
              </a:rPr>
              <a:t>Organizations can reduce costs in various ways</a:t>
            </a:r>
          </a:p>
        </p:txBody>
      </p:sp>
      <p:sp>
        <p:nvSpPr>
          <p:cNvPr id="3" name="Subtitle 2">
            <a:extLst>
              <a:ext uri="{FF2B5EF4-FFF2-40B4-BE49-F238E27FC236}">
                <a16:creationId xmlns:a16="http://schemas.microsoft.com/office/drawing/2014/main" id="{ACE7C106-032F-7D97-B519-B96907756372}"/>
              </a:ext>
            </a:extLst>
          </p:cNvPr>
          <p:cNvSpPr>
            <a:spLocks noGrp="1"/>
          </p:cNvSpPr>
          <p:nvPr>
            <p:ph type="subTitle" idx="1"/>
          </p:nvPr>
        </p:nvSpPr>
        <p:spPr/>
        <p:txBody>
          <a:bodyPr/>
          <a:lstStyle/>
          <a:p>
            <a:r>
              <a:rPr lang="en-US" dirty="0">
                <a:solidFill>
                  <a:schemeClr val="accent1"/>
                </a:solidFill>
              </a:rPr>
              <a:t>There are more opportunities to reduce cost but these are two.</a:t>
            </a:r>
          </a:p>
        </p:txBody>
      </p:sp>
      <p:sp>
        <p:nvSpPr>
          <p:cNvPr id="4" name="Shape 4">
            <a:extLst>
              <a:ext uri="{FF2B5EF4-FFF2-40B4-BE49-F238E27FC236}">
                <a16:creationId xmlns:a16="http://schemas.microsoft.com/office/drawing/2014/main" id="{6D641D2B-D348-A79F-AB63-94A57F2D7E21}"/>
              </a:ext>
            </a:extLst>
          </p:cNvPr>
          <p:cNvSpPr/>
          <p:nvPr/>
        </p:nvSpPr>
        <p:spPr>
          <a:xfrm>
            <a:off x="6606282" y="1312353"/>
            <a:ext cx="5505704" cy="5437768"/>
          </a:xfrm>
          <a:prstGeom prst="rect">
            <a:avLst/>
          </a:prstGeom>
          <a:solidFill>
            <a:srgbClr val="E6E6D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descr="All about the cache 🤓 : r/ProgrammerHumor">
            <a:extLst>
              <a:ext uri="{FF2B5EF4-FFF2-40B4-BE49-F238E27FC236}">
                <a16:creationId xmlns:a16="http://schemas.microsoft.com/office/drawing/2014/main" id="{28C09315-763A-4CF6-AE74-E1C9C503A156}"/>
              </a:ext>
            </a:extLst>
          </p:cNvPr>
          <p:cNvPicPr>
            <a:picLocks noChangeAspect="1"/>
          </p:cNvPicPr>
          <p:nvPr/>
        </p:nvPicPr>
        <p:blipFill>
          <a:blip r:embed="rId2"/>
          <a:stretch>
            <a:fillRect/>
          </a:stretch>
        </p:blipFill>
        <p:spPr>
          <a:xfrm>
            <a:off x="80014" y="1876589"/>
            <a:ext cx="6236495" cy="4219411"/>
          </a:xfrm>
          <a:prstGeom prst="rect">
            <a:avLst/>
          </a:prstGeom>
        </p:spPr>
      </p:pic>
      <p:sp>
        <p:nvSpPr>
          <p:cNvPr id="10" name="TextBox 9">
            <a:extLst>
              <a:ext uri="{FF2B5EF4-FFF2-40B4-BE49-F238E27FC236}">
                <a16:creationId xmlns:a16="http://schemas.microsoft.com/office/drawing/2014/main" id="{FEA3D18C-CCAE-F5F1-8ADE-28A7AC372A2E}"/>
              </a:ext>
            </a:extLst>
          </p:cNvPr>
          <p:cNvSpPr txBox="1"/>
          <p:nvPr/>
        </p:nvSpPr>
        <p:spPr>
          <a:xfrm>
            <a:off x="6718052" y="1522858"/>
            <a:ext cx="5393934" cy="5016758"/>
          </a:xfrm>
          <a:prstGeom prst="rect">
            <a:avLst/>
          </a:prstGeom>
          <a:noFill/>
        </p:spPr>
        <p:txBody>
          <a:bodyPr wrap="square">
            <a:spAutoFit/>
          </a:bodyPr>
          <a:lstStyle/>
          <a:p>
            <a:pPr>
              <a:buNone/>
            </a:pPr>
            <a:r>
              <a:rPr lang="en-US" sz="1600" b="1" dirty="0"/>
              <a:t>What is a Cache?</a:t>
            </a:r>
            <a:r>
              <a:rPr lang="en-US" sz="1600" dirty="0"/>
              <a:t> A high-speed storage layer that temporarily holds frequently accessed data so future requests can be served much faster than reading from primary memory.</a:t>
            </a:r>
          </a:p>
          <a:p>
            <a:pPr>
              <a:buNone/>
            </a:pPr>
            <a:endParaRPr lang="en-US" sz="1600" dirty="0"/>
          </a:p>
          <a:p>
            <a:pPr>
              <a:buNone/>
            </a:pPr>
            <a:r>
              <a:rPr lang="en-US" sz="1600" b="1" dirty="0"/>
              <a:t>The LLM Bottleneck:</a:t>
            </a:r>
            <a:r>
              <a:rPr lang="en-US" sz="1600" dirty="0"/>
              <a:t> Generating text token-by-token normally forces the model to recompute complex math for the </a:t>
            </a:r>
            <a:r>
              <a:rPr lang="en-US" sz="1600" i="1" dirty="0"/>
              <a:t>entire</a:t>
            </a:r>
            <a:r>
              <a:rPr lang="en-US" sz="1600" dirty="0"/>
              <a:t> preceding sequence at every single step.</a:t>
            </a:r>
          </a:p>
          <a:p>
            <a:pPr>
              <a:buNone/>
            </a:pPr>
            <a:endParaRPr lang="en-US" sz="1600" dirty="0"/>
          </a:p>
          <a:p>
            <a:pPr>
              <a:buNone/>
            </a:pPr>
            <a:r>
              <a:rPr lang="en-US" sz="1600" b="1" dirty="0"/>
              <a:t>The KV Cache Solution:</a:t>
            </a:r>
            <a:r>
              <a:rPr lang="en-US" sz="1600" dirty="0"/>
              <a:t> An optimization that stores the previously computed </a:t>
            </a:r>
            <a:r>
              <a:rPr lang="en-US" sz="1600" b="1" dirty="0"/>
              <a:t>Key</a:t>
            </a:r>
            <a:r>
              <a:rPr lang="en-US" sz="1600" dirty="0"/>
              <a:t> and </a:t>
            </a:r>
            <a:r>
              <a:rPr lang="en-US" sz="1600" b="1" dirty="0"/>
              <a:t>Value</a:t>
            </a:r>
            <a:r>
              <a:rPr lang="en-US" sz="1600" dirty="0"/>
              <a:t> matrices for all past tokens in memory so they can be reused instead of recalculated.</a:t>
            </a:r>
          </a:p>
          <a:p>
            <a:pPr>
              <a:buNone/>
            </a:pPr>
            <a:endParaRPr lang="en-US" sz="1600" dirty="0"/>
          </a:p>
          <a:p>
            <a:pPr>
              <a:buNone/>
            </a:pPr>
            <a:r>
              <a:rPr lang="en-US" sz="1600" b="1" dirty="0"/>
              <a:t>Eliminates Redundant Math:</a:t>
            </a:r>
            <a:r>
              <a:rPr lang="en-US" sz="1600" dirty="0"/>
              <a:t> During generation, the model only computes vectors for the single </a:t>
            </a:r>
            <a:r>
              <a:rPr lang="en-US" sz="1600" i="1" dirty="0"/>
              <a:t>newly generated</a:t>
            </a:r>
            <a:r>
              <a:rPr lang="en-US" sz="1600" dirty="0"/>
              <a:t> token and simply appends them to the existing cache.</a:t>
            </a:r>
          </a:p>
          <a:p>
            <a:pPr>
              <a:buNone/>
            </a:pPr>
            <a:endParaRPr lang="en-US" sz="1600" dirty="0"/>
          </a:p>
          <a:p>
            <a:pPr>
              <a:buNone/>
            </a:pPr>
            <a:r>
              <a:rPr lang="en-US" sz="1600" b="1" dirty="0"/>
              <a:t>Massive Performance Boost:</a:t>
            </a:r>
            <a:r>
              <a:rPr lang="en-US" sz="1600" dirty="0"/>
              <a:t> Drastically speeds up text generation, lowers latency, and makes long-context prompts computationally feasible without overloading GPU memory.</a:t>
            </a:r>
          </a:p>
        </p:txBody>
      </p:sp>
    </p:spTree>
    <p:extLst>
      <p:ext uri="{BB962C8B-B14F-4D97-AF65-F5344CB8AC3E}">
        <p14:creationId xmlns:p14="http://schemas.microsoft.com/office/powerpoint/2010/main" val="20027121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What is a tensor? Numbers in a grid, simple to complex</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822960"/>
            <a:ext cx="1115568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A tensor just holds numbers in a grid. Add a dimension as the data gets richer. The model's Keys and Values are tensors like these.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554480"/>
            <a:ext cx="2578608" cy="3977640"/>
          </a:xfrm>
          <a:prstGeom prst="roundRect">
            <a:avLst>
              <a:gd name="adj" fmla="val 2482"/>
            </a:avLst>
          </a:prstGeom>
          <a:solidFill>
            <a:srgbClr val="FFFFFF">
              <a:alpha val="90000"/>
            </a:srgbClr>
          </a:solidFill>
          <a:ln w="12700">
            <a:solidFill>
              <a:srgbClr val="E4DFE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457200" y="1700784"/>
            <a:ext cx="257860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0-D  ·  scalar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2011680"/>
            <a:ext cx="2578608"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a single value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40080" y="4434840"/>
            <a:ext cx="2212848" cy="9144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One number.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Example: a temperature.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3310128" y="1554480"/>
            <a:ext cx="2578608" cy="3977640"/>
          </a:xfrm>
          <a:prstGeom prst="roundRect">
            <a:avLst>
              <a:gd name="adj" fmla="val 2482"/>
            </a:avLst>
          </a:prstGeom>
          <a:solidFill>
            <a:srgbClr val="FFFFFF">
              <a:alpha val="90000"/>
            </a:srgbClr>
          </a:solidFill>
          <a:ln w="12700">
            <a:solidFill>
              <a:srgbClr val="E4DFE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3310128" y="1700784"/>
            <a:ext cx="257860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1-D  ·  vector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3310128" y="2011680"/>
            <a:ext cx="2578608"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a list (shape 7)</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3493008" y="4434840"/>
            <a:ext cx="2212848" cy="9144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A list of numbers.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Example: daily highs for a week.</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6163056" y="1554480"/>
            <a:ext cx="2578608" cy="3977640"/>
          </a:xfrm>
          <a:prstGeom prst="roundRect">
            <a:avLst>
              <a:gd name="adj" fmla="val 2482"/>
            </a:avLst>
          </a:prstGeom>
          <a:solidFill>
            <a:srgbClr val="FFFFFF">
              <a:alpha val="90000"/>
            </a:srgbClr>
          </a:solidFill>
          <a:ln w="12700">
            <a:solidFill>
              <a:srgbClr val="E4DFE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6163056" y="1700784"/>
            <a:ext cx="257860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2-D  ·  matrix</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6163056" y="2011680"/>
            <a:ext cx="2578608"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a grid (shape 3 x 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45936" y="4434840"/>
            <a:ext cx="2212848" cy="9144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A grid of numbers = a grayscale image.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0 = black to 255 = white.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9015984" y="1554480"/>
            <a:ext cx="2578608" cy="3977640"/>
          </a:xfrm>
          <a:prstGeom prst="roundRect">
            <a:avLst>
              <a:gd name="adj" fmla="val 2482"/>
            </a:avLst>
          </a:prstGeom>
          <a:solidFill>
            <a:srgbClr val="FFFFFF">
              <a:alpha val="90000"/>
            </a:srgbClr>
          </a:solidFill>
          <a:ln w="12700">
            <a:solidFill>
              <a:srgbClr val="E4DFE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9015984" y="1700784"/>
            <a:ext cx="257860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3-D  ·  tensor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9015984" y="2011680"/>
            <a:ext cx="2578608"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stacked grids (3 x 3 x 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9198864" y="4434840"/>
            <a:ext cx="2212848" cy="9144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Grids stacked in depth = a color image.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Each pixel = 3 numbers (R, G, B).</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3127248" y="2743200"/>
            <a:ext cx="27432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C9A9AD"/>
                </a:solidFill>
                <a:effectLst/>
                <a:uLnTx/>
                <a:uFillTx/>
                <a:latin typeface="Arial" pitchFamily="34" charset="0"/>
                <a:ea typeface="Arial" pitchFamily="34" charset="-122"/>
                <a:cs typeface="Arial" pitchFamily="34" charset="-120"/>
              </a:rPr>
              <a:t>→</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980176" y="2743200"/>
            <a:ext cx="27432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C9A9AD"/>
                </a:solidFill>
                <a:effectLst/>
                <a:uLnTx/>
                <a:uFillTx/>
                <a:latin typeface="Arial" pitchFamily="34" charset="0"/>
                <a:ea typeface="Arial" pitchFamily="34" charset="-122"/>
                <a:cs typeface="Arial" pitchFamily="34" charset="-120"/>
              </a:rPr>
              <a:t>→</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8833104" y="2743200"/>
            <a:ext cx="27432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C9A9AD"/>
                </a:solidFill>
                <a:effectLst/>
                <a:uLnTx/>
                <a:uFillTx/>
                <a:latin typeface="Arial" pitchFamily="34" charset="0"/>
                <a:ea typeface="Arial" pitchFamily="34" charset="-122"/>
                <a:cs typeface="Arial" pitchFamily="34" charset="-120"/>
              </a:rPr>
              <a:t>→</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1335024" y="2743200"/>
            <a:ext cx="822960" cy="731520"/>
          </a:xfrm>
          <a:prstGeom prst="roundRect">
            <a:avLst>
              <a:gd name="adj" fmla="val 7500"/>
            </a:avLst>
          </a:prstGeom>
          <a:solidFill>
            <a:srgbClr val="F6E7EA"/>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1335024" y="2743200"/>
            <a:ext cx="82296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72</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3502152" y="2880360"/>
            <a:ext cx="402336" cy="475488"/>
          </a:xfrm>
          <a:prstGeom prst="roundRect">
            <a:avLst>
              <a:gd name="adj" fmla="val 9091"/>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3502152" y="2880360"/>
            <a:ext cx="402336"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72</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3950208" y="2880360"/>
            <a:ext cx="402336" cy="475488"/>
          </a:xfrm>
          <a:prstGeom prst="roundRect">
            <a:avLst>
              <a:gd name="adj" fmla="val 9091"/>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p:nvPr/>
        </p:nvSpPr>
        <p:spPr>
          <a:xfrm>
            <a:off x="3950208" y="2880360"/>
            <a:ext cx="402336"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75</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4398264" y="2880360"/>
            <a:ext cx="402336" cy="475488"/>
          </a:xfrm>
          <a:prstGeom prst="roundRect">
            <a:avLst>
              <a:gd name="adj" fmla="val 9091"/>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4398264" y="2880360"/>
            <a:ext cx="402336"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71</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4846320" y="2880360"/>
            <a:ext cx="402336" cy="475488"/>
          </a:xfrm>
          <a:prstGeom prst="roundRect">
            <a:avLst>
              <a:gd name="adj" fmla="val 9091"/>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4846320" y="2880360"/>
            <a:ext cx="402336"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68</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31"/>
          <p:cNvSpPr/>
          <p:nvPr/>
        </p:nvSpPr>
        <p:spPr>
          <a:xfrm>
            <a:off x="5294376" y="2880360"/>
            <a:ext cx="402336" cy="475488"/>
          </a:xfrm>
          <a:prstGeom prst="roundRect">
            <a:avLst>
              <a:gd name="adj" fmla="val 9091"/>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2"/>
          <p:cNvSpPr/>
          <p:nvPr/>
        </p:nvSpPr>
        <p:spPr>
          <a:xfrm>
            <a:off x="5294376" y="2880360"/>
            <a:ext cx="402336"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70</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6638544" y="2377440"/>
            <a:ext cx="512064" cy="512064"/>
          </a:xfrm>
          <a:prstGeom prst="rect">
            <a:avLst/>
          </a:prstGeom>
          <a:solidFill>
            <a:srgbClr val="1E1E1E"/>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p:cNvSpPr/>
          <p:nvPr/>
        </p:nvSpPr>
        <p:spPr>
          <a:xfrm>
            <a:off x="6638544" y="2377440"/>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30</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5"/>
          <p:cNvSpPr/>
          <p:nvPr/>
        </p:nvSpPr>
        <p:spPr>
          <a:xfrm>
            <a:off x="7196328" y="2377440"/>
            <a:ext cx="512064" cy="512064"/>
          </a:xfrm>
          <a:prstGeom prst="rect">
            <a:avLst/>
          </a:prstGeom>
          <a:solidFill>
            <a:srgbClr val="C8C8C8"/>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6"/>
          <p:cNvSpPr/>
          <p:nvPr/>
        </p:nvSpPr>
        <p:spPr>
          <a:xfrm>
            <a:off x="7196328" y="2377440"/>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200</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37"/>
          <p:cNvSpPr/>
          <p:nvPr/>
        </p:nvSpPr>
        <p:spPr>
          <a:xfrm>
            <a:off x="7754112" y="2377440"/>
            <a:ext cx="512064" cy="512064"/>
          </a:xfrm>
          <a:prstGeom prst="rect">
            <a:avLst/>
          </a:prstGeom>
          <a:solidFill>
            <a:srgbClr val="5A5A5A"/>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Text 38"/>
          <p:cNvSpPr/>
          <p:nvPr/>
        </p:nvSpPr>
        <p:spPr>
          <a:xfrm>
            <a:off x="7754112" y="2377440"/>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90</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39"/>
          <p:cNvSpPr/>
          <p:nvPr/>
        </p:nvSpPr>
        <p:spPr>
          <a:xfrm>
            <a:off x="6638544" y="2935224"/>
            <a:ext cx="512064" cy="512064"/>
          </a:xfrm>
          <a:prstGeom prst="rect">
            <a:avLst/>
          </a:prstGeom>
          <a:solidFill>
            <a:srgbClr val="FFFFFF"/>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40"/>
          <p:cNvSpPr/>
          <p:nvPr/>
        </p:nvSpPr>
        <p:spPr>
          <a:xfrm>
            <a:off x="6638544" y="2935224"/>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255</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Shape 41"/>
          <p:cNvSpPr/>
          <p:nvPr/>
        </p:nvSpPr>
        <p:spPr>
          <a:xfrm>
            <a:off x="7196328" y="2935224"/>
            <a:ext cx="512064" cy="512064"/>
          </a:xfrm>
          <a:prstGeom prst="rect">
            <a:avLst/>
          </a:prstGeom>
          <a:solidFill>
            <a:srgbClr val="787878"/>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 42"/>
          <p:cNvSpPr/>
          <p:nvPr/>
        </p:nvSpPr>
        <p:spPr>
          <a:xfrm>
            <a:off x="7196328" y="2935224"/>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120</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43"/>
          <p:cNvSpPr/>
          <p:nvPr/>
        </p:nvSpPr>
        <p:spPr>
          <a:xfrm>
            <a:off x="7754112" y="2935224"/>
            <a:ext cx="512064" cy="512064"/>
          </a:xfrm>
          <a:prstGeom prst="rect">
            <a:avLst/>
          </a:prstGeom>
          <a:solidFill>
            <a:srgbClr val="3C3C3C"/>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 44"/>
          <p:cNvSpPr/>
          <p:nvPr/>
        </p:nvSpPr>
        <p:spPr>
          <a:xfrm>
            <a:off x="7754112" y="2935224"/>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60</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Shape 45"/>
          <p:cNvSpPr/>
          <p:nvPr/>
        </p:nvSpPr>
        <p:spPr>
          <a:xfrm>
            <a:off x="6638544" y="3493008"/>
            <a:ext cx="512064" cy="512064"/>
          </a:xfrm>
          <a:prstGeom prst="rect">
            <a:avLst/>
          </a:prstGeom>
          <a:solidFill>
            <a:srgbClr val="0A0A0A"/>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46"/>
          <p:cNvSpPr/>
          <p:nvPr/>
        </p:nvSpPr>
        <p:spPr>
          <a:xfrm>
            <a:off x="6638544" y="3493008"/>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10</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hape 47"/>
          <p:cNvSpPr/>
          <p:nvPr/>
        </p:nvSpPr>
        <p:spPr>
          <a:xfrm>
            <a:off x="7196328" y="3493008"/>
            <a:ext cx="512064" cy="512064"/>
          </a:xfrm>
          <a:prstGeom prst="rect">
            <a:avLst/>
          </a:prstGeom>
          <a:solidFill>
            <a:srgbClr val="B4B4B4"/>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Text 48"/>
          <p:cNvSpPr/>
          <p:nvPr/>
        </p:nvSpPr>
        <p:spPr>
          <a:xfrm>
            <a:off x="7196328" y="3493008"/>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180</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Shape 49"/>
          <p:cNvSpPr/>
          <p:nvPr/>
        </p:nvSpPr>
        <p:spPr>
          <a:xfrm>
            <a:off x="7754112" y="3493008"/>
            <a:ext cx="512064" cy="512064"/>
          </a:xfrm>
          <a:prstGeom prst="rect">
            <a:avLst/>
          </a:prstGeom>
          <a:solidFill>
            <a:srgbClr val="F0F0F0"/>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 50"/>
          <p:cNvSpPr/>
          <p:nvPr/>
        </p:nvSpPr>
        <p:spPr>
          <a:xfrm>
            <a:off x="7754112" y="3493008"/>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240</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Shape 51"/>
          <p:cNvSpPr/>
          <p:nvPr/>
        </p:nvSpPr>
        <p:spPr>
          <a:xfrm>
            <a:off x="9747504" y="2395728"/>
            <a:ext cx="822960" cy="822960"/>
          </a:xfrm>
          <a:prstGeom prst="rect">
            <a:avLst/>
          </a:prstGeom>
          <a:solidFill>
            <a:srgbClr val="4F86E0">
              <a:alpha val="92000"/>
            </a:srgbClr>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 52"/>
          <p:cNvSpPr/>
          <p:nvPr/>
        </p:nvSpPr>
        <p:spPr>
          <a:xfrm>
            <a:off x="9784080" y="2414016"/>
            <a:ext cx="237744"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Shape 53"/>
          <p:cNvSpPr/>
          <p:nvPr/>
        </p:nvSpPr>
        <p:spPr>
          <a:xfrm>
            <a:off x="9893808" y="2542032"/>
            <a:ext cx="822960" cy="822960"/>
          </a:xfrm>
          <a:prstGeom prst="rect">
            <a:avLst/>
          </a:prstGeom>
          <a:solidFill>
            <a:srgbClr val="4FB477">
              <a:alpha val="92000"/>
            </a:srgbClr>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54"/>
          <p:cNvSpPr/>
          <p:nvPr/>
        </p:nvSpPr>
        <p:spPr>
          <a:xfrm>
            <a:off x="9930384" y="2560320"/>
            <a:ext cx="237744"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Shape 55"/>
          <p:cNvSpPr/>
          <p:nvPr/>
        </p:nvSpPr>
        <p:spPr>
          <a:xfrm>
            <a:off x="10040112" y="2688336"/>
            <a:ext cx="822960" cy="822960"/>
          </a:xfrm>
          <a:prstGeom prst="rect">
            <a:avLst/>
          </a:prstGeom>
          <a:solidFill>
            <a:srgbClr val="E0575B">
              <a:alpha val="92000"/>
            </a:srgbClr>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 56"/>
          <p:cNvSpPr/>
          <p:nvPr/>
        </p:nvSpPr>
        <p:spPr>
          <a:xfrm>
            <a:off x="10076688" y="2706624"/>
            <a:ext cx="237744"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Shape 57"/>
          <p:cNvSpPr/>
          <p:nvPr/>
        </p:nvSpPr>
        <p:spPr>
          <a:xfrm>
            <a:off x="10314432" y="2688336"/>
            <a:ext cx="0" cy="822960"/>
          </a:xfrm>
          <a:prstGeom prst="line">
            <a:avLst/>
          </a:prstGeom>
          <a:noFill/>
          <a:ln w="9525">
            <a:solidFill>
              <a:srgbClr val="FFFFFF">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Shape 58"/>
          <p:cNvSpPr/>
          <p:nvPr/>
        </p:nvSpPr>
        <p:spPr>
          <a:xfrm>
            <a:off x="10040112" y="2962656"/>
            <a:ext cx="822960" cy="0"/>
          </a:xfrm>
          <a:prstGeom prst="line">
            <a:avLst/>
          </a:prstGeom>
          <a:noFill/>
          <a:ln w="9525">
            <a:solidFill>
              <a:srgbClr val="FFFFFF">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Shape 59"/>
          <p:cNvSpPr/>
          <p:nvPr/>
        </p:nvSpPr>
        <p:spPr>
          <a:xfrm>
            <a:off x="10588752" y="2688336"/>
            <a:ext cx="0" cy="822960"/>
          </a:xfrm>
          <a:prstGeom prst="line">
            <a:avLst/>
          </a:prstGeom>
          <a:noFill/>
          <a:ln w="9525">
            <a:solidFill>
              <a:srgbClr val="FFFFFF">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Shape 60"/>
          <p:cNvSpPr/>
          <p:nvPr/>
        </p:nvSpPr>
        <p:spPr>
          <a:xfrm>
            <a:off x="10040112" y="3236976"/>
            <a:ext cx="822960" cy="0"/>
          </a:xfrm>
          <a:prstGeom prst="line">
            <a:avLst/>
          </a:prstGeom>
          <a:noFill/>
          <a:ln w="9525">
            <a:solidFill>
              <a:srgbClr val="FFFFFF">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61"/>
          <p:cNvSpPr/>
          <p:nvPr/>
        </p:nvSpPr>
        <p:spPr>
          <a:xfrm>
            <a:off x="9107424" y="3639312"/>
            <a:ext cx="2395728"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one pixel</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Text 62"/>
          <p:cNvSpPr/>
          <p:nvPr/>
        </p:nvSpPr>
        <p:spPr>
          <a:xfrm>
            <a:off x="9107424" y="3840480"/>
            <a:ext cx="1801368"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(200, 60, 90)</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Shape 63"/>
          <p:cNvSpPr/>
          <p:nvPr/>
        </p:nvSpPr>
        <p:spPr>
          <a:xfrm>
            <a:off x="10936224" y="3858768"/>
            <a:ext cx="329184" cy="256032"/>
          </a:xfrm>
          <a:prstGeom prst="rect">
            <a:avLst/>
          </a:prstGeom>
          <a:solidFill>
            <a:srgbClr val="C83C5A"/>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64"/>
          <p:cNvSpPr/>
          <p:nvPr/>
        </p:nvSpPr>
        <p:spPr>
          <a:xfrm>
            <a:off x="457200" y="5687568"/>
            <a:ext cx="11274552" cy="713232"/>
          </a:xfrm>
          <a:prstGeom prst="roundRect">
            <a:avLst>
              <a:gd name="adj" fmla="val 7692"/>
            </a:avLst>
          </a:prstGeom>
          <a:solidFill>
            <a:srgbClr val="F5EAEC">
              <a:alpha val="85000"/>
            </a:srgbClr>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Text 65"/>
          <p:cNvSpPr/>
          <p:nvPr/>
        </p:nvSpPr>
        <p:spPr>
          <a:xfrm>
            <a:off x="658368" y="5760720"/>
            <a:ext cx="1088136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In this deck:  </a:t>
            </a: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the Keys and Values the model caches are tensors exactly like these, grids of numbers it computes for each token and stores in memory.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Inside the cache: keys and values, not text</a:t>
            </a:r>
            <a:endParaRPr kumimoji="0" lang="en-US" sz="2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841248"/>
            <a:ext cx="111556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The KV cache stores each prior token's per-layer Key and Value tensors in GPU memory. Once computed they never change, so every later turn reuses them and prefills only the new tokens.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40080" y="1481328"/>
            <a:ext cx="950976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The new turn's Query attends to every cached Key and Value; the prefix itself is not recomputed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097280" y="1810512"/>
            <a:ext cx="7863840" cy="0"/>
          </a:xfrm>
          <a:prstGeom prst="line">
            <a:avLst/>
          </a:prstGeom>
          <a:noFill/>
          <a:ln w="19050">
            <a:solidFill>
              <a:srgbClr val="A51C30"/>
            </a:solidFill>
            <a:prstDash val="solid"/>
            <a:headEnd type="oval"/>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1938528"/>
            <a:ext cx="1737360" cy="457200"/>
          </a:xfrm>
          <a:prstGeom prst="roundRect">
            <a:avLst>
              <a:gd name="adj" fmla="val 10000"/>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640080" y="1938528"/>
            <a:ext cx="17373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System prompt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1435608" y="2432304"/>
            <a:ext cx="146304" cy="128016"/>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2514600" y="1938528"/>
            <a:ext cx="1737360" cy="457200"/>
          </a:xfrm>
          <a:prstGeom prst="roundRect">
            <a:avLst>
              <a:gd name="adj" fmla="val 10000"/>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2514600" y="1938528"/>
            <a:ext cx="17373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1 Query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3310128" y="2432304"/>
            <a:ext cx="146304" cy="128016"/>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4389120" y="1938528"/>
            <a:ext cx="1737360" cy="457200"/>
          </a:xfrm>
          <a:prstGeom prst="roundRect">
            <a:avLst>
              <a:gd name="adj" fmla="val 10000"/>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4389120" y="1938528"/>
            <a:ext cx="17373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Response 1</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5184648" y="2432304"/>
            <a:ext cx="146304" cy="128016"/>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6263640" y="1938528"/>
            <a:ext cx="1737360" cy="457200"/>
          </a:xfrm>
          <a:prstGeom prst="roundRect">
            <a:avLst>
              <a:gd name="adj" fmla="val 10000"/>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6263640" y="1938528"/>
            <a:ext cx="17373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2 Query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7059168" y="2432304"/>
            <a:ext cx="146304" cy="128016"/>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8366760" y="1938528"/>
            <a:ext cx="1737360" cy="457200"/>
          </a:xfrm>
          <a:prstGeom prst="roundRect">
            <a:avLst>
              <a:gd name="adj" fmla="val 10000"/>
            </a:avLst>
          </a:prstGeom>
          <a:solidFill>
            <a:srgbClr val="A51C30"/>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8366760" y="1938528"/>
            <a:ext cx="17373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New tokens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9162288" y="2432304"/>
            <a:ext cx="146304" cy="128016"/>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530352" y="2615184"/>
            <a:ext cx="7580376" cy="603504"/>
          </a:xfrm>
          <a:prstGeom prst="roundRect">
            <a:avLst>
              <a:gd name="adj" fmla="val 12121"/>
            </a:avLst>
          </a:prstGeom>
          <a:solidFill>
            <a:srgbClr val="FFFFFF">
              <a:alpha val="75000"/>
            </a:srgbClr>
          </a:solidFill>
          <a:ln w="15875">
            <a:solidFill>
              <a:srgbClr val="A51C3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749808" y="2697480"/>
            <a:ext cx="1517904" cy="438912"/>
          </a:xfrm>
          <a:prstGeom prst="roundRect">
            <a:avLst>
              <a:gd name="adj" fmla="val 10417"/>
            </a:avLst>
          </a:prstGeom>
          <a:solidFill>
            <a:srgbClr val="F0E3E5"/>
          </a:solidFill>
          <a:ln w="635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749808" y="2697480"/>
            <a:ext cx="1517904"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K, V</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2624328" y="2697480"/>
            <a:ext cx="1517904" cy="438912"/>
          </a:xfrm>
          <a:prstGeom prst="roundRect">
            <a:avLst>
              <a:gd name="adj" fmla="val 10417"/>
            </a:avLst>
          </a:prstGeom>
          <a:solidFill>
            <a:srgbClr val="F0E3E5"/>
          </a:solidFill>
          <a:ln w="635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2624328" y="2697480"/>
            <a:ext cx="1517904"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K, V</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4498848" y="2697480"/>
            <a:ext cx="1517904" cy="438912"/>
          </a:xfrm>
          <a:prstGeom prst="roundRect">
            <a:avLst>
              <a:gd name="adj" fmla="val 10417"/>
            </a:avLst>
          </a:prstGeom>
          <a:solidFill>
            <a:srgbClr val="F0E3E5"/>
          </a:solidFill>
          <a:ln w="635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4498848" y="2697480"/>
            <a:ext cx="1517904"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K, V</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6373368" y="2697480"/>
            <a:ext cx="1517904" cy="438912"/>
          </a:xfrm>
          <a:prstGeom prst="roundRect">
            <a:avLst>
              <a:gd name="adj" fmla="val 10417"/>
            </a:avLst>
          </a:prstGeom>
          <a:solidFill>
            <a:srgbClr val="F0E3E5"/>
          </a:solidFill>
          <a:ln w="635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7"/>
          <p:cNvSpPr/>
          <p:nvPr/>
        </p:nvSpPr>
        <p:spPr>
          <a:xfrm>
            <a:off x="6373368" y="2697480"/>
            <a:ext cx="1517904"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K, V</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530352" y="3227832"/>
            <a:ext cx="7580376"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KV cache in GPU memory  ·  reused every later turn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8476488" y="2697480"/>
            <a:ext cx="1517904" cy="438912"/>
          </a:xfrm>
          <a:prstGeom prst="roundRect">
            <a:avLst>
              <a:gd name="adj" fmla="val 10417"/>
            </a:avLst>
          </a:prstGeom>
          <a:solidFill>
            <a:srgbClr val="3F5165"/>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8476488" y="2697480"/>
            <a:ext cx="1517904"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K, V (new)</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8183880" y="3227832"/>
            <a:ext cx="2103120"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computed now, then added to the cache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548640" y="3529584"/>
            <a:ext cx="111556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Each prior token's Key/Value is computed once and kept in memory. Because a token's K/V depends only on it and the tokens before it, it never changes, so later turns reuse it and prefill only the new tokens.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457200" y="4023360"/>
            <a:ext cx="5486400" cy="1600200"/>
          </a:xfrm>
          <a:prstGeom prst="roundRect">
            <a:avLst>
              <a:gd name="adj" fmla="val 3429"/>
            </a:avLst>
          </a:prstGeom>
          <a:solidFill>
            <a:srgbClr val="FFFFFF">
              <a:alpha val="88000"/>
            </a:srgbClr>
          </a:solidFill>
          <a:ln w="12700">
            <a:solidFill>
              <a:srgbClr val="E4D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p:cNvSpPr/>
          <p:nvPr/>
        </p:nvSpPr>
        <p:spPr>
          <a:xfrm>
            <a:off x="658368" y="4133088"/>
            <a:ext cx="51206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What the cache holds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p:nvPr/>
        </p:nvSpPr>
        <p:spPr>
          <a:xfrm>
            <a:off x="658368" y="4480560"/>
            <a:ext cx="5084064" cy="105156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500"/>
              </a:spcAft>
              <a:buClrTx/>
              <a:buSzPct val="100000"/>
              <a:buFontTx/>
              <a:buChar char="•"/>
              <a:tabLst/>
              <a:defRPr/>
            </a:pP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Cached: the per-layer Key and Value tensors for every prior token.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500"/>
              </a:spcAft>
              <a:buClrTx/>
              <a:buSzPct val="100000"/>
              <a:buFontTx/>
              <a:buChar char="•"/>
              <a:tabLst/>
              <a:defRPr/>
            </a:pP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Not cached: the raw text of a new query, and the model's output.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Recomputed &amp; appended each step: only the current token’s query.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36"/>
          <p:cNvSpPr/>
          <p:nvPr/>
        </p:nvSpPr>
        <p:spPr>
          <a:xfrm>
            <a:off x="6217920" y="4023360"/>
            <a:ext cx="5513832" cy="1600200"/>
          </a:xfrm>
          <a:prstGeom prst="roundRect">
            <a:avLst>
              <a:gd name="adj" fmla="val 3429"/>
            </a:avLst>
          </a:prstGeom>
          <a:solidFill>
            <a:srgbClr val="ECEFF2">
              <a:alpha val="92000"/>
            </a:srgbClr>
          </a:solidFill>
          <a:ln w="1270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p:cNvSpPr/>
          <p:nvPr/>
        </p:nvSpPr>
        <p:spPr>
          <a:xfrm>
            <a:off x="6419088" y="4133088"/>
            <a:ext cx="51206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The one rule that governs caching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6419088" y="4480560"/>
            <a:ext cx="5120640" cy="10515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Caching only works for an exact, contiguous prefix. Change, insert, or prepend anything and every K/V after that point is invalidated and must be recomputed. So keep stable content (system prompt, tool definitions) at the front and put volatile content last.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9"/>
          <p:cNvSpPr/>
          <p:nvPr/>
        </p:nvSpPr>
        <p:spPr>
          <a:xfrm>
            <a:off x="457200" y="5742432"/>
            <a:ext cx="1127455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Inference servers implement this KV reuse for you: vLLM (PagedAttention), SGLang (RadixTree prefix cache), and TensorRT-LLM. Specifics differ and evolve, so verify for your stack.</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Cache-aware routing: keep users on their warm cache</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822960"/>
            <a:ext cx="1115568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A returning user's KV cache lives on one replica. Route them back to it and only new tokens prefill; send them elsewhere and the whole prefix is rebuilt.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40080" y="1371600"/>
            <a:ext cx="219456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Requests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4572000" y="1371600"/>
            <a:ext cx="246888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Router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8595360" y="1371600"/>
            <a:ext cx="30175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GPU replicas (each holds live KV caches)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1828800"/>
            <a:ext cx="2194560" cy="731520"/>
          </a:xfrm>
          <a:prstGeom prst="roundRect">
            <a:avLst>
              <a:gd name="adj" fmla="val 7500"/>
            </a:avLst>
          </a:prstGeom>
          <a:solidFill>
            <a:srgbClr val="F6E7EA"/>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640080" y="1828800"/>
            <a:ext cx="2194560" cy="731520"/>
          </a:xfrm>
          <a:prstGeom prst="rect">
            <a:avLst/>
          </a:prstGeom>
          <a:noFill/>
          <a:ln/>
        </p:spPr>
        <p:txBody>
          <a:bodyPr wrap="square" lIns="0" tIns="0" rIns="0" bIns="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A</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returning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2834640" y="2194560"/>
            <a:ext cx="1737360" cy="0"/>
          </a:xfrm>
          <a:prstGeom prst="line">
            <a:avLst/>
          </a:prstGeom>
          <a:noFill/>
          <a:ln w="19050">
            <a:solidFill>
              <a:srgbClr val="6B6B6B"/>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640080" y="2788920"/>
            <a:ext cx="2194560" cy="731520"/>
          </a:xfrm>
          <a:prstGeom prst="roundRect">
            <a:avLst>
              <a:gd name="adj" fmla="val 7500"/>
            </a:avLst>
          </a:prstGeom>
          <a:solidFill>
            <a:srgbClr val="F6E7EA"/>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640080" y="2788920"/>
            <a:ext cx="2194560" cy="731520"/>
          </a:xfrm>
          <a:prstGeom prst="rect">
            <a:avLst/>
          </a:prstGeom>
          <a:noFill/>
          <a:ln/>
        </p:spPr>
        <p:txBody>
          <a:bodyPr wrap="square" lIns="0" tIns="0" rIns="0" bIns="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B</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returning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2834640" y="3154680"/>
            <a:ext cx="1737360" cy="0"/>
          </a:xfrm>
          <a:prstGeom prst="line">
            <a:avLst/>
          </a:prstGeom>
          <a:noFill/>
          <a:ln w="19050">
            <a:solidFill>
              <a:srgbClr val="6B6B6B"/>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640080" y="3749040"/>
            <a:ext cx="2194560" cy="731520"/>
          </a:xfrm>
          <a:prstGeom prst="roundRect">
            <a:avLst>
              <a:gd name="adj" fmla="val 7500"/>
            </a:avLst>
          </a:prstGeom>
          <a:solidFill>
            <a:srgbClr val="F6E7EA"/>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 y="3749040"/>
            <a:ext cx="2194560" cy="731520"/>
          </a:xfrm>
          <a:prstGeom prst="rect">
            <a:avLst/>
          </a:prstGeom>
          <a:noFill/>
          <a:ln/>
        </p:spPr>
        <p:txBody>
          <a:bodyPr wrap="square" lIns="0" tIns="0" rIns="0" bIns="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C</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new</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2834640" y="4114800"/>
            <a:ext cx="1737360" cy="0"/>
          </a:xfrm>
          <a:prstGeom prst="line">
            <a:avLst/>
          </a:prstGeom>
          <a:noFill/>
          <a:ln w="19050">
            <a:solidFill>
              <a:srgbClr val="6B6B6B"/>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4572000" y="1828800"/>
            <a:ext cx="2468880" cy="2651760"/>
          </a:xfrm>
          <a:prstGeom prst="roundRect">
            <a:avLst>
              <a:gd name="adj" fmla="val 2963"/>
            </a:avLst>
          </a:prstGeom>
          <a:solidFill>
            <a:srgbClr val="1F1F1F"/>
          </a:solidFill>
          <a:ln w="12700">
            <a:solidFill>
              <a:srgbClr val="333333"/>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4718304" y="1828800"/>
            <a:ext cx="2176272" cy="2651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Cache-aware router</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Matches each session to the replica already holding its KV cache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E0D6D8"/>
                </a:solidFill>
                <a:effectLst/>
                <a:uLnTx/>
                <a:uFillTx/>
                <a:latin typeface="Arial" pitchFamily="34" charset="0"/>
                <a:ea typeface="Arial" pitchFamily="34" charset="-122"/>
                <a:cs typeface="Arial" pitchFamily="34" charset="-120"/>
              </a:rPr>
              <a:t>session affinity  ·  prefix hash</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7040880" y="2194560"/>
            <a:ext cx="1554480" cy="0"/>
          </a:xfrm>
          <a:prstGeom prst="line">
            <a:avLst/>
          </a:prstGeom>
          <a:noFill/>
          <a:ln w="25400">
            <a:solidFill>
              <a:srgbClr val="A51C30"/>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7040880" y="1847088"/>
            <a:ext cx="15544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A: warm hit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8595360" y="1828800"/>
            <a:ext cx="3017520" cy="731520"/>
          </a:xfrm>
          <a:prstGeom prst="roundRect">
            <a:avLst>
              <a:gd name="adj" fmla="val 7500"/>
            </a:avLst>
          </a:prstGeom>
          <a:solidFill>
            <a:srgbClr val="FFFFFF">
              <a:alpha val="92000"/>
            </a:srgbClr>
          </a:solidFill>
          <a:ln w="12700">
            <a:solidFill>
              <a:srgbClr val="A51C3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8732520" y="1828800"/>
            <a:ext cx="13716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Replica 1</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10012680" y="1993392"/>
            <a:ext cx="1463040" cy="402336"/>
          </a:xfrm>
          <a:prstGeom prst="roundRect">
            <a:avLst>
              <a:gd name="adj" fmla="val 13636"/>
            </a:avLst>
          </a:prstGeom>
          <a:solidFill>
            <a:srgbClr val="F0E3E5"/>
          </a:solidFill>
          <a:ln w="635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10012680" y="1993392"/>
            <a:ext cx="1463040" cy="40233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KV [ A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7040880" y="3154680"/>
            <a:ext cx="1554480" cy="0"/>
          </a:xfrm>
          <a:prstGeom prst="line">
            <a:avLst/>
          </a:prstGeom>
          <a:noFill/>
          <a:ln w="25400">
            <a:solidFill>
              <a:srgbClr val="A51C30"/>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7040880" y="2807208"/>
            <a:ext cx="15544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B: warm hit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8595360" y="2788920"/>
            <a:ext cx="3017520" cy="731520"/>
          </a:xfrm>
          <a:prstGeom prst="roundRect">
            <a:avLst>
              <a:gd name="adj" fmla="val 7500"/>
            </a:avLst>
          </a:prstGeom>
          <a:solidFill>
            <a:srgbClr val="FFFFFF">
              <a:alpha val="92000"/>
            </a:srgbClr>
          </a:solidFill>
          <a:ln w="12700">
            <a:solidFill>
              <a:srgbClr val="A51C3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8732520" y="2788920"/>
            <a:ext cx="13716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Replica 2</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10012680" y="2953512"/>
            <a:ext cx="1463040" cy="402336"/>
          </a:xfrm>
          <a:prstGeom prst="roundRect">
            <a:avLst>
              <a:gd name="adj" fmla="val 13636"/>
            </a:avLst>
          </a:prstGeom>
          <a:solidFill>
            <a:srgbClr val="F0E3E5"/>
          </a:solidFill>
          <a:ln w="635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7"/>
          <p:cNvSpPr/>
          <p:nvPr/>
        </p:nvSpPr>
        <p:spPr>
          <a:xfrm>
            <a:off x="10012680" y="2953512"/>
            <a:ext cx="1463040" cy="40233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KV [ B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7040880" y="4114800"/>
            <a:ext cx="1554480" cy="0"/>
          </a:xfrm>
          <a:prstGeom prst="line">
            <a:avLst/>
          </a:prstGeom>
          <a:noFill/>
          <a:ln w="25400">
            <a:solidFill>
              <a:srgbClr val="3F51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7040880" y="3767328"/>
            <a:ext cx="15544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C: cold start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8595360" y="3749040"/>
            <a:ext cx="3017520" cy="731520"/>
          </a:xfrm>
          <a:prstGeom prst="roundRect">
            <a:avLst>
              <a:gd name="adj" fmla="val 7500"/>
            </a:avLst>
          </a:prstGeom>
          <a:solidFill>
            <a:srgbClr val="FFFFFF">
              <a:alpha val="92000"/>
            </a:srgbClr>
          </a:solidFill>
          <a:ln w="12700">
            <a:solidFill>
              <a:srgbClr val="3F5165"/>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p:cNvSpPr/>
          <p:nvPr/>
        </p:nvSpPr>
        <p:spPr>
          <a:xfrm>
            <a:off x="8732520" y="3749040"/>
            <a:ext cx="13716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Replica 3</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10012680" y="3913632"/>
            <a:ext cx="1463040" cy="402336"/>
          </a:xfrm>
          <a:prstGeom prst="roundRect">
            <a:avLst>
              <a:gd name="adj" fmla="val 13636"/>
            </a:avLst>
          </a:prstGeom>
          <a:solidFill>
            <a:srgbClr val="3F5165"/>
          </a:solidFill>
          <a:ln w="635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p:cNvSpPr/>
          <p:nvPr/>
        </p:nvSpPr>
        <p:spPr>
          <a:xfrm>
            <a:off x="10012680" y="3913632"/>
            <a:ext cx="1463040" cy="40233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KV [ C ] new</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4"/>
          <p:cNvSpPr/>
          <p:nvPr/>
        </p:nvSpPr>
        <p:spPr>
          <a:xfrm>
            <a:off x="457200" y="4828032"/>
            <a:ext cx="11274552" cy="1737360"/>
          </a:xfrm>
          <a:prstGeom prst="roundRect">
            <a:avLst>
              <a:gd name="adj" fmla="val 3158"/>
            </a:avLst>
          </a:prstGeom>
          <a:solidFill>
            <a:srgbClr val="F5EAEC">
              <a:alpha val="85000"/>
            </a:srgbClr>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p:cNvSpPr/>
          <p:nvPr/>
        </p:nvSpPr>
        <p:spPr>
          <a:xfrm>
            <a:off x="713232" y="5138928"/>
            <a:ext cx="457200" cy="0"/>
          </a:xfrm>
          <a:prstGeom prst="line">
            <a:avLst/>
          </a:prstGeom>
          <a:noFill/>
          <a:ln w="38100">
            <a:solidFill>
              <a:srgbClr val="A51C30"/>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6"/>
          <p:cNvSpPr/>
          <p:nvPr/>
        </p:nvSpPr>
        <p:spPr>
          <a:xfrm>
            <a:off x="1280160" y="4992624"/>
            <a:ext cx="1024128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Warm hit:  </a:t>
            </a: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the session lands on the replica that already holds its KV cache, so only the new tokens prefill. Fast and cheap.</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37"/>
          <p:cNvSpPr/>
          <p:nvPr/>
        </p:nvSpPr>
        <p:spPr>
          <a:xfrm>
            <a:off x="713232" y="5541264"/>
            <a:ext cx="457200" cy="0"/>
          </a:xfrm>
          <a:prstGeom prst="line">
            <a:avLst/>
          </a:prstGeom>
          <a:noFill/>
          <a:ln w="38100">
            <a:solidFill>
              <a:srgbClr val="3F51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Text 38"/>
          <p:cNvSpPr/>
          <p:nvPr/>
        </p:nvSpPr>
        <p:spPr>
          <a:xfrm>
            <a:off x="1280160" y="5394960"/>
            <a:ext cx="1024128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Cold start:  </a:t>
            </a: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the replica has no cached prefix for this session (a new user, a deleted cache, or a returning user sent to the wrong replica), so the entire prefix is re-prefilled. Slow and expensive.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9"/>
          <p:cNvSpPr/>
          <p:nvPr/>
        </p:nvSpPr>
        <p:spPr>
          <a:xfrm>
            <a:off x="713232" y="5943600"/>
            <a:ext cx="10835640" cy="512064"/>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Routing uses session stickiness or a hash of the prefix to keep returning users on their warm replica. Implemented by a router layer in front of vLLM, SGLang, or TensorRT-LLM. General pattern; verify specifics for your stack.</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71C78-9B75-AA5B-37D9-9AE43A6FA240}"/>
              </a:ext>
            </a:extLst>
          </p:cNvPr>
          <p:cNvSpPr>
            <a:spLocks noGrp="1"/>
          </p:cNvSpPr>
          <p:nvPr>
            <p:ph type="title"/>
          </p:nvPr>
        </p:nvSpPr>
        <p:spPr>
          <a:xfrm>
            <a:off x="381000" y="342900"/>
            <a:ext cx="11430000" cy="492443"/>
          </a:xfrm>
        </p:spPr>
        <p:txBody>
          <a:bodyPr/>
          <a:lstStyle/>
          <a:p>
            <a:pPr algn="l"/>
            <a:r>
              <a:rPr lang="en-US" dirty="0">
                <a:solidFill>
                  <a:schemeClr val="accent1"/>
                </a:solidFill>
              </a:rPr>
              <a:t>Show how caching reduces costs.</a:t>
            </a:r>
          </a:p>
        </p:txBody>
      </p:sp>
      <p:sp>
        <p:nvSpPr>
          <p:cNvPr id="3" name="Subtitle 2">
            <a:extLst>
              <a:ext uri="{FF2B5EF4-FFF2-40B4-BE49-F238E27FC236}">
                <a16:creationId xmlns:a16="http://schemas.microsoft.com/office/drawing/2014/main" id="{483E5228-842D-6D12-CAA8-B00CF582F4F9}"/>
              </a:ext>
            </a:extLst>
          </p:cNvPr>
          <p:cNvSpPr>
            <a:spLocks noGrp="1"/>
          </p:cNvSpPr>
          <p:nvPr>
            <p:ph type="subTitle" idx="1"/>
          </p:nvPr>
        </p:nvSpPr>
        <p:spPr/>
        <p:txBody>
          <a:bodyPr/>
          <a:lstStyle/>
          <a:p>
            <a:r>
              <a:rPr lang="en-US" dirty="0">
                <a:solidFill>
                  <a:schemeClr val="accent1"/>
                </a:solidFill>
              </a:rPr>
              <a:t>As a leader if you’re advocating for open-weight you should also advocate for caching.  </a:t>
            </a:r>
          </a:p>
        </p:txBody>
      </p:sp>
      <p:graphicFrame>
        <p:nvGraphicFramePr>
          <p:cNvPr id="4" name="Chart 1">
            <a:extLst>
              <a:ext uri="{FF2B5EF4-FFF2-40B4-BE49-F238E27FC236}">
                <a16:creationId xmlns:a16="http://schemas.microsoft.com/office/drawing/2014/main" id="{69D57C53-229F-0231-7FE2-1330E1664948}"/>
              </a:ext>
            </a:extLst>
          </p:cNvPr>
          <p:cNvGraphicFramePr/>
          <p:nvPr>
            <p:extLst>
              <p:ext uri="{D42A27DB-BD31-4B8C-83A1-F6EECF244321}">
                <p14:modId xmlns:p14="http://schemas.microsoft.com/office/powerpoint/2010/main" val="1014961494"/>
              </p:ext>
            </p:extLst>
          </p:nvPr>
        </p:nvGraphicFramePr>
        <p:xfrm>
          <a:off x="82192" y="2101067"/>
          <a:ext cx="3823836" cy="283464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11">
            <a:extLst>
              <a:ext uri="{FF2B5EF4-FFF2-40B4-BE49-F238E27FC236}">
                <a16:creationId xmlns:a16="http://schemas.microsoft.com/office/drawing/2014/main" id="{FFAC9FC6-298F-D3E9-24E0-12A498C307B1}"/>
              </a:ext>
            </a:extLst>
          </p:cNvPr>
          <p:cNvSpPr/>
          <p:nvPr/>
        </p:nvSpPr>
        <p:spPr>
          <a:xfrm>
            <a:off x="1270912" y="2229083"/>
            <a:ext cx="1983940" cy="6766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3F5165"/>
                </a:solidFill>
                <a:effectLst/>
                <a:uLnTx/>
                <a:uFillTx/>
                <a:latin typeface="Arial" pitchFamily="34" charset="0"/>
                <a:ea typeface="Arial" pitchFamily="34" charset="-122"/>
                <a:cs typeface="Arial" pitchFamily="34" charset="-120"/>
              </a:rPr>
              <a:t>Step-ups = compaction calls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Each summary call adds about $6. Compaction is a real cost.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64">
            <a:extLst>
              <a:ext uri="{FF2B5EF4-FFF2-40B4-BE49-F238E27FC236}">
                <a16:creationId xmlns:a16="http://schemas.microsoft.com/office/drawing/2014/main" id="{F036E295-3433-FCEA-4E11-AF4FC9353478}"/>
              </a:ext>
            </a:extLst>
          </p:cNvPr>
          <p:cNvSpPr/>
          <p:nvPr/>
        </p:nvSpPr>
        <p:spPr>
          <a:xfrm>
            <a:off x="457200" y="5687568"/>
            <a:ext cx="11274552" cy="713232"/>
          </a:xfrm>
          <a:prstGeom prst="roundRect">
            <a:avLst>
              <a:gd name="adj" fmla="val 7692"/>
            </a:avLst>
          </a:prstGeom>
          <a:solidFill>
            <a:srgbClr val="F5EAEC">
              <a:alpha val="85000"/>
            </a:srgbClr>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5">
            <a:extLst>
              <a:ext uri="{FF2B5EF4-FFF2-40B4-BE49-F238E27FC236}">
                <a16:creationId xmlns:a16="http://schemas.microsoft.com/office/drawing/2014/main" id="{FBDD157C-F36B-0F17-DF23-8A7C1BC758CE}"/>
              </a:ext>
            </a:extLst>
          </p:cNvPr>
          <p:cNvSpPr/>
          <p:nvPr/>
        </p:nvSpPr>
        <p:spPr>
          <a:xfrm>
            <a:off x="658368" y="5760720"/>
            <a:ext cx="1088136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Moving from consumption based to GPU self-hosted means instead of token minimization to reduce costs you maximize GPU utilization i.e. number of users and </a:t>
            </a:r>
            <a:r>
              <a:rPr kumimoji="0" lang="en-US" sz="1150" b="1" i="0" u="none" strike="noStrike" kern="1200" cap="none" spc="0" normalizeH="0" baseline="0" noProof="0" dirty="0" err="1">
                <a:ln>
                  <a:noFill/>
                </a:ln>
                <a:solidFill>
                  <a:srgbClr val="1F1F1F"/>
                </a:solidFill>
                <a:effectLst/>
                <a:uLnTx/>
                <a:uFillTx/>
                <a:latin typeface="Arial" pitchFamily="34" charset="0"/>
                <a:ea typeface="Arial" pitchFamily="34" charset="-122"/>
                <a:cs typeface="Arial" pitchFamily="34" charset="-120"/>
              </a:rPr>
              <a:t>convserstions</a:t>
            </a:r>
            <a:r>
              <a:rPr kumimoji="0" lang="en-US" sz="11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 for the capex expense.  Caching is one lever to help maximize GPU </a:t>
            </a:r>
            <a:r>
              <a:rPr kumimoji="0" lang="en-US" sz="1150" b="1" i="0" u="none" strike="noStrike" kern="1200" cap="none" spc="0" normalizeH="0" baseline="0" noProof="0" dirty="0" err="1">
                <a:ln>
                  <a:noFill/>
                </a:ln>
                <a:solidFill>
                  <a:srgbClr val="1F1F1F"/>
                </a:solidFill>
                <a:effectLst/>
                <a:uLnTx/>
                <a:uFillTx/>
                <a:latin typeface="Arial" pitchFamily="34" charset="0"/>
                <a:ea typeface="Arial" pitchFamily="34" charset="-122"/>
                <a:cs typeface="Arial" pitchFamily="34" charset="-120"/>
              </a:rPr>
              <a:t>utiziliation</a:t>
            </a:r>
            <a:r>
              <a:rPr kumimoji="0" lang="en-US" sz="11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17CCE60F-502C-CC20-7705-F0E6BC35C7C5}"/>
              </a:ext>
            </a:extLst>
          </p:cNvPr>
          <p:cNvSpPr txBox="1"/>
          <p:nvPr/>
        </p:nvSpPr>
        <p:spPr>
          <a:xfrm>
            <a:off x="82192" y="1695159"/>
            <a:ext cx="2569395" cy="369332"/>
          </a:xfrm>
          <a:prstGeom prst="rect">
            <a:avLst/>
          </a:prstGeom>
          <a:noFill/>
        </p:spPr>
        <p:txBody>
          <a:bodyPr wrap="square" rtlCol="0">
            <a:spAutoFit/>
          </a:bodyPr>
          <a:lstStyle/>
          <a:p>
            <a:r>
              <a:rPr lang="en-US" dirty="0"/>
              <a:t>Renting without a cache </a:t>
            </a:r>
          </a:p>
        </p:txBody>
      </p:sp>
      <p:graphicFrame>
        <p:nvGraphicFramePr>
          <p:cNvPr id="10" name="Chart 1">
            <a:extLst>
              <a:ext uri="{FF2B5EF4-FFF2-40B4-BE49-F238E27FC236}">
                <a16:creationId xmlns:a16="http://schemas.microsoft.com/office/drawing/2014/main" id="{CCC44F11-6244-E04A-8806-1C822B702005}"/>
              </a:ext>
            </a:extLst>
          </p:cNvPr>
          <p:cNvGraphicFramePr/>
          <p:nvPr>
            <p:extLst>
              <p:ext uri="{D42A27DB-BD31-4B8C-83A1-F6EECF244321}">
                <p14:modId xmlns:p14="http://schemas.microsoft.com/office/powerpoint/2010/main" val="667486921"/>
              </p:ext>
            </p:extLst>
          </p:nvPr>
        </p:nvGraphicFramePr>
        <p:xfrm>
          <a:off x="4057059" y="2101067"/>
          <a:ext cx="3823836"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11" name="Shape 10">
            <a:extLst>
              <a:ext uri="{FF2B5EF4-FFF2-40B4-BE49-F238E27FC236}">
                <a16:creationId xmlns:a16="http://schemas.microsoft.com/office/drawing/2014/main" id="{9515A1CA-476E-EF18-B147-03F912127C77}"/>
              </a:ext>
            </a:extLst>
          </p:cNvPr>
          <p:cNvSpPr/>
          <p:nvPr/>
        </p:nvSpPr>
        <p:spPr>
          <a:xfrm>
            <a:off x="5412836" y="2192507"/>
            <a:ext cx="2093668" cy="749808"/>
          </a:xfrm>
          <a:prstGeom prst="roundRect">
            <a:avLst>
              <a:gd name="adj" fmla="val 7317"/>
            </a:avLst>
          </a:prstGeom>
          <a:solidFill>
            <a:srgbClr val="FFFFFF">
              <a:alpha val="94000"/>
            </a:srgbClr>
          </a:solidFill>
          <a:ln w="1270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1">
            <a:extLst>
              <a:ext uri="{FF2B5EF4-FFF2-40B4-BE49-F238E27FC236}">
                <a16:creationId xmlns:a16="http://schemas.microsoft.com/office/drawing/2014/main" id="{9D661A3D-6637-FCDB-821C-1EFE192BF5AE}"/>
              </a:ext>
            </a:extLst>
          </p:cNvPr>
          <p:cNvSpPr/>
          <p:nvPr/>
        </p:nvSpPr>
        <p:spPr>
          <a:xfrm>
            <a:off x="5522564" y="2229083"/>
            <a:ext cx="1983940" cy="6766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3F5165"/>
                </a:solidFill>
                <a:effectLst/>
                <a:uLnTx/>
                <a:uFillTx/>
                <a:latin typeface="Arial" pitchFamily="34" charset="0"/>
                <a:ea typeface="Arial" pitchFamily="34" charset="-122"/>
                <a:cs typeface="Arial" pitchFamily="34" charset="-120"/>
              </a:rPr>
              <a:t>Step-ups = compaction calls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Each summary call adds about $6. Compaction is a real cost.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FF2FDE39-F9EF-BEFD-2D27-AE0ED0B333C8}"/>
              </a:ext>
            </a:extLst>
          </p:cNvPr>
          <p:cNvSpPr txBox="1"/>
          <p:nvPr/>
        </p:nvSpPr>
        <p:spPr>
          <a:xfrm>
            <a:off x="4057059" y="1674534"/>
            <a:ext cx="2569395" cy="369332"/>
          </a:xfrm>
          <a:prstGeom prst="rect">
            <a:avLst/>
          </a:prstGeom>
          <a:noFill/>
        </p:spPr>
        <p:txBody>
          <a:bodyPr wrap="square" rtlCol="0">
            <a:spAutoFit/>
          </a:bodyPr>
          <a:lstStyle/>
          <a:p>
            <a:r>
              <a:rPr lang="en-US" dirty="0"/>
              <a:t>Renting with a cache </a:t>
            </a:r>
          </a:p>
        </p:txBody>
      </p:sp>
      <p:graphicFrame>
        <p:nvGraphicFramePr>
          <p:cNvPr id="14" name="Chart 1">
            <a:extLst>
              <a:ext uri="{FF2B5EF4-FFF2-40B4-BE49-F238E27FC236}">
                <a16:creationId xmlns:a16="http://schemas.microsoft.com/office/drawing/2014/main" id="{5488E7E9-6699-6B59-EFAA-26C8A23733E1}"/>
              </a:ext>
            </a:extLst>
          </p:cNvPr>
          <p:cNvGraphicFramePr/>
          <p:nvPr>
            <p:extLst>
              <p:ext uri="{D42A27DB-BD31-4B8C-83A1-F6EECF244321}">
                <p14:modId xmlns:p14="http://schemas.microsoft.com/office/powerpoint/2010/main" val="4060437614"/>
              </p:ext>
            </p:extLst>
          </p:nvPr>
        </p:nvGraphicFramePr>
        <p:xfrm>
          <a:off x="8255286" y="2101067"/>
          <a:ext cx="3823836" cy="2834640"/>
        </p:xfrm>
        <a:graphic>
          <a:graphicData uri="http://schemas.openxmlformats.org/drawingml/2006/chart">
            <c:chart xmlns:c="http://schemas.openxmlformats.org/drawingml/2006/chart" xmlns:r="http://schemas.openxmlformats.org/officeDocument/2006/relationships" r:id="rId4"/>
          </a:graphicData>
        </a:graphic>
      </p:graphicFrame>
      <p:sp>
        <p:nvSpPr>
          <p:cNvPr id="15" name="Shape 10">
            <a:extLst>
              <a:ext uri="{FF2B5EF4-FFF2-40B4-BE49-F238E27FC236}">
                <a16:creationId xmlns:a16="http://schemas.microsoft.com/office/drawing/2014/main" id="{2B57D9F2-8B0E-12D2-637F-DBF50CA86A49}"/>
              </a:ext>
            </a:extLst>
          </p:cNvPr>
          <p:cNvSpPr/>
          <p:nvPr/>
        </p:nvSpPr>
        <p:spPr>
          <a:xfrm>
            <a:off x="9704146" y="2192507"/>
            <a:ext cx="2093668" cy="749808"/>
          </a:xfrm>
          <a:prstGeom prst="roundRect">
            <a:avLst>
              <a:gd name="adj" fmla="val 7317"/>
            </a:avLst>
          </a:prstGeom>
          <a:solidFill>
            <a:srgbClr val="FFFFFF">
              <a:alpha val="94000"/>
            </a:srgbClr>
          </a:solidFill>
          <a:ln w="1270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1">
            <a:extLst>
              <a:ext uri="{FF2B5EF4-FFF2-40B4-BE49-F238E27FC236}">
                <a16:creationId xmlns:a16="http://schemas.microsoft.com/office/drawing/2014/main" id="{24A5DCD1-A3A4-787A-8A9C-F68B1018EA81}"/>
              </a:ext>
            </a:extLst>
          </p:cNvPr>
          <p:cNvSpPr/>
          <p:nvPr/>
        </p:nvSpPr>
        <p:spPr>
          <a:xfrm>
            <a:off x="9813874" y="2229083"/>
            <a:ext cx="1983940" cy="6766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3F5165"/>
                </a:solidFill>
                <a:effectLst/>
                <a:uLnTx/>
                <a:uFillTx/>
                <a:latin typeface="Arial" pitchFamily="34" charset="0"/>
                <a:ea typeface="Arial" pitchFamily="34" charset="-122"/>
                <a:cs typeface="Arial" pitchFamily="34" charset="-120"/>
              </a:rPr>
              <a:t>Step-ups = compaction calls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Each summary call adds about $6. Compaction is a real cost.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12DA3988-51C3-6F49-C9C7-3A566B6C01EB}"/>
              </a:ext>
            </a:extLst>
          </p:cNvPr>
          <p:cNvSpPr txBox="1"/>
          <p:nvPr/>
        </p:nvSpPr>
        <p:spPr>
          <a:xfrm>
            <a:off x="8625154" y="1695159"/>
            <a:ext cx="2569395" cy="369332"/>
          </a:xfrm>
          <a:prstGeom prst="rect">
            <a:avLst/>
          </a:prstGeom>
          <a:noFill/>
        </p:spPr>
        <p:txBody>
          <a:bodyPr wrap="square" rtlCol="0">
            <a:spAutoFit/>
          </a:bodyPr>
          <a:lstStyle/>
          <a:p>
            <a:r>
              <a:rPr lang="en-US" dirty="0"/>
              <a:t>Renting without a cache </a:t>
            </a:r>
          </a:p>
        </p:txBody>
      </p:sp>
      <p:sp>
        <p:nvSpPr>
          <p:cNvPr id="18" name="Rectangle 17">
            <a:extLst>
              <a:ext uri="{FF2B5EF4-FFF2-40B4-BE49-F238E27FC236}">
                <a16:creationId xmlns:a16="http://schemas.microsoft.com/office/drawing/2014/main" id="{C12FDDDE-51C2-D492-724D-255FE8E2AFAF}"/>
              </a:ext>
            </a:extLst>
          </p:cNvPr>
          <p:cNvSpPr/>
          <p:nvPr/>
        </p:nvSpPr>
        <p:spPr>
          <a:xfrm>
            <a:off x="5208998" y="3174715"/>
            <a:ext cx="2044557" cy="7089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Change curve</a:t>
            </a:r>
          </a:p>
        </p:txBody>
      </p:sp>
      <p:sp>
        <p:nvSpPr>
          <p:cNvPr id="19" name="Rectangle 18">
            <a:extLst>
              <a:ext uri="{FF2B5EF4-FFF2-40B4-BE49-F238E27FC236}">
                <a16:creationId xmlns:a16="http://schemas.microsoft.com/office/drawing/2014/main" id="{7EA98949-5FE6-5F25-EAC9-20FB690E5D2F}"/>
              </a:ext>
            </a:extLst>
          </p:cNvPr>
          <p:cNvSpPr/>
          <p:nvPr/>
        </p:nvSpPr>
        <p:spPr>
          <a:xfrm>
            <a:off x="9495171" y="3074542"/>
            <a:ext cx="2044557" cy="7089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Change curve</a:t>
            </a:r>
          </a:p>
        </p:txBody>
      </p:sp>
    </p:spTree>
    <p:extLst>
      <p:ext uri="{BB962C8B-B14F-4D97-AF65-F5344CB8AC3E}">
        <p14:creationId xmlns:p14="http://schemas.microsoft.com/office/powerpoint/2010/main" val="14143538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9A6B2C"/>
          </a:solidFill>
          <a:ln/>
        </p:spPr>
      </p:sp>
      <p:pic>
        <p:nvPicPr>
          <p:cNvPr id="3" name="Image 0" descr="preencoded.png"/>
          <p:cNvPicPr>
            <a:picLocks noChangeAspect="1"/>
          </p:cNvPicPr>
          <p:nvPr/>
        </p:nvPicPr>
        <p:blipFill>
          <a:blip r:embed="rId3"/>
          <a:stretch>
            <a:fillRect/>
          </a:stretch>
        </p:blipFill>
        <p:spPr>
          <a:xfrm>
            <a:off x="619963" y="574243"/>
            <a:ext cx="451714" cy="451714"/>
          </a:xfrm>
          <a:prstGeom prst="rect">
            <a:avLst/>
          </a:prstGeom>
        </p:spPr>
      </p:pic>
      <p:sp>
        <p:nvSpPr>
          <p:cNvPr id="4" name="Text 1"/>
          <p:cNvSpPr/>
          <p:nvPr/>
        </p:nvSpPr>
        <p:spPr>
          <a:xfrm>
            <a:off x="1325880" y="548640"/>
            <a:ext cx="8686800" cy="54864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Debrief: your haggl.com system prompts</a:t>
            </a:r>
            <a:endParaRPr lang="en-US" sz="2600" dirty="0"/>
          </a:p>
        </p:txBody>
      </p:sp>
      <p:sp>
        <p:nvSpPr>
          <p:cNvPr id="5" name="Text 2"/>
          <p:cNvSpPr/>
          <p:nvPr/>
        </p:nvSpPr>
        <p:spPr>
          <a:xfrm>
            <a:off x="640080" y="1417320"/>
            <a:ext cx="10789920" cy="731520"/>
          </a:xfrm>
          <a:prstGeom prst="rect">
            <a:avLst/>
          </a:prstGeom>
          <a:noFill/>
          <a:ln/>
        </p:spPr>
        <p:txBody>
          <a:bodyPr wrap="square" rtlCol="0" anchor="ctr"/>
          <a:lstStyle/>
          <a:p>
            <a:pPr marL="0" indent="0">
              <a:buNone/>
            </a:pPr>
            <a:r>
              <a:rPr lang="en-US" sz="1500" dirty="0">
                <a:solidFill>
                  <a:srgbClr val="CADCFC"/>
                </a:solidFill>
                <a:latin typeface="Calibri" pitchFamily="34" charset="0"/>
                <a:ea typeface="Calibri" pitchFamily="34" charset="-122"/>
                <a:cs typeface="Calibri" pitchFamily="34" charset="-120"/>
              </a:rPr>
              <a:t>You wrote a system prompt, ran two negotiation simulations, then reflected on the gap between what you intended and what happened.</a:t>
            </a:r>
            <a:endParaRPr lang="en-US" sz="1500" dirty="0"/>
          </a:p>
        </p:txBody>
      </p:sp>
      <p:sp>
        <p:nvSpPr>
          <p:cNvPr id="6" name="Shape 3"/>
          <p:cNvSpPr/>
          <p:nvPr/>
        </p:nvSpPr>
        <p:spPr>
          <a:xfrm>
            <a:off x="685800" y="2542032"/>
            <a:ext cx="128016" cy="128016"/>
          </a:xfrm>
          <a:prstGeom prst="ellipse">
            <a:avLst/>
          </a:prstGeom>
          <a:solidFill>
            <a:srgbClr val="9A6B2C"/>
          </a:solidFill>
          <a:ln/>
        </p:spPr>
      </p:sp>
      <p:sp>
        <p:nvSpPr>
          <p:cNvPr id="7" name="Text 4"/>
          <p:cNvSpPr/>
          <p:nvPr/>
        </p:nvSpPr>
        <p:spPr>
          <a:xfrm>
            <a:off x="1005840" y="2468880"/>
            <a:ext cx="10241280" cy="50292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What behavior did your system prompt intend to produce?</a:t>
            </a:r>
            <a:endParaRPr lang="en-US" sz="1500" dirty="0"/>
          </a:p>
        </p:txBody>
      </p:sp>
      <p:sp>
        <p:nvSpPr>
          <p:cNvPr id="8" name="Shape 5"/>
          <p:cNvSpPr/>
          <p:nvPr/>
        </p:nvSpPr>
        <p:spPr>
          <a:xfrm>
            <a:off x="685800" y="3182112"/>
            <a:ext cx="128016" cy="128016"/>
          </a:xfrm>
          <a:prstGeom prst="ellipse">
            <a:avLst/>
          </a:prstGeom>
          <a:solidFill>
            <a:srgbClr val="9A6B2C"/>
          </a:solidFill>
          <a:ln/>
        </p:spPr>
      </p:sp>
      <p:sp>
        <p:nvSpPr>
          <p:cNvPr id="9" name="Text 6"/>
          <p:cNvSpPr/>
          <p:nvPr/>
        </p:nvSpPr>
        <p:spPr>
          <a:xfrm>
            <a:off x="1005840" y="3108960"/>
            <a:ext cx="10241280" cy="50292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What behavior did you actually observe from the AI counterpart?</a:t>
            </a:r>
            <a:endParaRPr lang="en-US" sz="1500" dirty="0"/>
          </a:p>
        </p:txBody>
      </p:sp>
      <p:sp>
        <p:nvSpPr>
          <p:cNvPr id="10" name="Shape 7"/>
          <p:cNvSpPr/>
          <p:nvPr/>
        </p:nvSpPr>
        <p:spPr>
          <a:xfrm>
            <a:off x="685800" y="3822192"/>
            <a:ext cx="128016" cy="128016"/>
          </a:xfrm>
          <a:prstGeom prst="ellipse">
            <a:avLst/>
          </a:prstGeom>
          <a:solidFill>
            <a:srgbClr val="9A6B2C"/>
          </a:solidFill>
          <a:ln/>
        </p:spPr>
      </p:sp>
      <p:sp>
        <p:nvSpPr>
          <p:cNvPr id="11" name="Text 8"/>
          <p:cNvSpPr/>
          <p:nvPr/>
        </p:nvSpPr>
        <p:spPr>
          <a:xfrm>
            <a:off x="1005840" y="3749040"/>
            <a:ext cx="10241280" cy="50292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Where was the gap, and what one line would you add or change to close it?</a:t>
            </a:r>
            <a:endParaRPr lang="en-US" sz="1500" dirty="0"/>
          </a:p>
        </p:txBody>
      </p:sp>
      <p:sp>
        <p:nvSpPr>
          <p:cNvPr id="12" name="Shape 9"/>
          <p:cNvSpPr/>
          <p:nvPr/>
        </p:nvSpPr>
        <p:spPr>
          <a:xfrm>
            <a:off x="685800" y="4462272"/>
            <a:ext cx="128016" cy="128016"/>
          </a:xfrm>
          <a:prstGeom prst="ellipse">
            <a:avLst/>
          </a:prstGeom>
          <a:solidFill>
            <a:srgbClr val="9A6B2C"/>
          </a:solidFill>
          <a:ln/>
        </p:spPr>
      </p:sp>
      <p:sp>
        <p:nvSpPr>
          <p:cNvPr id="13" name="Text 10"/>
          <p:cNvSpPr/>
          <p:nvPr/>
        </p:nvSpPr>
        <p:spPr>
          <a:xfrm>
            <a:off x="1005840" y="4389120"/>
            <a:ext cx="10241280" cy="50292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Did a stronger persona description change behavior more than a longer list of rules?</a:t>
            </a:r>
            <a:endParaRPr lang="en-US" sz="1500" dirty="0"/>
          </a:p>
        </p:txBody>
      </p:sp>
      <p:sp>
        <p:nvSpPr>
          <p:cNvPr id="14" name="Text 11"/>
          <p:cNvSpPr/>
          <p:nvPr/>
        </p:nvSpPr>
        <p:spPr>
          <a:xfrm>
            <a:off x="640080" y="5349240"/>
            <a:ext cx="10789920" cy="548640"/>
          </a:xfrm>
          <a:prstGeom prst="rect">
            <a:avLst/>
          </a:prstGeom>
          <a:noFill/>
          <a:ln/>
        </p:spPr>
        <p:txBody>
          <a:bodyPr wrap="square" rtlCol="0" anchor="ctr"/>
          <a:lstStyle/>
          <a:p>
            <a:pPr marL="0" indent="0">
              <a:buNone/>
            </a:pPr>
            <a:r>
              <a:rPr lang="en-US" sz="1450" i="1" dirty="0">
                <a:solidFill>
                  <a:srgbClr val="9A6B2C"/>
                </a:solidFill>
                <a:latin typeface="Cambria" pitchFamily="34" charset="0"/>
                <a:ea typeface="Cambria" pitchFamily="34" charset="-122"/>
                <a:cs typeface="Cambria" pitchFamily="34" charset="-120"/>
              </a:rPr>
              <a:t>This gap, intent versus observed behavior, is exactly what the rest of today's session gives you tools to close.</a:t>
            </a:r>
            <a:endParaRPr lang="en-US" sz="14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0"/>
          <p:cNvSpPr/>
          <p:nvPr/>
        </p:nvSpPr>
        <p:spPr>
          <a:xfrm>
            <a:off x="548640" y="411480"/>
            <a:ext cx="10515600" cy="548640"/>
          </a:xfrm>
          <a:prstGeom prst="rect">
            <a:avLst/>
          </a:prstGeom>
          <a:noFill/>
          <a:ln/>
        </p:spPr>
        <p:txBody>
          <a:bodyPr wrap="square"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Anatomy of the request you will send</a:t>
            </a:r>
            <a:endParaRPr lang="en-US" sz="2600" dirty="0"/>
          </a:p>
        </p:txBody>
      </p:sp>
      <p:sp>
        <p:nvSpPr>
          <p:cNvPr id="3" name="Text 1"/>
          <p:cNvSpPr/>
          <p:nvPr/>
        </p:nvSpPr>
        <p:spPr>
          <a:xfrm>
            <a:off x="548640" y="960120"/>
            <a:ext cx="10058400" cy="365760"/>
          </a:xfrm>
          <a:prstGeom prst="rect">
            <a:avLst/>
          </a:prstGeom>
          <a:noFill/>
          <a:ln/>
        </p:spPr>
        <p:txBody>
          <a:bodyPr wrap="square" rtlCol="0" anchor="ctr"/>
          <a:lstStyle/>
          <a:p>
            <a:pPr marL="0" indent="0">
              <a:buNone/>
            </a:pPr>
            <a:r>
              <a:rPr lang="en-US" sz="1350" i="1" dirty="0">
                <a:solidFill>
                  <a:srgbClr val="3A3F4B"/>
                </a:solidFill>
                <a:latin typeface="Calibri" pitchFamily="34" charset="0"/>
                <a:ea typeface="Calibri" pitchFamily="34" charset="-122"/>
                <a:cs typeface="Calibri" pitchFamily="34" charset="-120"/>
              </a:rPr>
              <a:t>Every OpenRouter call this semester is built from the same five pieces</a:t>
            </a:r>
            <a:endParaRPr lang="en-US" sz="1350" dirty="0"/>
          </a:p>
        </p:txBody>
      </p:sp>
      <p:sp>
        <p:nvSpPr>
          <p:cNvPr id="4" name="Shape 2"/>
          <p:cNvSpPr/>
          <p:nvPr/>
        </p:nvSpPr>
        <p:spPr>
          <a:xfrm>
            <a:off x="548640" y="1508760"/>
            <a:ext cx="11064240" cy="841248"/>
          </a:xfrm>
          <a:prstGeom prst="roundRect">
            <a:avLst>
              <a:gd name="adj" fmla="val 6522"/>
            </a:avLst>
          </a:prstGeom>
          <a:solidFill>
            <a:srgbClr val="FFFFFF"/>
          </a:solidFill>
          <a:ln/>
          <a:effectLst>
            <a:outerShdw blurRad="63500" dist="25400" dir="5400000" algn="bl" rotWithShape="0">
              <a:srgbClr val="000000">
                <a:alpha val="7000"/>
              </a:srgbClr>
            </a:outerShdw>
          </a:effectLst>
        </p:spPr>
      </p:sp>
      <p:sp>
        <p:nvSpPr>
          <p:cNvPr id="5" name="Text 3"/>
          <p:cNvSpPr/>
          <p:nvPr/>
        </p:nvSpPr>
        <p:spPr>
          <a:xfrm>
            <a:off x="777240" y="1600200"/>
            <a:ext cx="2103120" cy="658368"/>
          </a:xfrm>
          <a:prstGeom prst="rect">
            <a:avLst/>
          </a:prstGeom>
          <a:noFill/>
          <a:ln/>
        </p:spPr>
        <p:txBody>
          <a:bodyPr wrap="square" rtlCol="0" anchor="ctr"/>
          <a:lstStyle/>
          <a:p>
            <a:pPr marL="0" indent="0">
              <a:buNone/>
            </a:pPr>
            <a:r>
              <a:rPr lang="en-US" sz="1450" b="1" dirty="0">
                <a:solidFill>
                  <a:srgbClr val="9A6B2C"/>
                </a:solidFill>
                <a:latin typeface="Cambria" pitchFamily="34" charset="0"/>
                <a:ea typeface="Cambria" pitchFamily="34" charset="-122"/>
                <a:cs typeface="Cambria" pitchFamily="34" charset="-120"/>
              </a:rPr>
              <a:t>Model</a:t>
            </a:r>
            <a:endParaRPr lang="en-US" sz="1450" dirty="0"/>
          </a:p>
        </p:txBody>
      </p:sp>
      <p:sp>
        <p:nvSpPr>
          <p:cNvPr id="6" name="Text 4"/>
          <p:cNvSpPr/>
          <p:nvPr/>
        </p:nvSpPr>
        <p:spPr>
          <a:xfrm>
            <a:off x="3017520" y="1600200"/>
            <a:ext cx="8366760" cy="658368"/>
          </a:xfrm>
          <a:prstGeom prst="rect">
            <a:avLst/>
          </a:prstGeom>
          <a:noFill/>
          <a:ln/>
        </p:spPr>
        <p:txBody>
          <a:bodyPr wrap="square" rtlCol="0" anchor="ctr"/>
          <a:lstStyle/>
          <a:p>
            <a:pPr marL="0" indent="0">
              <a:buNone/>
            </a:pPr>
            <a:r>
              <a:rPr lang="en-US" sz="1250" dirty="0">
                <a:solidFill>
                  <a:srgbClr val="3A3F4B"/>
                </a:solidFill>
                <a:latin typeface="Calibri" pitchFamily="34" charset="0"/>
                <a:ea typeface="Calibri" pitchFamily="34" charset="-122"/>
                <a:cs typeface="Calibri" pitchFamily="34" charset="-120"/>
              </a:rPr>
              <a:t>Which AI you are calling, for example anthropic/claude-sonnet-4-6. Same prompt, different model, different quality and speed.</a:t>
            </a:r>
            <a:endParaRPr lang="en-US" sz="1250" dirty="0"/>
          </a:p>
        </p:txBody>
      </p:sp>
      <p:sp>
        <p:nvSpPr>
          <p:cNvPr id="7" name="Shape 5"/>
          <p:cNvSpPr/>
          <p:nvPr/>
        </p:nvSpPr>
        <p:spPr>
          <a:xfrm>
            <a:off x="548640" y="2441448"/>
            <a:ext cx="11064240" cy="841248"/>
          </a:xfrm>
          <a:prstGeom prst="roundRect">
            <a:avLst>
              <a:gd name="adj" fmla="val 6522"/>
            </a:avLst>
          </a:prstGeom>
          <a:solidFill>
            <a:srgbClr val="FFFFFF"/>
          </a:solidFill>
          <a:ln/>
          <a:effectLst>
            <a:outerShdw blurRad="63500" dist="25400" dir="5400000" algn="bl" rotWithShape="0">
              <a:srgbClr val="000000">
                <a:alpha val="7000"/>
              </a:srgbClr>
            </a:outerShdw>
          </a:effectLst>
        </p:spPr>
      </p:sp>
      <p:sp>
        <p:nvSpPr>
          <p:cNvPr id="8" name="Text 6"/>
          <p:cNvSpPr/>
          <p:nvPr/>
        </p:nvSpPr>
        <p:spPr>
          <a:xfrm>
            <a:off x="777240" y="2532888"/>
            <a:ext cx="2103120" cy="658368"/>
          </a:xfrm>
          <a:prstGeom prst="rect">
            <a:avLst/>
          </a:prstGeom>
          <a:noFill/>
          <a:ln/>
        </p:spPr>
        <p:txBody>
          <a:bodyPr wrap="square" rtlCol="0" anchor="ctr"/>
          <a:lstStyle/>
          <a:p>
            <a:pPr marL="0" indent="0">
              <a:buNone/>
            </a:pPr>
            <a:r>
              <a:rPr lang="en-US" sz="1450" b="1" dirty="0">
                <a:solidFill>
                  <a:srgbClr val="9A6B2C"/>
                </a:solidFill>
                <a:latin typeface="Cambria" pitchFamily="34" charset="0"/>
                <a:ea typeface="Cambria" pitchFamily="34" charset="-122"/>
                <a:cs typeface="Cambria" pitchFamily="34" charset="-120"/>
              </a:rPr>
              <a:t>System prompt</a:t>
            </a:r>
            <a:endParaRPr lang="en-US" sz="1450" dirty="0"/>
          </a:p>
        </p:txBody>
      </p:sp>
      <p:sp>
        <p:nvSpPr>
          <p:cNvPr id="9" name="Text 7"/>
          <p:cNvSpPr/>
          <p:nvPr/>
        </p:nvSpPr>
        <p:spPr>
          <a:xfrm>
            <a:off x="3017520" y="2532888"/>
            <a:ext cx="8366760" cy="658368"/>
          </a:xfrm>
          <a:prstGeom prst="rect">
            <a:avLst/>
          </a:prstGeom>
          <a:noFill/>
          <a:ln/>
        </p:spPr>
        <p:txBody>
          <a:bodyPr wrap="square" rtlCol="0" anchor="ctr"/>
          <a:lstStyle/>
          <a:p>
            <a:pPr marL="0" indent="0">
              <a:buNone/>
            </a:pPr>
            <a:r>
              <a:rPr lang="en-US" sz="1250" dirty="0">
                <a:solidFill>
                  <a:srgbClr val="3A3F4B"/>
                </a:solidFill>
                <a:latin typeface="Calibri" pitchFamily="34" charset="0"/>
                <a:ea typeface="Calibri" pitchFamily="34" charset="-122"/>
                <a:cs typeface="Calibri" pitchFamily="34" charset="-120"/>
              </a:rPr>
              <a:t>A behind the scenes instruction that sets role and rules before the user prompt arrives. Shapes every response, usually invisible to an end user.</a:t>
            </a:r>
            <a:endParaRPr lang="en-US" sz="1250" dirty="0"/>
          </a:p>
        </p:txBody>
      </p:sp>
      <p:sp>
        <p:nvSpPr>
          <p:cNvPr id="10" name="Shape 8"/>
          <p:cNvSpPr/>
          <p:nvPr/>
        </p:nvSpPr>
        <p:spPr>
          <a:xfrm>
            <a:off x="548640" y="3374136"/>
            <a:ext cx="11064240" cy="841248"/>
          </a:xfrm>
          <a:prstGeom prst="roundRect">
            <a:avLst>
              <a:gd name="adj" fmla="val 6522"/>
            </a:avLst>
          </a:prstGeom>
          <a:solidFill>
            <a:srgbClr val="FFFFFF"/>
          </a:solidFill>
          <a:ln/>
          <a:effectLst>
            <a:outerShdw blurRad="63500" dist="25400" dir="5400000" algn="bl" rotWithShape="0">
              <a:srgbClr val="000000">
                <a:alpha val="7000"/>
              </a:srgbClr>
            </a:outerShdw>
          </a:effectLst>
        </p:spPr>
      </p:sp>
      <p:sp>
        <p:nvSpPr>
          <p:cNvPr id="11" name="Text 9"/>
          <p:cNvSpPr/>
          <p:nvPr/>
        </p:nvSpPr>
        <p:spPr>
          <a:xfrm>
            <a:off x="777240" y="3465576"/>
            <a:ext cx="2103120" cy="658368"/>
          </a:xfrm>
          <a:prstGeom prst="rect">
            <a:avLst/>
          </a:prstGeom>
          <a:noFill/>
          <a:ln/>
        </p:spPr>
        <p:txBody>
          <a:bodyPr wrap="square" rtlCol="0" anchor="ctr"/>
          <a:lstStyle/>
          <a:p>
            <a:pPr marL="0" indent="0">
              <a:buNone/>
            </a:pPr>
            <a:r>
              <a:rPr lang="en-US" sz="1450" b="1" dirty="0">
                <a:solidFill>
                  <a:srgbClr val="9A6B2C"/>
                </a:solidFill>
                <a:latin typeface="Cambria" pitchFamily="34" charset="0"/>
                <a:ea typeface="Cambria" pitchFamily="34" charset="-122"/>
                <a:cs typeface="Cambria" pitchFamily="34" charset="-120"/>
              </a:rPr>
              <a:t>Prompt</a:t>
            </a:r>
            <a:endParaRPr lang="en-US" sz="1450" dirty="0"/>
          </a:p>
        </p:txBody>
      </p:sp>
      <p:sp>
        <p:nvSpPr>
          <p:cNvPr id="12" name="Text 10"/>
          <p:cNvSpPr/>
          <p:nvPr/>
        </p:nvSpPr>
        <p:spPr>
          <a:xfrm>
            <a:off x="3017520" y="3465576"/>
            <a:ext cx="8366760" cy="658368"/>
          </a:xfrm>
          <a:prstGeom prst="rect">
            <a:avLst/>
          </a:prstGeom>
          <a:noFill/>
          <a:ln/>
        </p:spPr>
        <p:txBody>
          <a:bodyPr wrap="square" rtlCol="0" anchor="ctr"/>
          <a:lstStyle/>
          <a:p>
            <a:pPr marL="0" indent="0">
              <a:buNone/>
            </a:pPr>
            <a:r>
              <a:rPr lang="en-US" sz="1250" dirty="0">
                <a:solidFill>
                  <a:srgbClr val="3A3F4B"/>
                </a:solidFill>
                <a:latin typeface="Calibri" pitchFamily="34" charset="0"/>
                <a:ea typeface="Calibri" pitchFamily="34" charset="-122"/>
                <a:cs typeface="Calibri" pitchFamily="34" charset="-120"/>
              </a:rPr>
              <a:t>The actual question or instruction, the part a user typically sees and types.</a:t>
            </a:r>
            <a:endParaRPr lang="en-US" sz="1250" dirty="0"/>
          </a:p>
        </p:txBody>
      </p:sp>
      <p:sp>
        <p:nvSpPr>
          <p:cNvPr id="13" name="Shape 11"/>
          <p:cNvSpPr/>
          <p:nvPr/>
        </p:nvSpPr>
        <p:spPr>
          <a:xfrm>
            <a:off x="548640" y="4306824"/>
            <a:ext cx="11064240" cy="841248"/>
          </a:xfrm>
          <a:prstGeom prst="roundRect">
            <a:avLst>
              <a:gd name="adj" fmla="val 6522"/>
            </a:avLst>
          </a:prstGeom>
          <a:solidFill>
            <a:srgbClr val="FFFFFF"/>
          </a:solidFill>
          <a:ln/>
          <a:effectLst>
            <a:outerShdw blurRad="63500" dist="25400" dir="5400000" algn="bl" rotWithShape="0">
              <a:srgbClr val="000000">
                <a:alpha val="7000"/>
              </a:srgbClr>
            </a:outerShdw>
          </a:effectLst>
        </p:spPr>
      </p:sp>
      <p:sp>
        <p:nvSpPr>
          <p:cNvPr id="14" name="Text 12"/>
          <p:cNvSpPr/>
          <p:nvPr/>
        </p:nvSpPr>
        <p:spPr>
          <a:xfrm>
            <a:off x="777240" y="4398264"/>
            <a:ext cx="2103120" cy="658368"/>
          </a:xfrm>
          <a:prstGeom prst="rect">
            <a:avLst/>
          </a:prstGeom>
          <a:noFill/>
          <a:ln/>
        </p:spPr>
        <p:txBody>
          <a:bodyPr wrap="square" rtlCol="0" anchor="ctr"/>
          <a:lstStyle/>
          <a:p>
            <a:pPr marL="0" indent="0">
              <a:buNone/>
            </a:pPr>
            <a:r>
              <a:rPr lang="en-US" sz="1450" b="1" dirty="0">
                <a:solidFill>
                  <a:srgbClr val="9A6B2C"/>
                </a:solidFill>
                <a:latin typeface="Cambria" pitchFamily="34" charset="0"/>
                <a:ea typeface="Cambria" pitchFamily="34" charset="-122"/>
                <a:cs typeface="Cambria" pitchFamily="34" charset="-120"/>
              </a:rPr>
              <a:t>Temperature</a:t>
            </a:r>
            <a:endParaRPr lang="en-US" sz="1450" dirty="0"/>
          </a:p>
        </p:txBody>
      </p:sp>
      <p:sp>
        <p:nvSpPr>
          <p:cNvPr id="15" name="Text 13"/>
          <p:cNvSpPr/>
          <p:nvPr/>
        </p:nvSpPr>
        <p:spPr>
          <a:xfrm>
            <a:off x="3017520" y="4398264"/>
            <a:ext cx="8366760" cy="658368"/>
          </a:xfrm>
          <a:prstGeom prst="rect">
            <a:avLst/>
          </a:prstGeom>
          <a:noFill/>
          <a:ln/>
        </p:spPr>
        <p:txBody>
          <a:bodyPr wrap="square" rtlCol="0" anchor="ctr"/>
          <a:lstStyle/>
          <a:p>
            <a:pPr marL="0" indent="0">
              <a:buNone/>
            </a:pPr>
            <a:r>
              <a:rPr lang="en-US" sz="1250" dirty="0">
                <a:solidFill>
                  <a:srgbClr val="3A3F4B"/>
                </a:solidFill>
                <a:latin typeface="Calibri" pitchFamily="34" charset="0"/>
                <a:ea typeface="Calibri" pitchFamily="34" charset="-122"/>
                <a:cs typeface="Calibri" pitchFamily="34" charset="-120"/>
              </a:rPr>
              <a:t>0 to about 2. Low values are consistent and repeatable. Higher values are more varied language, but less predictable.</a:t>
            </a:r>
            <a:endParaRPr lang="en-US" sz="1250" dirty="0"/>
          </a:p>
        </p:txBody>
      </p:sp>
      <p:sp>
        <p:nvSpPr>
          <p:cNvPr id="16" name="Shape 14"/>
          <p:cNvSpPr/>
          <p:nvPr/>
        </p:nvSpPr>
        <p:spPr>
          <a:xfrm>
            <a:off x="548640" y="5239512"/>
            <a:ext cx="11064240" cy="841248"/>
          </a:xfrm>
          <a:prstGeom prst="roundRect">
            <a:avLst>
              <a:gd name="adj" fmla="val 6522"/>
            </a:avLst>
          </a:prstGeom>
          <a:solidFill>
            <a:srgbClr val="FFFFFF"/>
          </a:solidFill>
          <a:ln/>
          <a:effectLst>
            <a:outerShdw blurRad="63500" dist="25400" dir="5400000" algn="bl" rotWithShape="0">
              <a:srgbClr val="000000">
                <a:alpha val="7000"/>
              </a:srgbClr>
            </a:outerShdw>
          </a:effectLst>
        </p:spPr>
      </p:sp>
      <p:sp>
        <p:nvSpPr>
          <p:cNvPr id="17" name="Text 15"/>
          <p:cNvSpPr/>
          <p:nvPr/>
        </p:nvSpPr>
        <p:spPr>
          <a:xfrm>
            <a:off x="777240" y="5330952"/>
            <a:ext cx="2103120" cy="658368"/>
          </a:xfrm>
          <a:prstGeom prst="rect">
            <a:avLst/>
          </a:prstGeom>
          <a:noFill/>
          <a:ln/>
        </p:spPr>
        <p:txBody>
          <a:bodyPr wrap="square" rtlCol="0" anchor="ctr"/>
          <a:lstStyle/>
          <a:p>
            <a:pPr marL="0" indent="0">
              <a:buNone/>
            </a:pPr>
            <a:r>
              <a:rPr lang="en-US" sz="1450" b="1" dirty="0">
                <a:solidFill>
                  <a:srgbClr val="9A6B2C"/>
                </a:solidFill>
                <a:latin typeface="Cambria" pitchFamily="34" charset="0"/>
                <a:ea typeface="Cambria" pitchFamily="34" charset="-122"/>
                <a:cs typeface="Cambria" pitchFamily="34" charset="-120"/>
              </a:rPr>
              <a:t>Max tokens</a:t>
            </a:r>
            <a:endParaRPr lang="en-US" sz="1450" dirty="0"/>
          </a:p>
        </p:txBody>
      </p:sp>
      <p:sp>
        <p:nvSpPr>
          <p:cNvPr id="18" name="Text 16"/>
          <p:cNvSpPr/>
          <p:nvPr/>
        </p:nvSpPr>
        <p:spPr>
          <a:xfrm>
            <a:off x="3017520" y="5330952"/>
            <a:ext cx="8366760" cy="658368"/>
          </a:xfrm>
          <a:prstGeom prst="rect">
            <a:avLst/>
          </a:prstGeom>
          <a:noFill/>
          <a:ln/>
        </p:spPr>
        <p:txBody>
          <a:bodyPr wrap="square" rtlCol="0" anchor="ctr"/>
          <a:lstStyle/>
          <a:p>
            <a:pPr marL="0" indent="0">
              <a:buNone/>
            </a:pPr>
            <a:r>
              <a:rPr lang="en-US" sz="1250" dirty="0">
                <a:solidFill>
                  <a:srgbClr val="3A3F4B"/>
                </a:solidFill>
                <a:latin typeface="Calibri" pitchFamily="34" charset="0"/>
                <a:ea typeface="Calibri" pitchFamily="34" charset="-122"/>
                <a:cs typeface="Calibri" pitchFamily="34" charset="-120"/>
              </a:rPr>
              <a:t>A cap on response length. If the model hits it mid thought, the response is cut off, not summarized, so answers &amp; JSON can come back truncated.</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5">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548640" y="457200"/>
            <a:ext cx="594360" cy="594360"/>
          </a:xfrm>
          <a:prstGeom prst="ellipse">
            <a:avLst/>
          </a:prstGeom>
          <a:solidFill>
            <a:srgbClr val="9A6B2C"/>
          </a:solidFill>
          <a:ln/>
        </p:spPr>
      </p:sp>
      <p:pic>
        <p:nvPicPr>
          <p:cNvPr id="3" name="Image 0" descr="preencoded.png"/>
          <p:cNvPicPr>
            <a:picLocks noChangeAspect="1"/>
          </p:cNvPicPr>
          <p:nvPr/>
        </p:nvPicPr>
        <p:blipFill>
          <a:blip r:embed="rId3"/>
          <a:stretch>
            <a:fillRect/>
          </a:stretch>
        </p:blipFill>
        <p:spPr>
          <a:xfrm>
            <a:off x="619963" y="528523"/>
            <a:ext cx="451714" cy="451714"/>
          </a:xfrm>
          <a:prstGeom prst="rect">
            <a:avLst/>
          </a:prstGeom>
        </p:spPr>
      </p:pic>
      <p:sp>
        <p:nvSpPr>
          <p:cNvPr id="4" name="Text 1"/>
          <p:cNvSpPr/>
          <p:nvPr/>
        </p:nvSpPr>
        <p:spPr>
          <a:xfrm>
            <a:off x="1325880" y="502920"/>
            <a:ext cx="9144000" cy="54864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Prompt structure: five parts worth naming</a:t>
            </a:r>
            <a:endParaRPr lang="en-US" sz="2600" dirty="0"/>
          </a:p>
        </p:txBody>
      </p:sp>
      <p:sp>
        <p:nvSpPr>
          <p:cNvPr id="5" name="Shape 2"/>
          <p:cNvSpPr/>
          <p:nvPr/>
        </p:nvSpPr>
        <p:spPr>
          <a:xfrm>
            <a:off x="548640" y="1463040"/>
            <a:ext cx="2084832" cy="3566160"/>
          </a:xfrm>
          <a:prstGeom prst="roundRect">
            <a:avLst>
              <a:gd name="adj" fmla="val 3509"/>
            </a:avLst>
          </a:prstGeom>
          <a:solidFill>
            <a:srgbClr val="1C2B52"/>
          </a:solidFill>
          <a:ln/>
        </p:spPr>
      </p:sp>
      <p:sp>
        <p:nvSpPr>
          <p:cNvPr id="6" name="Text 3"/>
          <p:cNvSpPr/>
          <p:nvPr/>
        </p:nvSpPr>
        <p:spPr>
          <a:xfrm>
            <a:off x="685800" y="1691640"/>
            <a:ext cx="1810512" cy="457200"/>
          </a:xfrm>
          <a:prstGeom prst="rect">
            <a:avLst/>
          </a:prstGeom>
          <a:noFill/>
          <a:ln/>
        </p:spPr>
        <p:txBody>
          <a:bodyPr wrap="square" rtlCol="0" anchor="ctr"/>
          <a:lstStyle/>
          <a:p>
            <a:pPr marL="0" indent="0">
              <a:buNone/>
            </a:pPr>
            <a:r>
              <a:rPr lang="en-US" sz="1600" b="1" dirty="0">
                <a:solidFill>
                  <a:srgbClr val="9A6B2C"/>
                </a:solidFill>
                <a:latin typeface="Cambria" pitchFamily="34" charset="0"/>
                <a:ea typeface="Cambria" pitchFamily="34" charset="-122"/>
                <a:cs typeface="Cambria" pitchFamily="34" charset="-120"/>
              </a:rPr>
              <a:t>Role</a:t>
            </a:r>
            <a:endParaRPr lang="en-US" sz="1600" dirty="0"/>
          </a:p>
        </p:txBody>
      </p:sp>
      <p:sp>
        <p:nvSpPr>
          <p:cNvPr id="7" name="Text 4"/>
          <p:cNvSpPr/>
          <p:nvPr/>
        </p:nvSpPr>
        <p:spPr>
          <a:xfrm>
            <a:off x="685800" y="2194560"/>
            <a:ext cx="1810512" cy="2651760"/>
          </a:xfrm>
          <a:prstGeom prst="rect">
            <a:avLst/>
          </a:prstGeom>
          <a:noFill/>
          <a:ln/>
        </p:spPr>
        <p:txBody>
          <a:bodyPr wrap="square" rtlCol="0" anchor="ctr"/>
          <a:lstStyle/>
          <a:p>
            <a:pPr marL="0" indent="0">
              <a:buNone/>
            </a:pPr>
            <a:r>
              <a:rPr lang="en-US" sz="1150" dirty="0">
                <a:solidFill>
                  <a:srgbClr val="E4E9F5"/>
                </a:solidFill>
                <a:latin typeface="Calibri" pitchFamily="34" charset="0"/>
                <a:ea typeface="Calibri" pitchFamily="34" charset="-122"/>
                <a:cs typeface="Calibri" pitchFamily="34" charset="-120"/>
              </a:rPr>
              <a:t>Who should the model act as? An analyst, a tutor, a skeptical reviewer.</a:t>
            </a:r>
            <a:endParaRPr lang="en-US" sz="1150" dirty="0"/>
          </a:p>
        </p:txBody>
      </p:sp>
      <p:sp>
        <p:nvSpPr>
          <p:cNvPr id="8" name="Shape 5"/>
          <p:cNvSpPr/>
          <p:nvPr/>
        </p:nvSpPr>
        <p:spPr>
          <a:xfrm>
            <a:off x="2779776" y="1463040"/>
            <a:ext cx="2084832" cy="3566160"/>
          </a:xfrm>
          <a:prstGeom prst="roundRect">
            <a:avLst>
              <a:gd name="adj" fmla="val 3509"/>
            </a:avLst>
          </a:prstGeom>
          <a:solidFill>
            <a:srgbClr val="1C2B52"/>
          </a:solidFill>
          <a:ln/>
        </p:spPr>
      </p:sp>
      <p:sp>
        <p:nvSpPr>
          <p:cNvPr id="9" name="Text 6"/>
          <p:cNvSpPr/>
          <p:nvPr/>
        </p:nvSpPr>
        <p:spPr>
          <a:xfrm>
            <a:off x="2916936" y="1691640"/>
            <a:ext cx="1810512" cy="457200"/>
          </a:xfrm>
          <a:prstGeom prst="rect">
            <a:avLst/>
          </a:prstGeom>
          <a:noFill/>
          <a:ln/>
        </p:spPr>
        <p:txBody>
          <a:bodyPr wrap="square" rtlCol="0" anchor="ctr"/>
          <a:lstStyle/>
          <a:p>
            <a:pPr marL="0" indent="0">
              <a:buNone/>
            </a:pPr>
            <a:r>
              <a:rPr lang="en-US" sz="1600" b="1" dirty="0">
                <a:solidFill>
                  <a:srgbClr val="9A6B2C"/>
                </a:solidFill>
                <a:latin typeface="Cambria" pitchFamily="34" charset="0"/>
                <a:ea typeface="Cambria" pitchFamily="34" charset="-122"/>
                <a:cs typeface="Cambria" pitchFamily="34" charset="-120"/>
              </a:rPr>
              <a:t>Context</a:t>
            </a:r>
            <a:endParaRPr lang="en-US" sz="1600" dirty="0"/>
          </a:p>
        </p:txBody>
      </p:sp>
      <p:sp>
        <p:nvSpPr>
          <p:cNvPr id="10" name="Text 7"/>
          <p:cNvSpPr/>
          <p:nvPr/>
        </p:nvSpPr>
        <p:spPr>
          <a:xfrm>
            <a:off x="2916936" y="2194560"/>
            <a:ext cx="1810512" cy="2651760"/>
          </a:xfrm>
          <a:prstGeom prst="rect">
            <a:avLst/>
          </a:prstGeom>
          <a:noFill/>
          <a:ln/>
        </p:spPr>
        <p:txBody>
          <a:bodyPr wrap="square" rtlCol="0" anchor="ctr"/>
          <a:lstStyle/>
          <a:p>
            <a:pPr marL="0" indent="0">
              <a:buNone/>
            </a:pPr>
            <a:r>
              <a:rPr lang="en-US" sz="1150" dirty="0">
                <a:solidFill>
                  <a:srgbClr val="E4E9F5"/>
                </a:solidFill>
                <a:latin typeface="Calibri" pitchFamily="34" charset="0"/>
                <a:ea typeface="Calibri" pitchFamily="34" charset="-122"/>
                <a:cs typeface="Calibri" pitchFamily="34" charset="-120"/>
              </a:rPr>
              <a:t>What background does it need to answer in a robust manner, without guessing?</a:t>
            </a:r>
            <a:endParaRPr lang="en-US" sz="1150" dirty="0"/>
          </a:p>
        </p:txBody>
      </p:sp>
      <p:sp>
        <p:nvSpPr>
          <p:cNvPr id="11" name="Shape 8"/>
          <p:cNvSpPr/>
          <p:nvPr/>
        </p:nvSpPr>
        <p:spPr>
          <a:xfrm>
            <a:off x="5010912" y="1463040"/>
            <a:ext cx="2084832" cy="3566160"/>
          </a:xfrm>
          <a:prstGeom prst="roundRect">
            <a:avLst>
              <a:gd name="adj" fmla="val 3509"/>
            </a:avLst>
          </a:prstGeom>
          <a:solidFill>
            <a:srgbClr val="1C2B52"/>
          </a:solidFill>
          <a:ln/>
        </p:spPr>
      </p:sp>
      <p:sp>
        <p:nvSpPr>
          <p:cNvPr id="12" name="Text 9"/>
          <p:cNvSpPr/>
          <p:nvPr/>
        </p:nvSpPr>
        <p:spPr>
          <a:xfrm>
            <a:off x="5148072" y="1691640"/>
            <a:ext cx="1810512" cy="457200"/>
          </a:xfrm>
          <a:prstGeom prst="rect">
            <a:avLst/>
          </a:prstGeom>
          <a:noFill/>
          <a:ln/>
        </p:spPr>
        <p:txBody>
          <a:bodyPr wrap="square" rtlCol="0" anchor="ctr"/>
          <a:lstStyle/>
          <a:p>
            <a:pPr marL="0" indent="0">
              <a:buNone/>
            </a:pPr>
            <a:r>
              <a:rPr lang="en-US" sz="1600" b="1" dirty="0">
                <a:solidFill>
                  <a:srgbClr val="9A6B2C"/>
                </a:solidFill>
                <a:latin typeface="Cambria" pitchFamily="34" charset="0"/>
                <a:ea typeface="Cambria" pitchFamily="34" charset="-122"/>
                <a:cs typeface="Cambria" pitchFamily="34" charset="-120"/>
              </a:rPr>
              <a:t>Task</a:t>
            </a:r>
            <a:endParaRPr lang="en-US" sz="1600" dirty="0"/>
          </a:p>
        </p:txBody>
      </p:sp>
      <p:sp>
        <p:nvSpPr>
          <p:cNvPr id="13" name="Text 10"/>
          <p:cNvSpPr/>
          <p:nvPr/>
        </p:nvSpPr>
        <p:spPr>
          <a:xfrm>
            <a:off x="5148072" y="2194560"/>
            <a:ext cx="1810512" cy="2651760"/>
          </a:xfrm>
          <a:prstGeom prst="rect">
            <a:avLst/>
          </a:prstGeom>
          <a:noFill/>
          <a:ln/>
        </p:spPr>
        <p:txBody>
          <a:bodyPr wrap="square" rtlCol="0" anchor="ctr"/>
          <a:lstStyle/>
          <a:p>
            <a:pPr marL="0" indent="0">
              <a:buNone/>
            </a:pPr>
            <a:r>
              <a:rPr lang="en-US" sz="1150" dirty="0">
                <a:solidFill>
                  <a:srgbClr val="E4E9F5"/>
                </a:solidFill>
                <a:latin typeface="Calibri" pitchFamily="34" charset="0"/>
                <a:ea typeface="Calibri" pitchFamily="34" charset="-122"/>
                <a:cs typeface="Calibri" pitchFamily="34" charset="-120"/>
              </a:rPr>
              <a:t>The specific action you want performed, stated as one clear instruction.</a:t>
            </a:r>
            <a:endParaRPr lang="en-US" sz="1150" dirty="0"/>
          </a:p>
        </p:txBody>
      </p:sp>
      <p:sp>
        <p:nvSpPr>
          <p:cNvPr id="14" name="Shape 11"/>
          <p:cNvSpPr/>
          <p:nvPr/>
        </p:nvSpPr>
        <p:spPr>
          <a:xfrm>
            <a:off x="7242048" y="1463040"/>
            <a:ext cx="2084832" cy="3566160"/>
          </a:xfrm>
          <a:prstGeom prst="roundRect">
            <a:avLst>
              <a:gd name="adj" fmla="val 3509"/>
            </a:avLst>
          </a:prstGeom>
          <a:solidFill>
            <a:srgbClr val="1C2B52"/>
          </a:solidFill>
          <a:ln/>
        </p:spPr>
      </p:sp>
      <p:sp>
        <p:nvSpPr>
          <p:cNvPr id="15" name="Text 12"/>
          <p:cNvSpPr/>
          <p:nvPr/>
        </p:nvSpPr>
        <p:spPr>
          <a:xfrm>
            <a:off x="7379208" y="1691640"/>
            <a:ext cx="1810512" cy="457200"/>
          </a:xfrm>
          <a:prstGeom prst="rect">
            <a:avLst/>
          </a:prstGeom>
          <a:noFill/>
          <a:ln/>
        </p:spPr>
        <p:txBody>
          <a:bodyPr wrap="square" rtlCol="0" anchor="ctr"/>
          <a:lstStyle/>
          <a:p>
            <a:pPr marL="0" indent="0">
              <a:buNone/>
            </a:pPr>
            <a:r>
              <a:rPr lang="en-US" sz="1600" b="1" dirty="0">
                <a:solidFill>
                  <a:srgbClr val="9A6B2C"/>
                </a:solidFill>
                <a:latin typeface="Cambria" pitchFamily="34" charset="0"/>
                <a:ea typeface="Cambria" pitchFamily="34" charset="-122"/>
                <a:cs typeface="Cambria" pitchFamily="34" charset="-120"/>
              </a:rPr>
              <a:t>Format</a:t>
            </a:r>
            <a:endParaRPr lang="en-US" sz="1600" dirty="0"/>
          </a:p>
        </p:txBody>
      </p:sp>
      <p:sp>
        <p:nvSpPr>
          <p:cNvPr id="16" name="Text 13"/>
          <p:cNvSpPr/>
          <p:nvPr/>
        </p:nvSpPr>
        <p:spPr>
          <a:xfrm>
            <a:off x="7379208" y="2194560"/>
            <a:ext cx="1810512" cy="2651760"/>
          </a:xfrm>
          <a:prstGeom prst="rect">
            <a:avLst/>
          </a:prstGeom>
          <a:noFill/>
          <a:ln/>
        </p:spPr>
        <p:txBody>
          <a:bodyPr wrap="square" rtlCol="0" anchor="ctr"/>
          <a:lstStyle/>
          <a:p>
            <a:pPr marL="0" indent="0">
              <a:buNone/>
            </a:pPr>
            <a:r>
              <a:rPr lang="en-US" sz="1150" dirty="0">
                <a:solidFill>
                  <a:srgbClr val="E4E9F5"/>
                </a:solidFill>
                <a:latin typeface="Calibri" pitchFamily="34" charset="0"/>
                <a:ea typeface="Calibri" pitchFamily="34" charset="-122"/>
                <a:cs typeface="Calibri" pitchFamily="34" charset="-120"/>
              </a:rPr>
              <a:t>How should the answer be shaped: a list, a table, JSON, one paragraph?</a:t>
            </a:r>
            <a:endParaRPr lang="en-US" sz="1150" dirty="0"/>
          </a:p>
        </p:txBody>
      </p:sp>
      <p:sp>
        <p:nvSpPr>
          <p:cNvPr id="17" name="Shape 14"/>
          <p:cNvSpPr/>
          <p:nvPr/>
        </p:nvSpPr>
        <p:spPr>
          <a:xfrm>
            <a:off x="9473184" y="1463040"/>
            <a:ext cx="2084832" cy="3566160"/>
          </a:xfrm>
          <a:prstGeom prst="roundRect">
            <a:avLst>
              <a:gd name="adj" fmla="val 3509"/>
            </a:avLst>
          </a:prstGeom>
          <a:solidFill>
            <a:srgbClr val="1C2B52"/>
          </a:solidFill>
          <a:ln/>
        </p:spPr>
      </p:sp>
      <p:sp>
        <p:nvSpPr>
          <p:cNvPr id="18" name="Text 15"/>
          <p:cNvSpPr/>
          <p:nvPr/>
        </p:nvSpPr>
        <p:spPr>
          <a:xfrm>
            <a:off x="9610344" y="1691640"/>
            <a:ext cx="1810512" cy="457200"/>
          </a:xfrm>
          <a:prstGeom prst="rect">
            <a:avLst/>
          </a:prstGeom>
          <a:noFill/>
          <a:ln/>
        </p:spPr>
        <p:txBody>
          <a:bodyPr wrap="square" rtlCol="0" anchor="ctr"/>
          <a:lstStyle/>
          <a:p>
            <a:pPr marL="0" indent="0">
              <a:buNone/>
            </a:pPr>
            <a:r>
              <a:rPr lang="en-US" sz="1600" b="1" dirty="0">
                <a:solidFill>
                  <a:srgbClr val="9A6B2C"/>
                </a:solidFill>
                <a:latin typeface="Cambria" pitchFamily="34" charset="0"/>
                <a:ea typeface="Cambria" pitchFamily="34" charset="-122"/>
                <a:cs typeface="Cambria" pitchFamily="34" charset="-120"/>
              </a:rPr>
              <a:t>Constraints</a:t>
            </a:r>
            <a:endParaRPr lang="en-US" sz="1600" dirty="0"/>
          </a:p>
        </p:txBody>
      </p:sp>
      <p:sp>
        <p:nvSpPr>
          <p:cNvPr id="19" name="Text 16"/>
          <p:cNvSpPr/>
          <p:nvPr/>
        </p:nvSpPr>
        <p:spPr>
          <a:xfrm>
            <a:off x="9610344" y="2194560"/>
            <a:ext cx="1810512" cy="2651760"/>
          </a:xfrm>
          <a:prstGeom prst="rect">
            <a:avLst/>
          </a:prstGeom>
          <a:noFill/>
          <a:ln/>
        </p:spPr>
        <p:txBody>
          <a:bodyPr wrap="square" rtlCol="0" anchor="ctr"/>
          <a:lstStyle/>
          <a:p>
            <a:pPr marL="0" indent="0">
              <a:buNone/>
            </a:pPr>
            <a:r>
              <a:rPr lang="en-US" sz="1150" dirty="0">
                <a:solidFill>
                  <a:srgbClr val="E4E9F5"/>
                </a:solidFill>
                <a:latin typeface="Calibri" pitchFamily="34" charset="0"/>
                <a:ea typeface="Calibri" pitchFamily="34" charset="-122"/>
                <a:cs typeface="Calibri" pitchFamily="34" charset="-120"/>
              </a:rPr>
              <a:t>What should it avoid, or what limits apply: length, tone, no speculation?</a:t>
            </a:r>
            <a:endParaRPr lang="en-US" sz="1150" dirty="0"/>
          </a:p>
        </p:txBody>
      </p:sp>
      <p:sp>
        <p:nvSpPr>
          <p:cNvPr id="20" name="Text 17"/>
          <p:cNvSpPr/>
          <p:nvPr/>
        </p:nvSpPr>
        <p:spPr>
          <a:xfrm>
            <a:off x="548640" y="5257800"/>
            <a:ext cx="10972800" cy="457200"/>
          </a:xfrm>
          <a:prstGeom prst="rect">
            <a:avLst/>
          </a:prstGeom>
          <a:noFill/>
          <a:ln/>
        </p:spPr>
        <p:txBody>
          <a:bodyPr wrap="square" rtlCol="0" anchor="ctr"/>
          <a:lstStyle/>
          <a:p>
            <a:pPr marL="0" indent="0">
              <a:buNone/>
            </a:pPr>
            <a:r>
              <a:rPr lang="en-US" sz="1250" i="1" dirty="0">
                <a:solidFill>
                  <a:srgbClr val="CADCFC"/>
                </a:solidFill>
                <a:latin typeface="Calibri" pitchFamily="34" charset="0"/>
                <a:ea typeface="Calibri" pitchFamily="34" charset="-122"/>
                <a:cs typeface="Calibri" pitchFamily="34" charset="-120"/>
              </a:rPr>
              <a:t>Not every prompt needs all five written out. Naming them in your head is often enough once this becomes habit.</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Try it: same task, more constraints</a:t>
            </a:r>
            <a:endParaRPr lang="en-US" sz="2600" dirty="0"/>
          </a:p>
        </p:txBody>
      </p:sp>
      <p:sp>
        <p:nvSpPr>
          <p:cNvPr id="3" name="Shape 1"/>
          <p:cNvSpPr/>
          <p:nvPr/>
        </p:nvSpPr>
        <p:spPr>
          <a:xfrm>
            <a:off x="548640" y="1188720"/>
            <a:ext cx="11064240" cy="1417320"/>
          </a:xfrm>
          <a:prstGeom prst="roundRect">
            <a:avLst>
              <a:gd name="adj" fmla="val 5161"/>
            </a:avLst>
          </a:prstGeom>
          <a:solidFill>
            <a:srgbClr val="FFFFFF"/>
          </a:solidFill>
          <a:ln/>
          <a:effectLst>
            <a:outerShdw blurRad="63500" dist="25400" dir="5400000" algn="bl" rotWithShape="0">
              <a:srgbClr val="000000">
                <a:alpha val="8000"/>
              </a:srgbClr>
            </a:outerShdw>
          </a:effectLst>
        </p:spPr>
      </p:sp>
      <p:sp>
        <p:nvSpPr>
          <p:cNvPr id="4" name="Text 2"/>
          <p:cNvSpPr/>
          <p:nvPr/>
        </p:nvSpPr>
        <p:spPr>
          <a:xfrm>
            <a:off x="822960" y="1371600"/>
            <a:ext cx="10515600" cy="365760"/>
          </a:xfrm>
          <a:prstGeom prst="rect">
            <a:avLst/>
          </a:prstGeom>
          <a:noFill/>
          <a:ln/>
        </p:spPr>
        <p:txBody>
          <a:bodyPr wrap="square" rtlCol="0" anchor="ctr"/>
          <a:lstStyle/>
          <a:p>
            <a:pPr marL="0" indent="0">
              <a:buNone/>
            </a:pPr>
            <a:r>
              <a:rPr lang="en-US" sz="1400" i="1" dirty="0">
                <a:solidFill>
                  <a:srgbClr val="3A3F4B"/>
                </a:solidFill>
                <a:latin typeface="Cambria" pitchFamily="34" charset="0"/>
                <a:ea typeface="Cambria" pitchFamily="34" charset="-122"/>
                <a:cs typeface="Cambria" pitchFamily="34" charset="-120"/>
              </a:rPr>
              <a:t>Bare request:  “Recommend 5 ETFs I might like.”</a:t>
            </a:r>
            <a:endParaRPr lang="en-US" sz="1400" dirty="0"/>
          </a:p>
        </p:txBody>
      </p:sp>
      <p:sp>
        <p:nvSpPr>
          <p:cNvPr id="5" name="Text 3"/>
          <p:cNvSpPr/>
          <p:nvPr/>
        </p:nvSpPr>
        <p:spPr>
          <a:xfrm>
            <a:off x="822960" y="1783080"/>
            <a:ext cx="10515600" cy="731520"/>
          </a:xfrm>
          <a:prstGeom prst="rect">
            <a:avLst/>
          </a:prstGeom>
          <a:noFill/>
          <a:ln/>
        </p:spPr>
        <p:txBody>
          <a:bodyPr wrap="square" rtlCol="0" anchor="ctr"/>
          <a:lstStyle/>
          <a:p>
            <a:pPr marL="0" indent="0">
              <a:buNone/>
            </a:pPr>
            <a:r>
              <a:rPr lang="en-US" sz="1400" i="1" dirty="0">
                <a:solidFill>
                  <a:srgbClr val="14213D"/>
                </a:solidFill>
                <a:latin typeface="Cambria" pitchFamily="34" charset="0"/>
                <a:ea typeface="Cambria" pitchFamily="34" charset="-122"/>
                <a:cs typeface="Cambria" pitchFamily="34" charset="-120"/>
              </a:rPr>
              <a:t>With positive and negative examples:  “I like low cost, broad market index funds such as VOO and SCHB. I avoid actively managed funds and anything with high turnover. Recommend 5 ETFs.”</a:t>
            </a:r>
            <a:endParaRPr lang="en-US" sz="1400" dirty="0"/>
          </a:p>
        </p:txBody>
      </p:sp>
      <p:sp>
        <p:nvSpPr>
          <p:cNvPr id="6" name="Text 4"/>
          <p:cNvSpPr/>
          <p:nvPr/>
        </p:nvSpPr>
        <p:spPr>
          <a:xfrm>
            <a:off x="548640" y="2880360"/>
            <a:ext cx="9144000" cy="365760"/>
          </a:xfrm>
          <a:prstGeom prst="rect">
            <a:avLst/>
          </a:prstGeom>
          <a:noFill/>
          <a:ln/>
        </p:spPr>
        <p:txBody>
          <a:bodyPr wrap="square" rtlCol="0" anchor="ctr"/>
          <a:lstStyle/>
          <a:p>
            <a:pPr marL="0" indent="0">
              <a:buNone/>
            </a:pPr>
            <a:r>
              <a:rPr lang="en-US" sz="1700" b="1" dirty="0">
                <a:solidFill>
                  <a:srgbClr val="14213D"/>
                </a:solidFill>
                <a:latin typeface="Cambria" pitchFamily="34" charset="0"/>
                <a:ea typeface="Cambria" pitchFamily="34" charset="-122"/>
                <a:cs typeface="Cambria" pitchFamily="34" charset="-120"/>
              </a:rPr>
              <a:t>Open XXXXX R script and try yourself.</a:t>
            </a:r>
            <a:endParaRPr lang="en-US" sz="1700" dirty="0"/>
          </a:p>
        </p:txBody>
      </p:sp>
      <p:sp>
        <p:nvSpPr>
          <p:cNvPr id="11" name="Text 9"/>
          <p:cNvSpPr/>
          <p:nvPr/>
        </p:nvSpPr>
        <p:spPr>
          <a:xfrm>
            <a:off x="548640" y="5440680"/>
            <a:ext cx="7315200" cy="365760"/>
          </a:xfrm>
          <a:prstGeom prst="rect">
            <a:avLst/>
          </a:prstGeom>
          <a:noFill/>
          <a:ln/>
        </p:spPr>
        <p:txBody>
          <a:bodyPr wrap="square" rtlCol="0" anchor="ctr"/>
          <a:lstStyle/>
          <a:p>
            <a:pPr marL="0" indent="0">
              <a:buNone/>
            </a:pPr>
            <a:r>
              <a:rPr lang="en-US" sz="1150" i="1" dirty="0">
                <a:solidFill>
                  <a:srgbClr val="8A8577"/>
                </a:solidFill>
                <a:latin typeface="Calibri" pitchFamily="34" charset="0"/>
                <a:ea typeface="Calibri" pitchFamily="34" charset="-122"/>
                <a:cs typeface="Calibri" pitchFamily="34" charset="-120"/>
              </a:rPr>
              <a:t>Files: A_examplePrompts_finance.txt</a:t>
            </a:r>
            <a:endParaRPr lang="en-US" sz="1150" dirty="0"/>
          </a:p>
        </p:txBody>
      </p:sp>
      <p:sp>
        <p:nvSpPr>
          <p:cNvPr id="12" name="Rectangle 11">
            <a:extLst>
              <a:ext uri="{FF2B5EF4-FFF2-40B4-BE49-F238E27FC236}">
                <a16:creationId xmlns:a16="http://schemas.microsoft.com/office/drawing/2014/main" id="{24C449E5-836E-0EC1-B624-8AF2A6084745}"/>
              </a:ext>
            </a:extLst>
          </p:cNvPr>
          <p:cNvSpPr/>
          <p:nvPr/>
        </p:nvSpPr>
        <p:spPr>
          <a:xfrm>
            <a:off x="2815119" y="3883631"/>
            <a:ext cx="3791164" cy="5445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Simple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CC32F-4815-413F-F4E2-36EFE08A1F8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B978A89-7D9A-C768-D14A-AC3CF207D497}"/>
              </a:ext>
            </a:extLst>
          </p:cNvPr>
          <p:cNvSpPr/>
          <p:nvPr/>
        </p:nvSpPr>
        <p:spPr>
          <a:xfrm>
            <a:off x="548640" y="411480"/>
            <a:ext cx="9144000" cy="548640"/>
          </a:xfrm>
          <a:prstGeom prst="rect">
            <a:avLst/>
          </a:prstGeom>
          <a:noFill/>
          <a:ln/>
        </p:spPr>
        <p:txBody>
          <a:bodyPr wrap="square"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Try it: same task, more constraints</a:t>
            </a:r>
            <a:endParaRPr lang="en-US" sz="2600" dirty="0"/>
          </a:p>
        </p:txBody>
      </p:sp>
      <p:sp>
        <p:nvSpPr>
          <p:cNvPr id="6" name="Text 4">
            <a:extLst>
              <a:ext uri="{FF2B5EF4-FFF2-40B4-BE49-F238E27FC236}">
                <a16:creationId xmlns:a16="http://schemas.microsoft.com/office/drawing/2014/main" id="{E13CB571-3A64-A933-0625-D894CC36D199}"/>
              </a:ext>
            </a:extLst>
          </p:cNvPr>
          <p:cNvSpPr/>
          <p:nvPr/>
        </p:nvSpPr>
        <p:spPr>
          <a:xfrm>
            <a:off x="548640" y="2880360"/>
            <a:ext cx="9144000" cy="365760"/>
          </a:xfrm>
          <a:prstGeom prst="rect">
            <a:avLst/>
          </a:prstGeom>
          <a:noFill/>
          <a:ln/>
        </p:spPr>
        <p:txBody>
          <a:bodyPr wrap="square" rtlCol="0" anchor="ctr"/>
          <a:lstStyle/>
          <a:p>
            <a:pPr marL="0" indent="0">
              <a:buNone/>
            </a:pPr>
            <a:r>
              <a:rPr lang="en-US" sz="1700" b="1" dirty="0">
                <a:solidFill>
                  <a:srgbClr val="14213D"/>
                </a:solidFill>
                <a:latin typeface="Cambria" pitchFamily="34" charset="0"/>
                <a:ea typeface="Cambria" pitchFamily="34" charset="-122"/>
                <a:cs typeface="Cambria" pitchFamily="34" charset="-120"/>
              </a:rPr>
              <a:t>Chain of thought, then contrast on a small model</a:t>
            </a:r>
            <a:endParaRPr lang="en-US" sz="1700" dirty="0"/>
          </a:p>
        </p:txBody>
      </p:sp>
      <p:sp>
        <p:nvSpPr>
          <p:cNvPr id="7" name="Shape 5">
            <a:extLst>
              <a:ext uri="{FF2B5EF4-FFF2-40B4-BE49-F238E27FC236}">
                <a16:creationId xmlns:a16="http://schemas.microsoft.com/office/drawing/2014/main" id="{B13CC800-89CA-A46C-9440-240935036A08}"/>
              </a:ext>
            </a:extLst>
          </p:cNvPr>
          <p:cNvSpPr/>
          <p:nvPr/>
        </p:nvSpPr>
        <p:spPr>
          <a:xfrm>
            <a:off x="548640" y="3337560"/>
            <a:ext cx="11064240" cy="1828800"/>
          </a:xfrm>
          <a:prstGeom prst="roundRect">
            <a:avLst>
              <a:gd name="adj" fmla="val 4000"/>
            </a:avLst>
          </a:prstGeom>
          <a:solidFill>
            <a:srgbClr val="14213D"/>
          </a:solidFill>
          <a:ln/>
        </p:spPr>
      </p:sp>
      <p:sp>
        <p:nvSpPr>
          <p:cNvPr id="8" name="Text 6">
            <a:extLst>
              <a:ext uri="{FF2B5EF4-FFF2-40B4-BE49-F238E27FC236}">
                <a16:creationId xmlns:a16="http://schemas.microsoft.com/office/drawing/2014/main" id="{791DDBCC-4A30-A184-2281-FF09641A8D26}"/>
              </a:ext>
            </a:extLst>
          </p:cNvPr>
          <p:cNvSpPr/>
          <p:nvPr/>
        </p:nvSpPr>
        <p:spPr>
          <a:xfrm>
            <a:off x="822960" y="3520440"/>
            <a:ext cx="10515600" cy="640080"/>
          </a:xfrm>
          <a:prstGeom prst="rect">
            <a:avLst/>
          </a:prstGeom>
          <a:noFill/>
          <a:ln/>
        </p:spPr>
        <p:txBody>
          <a:bodyPr wrap="square" rtlCol="0" anchor="ctr"/>
          <a:lstStyle/>
          <a:p>
            <a:pPr marL="0" indent="0">
              <a:buNone/>
            </a:pPr>
            <a:r>
              <a:rPr lang="en-US" sz="1300" i="1" dirty="0">
                <a:solidFill>
                  <a:srgbClr val="E4E9F5"/>
                </a:solidFill>
                <a:latin typeface="Calibri" pitchFamily="34" charset="0"/>
                <a:ea typeface="Calibri" pitchFamily="34" charset="-122"/>
                <a:cs typeface="Calibri" pitchFamily="34" charset="-120"/>
              </a:rPr>
              <a:t>A portfolio held 40 shares. The investor sold 15 to rebalance, then bought 8 more after a dip. How many shares now? Please explain your logic in steps.</a:t>
            </a:r>
            <a:endParaRPr lang="en-US" sz="1300" dirty="0"/>
          </a:p>
        </p:txBody>
      </p:sp>
      <p:sp>
        <p:nvSpPr>
          <p:cNvPr id="9" name="Text 7">
            <a:extLst>
              <a:ext uri="{FF2B5EF4-FFF2-40B4-BE49-F238E27FC236}">
                <a16:creationId xmlns:a16="http://schemas.microsoft.com/office/drawing/2014/main" id="{F0A32640-0401-59DE-7918-FA1484EEAF67}"/>
              </a:ext>
            </a:extLst>
          </p:cNvPr>
          <p:cNvSpPr/>
          <p:nvPr/>
        </p:nvSpPr>
        <p:spPr>
          <a:xfrm>
            <a:off x="822960" y="4160520"/>
            <a:ext cx="10515600" cy="548640"/>
          </a:xfrm>
          <a:prstGeom prst="rect">
            <a:avLst/>
          </a:prstGeom>
          <a:noFill/>
          <a:ln/>
        </p:spPr>
        <p:txBody>
          <a:bodyPr wrap="square" rtlCol="0" anchor="ctr"/>
          <a:lstStyle/>
          <a:p>
            <a:pPr marL="0" indent="0">
              <a:buNone/>
            </a:pPr>
            <a:r>
              <a:rPr lang="en-US" sz="1300" i="1" dirty="0">
                <a:solidFill>
                  <a:srgbClr val="9A6B2C"/>
                </a:solidFill>
                <a:latin typeface="Calibri" pitchFamily="34" charset="0"/>
                <a:ea typeface="Calibri" pitchFamily="34" charset="-122"/>
                <a:cs typeface="Calibri" pitchFamily="34" charset="-120"/>
              </a:rPr>
              <a:t>Contrast:  “...How many shares now? Do not give me any information except the final number.”</a:t>
            </a:r>
            <a:endParaRPr lang="en-US" sz="1300" dirty="0"/>
          </a:p>
        </p:txBody>
      </p:sp>
      <p:sp>
        <p:nvSpPr>
          <p:cNvPr id="10" name="Text 8">
            <a:extLst>
              <a:ext uri="{FF2B5EF4-FFF2-40B4-BE49-F238E27FC236}">
                <a16:creationId xmlns:a16="http://schemas.microsoft.com/office/drawing/2014/main" id="{14C90825-A34E-D795-6C5E-66037BBA1148}"/>
              </a:ext>
            </a:extLst>
          </p:cNvPr>
          <p:cNvSpPr/>
          <p:nvPr/>
        </p:nvSpPr>
        <p:spPr>
          <a:xfrm>
            <a:off x="822960" y="4709160"/>
            <a:ext cx="10424160" cy="36576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Run both on a small model (llama-3.2-1b-instruct) at temperature 1, several times. Watch whether skipping the reasoning step changes correctness, not just length.</a:t>
            </a:r>
            <a:endParaRPr lang="en-US" sz="1150" dirty="0"/>
          </a:p>
        </p:txBody>
      </p:sp>
      <p:sp>
        <p:nvSpPr>
          <p:cNvPr id="11" name="Text 9">
            <a:extLst>
              <a:ext uri="{FF2B5EF4-FFF2-40B4-BE49-F238E27FC236}">
                <a16:creationId xmlns:a16="http://schemas.microsoft.com/office/drawing/2014/main" id="{79788A81-BC5B-9A54-EDAF-59C231AF1CDC}"/>
              </a:ext>
            </a:extLst>
          </p:cNvPr>
          <p:cNvSpPr/>
          <p:nvPr/>
        </p:nvSpPr>
        <p:spPr>
          <a:xfrm>
            <a:off x="548640" y="5440680"/>
            <a:ext cx="7315200" cy="365760"/>
          </a:xfrm>
          <a:prstGeom prst="rect">
            <a:avLst/>
          </a:prstGeom>
          <a:noFill/>
          <a:ln/>
        </p:spPr>
        <p:txBody>
          <a:bodyPr wrap="square" rtlCol="0" anchor="ctr"/>
          <a:lstStyle/>
          <a:p>
            <a:pPr marL="0" indent="0">
              <a:buNone/>
            </a:pPr>
            <a:r>
              <a:rPr lang="en-US" sz="1150" i="1" dirty="0">
                <a:solidFill>
                  <a:srgbClr val="8A8577"/>
                </a:solidFill>
                <a:latin typeface="Calibri" pitchFamily="34" charset="0"/>
                <a:ea typeface="Calibri" pitchFamily="34" charset="-122"/>
                <a:cs typeface="Calibri" pitchFamily="34" charset="-120"/>
              </a:rPr>
              <a:t>Files: A_examplePrompts_finance.txt</a:t>
            </a:r>
            <a:endParaRPr lang="en-US" sz="1150" dirty="0"/>
          </a:p>
        </p:txBody>
      </p:sp>
      <p:sp>
        <p:nvSpPr>
          <p:cNvPr id="12" name="Text 4">
            <a:extLst>
              <a:ext uri="{FF2B5EF4-FFF2-40B4-BE49-F238E27FC236}">
                <a16:creationId xmlns:a16="http://schemas.microsoft.com/office/drawing/2014/main" id="{4ED697FD-17B1-37D6-43A9-860EB5EFA155}"/>
              </a:ext>
            </a:extLst>
          </p:cNvPr>
          <p:cNvSpPr/>
          <p:nvPr/>
        </p:nvSpPr>
        <p:spPr>
          <a:xfrm>
            <a:off x="548640" y="1234440"/>
            <a:ext cx="9144000" cy="365760"/>
          </a:xfrm>
          <a:prstGeom prst="rect">
            <a:avLst/>
          </a:prstGeom>
          <a:noFill/>
          <a:ln/>
        </p:spPr>
        <p:txBody>
          <a:bodyPr wrap="square" rtlCol="0" anchor="ctr"/>
          <a:lstStyle/>
          <a:p>
            <a:pPr marL="0" indent="0">
              <a:buNone/>
            </a:pPr>
            <a:r>
              <a:rPr lang="en-US" sz="1700" b="1" dirty="0">
                <a:solidFill>
                  <a:srgbClr val="14213D"/>
                </a:solidFill>
                <a:latin typeface="Cambria" pitchFamily="34" charset="0"/>
                <a:ea typeface="Cambria" pitchFamily="34" charset="-122"/>
                <a:cs typeface="Cambria" pitchFamily="34" charset="-120"/>
              </a:rPr>
              <a:t>Open XXXXX R script and try yourself.</a:t>
            </a:r>
            <a:endParaRPr lang="en-US" sz="1700" dirty="0"/>
          </a:p>
        </p:txBody>
      </p:sp>
      <p:sp>
        <p:nvSpPr>
          <p:cNvPr id="13" name="Rectangle 12">
            <a:extLst>
              <a:ext uri="{FF2B5EF4-FFF2-40B4-BE49-F238E27FC236}">
                <a16:creationId xmlns:a16="http://schemas.microsoft.com/office/drawing/2014/main" id="{AADC3921-A15C-2E47-3193-88EEDBF356C5}"/>
              </a:ext>
            </a:extLst>
          </p:cNvPr>
          <p:cNvSpPr/>
          <p:nvPr/>
        </p:nvSpPr>
        <p:spPr>
          <a:xfrm>
            <a:off x="3020602" y="1878629"/>
            <a:ext cx="3791164" cy="5445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Chain of thought</a:t>
            </a:r>
          </a:p>
        </p:txBody>
      </p:sp>
    </p:spTree>
    <p:extLst>
      <p:ext uri="{BB962C8B-B14F-4D97-AF65-F5344CB8AC3E}">
        <p14:creationId xmlns:p14="http://schemas.microsoft.com/office/powerpoint/2010/main" val="16352330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9B8A7-1683-FA2E-2A37-545F77455EF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32E1BC3-3909-4EA2-E6FC-6146DA939583}"/>
              </a:ext>
            </a:extLst>
          </p:cNvPr>
          <p:cNvSpPr/>
          <p:nvPr/>
        </p:nvSpPr>
        <p:spPr>
          <a:xfrm>
            <a:off x="548640" y="411480"/>
            <a:ext cx="9144000" cy="548640"/>
          </a:xfrm>
          <a:prstGeom prst="rect">
            <a:avLst/>
          </a:prstGeom>
          <a:noFill/>
          <a:ln/>
        </p:spPr>
        <p:txBody>
          <a:bodyPr wrap="square"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Try it: same task, more constraints</a:t>
            </a:r>
            <a:endParaRPr lang="en-US" sz="2600" dirty="0"/>
          </a:p>
        </p:txBody>
      </p:sp>
      <p:sp>
        <p:nvSpPr>
          <p:cNvPr id="3" name="Shape 1">
            <a:extLst>
              <a:ext uri="{FF2B5EF4-FFF2-40B4-BE49-F238E27FC236}">
                <a16:creationId xmlns:a16="http://schemas.microsoft.com/office/drawing/2014/main" id="{F3C89808-3E38-DF91-184F-C0C50167E6B5}"/>
              </a:ext>
            </a:extLst>
          </p:cNvPr>
          <p:cNvSpPr/>
          <p:nvPr/>
        </p:nvSpPr>
        <p:spPr>
          <a:xfrm>
            <a:off x="548640" y="1188720"/>
            <a:ext cx="11064240" cy="1417320"/>
          </a:xfrm>
          <a:prstGeom prst="roundRect">
            <a:avLst>
              <a:gd name="adj" fmla="val 5161"/>
            </a:avLst>
          </a:prstGeom>
          <a:solidFill>
            <a:srgbClr val="FFFFFF"/>
          </a:solidFill>
          <a:ln/>
          <a:effectLst>
            <a:outerShdw blurRad="63500" dist="25400" dir="5400000" algn="bl" rotWithShape="0">
              <a:srgbClr val="000000">
                <a:alpha val="8000"/>
              </a:srgbClr>
            </a:outerShdw>
          </a:effectLst>
        </p:spPr>
      </p:sp>
      <p:sp>
        <p:nvSpPr>
          <p:cNvPr id="4" name="Text 2">
            <a:extLst>
              <a:ext uri="{FF2B5EF4-FFF2-40B4-BE49-F238E27FC236}">
                <a16:creationId xmlns:a16="http://schemas.microsoft.com/office/drawing/2014/main" id="{E728F595-F55C-BB8B-5C88-18DE45B5C265}"/>
              </a:ext>
            </a:extLst>
          </p:cNvPr>
          <p:cNvSpPr/>
          <p:nvPr/>
        </p:nvSpPr>
        <p:spPr>
          <a:xfrm>
            <a:off x="822960" y="1371600"/>
            <a:ext cx="10515600" cy="365760"/>
          </a:xfrm>
          <a:prstGeom prst="rect">
            <a:avLst/>
          </a:prstGeom>
          <a:noFill/>
          <a:ln/>
        </p:spPr>
        <p:txBody>
          <a:bodyPr wrap="square" rtlCol="0" anchor="ctr"/>
          <a:lstStyle/>
          <a:p>
            <a:pPr marL="0" indent="0">
              <a:buNone/>
            </a:pPr>
            <a:r>
              <a:rPr lang="en-US" sz="1400" i="1" dirty="0">
                <a:solidFill>
                  <a:srgbClr val="3A3F4B"/>
                </a:solidFill>
                <a:latin typeface="Cambria" pitchFamily="34" charset="0"/>
                <a:ea typeface="Cambria" pitchFamily="34" charset="-122"/>
                <a:cs typeface="Cambria" pitchFamily="34" charset="-120"/>
              </a:rPr>
              <a:t>Bare request:  “Recommend 5 ETFs I might like.”</a:t>
            </a:r>
            <a:endParaRPr lang="en-US" sz="1400" dirty="0"/>
          </a:p>
        </p:txBody>
      </p:sp>
      <p:sp>
        <p:nvSpPr>
          <p:cNvPr id="5" name="Text 3">
            <a:extLst>
              <a:ext uri="{FF2B5EF4-FFF2-40B4-BE49-F238E27FC236}">
                <a16:creationId xmlns:a16="http://schemas.microsoft.com/office/drawing/2014/main" id="{856FB6E3-1E30-EF01-4CFB-A3EE32C7BA5E}"/>
              </a:ext>
            </a:extLst>
          </p:cNvPr>
          <p:cNvSpPr/>
          <p:nvPr/>
        </p:nvSpPr>
        <p:spPr>
          <a:xfrm>
            <a:off x="822960" y="1783080"/>
            <a:ext cx="10515600" cy="731520"/>
          </a:xfrm>
          <a:prstGeom prst="rect">
            <a:avLst/>
          </a:prstGeom>
          <a:noFill/>
          <a:ln/>
        </p:spPr>
        <p:txBody>
          <a:bodyPr wrap="square" rtlCol="0" anchor="ctr"/>
          <a:lstStyle/>
          <a:p>
            <a:pPr marL="0" indent="0">
              <a:buNone/>
            </a:pPr>
            <a:r>
              <a:rPr lang="en-US" sz="1400" i="1" dirty="0">
                <a:solidFill>
                  <a:srgbClr val="14213D"/>
                </a:solidFill>
                <a:latin typeface="Cambria" pitchFamily="34" charset="0"/>
                <a:ea typeface="Cambria" pitchFamily="34" charset="-122"/>
                <a:cs typeface="Cambria" pitchFamily="34" charset="-120"/>
              </a:rPr>
              <a:t>With positive and negative examples:  “I like low cost, broad market index funds such as VOO and SCHB. I avoid actively managed funds and anything with high turnover. Recommend 5 ETFs.”</a:t>
            </a:r>
            <a:endParaRPr lang="en-US" sz="1400" dirty="0"/>
          </a:p>
        </p:txBody>
      </p:sp>
      <p:sp>
        <p:nvSpPr>
          <p:cNvPr id="6" name="Text 4">
            <a:extLst>
              <a:ext uri="{FF2B5EF4-FFF2-40B4-BE49-F238E27FC236}">
                <a16:creationId xmlns:a16="http://schemas.microsoft.com/office/drawing/2014/main" id="{0F3E49A7-0B21-132A-080E-4850DD26A210}"/>
              </a:ext>
            </a:extLst>
          </p:cNvPr>
          <p:cNvSpPr/>
          <p:nvPr/>
        </p:nvSpPr>
        <p:spPr>
          <a:xfrm>
            <a:off x="548640" y="2880360"/>
            <a:ext cx="9144000" cy="365760"/>
          </a:xfrm>
          <a:prstGeom prst="rect">
            <a:avLst/>
          </a:prstGeom>
          <a:noFill/>
          <a:ln/>
        </p:spPr>
        <p:txBody>
          <a:bodyPr wrap="square" rtlCol="0" anchor="ctr"/>
          <a:lstStyle/>
          <a:p>
            <a:pPr marL="0" indent="0">
              <a:buNone/>
            </a:pPr>
            <a:r>
              <a:rPr lang="en-US" sz="1700" b="1" dirty="0">
                <a:solidFill>
                  <a:srgbClr val="14213D"/>
                </a:solidFill>
                <a:latin typeface="Cambria" pitchFamily="34" charset="0"/>
                <a:ea typeface="Cambria" pitchFamily="34" charset="-122"/>
                <a:cs typeface="Cambria" pitchFamily="34" charset="-120"/>
              </a:rPr>
              <a:t>Chain of thought, then contrast on a small model</a:t>
            </a:r>
            <a:endParaRPr lang="en-US" sz="1700" dirty="0"/>
          </a:p>
        </p:txBody>
      </p:sp>
      <p:sp>
        <p:nvSpPr>
          <p:cNvPr id="7" name="Shape 5">
            <a:extLst>
              <a:ext uri="{FF2B5EF4-FFF2-40B4-BE49-F238E27FC236}">
                <a16:creationId xmlns:a16="http://schemas.microsoft.com/office/drawing/2014/main" id="{02D11061-46FD-B194-644F-B548C25FB0CE}"/>
              </a:ext>
            </a:extLst>
          </p:cNvPr>
          <p:cNvSpPr/>
          <p:nvPr/>
        </p:nvSpPr>
        <p:spPr>
          <a:xfrm>
            <a:off x="548640" y="3337560"/>
            <a:ext cx="11064240" cy="1828800"/>
          </a:xfrm>
          <a:prstGeom prst="roundRect">
            <a:avLst>
              <a:gd name="adj" fmla="val 4000"/>
            </a:avLst>
          </a:prstGeom>
          <a:solidFill>
            <a:srgbClr val="14213D"/>
          </a:solidFill>
          <a:ln/>
        </p:spPr>
      </p:sp>
      <p:sp>
        <p:nvSpPr>
          <p:cNvPr id="8" name="Text 6">
            <a:extLst>
              <a:ext uri="{FF2B5EF4-FFF2-40B4-BE49-F238E27FC236}">
                <a16:creationId xmlns:a16="http://schemas.microsoft.com/office/drawing/2014/main" id="{30158D16-EB14-844E-4420-C189BA4797C8}"/>
              </a:ext>
            </a:extLst>
          </p:cNvPr>
          <p:cNvSpPr/>
          <p:nvPr/>
        </p:nvSpPr>
        <p:spPr>
          <a:xfrm>
            <a:off x="822960" y="3520440"/>
            <a:ext cx="10515600" cy="640080"/>
          </a:xfrm>
          <a:prstGeom prst="rect">
            <a:avLst/>
          </a:prstGeom>
          <a:noFill/>
          <a:ln/>
        </p:spPr>
        <p:txBody>
          <a:bodyPr wrap="square" rtlCol="0" anchor="ctr"/>
          <a:lstStyle/>
          <a:p>
            <a:pPr marL="0" indent="0">
              <a:buNone/>
            </a:pPr>
            <a:r>
              <a:rPr lang="en-US" sz="1300" i="1" dirty="0">
                <a:solidFill>
                  <a:srgbClr val="E4E9F5"/>
                </a:solidFill>
                <a:latin typeface="Calibri" pitchFamily="34" charset="0"/>
                <a:ea typeface="Calibri" pitchFamily="34" charset="-122"/>
                <a:cs typeface="Calibri" pitchFamily="34" charset="-120"/>
              </a:rPr>
              <a:t>A portfolio held 40 shares. The investor sold 15 to rebalance, then bought 8 more after a dip. How many shares now? Please explain your logic in steps.</a:t>
            </a:r>
            <a:endParaRPr lang="en-US" sz="1300" dirty="0"/>
          </a:p>
        </p:txBody>
      </p:sp>
      <p:sp>
        <p:nvSpPr>
          <p:cNvPr id="9" name="Text 7">
            <a:extLst>
              <a:ext uri="{FF2B5EF4-FFF2-40B4-BE49-F238E27FC236}">
                <a16:creationId xmlns:a16="http://schemas.microsoft.com/office/drawing/2014/main" id="{465A0A78-5654-6C89-280B-3DB0116A26D7}"/>
              </a:ext>
            </a:extLst>
          </p:cNvPr>
          <p:cNvSpPr/>
          <p:nvPr/>
        </p:nvSpPr>
        <p:spPr>
          <a:xfrm>
            <a:off x="822960" y="4160520"/>
            <a:ext cx="10515600" cy="548640"/>
          </a:xfrm>
          <a:prstGeom prst="rect">
            <a:avLst/>
          </a:prstGeom>
          <a:noFill/>
          <a:ln/>
        </p:spPr>
        <p:txBody>
          <a:bodyPr wrap="square" rtlCol="0" anchor="ctr"/>
          <a:lstStyle/>
          <a:p>
            <a:pPr marL="0" indent="0">
              <a:buNone/>
            </a:pPr>
            <a:r>
              <a:rPr lang="en-US" sz="1300" i="1" dirty="0">
                <a:solidFill>
                  <a:srgbClr val="9A6B2C"/>
                </a:solidFill>
                <a:latin typeface="Calibri" pitchFamily="34" charset="0"/>
                <a:ea typeface="Calibri" pitchFamily="34" charset="-122"/>
                <a:cs typeface="Calibri" pitchFamily="34" charset="-120"/>
              </a:rPr>
              <a:t>Contrast:  “...How many shares now? Do not give me any information except the final number.”</a:t>
            </a:r>
            <a:endParaRPr lang="en-US" sz="1300" dirty="0"/>
          </a:p>
        </p:txBody>
      </p:sp>
      <p:sp>
        <p:nvSpPr>
          <p:cNvPr id="10" name="Text 8">
            <a:extLst>
              <a:ext uri="{FF2B5EF4-FFF2-40B4-BE49-F238E27FC236}">
                <a16:creationId xmlns:a16="http://schemas.microsoft.com/office/drawing/2014/main" id="{A6FAD2AC-161E-893B-F6A1-6A677E1E40CA}"/>
              </a:ext>
            </a:extLst>
          </p:cNvPr>
          <p:cNvSpPr/>
          <p:nvPr/>
        </p:nvSpPr>
        <p:spPr>
          <a:xfrm>
            <a:off x="822960" y="4709160"/>
            <a:ext cx="10424160" cy="36576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Run both on a small model (llama-3.2-1b-instruct) at temperature 1, several times. Watch whether skipping the reasoning step changes correctness, not just length.</a:t>
            </a:r>
            <a:endParaRPr lang="en-US" sz="1150" dirty="0"/>
          </a:p>
        </p:txBody>
      </p:sp>
      <p:sp>
        <p:nvSpPr>
          <p:cNvPr id="11" name="Text 9">
            <a:extLst>
              <a:ext uri="{FF2B5EF4-FFF2-40B4-BE49-F238E27FC236}">
                <a16:creationId xmlns:a16="http://schemas.microsoft.com/office/drawing/2014/main" id="{DF8326C5-D2EE-A4EC-7052-DB8CA9B91F74}"/>
              </a:ext>
            </a:extLst>
          </p:cNvPr>
          <p:cNvSpPr/>
          <p:nvPr/>
        </p:nvSpPr>
        <p:spPr>
          <a:xfrm>
            <a:off x="548640" y="5440680"/>
            <a:ext cx="7315200" cy="365760"/>
          </a:xfrm>
          <a:prstGeom prst="rect">
            <a:avLst/>
          </a:prstGeom>
          <a:noFill/>
          <a:ln/>
        </p:spPr>
        <p:txBody>
          <a:bodyPr wrap="square" rtlCol="0" anchor="ctr"/>
          <a:lstStyle/>
          <a:p>
            <a:pPr marL="0" indent="0">
              <a:buNone/>
            </a:pPr>
            <a:r>
              <a:rPr lang="en-US" sz="1150" i="1" dirty="0">
                <a:solidFill>
                  <a:srgbClr val="8A8577"/>
                </a:solidFill>
                <a:latin typeface="Calibri" pitchFamily="34" charset="0"/>
                <a:ea typeface="Calibri" pitchFamily="34" charset="-122"/>
                <a:cs typeface="Calibri" pitchFamily="34" charset="-120"/>
              </a:rPr>
              <a:t>Files: A_examplePrompts_finance.txt</a:t>
            </a:r>
            <a:endParaRPr lang="en-US" sz="1150" dirty="0"/>
          </a:p>
        </p:txBody>
      </p:sp>
      <p:sp>
        <p:nvSpPr>
          <p:cNvPr id="12" name="Rectangle 11">
            <a:extLst>
              <a:ext uri="{FF2B5EF4-FFF2-40B4-BE49-F238E27FC236}">
                <a16:creationId xmlns:a16="http://schemas.microsoft.com/office/drawing/2014/main" id="{3E3179D5-1E21-F0E1-D788-B87233796E99}"/>
              </a:ext>
            </a:extLst>
          </p:cNvPr>
          <p:cNvSpPr/>
          <p:nvPr/>
        </p:nvSpPr>
        <p:spPr>
          <a:xfrm>
            <a:off x="2815119" y="3883631"/>
            <a:ext cx="3791164" cy="5445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Contrastive</a:t>
            </a:r>
          </a:p>
        </p:txBody>
      </p:sp>
    </p:spTree>
    <p:extLst>
      <p:ext uri="{BB962C8B-B14F-4D97-AF65-F5344CB8AC3E}">
        <p14:creationId xmlns:p14="http://schemas.microsoft.com/office/powerpoint/2010/main" val="18754964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F6524-776C-FC45-62E2-C81BEEC83BE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FA5EE38-03D2-0845-29BD-649BCD53E135}"/>
              </a:ext>
            </a:extLst>
          </p:cNvPr>
          <p:cNvSpPr/>
          <p:nvPr/>
        </p:nvSpPr>
        <p:spPr>
          <a:xfrm>
            <a:off x="548640" y="411480"/>
            <a:ext cx="9144000" cy="548640"/>
          </a:xfrm>
          <a:prstGeom prst="rect">
            <a:avLst/>
          </a:prstGeom>
          <a:noFill/>
          <a:ln/>
        </p:spPr>
        <p:txBody>
          <a:bodyPr wrap="square"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Try it: same task, more constraints</a:t>
            </a:r>
            <a:endParaRPr lang="en-US" sz="2600" dirty="0"/>
          </a:p>
        </p:txBody>
      </p:sp>
      <p:sp>
        <p:nvSpPr>
          <p:cNvPr id="3" name="Shape 1">
            <a:extLst>
              <a:ext uri="{FF2B5EF4-FFF2-40B4-BE49-F238E27FC236}">
                <a16:creationId xmlns:a16="http://schemas.microsoft.com/office/drawing/2014/main" id="{82E60269-57DB-D7F4-2A8C-800C74FFB1D0}"/>
              </a:ext>
            </a:extLst>
          </p:cNvPr>
          <p:cNvSpPr/>
          <p:nvPr/>
        </p:nvSpPr>
        <p:spPr>
          <a:xfrm>
            <a:off x="548640" y="1188720"/>
            <a:ext cx="11064240" cy="1417320"/>
          </a:xfrm>
          <a:prstGeom prst="roundRect">
            <a:avLst>
              <a:gd name="adj" fmla="val 5161"/>
            </a:avLst>
          </a:prstGeom>
          <a:solidFill>
            <a:srgbClr val="FFFFFF"/>
          </a:solidFill>
          <a:ln/>
          <a:effectLst>
            <a:outerShdw blurRad="63500" dist="25400" dir="5400000" algn="bl" rotWithShape="0">
              <a:srgbClr val="000000">
                <a:alpha val="8000"/>
              </a:srgbClr>
            </a:outerShdw>
          </a:effectLst>
        </p:spPr>
      </p:sp>
      <p:sp>
        <p:nvSpPr>
          <p:cNvPr id="4" name="Text 2">
            <a:extLst>
              <a:ext uri="{FF2B5EF4-FFF2-40B4-BE49-F238E27FC236}">
                <a16:creationId xmlns:a16="http://schemas.microsoft.com/office/drawing/2014/main" id="{5446E482-CE9B-2C02-958D-BDF601314924}"/>
              </a:ext>
            </a:extLst>
          </p:cNvPr>
          <p:cNvSpPr/>
          <p:nvPr/>
        </p:nvSpPr>
        <p:spPr>
          <a:xfrm>
            <a:off x="822960" y="1371600"/>
            <a:ext cx="10515600" cy="365760"/>
          </a:xfrm>
          <a:prstGeom prst="rect">
            <a:avLst/>
          </a:prstGeom>
          <a:noFill/>
          <a:ln/>
        </p:spPr>
        <p:txBody>
          <a:bodyPr wrap="square" rtlCol="0" anchor="ctr"/>
          <a:lstStyle/>
          <a:p>
            <a:pPr marL="0" indent="0">
              <a:buNone/>
            </a:pPr>
            <a:r>
              <a:rPr lang="en-US" sz="1400" i="1" dirty="0">
                <a:solidFill>
                  <a:srgbClr val="3A3F4B"/>
                </a:solidFill>
                <a:latin typeface="Cambria" pitchFamily="34" charset="0"/>
                <a:ea typeface="Cambria" pitchFamily="34" charset="-122"/>
                <a:cs typeface="Cambria" pitchFamily="34" charset="-120"/>
              </a:rPr>
              <a:t>Bare request:  “Recommend 5 ETFs I might like.”</a:t>
            </a:r>
            <a:endParaRPr lang="en-US" sz="1400" dirty="0"/>
          </a:p>
        </p:txBody>
      </p:sp>
      <p:sp>
        <p:nvSpPr>
          <p:cNvPr id="5" name="Text 3">
            <a:extLst>
              <a:ext uri="{FF2B5EF4-FFF2-40B4-BE49-F238E27FC236}">
                <a16:creationId xmlns:a16="http://schemas.microsoft.com/office/drawing/2014/main" id="{115B3E7C-306A-F404-E640-35D1CE8C1DE8}"/>
              </a:ext>
            </a:extLst>
          </p:cNvPr>
          <p:cNvSpPr/>
          <p:nvPr/>
        </p:nvSpPr>
        <p:spPr>
          <a:xfrm>
            <a:off x="822960" y="1783080"/>
            <a:ext cx="10515600" cy="731520"/>
          </a:xfrm>
          <a:prstGeom prst="rect">
            <a:avLst/>
          </a:prstGeom>
          <a:noFill/>
          <a:ln/>
        </p:spPr>
        <p:txBody>
          <a:bodyPr wrap="square" rtlCol="0" anchor="ctr"/>
          <a:lstStyle/>
          <a:p>
            <a:pPr marL="0" indent="0">
              <a:buNone/>
            </a:pPr>
            <a:r>
              <a:rPr lang="en-US" sz="1400" i="1" dirty="0">
                <a:solidFill>
                  <a:srgbClr val="14213D"/>
                </a:solidFill>
                <a:latin typeface="Cambria" pitchFamily="34" charset="0"/>
                <a:ea typeface="Cambria" pitchFamily="34" charset="-122"/>
                <a:cs typeface="Cambria" pitchFamily="34" charset="-120"/>
              </a:rPr>
              <a:t>With positive and negative examples:  “I like low cost, broad market index funds such as VOO and SCHB. I avoid actively managed funds and anything with high turnover. Recommend 5 ETFs.”</a:t>
            </a:r>
            <a:endParaRPr lang="en-US" sz="1400" dirty="0"/>
          </a:p>
        </p:txBody>
      </p:sp>
      <p:sp>
        <p:nvSpPr>
          <p:cNvPr id="6" name="Text 4">
            <a:extLst>
              <a:ext uri="{FF2B5EF4-FFF2-40B4-BE49-F238E27FC236}">
                <a16:creationId xmlns:a16="http://schemas.microsoft.com/office/drawing/2014/main" id="{E64F4BB8-673E-84CF-FBB8-5D034C3B7C92}"/>
              </a:ext>
            </a:extLst>
          </p:cNvPr>
          <p:cNvSpPr/>
          <p:nvPr/>
        </p:nvSpPr>
        <p:spPr>
          <a:xfrm>
            <a:off x="548640" y="2880360"/>
            <a:ext cx="9144000" cy="365760"/>
          </a:xfrm>
          <a:prstGeom prst="rect">
            <a:avLst/>
          </a:prstGeom>
          <a:noFill/>
          <a:ln/>
        </p:spPr>
        <p:txBody>
          <a:bodyPr wrap="square" rtlCol="0" anchor="ctr"/>
          <a:lstStyle/>
          <a:p>
            <a:pPr marL="0" indent="0">
              <a:buNone/>
            </a:pPr>
            <a:r>
              <a:rPr lang="en-US" sz="1700" b="1" dirty="0">
                <a:solidFill>
                  <a:srgbClr val="14213D"/>
                </a:solidFill>
                <a:latin typeface="Cambria" pitchFamily="34" charset="0"/>
                <a:ea typeface="Cambria" pitchFamily="34" charset="-122"/>
                <a:cs typeface="Cambria" pitchFamily="34" charset="-120"/>
              </a:rPr>
              <a:t>Chain of thought, then contrast on a small model</a:t>
            </a:r>
            <a:endParaRPr lang="en-US" sz="1700" dirty="0"/>
          </a:p>
        </p:txBody>
      </p:sp>
      <p:sp>
        <p:nvSpPr>
          <p:cNvPr id="7" name="Shape 5">
            <a:extLst>
              <a:ext uri="{FF2B5EF4-FFF2-40B4-BE49-F238E27FC236}">
                <a16:creationId xmlns:a16="http://schemas.microsoft.com/office/drawing/2014/main" id="{620D7F52-BC22-1BBF-C945-FF4445BA9666}"/>
              </a:ext>
            </a:extLst>
          </p:cNvPr>
          <p:cNvSpPr/>
          <p:nvPr/>
        </p:nvSpPr>
        <p:spPr>
          <a:xfrm>
            <a:off x="548640" y="3337560"/>
            <a:ext cx="11064240" cy="1828800"/>
          </a:xfrm>
          <a:prstGeom prst="roundRect">
            <a:avLst>
              <a:gd name="adj" fmla="val 4000"/>
            </a:avLst>
          </a:prstGeom>
          <a:solidFill>
            <a:srgbClr val="14213D"/>
          </a:solidFill>
          <a:ln/>
        </p:spPr>
      </p:sp>
      <p:sp>
        <p:nvSpPr>
          <p:cNvPr id="8" name="Text 6">
            <a:extLst>
              <a:ext uri="{FF2B5EF4-FFF2-40B4-BE49-F238E27FC236}">
                <a16:creationId xmlns:a16="http://schemas.microsoft.com/office/drawing/2014/main" id="{79889F8C-2AFE-8A48-6609-6B32D4EF2F8D}"/>
              </a:ext>
            </a:extLst>
          </p:cNvPr>
          <p:cNvSpPr/>
          <p:nvPr/>
        </p:nvSpPr>
        <p:spPr>
          <a:xfrm>
            <a:off x="822960" y="3520440"/>
            <a:ext cx="10515600" cy="640080"/>
          </a:xfrm>
          <a:prstGeom prst="rect">
            <a:avLst/>
          </a:prstGeom>
          <a:noFill/>
          <a:ln/>
        </p:spPr>
        <p:txBody>
          <a:bodyPr wrap="square" rtlCol="0" anchor="ctr"/>
          <a:lstStyle/>
          <a:p>
            <a:pPr marL="0" indent="0">
              <a:buNone/>
            </a:pPr>
            <a:r>
              <a:rPr lang="en-US" sz="1300" i="1" dirty="0">
                <a:solidFill>
                  <a:srgbClr val="E4E9F5"/>
                </a:solidFill>
                <a:latin typeface="Calibri" pitchFamily="34" charset="0"/>
                <a:ea typeface="Calibri" pitchFamily="34" charset="-122"/>
                <a:cs typeface="Calibri" pitchFamily="34" charset="-120"/>
              </a:rPr>
              <a:t>A portfolio held 40 shares. The investor sold 15 to rebalance, then bought 8 more after a dip. How many shares now? Please explain your logic in steps.</a:t>
            </a:r>
            <a:endParaRPr lang="en-US" sz="1300" dirty="0"/>
          </a:p>
        </p:txBody>
      </p:sp>
      <p:sp>
        <p:nvSpPr>
          <p:cNvPr id="9" name="Text 7">
            <a:extLst>
              <a:ext uri="{FF2B5EF4-FFF2-40B4-BE49-F238E27FC236}">
                <a16:creationId xmlns:a16="http://schemas.microsoft.com/office/drawing/2014/main" id="{96B503DF-2C68-34BF-9278-396413CA1679}"/>
              </a:ext>
            </a:extLst>
          </p:cNvPr>
          <p:cNvSpPr/>
          <p:nvPr/>
        </p:nvSpPr>
        <p:spPr>
          <a:xfrm>
            <a:off x="822960" y="4160520"/>
            <a:ext cx="10515600" cy="548640"/>
          </a:xfrm>
          <a:prstGeom prst="rect">
            <a:avLst/>
          </a:prstGeom>
          <a:noFill/>
          <a:ln/>
        </p:spPr>
        <p:txBody>
          <a:bodyPr wrap="square" rtlCol="0" anchor="ctr"/>
          <a:lstStyle/>
          <a:p>
            <a:pPr marL="0" indent="0">
              <a:buNone/>
            </a:pPr>
            <a:r>
              <a:rPr lang="en-US" sz="1300" i="1" dirty="0">
                <a:solidFill>
                  <a:srgbClr val="9A6B2C"/>
                </a:solidFill>
                <a:latin typeface="Calibri" pitchFamily="34" charset="0"/>
                <a:ea typeface="Calibri" pitchFamily="34" charset="-122"/>
                <a:cs typeface="Calibri" pitchFamily="34" charset="-120"/>
              </a:rPr>
              <a:t>Contrast:  “...How many shares now? Do not give me any information except the final number.”</a:t>
            </a:r>
            <a:endParaRPr lang="en-US" sz="1300" dirty="0"/>
          </a:p>
        </p:txBody>
      </p:sp>
      <p:sp>
        <p:nvSpPr>
          <p:cNvPr id="10" name="Text 8">
            <a:extLst>
              <a:ext uri="{FF2B5EF4-FFF2-40B4-BE49-F238E27FC236}">
                <a16:creationId xmlns:a16="http://schemas.microsoft.com/office/drawing/2014/main" id="{7CA09ECC-3593-E751-D8A5-F3DAF7063BAC}"/>
              </a:ext>
            </a:extLst>
          </p:cNvPr>
          <p:cNvSpPr/>
          <p:nvPr/>
        </p:nvSpPr>
        <p:spPr>
          <a:xfrm>
            <a:off x="822960" y="4709160"/>
            <a:ext cx="10424160" cy="36576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Run both on a small model (llama-3.2-1b-instruct) at temperature 1, several times. Watch whether skipping the reasoning step changes correctness, not just length.</a:t>
            </a:r>
            <a:endParaRPr lang="en-US" sz="1150" dirty="0"/>
          </a:p>
        </p:txBody>
      </p:sp>
      <p:sp>
        <p:nvSpPr>
          <p:cNvPr id="11" name="Text 9">
            <a:extLst>
              <a:ext uri="{FF2B5EF4-FFF2-40B4-BE49-F238E27FC236}">
                <a16:creationId xmlns:a16="http://schemas.microsoft.com/office/drawing/2014/main" id="{8A54BECA-919C-3B4F-6622-E198FFEFF49F}"/>
              </a:ext>
            </a:extLst>
          </p:cNvPr>
          <p:cNvSpPr/>
          <p:nvPr/>
        </p:nvSpPr>
        <p:spPr>
          <a:xfrm>
            <a:off x="548640" y="5440680"/>
            <a:ext cx="7315200" cy="365760"/>
          </a:xfrm>
          <a:prstGeom prst="rect">
            <a:avLst/>
          </a:prstGeom>
          <a:noFill/>
          <a:ln/>
        </p:spPr>
        <p:txBody>
          <a:bodyPr wrap="square" rtlCol="0" anchor="ctr"/>
          <a:lstStyle/>
          <a:p>
            <a:pPr marL="0" indent="0">
              <a:buNone/>
            </a:pPr>
            <a:r>
              <a:rPr lang="en-US" sz="1150" i="1" dirty="0">
                <a:solidFill>
                  <a:srgbClr val="8A8577"/>
                </a:solidFill>
                <a:latin typeface="Calibri" pitchFamily="34" charset="0"/>
                <a:ea typeface="Calibri" pitchFamily="34" charset="-122"/>
                <a:cs typeface="Calibri" pitchFamily="34" charset="-120"/>
              </a:rPr>
              <a:t>Files: A_examplePrompts_finance.txt</a:t>
            </a:r>
            <a:endParaRPr lang="en-US" sz="1150" dirty="0"/>
          </a:p>
        </p:txBody>
      </p:sp>
      <p:sp>
        <p:nvSpPr>
          <p:cNvPr id="12" name="Rectangle 11">
            <a:extLst>
              <a:ext uri="{FF2B5EF4-FFF2-40B4-BE49-F238E27FC236}">
                <a16:creationId xmlns:a16="http://schemas.microsoft.com/office/drawing/2014/main" id="{94054FA0-9E1A-870F-F0C0-862B595828DE}"/>
              </a:ext>
            </a:extLst>
          </p:cNvPr>
          <p:cNvSpPr/>
          <p:nvPr/>
        </p:nvSpPr>
        <p:spPr>
          <a:xfrm>
            <a:off x="2815119" y="3883631"/>
            <a:ext cx="3791164" cy="5445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Random number between 1-50</a:t>
            </a:r>
          </a:p>
        </p:txBody>
      </p:sp>
    </p:spTree>
    <p:extLst>
      <p:ext uri="{BB962C8B-B14F-4D97-AF65-F5344CB8AC3E}">
        <p14:creationId xmlns:p14="http://schemas.microsoft.com/office/powerpoint/2010/main" val="23438487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Going deeper: the COSTAR framework</a:t>
            </a:r>
            <a:endParaRPr lang="en-US" sz="2600" dirty="0"/>
          </a:p>
        </p:txBody>
      </p:sp>
      <p:sp>
        <p:nvSpPr>
          <p:cNvPr id="3" name="Text 1"/>
          <p:cNvSpPr/>
          <p:nvPr/>
        </p:nvSpPr>
        <p:spPr>
          <a:xfrm>
            <a:off x="548640" y="960120"/>
            <a:ext cx="10515600" cy="365760"/>
          </a:xfrm>
          <a:prstGeom prst="rect">
            <a:avLst/>
          </a:prstGeom>
          <a:noFill/>
          <a:ln/>
        </p:spPr>
        <p:txBody>
          <a:bodyPr wrap="square" rtlCol="0" anchor="ctr"/>
          <a:lstStyle/>
          <a:p>
            <a:pPr marL="0" indent="0">
              <a:buNone/>
            </a:pPr>
            <a:r>
              <a:rPr lang="en-US" sz="1350" i="1" dirty="0">
                <a:solidFill>
                  <a:srgbClr val="3A3F4B"/>
                </a:solidFill>
                <a:latin typeface="Calibri" pitchFamily="34" charset="0"/>
                <a:ea typeface="Calibri" pitchFamily="34" charset="-122"/>
                <a:cs typeface="Calibri" pitchFamily="34" charset="-120"/>
              </a:rPr>
              <a:t>One of several structured frameworks online. Worth the extra effort for prompts you will reuse often.</a:t>
            </a:r>
            <a:endParaRPr lang="en-US" sz="1350" dirty="0"/>
          </a:p>
        </p:txBody>
      </p:sp>
      <p:sp>
        <p:nvSpPr>
          <p:cNvPr id="4" name="Shape 2"/>
          <p:cNvSpPr/>
          <p:nvPr/>
        </p:nvSpPr>
        <p:spPr>
          <a:xfrm>
            <a:off x="548640" y="1508760"/>
            <a:ext cx="3611880" cy="1417320"/>
          </a:xfrm>
          <a:prstGeom prst="roundRect">
            <a:avLst>
              <a:gd name="adj" fmla="val 4516"/>
            </a:avLst>
          </a:prstGeom>
          <a:solidFill>
            <a:srgbClr val="FFFFFF"/>
          </a:solidFill>
          <a:ln/>
          <a:effectLst>
            <a:outerShdw blurRad="63500" dist="25400" dir="5400000" algn="bl" rotWithShape="0">
              <a:srgbClr val="000000">
                <a:alpha val="7000"/>
              </a:srgbClr>
            </a:outerShdw>
          </a:effectLst>
        </p:spPr>
      </p:sp>
      <p:sp>
        <p:nvSpPr>
          <p:cNvPr id="5" name="Text 3"/>
          <p:cNvSpPr/>
          <p:nvPr/>
        </p:nvSpPr>
        <p:spPr>
          <a:xfrm>
            <a:off x="731520" y="1645920"/>
            <a:ext cx="3246120" cy="365760"/>
          </a:xfrm>
          <a:prstGeom prst="rect">
            <a:avLst/>
          </a:prstGeom>
          <a:noFill/>
          <a:ln/>
        </p:spPr>
        <p:txBody>
          <a:bodyPr wrap="square" rtlCol="0" anchor="ctr"/>
          <a:lstStyle/>
          <a:p>
            <a:pPr marL="0" indent="0">
              <a:buNone/>
            </a:pPr>
            <a:r>
              <a:rPr lang="en-US" sz="1500" b="1" dirty="0">
                <a:solidFill>
                  <a:srgbClr val="9A6B2C"/>
                </a:solidFill>
                <a:latin typeface="Cambria" pitchFamily="34" charset="0"/>
                <a:ea typeface="Cambria" pitchFamily="34" charset="-122"/>
                <a:cs typeface="Cambria" pitchFamily="34" charset="-120"/>
              </a:rPr>
              <a:t>Context</a:t>
            </a:r>
            <a:endParaRPr lang="en-US" sz="1500" dirty="0"/>
          </a:p>
        </p:txBody>
      </p:sp>
      <p:sp>
        <p:nvSpPr>
          <p:cNvPr id="6" name="Text 4"/>
          <p:cNvSpPr/>
          <p:nvPr/>
        </p:nvSpPr>
        <p:spPr>
          <a:xfrm>
            <a:off x="731520" y="2011680"/>
            <a:ext cx="3246120" cy="82296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Background that helps the model understand the specific scenario.</a:t>
            </a:r>
            <a:endParaRPr lang="en-US" sz="1150" dirty="0"/>
          </a:p>
        </p:txBody>
      </p:sp>
      <p:sp>
        <p:nvSpPr>
          <p:cNvPr id="7" name="Shape 5"/>
          <p:cNvSpPr/>
          <p:nvPr/>
        </p:nvSpPr>
        <p:spPr>
          <a:xfrm>
            <a:off x="4325112" y="1508760"/>
            <a:ext cx="3611880" cy="1417320"/>
          </a:xfrm>
          <a:prstGeom prst="roundRect">
            <a:avLst>
              <a:gd name="adj" fmla="val 4516"/>
            </a:avLst>
          </a:prstGeom>
          <a:solidFill>
            <a:srgbClr val="FFFFFF"/>
          </a:solidFill>
          <a:ln/>
          <a:effectLst>
            <a:outerShdw blurRad="63500" dist="25400" dir="5400000" algn="bl" rotWithShape="0">
              <a:srgbClr val="000000">
                <a:alpha val="7000"/>
              </a:srgbClr>
            </a:outerShdw>
          </a:effectLst>
        </p:spPr>
      </p:sp>
      <p:sp>
        <p:nvSpPr>
          <p:cNvPr id="8" name="Text 6"/>
          <p:cNvSpPr/>
          <p:nvPr/>
        </p:nvSpPr>
        <p:spPr>
          <a:xfrm>
            <a:off x="4507992" y="1645920"/>
            <a:ext cx="3246120" cy="365760"/>
          </a:xfrm>
          <a:prstGeom prst="rect">
            <a:avLst/>
          </a:prstGeom>
          <a:noFill/>
          <a:ln/>
        </p:spPr>
        <p:txBody>
          <a:bodyPr wrap="square" rtlCol="0" anchor="ctr"/>
          <a:lstStyle/>
          <a:p>
            <a:pPr marL="0" indent="0">
              <a:buNone/>
            </a:pPr>
            <a:r>
              <a:rPr lang="en-US" sz="1500" b="1" dirty="0">
                <a:solidFill>
                  <a:srgbClr val="9A6B2C"/>
                </a:solidFill>
                <a:latin typeface="Cambria" pitchFamily="34" charset="0"/>
                <a:ea typeface="Cambria" pitchFamily="34" charset="-122"/>
                <a:cs typeface="Cambria" pitchFamily="34" charset="-120"/>
              </a:rPr>
              <a:t>Objective</a:t>
            </a:r>
            <a:endParaRPr lang="en-US" sz="1500" dirty="0"/>
          </a:p>
        </p:txBody>
      </p:sp>
      <p:sp>
        <p:nvSpPr>
          <p:cNvPr id="9" name="Text 7"/>
          <p:cNvSpPr/>
          <p:nvPr/>
        </p:nvSpPr>
        <p:spPr>
          <a:xfrm>
            <a:off x="4507992" y="2011680"/>
            <a:ext cx="3246120" cy="82296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The task, stated clearly enough to focus the model.</a:t>
            </a:r>
            <a:endParaRPr lang="en-US" sz="1150" dirty="0"/>
          </a:p>
        </p:txBody>
      </p:sp>
      <p:sp>
        <p:nvSpPr>
          <p:cNvPr id="10" name="Shape 8"/>
          <p:cNvSpPr/>
          <p:nvPr/>
        </p:nvSpPr>
        <p:spPr>
          <a:xfrm>
            <a:off x="8101584" y="1508760"/>
            <a:ext cx="3611880" cy="1417320"/>
          </a:xfrm>
          <a:prstGeom prst="roundRect">
            <a:avLst>
              <a:gd name="adj" fmla="val 4516"/>
            </a:avLst>
          </a:prstGeom>
          <a:solidFill>
            <a:srgbClr val="FFFFFF"/>
          </a:solidFill>
          <a:ln/>
          <a:effectLst>
            <a:outerShdw blurRad="63500" dist="25400" dir="5400000" algn="bl" rotWithShape="0">
              <a:srgbClr val="000000">
                <a:alpha val="7000"/>
              </a:srgbClr>
            </a:outerShdw>
          </a:effectLst>
        </p:spPr>
      </p:sp>
      <p:sp>
        <p:nvSpPr>
          <p:cNvPr id="11" name="Text 9"/>
          <p:cNvSpPr/>
          <p:nvPr/>
        </p:nvSpPr>
        <p:spPr>
          <a:xfrm>
            <a:off x="8284464" y="1645920"/>
            <a:ext cx="3246120" cy="365760"/>
          </a:xfrm>
          <a:prstGeom prst="rect">
            <a:avLst/>
          </a:prstGeom>
          <a:noFill/>
          <a:ln/>
        </p:spPr>
        <p:txBody>
          <a:bodyPr wrap="square" rtlCol="0" anchor="ctr"/>
          <a:lstStyle/>
          <a:p>
            <a:pPr marL="0" indent="0">
              <a:buNone/>
            </a:pPr>
            <a:r>
              <a:rPr lang="en-US" sz="1500" b="1" dirty="0">
                <a:solidFill>
                  <a:srgbClr val="9A6B2C"/>
                </a:solidFill>
                <a:latin typeface="Cambria" pitchFamily="34" charset="0"/>
                <a:ea typeface="Cambria" pitchFamily="34" charset="-122"/>
                <a:cs typeface="Cambria" pitchFamily="34" charset="-120"/>
              </a:rPr>
              <a:t>Style</a:t>
            </a:r>
            <a:endParaRPr lang="en-US" sz="1500" dirty="0"/>
          </a:p>
        </p:txBody>
      </p:sp>
      <p:sp>
        <p:nvSpPr>
          <p:cNvPr id="12" name="Text 10"/>
          <p:cNvSpPr/>
          <p:nvPr/>
        </p:nvSpPr>
        <p:spPr>
          <a:xfrm>
            <a:off x="8284464" y="2011680"/>
            <a:ext cx="3246120" cy="82296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The writing style the response should follow.</a:t>
            </a:r>
            <a:endParaRPr lang="en-US" sz="1150" dirty="0"/>
          </a:p>
        </p:txBody>
      </p:sp>
      <p:sp>
        <p:nvSpPr>
          <p:cNvPr id="13" name="Shape 11"/>
          <p:cNvSpPr/>
          <p:nvPr/>
        </p:nvSpPr>
        <p:spPr>
          <a:xfrm>
            <a:off x="548640" y="3063240"/>
            <a:ext cx="3611880" cy="1417320"/>
          </a:xfrm>
          <a:prstGeom prst="roundRect">
            <a:avLst>
              <a:gd name="adj" fmla="val 4516"/>
            </a:avLst>
          </a:prstGeom>
          <a:solidFill>
            <a:srgbClr val="FFFFFF"/>
          </a:solidFill>
          <a:ln/>
          <a:effectLst>
            <a:outerShdw blurRad="63500" dist="25400" dir="5400000" algn="bl" rotWithShape="0">
              <a:srgbClr val="000000">
                <a:alpha val="7000"/>
              </a:srgbClr>
            </a:outerShdw>
          </a:effectLst>
        </p:spPr>
      </p:sp>
      <p:sp>
        <p:nvSpPr>
          <p:cNvPr id="14" name="Text 12"/>
          <p:cNvSpPr/>
          <p:nvPr/>
        </p:nvSpPr>
        <p:spPr>
          <a:xfrm>
            <a:off x="731520" y="3200400"/>
            <a:ext cx="3246120" cy="365760"/>
          </a:xfrm>
          <a:prstGeom prst="rect">
            <a:avLst/>
          </a:prstGeom>
          <a:noFill/>
          <a:ln/>
        </p:spPr>
        <p:txBody>
          <a:bodyPr wrap="square" rtlCol="0" anchor="ctr"/>
          <a:lstStyle/>
          <a:p>
            <a:pPr marL="0" indent="0">
              <a:buNone/>
            </a:pPr>
            <a:r>
              <a:rPr lang="en-US" sz="1500" b="1" dirty="0">
                <a:solidFill>
                  <a:srgbClr val="9A6B2C"/>
                </a:solidFill>
                <a:latin typeface="Cambria" pitchFamily="34" charset="0"/>
                <a:ea typeface="Cambria" pitchFamily="34" charset="-122"/>
                <a:cs typeface="Cambria" pitchFamily="34" charset="-120"/>
              </a:rPr>
              <a:t>Tone</a:t>
            </a:r>
            <a:endParaRPr lang="en-US" sz="1500" dirty="0"/>
          </a:p>
        </p:txBody>
      </p:sp>
      <p:sp>
        <p:nvSpPr>
          <p:cNvPr id="15" name="Text 13"/>
          <p:cNvSpPr/>
          <p:nvPr/>
        </p:nvSpPr>
        <p:spPr>
          <a:xfrm>
            <a:off x="731520" y="3566160"/>
            <a:ext cx="3246120" cy="82296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The sentiment the response should carry.</a:t>
            </a:r>
            <a:endParaRPr lang="en-US" sz="1150" dirty="0"/>
          </a:p>
        </p:txBody>
      </p:sp>
      <p:sp>
        <p:nvSpPr>
          <p:cNvPr id="16" name="Shape 14"/>
          <p:cNvSpPr/>
          <p:nvPr/>
        </p:nvSpPr>
        <p:spPr>
          <a:xfrm>
            <a:off x="4325112" y="3063240"/>
            <a:ext cx="3611880" cy="1417320"/>
          </a:xfrm>
          <a:prstGeom prst="roundRect">
            <a:avLst>
              <a:gd name="adj" fmla="val 4516"/>
            </a:avLst>
          </a:prstGeom>
          <a:solidFill>
            <a:srgbClr val="FFFFFF"/>
          </a:solidFill>
          <a:ln/>
          <a:effectLst>
            <a:outerShdw blurRad="63500" dist="25400" dir="5400000" algn="bl" rotWithShape="0">
              <a:srgbClr val="000000">
                <a:alpha val="7000"/>
              </a:srgbClr>
            </a:outerShdw>
          </a:effectLst>
        </p:spPr>
      </p:sp>
      <p:sp>
        <p:nvSpPr>
          <p:cNvPr id="17" name="Text 15"/>
          <p:cNvSpPr/>
          <p:nvPr/>
        </p:nvSpPr>
        <p:spPr>
          <a:xfrm>
            <a:off x="4507992" y="3200400"/>
            <a:ext cx="3246120" cy="365760"/>
          </a:xfrm>
          <a:prstGeom prst="rect">
            <a:avLst/>
          </a:prstGeom>
          <a:noFill/>
          <a:ln/>
        </p:spPr>
        <p:txBody>
          <a:bodyPr wrap="square" rtlCol="0" anchor="ctr"/>
          <a:lstStyle/>
          <a:p>
            <a:pPr marL="0" indent="0">
              <a:buNone/>
            </a:pPr>
            <a:r>
              <a:rPr lang="en-US" sz="1500" b="1" dirty="0">
                <a:solidFill>
                  <a:srgbClr val="9A6B2C"/>
                </a:solidFill>
                <a:latin typeface="Cambria" pitchFamily="34" charset="0"/>
                <a:ea typeface="Cambria" pitchFamily="34" charset="-122"/>
                <a:cs typeface="Cambria" pitchFamily="34" charset="-120"/>
              </a:rPr>
              <a:t>Audience</a:t>
            </a:r>
            <a:endParaRPr lang="en-US" sz="1500" dirty="0"/>
          </a:p>
        </p:txBody>
      </p:sp>
      <p:sp>
        <p:nvSpPr>
          <p:cNvPr id="18" name="Text 16"/>
          <p:cNvSpPr/>
          <p:nvPr/>
        </p:nvSpPr>
        <p:spPr>
          <a:xfrm>
            <a:off x="4507992" y="3566160"/>
            <a:ext cx="3246120" cy="82296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Who will read the response, so it is targeted correctly.</a:t>
            </a:r>
            <a:endParaRPr lang="en-US" sz="1150" dirty="0"/>
          </a:p>
        </p:txBody>
      </p:sp>
      <p:sp>
        <p:nvSpPr>
          <p:cNvPr id="19" name="Shape 17"/>
          <p:cNvSpPr/>
          <p:nvPr/>
        </p:nvSpPr>
        <p:spPr>
          <a:xfrm>
            <a:off x="8101584" y="3063240"/>
            <a:ext cx="3611880" cy="1417320"/>
          </a:xfrm>
          <a:prstGeom prst="roundRect">
            <a:avLst>
              <a:gd name="adj" fmla="val 4516"/>
            </a:avLst>
          </a:prstGeom>
          <a:solidFill>
            <a:srgbClr val="FFFFFF"/>
          </a:solidFill>
          <a:ln/>
          <a:effectLst>
            <a:outerShdw blurRad="63500" dist="25400" dir="5400000" algn="bl" rotWithShape="0">
              <a:srgbClr val="000000">
                <a:alpha val="7000"/>
              </a:srgbClr>
            </a:outerShdw>
          </a:effectLst>
        </p:spPr>
      </p:sp>
      <p:sp>
        <p:nvSpPr>
          <p:cNvPr id="20" name="Text 18"/>
          <p:cNvSpPr/>
          <p:nvPr/>
        </p:nvSpPr>
        <p:spPr>
          <a:xfrm>
            <a:off x="8284464" y="3200400"/>
            <a:ext cx="3246120" cy="365760"/>
          </a:xfrm>
          <a:prstGeom prst="rect">
            <a:avLst/>
          </a:prstGeom>
          <a:noFill/>
          <a:ln/>
        </p:spPr>
        <p:txBody>
          <a:bodyPr wrap="square" rtlCol="0" anchor="ctr"/>
          <a:lstStyle/>
          <a:p>
            <a:pPr marL="0" indent="0">
              <a:buNone/>
            </a:pPr>
            <a:r>
              <a:rPr lang="en-US" sz="1500" b="1" dirty="0">
                <a:solidFill>
                  <a:srgbClr val="9A6B2C"/>
                </a:solidFill>
                <a:latin typeface="Cambria" pitchFamily="34" charset="0"/>
                <a:ea typeface="Cambria" pitchFamily="34" charset="-122"/>
                <a:cs typeface="Cambria" pitchFamily="34" charset="-120"/>
              </a:rPr>
              <a:t>Response</a:t>
            </a:r>
            <a:endParaRPr lang="en-US" sz="1500" dirty="0"/>
          </a:p>
        </p:txBody>
      </p:sp>
      <p:sp>
        <p:nvSpPr>
          <p:cNvPr id="21" name="Text 19"/>
          <p:cNvSpPr/>
          <p:nvPr/>
        </p:nvSpPr>
        <p:spPr>
          <a:xfrm>
            <a:off x="8284464" y="3566160"/>
            <a:ext cx="3246120" cy="82296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The output format: text, a list, JSON, so it plugs into a pipeline.</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8">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Worked example: a research note COSTAR prompt</a:t>
            </a:r>
            <a:endParaRPr lang="en-US" sz="2400" dirty="0"/>
          </a:p>
        </p:txBody>
      </p:sp>
      <p:sp>
        <p:nvSpPr>
          <p:cNvPr id="3" name="Text 1"/>
          <p:cNvSpPr/>
          <p:nvPr/>
        </p:nvSpPr>
        <p:spPr>
          <a:xfrm>
            <a:off x="548640" y="960120"/>
            <a:ext cx="10515600" cy="365760"/>
          </a:xfrm>
          <a:prstGeom prst="rect">
            <a:avLst/>
          </a:prstGeom>
          <a:noFill/>
          <a:ln/>
        </p:spPr>
        <p:txBody>
          <a:bodyPr wrap="square"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Adapted for a portfolio analyst preparing a note for an investment committee</a:t>
            </a:r>
            <a:endParaRPr lang="en-US" sz="1300" dirty="0"/>
          </a:p>
        </p:txBody>
      </p:sp>
      <p:sp>
        <p:nvSpPr>
          <p:cNvPr id="4" name="Text 2"/>
          <p:cNvSpPr/>
          <p:nvPr/>
        </p:nvSpPr>
        <p:spPr>
          <a:xfrm>
            <a:off x="640080" y="1554480"/>
            <a:ext cx="2011680" cy="502920"/>
          </a:xfrm>
          <a:prstGeom prst="rect">
            <a:avLst/>
          </a:prstGeom>
          <a:noFill/>
          <a:ln/>
        </p:spPr>
        <p:txBody>
          <a:bodyPr wrap="square" rtlCol="0" anchor="ctr"/>
          <a:lstStyle/>
          <a:p>
            <a:pPr marL="0" indent="0">
              <a:buNone/>
            </a:pPr>
            <a:r>
              <a:rPr lang="en-US" sz="1300" b="1" dirty="0">
                <a:solidFill>
                  <a:srgbClr val="9A6B2C"/>
                </a:solidFill>
                <a:latin typeface="Cambria" pitchFamily="34" charset="0"/>
                <a:ea typeface="Cambria" pitchFamily="34" charset="-122"/>
                <a:cs typeface="Cambria" pitchFamily="34" charset="-120"/>
              </a:rPr>
              <a:t>CONTEXT</a:t>
            </a:r>
            <a:endParaRPr lang="en-US" sz="1300" dirty="0"/>
          </a:p>
        </p:txBody>
      </p:sp>
      <p:sp>
        <p:nvSpPr>
          <p:cNvPr id="5" name="Text 3"/>
          <p:cNvSpPr/>
          <p:nvPr/>
        </p:nvSpPr>
        <p:spPr>
          <a:xfrm>
            <a:off x="2743200" y="1554480"/>
            <a:ext cx="8686800" cy="685800"/>
          </a:xfrm>
          <a:prstGeom prst="rect">
            <a:avLst/>
          </a:prstGeom>
          <a:noFill/>
          <a:ln/>
        </p:spPr>
        <p:txBody>
          <a:bodyPr wrap="square" rtlCol="0" anchor="ctr"/>
          <a:lstStyle/>
          <a:p>
            <a:pPr marL="0" indent="0">
              <a:buNone/>
            </a:pPr>
            <a:r>
              <a:rPr lang="en-US" sz="1300" dirty="0">
                <a:solidFill>
                  <a:srgbClr val="E4E9F5"/>
                </a:solidFill>
                <a:latin typeface="Calibri" pitchFamily="34" charset="0"/>
                <a:ea typeface="Calibri" pitchFamily="34" charset="-122"/>
                <a:cs typeface="Calibri" pitchFamily="34" charset="-120"/>
              </a:rPr>
              <a:t>I am a portfolio analyst preparing a research note for an investment committee with limited time per submission.</a:t>
            </a:r>
            <a:endParaRPr lang="en-US" sz="1300" dirty="0"/>
          </a:p>
        </p:txBody>
      </p:sp>
      <p:sp>
        <p:nvSpPr>
          <p:cNvPr id="6" name="Text 4"/>
          <p:cNvSpPr/>
          <p:nvPr/>
        </p:nvSpPr>
        <p:spPr>
          <a:xfrm>
            <a:off x="640080" y="2359152"/>
            <a:ext cx="2011680" cy="502920"/>
          </a:xfrm>
          <a:prstGeom prst="rect">
            <a:avLst/>
          </a:prstGeom>
          <a:noFill/>
          <a:ln/>
        </p:spPr>
        <p:txBody>
          <a:bodyPr wrap="square" rtlCol="0" anchor="ctr"/>
          <a:lstStyle/>
          <a:p>
            <a:pPr marL="0" indent="0">
              <a:buNone/>
            </a:pPr>
            <a:r>
              <a:rPr lang="en-US" sz="1300" b="1" dirty="0">
                <a:solidFill>
                  <a:srgbClr val="9A6B2C"/>
                </a:solidFill>
                <a:latin typeface="Cambria" pitchFamily="34" charset="0"/>
                <a:ea typeface="Cambria" pitchFamily="34" charset="-122"/>
                <a:cs typeface="Cambria" pitchFamily="34" charset="-120"/>
              </a:rPr>
              <a:t>OBJECTIVE</a:t>
            </a:r>
            <a:endParaRPr lang="en-US" sz="1300" dirty="0"/>
          </a:p>
        </p:txBody>
      </p:sp>
      <p:sp>
        <p:nvSpPr>
          <p:cNvPr id="7" name="Text 5"/>
          <p:cNvSpPr/>
          <p:nvPr/>
        </p:nvSpPr>
        <p:spPr>
          <a:xfrm>
            <a:off x="2743200" y="2359152"/>
            <a:ext cx="8686800" cy="685800"/>
          </a:xfrm>
          <a:prstGeom prst="rect">
            <a:avLst/>
          </a:prstGeom>
          <a:noFill/>
          <a:ln/>
        </p:spPr>
        <p:txBody>
          <a:bodyPr wrap="square" rtlCol="0" anchor="ctr"/>
          <a:lstStyle/>
          <a:p>
            <a:pPr marL="0" indent="0">
              <a:buNone/>
            </a:pPr>
            <a:r>
              <a:rPr lang="en-US" sz="1300" dirty="0">
                <a:solidFill>
                  <a:srgbClr val="E4E9F5"/>
                </a:solidFill>
                <a:latin typeface="Calibri" pitchFamily="34" charset="0"/>
                <a:ea typeface="Calibri" pitchFamily="34" charset="-122"/>
                <a:cs typeface="Calibri" pitchFamily="34" charset="-120"/>
              </a:rPr>
              <a:t>Guide me in producing a research note structure for one equity: thesis, signals, risks.</a:t>
            </a:r>
            <a:endParaRPr lang="en-US" sz="1300" dirty="0"/>
          </a:p>
        </p:txBody>
      </p:sp>
      <p:sp>
        <p:nvSpPr>
          <p:cNvPr id="8" name="Text 6"/>
          <p:cNvSpPr/>
          <p:nvPr/>
        </p:nvSpPr>
        <p:spPr>
          <a:xfrm>
            <a:off x="640080" y="3163824"/>
            <a:ext cx="2011680" cy="502920"/>
          </a:xfrm>
          <a:prstGeom prst="rect">
            <a:avLst/>
          </a:prstGeom>
          <a:noFill/>
          <a:ln/>
        </p:spPr>
        <p:txBody>
          <a:bodyPr wrap="square" rtlCol="0" anchor="ctr"/>
          <a:lstStyle/>
          <a:p>
            <a:pPr marL="0" indent="0">
              <a:buNone/>
            </a:pPr>
            <a:r>
              <a:rPr lang="en-US" sz="1300" b="1" dirty="0">
                <a:solidFill>
                  <a:srgbClr val="9A6B2C"/>
                </a:solidFill>
                <a:latin typeface="Cambria" pitchFamily="34" charset="0"/>
                <a:ea typeface="Cambria" pitchFamily="34" charset="-122"/>
                <a:cs typeface="Cambria" pitchFamily="34" charset="-120"/>
              </a:rPr>
              <a:t>STYLE / TONE</a:t>
            </a:r>
            <a:endParaRPr lang="en-US" sz="1300" dirty="0"/>
          </a:p>
        </p:txBody>
      </p:sp>
      <p:sp>
        <p:nvSpPr>
          <p:cNvPr id="9" name="Text 7"/>
          <p:cNvSpPr/>
          <p:nvPr/>
        </p:nvSpPr>
        <p:spPr>
          <a:xfrm>
            <a:off x="2743200" y="3163824"/>
            <a:ext cx="8686800" cy="685800"/>
          </a:xfrm>
          <a:prstGeom prst="rect">
            <a:avLst/>
          </a:prstGeom>
          <a:noFill/>
          <a:ln/>
        </p:spPr>
        <p:txBody>
          <a:bodyPr wrap="square" rtlCol="0" anchor="ctr"/>
          <a:lstStyle/>
          <a:p>
            <a:pPr marL="0" indent="0">
              <a:buNone/>
            </a:pPr>
            <a:r>
              <a:rPr lang="en-US" sz="1300" dirty="0">
                <a:solidFill>
                  <a:srgbClr val="E4E9F5"/>
                </a:solidFill>
                <a:latin typeface="Calibri" pitchFamily="34" charset="0"/>
                <a:ea typeface="Calibri" pitchFamily="34" charset="-122"/>
                <a:cs typeface="Calibri" pitchFamily="34" charset="-120"/>
              </a:rPr>
              <a:t>Analytical, direct, confident but not overstated. State uncertainty plainly.</a:t>
            </a:r>
            <a:endParaRPr lang="en-US" sz="1300" dirty="0"/>
          </a:p>
        </p:txBody>
      </p:sp>
      <p:sp>
        <p:nvSpPr>
          <p:cNvPr id="10" name="Text 8"/>
          <p:cNvSpPr/>
          <p:nvPr/>
        </p:nvSpPr>
        <p:spPr>
          <a:xfrm>
            <a:off x="640080" y="3968496"/>
            <a:ext cx="2011680" cy="502920"/>
          </a:xfrm>
          <a:prstGeom prst="rect">
            <a:avLst/>
          </a:prstGeom>
          <a:noFill/>
          <a:ln/>
        </p:spPr>
        <p:txBody>
          <a:bodyPr wrap="square" rtlCol="0" anchor="ctr"/>
          <a:lstStyle/>
          <a:p>
            <a:pPr marL="0" indent="0">
              <a:buNone/>
            </a:pPr>
            <a:r>
              <a:rPr lang="en-US" sz="1300" b="1" dirty="0">
                <a:solidFill>
                  <a:srgbClr val="9A6B2C"/>
                </a:solidFill>
                <a:latin typeface="Cambria" pitchFamily="34" charset="0"/>
                <a:ea typeface="Cambria" pitchFamily="34" charset="-122"/>
                <a:cs typeface="Cambria" pitchFamily="34" charset="-120"/>
              </a:rPr>
              <a:t>AUDIENCE</a:t>
            </a:r>
            <a:endParaRPr lang="en-US" sz="1300" dirty="0"/>
          </a:p>
        </p:txBody>
      </p:sp>
      <p:sp>
        <p:nvSpPr>
          <p:cNvPr id="11" name="Text 9"/>
          <p:cNvSpPr/>
          <p:nvPr/>
        </p:nvSpPr>
        <p:spPr>
          <a:xfrm>
            <a:off x="2743200" y="3968496"/>
            <a:ext cx="8686800" cy="685800"/>
          </a:xfrm>
          <a:prstGeom prst="rect">
            <a:avLst/>
          </a:prstGeom>
          <a:noFill/>
          <a:ln/>
        </p:spPr>
        <p:txBody>
          <a:bodyPr wrap="square" rtlCol="0" anchor="ctr"/>
          <a:lstStyle/>
          <a:p>
            <a:pPr marL="0" indent="0">
              <a:buNone/>
            </a:pPr>
            <a:r>
              <a:rPr lang="en-US" sz="1300" dirty="0">
                <a:solidFill>
                  <a:srgbClr val="E4E9F5"/>
                </a:solidFill>
                <a:latin typeface="Calibri" pitchFamily="34" charset="0"/>
                <a:ea typeface="Calibri" pitchFamily="34" charset="-122"/>
                <a:cs typeface="Calibri" pitchFamily="34" charset="-120"/>
              </a:rPr>
              <a:t>A financially literate committee that has not looked at this equity recently.</a:t>
            </a:r>
            <a:endParaRPr lang="en-US" sz="1300" dirty="0"/>
          </a:p>
        </p:txBody>
      </p:sp>
      <p:sp>
        <p:nvSpPr>
          <p:cNvPr id="12" name="Text 10"/>
          <p:cNvSpPr/>
          <p:nvPr/>
        </p:nvSpPr>
        <p:spPr>
          <a:xfrm>
            <a:off x="640080" y="4773168"/>
            <a:ext cx="2011680" cy="502920"/>
          </a:xfrm>
          <a:prstGeom prst="rect">
            <a:avLst/>
          </a:prstGeom>
          <a:noFill/>
          <a:ln/>
        </p:spPr>
        <p:txBody>
          <a:bodyPr wrap="square" rtlCol="0" anchor="ctr"/>
          <a:lstStyle/>
          <a:p>
            <a:pPr marL="0" indent="0">
              <a:buNone/>
            </a:pPr>
            <a:r>
              <a:rPr lang="en-US" sz="1300" b="1" dirty="0">
                <a:solidFill>
                  <a:srgbClr val="9A6B2C"/>
                </a:solidFill>
                <a:latin typeface="Cambria" pitchFamily="34" charset="0"/>
                <a:ea typeface="Cambria" pitchFamily="34" charset="-122"/>
                <a:cs typeface="Cambria" pitchFamily="34" charset="-120"/>
              </a:rPr>
              <a:t>RESPONSE</a:t>
            </a:r>
            <a:endParaRPr lang="en-US" sz="1300" dirty="0"/>
          </a:p>
        </p:txBody>
      </p:sp>
      <p:sp>
        <p:nvSpPr>
          <p:cNvPr id="13" name="Text 11"/>
          <p:cNvSpPr/>
          <p:nvPr/>
        </p:nvSpPr>
        <p:spPr>
          <a:xfrm>
            <a:off x="2743200" y="4773168"/>
            <a:ext cx="8686800" cy="685800"/>
          </a:xfrm>
          <a:prstGeom prst="rect">
            <a:avLst/>
          </a:prstGeom>
          <a:noFill/>
          <a:ln/>
        </p:spPr>
        <p:txBody>
          <a:bodyPr wrap="square" rtlCol="0" anchor="ctr"/>
          <a:lstStyle/>
          <a:p>
            <a:pPr marL="0" indent="0">
              <a:buNone/>
            </a:pPr>
            <a:r>
              <a:rPr lang="en-US" sz="1300" dirty="0">
                <a:solidFill>
                  <a:srgbClr val="E4E9F5"/>
                </a:solidFill>
                <a:latin typeface="Calibri" pitchFamily="34" charset="0"/>
                <a:ea typeface="Calibri" pitchFamily="34" charset="-122"/>
                <a:cs typeface="Calibri" pitchFamily="34" charset="-120"/>
              </a:rPr>
              <a:t>Thesis (one sentence), Supporting Signals, Risk Factors, Recommendation line.</a:t>
            </a:r>
            <a:endParaRPr lang="en-US" sz="1300" dirty="0"/>
          </a:p>
        </p:txBody>
      </p:sp>
      <p:sp>
        <p:nvSpPr>
          <p:cNvPr id="14" name="Text 12"/>
          <p:cNvSpPr/>
          <p:nvPr/>
        </p:nvSpPr>
        <p:spPr>
          <a:xfrm>
            <a:off x="640080" y="5669280"/>
            <a:ext cx="7315200" cy="365760"/>
          </a:xfrm>
          <a:prstGeom prst="rect">
            <a:avLst/>
          </a:prstGeom>
          <a:noFill/>
          <a:ln/>
        </p:spPr>
        <p:txBody>
          <a:bodyPr wrap="square" rtlCol="0" anchor="ctr"/>
          <a:lstStyle/>
          <a:p>
            <a:pPr marL="0" indent="0">
              <a:buNone/>
            </a:pPr>
            <a:r>
              <a:rPr lang="en-US" sz="1100" i="1" dirty="0">
                <a:solidFill>
                  <a:srgbClr val="8FA3C9"/>
                </a:solidFill>
                <a:latin typeface="Calibri" pitchFamily="34" charset="0"/>
                <a:ea typeface="Calibri" pitchFamily="34" charset="-122"/>
                <a:cs typeface="Calibri" pitchFamily="34" charset="-120"/>
              </a:rPr>
              <a:t>File: B_costar_prompt_finance.txt</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icPr>
            <a:picLocks noChangeAspect="1"/>
          </p:cNvPicPr>
          <p:nvPr/>
        </p:nvPicPr>
        <p:blipFill>
          <a:blip r:embed="rId3"/>
          <a:stretch>
            <a:fillRect/>
          </a:stretch>
        </p:blipFill>
        <p:spPr>
          <a:xfrm>
            <a:off x="614477" y="523037"/>
            <a:ext cx="416966" cy="416966"/>
          </a:xfrm>
          <a:prstGeom prst="rect">
            <a:avLst/>
          </a:prstGeom>
        </p:spPr>
      </p:pic>
      <p:sp>
        <p:nvSpPr>
          <p:cNvPr id="4" name="Text 1"/>
          <p:cNvSpPr/>
          <p:nvPr/>
        </p:nvSpPr>
        <p:spPr>
          <a:xfrm>
            <a:off x="1280160" y="502920"/>
            <a:ext cx="7315200" cy="548640"/>
          </a:xfrm>
          <a:prstGeom prst="rect">
            <a:avLst/>
          </a:prstGeom>
          <a:noFill/>
          <a:ln/>
        </p:spPr>
        <p:txBody>
          <a:bodyPr wrap="square"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System prompt anatomy</a:t>
            </a:r>
            <a:endParaRPr lang="en-US" sz="2600" dirty="0"/>
          </a:p>
        </p:txBody>
      </p:sp>
      <p:sp>
        <p:nvSpPr>
          <p:cNvPr id="5" name="Text 2"/>
          <p:cNvSpPr/>
          <p:nvPr/>
        </p:nvSpPr>
        <p:spPr>
          <a:xfrm>
            <a:off x="1280160" y="1051560"/>
            <a:ext cx="10058400" cy="365760"/>
          </a:xfrm>
          <a:prstGeom prst="rect">
            <a:avLst/>
          </a:prstGeom>
          <a:noFill/>
          <a:ln/>
        </p:spPr>
        <p:txBody>
          <a:bodyPr wrap="square" rtlCol="0" anchor="ctr"/>
          <a:lstStyle/>
          <a:p>
            <a:pPr marL="0" indent="0">
              <a:buNone/>
            </a:pPr>
            <a:r>
              <a:rPr lang="en-US" sz="1350" i="1" dirty="0">
                <a:solidFill>
                  <a:srgbClr val="3A3F4B"/>
                </a:solidFill>
                <a:latin typeface="Calibri" pitchFamily="34" charset="0"/>
                <a:ea typeface="Calibri" pitchFamily="34" charset="-122"/>
                <a:cs typeface="Calibri" pitchFamily="34" charset="-120"/>
              </a:rPr>
              <a:t>A system prompt sets role, behavior, and rules before the user's message ever arrives.</a:t>
            </a:r>
            <a:endParaRPr lang="en-US" sz="1350" dirty="0"/>
          </a:p>
        </p:txBody>
      </p:sp>
      <p:sp>
        <p:nvSpPr>
          <p:cNvPr id="6" name="Shape 3"/>
          <p:cNvSpPr/>
          <p:nvPr/>
        </p:nvSpPr>
        <p:spPr>
          <a:xfrm>
            <a:off x="548640" y="1691640"/>
            <a:ext cx="3566160" cy="2103120"/>
          </a:xfrm>
          <a:prstGeom prst="roundRect">
            <a:avLst>
              <a:gd name="adj" fmla="val 3478"/>
            </a:avLst>
          </a:prstGeom>
          <a:solidFill>
            <a:srgbClr val="FFFFFF"/>
          </a:solidFill>
          <a:ln/>
          <a:effectLst>
            <a:outerShdw blurRad="63500" dist="25400" dir="5400000" algn="bl" rotWithShape="0">
              <a:srgbClr val="000000">
                <a:alpha val="8000"/>
              </a:srgbClr>
            </a:outerShdw>
          </a:effectLst>
        </p:spPr>
      </p:sp>
      <p:sp>
        <p:nvSpPr>
          <p:cNvPr id="7" name="Text 4"/>
          <p:cNvSpPr/>
          <p:nvPr/>
        </p:nvSpPr>
        <p:spPr>
          <a:xfrm>
            <a:off x="777240" y="1920240"/>
            <a:ext cx="3108960" cy="411480"/>
          </a:xfrm>
          <a:prstGeom prst="rect">
            <a:avLst/>
          </a:prstGeom>
          <a:noFill/>
          <a:ln/>
        </p:spPr>
        <p:txBody>
          <a:bodyPr wrap="square" rtlCol="0" anchor="ctr"/>
          <a:lstStyle/>
          <a:p>
            <a:pPr marL="0" indent="0">
              <a:buNone/>
            </a:pPr>
            <a:r>
              <a:rPr lang="en-US" sz="1600" b="1" dirty="0">
                <a:solidFill>
                  <a:srgbClr val="9A6B2C"/>
                </a:solidFill>
                <a:latin typeface="Cambria" pitchFamily="34" charset="0"/>
                <a:ea typeface="Cambria" pitchFamily="34" charset="-122"/>
                <a:cs typeface="Cambria" pitchFamily="34" charset="-120"/>
              </a:rPr>
              <a:t>Persona</a:t>
            </a:r>
            <a:endParaRPr lang="en-US" sz="1600" dirty="0"/>
          </a:p>
        </p:txBody>
      </p:sp>
      <p:sp>
        <p:nvSpPr>
          <p:cNvPr id="8" name="Text 5"/>
          <p:cNvSpPr/>
          <p:nvPr/>
        </p:nvSpPr>
        <p:spPr>
          <a:xfrm>
            <a:off x="777240" y="2377440"/>
            <a:ext cx="3108960" cy="1280160"/>
          </a:xfrm>
          <a:prstGeom prst="rect">
            <a:avLst/>
          </a:prstGeom>
          <a:noFill/>
          <a:ln/>
        </p:spPr>
        <p:txBody>
          <a:bodyPr wrap="square" rtlCol="0" anchor="ctr"/>
          <a:lstStyle/>
          <a:p>
            <a:pPr marL="0" indent="0">
              <a:buNone/>
            </a:pPr>
            <a:r>
              <a:rPr lang="en-US" sz="1250" dirty="0">
                <a:solidFill>
                  <a:srgbClr val="3A3F4B"/>
                </a:solidFill>
                <a:latin typeface="Calibri" pitchFamily="34" charset="0"/>
                <a:ea typeface="Calibri" pitchFamily="34" charset="-122"/>
                <a:cs typeface="Calibri" pitchFamily="34" charset="-120"/>
              </a:rPr>
              <a:t>Who is the model, for this application? A concise assistant, a research analyst, a cautious tutor.</a:t>
            </a:r>
            <a:endParaRPr lang="en-US" sz="1250" dirty="0"/>
          </a:p>
        </p:txBody>
      </p:sp>
      <p:sp>
        <p:nvSpPr>
          <p:cNvPr id="9" name="Shape 6"/>
          <p:cNvSpPr/>
          <p:nvPr/>
        </p:nvSpPr>
        <p:spPr>
          <a:xfrm>
            <a:off x="4297680" y="1691640"/>
            <a:ext cx="3566160" cy="2103120"/>
          </a:xfrm>
          <a:prstGeom prst="roundRect">
            <a:avLst>
              <a:gd name="adj" fmla="val 3478"/>
            </a:avLst>
          </a:prstGeom>
          <a:solidFill>
            <a:srgbClr val="FFFFFF"/>
          </a:solidFill>
          <a:ln/>
          <a:effectLst>
            <a:outerShdw blurRad="63500" dist="25400" dir="5400000" algn="bl" rotWithShape="0">
              <a:srgbClr val="000000">
                <a:alpha val="8000"/>
              </a:srgbClr>
            </a:outerShdw>
          </a:effectLst>
        </p:spPr>
      </p:sp>
      <p:sp>
        <p:nvSpPr>
          <p:cNvPr id="10" name="Text 7"/>
          <p:cNvSpPr/>
          <p:nvPr/>
        </p:nvSpPr>
        <p:spPr>
          <a:xfrm>
            <a:off x="4526280" y="1920240"/>
            <a:ext cx="3108960" cy="411480"/>
          </a:xfrm>
          <a:prstGeom prst="rect">
            <a:avLst/>
          </a:prstGeom>
          <a:noFill/>
          <a:ln/>
        </p:spPr>
        <p:txBody>
          <a:bodyPr wrap="square" rtlCol="0" anchor="ctr"/>
          <a:lstStyle/>
          <a:p>
            <a:pPr marL="0" indent="0">
              <a:buNone/>
            </a:pPr>
            <a:r>
              <a:rPr lang="en-US" sz="1600" b="1" dirty="0">
                <a:solidFill>
                  <a:srgbClr val="9A6B2C"/>
                </a:solidFill>
                <a:latin typeface="Cambria" pitchFamily="34" charset="0"/>
                <a:ea typeface="Cambria" pitchFamily="34" charset="-122"/>
                <a:cs typeface="Cambria" pitchFamily="34" charset="-120"/>
              </a:rPr>
              <a:t>Boundaries</a:t>
            </a:r>
            <a:endParaRPr lang="en-US" sz="1600" dirty="0"/>
          </a:p>
        </p:txBody>
      </p:sp>
      <p:sp>
        <p:nvSpPr>
          <p:cNvPr id="11" name="Text 8"/>
          <p:cNvSpPr/>
          <p:nvPr/>
        </p:nvSpPr>
        <p:spPr>
          <a:xfrm>
            <a:off x="4526280" y="2377440"/>
            <a:ext cx="3108960" cy="1280160"/>
          </a:xfrm>
          <a:prstGeom prst="rect">
            <a:avLst/>
          </a:prstGeom>
          <a:noFill/>
          <a:ln/>
        </p:spPr>
        <p:txBody>
          <a:bodyPr wrap="square" rtlCol="0" anchor="ctr"/>
          <a:lstStyle/>
          <a:p>
            <a:pPr marL="0" indent="0">
              <a:buNone/>
            </a:pPr>
            <a:r>
              <a:rPr lang="en-US" sz="1250" dirty="0">
                <a:solidFill>
                  <a:srgbClr val="3A3F4B"/>
                </a:solidFill>
                <a:latin typeface="Calibri" pitchFamily="34" charset="0"/>
                <a:ea typeface="Calibri" pitchFamily="34" charset="-122"/>
                <a:cs typeface="Calibri" pitchFamily="34" charset="-120"/>
              </a:rPr>
              <a:t>What should it refuse or avoid? What topics, tones, or actions are out of scope?</a:t>
            </a:r>
            <a:endParaRPr lang="en-US" sz="1250" dirty="0"/>
          </a:p>
        </p:txBody>
      </p:sp>
      <p:sp>
        <p:nvSpPr>
          <p:cNvPr id="12" name="Shape 9"/>
          <p:cNvSpPr/>
          <p:nvPr/>
        </p:nvSpPr>
        <p:spPr>
          <a:xfrm>
            <a:off x="8046720" y="1691640"/>
            <a:ext cx="3566160" cy="2103120"/>
          </a:xfrm>
          <a:prstGeom prst="roundRect">
            <a:avLst>
              <a:gd name="adj" fmla="val 3478"/>
            </a:avLst>
          </a:prstGeom>
          <a:solidFill>
            <a:srgbClr val="FFFFFF"/>
          </a:solidFill>
          <a:ln/>
          <a:effectLst>
            <a:outerShdw blurRad="63500" dist="25400" dir="5400000" algn="bl" rotWithShape="0">
              <a:srgbClr val="000000">
                <a:alpha val="8000"/>
              </a:srgbClr>
            </a:outerShdw>
          </a:effectLst>
        </p:spPr>
      </p:sp>
      <p:sp>
        <p:nvSpPr>
          <p:cNvPr id="13" name="Text 10"/>
          <p:cNvSpPr/>
          <p:nvPr/>
        </p:nvSpPr>
        <p:spPr>
          <a:xfrm>
            <a:off x="8275320" y="1920240"/>
            <a:ext cx="3108960" cy="411480"/>
          </a:xfrm>
          <a:prstGeom prst="rect">
            <a:avLst/>
          </a:prstGeom>
          <a:noFill/>
          <a:ln/>
        </p:spPr>
        <p:txBody>
          <a:bodyPr wrap="square" rtlCol="0" anchor="ctr"/>
          <a:lstStyle/>
          <a:p>
            <a:pPr marL="0" indent="0">
              <a:buNone/>
            </a:pPr>
            <a:r>
              <a:rPr lang="en-US" sz="1600" b="1" dirty="0">
                <a:solidFill>
                  <a:srgbClr val="9A6B2C"/>
                </a:solidFill>
                <a:latin typeface="Cambria" pitchFamily="34" charset="0"/>
                <a:ea typeface="Cambria" pitchFamily="34" charset="-122"/>
                <a:cs typeface="Cambria" pitchFamily="34" charset="-120"/>
              </a:rPr>
              <a:t>Output format</a:t>
            </a:r>
            <a:endParaRPr lang="en-US" sz="1600" dirty="0"/>
          </a:p>
        </p:txBody>
      </p:sp>
      <p:sp>
        <p:nvSpPr>
          <p:cNvPr id="14" name="Text 11"/>
          <p:cNvSpPr/>
          <p:nvPr/>
        </p:nvSpPr>
        <p:spPr>
          <a:xfrm>
            <a:off x="8275320" y="2377440"/>
            <a:ext cx="3108960" cy="1280160"/>
          </a:xfrm>
          <a:prstGeom prst="rect">
            <a:avLst/>
          </a:prstGeom>
          <a:noFill/>
          <a:ln/>
        </p:spPr>
        <p:txBody>
          <a:bodyPr wrap="square" rtlCol="0" anchor="ctr"/>
          <a:lstStyle/>
          <a:p>
            <a:pPr marL="0" indent="0">
              <a:buNone/>
            </a:pPr>
            <a:r>
              <a:rPr lang="en-US" sz="1250" dirty="0">
                <a:solidFill>
                  <a:srgbClr val="3A3F4B"/>
                </a:solidFill>
                <a:latin typeface="Calibri" pitchFamily="34" charset="0"/>
                <a:ea typeface="Calibri" pitchFamily="34" charset="-122"/>
                <a:cs typeface="Calibri" pitchFamily="34" charset="-120"/>
              </a:rPr>
              <a:t>What shape must every response take, so downstream code can parse it reliably?</a:t>
            </a:r>
            <a:endParaRPr lang="en-US" sz="1250" dirty="0"/>
          </a:p>
        </p:txBody>
      </p:sp>
      <p:sp>
        <p:nvSpPr>
          <p:cNvPr id="15" name="Text 12"/>
          <p:cNvSpPr/>
          <p:nvPr/>
        </p:nvSpPr>
        <p:spPr>
          <a:xfrm>
            <a:off x="548640" y="4023360"/>
            <a:ext cx="9144000" cy="365760"/>
          </a:xfrm>
          <a:prstGeom prst="rect">
            <a:avLst/>
          </a:prstGeom>
          <a:noFill/>
          <a:ln/>
        </p:spPr>
        <p:txBody>
          <a:bodyPr wrap="square" rtlCol="0" anchor="ctr"/>
          <a:lstStyle/>
          <a:p>
            <a:pPr marL="0" indent="0">
              <a:buNone/>
            </a:pPr>
            <a:r>
              <a:rPr lang="en-US" sz="1600" b="1" dirty="0">
                <a:solidFill>
                  <a:srgbClr val="14213D"/>
                </a:solidFill>
                <a:latin typeface="Cambria" pitchFamily="34" charset="0"/>
                <a:ea typeface="Cambria" pitchFamily="34" charset="-122"/>
                <a:cs typeface="Cambria" pitchFamily="34" charset="-120"/>
              </a:rPr>
              <a:t>Five habits that make system prompts work</a:t>
            </a:r>
            <a:endParaRPr lang="en-US" sz="1600" dirty="0"/>
          </a:p>
        </p:txBody>
      </p:sp>
      <p:sp>
        <p:nvSpPr>
          <p:cNvPr id="16" name="Shape 13"/>
          <p:cNvSpPr/>
          <p:nvPr/>
        </p:nvSpPr>
        <p:spPr>
          <a:xfrm>
            <a:off x="548640" y="4480560"/>
            <a:ext cx="2148840" cy="502920"/>
          </a:xfrm>
          <a:prstGeom prst="roundRect">
            <a:avLst>
              <a:gd name="adj" fmla="val 50909"/>
            </a:avLst>
          </a:prstGeom>
          <a:solidFill>
            <a:srgbClr val="F1EEE3"/>
          </a:solidFill>
          <a:ln/>
        </p:spPr>
      </p:sp>
      <p:sp>
        <p:nvSpPr>
          <p:cNvPr id="17" name="Text 14"/>
          <p:cNvSpPr/>
          <p:nvPr/>
        </p:nvSpPr>
        <p:spPr>
          <a:xfrm>
            <a:off x="548640" y="4480560"/>
            <a:ext cx="2148840" cy="502920"/>
          </a:xfrm>
          <a:prstGeom prst="rect">
            <a:avLst/>
          </a:prstGeom>
          <a:noFill/>
          <a:ln/>
        </p:spPr>
        <p:txBody>
          <a:bodyPr wrap="square"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Give context</a:t>
            </a:r>
            <a:endParaRPr lang="en-US" sz="1100" dirty="0"/>
          </a:p>
        </p:txBody>
      </p:sp>
      <p:sp>
        <p:nvSpPr>
          <p:cNvPr id="18" name="Shape 15"/>
          <p:cNvSpPr/>
          <p:nvPr/>
        </p:nvSpPr>
        <p:spPr>
          <a:xfrm>
            <a:off x="2807208" y="4480560"/>
            <a:ext cx="2148840" cy="502920"/>
          </a:xfrm>
          <a:prstGeom prst="roundRect">
            <a:avLst>
              <a:gd name="adj" fmla="val 50909"/>
            </a:avLst>
          </a:prstGeom>
          <a:solidFill>
            <a:srgbClr val="F1EEE3"/>
          </a:solidFill>
          <a:ln/>
        </p:spPr>
      </p:sp>
      <p:sp>
        <p:nvSpPr>
          <p:cNvPr id="19" name="Text 16"/>
          <p:cNvSpPr/>
          <p:nvPr/>
        </p:nvSpPr>
        <p:spPr>
          <a:xfrm>
            <a:off x="2807208" y="4480560"/>
            <a:ext cx="2148840" cy="502920"/>
          </a:xfrm>
          <a:prstGeom prst="rect">
            <a:avLst/>
          </a:prstGeom>
          <a:noFill/>
          <a:ln/>
        </p:spPr>
        <p:txBody>
          <a:bodyPr wrap="square"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Specify the response format</a:t>
            </a:r>
            <a:endParaRPr lang="en-US" sz="1100" dirty="0"/>
          </a:p>
        </p:txBody>
      </p:sp>
      <p:sp>
        <p:nvSpPr>
          <p:cNvPr id="20" name="Shape 17"/>
          <p:cNvSpPr/>
          <p:nvPr/>
        </p:nvSpPr>
        <p:spPr>
          <a:xfrm>
            <a:off x="5065776" y="4480560"/>
            <a:ext cx="2148840" cy="502920"/>
          </a:xfrm>
          <a:prstGeom prst="roundRect">
            <a:avLst>
              <a:gd name="adj" fmla="val 50909"/>
            </a:avLst>
          </a:prstGeom>
          <a:solidFill>
            <a:srgbClr val="F1EEE3"/>
          </a:solidFill>
          <a:ln/>
        </p:spPr>
      </p:sp>
      <p:sp>
        <p:nvSpPr>
          <p:cNvPr id="21" name="Text 18"/>
          <p:cNvSpPr/>
          <p:nvPr/>
        </p:nvSpPr>
        <p:spPr>
          <a:xfrm>
            <a:off x="5065776" y="4480560"/>
            <a:ext cx="2148840" cy="502920"/>
          </a:xfrm>
          <a:prstGeom prst="rect">
            <a:avLst/>
          </a:prstGeom>
          <a:noFill/>
          <a:ln/>
        </p:spPr>
        <p:txBody>
          <a:bodyPr wrap="square"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Be clear and specific</a:t>
            </a:r>
            <a:endParaRPr lang="en-US" sz="1100" dirty="0"/>
          </a:p>
        </p:txBody>
      </p:sp>
      <p:sp>
        <p:nvSpPr>
          <p:cNvPr id="22" name="Shape 19"/>
          <p:cNvSpPr/>
          <p:nvPr/>
        </p:nvSpPr>
        <p:spPr>
          <a:xfrm>
            <a:off x="7324344" y="4480560"/>
            <a:ext cx="2148840" cy="502920"/>
          </a:xfrm>
          <a:prstGeom prst="roundRect">
            <a:avLst>
              <a:gd name="adj" fmla="val 50909"/>
            </a:avLst>
          </a:prstGeom>
          <a:solidFill>
            <a:srgbClr val="F1EEE3"/>
          </a:solidFill>
          <a:ln/>
        </p:spPr>
      </p:sp>
      <p:sp>
        <p:nvSpPr>
          <p:cNvPr id="23" name="Text 20"/>
          <p:cNvSpPr/>
          <p:nvPr/>
        </p:nvSpPr>
        <p:spPr>
          <a:xfrm>
            <a:off x="7324344" y="4480560"/>
            <a:ext cx="2148840" cy="502920"/>
          </a:xfrm>
          <a:prstGeom prst="rect">
            <a:avLst/>
          </a:prstGeom>
          <a:noFill/>
          <a:ln/>
        </p:spPr>
        <p:txBody>
          <a:bodyPr wrap="square"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Include an example or two</a:t>
            </a:r>
            <a:endParaRPr lang="en-US" sz="1100" dirty="0"/>
          </a:p>
        </p:txBody>
      </p:sp>
      <p:sp>
        <p:nvSpPr>
          <p:cNvPr id="24" name="Shape 21"/>
          <p:cNvSpPr/>
          <p:nvPr/>
        </p:nvSpPr>
        <p:spPr>
          <a:xfrm>
            <a:off x="9582912" y="4480560"/>
            <a:ext cx="2148840" cy="502920"/>
          </a:xfrm>
          <a:prstGeom prst="roundRect">
            <a:avLst>
              <a:gd name="adj" fmla="val 50909"/>
            </a:avLst>
          </a:prstGeom>
          <a:solidFill>
            <a:srgbClr val="F1EEE3"/>
          </a:solidFill>
          <a:ln/>
        </p:spPr>
      </p:sp>
      <p:sp>
        <p:nvSpPr>
          <p:cNvPr id="25" name="Text 22"/>
          <p:cNvSpPr/>
          <p:nvPr/>
        </p:nvSpPr>
        <p:spPr>
          <a:xfrm>
            <a:off x="9582912" y="4480560"/>
            <a:ext cx="2148840" cy="502920"/>
          </a:xfrm>
          <a:prstGeom prst="rect">
            <a:avLst/>
          </a:prstGeom>
          <a:noFill/>
          <a:ln/>
        </p:spPr>
        <p:txBody>
          <a:bodyPr wrap="square"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Break the task into steps</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icPr>
            <a:picLocks noChangeAspect="1"/>
          </p:cNvPicPr>
          <p:nvPr/>
        </p:nvPicPr>
        <p:blipFill>
          <a:blip r:embed="rId3"/>
          <a:stretch>
            <a:fillRect/>
          </a:stretch>
        </p:blipFill>
        <p:spPr>
          <a:xfrm>
            <a:off x="614477" y="523037"/>
            <a:ext cx="416966" cy="416966"/>
          </a:xfrm>
          <a:prstGeom prst="rect">
            <a:avLst/>
          </a:prstGeom>
        </p:spPr>
      </p:pic>
      <p:sp>
        <p:nvSpPr>
          <p:cNvPr id="4" name="Text 1"/>
          <p:cNvSpPr/>
          <p:nvPr/>
        </p:nvSpPr>
        <p:spPr>
          <a:xfrm>
            <a:off x="1280160" y="502920"/>
            <a:ext cx="9601200" cy="548640"/>
          </a:xfrm>
          <a:prstGeom prst="rect">
            <a:avLst/>
          </a:prstGeom>
          <a:noFill/>
          <a:ln/>
        </p:spPr>
        <p:txBody>
          <a:bodyPr wrap="square"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Hands on: force a structured JSON response</a:t>
            </a:r>
            <a:endParaRPr lang="en-US" sz="2400" dirty="0"/>
          </a:p>
        </p:txBody>
      </p:sp>
      <p:sp>
        <p:nvSpPr>
          <p:cNvPr id="5" name="Text 2"/>
          <p:cNvSpPr/>
          <p:nvPr/>
        </p:nvSpPr>
        <p:spPr>
          <a:xfrm>
            <a:off x="1280160" y="1051560"/>
            <a:ext cx="10058400" cy="365760"/>
          </a:xfrm>
          <a:prstGeom prst="rect">
            <a:avLst/>
          </a:prstGeom>
          <a:noFill/>
          <a:ln/>
        </p:spPr>
        <p:txBody>
          <a:bodyPr wrap="square" rtlCol="0" anchor="ctr"/>
          <a:lstStyle/>
          <a:p>
            <a:pPr marL="0" indent="0">
              <a:buNone/>
            </a:pPr>
            <a:r>
              <a:rPr lang="en-US" sz="1300" i="1" dirty="0">
                <a:solidFill>
                  <a:srgbClr val="3A3F4B"/>
                </a:solidFill>
                <a:latin typeface="Calibri" pitchFamily="34" charset="0"/>
                <a:ea typeface="Calibri" pitchFamily="34" charset="-122"/>
                <a:cs typeface="Calibri" pitchFamily="34" charset="-120"/>
              </a:rPr>
              <a:t>This is the pattern Repo 1 needs this afternoon: a system prompt that returns parseable JSON, every time.</a:t>
            </a:r>
            <a:endParaRPr lang="en-US" sz="1300" dirty="0"/>
          </a:p>
        </p:txBody>
      </p:sp>
      <p:sp>
        <p:nvSpPr>
          <p:cNvPr id="6" name="Shape 3"/>
          <p:cNvSpPr/>
          <p:nvPr/>
        </p:nvSpPr>
        <p:spPr>
          <a:xfrm>
            <a:off x="548640" y="1600200"/>
            <a:ext cx="11064240" cy="1371600"/>
          </a:xfrm>
          <a:prstGeom prst="roundRect">
            <a:avLst>
              <a:gd name="adj" fmla="val 5333"/>
            </a:avLst>
          </a:prstGeom>
          <a:solidFill>
            <a:srgbClr val="14213D"/>
          </a:solidFill>
          <a:ln/>
        </p:spPr>
      </p:sp>
      <p:sp>
        <p:nvSpPr>
          <p:cNvPr id="7" name="Text 4"/>
          <p:cNvSpPr/>
          <p:nvPr/>
        </p:nvSpPr>
        <p:spPr>
          <a:xfrm>
            <a:off x="822960" y="1737360"/>
            <a:ext cx="10424160" cy="320040"/>
          </a:xfrm>
          <a:prstGeom prst="rect">
            <a:avLst/>
          </a:prstGeom>
          <a:noFill/>
          <a:ln/>
        </p:spPr>
        <p:txBody>
          <a:bodyPr wrap="square" rtlCol="0" anchor="ctr"/>
          <a:lstStyle/>
          <a:p>
            <a:pPr marL="0" indent="0">
              <a:buNone/>
            </a:pPr>
            <a:r>
              <a:rPr lang="en-US" sz="1200" i="1" dirty="0">
                <a:solidFill>
                  <a:srgbClr val="8FA3C9"/>
                </a:solidFill>
                <a:latin typeface="Calibri" pitchFamily="34" charset="0"/>
                <a:ea typeface="Calibri" pitchFamily="34" charset="-122"/>
                <a:cs typeface="Calibri" pitchFamily="34" charset="-120"/>
              </a:rPr>
              <a:t>System prompt:</a:t>
            </a:r>
            <a:endParaRPr lang="en-US" sz="1200" dirty="0"/>
          </a:p>
        </p:txBody>
      </p:sp>
      <p:sp>
        <p:nvSpPr>
          <p:cNvPr id="8" name="Text 5"/>
          <p:cNvSpPr/>
          <p:nvPr/>
        </p:nvSpPr>
        <p:spPr>
          <a:xfrm>
            <a:off x="822960" y="2057400"/>
            <a:ext cx="10424160" cy="822960"/>
          </a:xfrm>
          <a:prstGeom prst="rect">
            <a:avLst/>
          </a:prstGeom>
          <a:noFill/>
          <a:ln/>
        </p:spPr>
        <p:txBody>
          <a:bodyPr wrap="square" rtlCol="0" anchor="ctr"/>
          <a:lstStyle/>
          <a:p>
            <a:pPr marL="0" indent="0">
              <a:buNone/>
            </a:pPr>
            <a:r>
              <a:rPr lang="en-US" sz="1400" i="1" dirty="0">
                <a:solidFill>
                  <a:srgbClr val="FFFFFF"/>
                </a:solidFill>
                <a:latin typeface="Cambria" pitchFamily="34" charset="0"/>
                <a:ea typeface="Cambria" pitchFamily="34" charset="-122"/>
                <a:cs typeface="Cambria" pitchFamily="34" charset="-120"/>
              </a:rPr>
              <a:t>“You are a financial signal explainer. Respond only with valid JSON matching this shape: {ticker, signal, confidence, one_sentence_reason}. No text outside the JSON.”</a:t>
            </a:r>
            <a:endParaRPr lang="en-US" sz="1400" dirty="0"/>
          </a:p>
        </p:txBody>
      </p:sp>
      <p:sp>
        <p:nvSpPr>
          <p:cNvPr id="9" name="Text 6"/>
          <p:cNvSpPr/>
          <p:nvPr/>
        </p:nvSpPr>
        <p:spPr>
          <a:xfrm>
            <a:off x="548640" y="3200400"/>
            <a:ext cx="7315200" cy="365760"/>
          </a:xfrm>
          <a:prstGeom prst="rect">
            <a:avLst/>
          </a:prstGeom>
          <a:noFill/>
          <a:ln/>
        </p:spPr>
        <p:txBody>
          <a:bodyPr wrap="square" rtlCol="0" anchor="ctr"/>
          <a:lstStyle/>
          <a:p>
            <a:pPr marL="0" indent="0">
              <a:buNone/>
            </a:pPr>
            <a:r>
              <a:rPr lang="en-US" sz="1600" b="1" dirty="0">
                <a:solidFill>
                  <a:srgbClr val="14213D"/>
                </a:solidFill>
                <a:latin typeface="Cambria" pitchFamily="34" charset="0"/>
                <a:ea typeface="Cambria" pitchFamily="34" charset="-122"/>
                <a:cs typeface="Cambria" pitchFamily="34" charset="-120"/>
              </a:rPr>
              <a:t>Try this, then break it</a:t>
            </a:r>
            <a:endParaRPr lang="en-US" sz="1600" dirty="0"/>
          </a:p>
        </p:txBody>
      </p:sp>
      <p:sp>
        <p:nvSpPr>
          <p:cNvPr id="10" name="Text 7"/>
          <p:cNvSpPr/>
          <p:nvPr/>
        </p:nvSpPr>
        <p:spPr>
          <a:xfrm>
            <a:off x="548640" y="3657600"/>
            <a:ext cx="10972800" cy="502920"/>
          </a:xfrm>
          <a:prstGeom prst="rect">
            <a:avLst/>
          </a:prstGeom>
          <a:noFill/>
          <a:ln/>
        </p:spPr>
        <p:txBody>
          <a:bodyPr wrap="square" rtlCol="0" anchor="ctr"/>
          <a:lstStyle/>
          <a:p>
            <a:pPr marL="342900" indent="-342900">
              <a:buSzPct val="100000"/>
              <a:buChar char="•"/>
            </a:pPr>
            <a:r>
              <a:rPr lang="en-US" sz="1350" dirty="0">
                <a:solidFill>
                  <a:srgbClr val="3A3F4B"/>
                </a:solidFill>
                <a:latin typeface="Calibri" pitchFamily="34" charset="0"/>
                <a:ea typeface="Calibri" pitchFamily="34" charset="-122"/>
                <a:cs typeface="Calibri" pitchFamily="34" charset="-120"/>
              </a:rPr>
              <a:t>Send a user prompt with a ticker and a moving average signal. Confirm the JSON parses cleanly.</a:t>
            </a:r>
            <a:endParaRPr lang="en-US" sz="1350" dirty="0"/>
          </a:p>
        </p:txBody>
      </p:sp>
      <p:sp>
        <p:nvSpPr>
          <p:cNvPr id="11" name="Text 8"/>
          <p:cNvSpPr/>
          <p:nvPr/>
        </p:nvSpPr>
        <p:spPr>
          <a:xfrm>
            <a:off x="548640" y="4251960"/>
            <a:ext cx="10972800" cy="502920"/>
          </a:xfrm>
          <a:prstGeom prst="rect">
            <a:avLst/>
          </a:prstGeom>
          <a:noFill/>
          <a:ln/>
        </p:spPr>
        <p:txBody>
          <a:bodyPr wrap="square" rtlCol="0" anchor="ctr"/>
          <a:lstStyle/>
          <a:p>
            <a:pPr marL="342900" indent="-342900">
              <a:buSzPct val="100000"/>
              <a:buChar char="•"/>
            </a:pPr>
            <a:r>
              <a:rPr lang="en-US" sz="1350" dirty="0">
                <a:solidFill>
                  <a:srgbClr val="3A3F4B"/>
                </a:solidFill>
                <a:latin typeface="Calibri" pitchFamily="34" charset="0"/>
                <a:ea typeface="Calibri" pitchFamily="34" charset="-122"/>
                <a:cs typeface="Calibri" pitchFamily="34" charset="-120"/>
              </a:rPr>
              <a:t>Lower max_tokens until the response gets cut off mid JSON. Notice it is truncated, not summarized.</a:t>
            </a:r>
            <a:endParaRPr lang="en-US" sz="1350" dirty="0"/>
          </a:p>
        </p:txBody>
      </p:sp>
      <p:sp>
        <p:nvSpPr>
          <p:cNvPr id="12" name="Text 9"/>
          <p:cNvSpPr/>
          <p:nvPr/>
        </p:nvSpPr>
        <p:spPr>
          <a:xfrm>
            <a:off x="548640" y="4846320"/>
            <a:ext cx="10972800" cy="502920"/>
          </a:xfrm>
          <a:prstGeom prst="rect">
            <a:avLst/>
          </a:prstGeom>
          <a:noFill/>
          <a:ln/>
        </p:spPr>
        <p:txBody>
          <a:bodyPr wrap="square" rtlCol="0" anchor="ctr"/>
          <a:lstStyle/>
          <a:p>
            <a:pPr marL="342900" indent="-342900">
              <a:buSzPct val="100000"/>
              <a:buChar char="•"/>
            </a:pPr>
            <a:r>
              <a:rPr lang="en-US" sz="1350" dirty="0">
                <a:solidFill>
                  <a:srgbClr val="3A3F4B"/>
                </a:solidFill>
                <a:latin typeface="Calibri" pitchFamily="34" charset="0"/>
                <a:ea typeface="Calibri" pitchFamily="34" charset="-122"/>
                <a:cs typeface="Calibri" pitchFamily="34" charset="-120"/>
              </a:rPr>
              <a:t>Remove the “no text outside the JSON” constraint and resend. Compare what comes back.</a:t>
            </a:r>
            <a:endParaRPr lang="en-US" sz="1350" dirty="0"/>
          </a:p>
        </p:txBody>
      </p:sp>
      <p:sp>
        <p:nvSpPr>
          <p:cNvPr id="13" name="Text 10"/>
          <p:cNvSpPr/>
          <p:nvPr/>
        </p:nvSpPr>
        <p:spPr>
          <a:xfrm>
            <a:off x="548640" y="5623560"/>
            <a:ext cx="10972800" cy="411480"/>
          </a:xfrm>
          <a:prstGeom prst="rect">
            <a:avLst/>
          </a:prstGeom>
          <a:noFill/>
          <a:ln/>
        </p:spPr>
        <p:txBody>
          <a:bodyPr wrap="square" rtlCol="0" anchor="ctr"/>
          <a:lstStyle/>
          <a:p>
            <a:pPr marL="0" indent="0">
              <a:buNone/>
            </a:pPr>
            <a:r>
              <a:rPr lang="en-US" sz="1300" i="1" dirty="0">
                <a:solidFill>
                  <a:srgbClr val="9A6B2C"/>
                </a:solidFill>
                <a:latin typeface="Calibri" pitchFamily="34" charset="0"/>
                <a:ea typeface="Calibri" pitchFamily="34" charset="-122"/>
                <a:cs typeface="Calibri" pitchFamily="34" charset="-120"/>
              </a:rPr>
              <a:t>Deliverable: save the system prompt version that survived all three tests to your repo.</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9A6B2C"/>
          </a:solidFill>
          <a:ln/>
        </p:spPr>
      </p:sp>
      <p:pic>
        <p:nvPicPr>
          <p:cNvPr id="3" name="Image 0" descr="preencoded.png"/>
          <p:cNvPicPr>
            <a:picLocks noChangeAspect="1"/>
          </p:cNvPicPr>
          <p:nvPr/>
        </p:nvPicPr>
        <p:blipFill>
          <a:blip r:embed="rId3"/>
          <a:stretch>
            <a:fillRect/>
          </a:stretch>
        </p:blipFill>
        <p:spPr>
          <a:xfrm>
            <a:off x="619963" y="574243"/>
            <a:ext cx="451714" cy="451714"/>
          </a:xfrm>
          <a:prstGeom prst="rect">
            <a:avLst/>
          </a:prstGeom>
        </p:spPr>
      </p:pic>
      <p:sp>
        <p:nvSpPr>
          <p:cNvPr id="4" name="Text 1"/>
          <p:cNvSpPr/>
          <p:nvPr/>
        </p:nvSpPr>
        <p:spPr>
          <a:xfrm>
            <a:off x="1325880" y="548640"/>
            <a:ext cx="9601200" cy="54864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Prompt injection risks and responsible design</a:t>
            </a:r>
            <a:endParaRPr lang="en-US" sz="2400" dirty="0"/>
          </a:p>
        </p:txBody>
      </p:sp>
      <p:sp>
        <p:nvSpPr>
          <p:cNvPr id="5" name="Text 2"/>
          <p:cNvSpPr/>
          <p:nvPr/>
        </p:nvSpPr>
        <p:spPr>
          <a:xfrm>
            <a:off x="640080" y="1371600"/>
            <a:ext cx="10789920" cy="731520"/>
          </a:xfrm>
          <a:prstGeom prst="rect">
            <a:avLst/>
          </a:prstGeom>
          <a:noFill/>
          <a:ln/>
        </p:spPr>
        <p:txBody>
          <a:bodyPr wrap="square" rtlCol="0" anchor="ctr"/>
          <a:lstStyle/>
          <a:p>
            <a:pPr marL="0" indent="0">
              <a:buNone/>
            </a:pPr>
            <a:r>
              <a:rPr lang="en-US" sz="1450" dirty="0">
                <a:solidFill>
                  <a:srgbClr val="CADCFC"/>
                </a:solidFill>
                <a:latin typeface="Calibri" pitchFamily="34" charset="0"/>
                <a:ea typeface="Calibri" pitchFamily="34" charset="-122"/>
                <a:cs typeface="Calibri" pitchFamily="34" charset="-120"/>
              </a:rPr>
              <a:t>A system prompt is not a security boundary. Anything a user can type can attempt to override, extract, or distract from your instructions.</a:t>
            </a:r>
            <a:endParaRPr lang="en-US" sz="1450" dirty="0"/>
          </a:p>
        </p:txBody>
      </p:sp>
      <p:sp>
        <p:nvSpPr>
          <p:cNvPr id="6" name="Shape 3"/>
          <p:cNvSpPr/>
          <p:nvPr/>
        </p:nvSpPr>
        <p:spPr>
          <a:xfrm>
            <a:off x="640080" y="2286000"/>
            <a:ext cx="10789920" cy="1600200"/>
          </a:xfrm>
          <a:prstGeom prst="roundRect">
            <a:avLst>
              <a:gd name="adj" fmla="val 4571"/>
            </a:avLst>
          </a:prstGeom>
          <a:solidFill>
            <a:srgbClr val="1C2B52"/>
          </a:solidFill>
          <a:ln/>
        </p:spPr>
      </p:sp>
      <p:sp>
        <p:nvSpPr>
          <p:cNvPr id="7" name="Text 4"/>
          <p:cNvSpPr/>
          <p:nvPr/>
        </p:nvSpPr>
        <p:spPr>
          <a:xfrm>
            <a:off x="914400" y="2468880"/>
            <a:ext cx="7315200" cy="365760"/>
          </a:xfrm>
          <a:prstGeom prst="rect">
            <a:avLst/>
          </a:prstGeom>
          <a:noFill/>
          <a:ln/>
        </p:spPr>
        <p:txBody>
          <a:bodyPr wrap="square" rtlCol="0" anchor="ctr"/>
          <a:lstStyle/>
          <a:p>
            <a:pPr marL="0" indent="0">
              <a:buNone/>
            </a:pPr>
            <a:r>
              <a:rPr lang="en-US" sz="1500" b="1" dirty="0">
                <a:solidFill>
                  <a:srgbClr val="9A6B2C"/>
                </a:solidFill>
                <a:latin typeface="Cambria" pitchFamily="34" charset="0"/>
                <a:ea typeface="Cambria" pitchFamily="34" charset="-122"/>
                <a:cs typeface="Cambria" pitchFamily="34" charset="-120"/>
              </a:rPr>
              <a:t>A pattern to recognize, not to use</a:t>
            </a:r>
            <a:endParaRPr lang="en-US" sz="1500" dirty="0"/>
          </a:p>
        </p:txBody>
      </p:sp>
      <p:sp>
        <p:nvSpPr>
          <p:cNvPr id="8" name="Text 5"/>
          <p:cNvSpPr/>
          <p:nvPr/>
        </p:nvSpPr>
        <p:spPr>
          <a:xfrm>
            <a:off x="914400" y="2880360"/>
            <a:ext cx="10241280" cy="914400"/>
          </a:xfrm>
          <a:prstGeom prst="rect">
            <a:avLst/>
          </a:prstGeom>
          <a:noFill/>
          <a:ln/>
        </p:spPr>
        <p:txBody>
          <a:bodyPr wrap="square" rtlCol="0" anchor="ctr"/>
          <a:lstStyle/>
          <a:p>
            <a:pPr marL="0" indent="0">
              <a:lnSpc>
                <a:spcPct val="125000"/>
              </a:lnSpc>
              <a:buNone/>
            </a:pPr>
            <a:r>
              <a:rPr lang="en-US" sz="1250" dirty="0">
                <a:solidFill>
                  <a:srgbClr val="E4E9F5"/>
                </a:solidFill>
                <a:latin typeface="Calibri" pitchFamily="34" charset="0"/>
                <a:ea typeface="Calibri" pitchFamily="34" charset="-122"/>
                <a:cs typeface="Calibri" pitchFamily="34" charset="-120"/>
              </a:rPr>
              <a:t>Some attacks split a disallowed request into smaller, innocuous looking sub questions, then ask the model to combine the answers into the original request. Nothing in any single piece looks like a violation on its own. This is why boundaries need to describe intent, not just list forbidden keywords.</a:t>
            </a:r>
            <a:endParaRPr lang="en-US" sz="1250" dirty="0"/>
          </a:p>
        </p:txBody>
      </p:sp>
      <p:sp>
        <p:nvSpPr>
          <p:cNvPr id="9" name="Text 6"/>
          <p:cNvSpPr/>
          <p:nvPr/>
        </p:nvSpPr>
        <p:spPr>
          <a:xfrm>
            <a:off x="640080" y="4160520"/>
            <a:ext cx="10789920" cy="457200"/>
          </a:xfrm>
          <a:prstGeom prst="rect">
            <a:avLst/>
          </a:prstGeom>
          <a:noFill/>
          <a:ln/>
        </p:spPr>
        <p:txBody>
          <a:bodyPr wrap="square" rtlCol="0" anchor="ctr"/>
          <a:lstStyle/>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Never trust a system prompt alone to enforce safety or business rules, validate on the backend too.</a:t>
            </a:r>
            <a:endParaRPr lang="en-US" sz="1350" dirty="0"/>
          </a:p>
        </p:txBody>
      </p:sp>
      <p:sp>
        <p:nvSpPr>
          <p:cNvPr id="10" name="Text 7"/>
          <p:cNvSpPr/>
          <p:nvPr/>
        </p:nvSpPr>
        <p:spPr>
          <a:xfrm>
            <a:off x="640080" y="4727448"/>
            <a:ext cx="10789920" cy="457200"/>
          </a:xfrm>
          <a:prstGeom prst="rect">
            <a:avLst/>
          </a:prstGeom>
          <a:noFill/>
          <a:ln/>
        </p:spPr>
        <p:txBody>
          <a:bodyPr wrap="square" rtlCol="0" anchor="ctr"/>
          <a:lstStyle/>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Log and review unusual inputs the way you would review unusual trades.</a:t>
            </a:r>
            <a:endParaRPr lang="en-US" sz="1350" dirty="0"/>
          </a:p>
        </p:txBody>
      </p:sp>
      <p:sp>
        <p:nvSpPr>
          <p:cNvPr id="11" name="Text 8"/>
          <p:cNvSpPr/>
          <p:nvPr/>
        </p:nvSpPr>
        <p:spPr>
          <a:xfrm>
            <a:off x="640080" y="5294376"/>
            <a:ext cx="10789920" cy="457200"/>
          </a:xfrm>
          <a:prstGeom prst="rect">
            <a:avLst/>
          </a:prstGeom>
          <a:noFill/>
          <a:ln/>
        </p:spPr>
        <p:txBody>
          <a:bodyPr wrap="square" rtlCol="0" anchor="ctr"/>
          <a:lstStyle/>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If your app touches money or personal data, treat prompt handling with the same care as authentication.</a:t>
            </a:r>
            <a:endParaRPr lang="en-US" sz="1350" dirty="0"/>
          </a:p>
        </p:txBody>
      </p:sp>
      <p:sp>
        <p:nvSpPr>
          <p:cNvPr id="12" name="Text 9"/>
          <p:cNvSpPr/>
          <p:nvPr/>
        </p:nvSpPr>
        <p:spPr>
          <a:xfrm>
            <a:off x="640080" y="5943600"/>
            <a:ext cx="10789920" cy="365760"/>
          </a:xfrm>
          <a:prstGeom prst="rect">
            <a:avLst/>
          </a:prstGeom>
          <a:noFill/>
          <a:ln/>
        </p:spPr>
        <p:txBody>
          <a:bodyPr wrap="square" rtlCol="0" anchor="ctr"/>
          <a:lstStyle/>
          <a:p>
            <a:pPr marL="0" indent="0">
              <a:buNone/>
            </a:pPr>
            <a:r>
              <a:rPr lang="en-US" sz="1100" i="1" dirty="0">
                <a:solidFill>
                  <a:srgbClr val="8FA3C9"/>
                </a:solidFill>
                <a:latin typeface="Calibri" pitchFamily="34" charset="0"/>
                <a:ea typeface="Calibri" pitchFamily="34" charset="-122"/>
                <a:cs typeface="Calibri" pitchFamily="34" charset="-120"/>
              </a:rPr>
              <a:t>Instructor demo only: C_DecompRecon_Jailbreak.txt in the course materials repo, not for redistribution or production use.</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icPr>
            <a:picLocks noChangeAspect="1"/>
          </p:cNvPicPr>
          <p:nvPr/>
        </p:nvPicPr>
        <p:blipFill>
          <a:blip r:embed="rId3"/>
          <a:stretch>
            <a:fillRect/>
          </a:stretch>
        </p:blipFill>
        <p:spPr>
          <a:xfrm>
            <a:off x="614477" y="523037"/>
            <a:ext cx="416966" cy="416966"/>
          </a:xfrm>
          <a:prstGeom prst="rect">
            <a:avLst/>
          </a:prstGeom>
        </p:spPr>
      </p:pic>
      <p:sp>
        <p:nvSpPr>
          <p:cNvPr id="4" name="Text 1"/>
          <p:cNvSpPr/>
          <p:nvPr/>
        </p:nvSpPr>
        <p:spPr>
          <a:xfrm>
            <a:off x="1280160" y="502920"/>
            <a:ext cx="8229600" cy="548640"/>
          </a:xfrm>
          <a:prstGeom prst="rect">
            <a:avLst/>
          </a:prstGeom>
          <a:noFill/>
          <a:ln/>
        </p:spPr>
        <p:txBody>
          <a:bodyPr wrap="square"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Before you break for lunch</a:t>
            </a:r>
            <a:endParaRPr lang="en-US" sz="2600" dirty="0"/>
          </a:p>
        </p:txBody>
      </p:sp>
      <p:sp>
        <p:nvSpPr>
          <p:cNvPr id="5" name="Shape 2"/>
          <p:cNvSpPr/>
          <p:nvPr/>
        </p:nvSpPr>
        <p:spPr>
          <a:xfrm>
            <a:off x="548640" y="1371600"/>
            <a:ext cx="11064240" cy="777240"/>
          </a:xfrm>
          <a:prstGeom prst="roundRect">
            <a:avLst>
              <a:gd name="adj" fmla="val 8235"/>
            </a:avLst>
          </a:prstGeom>
          <a:solidFill>
            <a:srgbClr val="FFFFFF"/>
          </a:solidFill>
          <a:ln/>
          <a:effectLst>
            <a:outerShdw blurRad="63500" dist="25400" dir="5400000" algn="bl" rotWithShape="0">
              <a:srgbClr val="000000">
                <a:alpha val="8000"/>
              </a:srgbClr>
            </a:outerShdw>
          </a:effectLst>
        </p:spPr>
      </p:sp>
      <p:sp>
        <p:nvSpPr>
          <p:cNvPr id="6" name="Shape 3"/>
          <p:cNvSpPr/>
          <p:nvPr/>
        </p:nvSpPr>
        <p:spPr>
          <a:xfrm>
            <a:off x="731520" y="1508760"/>
            <a:ext cx="502920" cy="502920"/>
          </a:xfrm>
          <a:prstGeom prst="ellipse">
            <a:avLst/>
          </a:prstGeom>
          <a:solidFill>
            <a:srgbClr val="F1EEE3"/>
          </a:solidFill>
          <a:ln/>
        </p:spPr>
      </p:sp>
      <p:pic>
        <p:nvPicPr>
          <p:cNvPr id="7" name="Image 1" descr="preencoded.png"/>
          <p:cNvPicPr>
            <a:picLocks noChangeAspect="1"/>
          </p:cNvPicPr>
          <p:nvPr/>
        </p:nvPicPr>
        <p:blipFill>
          <a:blip r:embed="rId4"/>
          <a:stretch>
            <a:fillRect/>
          </a:stretch>
        </p:blipFill>
        <p:spPr>
          <a:xfrm>
            <a:off x="791870" y="1569110"/>
            <a:ext cx="382219" cy="382219"/>
          </a:xfrm>
          <a:prstGeom prst="rect">
            <a:avLst/>
          </a:prstGeom>
        </p:spPr>
      </p:pic>
      <p:sp>
        <p:nvSpPr>
          <p:cNvPr id="8" name="Text 4"/>
          <p:cNvSpPr/>
          <p:nvPr/>
        </p:nvSpPr>
        <p:spPr>
          <a:xfrm>
            <a:off x="1417320" y="1463040"/>
            <a:ext cx="9966960" cy="594360"/>
          </a:xfrm>
          <a:prstGeom prst="rect">
            <a:avLst/>
          </a:prstGeom>
          <a:noFill/>
          <a:ln/>
        </p:spPr>
        <p:txBody>
          <a:bodyPr wrap="square" rtlCol="0" anchor="ctr"/>
          <a:lstStyle/>
          <a:p>
            <a:pPr marL="0" indent="0">
              <a:buNone/>
            </a:pPr>
            <a:r>
              <a:rPr lang="en-US" sz="1400" dirty="0">
                <a:solidFill>
                  <a:srgbClr val="14213D"/>
                </a:solidFill>
                <a:latin typeface="Calibri" pitchFamily="34" charset="0"/>
                <a:ea typeface="Calibri" pitchFamily="34" charset="-122"/>
                <a:cs typeface="Calibri" pitchFamily="34" charset="-120"/>
              </a:rPr>
              <a:t>Save your best system prompt from the JSON exercise to your repo.</a:t>
            </a:r>
            <a:endParaRPr lang="en-US" sz="1400" dirty="0"/>
          </a:p>
        </p:txBody>
      </p:sp>
      <p:sp>
        <p:nvSpPr>
          <p:cNvPr id="9" name="Shape 5"/>
          <p:cNvSpPr/>
          <p:nvPr/>
        </p:nvSpPr>
        <p:spPr>
          <a:xfrm>
            <a:off x="548640" y="2267712"/>
            <a:ext cx="11064240" cy="777240"/>
          </a:xfrm>
          <a:prstGeom prst="roundRect">
            <a:avLst>
              <a:gd name="adj" fmla="val 8235"/>
            </a:avLst>
          </a:prstGeom>
          <a:solidFill>
            <a:srgbClr val="FFFFFF"/>
          </a:solidFill>
          <a:ln/>
          <a:effectLst>
            <a:outerShdw blurRad="63500" dist="25400" dir="5400000" algn="bl" rotWithShape="0">
              <a:srgbClr val="000000">
                <a:alpha val="8000"/>
              </a:srgbClr>
            </a:outerShdw>
          </a:effectLst>
        </p:spPr>
      </p:sp>
      <p:sp>
        <p:nvSpPr>
          <p:cNvPr id="10" name="Shape 6"/>
          <p:cNvSpPr/>
          <p:nvPr/>
        </p:nvSpPr>
        <p:spPr>
          <a:xfrm>
            <a:off x="731520" y="2404872"/>
            <a:ext cx="502920" cy="502920"/>
          </a:xfrm>
          <a:prstGeom prst="ellipse">
            <a:avLst/>
          </a:prstGeom>
          <a:solidFill>
            <a:srgbClr val="F1EEE3"/>
          </a:solidFill>
          <a:ln/>
        </p:spPr>
      </p:sp>
      <p:pic>
        <p:nvPicPr>
          <p:cNvPr id="11" name="Image 2" descr="preencoded.png"/>
          <p:cNvPicPr>
            <a:picLocks noChangeAspect="1"/>
          </p:cNvPicPr>
          <p:nvPr/>
        </p:nvPicPr>
        <p:blipFill>
          <a:blip r:embed="rId4"/>
          <a:stretch>
            <a:fillRect/>
          </a:stretch>
        </p:blipFill>
        <p:spPr>
          <a:xfrm>
            <a:off x="791870" y="2465222"/>
            <a:ext cx="382219" cy="382219"/>
          </a:xfrm>
          <a:prstGeom prst="rect">
            <a:avLst/>
          </a:prstGeom>
        </p:spPr>
      </p:pic>
      <p:sp>
        <p:nvSpPr>
          <p:cNvPr id="12" name="Text 7"/>
          <p:cNvSpPr/>
          <p:nvPr/>
        </p:nvSpPr>
        <p:spPr>
          <a:xfrm>
            <a:off x="1417320" y="2359152"/>
            <a:ext cx="9966960" cy="594360"/>
          </a:xfrm>
          <a:prstGeom prst="rect">
            <a:avLst/>
          </a:prstGeom>
          <a:noFill/>
          <a:ln/>
        </p:spPr>
        <p:txBody>
          <a:bodyPr wrap="square" rtlCol="0" anchor="ctr"/>
          <a:lstStyle/>
          <a:p>
            <a:pPr marL="0" indent="0">
              <a:buNone/>
            </a:pPr>
            <a:r>
              <a:rPr lang="en-US" sz="1400" dirty="0">
                <a:solidFill>
                  <a:srgbClr val="14213D"/>
                </a:solidFill>
                <a:latin typeface="Calibri" pitchFamily="34" charset="0"/>
                <a:ea typeface="Calibri" pitchFamily="34" charset="-122"/>
                <a:cs typeface="Calibri" pitchFamily="34" charset="-120"/>
              </a:rPr>
              <a:t>Name what changed if you revised it: what did not work in the first version?</a:t>
            </a:r>
            <a:endParaRPr lang="en-US" sz="1400" dirty="0"/>
          </a:p>
        </p:txBody>
      </p:sp>
      <p:sp>
        <p:nvSpPr>
          <p:cNvPr id="13" name="Shape 8"/>
          <p:cNvSpPr/>
          <p:nvPr/>
        </p:nvSpPr>
        <p:spPr>
          <a:xfrm>
            <a:off x="548640" y="3163824"/>
            <a:ext cx="11064240" cy="777240"/>
          </a:xfrm>
          <a:prstGeom prst="roundRect">
            <a:avLst>
              <a:gd name="adj" fmla="val 8235"/>
            </a:avLst>
          </a:prstGeom>
          <a:solidFill>
            <a:srgbClr val="FFFFFF"/>
          </a:solidFill>
          <a:ln/>
          <a:effectLst>
            <a:outerShdw blurRad="63500" dist="25400" dir="5400000" algn="bl" rotWithShape="0">
              <a:srgbClr val="000000">
                <a:alpha val="8000"/>
              </a:srgbClr>
            </a:outerShdw>
          </a:effectLst>
        </p:spPr>
      </p:sp>
      <p:sp>
        <p:nvSpPr>
          <p:cNvPr id="14" name="Shape 9"/>
          <p:cNvSpPr/>
          <p:nvPr/>
        </p:nvSpPr>
        <p:spPr>
          <a:xfrm>
            <a:off x="731520" y="3300984"/>
            <a:ext cx="502920" cy="502920"/>
          </a:xfrm>
          <a:prstGeom prst="ellipse">
            <a:avLst/>
          </a:prstGeom>
          <a:solidFill>
            <a:srgbClr val="F1EEE3"/>
          </a:solidFill>
          <a:ln/>
        </p:spPr>
      </p:sp>
      <p:pic>
        <p:nvPicPr>
          <p:cNvPr id="15" name="Image 3" descr="preencoded.png"/>
          <p:cNvPicPr>
            <a:picLocks noChangeAspect="1"/>
          </p:cNvPicPr>
          <p:nvPr/>
        </p:nvPicPr>
        <p:blipFill>
          <a:blip r:embed="rId4"/>
          <a:stretch>
            <a:fillRect/>
          </a:stretch>
        </p:blipFill>
        <p:spPr>
          <a:xfrm>
            <a:off x="791870" y="3361334"/>
            <a:ext cx="382219" cy="382219"/>
          </a:xfrm>
          <a:prstGeom prst="rect">
            <a:avLst/>
          </a:prstGeom>
        </p:spPr>
      </p:pic>
      <p:sp>
        <p:nvSpPr>
          <p:cNvPr id="16" name="Text 10"/>
          <p:cNvSpPr/>
          <p:nvPr/>
        </p:nvSpPr>
        <p:spPr>
          <a:xfrm>
            <a:off x="1417320" y="3255264"/>
            <a:ext cx="9966960" cy="594360"/>
          </a:xfrm>
          <a:prstGeom prst="rect">
            <a:avLst/>
          </a:prstGeom>
          <a:noFill/>
          <a:ln/>
        </p:spPr>
        <p:txBody>
          <a:bodyPr wrap="square" rtlCol="0" anchor="ctr"/>
          <a:lstStyle/>
          <a:p>
            <a:pPr marL="0" indent="0">
              <a:buNone/>
            </a:pPr>
            <a:r>
              <a:rPr lang="en-US" sz="1400" dirty="0">
                <a:solidFill>
                  <a:srgbClr val="14213D"/>
                </a:solidFill>
                <a:latin typeface="Calibri" pitchFamily="34" charset="0"/>
                <a:ea typeface="Calibri" pitchFamily="34" charset="-122"/>
                <a:cs typeface="Calibri" pitchFamily="34" charset="-120"/>
              </a:rPr>
              <a:t>Keep role, context, task, format, and constraints in mind for every prompt this afternoon.</a:t>
            </a:r>
            <a:endParaRPr lang="en-US" sz="1400" dirty="0"/>
          </a:p>
        </p:txBody>
      </p:sp>
      <p:sp>
        <p:nvSpPr>
          <p:cNvPr id="17" name="Shape 11"/>
          <p:cNvSpPr/>
          <p:nvPr/>
        </p:nvSpPr>
        <p:spPr>
          <a:xfrm>
            <a:off x="548640" y="4059936"/>
            <a:ext cx="11064240" cy="777240"/>
          </a:xfrm>
          <a:prstGeom prst="roundRect">
            <a:avLst>
              <a:gd name="adj" fmla="val 8235"/>
            </a:avLst>
          </a:prstGeom>
          <a:solidFill>
            <a:srgbClr val="FFFFFF"/>
          </a:solidFill>
          <a:ln/>
          <a:effectLst>
            <a:outerShdw blurRad="63500" dist="25400" dir="5400000" algn="bl" rotWithShape="0">
              <a:srgbClr val="000000">
                <a:alpha val="8000"/>
              </a:srgbClr>
            </a:outerShdw>
          </a:effectLst>
        </p:spPr>
      </p:sp>
      <p:sp>
        <p:nvSpPr>
          <p:cNvPr id="18" name="Shape 12"/>
          <p:cNvSpPr/>
          <p:nvPr/>
        </p:nvSpPr>
        <p:spPr>
          <a:xfrm>
            <a:off x="731520" y="4197096"/>
            <a:ext cx="502920" cy="502920"/>
          </a:xfrm>
          <a:prstGeom prst="ellipse">
            <a:avLst/>
          </a:prstGeom>
          <a:solidFill>
            <a:srgbClr val="F1EEE3"/>
          </a:solidFill>
          <a:ln/>
        </p:spPr>
      </p:sp>
      <p:pic>
        <p:nvPicPr>
          <p:cNvPr id="19" name="Image 4" descr="preencoded.png"/>
          <p:cNvPicPr>
            <a:picLocks noChangeAspect="1"/>
          </p:cNvPicPr>
          <p:nvPr/>
        </p:nvPicPr>
        <p:blipFill>
          <a:blip r:embed="rId4"/>
          <a:stretch>
            <a:fillRect/>
          </a:stretch>
        </p:blipFill>
        <p:spPr>
          <a:xfrm>
            <a:off x="791870" y="4257446"/>
            <a:ext cx="382219" cy="382219"/>
          </a:xfrm>
          <a:prstGeom prst="rect">
            <a:avLst/>
          </a:prstGeom>
        </p:spPr>
      </p:pic>
      <p:sp>
        <p:nvSpPr>
          <p:cNvPr id="20" name="Text 13"/>
          <p:cNvSpPr/>
          <p:nvPr/>
        </p:nvSpPr>
        <p:spPr>
          <a:xfrm>
            <a:off x="1417320" y="4151376"/>
            <a:ext cx="9966960" cy="594360"/>
          </a:xfrm>
          <a:prstGeom prst="rect">
            <a:avLst/>
          </a:prstGeom>
          <a:noFill/>
          <a:ln/>
        </p:spPr>
        <p:txBody>
          <a:bodyPr wrap="square" rtlCol="0" anchor="ctr"/>
          <a:lstStyle/>
          <a:p>
            <a:pPr marL="0" indent="0">
              <a:buNone/>
            </a:pPr>
            <a:r>
              <a:rPr lang="en-US" sz="1400" dirty="0">
                <a:solidFill>
                  <a:srgbClr val="14213D"/>
                </a:solidFill>
                <a:latin typeface="Calibri" pitchFamily="34" charset="0"/>
                <a:ea typeface="Calibri" pitchFamily="34" charset="-122"/>
                <a:cs typeface="Calibri" pitchFamily="34" charset="-120"/>
              </a:rPr>
              <a:t>Remember: a system prompt shapes behavior, it does not guarantee safety.</a:t>
            </a:r>
            <a:endParaRPr lang="en-US" sz="1400" dirty="0"/>
          </a:p>
        </p:txBody>
      </p:sp>
      <p:sp>
        <p:nvSpPr>
          <p:cNvPr id="21" name="Text 14"/>
          <p:cNvSpPr/>
          <p:nvPr/>
        </p:nvSpPr>
        <p:spPr>
          <a:xfrm>
            <a:off x="548640" y="5257800"/>
            <a:ext cx="10972800" cy="457200"/>
          </a:xfrm>
          <a:prstGeom prst="rect">
            <a:avLst/>
          </a:prstGeom>
          <a:noFill/>
          <a:ln/>
        </p:spPr>
        <p:txBody>
          <a:bodyPr wrap="square" rtlCol="0" anchor="ctr"/>
          <a:lstStyle/>
          <a:p>
            <a:pPr marL="0" indent="0">
              <a:buNone/>
            </a:pPr>
            <a:r>
              <a:rPr lang="en-US" sz="1450" i="1" dirty="0">
                <a:solidFill>
                  <a:srgbClr val="9A6B2C"/>
                </a:solidFill>
                <a:latin typeface="Cambria" pitchFamily="34" charset="0"/>
                <a:ea typeface="Cambria" pitchFamily="34" charset="-122"/>
                <a:cs typeface="Cambria" pitchFamily="34" charset="-120"/>
              </a:rPr>
              <a:t>Next: Vibe Coding Best Practices, then the Repo 1 Build this afternoon.</a:t>
            </a:r>
            <a:endParaRPr lang="en-US" sz="145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DT 2023">
      <a:dk1>
        <a:srgbClr val="808080"/>
      </a:dk1>
      <a:lt1>
        <a:srgbClr val="0672CB"/>
      </a:lt1>
      <a:dk2>
        <a:srgbClr val="FFFFFF"/>
      </a:dk2>
      <a:lt2>
        <a:srgbClr val="000000"/>
      </a:lt2>
      <a:accent1>
        <a:srgbClr val="0D2155"/>
      </a:accent1>
      <a:accent2>
        <a:srgbClr val="247554"/>
      </a:accent2>
      <a:accent3>
        <a:srgbClr val="F4BB5E"/>
      </a:accent3>
      <a:accent4>
        <a:srgbClr val="E5F8FF"/>
      </a:accent4>
      <a:accent5>
        <a:srgbClr val="691D3F"/>
      </a:accent5>
      <a:accent6>
        <a:srgbClr val="0C32A4"/>
      </a:accent6>
      <a:hlink>
        <a:srgbClr val="0672CB"/>
      </a:hlink>
      <a:folHlink>
        <a:srgbClr val="612CB0"/>
      </a:folHlink>
    </a:clrScheme>
    <a:fontScheme name="Custom 1">
      <a:majorFont>
        <a:latin typeface="Arial Nova 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12700">
          <a:solidFill>
            <a:schemeClr val="bg2"/>
          </a:solidFill>
        </a:ln>
      </a:spPr>
      <a:bodyPr rtlCol="0" anchor="ctr"/>
      <a:lstStyle>
        <a:defPPr algn="ctr">
          <a:defRPr sz="1200" dirty="0" smtClean="0">
            <a:solidFill>
              <a:schemeClr val="bg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ctr">
          <a:defRPr dirty="0" smtClean="0">
            <a:solidFill>
              <a:schemeClr val="bg2"/>
            </a:solidFill>
          </a:defRPr>
        </a:defPPr>
      </a:lstStyle>
    </a:txDef>
  </a:objectDefaults>
  <a:extraClrSchemeLst/>
  <a:extLst>
    <a:ext uri="{05A4C25C-085E-4340-85A3-A5531E510DB2}">
      <thm15:themeFamily xmlns:thm15="http://schemas.microsoft.com/office/thememl/2012/main" name="Office Theme" id="{2BBBCF5D-C9F2-43A8-A9F4-217604593F8D}" vid="{7EADAB52-8EFB-4C0A-8D56-13CF97080345}"/>
    </a:ext>
  </a:extLst>
</a:theme>
</file>

<file path=ppt/theme/theme4.xml><?xml version="1.0" encoding="utf-8"?>
<a:theme xmlns:a="http://schemas.openxmlformats.org/drawingml/2006/main" name="DataRobot – Presentation Master Dark">
  <a:themeElements>
    <a:clrScheme name="DataRobot – Presentation Master Dark">
      <a:dk1>
        <a:srgbClr val="000000"/>
      </a:dk1>
      <a:lt1>
        <a:srgbClr val="0A0A0C"/>
      </a:lt1>
      <a:dk2>
        <a:srgbClr val="A7A7A7"/>
      </a:dk2>
      <a:lt2>
        <a:srgbClr val="535353"/>
      </a:lt2>
      <a:accent1>
        <a:srgbClr val="0099FF"/>
      </a:accent1>
      <a:accent2>
        <a:srgbClr val="FF2E3C"/>
      </a:accent2>
      <a:accent3>
        <a:srgbClr val="762CA0"/>
      </a:accent3>
      <a:accent4>
        <a:srgbClr val="FFC000"/>
      </a:accent4>
      <a:accent5>
        <a:srgbClr val="92CA18"/>
      </a:accent5>
      <a:accent6>
        <a:srgbClr val="27AFF4"/>
      </a:accent6>
      <a:hlink>
        <a:srgbClr val="0000FF"/>
      </a:hlink>
      <a:folHlink>
        <a:srgbClr val="FF00FF"/>
      </a:folHlink>
    </a:clrScheme>
    <a:fontScheme name="DataRobot – Presentation Master Dark">
      <a:majorFont>
        <a:latin typeface="Arial"/>
        <a:ea typeface="Arial"/>
        <a:cs typeface="Arial"/>
      </a:majorFont>
      <a:minorFont>
        <a:latin typeface="Helvetica"/>
        <a:ea typeface="Helvetica"/>
        <a:cs typeface="Helvetica"/>
      </a:minorFont>
    </a:fontScheme>
    <a:fmtScheme name="DataRobot – Presentation Master 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6334</TotalTime>
  <Words>5013</Words>
  <Application>Microsoft Macintosh PowerPoint</Application>
  <PresentationFormat>Widescreen</PresentationFormat>
  <Paragraphs>571</Paragraphs>
  <Slides>43</Slides>
  <Notes>35</Notes>
  <HiddenSlides>1</HiddenSlides>
  <MMClips>3</MMClips>
  <ScaleCrop>false</ScaleCrop>
  <HeadingPairs>
    <vt:vector size="8" baseType="variant">
      <vt:variant>
        <vt:lpstr>Fonts Used</vt:lpstr>
      </vt:variant>
      <vt:variant>
        <vt:i4>13</vt:i4>
      </vt:variant>
      <vt:variant>
        <vt:lpstr>Theme</vt:lpstr>
      </vt:variant>
      <vt:variant>
        <vt:i4>4</vt:i4>
      </vt:variant>
      <vt:variant>
        <vt:lpstr>Embedded OLE Servers</vt:lpstr>
      </vt:variant>
      <vt:variant>
        <vt:i4>1</vt:i4>
      </vt:variant>
      <vt:variant>
        <vt:lpstr>Slide Titles</vt:lpstr>
      </vt:variant>
      <vt:variant>
        <vt:i4>43</vt:i4>
      </vt:variant>
    </vt:vector>
  </HeadingPairs>
  <TitlesOfParts>
    <vt:vector size="61" baseType="lpstr">
      <vt:lpstr>Aptos</vt:lpstr>
      <vt:lpstr>Aptos Display</vt:lpstr>
      <vt:lpstr>Arial</vt:lpstr>
      <vt:lpstr>Arial Black</vt:lpstr>
      <vt:lpstr>Arial Nova Light</vt:lpstr>
      <vt:lpstr>Calibri</vt:lpstr>
      <vt:lpstr>Cambria</vt:lpstr>
      <vt:lpstr>Courier New</vt:lpstr>
      <vt:lpstr>Helvetica</vt:lpstr>
      <vt:lpstr>Palatino Linotype</vt:lpstr>
      <vt:lpstr>Roboto</vt:lpstr>
      <vt:lpstr>Roboto Light</vt:lpstr>
      <vt:lpstr>Wingdings</vt:lpstr>
      <vt:lpstr>Office Theme</vt:lpstr>
      <vt:lpstr>1_Office Theme</vt:lpstr>
      <vt:lpstr>2_Office Theme</vt:lpstr>
      <vt:lpstr>DataRobot – Presentation Master Dark</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Fundamental differences </vt:lpstr>
      <vt:lpstr>What's going on in the background? </vt:lpstr>
      <vt:lpstr>Core concept of LLMs: Models have different weights</vt:lpstr>
      <vt:lpstr>Words are represented as vectors of numbers (embeddings) that place similar meanings near each other, learned from how tokens co-occur across training data. The model's weights are the learned parameters that predict the next token.</vt:lpstr>
      <vt:lpstr>In a hyperspace words &amp; concepts are identified in close proximity.</vt:lpstr>
      <vt:lpstr>In the background, models are made of weights making probabilistic predictions of the next token. </vt:lpstr>
      <vt:lpstr>We see variability since AI output is probabilistic token by token. </vt:lpstr>
      <vt:lpstr>Frontier vs Open-Weight — the Gap is Closing Fast </vt:lpstr>
      <vt:lpstr>Is Generative AI a new frontier for the business world?</vt:lpstr>
      <vt:lpstr>AI is currently in a hyperbolic capability curve.</vt:lpstr>
      <vt:lpstr>And organizations are choking on the bills</vt:lpstr>
      <vt:lpstr>Cultivate an adaptive mindset.</vt:lpstr>
      <vt:lpstr>Model Distillation (Weight Copying) Impacts your choice.</vt:lpstr>
      <vt:lpstr>If you rent your model you pay for consumption in tokens.</vt:lpstr>
      <vt:lpstr>PowerPoint Presentation</vt:lpstr>
      <vt:lpstr>PowerPoint Presentation</vt:lpstr>
      <vt:lpstr>PowerPoint Presentation</vt:lpstr>
      <vt:lpstr>Self-hosting, organizations can save with caching.</vt:lpstr>
      <vt:lpstr>Organizations can reduce costs in various ways</vt:lpstr>
      <vt:lpstr>PowerPoint Presentation</vt:lpstr>
      <vt:lpstr>PowerPoint Presentation</vt:lpstr>
      <vt:lpstr>PowerPoint Presentation</vt:lpstr>
      <vt:lpstr>Show how caching reduces costs.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and System Prompt Best Practices</dc:title>
  <dc:subject>PptxGenJS Presentation</dc:subject>
  <dc:creator>Ted Kwartler</dc:creator>
  <cp:lastModifiedBy>Ted Kwartler</cp:lastModifiedBy>
  <cp:revision>23</cp:revision>
  <dcterms:created xsi:type="dcterms:W3CDTF">2026-07-06T13:30:53Z</dcterms:created>
  <dcterms:modified xsi:type="dcterms:W3CDTF">2026-07-21T02:08:00Z</dcterms:modified>
</cp:coreProperties>
</file>