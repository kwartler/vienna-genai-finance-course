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/>
    <p:restoredTop sz="86259"/>
  </p:normalViewPr>
  <p:slideViewPr>
    <p:cSldViewPr snapToGrid="0" snapToObjects="1">
      <p:cViewPr varScale="1">
        <p:scale>
          <a:sx n="105" d="100"/>
          <a:sy n="105" d="100"/>
        </p:scale>
        <p:origin x="6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1.5hrs  - from internet issues &amp; different setups, some on </a:t>
            </a:r>
            <a:r>
              <a:rPr lang="en-US" dirty="0" err="1"/>
              <a:t>posit.cloud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RM </a:t>
            </a:r>
            <a:r>
              <a:rPr lang="en-US" sz="12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20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api.org/account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twelvedata.com/register" TargetMode="External"/><Relationship Id="rId12" Type="http://schemas.openxmlformats.org/officeDocument/2006/relationships/hyperlink" Target="https://twelvedata.com/account/api-key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istudio.google.com/prompts/new_chat" TargetMode="External"/><Relationship Id="rId11" Type="http://schemas.openxmlformats.org/officeDocument/2006/relationships/hyperlink" Target="https://aistudio.google.com/app/api-keys" TargetMode="External"/><Relationship Id="rId5" Type="http://schemas.openxmlformats.org/officeDocument/2006/relationships/hyperlink" Target="https://site.financialmodelingprep.com/" TargetMode="External"/><Relationship Id="rId10" Type="http://schemas.openxmlformats.org/officeDocument/2006/relationships/hyperlink" Target="https://site.financialmodelingprep.com/developer/docs/dashboard?tab=apiDetails" TargetMode="External"/><Relationship Id="rId4" Type="http://schemas.openxmlformats.org/officeDocument/2006/relationships/hyperlink" Target="https://newsdata.io/register" TargetMode="External"/><Relationship Id="rId9" Type="http://schemas.openxmlformats.org/officeDocument/2006/relationships/hyperlink" Target="https://newsdata.io/dashboard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First Session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  <p:sp>
        <p:nvSpPr>
          <p:cNvPr id="4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0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E95FEF-F25F-49DA-B23C-0D390B920175}" type="slidenum">
              <a:rPr lang="en-US" sz="1000">
                <a:solidFill>
                  <a:srgbClr val="8996A0"/>
                </a:solidFill>
                <a:latin typeface="Arial"/>
              </a:rPr>
              <a:t>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CBAB69-6B11-4C03-8969-4D5C6FEC9E29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4898814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06340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40173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379927B-129E-4138-A712-9EE54BEB72D9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03434DA-3C10-4D04-BF4D-58C5B41CD2E0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5280FE5-7EC2-43FE-87C2-ED2D21DD303D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68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8AA9312-0223-4CCA-896F-671719C81C63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421332"/>
            <a:chOff x="-1158925" y="4657070"/>
            <a:chExt cx="1920240" cy="1421332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416504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998404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7EFB9A1-7F00-416A-97DF-53E0F09DE0E7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7280634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544717" y="1997839"/>
            <a:ext cx="146944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Google</a:t>
            </a:r>
          </a:p>
          <a:p>
            <a:pPr algn="ctr"/>
            <a:r>
              <a:rPr lang="en-US" sz="1400" dirty="0"/>
              <a:t>Facebook</a:t>
            </a:r>
          </a:p>
          <a:p>
            <a:pPr algn="ctr"/>
            <a:r>
              <a:rPr lang="en-US" sz="1400" dirty="0"/>
              <a:t>Twitter</a:t>
            </a:r>
          </a:p>
          <a:p>
            <a:pPr algn="ctr"/>
            <a:r>
              <a:rPr lang="en-US" sz="1400" dirty="0"/>
              <a:t>Foursquare</a:t>
            </a:r>
          </a:p>
          <a:p>
            <a:pPr algn="ctr"/>
            <a:r>
              <a:rPr lang="en-US" sz="1400" dirty="0"/>
              <a:t>Kickstarter</a:t>
            </a:r>
          </a:p>
          <a:p>
            <a:pPr algn="ctr"/>
            <a:r>
              <a:rPr lang="en-US" sz="1400" dirty="0"/>
              <a:t>New York Times</a:t>
            </a:r>
          </a:p>
          <a:p>
            <a:pPr algn="ctr"/>
            <a:r>
              <a:rPr lang="en-US" sz="1400" dirty="0"/>
              <a:t>Economist</a:t>
            </a:r>
          </a:p>
          <a:p>
            <a:pPr algn="ctr"/>
            <a:r>
              <a:rPr lang="en-US" sz="1400" dirty="0"/>
              <a:t>Warner Bros.</a:t>
            </a:r>
          </a:p>
          <a:p>
            <a:pPr algn="ctr"/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Zillow</a:t>
            </a:r>
          </a:p>
          <a:p>
            <a:pPr algn="ctr"/>
            <a:r>
              <a:rPr lang="en-US" sz="1200" dirty="0"/>
              <a:t>Trulia</a:t>
            </a:r>
          </a:p>
          <a:p>
            <a:pPr algn="ctr"/>
            <a:r>
              <a:rPr lang="en-US" sz="1200" dirty="0"/>
              <a:t>eHarmony</a:t>
            </a:r>
          </a:p>
          <a:p>
            <a:pPr algn="ctr"/>
            <a:r>
              <a:rPr lang="en-US" sz="1200" dirty="0" err="1"/>
              <a:t>PredictWise</a:t>
            </a:r>
            <a:endParaRPr lang="en-US" sz="1200" dirty="0"/>
          </a:p>
          <a:p>
            <a:pPr algn="ctr"/>
            <a:r>
              <a:rPr lang="en-US" sz="12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Lloyd’s Bank</a:t>
            </a:r>
          </a:p>
          <a:p>
            <a:pPr algn="ctr"/>
            <a:r>
              <a:rPr lang="en-US" sz="1400" dirty="0"/>
              <a:t>Credit Suisse</a:t>
            </a:r>
          </a:p>
          <a:p>
            <a:pPr algn="ctr"/>
            <a:r>
              <a:rPr lang="en-US" sz="1400" dirty="0"/>
              <a:t>American Century</a:t>
            </a:r>
          </a:p>
          <a:p>
            <a:pPr algn="ctr"/>
            <a:r>
              <a:rPr lang="en-US" sz="1400" dirty="0"/>
              <a:t>Australia and New Zealand Banking Group</a:t>
            </a:r>
          </a:p>
          <a:p>
            <a:pPr algn="ctr"/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472714" y="1665041"/>
            <a:ext cx="143940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SAS</a:t>
            </a:r>
          </a:p>
          <a:p>
            <a:pPr algn="ctr"/>
            <a:r>
              <a:rPr lang="en-US" sz="1200" dirty="0"/>
              <a:t>Oracle</a:t>
            </a:r>
          </a:p>
          <a:p>
            <a:pPr algn="ctr"/>
            <a:r>
              <a:rPr lang="en-US" sz="1200" dirty="0"/>
              <a:t>IBM</a:t>
            </a:r>
          </a:p>
          <a:p>
            <a:pPr algn="ctr"/>
            <a:r>
              <a:rPr lang="en-US" sz="1200" dirty="0"/>
              <a:t>Teradata</a:t>
            </a:r>
          </a:p>
          <a:p>
            <a:pPr algn="ctr"/>
            <a:r>
              <a:rPr lang="en-US" sz="1200" dirty="0"/>
              <a:t>Coursera</a:t>
            </a:r>
          </a:p>
          <a:p>
            <a:pPr algn="ctr"/>
            <a:r>
              <a:rPr lang="en-US" sz="1200" dirty="0"/>
              <a:t>SAP</a:t>
            </a:r>
          </a:p>
          <a:p>
            <a:pPr algn="ctr"/>
            <a:r>
              <a:rPr lang="en-US" sz="1200" dirty="0" err="1"/>
              <a:t>DataCamp</a:t>
            </a:r>
            <a:endParaRPr lang="en-US" sz="1200" dirty="0"/>
          </a:p>
          <a:p>
            <a:pPr algn="ctr"/>
            <a:r>
              <a:rPr lang="en-US" sz="1200" dirty="0"/>
              <a:t>Alteryx</a:t>
            </a:r>
          </a:p>
          <a:p>
            <a:pPr algn="ctr"/>
            <a:r>
              <a:rPr lang="en-US" sz="1200" dirty="0"/>
              <a:t>TIBCO</a:t>
            </a:r>
          </a:p>
          <a:p>
            <a:pPr algn="ctr"/>
            <a:r>
              <a:rPr lang="en-US" sz="1200" dirty="0" err="1"/>
              <a:t>OneTick</a:t>
            </a:r>
            <a:endParaRPr lang="en-US" sz="1200" dirty="0"/>
          </a:p>
          <a:p>
            <a:pPr algn="ctr"/>
            <a:r>
              <a:rPr lang="en-US" sz="1200" dirty="0"/>
              <a:t>Amazon</a:t>
            </a:r>
          </a:p>
          <a:p>
            <a:pPr algn="ctr"/>
            <a:r>
              <a:rPr lang="en-US" sz="1200" dirty="0"/>
              <a:t>Google</a:t>
            </a:r>
          </a:p>
          <a:p>
            <a:pPr algn="ctr"/>
            <a:r>
              <a:rPr lang="en-US" sz="12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20960" y="2023040"/>
            <a:ext cx="202715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4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4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7280634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989800-A3F2-49B8-9651-62F6CB3D6564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89833B6-5FDD-42AD-A513-2087AA9EC2BB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 </a:t>
            </a: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[this is not how you build production software]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365377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Understand where you data is &amp; if it’s appropriate to use.  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65377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3365377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5" name="Text 22"/>
          <p:cNvSpPr/>
          <p:nvPr/>
        </p:nvSpPr>
        <p:spPr>
          <a:xfrm>
            <a:off x="3365376" y="4434840"/>
            <a:ext cx="507758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30" name="Text 27"/>
          <p:cNvSpPr/>
          <p:nvPr/>
        </p:nvSpPr>
        <p:spPr>
          <a:xfrm>
            <a:off x="3365377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FB30959-94A9-45FC-93A6-979C9001A4D9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  Sometimes your data is online, in a database or a file.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419" y="1933549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263544" y="2691581"/>
            <a:ext cx="5389111" cy="1446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Avoid Garbage In::Garbage Out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 I have access?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 I know what the data represents? (variable definitions)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How is the data created?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Does the data change often?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Can I trust the data?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Will I have the data when I need it for future predictions?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…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1574279-E6D6-44E4-B36C-868B488E414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0DA4EDD-5CD3-8754-4D2E-39BBA561453E}"/>
              </a:ext>
            </a:extLst>
          </p:cNvPr>
          <p:cNvSpPr/>
          <p:nvPr/>
        </p:nvSpPr>
        <p:spPr>
          <a:xfrm>
            <a:off x="263544" y="3155401"/>
            <a:ext cx="2210862" cy="10102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622101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 can do many things and we will specialize it for financial data and analysis with:</a:t>
            </a:r>
            <a:b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Arial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), library(TTR) &amp; library(httr2)</a:t>
            </a:r>
            <a:endParaRPr lang="en-US" sz="1250" dirty="0">
              <a:latin typeface="Arial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8F91F3E-2E85-41F2-B530-5F478FD30F01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F2DBD80-1D6C-4624-B01C-BA3D5DDD16FB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9006" y="338328"/>
            <a:ext cx="3495675" cy="349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6014585" y="3283593"/>
            <a:ext cx="3131507" cy="1164920"/>
          </a:xfrm>
          <a:prstGeom prst="wedgeRoundRectCallout">
            <a:avLst>
              <a:gd name="adj1" fmla="val -98941"/>
              <a:gd name="adj2" fmla="val -112760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www.csvFile.csv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383308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an accessible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BF88C4F-0CC2-4D3A-B9CE-36F424773699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Most software can export CSV &amp; the class files are either CSV or obtained from an API i.e. stock data.</a:t>
            </a:r>
            <a:endParaRPr lang="en-US" sz="16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36C4DFC-C3A3-466D-83F3-8E2F3507B46E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1098137" y="5893292"/>
            <a:ext cx="8546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7195DF5-0E5D-46FF-8B79-A39EAEEEC04A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E74450A-49AB-40D2-B8A1-268FBDCAA4BD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520552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0F447FF-C511-4049-AD4D-C0D5584A2D2A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255765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A0002B9-8D83-464C-99C9-AC4B10E1A641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302427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BBB877B-C80C-4DA3-AFAB-F861E4AC020B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B682BD7-AB04-41F8-9284-70E2DF69FD56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32689B-CAC2-42AC-85C0-80D5F974BAB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CB8602B-0115-44E2-84F9-12FC4BCBC118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peel     (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615485" cy="6992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715280" y="43563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21F2E62-A3E9-423A-B60B-4BED54E7635F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(banana)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 &lt;- peel(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banana     &lt;- 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(“Banana.csv”)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240630" y="3755139"/>
            <a:ext cx="2210862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plot(</a:t>
            </a:r>
            <a:r>
              <a:rPr lang="en-US" dirty="0" err="1">
                <a:latin typeface="Arial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5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18E87F9-9280-40B9-968A-7F6EA091D49C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51F5F0E-E6E9-4570-87C2-3F1A316EBB3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Section 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5A13952-CEB4-42C2-A5E7-A6B10A0D214B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97C18E5-D2BE-410B-908A-AA146ADE137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B8B7058-3683-446F-BA30-40C95E11CC63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148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1. Select node “LTS” [long-term-support], mac, &amp; brew.</a:t>
            </a:r>
            <a:br>
              <a:rPr lang="en-US" sz="1600" dirty="0"/>
            </a:br>
            <a:r>
              <a:rPr lang="en-US" sz="1600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B1095E-3FF4-47DD-AF87-25A44CD7BBFB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D5E17D5-FAED-4DD1-B45D-A34468FC08F8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ACFC7D5F-099B-49E1-8F81-2B662DB3E571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11775D8-4A14-4863-AA25-36F16FBE6C5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843BE22-6414-4BBF-B154-8FDF86092477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4897E2B-68DC-4F6A-9F76-93FBD94FE189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We will help figure it out.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course.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Plus much of the work can be done in AI-Studio online.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A73CF022-B858-40E0-AB71-88BFFB7A19A3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8305234" cy="170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strike="sngStrike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r>
              <a:rPr lang="en-US" sz="1600" dirty="0"/>
              <a:t>  </a:t>
            </a:r>
            <a:r>
              <a:rPr lang="en-US" sz="1600" dirty="0">
                <a:hlinkClick r:id="rId4"/>
              </a:rPr>
              <a:t>https://newsdata.io/register</a:t>
            </a:r>
            <a:endParaRPr lang="en-US" sz="1600" dirty="0"/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https://twelvedata.com/register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strike="sngStrike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https://newsapi.org/account</a:t>
            </a:r>
            <a:r>
              <a:rPr lang="en-US" sz="1500" strike="sngStrike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>
                <a:hlinkClick r:id="rId9"/>
              </a:rPr>
              <a:t>https://newsdata.io/dashboard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strike="sngStrike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/>
              </a:rPr>
              <a:t>https://aistudio.google.com/app/api-keys</a:t>
            </a:r>
            <a:endParaRPr lang="en-US" sz="1500" strike="sngStrike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/>
              </a:rPr>
              <a:t>https://twelvedata.com/account/api-keys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scripts; put it into your environment variables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C5CD546-7506-4574-848B-DE5B8DF9AAC0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/>
              <a:t>A saved API key from </a:t>
            </a:r>
            <a:r>
              <a:rPr lang="en-US" sz="1400" dirty="0" err="1"/>
              <a:t>newsdata.io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5404" y="5851683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time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2" name="Text 14">
            <a:extLst>
              <a:ext uri="{FF2B5EF4-FFF2-40B4-BE49-F238E27FC236}">
                <a16:creationId xmlns:a16="http://schemas.microsoft.com/office/drawing/2014/main" id="{EE17CB38-3BD6-3606-5066-7AB444E2B1A3}"/>
              </a:ext>
            </a:extLst>
          </p:cNvPr>
          <p:cNvSpPr/>
          <p:nvPr/>
        </p:nvSpPr>
        <p:spPr>
          <a:xfrm>
            <a:off x="1051560" y="5159125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Twelve Data API Key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35EDB8C-0222-AAB6-8EC3-5F2921DC5024}"/>
              </a:ext>
            </a:extLst>
          </p:cNvPr>
          <p:cNvSpPr/>
          <p:nvPr/>
        </p:nvSpPr>
        <p:spPr>
          <a:xfrm>
            <a:off x="545404" y="522041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2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F12E43-2F08-49FA-8EEF-FBBC7A9B74D9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2761</TotalTime>
  <Words>3069</Words>
  <Application>Microsoft Macintosh PowerPoint</Application>
  <PresentationFormat>Widescreen</PresentationFormat>
  <Paragraphs>491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40</cp:revision>
  <dcterms:created xsi:type="dcterms:W3CDTF">2026-07-06T23:14:37Z</dcterms:created>
  <dcterms:modified xsi:type="dcterms:W3CDTF">2026-08-04T00:57:15Z</dcterms:modified>
</cp:coreProperties>
</file>