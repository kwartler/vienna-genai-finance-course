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1. Confirm everyone has pushed Repo 1 to GitHub before dismissing. Tomorrow's track split begins at 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9A6B2C">
              <a:alpha val="12000"/>
            </a:srgbClr>
          </a:solidFill>
          <a:ln/>
        </p:spPr>
      </p:sp>
      <p:sp>
        <p:nvSpPr>
          <p:cNvPr id="3" name="Shape 1"/>
          <p:cNvSpPr/>
          <p:nvPr/>
        </p:nvSpPr>
        <p:spPr>
          <a:xfrm>
            <a:off x="-1463040" y="4937760"/>
            <a:ext cx="3291840" cy="3291840"/>
          </a:xfrm>
          <a:prstGeom prst="ellipse">
            <a:avLst/>
          </a:prstGeom>
          <a:solidFill>
            <a:srgbClr val="9A6B2C">
              <a:alpha val="12000"/>
            </a:srgbClr>
          </a:solidFill>
          <a:ln/>
        </p:spPr>
      </p:sp>
      <p:sp>
        <p:nvSpPr>
          <p:cNvPr id="4" name="Shape 2"/>
          <p:cNvSpPr/>
          <p:nvPr/>
        </p:nvSpPr>
        <p:spPr>
          <a:xfrm>
            <a:off x="640080" y="548640"/>
            <a:ext cx="640080" cy="640080"/>
          </a:xfrm>
          <a:prstGeom prst="ellipse">
            <a:avLst/>
          </a:prstGeom>
          <a:solidFill>
            <a:srgbClr val="9A6B2C"/>
          </a:solidFill>
          <a:ln/>
        </p:spPr>
      </p:sp>
      <p:pic>
        <p:nvPicPr>
          <p:cNvPr id="5" name="Image 0" descr="preencoded.png">    </p:cNvPr>
          <p:cNvPicPr>
            <a:picLocks noChangeAspect="1"/>
          </p:cNvPicPr>
          <p:nvPr/>
        </p:nvPicPr>
        <p:blipFill>
          <a:blip r:embed="rId1"/>
          <a:stretch>
            <a:fillRect/>
          </a:stretch>
        </p:blipFill>
        <p:spPr>
          <a:xfrm>
            <a:off x="716890" y="625450"/>
            <a:ext cx="486461" cy="486461"/>
          </a:xfrm>
          <a:prstGeom prst="rect">
            <a:avLst/>
          </a:prstGeom>
        </p:spPr>
      </p:pic>
      <p:sp>
        <p:nvSpPr>
          <p:cNvPr id="6" name="Text 3"/>
          <p:cNvSpPr/>
          <p:nvPr/>
        </p:nvSpPr>
        <p:spPr>
          <a:xfrm>
            <a:off x="640080" y="1325880"/>
            <a:ext cx="5486400" cy="365760"/>
          </a:xfrm>
          <a:prstGeom prst="rect">
            <a:avLst/>
          </a:prstGeom>
          <a:noFill/>
          <a:ln/>
        </p:spPr>
        <p:txBody>
          <a:bodyPr wrap="square" rtlCol="0" anchor="ctr"/>
          <a:lstStyle/>
          <a:p>
            <a:pPr indent="0" marL="0">
              <a:buNone/>
            </a:pPr>
            <a:r>
              <a:rPr lang="en-US" sz="1300" b="1" spc="200" kern="0" dirty="0">
                <a:solidFill>
                  <a:srgbClr val="9A6B2C"/>
                </a:solidFill>
                <a:latin typeface="Calibri" pitchFamily="34" charset="0"/>
                <a:ea typeface="Calibri" pitchFamily="34" charset="-122"/>
                <a:cs typeface="Calibri" pitchFamily="34" charset="-120"/>
              </a:rPr>
              <a:t>DAY 1  ·  14:00 TO 17:00</a:t>
            </a:r>
            <a:endParaRPr lang="en-US" sz="1300" dirty="0"/>
          </a:p>
        </p:txBody>
      </p:sp>
      <p:sp>
        <p:nvSpPr>
          <p:cNvPr id="7" name="Text 4"/>
          <p:cNvSpPr/>
          <p:nvPr/>
        </p:nvSpPr>
        <p:spPr>
          <a:xfrm>
            <a:off x="594360" y="1737360"/>
            <a:ext cx="9601200" cy="109728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Repo 1 Build</a:t>
            </a:r>
            <a:endParaRPr lang="en-US" sz="4400" dirty="0"/>
          </a:p>
        </p:txBody>
      </p:sp>
      <p:sp>
        <p:nvSpPr>
          <p:cNvPr id="8" name="Text 5"/>
          <p:cNvSpPr/>
          <p:nvPr/>
        </p:nvSpPr>
        <p:spPr>
          <a:xfrm>
            <a:off x="640080" y="2788920"/>
            <a:ext cx="9144000" cy="73152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One small piece at a time. No prior coding experience needed, only patience and one prompt at a time.</a:t>
            </a:r>
            <a:endParaRPr lang="en-US" sz="1600" dirty="0"/>
          </a:p>
        </p:txBody>
      </p:sp>
      <p:sp>
        <p:nvSpPr>
          <p:cNvPr id="9" name="Text 6"/>
          <p:cNvSpPr/>
          <p:nvPr/>
        </p:nvSpPr>
        <p:spPr>
          <a:xfrm>
            <a:off x="640080" y="6126480"/>
            <a:ext cx="10058400" cy="365760"/>
          </a:xfrm>
          <a:prstGeom prst="rect">
            <a:avLst/>
          </a:prstGeom>
          <a:noFill/>
          <a:ln/>
        </p:spPr>
        <p:txBody>
          <a:bodyPr wrap="square" rtlCol="0" anchor="ctr"/>
          <a:lstStyle/>
          <a:p>
            <a:pPr indent="0" marL="0">
              <a:buNone/>
            </a:pPr>
            <a:r>
              <a:rPr lang="en-US" sz="1200" dirty="0">
                <a:solidFill>
                  <a:srgbClr val="8FA3C9"/>
                </a:solidFill>
                <a:latin typeface="Calibri" pitchFamily="34" charset="0"/>
                <a:ea typeface="Calibri" pitchFamily="34" charset="-122"/>
                <a:cs typeface="Calibri" pitchFamily="34" charset="-120"/>
              </a:rPr>
              <a:t>Generative AI in Finance   |   EA Executive MBA   |   Finance Masters + Data Science Masters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How this afternoon works</a:t>
            </a:r>
            <a:endParaRPr lang="en-US" sz="3000" dirty="0"/>
          </a:p>
        </p:txBody>
      </p:sp>
      <p:sp>
        <p:nvSpPr>
          <p:cNvPr id="3" name="Shape 1"/>
          <p:cNvSpPr/>
          <p:nvPr/>
        </p:nvSpPr>
        <p:spPr>
          <a:xfrm>
            <a:off x="548640" y="123444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4" name="Shape 2"/>
          <p:cNvSpPr/>
          <p:nvPr/>
        </p:nvSpPr>
        <p:spPr>
          <a:xfrm>
            <a:off x="777240" y="1353312"/>
            <a:ext cx="420624" cy="420624"/>
          </a:xfrm>
          <a:prstGeom prst="ellipse">
            <a:avLst/>
          </a:prstGeom>
          <a:solidFill>
            <a:srgbClr val="F1EEE3"/>
          </a:solidFill>
          <a:ln/>
        </p:spPr>
      </p:sp>
      <p:sp>
        <p:nvSpPr>
          <p:cNvPr id="5" name="Text 3"/>
          <p:cNvSpPr/>
          <p:nvPr/>
        </p:nvSpPr>
        <p:spPr>
          <a:xfrm>
            <a:off x="777240" y="135331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417320" y="130759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Watch the finished application run, before writing anything</a:t>
            </a:r>
            <a:endParaRPr lang="en-US" sz="1500" dirty="0"/>
          </a:p>
        </p:txBody>
      </p:sp>
      <p:sp>
        <p:nvSpPr>
          <p:cNvPr id="7" name="Shape 5"/>
          <p:cNvSpPr/>
          <p:nvPr/>
        </p:nvSpPr>
        <p:spPr>
          <a:xfrm>
            <a:off x="548640" y="201168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8" name="Shape 6"/>
          <p:cNvSpPr/>
          <p:nvPr/>
        </p:nvSpPr>
        <p:spPr>
          <a:xfrm>
            <a:off x="777240" y="2130552"/>
            <a:ext cx="420624" cy="420624"/>
          </a:xfrm>
          <a:prstGeom prst="ellipse">
            <a:avLst/>
          </a:prstGeom>
          <a:solidFill>
            <a:srgbClr val="F1EEE3"/>
          </a:solidFill>
          <a:ln/>
        </p:spPr>
      </p:sp>
      <p:sp>
        <p:nvSpPr>
          <p:cNvPr id="9" name="Text 7"/>
          <p:cNvSpPr/>
          <p:nvPr/>
        </p:nvSpPr>
        <p:spPr>
          <a:xfrm>
            <a:off x="777240" y="213055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417320" y="208483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See the four pieces that make it work</a:t>
            </a:r>
            <a:endParaRPr lang="en-US" sz="1500" dirty="0"/>
          </a:p>
        </p:txBody>
      </p:sp>
      <p:sp>
        <p:nvSpPr>
          <p:cNvPr id="11" name="Shape 9"/>
          <p:cNvSpPr/>
          <p:nvPr/>
        </p:nvSpPr>
        <p:spPr>
          <a:xfrm>
            <a:off x="548640" y="278892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12" name="Shape 10"/>
          <p:cNvSpPr/>
          <p:nvPr/>
        </p:nvSpPr>
        <p:spPr>
          <a:xfrm>
            <a:off x="777240" y="2907792"/>
            <a:ext cx="420624" cy="420624"/>
          </a:xfrm>
          <a:prstGeom prst="ellipse">
            <a:avLst/>
          </a:prstGeom>
          <a:solidFill>
            <a:srgbClr val="F1EEE3"/>
          </a:solidFill>
          <a:ln/>
        </p:spPr>
      </p:sp>
      <p:sp>
        <p:nvSpPr>
          <p:cNvPr id="13" name="Text 11"/>
          <p:cNvSpPr/>
          <p:nvPr/>
        </p:nvSpPr>
        <p:spPr>
          <a:xfrm>
            <a:off x="777240" y="290779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417320" y="286207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Get your own copy of the starting template running</a:t>
            </a:r>
            <a:endParaRPr lang="en-US" sz="1500" dirty="0"/>
          </a:p>
        </p:txBody>
      </p:sp>
      <p:sp>
        <p:nvSpPr>
          <p:cNvPr id="15" name="Shape 13"/>
          <p:cNvSpPr/>
          <p:nvPr/>
        </p:nvSpPr>
        <p:spPr>
          <a:xfrm>
            <a:off x="548640" y="356616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16" name="Shape 14"/>
          <p:cNvSpPr/>
          <p:nvPr/>
        </p:nvSpPr>
        <p:spPr>
          <a:xfrm>
            <a:off x="777240" y="3685032"/>
            <a:ext cx="420624" cy="420624"/>
          </a:xfrm>
          <a:prstGeom prst="ellipse">
            <a:avLst/>
          </a:prstGeom>
          <a:solidFill>
            <a:srgbClr val="F1EEE3"/>
          </a:solidFill>
          <a:ln/>
        </p:spPr>
      </p:sp>
      <p:sp>
        <p:nvSpPr>
          <p:cNvPr id="17" name="Text 15"/>
          <p:cNvSpPr/>
          <p:nvPr/>
        </p:nvSpPr>
        <p:spPr>
          <a:xfrm>
            <a:off x="777240" y="368503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417320" y="363931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Build each piece yourself, one prompt at a time</a:t>
            </a:r>
            <a:endParaRPr lang="en-US" sz="1500" dirty="0"/>
          </a:p>
        </p:txBody>
      </p:sp>
      <p:sp>
        <p:nvSpPr>
          <p:cNvPr id="19" name="Shape 17"/>
          <p:cNvSpPr/>
          <p:nvPr/>
        </p:nvSpPr>
        <p:spPr>
          <a:xfrm>
            <a:off x="548640" y="434340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20" name="Shape 18"/>
          <p:cNvSpPr/>
          <p:nvPr/>
        </p:nvSpPr>
        <p:spPr>
          <a:xfrm>
            <a:off x="777240" y="4462272"/>
            <a:ext cx="420624" cy="420624"/>
          </a:xfrm>
          <a:prstGeom prst="ellipse">
            <a:avLst/>
          </a:prstGeom>
          <a:solidFill>
            <a:srgbClr val="F1EEE3"/>
          </a:solidFill>
          <a:ln/>
        </p:spPr>
      </p:sp>
      <p:sp>
        <p:nvSpPr>
          <p:cNvPr id="21" name="Text 19"/>
          <p:cNvSpPr/>
          <p:nvPr/>
        </p:nvSpPr>
        <p:spPr>
          <a:xfrm>
            <a:off x="777240" y="446227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417320" y="441655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Test and save your work after every piece</a:t>
            </a:r>
            <a:endParaRPr lang="en-US" sz="1500" dirty="0"/>
          </a:p>
        </p:txBody>
      </p:sp>
      <p:sp>
        <p:nvSpPr>
          <p:cNvPr id="23" name="Shape 21"/>
          <p:cNvSpPr/>
          <p:nvPr/>
        </p:nvSpPr>
        <p:spPr>
          <a:xfrm>
            <a:off x="548640" y="512064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24" name="Shape 22"/>
          <p:cNvSpPr/>
          <p:nvPr/>
        </p:nvSpPr>
        <p:spPr>
          <a:xfrm>
            <a:off x="777240" y="5239512"/>
            <a:ext cx="420624" cy="420624"/>
          </a:xfrm>
          <a:prstGeom prst="ellipse">
            <a:avLst/>
          </a:prstGeom>
          <a:solidFill>
            <a:srgbClr val="F1EEE3"/>
          </a:solidFill>
          <a:ln/>
        </p:spPr>
      </p:sp>
      <p:sp>
        <p:nvSpPr>
          <p:cNvPr id="25" name="Text 23"/>
          <p:cNvSpPr/>
          <p:nvPr/>
        </p:nvSpPr>
        <p:spPr>
          <a:xfrm>
            <a:off x="777240" y="523951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6</a:t>
            </a:r>
            <a:endParaRPr lang="en-US" sz="1600" dirty="0"/>
          </a:p>
        </p:txBody>
      </p:sp>
      <p:sp>
        <p:nvSpPr>
          <p:cNvPr id="26" name="Text 24"/>
          <p:cNvSpPr/>
          <p:nvPr/>
        </p:nvSpPr>
        <p:spPr>
          <a:xfrm>
            <a:off x="1417320" y="519379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End the day with your own working Repo 1, pushed to GitHub</a:t>
            </a:r>
            <a:endParaRPr lang="en-US" sz="1500" dirty="0"/>
          </a:p>
        </p:txBody>
      </p:sp>
      <p:sp>
        <p:nvSpPr>
          <p:cNvPr id="27" name="Text 25"/>
          <p:cNvSpPr/>
          <p:nvPr/>
        </p:nvSpPr>
        <p:spPr>
          <a:xfrm>
            <a:off x="548640" y="6126480"/>
            <a:ext cx="10058400" cy="365760"/>
          </a:xfrm>
          <a:prstGeom prst="rect">
            <a:avLst/>
          </a:prstGeom>
          <a:noFill/>
          <a:ln/>
        </p:spPr>
        <p:txBody>
          <a:bodyPr wrap="square" rtlCol="0" anchor="ctr"/>
          <a:lstStyle/>
          <a:p>
            <a:pPr indent="0" marL="0">
              <a:buNone/>
            </a:pPr>
            <a:r>
              <a:rPr lang="en-US" sz="1250" i="1" dirty="0">
                <a:solidFill>
                  <a:srgbClr val="8A8577"/>
                </a:solidFill>
                <a:latin typeface="Calibri" pitchFamily="34" charset="0"/>
                <a:ea typeface="Calibri" pitchFamily="34" charset="-122"/>
                <a:cs typeface="Calibri" pitchFamily="34" charset="-120"/>
              </a:rPr>
              <a:t>No step is skipped. If you have never written code before, you can still finish this.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First, watch the finished version run</a:t>
            </a:r>
            <a:endParaRPr lang="en-US" sz="2600" dirty="0"/>
          </a:p>
        </p:txBody>
      </p:sp>
      <p:sp>
        <p:nvSpPr>
          <p:cNvPr id="5" name="Text 2"/>
          <p:cNvSpPr/>
          <p:nvPr/>
        </p:nvSpPr>
        <p:spPr>
          <a:xfrm>
            <a:off x="640080" y="1371600"/>
            <a:ext cx="10789920" cy="64008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Before you type a single prompt, watch what you are building toward. Your instructor will run it live.</a:t>
            </a:r>
            <a:endParaRPr lang="en-US" sz="1500" dirty="0"/>
          </a:p>
        </p:txBody>
      </p:sp>
      <p:sp>
        <p:nvSpPr>
          <p:cNvPr id="6" name="Shape 3"/>
          <p:cNvSpPr/>
          <p:nvPr/>
        </p:nvSpPr>
        <p:spPr>
          <a:xfrm>
            <a:off x="685800" y="2286000"/>
            <a:ext cx="365760" cy="365760"/>
          </a:xfrm>
          <a:prstGeom prst="ellipse">
            <a:avLst/>
          </a:prstGeom>
          <a:solidFill>
            <a:srgbClr val="1C2B52"/>
          </a:solidFill>
          <a:ln/>
        </p:spPr>
      </p:sp>
      <p:sp>
        <p:nvSpPr>
          <p:cNvPr id="7" name="Text 4"/>
          <p:cNvSpPr/>
          <p:nvPr/>
        </p:nvSpPr>
        <p:spPr>
          <a:xfrm>
            <a:off x="685800" y="228600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1</a:t>
            </a:r>
            <a:endParaRPr lang="en-US" sz="1400" dirty="0"/>
          </a:p>
        </p:txBody>
      </p:sp>
      <p:sp>
        <p:nvSpPr>
          <p:cNvPr id="8" name="Text 5"/>
          <p:cNvSpPr/>
          <p:nvPr/>
        </p:nvSpPr>
        <p:spPr>
          <a:xfrm>
            <a:off x="1188720" y="2267712"/>
            <a:ext cx="1014984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Type a ticker, a fast window, a slow window, an RSI period, and an API key.</a:t>
            </a:r>
            <a:endParaRPr lang="en-US" sz="1450" dirty="0"/>
          </a:p>
        </p:txBody>
      </p:sp>
      <p:sp>
        <p:nvSpPr>
          <p:cNvPr id="9" name="Shape 6"/>
          <p:cNvSpPr/>
          <p:nvPr/>
        </p:nvSpPr>
        <p:spPr>
          <a:xfrm>
            <a:off x="685800" y="2907792"/>
            <a:ext cx="365760" cy="365760"/>
          </a:xfrm>
          <a:prstGeom prst="ellipse">
            <a:avLst/>
          </a:prstGeom>
          <a:solidFill>
            <a:srgbClr val="1C2B52"/>
          </a:solidFill>
          <a:ln/>
        </p:spPr>
      </p:sp>
      <p:sp>
        <p:nvSpPr>
          <p:cNvPr id="10" name="Text 7"/>
          <p:cNvSpPr/>
          <p:nvPr/>
        </p:nvSpPr>
        <p:spPr>
          <a:xfrm>
            <a:off x="685800" y="2907792"/>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2</a:t>
            </a:r>
            <a:endParaRPr lang="en-US" sz="1400" dirty="0"/>
          </a:p>
        </p:txBody>
      </p:sp>
      <p:sp>
        <p:nvSpPr>
          <p:cNvPr id="11" name="Text 8"/>
          <p:cNvSpPr/>
          <p:nvPr/>
        </p:nvSpPr>
        <p:spPr>
          <a:xfrm>
            <a:off x="1188720" y="2889504"/>
            <a:ext cx="1014984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Click Analyze.</a:t>
            </a:r>
            <a:endParaRPr lang="en-US" sz="1450" dirty="0"/>
          </a:p>
        </p:txBody>
      </p:sp>
      <p:sp>
        <p:nvSpPr>
          <p:cNvPr id="12" name="Shape 9"/>
          <p:cNvSpPr/>
          <p:nvPr/>
        </p:nvSpPr>
        <p:spPr>
          <a:xfrm>
            <a:off x="685800" y="3529584"/>
            <a:ext cx="365760" cy="365760"/>
          </a:xfrm>
          <a:prstGeom prst="ellipse">
            <a:avLst/>
          </a:prstGeom>
          <a:solidFill>
            <a:srgbClr val="1C2B52"/>
          </a:solidFill>
          <a:ln/>
        </p:spPr>
      </p:sp>
      <p:sp>
        <p:nvSpPr>
          <p:cNvPr id="13" name="Text 10"/>
          <p:cNvSpPr/>
          <p:nvPr/>
        </p:nvSpPr>
        <p:spPr>
          <a:xfrm>
            <a:off x="685800" y="3529584"/>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3</a:t>
            </a:r>
            <a:endParaRPr lang="en-US" sz="1400" dirty="0"/>
          </a:p>
        </p:txBody>
      </p:sp>
      <p:sp>
        <p:nvSpPr>
          <p:cNvPr id="14" name="Text 11"/>
          <p:cNvSpPr/>
          <p:nvPr/>
        </p:nvSpPr>
        <p:spPr>
          <a:xfrm>
            <a:off x="1188720" y="3511296"/>
            <a:ext cx="1014984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Watch three charts appear: a moving average crossover, MACD, and RSI.</a:t>
            </a:r>
            <a:endParaRPr lang="en-US" sz="1450" dirty="0"/>
          </a:p>
        </p:txBody>
      </p:sp>
      <p:sp>
        <p:nvSpPr>
          <p:cNvPr id="15" name="Shape 12"/>
          <p:cNvSpPr/>
          <p:nvPr/>
        </p:nvSpPr>
        <p:spPr>
          <a:xfrm>
            <a:off x="685800" y="4151376"/>
            <a:ext cx="365760" cy="365760"/>
          </a:xfrm>
          <a:prstGeom prst="ellipse">
            <a:avLst/>
          </a:prstGeom>
          <a:solidFill>
            <a:srgbClr val="1C2B52"/>
          </a:solidFill>
          <a:ln/>
        </p:spPr>
      </p:sp>
      <p:sp>
        <p:nvSpPr>
          <p:cNvPr id="16" name="Text 13"/>
          <p:cNvSpPr/>
          <p:nvPr/>
        </p:nvSpPr>
        <p:spPr>
          <a:xfrm>
            <a:off x="685800" y="4151376"/>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4</a:t>
            </a:r>
            <a:endParaRPr lang="en-US" sz="1400" dirty="0"/>
          </a:p>
        </p:txBody>
      </p:sp>
      <p:sp>
        <p:nvSpPr>
          <p:cNvPr id="17" name="Text 14"/>
          <p:cNvSpPr/>
          <p:nvPr/>
        </p:nvSpPr>
        <p:spPr>
          <a:xfrm>
            <a:off x="1188720" y="4133088"/>
            <a:ext cx="10149840" cy="457200"/>
          </a:xfrm>
          <a:prstGeom prst="rect">
            <a:avLst/>
          </a:prstGeom>
          <a:noFill/>
          <a:ln/>
        </p:spPr>
        <p:txBody>
          <a:bodyPr wrap="square"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Watch a plain English explanation, a research note, and three risk factors appear underneath.</a:t>
            </a:r>
            <a:endParaRPr lang="en-US" sz="1450" dirty="0"/>
          </a:p>
        </p:txBody>
      </p:sp>
      <p:sp>
        <p:nvSpPr>
          <p:cNvPr id="18" name="Text 15"/>
          <p:cNvSpPr/>
          <p:nvPr/>
        </p:nvSpPr>
        <p:spPr>
          <a:xfrm>
            <a:off x="640080" y="5212080"/>
            <a:ext cx="10789920" cy="731520"/>
          </a:xfrm>
          <a:prstGeom prst="rect">
            <a:avLst/>
          </a:prstGeom>
          <a:noFill/>
          <a:ln/>
        </p:spPr>
        <p:txBody>
          <a:bodyPr wrap="square" rtlCol="0" anchor="ctr"/>
          <a:lstStyle/>
          <a:p>
            <a:pPr indent="0" marL="0">
              <a:buNone/>
            </a:pPr>
            <a:r>
              <a:rPr lang="en-US" sz="1400" i="1" dirty="0">
                <a:solidFill>
                  <a:srgbClr val="9A6B2C"/>
                </a:solidFill>
                <a:latin typeface="Cambria" pitchFamily="34" charset="0"/>
                <a:ea typeface="Cambria" pitchFamily="34" charset="-122"/>
                <a:cs typeface="Cambria" pitchFamily="34" charset="-120"/>
              </a:rPr>
              <a:t>Everything you just watched is built from four pieces. We will build each one separately, and test each one before moving to the next.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Four pieces, built one at a time</a:t>
            </a:r>
            <a:endParaRPr lang="en-US" sz="2800" dirty="0"/>
          </a:p>
        </p:txBody>
      </p:sp>
      <p:sp>
        <p:nvSpPr>
          <p:cNvPr id="3" name="Shape 1"/>
          <p:cNvSpPr/>
          <p:nvPr/>
        </p:nvSpPr>
        <p:spPr>
          <a:xfrm>
            <a:off x="548640" y="1371600"/>
            <a:ext cx="11064240" cy="1005840"/>
          </a:xfrm>
          <a:prstGeom prst="roundRect">
            <a:avLst>
              <a:gd name="adj" fmla="val 6364"/>
            </a:avLst>
          </a:prstGeom>
          <a:solidFill>
            <a:srgbClr val="FFFFFF"/>
          </a:solidFill>
          <a:ln/>
          <a:effectLst>
            <a:outerShdw sx="100000" sy="100000" kx="0" ky="0" algn="bl" rotWithShape="0" blurRad="63500" dist="25400" dir="5400000">
              <a:srgbClr val="000000">
                <a:alpha val="7000"/>
              </a:srgbClr>
            </a:outerShdw>
          </a:effectLst>
        </p:spPr>
      </p:sp>
      <p:sp>
        <p:nvSpPr>
          <p:cNvPr id="4" name="Shape 2"/>
          <p:cNvSpPr/>
          <p:nvPr/>
        </p:nvSpPr>
        <p:spPr>
          <a:xfrm>
            <a:off x="749808" y="1618488"/>
            <a:ext cx="512064" cy="512064"/>
          </a:xfrm>
          <a:prstGeom prst="ellipse">
            <a:avLst/>
          </a:prstGeom>
          <a:solidFill>
            <a:srgbClr val="F1EEE3"/>
          </a:solidFill>
          <a:ln/>
        </p:spPr>
      </p:sp>
      <p:pic>
        <p:nvPicPr>
          <p:cNvPr id="5" name="Image 0" descr="preencoded.png">    </p:cNvPr>
          <p:cNvPicPr>
            <a:picLocks noChangeAspect="1"/>
          </p:cNvPicPr>
          <p:nvPr/>
        </p:nvPicPr>
        <p:blipFill>
          <a:blip r:embed="rId1"/>
          <a:stretch>
            <a:fillRect/>
          </a:stretch>
        </p:blipFill>
        <p:spPr>
          <a:xfrm>
            <a:off x="811256" y="1679936"/>
            <a:ext cx="389169" cy="389169"/>
          </a:xfrm>
          <a:prstGeom prst="rect">
            <a:avLst/>
          </a:prstGeom>
        </p:spPr>
      </p:pic>
      <p:sp>
        <p:nvSpPr>
          <p:cNvPr id="6" name="Text 3"/>
          <p:cNvSpPr/>
          <p:nvPr/>
        </p:nvSpPr>
        <p:spPr>
          <a:xfrm>
            <a:off x="1508760" y="1490472"/>
            <a:ext cx="3108960" cy="777240"/>
          </a:xfrm>
          <a:prstGeom prst="rect">
            <a:avLst/>
          </a:prstGeom>
          <a:noFill/>
          <a:ln/>
        </p:spPr>
        <p:txBody>
          <a:bodyPr wrap="square" rtlCol="0" anchor="ctr"/>
          <a:lstStyle/>
          <a:p>
            <a:pPr indent="0" marL="0">
              <a:buNone/>
            </a:pPr>
            <a:r>
              <a:rPr lang="en-US" sz="1450" b="1" dirty="0">
                <a:solidFill>
                  <a:srgbClr val="9A6B2C"/>
                </a:solidFill>
                <a:latin typeface="Cambria" pitchFamily="34" charset="0"/>
                <a:ea typeface="Cambria" pitchFamily="34" charset="-122"/>
                <a:cs typeface="Cambria" pitchFamily="34" charset="-120"/>
              </a:rPr>
              <a:t>Piece 1: The form</a:t>
            </a:r>
            <a:endParaRPr lang="en-US" sz="1450" dirty="0"/>
          </a:p>
        </p:txBody>
      </p:sp>
      <p:sp>
        <p:nvSpPr>
          <p:cNvPr id="7" name="Text 4"/>
          <p:cNvSpPr/>
          <p:nvPr/>
        </p:nvSpPr>
        <p:spPr>
          <a:xfrm>
            <a:off x="4754880" y="1463040"/>
            <a:ext cx="6675120" cy="82296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Where you type a ticker, the two moving average windows, an RSI period, and your API key.</a:t>
            </a:r>
            <a:endParaRPr lang="en-US" sz="1250" dirty="0"/>
          </a:p>
        </p:txBody>
      </p:sp>
      <p:sp>
        <p:nvSpPr>
          <p:cNvPr id="8" name="Shape 5"/>
          <p:cNvSpPr/>
          <p:nvPr/>
        </p:nvSpPr>
        <p:spPr>
          <a:xfrm>
            <a:off x="548640" y="2487168"/>
            <a:ext cx="11064240" cy="1005840"/>
          </a:xfrm>
          <a:prstGeom prst="roundRect">
            <a:avLst>
              <a:gd name="adj" fmla="val 6364"/>
            </a:avLst>
          </a:prstGeom>
          <a:solidFill>
            <a:srgbClr val="FFFFFF"/>
          </a:solidFill>
          <a:ln/>
          <a:effectLst>
            <a:outerShdw sx="100000" sy="100000" kx="0" ky="0" algn="bl" rotWithShape="0" blurRad="63500" dist="25400" dir="5400000">
              <a:srgbClr val="000000">
                <a:alpha val="7000"/>
              </a:srgbClr>
            </a:outerShdw>
          </a:effectLst>
        </p:spPr>
      </p:sp>
      <p:sp>
        <p:nvSpPr>
          <p:cNvPr id="9" name="Shape 6"/>
          <p:cNvSpPr/>
          <p:nvPr/>
        </p:nvSpPr>
        <p:spPr>
          <a:xfrm>
            <a:off x="749808" y="2734056"/>
            <a:ext cx="512064" cy="512064"/>
          </a:xfrm>
          <a:prstGeom prst="ellipse">
            <a:avLst/>
          </a:prstGeom>
          <a:solidFill>
            <a:srgbClr val="F1EEE3"/>
          </a:solidFill>
          <a:ln/>
        </p:spPr>
      </p:sp>
      <p:pic>
        <p:nvPicPr>
          <p:cNvPr id="10" name="Image 1" descr="preencoded.png">    </p:cNvPr>
          <p:cNvPicPr>
            <a:picLocks noChangeAspect="1"/>
          </p:cNvPicPr>
          <p:nvPr/>
        </p:nvPicPr>
        <p:blipFill>
          <a:blip r:embed="rId2"/>
          <a:stretch>
            <a:fillRect/>
          </a:stretch>
        </p:blipFill>
        <p:spPr>
          <a:xfrm>
            <a:off x="811256" y="2795504"/>
            <a:ext cx="389169" cy="389169"/>
          </a:xfrm>
          <a:prstGeom prst="rect">
            <a:avLst/>
          </a:prstGeom>
        </p:spPr>
      </p:pic>
      <p:sp>
        <p:nvSpPr>
          <p:cNvPr id="11" name="Text 7"/>
          <p:cNvSpPr/>
          <p:nvPr/>
        </p:nvSpPr>
        <p:spPr>
          <a:xfrm>
            <a:off x="1508760" y="2606040"/>
            <a:ext cx="3108960" cy="777240"/>
          </a:xfrm>
          <a:prstGeom prst="rect">
            <a:avLst/>
          </a:prstGeom>
          <a:noFill/>
          <a:ln/>
        </p:spPr>
        <p:txBody>
          <a:bodyPr wrap="square" rtlCol="0" anchor="ctr"/>
          <a:lstStyle/>
          <a:p>
            <a:pPr indent="0" marL="0">
              <a:buNone/>
            </a:pPr>
            <a:r>
              <a:rPr lang="en-US" sz="1450" b="1" dirty="0">
                <a:solidFill>
                  <a:srgbClr val="9A6B2C"/>
                </a:solidFill>
                <a:latin typeface="Cambria" pitchFamily="34" charset="0"/>
                <a:ea typeface="Cambria" pitchFamily="34" charset="-122"/>
                <a:cs typeface="Cambria" pitchFamily="34" charset="-120"/>
              </a:rPr>
              <a:t>Piece 2: Fetching data</a:t>
            </a:r>
            <a:endParaRPr lang="en-US" sz="1450" dirty="0"/>
          </a:p>
        </p:txBody>
      </p:sp>
      <p:sp>
        <p:nvSpPr>
          <p:cNvPr id="12" name="Text 8"/>
          <p:cNvSpPr/>
          <p:nvPr/>
        </p:nvSpPr>
        <p:spPr>
          <a:xfrm>
            <a:off x="4754880" y="2578608"/>
            <a:ext cx="6675120" cy="82296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Where the app goes out to Yahoo Finance and brings back a year of daily prices.</a:t>
            </a:r>
            <a:endParaRPr lang="en-US" sz="1250" dirty="0"/>
          </a:p>
        </p:txBody>
      </p:sp>
      <p:sp>
        <p:nvSpPr>
          <p:cNvPr id="13" name="Shape 9"/>
          <p:cNvSpPr/>
          <p:nvPr/>
        </p:nvSpPr>
        <p:spPr>
          <a:xfrm>
            <a:off x="548640" y="3602736"/>
            <a:ext cx="11064240" cy="1005840"/>
          </a:xfrm>
          <a:prstGeom prst="roundRect">
            <a:avLst>
              <a:gd name="adj" fmla="val 6364"/>
            </a:avLst>
          </a:prstGeom>
          <a:solidFill>
            <a:srgbClr val="FFFFFF"/>
          </a:solidFill>
          <a:ln/>
          <a:effectLst>
            <a:outerShdw sx="100000" sy="100000" kx="0" ky="0" algn="bl" rotWithShape="0" blurRad="63500" dist="25400" dir="5400000">
              <a:srgbClr val="000000">
                <a:alpha val="7000"/>
              </a:srgbClr>
            </a:outerShdw>
          </a:effectLst>
        </p:spPr>
      </p:sp>
      <p:sp>
        <p:nvSpPr>
          <p:cNvPr id="14" name="Shape 10"/>
          <p:cNvSpPr/>
          <p:nvPr/>
        </p:nvSpPr>
        <p:spPr>
          <a:xfrm>
            <a:off x="749808" y="3849624"/>
            <a:ext cx="512064" cy="512064"/>
          </a:xfrm>
          <a:prstGeom prst="ellipse">
            <a:avLst/>
          </a:prstGeom>
          <a:solidFill>
            <a:srgbClr val="F1EEE3"/>
          </a:solidFill>
          <a:ln/>
        </p:spPr>
      </p:sp>
      <p:pic>
        <p:nvPicPr>
          <p:cNvPr id="15" name="Image 2" descr="preencoded.png">    </p:cNvPr>
          <p:cNvPicPr>
            <a:picLocks noChangeAspect="1"/>
          </p:cNvPicPr>
          <p:nvPr/>
        </p:nvPicPr>
        <p:blipFill>
          <a:blip r:embed="rId3"/>
          <a:stretch>
            <a:fillRect/>
          </a:stretch>
        </p:blipFill>
        <p:spPr>
          <a:xfrm>
            <a:off x="811256" y="3911072"/>
            <a:ext cx="389169" cy="389169"/>
          </a:xfrm>
          <a:prstGeom prst="rect">
            <a:avLst/>
          </a:prstGeom>
        </p:spPr>
      </p:pic>
      <p:sp>
        <p:nvSpPr>
          <p:cNvPr id="16" name="Text 11"/>
          <p:cNvSpPr/>
          <p:nvPr/>
        </p:nvSpPr>
        <p:spPr>
          <a:xfrm>
            <a:off x="1508760" y="3721608"/>
            <a:ext cx="3108960" cy="777240"/>
          </a:xfrm>
          <a:prstGeom prst="rect">
            <a:avLst/>
          </a:prstGeom>
          <a:noFill/>
          <a:ln/>
        </p:spPr>
        <p:txBody>
          <a:bodyPr wrap="square" rtlCol="0" anchor="ctr"/>
          <a:lstStyle/>
          <a:p>
            <a:pPr indent="0" marL="0">
              <a:buNone/>
            </a:pPr>
            <a:r>
              <a:rPr lang="en-US" sz="1450" b="1" dirty="0">
                <a:solidFill>
                  <a:srgbClr val="9A6B2C"/>
                </a:solidFill>
                <a:latin typeface="Cambria" pitchFamily="34" charset="0"/>
                <a:ea typeface="Cambria" pitchFamily="34" charset="-122"/>
                <a:cs typeface="Cambria" pitchFamily="34" charset="-120"/>
              </a:rPr>
              <a:t>Piece 3: The math and the charts</a:t>
            </a:r>
            <a:endParaRPr lang="en-US" sz="1450" dirty="0"/>
          </a:p>
        </p:txBody>
      </p:sp>
      <p:sp>
        <p:nvSpPr>
          <p:cNvPr id="17" name="Text 12"/>
          <p:cNvSpPr/>
          <p:nvPr/>
        </p:nvSpPr>
        <p:spPr>
          <a:xfrm>
            <a:off x="4754880" y="3694176"/>
            <a:ext cx="6675120" cy="82296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Where those prices become a moving average crossover, MACD, and RSI, each drawn on its own chart.</a:t>
            </a:r>
            <a:endParaRPr lang="en-US" sz="1250" dirty="0"/>
          </a:p>
        </p:txBody>
      </p:sp>
      <p:sp>
        <p:nvSpPr>
          <p:cNvPr id="18" name="Shape 13"/>
          <p:cNvSpPr/>
          <p:nvPr/>
        </p:nvSpPr>
        <p:spPr>
          <a:xfrm>
            <a:off x="548640" y="4718304"/>
            <a:ext cx="11064240" cy="1005840"/>
          </a:xfrm>
          <a:prstGeom prst="roundRect">
            <a:avLst>
              <a:gd name="adj" fmla="val 6364"/>
            </a:avLst>
          </a:prstGeom>
          <a:solidFill>
            <a:srgbClr val="FFFFFF"/>
          </a:solidFill>
          <a:ln/>
          <a:effectLst>
            <a:outerShdw sx="100000" sy="100000" kx="0" ky="0" algn="bl" rotWithShape="0" blurRad="63500" dist="25400" dir="5400000">
              <a:srgbClr val="000000">
                <a:alpha val="7000"/>
              </a:srgbClr>
            </a:outerShdw>
          </a:effectLst>
        </p:spPr>
      </p:sp>
      <p:sp>
        <p:nvSpPr>
          <p:cNvPr id="19" name="Shape 14"/>
          <p:cNvSpPr/>
          <p:nvPr/>
        </p:nvSpPr>
        <p:spPr>
          <a:xfrm>
            <a:off x="749808" y="4965192"/>
            <a:ext cx="512064" cy="512064"/>
          </a:xfrm>
          <a:prstGeom prst="ellipse">
            <a:avLst/>
          </a:prstGeom>
          <a:solidFill>
            <a:srgbClr val="F1EEE3"/>
          </a:solidFill>
          <a:ln/>
        </p:spPr>
      </p:sp>
      <p:pic>
        <p:nvPicPr>
          <p:cNvPr id="20" name="Image 3" descr="preencoded.png">    </p:cNvPr>
          <p:cNvPicPr>
            <a:picLocks noChangeAspect="1"/>
          </p:cNvPicPr>
          <p:nvPr/>
        </p:nvPicPr>
        <p:blipFill>
          <a:blip r:embed="rId4"/>
          <a:stretch>
            <a:fillRect/>
          </a:stretch>
        </p:blipFill>
        <p:spPr>
          <a:xfrm>
            <a:off x="811256" y="5026640"/>
            <a:ext cx="389169" cy="389169"/>
          </a:xfrm>
          <a:prstGeom prst="rect">
            <a:avLst/>
          </a:prstGeom>
        </p:spPr>
      </p:pic>
      <p:sp>
        <p:nvSpPr>
          <p:cNvPr id="21" name="Text 15"/>
          <p:cNvSpPr/>
          <p:nvPr/>
        </p:nvSpPr>
        <p:spPr>
          <a:xfrm>
            <a:off x="1508760" y="4837176"/>
            <a:ext cx="3108960" cy="777240"/>
          </a:xfrm>
          <a:prstGeom prst="rect">
            <a:avLst/>
          </a:prstGeom>
          <a:noFill/>
          <a:ln/>
        </p:spPr>
        <p:txBody>
          <a:bodyPr wrap="square" rtlCol="0" anchor="ctr"/>
          <a:lstStyle/>
          <a:p>
            <a:pPr indent="0" marL="0">
              <a:buNone/>
            </a:pPr>
            <a:r>
              <a:rPr lang="en-US" sz="1450" b="1" dirty="0">
                <a:solidFill>
                  <a:srgbClr val="9A6B2C"/>
                </a:solidFill>
                <a:latin typeface="Cambria" pitchFamily="34" charset="0"/>
                <a:ea typeface="Cambria" pitchFamily="34" charset="-122"/>
                <a:cs typeface="Cambria" pitchFamily="34" charset="-120"/>
              </a:rPr>
              <a:t>Piece 4: The AI explanation</a:t>
            </a:r>
            <a:endParaRPr lang="en-US" sz="1450" dirty="0"/>
          </a:p>
        </p:txBody>
      </p:sp>
      <p:sp>
        <p:nvSpPr>
          <p:cNvPr id="22" name="Text 16"/>
          <p:cNvSpPr/>
          <p:nvPr/>
        </p:nvSpPr>
        <p:spPr>
          <a:xfrm>
            <a:off x="4754880" y="4809744"/>
            <a:ext cx="6675120" cy="82296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Where the app sends the numbers to an AI model and gets back a plain English note.</a:t>
            </a:r>
            <a:endParaRPr lang="en-US" sz="1250" dirty="0"/>
          </a:p>
        </p:txBody>
      </p:sp>
      <p:sp>
        <p:nvSpPr>
          <p:cNvPr id="23" name="Text 17"/>
          <p:cNvSpPr/>
          <p:nvPr/>
        </p:nvSpPr>
        <p:spPr>
          <a:xfrm>
            <a:off x="548640" y="5806440"/>
            <a:ext cx="10972800" cy="457200"/>
          </a:xfrm>
          <a:prstGeom prst="rect">
            <a:avLst/>
          </a:prstGeom>
          <a:noFill/>
          <a:ln/>
        </p:spPr>
        <p:txBody>
          <a:bodyPr wrap="square" rtlCol="0" anchor="ctr"/>
          <a:lstStyle/>
          <a:p>
            <a:pPr indent="0" marL="0">
              <a:buNone/>
            </a:pPr>
            <a:r>
              <a:rPr lang="en-US" sz="1300" i="1" dirty="0">
                <a:solidFill>
                  <a:srgbClr val="3A3F4B"/>
                </a:solidFill>
                <a:latin typeface="Calibri" pitchFamily="34" charset="0"/>
                <a:ea typeface="Calibri" pitchFamily="34" charset="-122"/>
                <a:cs typeface="Calibri" pitchFamily="34" charset="-120"/>
              </a:rPr>
              <a:t>Same order every time: understand it, prompt for it, run it, check it, save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1440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Get your own copy of the template</a:t>
            </a:r>
            <a:endParaRPr lang="en-US" sz="2600" dirty="0"/>
          </a:p>
        </p:txBody>
      </p:sp>
      <p:sp>
        <p:nvSpPr>
          <p:cNvPr id="5" name="Shape 2"/>
          <p:cNvSpPr/>
          <p:nvPr/>
        </p:nvSpPr>
        <p:spPr>
          <a:xfrm>
            <a:off x="685800" y="1371600"/>
            <a:ext cx="365760" cy="365760"/>
          </a:xfrm>
          <a:prstGeom prst="ellipse">
            <a:avLst/>
          </a:prstGeom>
          <a:solidFill>
            <a:srgbClr val="1C2B52"/>
          </a:solidFill>
          <a:ln/>
        </p:spPr>
      </p:sp>
      <p:sp>
        <p:nvSpPr>
          <p:cNvPr id="6" name="Text 3"/>
          <p:cNvSpPr/>
          <p:nvPr/>
        </p:nvSpPr>
        <p:spPr>
          <a:xfrm>
            <a:off x="685800" y="137160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1</a:t>
            </a:r>
            <a:endParaRPr lang="en-US" sz="1400" dirty="0"/>
          </a:p>
        </p:txBody>
      </p:sp>
      <p:sp>
        <p:nvSpPr>
          <p:cNvPr id="7" name="Text 4"/>
          <p:cNvSpPr/>
          <p:nvPr/>
        </p:nvSpPr>
        <p:spPr>
          <a:xfrm>
            <a:off x="1188720" y="1325880"/>
            <a:ext cx="1024128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Go to the vienna genai spa template repository on GitHub.</a:t>
            </a:r>
            <a:endParaRPr lang="en-US" sz="1300" dirty="0"/>
          </a:p>
        </p:txBody>
      </p:sp>
      <p:sp>
        <p:nvSpPr>
          <p:cNvPr id="8" name="Shape 5"/>
          <p:cNvSpPr/>
          <p:nvPr/>
        </p:nvSpPr>
        <p:spPr>
          <a:xfrm>
            <a:off x="685800" y="2057400"/>
            <a:ext cx="365760" cy="365760"/>
          </a:xfrm>
          <a:prstGeom prst="ellipse">
            <a:avLst/>
          </a:prstGeom>
          <a:solidFill>
            <a:srgbClr val="1C2B52"/>
          </a:solidFill>
          <a:ln/>
        </p:spPr>
      </p:sp>
      <p:sp>
        <p:nvSpPr>
          <p:cNvPr id="9" name="Text 6"/>
          <p:cNvSpPr/>
          <p:nvPr/>
        </p:nvSpPr>
        <p:spPr>
          <a:xfrm>
            <a:off x="685800" y="205740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2</a:t>
            </a:r>
            <a:endParaRPr lang="en-US" sz="1400" dirty="0"/>
          </a:p>
        </p:txBody>
      </p:sp>
      <p:sp>
        <p:nvSpPr>
          <p:cNvPr id="10" name="Text 7"/>
          <p:cNvSpPr/>
          <p:nvPr/>
        </p:nvSpPr>
        <p:spPr>
          <a:xfrm>
            <a:off x="1188720" y="2011680"/>
            <a:ext cx="1024128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Click the green “Use this template” button, then create a new repository under your own account. Name it something like your name plus repo1.</a:t>
            </a:r>
            <a:endParaRPr lang="en-US" sz="1300" dirty="0"/>
          </a:p>
        </p:txBody>
      </p:sp>
      <p:sp>
        <p:nvSpPr>
          <p:cNvPr id="11" name="Shape 8"/>
          <p:cNvSpPr/>
          <p:nvPr/>
        </p:nvSpPr>
        <p:spPr>
          <a:xfrm>
            <a:off x="685800" y="2743200"/>
            <a:ext cx="365760" cy="365760"/>
          </a:xfrm>
          <a:prstGeom prst="ellipse">
            <a:avLst/>
          </a:prstGeom>
          <a:solidFill>
            <a:srgbClr val="1C2B52"/>
          </a:solidFill>
          <a:ln/>
        </p:spPr>
      </p:sp>
      <p:sp>
        <p:nvSpPr>
          <p:cNvPr id="12" name="Text 9"/>
          <p:cNvSpPr/>
          <p:nvPr/>
        </p:nvSpPr>
        <p:spPr>
          <a:xfrm>
            <a:off x="685800" y="274320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3</a:t>
            </a:r>
            <a:endParaRPr lang="en-US" sz="1400" dirty="0"/>
          </a:p>
        </p:txBody>
      </p:sp>
      <p:sp>
        <p:nvSpPr>
          <p:cNvPr id="13" name="Text 10"/>
          <p:cNvSpPr/>
          <p:nvPr/>
        </p:nvSpPr>
        <p:spPr>
          <a:xfrm>
            <a:off x="1188720" y="2697480"/>
            <a:ext cx="1024128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Clone your new repository to your computer, or open it directly in your AI coding tool if it supports that.</a:t>
            </a:r>
            <a:endParaRPr lang="en-US" sz="1300" dirty="0"/>
          </a:p>
        </p:txBody>
      </p:sp>
      <p:sp>
        <p:nvSpPr>
          <p:cNvPr id="14" name="Shape 11"/>
          <p:cNvSpPr/>
          <p:nvPr/>
        </p:nvSpPr>
        <p:spPr>
          <a:xfrm>
            <a:off x="685800" y="3429000"/>
            <a:ext cx="365760" cy="365760"/>
          </a:xfrm>
          <a:prstGeom prst="ellipse">
            <a:avLst/>
          </a:prstGeom>
          <a:solidFill>
            <a:srgbClr val="1C2B52"/>
          </a:solidFill>
          <a:ln/>
        </p:spPr>
      </p:sp>
      <p:sp>
        <p:nvSpPr>
          <p:cNvPr id="15" name="Text 12"/>
          <p:cNvSpPr/>
          <p:nvPr/>
        </p:nvSpPr>
        <p:spPr>
          <a:xfrm>
            <a:off x="685800" y="342900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4</a:t>
            </a:r>
            <a:endParaRPr lang="en-US" sz="1400" dirty="0"/>
          </a:p>
        </p:txBody>
      </p:sp>
      <p:sp>
        <p:nvSpPr>
          <p:cNvPr id="16" name="Text 13"/>
          <p:cNvSpPr/>
          <p:nvPr/>
        </p:nvSpPr>
        <p:spPr>
          <a:xfrm>
            <a:off x="1188720" y="3383280"/>
            <a:ext cx="1024128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Open a terminal in that folder and run: npm install</a:t>
            </a:r>
            <a:endParaRPr lang="en-US" sz="1300" dirty="0"/>
          </a:p>
        </p:txBody>
      </p:sp>
      <p:sp>
        <p:nvSpPr>
          <p:cNvPr id="17" name="Shape 14"/>
          <p:cNvSpPr/>
          <p:nvPr/>
        </p:nvSpPr>
        <p:spPr>
          <a:xfrm>
            <a:off x="685800" y="4114800"/>
            <a:ext cx="365760" cy="365760"/>
          </a:xfrm>
          <a:prstGeom prst="ellipse">
            <a:avLst/>
          </a:prstGeom>
          <a:solidFill>
            <a:srgbClr val="1C2B52"/>
          </a:solidFill>
          <a:ln/>
        </p:spPr>
      </p:sp>
      <p:sp>
        <p:nvSpPr>
          <p:cNvPr id="18" name="Text 15"/>
          <p:cNvSpPr/>
          <p:nvPr/>
        </p:nvSpPr>
        <p:spPr>
          <a:xfrm>
            <a:off x="685800" y="411480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5</a:t>
            </a:r>
            <a:endParaRPr lang="en-US" sz="1400" dirty="0"/>
          </a:p>
        </p:txBody>
      </p:sp>
      <p:sp>
        <p:nvSpPr>
          <p:cNvPr id="19" name="Text 16"/>
          <p:cNvSpPr/>
          <p:nvPr/>
        </p:nvSpPr>
        <p:spPr>
          <a:xfrm>
            <a:off x="1188720" y="4069080"/>
            <a:ext cx="1024128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Then run: npm run dev</a:t>
            </a:r>
            <a:endParaRPr lang="en-US" sz="1300" dirty="0"/>
          </a:p>
        </p:txBody>
      </p:sp>
      <p:sp>
        <p:nvSpPr>
          <p:cNvPr id="20" name="Shape 17"/>
          <p:cNvSpPr/>
          <p:nvPr/>
        </p:nvSpPr>
        <p:spPr>
          <a:xfrm>
            <a:off x="685800" y="4800600"/>
            <a:ext cx="365760" cy="365760"/>
          </a:xfrm>
          <a:prstGeom prst="ellipse">
            <a:avLst/>
          </a:prstGeom>
          <a:solidFill>
            <a:srgbClr val="1C2B52"/>
          </a:solidFill>
          <a:ln/>
        </p:spPr>
      </p:sp>
      <p:sp>
        <p:nvSpPr>
          <p:cNvPr id="21" name="Text 18"/>
          <p:cNvSpPr/>
          <p:nvPr/>
        </p:nvSpPr>
        <p:spPr>
          <a:xfrm>
            <a:off x="685800" y="480060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6</a:t>
            </a:r>
            <a:endParaRPr lang="en-US" sz="1400" dirty="0"/>
          </a:p>
        </p:txBody>
      </p:sp>
      <p:sp>
        <p:nvSpPr>
          <p:cNvPr id="22" name="Text 19"/>
          <p:cNvSpPr/>
          <p:nvPr/>
        </p:nvSpPr>
        <p:spPr>
          <a:xfrm>
            <a:off x="1188720" y="4754880"/>
            <a:ext cx="10241280" cy="566928"/>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local address will appear. Open it in your browser. You should see a mostly empty page. That is expected, you have not built anything yet.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9601200" cy="548640"/>
          </a:xfrm>
          <a:prstGeom prst="rect">
            <a:avLst/>
          </a:prstGeom>
          <a:noFill/>
          <a:ln/>
        </p:spPr>
        <p:txBody>
          <a:bodyPr wrap="square" rtlCol="0" anchor="ctr"/>
          <a:lstStyle/>
          <a:p>
            <a:pPr indent="0" marL="0">
              <a:buNone/>
            </a:pPr>
            <a:r>
              <a:rPr lang="en-US" sz="2700" b="1" dirty="0">
                <a:solidFill>
                  <a:srgbClr val="14213D"/>
                </a:solidFill>
                <a:latin typeface="Cambria" pitchFamily="34" charset="0"/>
                <a:ea typeface="Cambria" pitchFamily="34" charset="-122"/>
                <a:cs typeface="Cambria" pitchFamily="34" charset="-120"/>
              </a:rPr>
              <a:t>The loop we follow for every piece</a:t>
            </a:r>
            <a:endParaRPr lang="en-US" sz="2700" dirty="0"/>
          </a:p>
        </p:txBody>
      </p:sp>
      <p:sp>
        <p:nvSpPr>
          <p:cNvPr id="3" name="Text 1"/>
          <p:cNvSpPr/>
          <p:nvPr/>
        </p:nvSpPr>
        <p:spPr>
          <a:xfrm>
            <a:off x="548640" y="960120"/>
            <a:ext cx="10515600" cy="365760"/>
          </a:xfrm>
          <a:prstGeom prst="rect">
            <a:avLst/>
          </a:prstGeom>
          <a:noFill/>
          <a:ln/>
        </p:spPr>
        <p:txBody>
          <a:bodyPr wrap="square" rtlCol="0" anchor="ctr"/>
          <a:lstStyle/>
          <a:p>
            <a:pPr indent="0" marL="0">
              <a:buNone/>
            </a:pPr>
            <a:r>
              <a:rPr lang="en-US" sz="1350" i="1" dirty="0">
                <a:solidFill>
                  <a:srgbClr val="3A3F4B"/>
                </a:solidFill>
                <a:latin typeface="Calibri" pitchFamily="34" charset="0"/>
                <a:ea typeface="Calibri" pitchFamily="34" charset="-122"/>
                <a:cs typeface="Calibri" pitchFamily="34" charset="-120"/>
              </a:rPr>
              <a:t>The same five part rhythm from this morning's vibe coding session, just applied to a real build.</a:t>
            </a:r>
            <a:endParaRPr lang="en-US" sz="1350" dirty="0"/>
          </a:p>
        </p:txBody>
      </p:sp>
      <p:sp>
        <p:nvSpPr>
          <p:cNvPr id="4" name="Shape 2"/>
          <p:cNvSpPr/>
          <p:nvPr/>
        </p:nvSpPr>
        <p:spPr>
          <a:xfrm>
            <a:off x="548640" y="1463040"/>
            <a:ext cx="2084832" cy="4023360"/>
          </a:xfrm>
          <a:prstGeom prst="roundRect">
            <a:avLst>
              <a:gd name="adj" fmla="val 3509"/>
            </a:avLst>
          </a:prstGeom>
          <a:solidFill>
            <a:srgbClr val="14213D"/>
          </a:solidFill>
          <a:ln/>
        </p:spPr>
      </p:sp>
      <p:sp>
        <p:nvSpPr>
          <p:cNvPr id="5" name="Shape 3"/>
          <p:cNvSpPr/>
          <p:nvPr/>
        </p:nvSpPr>
        <p:spPr>
          <a:xfrm>
            <a:off x="731520" y="1691640"/>
            <a:ext cx="457200" cy="457200"/>
          </a:xfrm>
          <a:prstGeom prst="ellipse">
            <a:avLst/>
          </a:prstGeom>
          <a:solidFill>
            <a:srgbClr val="1C2B52"/>
          </a:solidFill>
          <a:ln/>
        </p:spPr>
      </p:sp>
      <p:sp>
        <p:nvSpPr>
          <p:cNvPr id="6" name="Text 4"/>
          <p:cNvSpPr/>
          <p:nvPr/>
        </p:nvSpPr>
        <p:spPr>
          <a:xfrm>
            <a:off x="731520" y="1691640"/>
            <a:ext cx="457200" cy="45720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685800" y="2286000"/>
            <a:ext cx="1810512" cy="45720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Understand</a:t>
            </a:r>
            <a:endParaRPr lang="en-US" sz="1500" dirty="0"/>
          </a:p>
        </p:txBody>
      </p:sp>
      <p:sp>
        <p:nvSpPr>
          <p:cNvPr id="8" name="Text 6"/>
          <p:cNvSpPr/>
          <p:nvPr/>
        </p:nvSpPr>
        <p:spPr>
          <a:xfrm>
            <a:off x="685800" y="2743200"/>
            <a:ext cx="1810512" cy="2651760"/>
          </a:xfrm>
          <a:prstGeom prst="rect">
            <a:avLst/>
          </a:prstGeom>
          <a:noFill/>
          <a:ln/>
        </p:spPr>
        <p:txBody>
          <a:bodyPr wrap="square" rtlCol="0" anchor="ctr"/>
          <a:lstStyle/>
          <a:p>
            <a:pPr indent="0" marL="0">
              <a:buNone/>
            </a:pPr>
            <a:r>
              <a:rPr lang="en-US" sz="1150" dirty="0">
                <a:solidFill>
                  <a:srgbClr val="E4E9F5"/>
                </a:solidFill>
                <a:latin typeface="Calibri" pitchFamily="34" charset="0"/>
                <a:ea typeface="Calibri" pitchFamily="34" charset="-122"/>
                <a:cs typeface="Calibri" pitchFamily="34" charset="-120"/>
              </a:rPr>
              <a:t>Read what the piece needs to do before typing anything.</a:t>
            </a:r>
            <a:endParaRPr lang="en-US" sz="1150" dirty="0"/>
          </a:p>
        </p:txBody>
      </p:sp>
      <p:sp>
        <p:nvSpPr>
          <p:cNvPr id="9" name="Shape 7"/>
          <p:cNvSpPr/>
          <p:nvPr/>
        </p:nvSpPr>
        <p:spPr>
          <a:xfrm>
            <a:off x="2779776" y="1463040"/>
            <a:ext cx="2084832" cy="4023360"/>
          </a:xfrm>
          <a:prstGeom prst="roundRect">
            <a:avLst>
              <a:gd name="adj" fmla="val 3509"/>
            </a:avLst>
          </a:prstGeom>
          <a:solidFill>
            <a:srgbClr val="14213D"/>
          </a:solidFill>
          <a:ln/>
        </p:spPr>
      </p:sp>
      <p:sp>
        <p:nvSpPr>
          <p:cNvPr id="10" name="Shape 8"/>
          <p:cNvSpPr/>
          <p:nvPr/>
        </p:nvSpPr>
        <p:spPr>
          <a:xfrm>
            <a:off x="2962656" y="1691640"/>
            <a:ext cx="457200" cy="457200"/>
          </a:xfrm>
          <a:prstGeom prst="ellipse">
            <a:avLst/>
          </a:prstGeom>
          <a:solidFill>
            <a:srgbClr val="1C2B52"/>
          </a:solidFill>
          <a:ln/>
        </p:spPr>
      </p:sp>
      <p:sp>
        <p:nvSpPr>
          <p:cNvPr id="11" name="Text 9"/>
          <p:cNvSpPr/>
          <p:nvPr/>
        </p:nvSpPr>
        <p:spPr>
          <a:xfrm>
            <a:off x="2962656" y="1691640"/>
            <a:ext cx="457200" cy="45720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2916936" y="2286000"/>
            <a:ext cx="1810512" cy="45720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Prompt</a:t>
            </a:r>
            <a:endParaRPr lang="en-US" sz="1500" dirty="0"/>
          </a:p>
        </p:txBody>
      </p:sp>
      <p:sp>
        <p:nvSpPr>
          <p:cNvPr id="13" name="Text 11"/>
          <p:cNvSpPr/>
          <p:nvPr/>
        </p:nvSpPr>
        <p:spPr>
          <a:xfrm>
            <a:off x="2916936" y="2743200"/>
            <a:ext cx="1810512" cy="2651760"/>
          </a:xfrm>
          <a:prstGeom prst="rect">
            <a:avLst/>
          </a:prstGeom>
          <a:noFill/>
          <a:ln/>
        </p:spPr>
        <p:txBody>
          <a:bodyPr wrap="square" rtlCol="0" anchor="ctr"/>
          <a:lstStyle/>
          <a:p>
            <a:pPr indent="0" marL="0">
              <a:buNone/>
            </a:pPr>
            <a:r>
              <a:rPr lang="en-US" sz="1150" dirty="0">
                <a:solidFill>
                  <a:srgbClr val="E4E9F5"/>
                </a:solidFill>
                <a:latin typeface="Calibri" pitchFamily="34" charset="0"/>
                <a:ea typeface="Calibri" pitchFamily="34" charset="-122"/>
                <a:cs typeface="Calibri" pitchFamily="34" charset="-120"/>
              </a:rPr>
              <a:t>Copy the exact prompt from the slide into your AI assistant.</a:t>
            </a:r>
            <a:endParaRPr lang="en-US" sz="1150" dirty="0"/>
          </a:p>
        </p:txBody>
      </p:sp>
      <p:sp>
        <p:nvSpPr>
          <p:cNvPr id="14" name="Shape 12"/>
          <p:cNvSpPr/>
          <p:nvPr/>
        </p:nvSpPr>
        <p:spPr>
          <a:xfrm>
            <a:off x="5010912" y="1463040"/>
            <a:ext cx="2084832" cy="4023360"/>
          </a:xfrm>
          <a:prstGeom prst="roundRect">
            <a:avLst>
              <a:gd name="adj" fmla="val 3509"/>
            </a:avLst>
          </a:prstGeom>
          <a:solidFill>
            <a:srgbClr val="14213D"/>
          </a:solidFill>
          <a:ln/>
        </p:spPr>
      </p:sp>
      <p:sp>
        <p:nvSpPr>
          <p:cNvPr id="15" name="Shape 13"/>
          <p:cNvSpPr/>
          <p:nvPr/>
        </p:nvSpPr>
        <p:spPr>
          <a:xfrm>
            <a:off x="5193792" y="1691640"/>
            <a:ext cx="457200" cy="457200"/>
          </a:xfrm>
          <a:prstGeom prst="ellipse">
            <a:avLst/>
          </a:prstGeom>
          <a:solidFill>
            <a:srgbClr val="1C2B52"/>
          </a:solidFill>
          <a:ln/>
        </p:spPr>
      </p:sp>
      <p:sp>
        <p:nvSpPr>
          <p:cNvPr id="16" name="Text 14"/>
          <p:cNvSpPr/>
          <p:nvPr/>
        </p:nvSpPr>
        <p:spPr>
          <a:xfrm>
            <a:off x="5193792" y="1691640"/>
            <a:ext cx="457200" cy="45720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5148072" y="2286000"/>
            <a:ext cx="1810512" cy="45720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Run</a:t>
            </a:r>
            <a:endParaRPr lang="en-US" sz="1500" dirty="0"/>
          </a:p>
        </p:txBody>
      </p:sp>
      <p:sp>
        <p:nvSpPr>
          <p:cNvPr id="18" name="Text 16"/>
          <p:cNvSpPr/>
          <p:nvPr/>
        </p:nvSpPr>
        <p:spPr>
          <a:xfrm>
            <a:off x="5148072" y="2743200"/>
            <a:ext cx="1810512" cy="2651760"/>
          </a:xfrm>
          <a:prstGeom prst="rect">
            <a:avLst/>
          </a:prstGeom>
          <a:noFill/>
          <a:ln/>
        </p:spPr>
        <p:txBody>
          <a:bodyPr wrap="square" rtlCol="0" anchor="ctr"/>
          <a:lstStyle/>
          <a:p>
            <a:pPr indent="0" marL="0">
              <a:buNone/>
            </a:pPr>
            <a:r>
              <a:rPr lang="en-US" sz="1150" dirty="0">
                <a:solidFill>
                  <a:srgbClr val="E4E9F5"/>
                </a:solidFill>
                <a:latin typeface="Calibri" pitchFamily="34" charset="0"/>
                <a:ea typeface="Calibri" pitchFamily="34" charset="-122"/>
                <a:cs typeface="Calibri" pitchFamily="34" charset="-120"/>
              </a:rPr>
              <a:t>Save the file if needed, then check the app in your browser.</a:t>
            </a:r>
            <a:endParaRPr lang="en-US" sz="1150" dirty="0"/>
          </a:p>
        </p:txBody>
      </p:sp>
      <p:sp>
        <p:nvSpPr>
          <p:cNvPr id="19" name="Shape 17"/>
          <p:cNvSpPr/>
          <p:nvPr/>
        </p:nvSpPr>
        <p:spPr>
          <a:xfrm>
            <a:off x="7242048" y="1463040"/>
            <a:ext cx="2084832" cy="4023360"/>
          </a:xfrm>
          <a:prstGeom prst="roundRect">
            <a:avLst>
              <a:gd name="adj" fmla="val 3509"/>
            </a:avLst>
          </a:prstGeom>
          <a:solidFill>
            <a:srgbClr val="14213D"/>
          </a:solidFill>
          <a:ln/>
        </p:spPr>
      </p:sp>
      <p:sp>
        <p:nvSpPr>
          <p:cNvPr id="20" name="Shape 18"/>
          <p:cNvSpPr/>
          <p:nvPr/>
        </p:nvSpPr>
        <p:spPr>
          <a:xfrm>
            <a:off x="7424928" y="1691640"/>
            <a:ext cx="457200" cy="457200"/>
          </a:xfrm>
          <a:prstGeom prst="ellipse">
            <a:avLst/>
          </a:prstGeom>
          <a:solidFill>
            <a:srgbClr val="1C2B52"/>
          </a:solidFill>
          <a:ln/>
        </p:spPr>
      </p:sp>
      <p:sp>
        <p:nvSpPr>
          <p:cNvPr id="21" name="Text 19"/>
          <p:cNvSpPr/>
          <p:nvPr/>
        </p:nvSpPr>
        <p:spPr>
          <a:xfrm>
            <a:off x="7424928" y="1691640"/>
            <a:ext cx="457200" cy="45720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7379208" y="2286000"/>
            <a:ext cx="1810512" cy="45720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Check</a:t>
            </a:r>
            <a:endParaRPr lang="en-US" sz="1500" dirty="0"/>
          </a:p>
        </p:txBody>
      </p:sp>
      <p:sp>
        <p:nvSpPr>
          <p:cNvPr id="23" name="Text 21"/>
          <p:cNvSpPr/>
          <p:nvPr/>
        </p:nvSpPr>
        <p:spPr>
          <a:xfrm>
            <a:off x="7379208" y="2743200"/>
            <a:ext cx="1810512" cy="2651760"/>
          </a:xfrm>
          <a:prstGeom prst="rect">
            <a:avLst/>
          </a:prstGeom>
          <a:noFill/>
          <a:ln/>
        </p:spPr>
        <p:txBody>
          <a:bodyPr wrap="square" rtlCol="0" anchor="ctr"/>
          <a:lstStyle/>
          <a:p>
            <a:pPr indent="0" marL="0">
              <a:buNone/>
            </a:pPr>
            <a:r>
              <a:rPr lang="en-US" sz="1150" dirty="0">
                <a:solidFill>
                  <a:srgbClr val="E4E9F5"/>
                </a:solidFill>
                <a:latin typeface="Calibri" pitchFamily="34" charset="0"/>
                <a:ea typeface="Calibri" pitchFamily="34" charset="-122"/>
                <a:cs typeface="Calibri" pitchFamily="34" charset="-120"/>
              </a:rPr>
              <a:t>Confirm the specific thing the slide tells you to look for.</a:t>
            </a:r>
            <a:endParaRPr lang="en-US" sz="1150" dirty="0"/>
          </a:p>
        </p:txBody>
      </p:sp>
      <p:sp>
        <p:nvSpPr>
          <p:cNvPr id="24" name="Shape 22"/>
          <p:cNvSpPr/>
          <p:nvPr/>
        </p:nvSpPr>
        <p:spPr>
          <a:xfrm>
            <a:off x="9473184" y="1463040"/>
            <a:ext cx="2084832" cy="4023360"/>
          </a:xfrm>
          <a:prstGeom prst="roundRect">
            <a:avLst>
              <a:gd name="adj" fmla="val 3509"/>
            </a:avLst>
          </a:prstGeom>
          <a:solidFill>
            <a:srgbClr val="14213D"/>
          </a:solidFill>
          <a:ln/>
        </p:spPr>
      </p:sp>
      <p:sp>
        <p:nvSpPr>
          <p:cNvPr id="25" name="Shape 23"/>
          <p:cNvSpPr/>
          <p:nvPr/>
        </p:nvSpPr>
        <p:spPr>
          <a:xfrm>
            <a:off x="9656064" y="1691640"/>
            <a:ext cx="457200" cy="457200"/>
          </a:xfrm>
          <a:prstGeom prst="ellipse">
            <a:avLst/>
          </a:prstGeom>
          <a:solidFill>
            <a:srgbClr val="1C2B52"/>
          </a:solidFill>
          <a:ln/>
        </p:spPr>
      </p:sp>
      <p:sp>
        <p:nvSpPr>
          <p:cNvPr id="26" name="Text 24"/>
          <p:cNvSpPr/>
          <p:nvPr/>
        </p:nvSpPr>
        <p:spPr>
          <a:xfrm>
            <a:off x="9656064" y="1691640"/>
            <a:ext cx="457200" cy="45720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5</a:t>
            </a:r>
            <a:endParaRPr lang="en-US" sz="1400" dirty="0"/>
          </a:p>
        </p:txBody>
      </p:sp>
      <p:sp>
        <p:nvSpPr>
          <p:cNvPr id="27" name="Text 25"/>
          <p:cNvSpPr/>
          <p:nvPr/>
        </p:nvSpPr>
        <p:spPr>
          <a:xfrm>
            <a:off x="9610344" y="2286000"/>
            <a:ext cx="1810512" cy="45720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Save</a:t>
            </a:r>
            <a:endParaRPr lang="en-US" sz="1500" dirty="0"/>
          </a:p>
        </p:txBody>
      </p:sp>
      <p:sp>
        <p:nvSpPr>
          <p:cNvPr id="28" name="Text 26"/>
          <p:cNvSpPr/>
          <p:nvPr/>
        </p:nvSpPr>
        <p:spPr>
          <a:xfrm>
            <a:off x="9610344" y="2743200"/>
            <a:ext cx="1810512" cy="2651760"/>
          </a:xfrm>
          <a:prstGeom prst="rect">
            <a:avLst/>
          </a:prstGeom>
          <a:noFill/>
          <a:ln/>
        </p:spPr>
        <p:txBody>
          <a:bodyPr wrap="square" rtlCol="0" anchor="ctr"/>
          <a:lstStyle/>
          <a:p>
            <a:pPr indent="0" marL="0">
              <a:buNone/>
            </a:pPr>
            <a:r>
              <a:rPr lang="en-US" sz="1150" dirty="0">
                <a:solidFill>
                  <a:srgbClr val="E4E9F5"/>
                </a:solidFill>
                <a:latin typeface="Calibri" pitchFamily="34" charset="0"/>
                <a:ea typeface="Calibri" pitchFamily="34" charset="-122"/>
                <a:cs typeface="Calibri" pitchFamily="34" charset="-120"/>
              </a:rPr>
              <a:t>git add ., then git commit, before moving to the next piece.</a:t>
            </a:r>
            <a:endParaRPr lang="en-US" sz="1150" dirty="0"/>
          </a:p>
        </p:txBody>
      </p:sp>
      <p:sp>
        <p:nvSpPr>
          <p:cNvPr id="29" name="Text 27"/>
          <p:cNvSpPr/>
          <p:nvPr/>
        </p:nvSpPr>
        <p:spPr>
          <a:xfrm>
            <a:off x="548640" y="5715000"/>
            <a:ext cx="10972800" cy="548640"/>
          </a:xfrm>
          <a:prstGeom prst="rect">
            <a:avLst/>
          </a:prstGeom>
          <a:noFill/>
          <a:ln/>
        </p:spPr>
        <p:txBody>
          <a:bodyPr wrap="square" rtlCol="0" anchor="ctr"/>
          <a:lstStyle/>
          <a:p>
            <a:pPr indent="0" marL="0">
              <a:buNone/>
            </a:pPr>
            <a:r>
              <a:rPr lang="en-US" sz="1250" i="1" dirty="0">
                <a:solidFill>
                  <a:srgbClr val="3A3F4B"/>
                </a:solidFill>
                <a:latin typeface="Calibri" pitchFamily="34" charset="0"/>
                <a:ea typeface="Calibri" pitchFamily="34" charset="-122"/>
                <a:cs typeface="Calibri" pitchFamily="34" charset="-120"/>
              </a:rPr>
              <a:t>If a step does not work, do not keep piling on more prompts. Stop, ask the AI to explain what happened, and fix one thing at a time.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7315200" cy="365760"/>
          </a:xfrm>
          <a:prstGeom prst="rect">
            <a:avLst/>
          </a:prstGeom>
          <a:noFill/>
          <a:ln/>
        </p:spPr>
        <p:txBody>
          <a:bodyPr wrap="square" rtlCol="0" anchor="ctr"/>
          <a:lstStyle/>
          <a:p>
            <a:pPr indent="0" marL="0">
              <a:buNone/>
            </a:pPr>
            <a:r>
              <a:rPr lang="en-US" sz="1300" b="1" spc="200" kern="0" dirty="0">
                <a:solidFill>
                  <a:srgbClr val="9A6B2C"/>
                </a:solidFill>
                <a:latin typeface="Calibri" pitchFamily="34" charset="0"/>
                <a:ea typeface="Calibri" pitchFamily="34" charset="-122"/>
                <a:cs typeface="Calibri" pitchFamily="34" charset="-120"/>
              </a:rPr>
              <a:t>PIECE 1</a:t>
            </a:r>
            <a:endParaRPr lang="en-US" sz="1300" dirty="0"/>
          </a:p>
        </p:txBody>
      </p:sp>
      <p:sp>
        <p:nvSpPr>
          <p:cNvPr id="5" name="Text 2"/>
          <p:cNvSpPr/>
          <p:nvPr/>
        </p:nvSpPr>
        <p:spPr>
          <a:xfrm>
            <a:off x="1280160" y="804672"/>
            <a:ext cx="9144000" cy="548640"/>
          </a:xfrm>
          <a:prstGeom prst="rect">
            <a:avLst/>
          </a:prstGeom>
          <a:noFill/>
          <a:ln/>
        </p:spPr>
        <p:txBody>
          <a:bodyPr wrap="square" rtlCol="0" anchor="ctr"/>
          <a:lstStyle/>
          <a:p>
            <a:pPr indent="0" marL="0">
              <a:buNone/>
            </a:pPr>
            <a:r>
              <a:rPr lang="en-US" sz="2700" b="1" dirty="0">
                <a:solidFill>
                  <a:srgbClr val="14213D"/>
                </a:solidFill>
                <a:latin typeface="Cambria" pitchFamily="34" charset="0"/>
                <a:ea typeface="Cambria" pitchFamily="34" charset="-122"/>
                <a:cs typeface="Cambria" pitchFamily="34" charset="-120"/>
              </a:rPr>
              <a:t>The ticker form</a:t>
            </a:r>
            <a:endParaRPr lang="en-US" sz="2700" dirty="0"/>
          </a:p>
        </p:txBody>
      </p:sp>
      <p:sp>
        <p:nvSpPr>
          <p:cNvPr id="6" name="Text 3"/>
          <p:cNvSpPr/>
          <p:nvPr/>
        </p:nvSpPr>
        <p:spPr>
          <a:xfrm>
            <a:off x="548640" y="1508760"/>
            <a:ext cx="10972800" cy="640080"/>
          </a:xfrm>
          <a:prstGeom prst="rect">
            <a:avLst/>
          </a:prstGeom>
          <a:noFill/>
          <a:ln/>
        </p:spPr>
        <p:txBody>
          <a:bodyPr wrap="square" rtlCol="0" anchor="ctr"/>
          <a:lstStyle/>
          <a:p>
            <a:pPr indent="0" marL="0">
              <a:buNone/>
            </a:pPr>
            <a:r>
              <a:rPr lang="en-US" sz="1500" dirty="0">
                <a:solidFill>
                  <a:srgbClr val="3A3F4B"/>
                </a:solidFill>
                <a:latin typeface="Calibri" pitchFamily="34" charset="0"/>
                <a:ea typeface="Calibri" pitchFamily="34" charset="-122"/>
                <a:cs typeface="Calibri" pitchFamily="34" charset="-120"/>
              </a:rPr>
              <a:t>This is the only part of the app a person actually touches with a mouse and keyboard. Everything else happens after this form is submitted.</a:t>
            </a:r>
            <a:endParaRPr lang="en-US" sz="1500" dirty="0"/>
          </a:p>
        </p:txBody>
      </p:sp>
      <p:sp>
        <p:nvSpPr>
          <p:cNvPr id="7" name="Text 4"/>
          <p:cNvSpPr/>
          <p:nvPr/>
        </p:nvSpPr>
        <p:spPr>
          <a:xfrm>
            <a:off x="548640" y="2286000"/>
            <a:ext cx="7315200" cy="365760"/>
          </a:xfrm>
          <a:prstGeom prst="rect">
            <a:avLst/>
          </a:prstGeom>
          <a:noFill/>
          <a:ln/>
        </p:spPr>
        <p:txBody>
          <a:bodyPr wrap="square"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What it needs to collect</a:t>
            </a:r>
            <a:endParaRPr lang="en-US" sz="1600" dirty="0"/>
          </a:p>
        </p:txBody>
      </p:sp>
      <p:sp>
        <p:nvSpPr>
          <p:cNvPr id="8" name="Text 5"/>
          <p:cNvSpPr/>
          <p:nvPr/>
        </p:nvSpPr>
        <p:spPr>
          <a:xfrm>
            <a:off x="548640" y="2743200"/>
            <a:ext cx="10972800" cy="384048"/>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A stock ticker, such as AAPL</a:t>
            </a:r>
            <a:endParaRPr lang="en-US" sz="1350" dirty="0"/>
          </a:p>
        </p:txBody>
      </p:sp>
      <p:sp>
        <p:nvSpPr>
          <p:cNvPr id="9" name="Text 6"/>
          <p:cNvSpPr/>
          <p:nvPr/>
        </p:nvSpPr>
        <p:spPr>
          <a:xfrm>
            <a:off x="548640" y="3182112"/>
            <a:ext cx="10972800" cy="384048"/>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A fast moving average window (a number, default 12)</a:t>
            </a:r>
            <a:endParaRPr lang="en-US" sz="1350" dirty="0"/>
          </a:p>
        </p:txBody>
      </p:sp>
      <p:sp>
        <p:nvSpPr>
          <p:cNvPr id="10" name="Text 7"/>
          <p:cNvSpPr/>
          <p:nvPr/>
        </p:nvSpPr>
        <p:spPr>
          <a:xfrm>
            <a:off x="548640" y="3621024"/>
            <a:ext cx="10972800" cy="384048"/>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A slow moving average window (a number, default 26)</a:t>
            </a:r>
            <a:endParaRPr lang="en-US" sz="1350" dirty="0"/>
          </a:p>
        </p:txBody>
      </p:sp>
      <p:sp>
        <p:nvSpPr>
          <p:cNvPr id="11" name="Text 8"/>
          <p:cNvSpPr/>
          <p:nvPr/>
        </p:nvSpPr>
        <p:spPr>
          <a:xfrm>
            <a:off x="548640" y="4059936"/>
            <a:ext cx="10972800" cy="384048"/>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An RSI period (a number, default 14)</a:t>
            </a:r>
            <a:endParaRPr lang="en-US" sz="1350" dirty="0"/>
          </a:p>
        </p:txBody>
      </p:sp>
      <p:sp>
        <p:nvSpPr>
          <p:cNvPr id="12" name="Text 9"/>
          <p:cNvSpPr/>
          <p:nvPr/>
        </p:nvSpPr>
        <p:spPr>
          <a:xfrm>
            <a:off x="548640" y="4498848"/>
            <a:ext cx="10972800" cy="384048"/>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An OpenRouter API key</a:t>
            </a:r>
            <a:endParaRPr lang="en-US" sz="1350" dirty="0"/>
          </a:p>
        </p:txBody>
      </p:sp>
      <p:sp>
        <p:nvSpPr>
          <p:cNvPr id="13" name="Text 10"/>
          <p:cNvSpPr/>
          <p:nvPr/>
        </p:nvSpPr>
        <p:spPr>
          <a:xfrm>
            <a:off x="548640" y="4937760"/>
            <a:ext cx="10972800" cy="384048"/>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A button to submit all of it</a:t>
            </a:r>
            <a:endParaRPr lang="en-US" sz="1350" dirty="0"/>
          </a:p>
        </p:txBody>
      </p:sp>
      <p:sp>
        <p:nvSpPr>
          <p:cNvPr id="14" name="Text 11"/>
          <p:cNvSpPr/>
          <p:nvPr/>
        </p:nvSpPr>
        <p:spPr>
          <a:xfrm>
            <a:off x="548640" y="5669280"/>
            <a:ext cx="10972800" cy="457200"/>
          </a:xfrm>
          <a:prstGeom prst="rect">
            <a:avLst/>
          </a:prstGeom>
          <a:noFill/>
          <a:ln/>
        </p:spPr>
        <p:txBody>
          <a:bodyPr wrap="square" rtlCol="0" anchor="ctr"/>
          <a:lstStyle/>
          <a:p>
            <a:pPr indent="0" marL="0">
              <a:buNone/>
            </a:pPr>
            <a:r>
              <a:rPr lang="en-US" sz="1250" i="1" dirty="0">
                <a:solidFill>
                  <a:srgbClr val="8A8577"/>
                </a:solidFill>
                <a:latin typeface="Calibri" pitchFamily="34" charset="0"/>
                <a:ea typeface="Calibri" pitchFamily="34" charset="-122"/>
                <a:cs typeface="Calibri" pitchFamily="34" charset="-120"/>
              </a:rPr>
              <a:t>Nothing on this slide asks the app to do anything yet. This piece is only the form itself.</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250" b="1" spc="100" kern="0" dirty="0">
                <a:solidFill>
                  <a:srgbClr val="9A6B2C"/>
                </a:solidFill>
                <a:latin typeface="Calibri" pitchFamily="34" charset="0"/>
                <a:ea typeface="Calibri" pitchFamily="34" charset="-122"/>
                <a:cs typeface="Calibri" pitchFamily="34" charset="-120"/>
              </a:rPr>
              <a:t>PIECE 1  ·  PROMPT</a:t>
            </a:r>
            <a:endParaRPr lang="en-US" sz="1250" dirty="0"/>
          </a:p>
        </p:txBody>
      </p:sp>
      <p:sp>
        <p:nvSpPr>
          <p:cNvPr id="5" name="Text 2"/>
          <p:cNvSpPr/>
          <p:nvPr/>
        </p:nvSpPr>
        <p:spPr>
          <a:xfrm>
            <a:off x="1280160" y="804672"/>
            <a:ext cx="9601200" cy="502920"/>
          </a:xfrm>
          <a:prstGeom prst="rect">
            <a:avLst/>
          </a:prstGeom>
          <a:noFill/>
          <a:ln/>
        </p:spPr>
        <p:txBody>
          <a:bodyPr wrap="square" rtlCol="0" anchor="ctr"/>
          <a:lstStyle/>
          <a:p>
            <a:pPr indent="0" marL="0">
              <a:buNone/>
            </a:pPr>
            <a:r>
              <a:rPr lang="en-US" sz="2300" b="1" dirty="0">
                <a:solidFill>
                  <a:srgbClr val="14213D"/>
                </a:solidFill>
                <a:latin typeface="Cambria" pitchFamily="34" charset="0"/>
                <a:ea typeface="Cambria" pitchFamily="34" charset="-122"/>
                <a:cs typeface="Cambria" pitchFamily="34" charset="-120"/>
              </a:rPr>
              <a:t>Ask your AI assistant to build the form</a:t>
            </a:r>
            <a:endParaRPr lang="en-US" sz="2300" dirty="0"/>
          </a:p>
        </p:txBody>
      </p:sp>
      <p:sp>
        <p:nvSpPr>
          <p:cNvPr id="6" name="Shape 3"/>
          <p:cNvSpPr/>
          <p:nvPr/>
        </p:nvSpPr>
        <p:spPr>
          <a:xfrm>
            <a:off x="548640" y="1463040"/>
            <a:ext cx="11064240" cy="2286000"/>
          </a:xfrm>
          <a:prstGeom prst="roundRect">
            <a:avLst>
              <a:gd name="adj" fmla="val 3200"/>
            </a:avLst>
          </a:prstGeom>
          <a:solidFill>
            <a:srgbClr val="14213D"/>
          </a:solidFill>
          <a:ln/>
        </p:spPr>
      </p:sp>
      <p:sp>
        <p:nvSpPr>
          <p:cNvPr id="7" name="Text 4"/>
          <p:cNvSpPr/>
          <p:nvPr/>
        </p:nvSpPr>
        <p:spPr>
          <a:xfrm>
            <a:off x="822960" y="1627632"/>
            <a:ext cx="10424160" cy="320040"/>
          </a:xfrm>
          <a:prstGeom prst="rect">
            <a:avLst/>
          </a:prstGeom>
          <a:noFill/>
          <a:ln/>
        </p:spPr>
        <p:txBody>
          <a:bodyPr wrap="square" rtlCol="0" anchor="ctr"/>
          <a:lstStyle/>
          <a:p>
            <a:pPr indent="0" marL="0">
              <a:buNone/>
            </a:pPr>
            <a:r>
              <a:rPr lang="en-US" sz="1150" i="1" dirty="0">
                <a:solidFill>
                  <a:srgbClr val="8FA3C9"/>
                </a:solidFill>
                <a:latin typeface="Calibri" pitchFamily="34" charset="0"/>
                <a:ea typeface="Calibri" pitchFamily="34" charset="-122"/>
                <a:cs typeface="Calibri" pitchFamily="34" charset="-120"/>
              </a:rPr>
              <a:t>Copy this into your AI assistant, exactly as written:</a:t>
            </a:r>
            <a:endParaRPr lang="en-US" sz="1150" dirty="0"/>
          </a:p>
        </p:txBody>
      </p:sp>
      <p:sp>
        <p:nvSpPr>
          <p:cNvPr id="8" name="Text 5"/>
          <p:cNvSpPr/>
          <p:nvPr/>
        </p:nvSpPr>
        <p:spPr>
          <a:xfrm>
            <a:off x="822960" y="1965960"/>
            <a:ext cx="10424160" cy="1691640"/>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In index.html, add a form with these fields: a text input for a stock ticker, a number input for a fast moving average window with a default of 12, a number input for a slow moving average window with a default of 26, a number input for an RSI period with a default of 14, a password input for an OpenRouter API key, and a submit button labeled Analyze. Give every field a label and a clear id. Do not add any JavaScript logic yet, only the form itself.</a:t>
            </a:r>
            <a:endParaRPr lang="en-US" sz="1350" dirty="0"/>
          </a:p>
        </p:txBody>
      </p:sp>
      <p:sp>
        <p:nvSpPr>
          <p:cNvPr id="9" name="Text 6"/>
          <p:cNvSpPr/>
          <p:nvPr/>
        </p:nvSpPr>
        <p:spPr>
          <a:xfrm>
            <a:off x="548640" y="3977640"/>
            <a:ext cx="82296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Before you move on, check:</a:t>
            </a:r>
            <a:endParaRPr lang="en-US" sz="1500" dirty="0"/>
          </a:p>
        </p:txBody>
      </p:sp>
      <p:sp>
        <p:nvSpPr>
          <p:cNvPr id="10" name="Shape 7"/>
          <p:cNvSpPr/>
          <p:nvPr/>
        </p:nvSpPr>
        <p:spPr>
          <a:xfrm>
            <a:off x="685800" y="4453128"/>
            <a:ext cx="128016" cy="128016"/>
          </a:xfrm>
          <a:prstGeom prst="ellipse">
            <a:avLst/>
          </a:prstGeom>
          <a:solidFill>
            <a:srgbClr val="9A6B2C"/>
          </a:solidFill>
          <a:ln/>
        </p:spPr>
      </p:sp>
      <p:sp>
        <p:nvSpPr>
          <p:cNvPr id="11" name="Text 8"/>
          <p:cNvSpPr/>
          <p:nvPr/>
        </p:nvSpPr>
        <p:spPr>
          <a:xfrm>
            <a:off x="1005840" y="43891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The page shows six things: five inputs and one button.</a:t>
            </a:r>
            <a:endParaRPr lang="en-US" sz="1300" dirty="0"/>
          </a:p>
        </p:txBody>
      </p:sp>
      <p:sp>
        <p:nvSpPr>
          <p:cNvPr id="12" name="Shape 9"/>
          <p:cNvSpPr/>
          <p:nvPr/>
        </p:nvSpPr>
        <p:spPr>
          <a:xfrm>
            <a:off x="685800" y="4910328"/>
            <a:ext cx="128016" cy="128016"/>
          </a:xfrm>
          <a:prstGeom prst="ellipse">
            <a:avLst/>
          </a:prstGeom>
          <a:solidFill>
            <a:srgbClr val="9A6B2C"/>
          </a:solidFill>
          <a:ln/>
        </p:spPr>
      </p:sp>
      <p:sp>
        <p:nvSpPr>
          <p:cNvPr id="13" name="Text 10"/>
          <p:cNvSpPr/>
          <p:nvPr/>
        </p:nvSpPr>
        <p:spPr>
          <a:xfrm>
            <a:off x="1005840" y="48463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Each input has a label you can read.</a:t>
            </a:r>
            <a:endParaRPr lang="en-US" sz="1300" dirty="0"/>
          </a:p>
        </p:txBody>
      </p:sp>
      <p:sp>
        <p:nvSpPr>
          <p:cNvPr id="14" name="Shape 11"/>
          <p:cNvSpPr/>
          <p:nvPr/>
        </p:nvSpPr>
        <p:spPr>
          <a:xfrm>
            <a:off x="685800" y="5367528"/>
            <a:ext cx="128016" cy="128016"/>
          </a:xfrm>
          <a:prstGeom prst="ellipse">
            <a:avLst/>
          </a:prstGeom>
          <a:solidFill>
            <a:srgbClr val="9A6B2C"/>
          </a:solidFill>
          <a:ln/>
        </p:spPr>
      </p:sp>
      <p:sp>
        <p:nvSpPr>
          <p:cNvPr id="15" name="Text 12"/>
          <p:cNvSpPr/>
          <p:nvPr/>
        </p:nvSpPr>
        <p:spPr>
          <a:xfrm>
            <a:off x="1005840" y="53035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The ticker box is a plain text box, and the API key box hides what you type.</a:t>
            </a:r>
            <a:endParaRPr lang="en-US" sz="1300" dirty="0"/>
          </a:p>
        </p:txBody>
      </p:sp>
      <p:sp>
        <p:nvSpPr>
          <p:cNvPr id="16" name="Shape 13"/>
          <p:cNvSpPr/>
          <p:nvPr/>
        </p:nvSpPr>
        <p:spPr>
          <a:xfrm>
            <a:off x="685800" y="5824728"/>
            <a:ext cx="128016" cy="128016"/>
          </a:xfrm>
          <a:prstGeom prst="ellipse">
            <a:avLst/>
          </a:prstGeom>
          <a:solidFill>
            <a:srgbClr val="9A6B2C"/>
          </a:solidFill>
          <a:ln/>
        </p:spPr>
      </p:sp>
      <p:sp>
        <p:nvSpPr>
          <p:cNvPr id="17" name="Text 14"/>
          <p:cNvSpPr/>
          <p:nvPr/>
        </p:nvSpPr>
        <p:spPr>
          <a:xfrm>
            <a:off x="1005840" y="57607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Clicking Analyze does not need to do anything yet. That comes next.</a:t>
            </a:r>
            <a:endParaRPr lang="en-US" sz="1300" dirty="0"/>
          </a:p>
        </p:txBody>
      </p:sp>
      <p:sp>
        <p:nvSpPr>
          <p:cNvPr id="18" name="Shape 15"/>
          <p:cNvSpPr/>
          <p:nvPr/>
        </p:nvSpPr>
        <p:spPr>
          <a:xfrm>
            <a:off x="548640" y="5989320"/>
            <a:ext cx="11064240" cy="502920"/>
          </a:xfrm>
          <a:prstGeom prst="roundRect">
            <a:avLst>
              <a:gd name="adj" fmla="val 10909"/>
            </a:avLst>
          </a:prstGeom>
          <a:solidFill>
            <a:srgbClr val="F1EEE3"/>
          </a:solidFill>
          <a:ln/>
        </p:spPr>
      </p:sp>
      <p:sp>
        <p:nvSpPr>
          <p:cNvPr id="19" name="Text 16"/>
          <p:cNvSpPr/>
          <p:nvPr/>
        </p:nvSpPr>
        <p:spPr>
          <a:xfrm>
            <a:off x="777240" y="5989320"/>
            <a:ext cx="10607040" cy="502920"/>
          </a:xfrm>
          <a:prstGeom prst="rect">
            <a:avLst/>
          </a:prstGeom>
          <a:noFill/>
          <a:ln/>
        </p:spPr>
        <p:txBody>
          <a:bodyPr wrap="square" rtlCol="0" anchor="ctr"/>
          <a:lstStyle/>
          <a:p>
            <a:pPr indent="0" marL="0">
              <a:buNone/>
            </a:pPr>
            <a:r>
              <a:rPr lang="en-US" sz="1150" dirty="0">
                <a:solidFill>
                  <a:srgbClr val="14213D"/>
                </a:solidFill>
                <a:latin typeface="Courier New" pitchFamily="34" charset="0"/>
                <a:ea typeface="Courier New" pitchFamily="34" charset="-122"/>
                <a:cs typeface="Courier New" pitchFamily="34" charset="-120"/>
              </a:rPr>
              <a:t>Working? Save it now: git add .   then   git commit -m "describe what you just added"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7315200" cy="365760"/>
          </a:xfrm>
          <a:prstGeom prst="rect">
            <a:avLst/>
          </a:prstGeom>
          <a:noFill/>
          <a:ln/>
        </p:spPr>
        <p:txBody>
          <a:bodyPr wrap="square" rtlCol="0" anchor="ctr"/>
          <a:lstStyle/>
          <a:p>
            <a:pPr indent="0" marL="0">
              <a:buNone/>
            </a:pPr>
            <a:r>
              <a:rPr lang="en-US" sz="1300" b="1" spc="200" kern="0" dirty="0">
                <a:solidFill>
                  <a:srgbClr val="9A6B2C"/>
                </a:solidFill>
                <a:latin typeface="Calibri" pitchFamily="34" charset="0"/>
                <a:ea typeface="Calibri" pitchFamily="34" charset="-122"/>
                <a:cs typeface="Calibri" pitchFamily="34" charset="-120"/>
              </a:rPr>
              <a:t>PIECE 2</a:t>
            </a:r>
            <a:endParaRPr lang="en-US" sz="1300" dirty="0"/>
          </a:p>
        </p:txBody>
      </p:sp>
      <p:sp>
        <p:nvSpPr>
          <p:cNvPr id="5" name="Text 2"/>
          <p:cNvSpPr/>
          <p:nvPr/>
        </p:nvSpPr>
        <p:spPr>
          <a:xfrm>
            <a:off x="1280160" y="804672"/>
            <a:ext cx="9601200" cy="548640"/>
          </a:xfrm>
          <a:prstGeom prst="rect">
            <a:avLst/>
          </a:prstGeom>
          <a:noFill/>
          <a:ln/>
        </p:spPr>
        <p:txBody>
          <a:bodyPr wrap="square"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Fetching real price data</a:t>
            </a:r>
            <a:endParaRPr lang="en-US" sz="2600" dirty="0"/>
          </a:p>
        </p:txBody>
      </p:sp>
      <p:sp>
        <p:nvSpPr>
          <p:cNvPr id="6" name="Text 3"/>
          <p:cNvSpPr/>
          <p:nvPr/>
        </p:nvSpPr>
        <p:spPr>
          <a:xfrm>
            <a:off x="548640" y="1508760"/>
            <a:ext cx="10972800" cy="640080"/>
          </a:xfrm>
          <a:prstGeom prst="rect">
            <a:avLst/>
          </a:prstGeom>
          <a:noFill/>
          <a:ln/>
        </p:spPr>
        <p:txBody>
          <a:bodyPr wrap="square" rtlCol="0" anchor="ctr"/>
          <a:lstStyle/>
          <a:p>
            <a:pPr indent="0" marL="0">
              <a:buNone/>
            </a:pPr>
            <a:r>
              <a:rPr lang="en-US" sz="1500" dirty="0">
                <a:solidFill>
                  <a:srgbClr val="3A3F4B"/>
                </a:solidFill>
                <a:latin typeface="Calibri" pitchFamily="34" charset="0"/>
                <a:ea typeface="Calibri" pitchFamily="34" charset="-122"/>
                <a:cs typeface="Calibri" pitchFamily="34" charset="-120"/>
              </a:rPr>
              <a:t>Now the form needs somewhere to send the ticker. This piece goes out to the internet and brings back a year of daily prices.</a:t>
            </a:r>
            <a:endParaRPr lang="en-US" sz="1500" dirty="0"/>
          </a:p>
        </p:txBody>
      </p:sp>
      <p:sp>
        <p:nvSpPr>
          <p:cNvPr id="7" name="Shape 4"/>
          <p:cNvSpPr/>
          <p:nvPr/>
        </p:nvSpPr>
        <p:spPr>
          <a:xfrm>
            <a:off x="548640" y="2331720"/>
            <a:ext cx="11064240" cy="1920240"/>
          </a:xfrm>
          <a:prstGeom prst="roundRect">
            <a:avLst>
              <a:gd name="adj" fmla="val 3810"/>
            </a:avLst>
          </a:prstGeom>
          <a:solidFill>
            <a:srgbClr val="14213D"/>
          </a:solidFill>
          <a:ln/>
        </p:spPr>
      </p:sp>
      <p:sp>
        <p:nvSpPr>
          <p:cNvPr id="8" name="Text 5"/>
          <p:cNvSpPr/>
          <p:nvPr/>
        </p:nvSpPr>
        <p:spPr>
          <a:xfrm>
            <a:off x="822960" y="2514600"/>
            <a:ext cx="10058400" cy="36576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A wrinkle worth knowing about before you hit an error</a:t>
            </a:r>
            <a:endParaRPr lang="en-US" sz="1500" dirty="0"/>
          </a:p>
        </p:txBody>
      </p:sp>
      <p:sp>
        <p:nvSpPr>
          <p:cNvPr id="9" name="Text 6"/>
          <p:cNvSpPr/>
          <p:nvPr/>
        </p:nvSpPr>
        <p:spPr>
          <a:xfrm>
            <a:off x="822960" y="2880360"/>
            <a:ext cx="10424160" cy="1280160"/>
          </a:xfrm>
          <a:prstGeom prst="rect">
            <a:avLst/>
          </a:prstGeom>
          <a:noFill/>
          <a:ln/>
        </p:spPr>
        <p:txBody>
          <a:bodyPr wrap="square" rtlCol="0" anchor="ctr"/>
          <a:lstStyle/>
          <a:p>
            <a:pPr indent="0" marL="0">
              <a:lnSpc>
                <a:spcPct val="125000"/>
              </a:lnSpc>
              <a:buNone/>
            </a:pPr>
            <a:r>
              <a:rPr lang="en-US" sz="1300" dirty="0">
                <a:solidFill>
                  <a:srgbClr val="E4E9F5"/>
                </a:solidFill>
                <a:latin typeface="Calibri" pitchFamily="34" charset="0"/>
                <a:ea typeface="Calibri" pitchFamily="34" charset="-122"/>
                <a:cs typeface="Calibri" pitchFamily="34" charset="-120"/>
              </a:rPr>
              <a:t>Yahoo Finance does not allow a browser to ask it for data directly. Your browser will block the request as a safety measure, even though the same request works fine from R. To get around this, the request travels through a small helper service called a CORS proxy, which is allowed to talk to Yahoo and then hands the answer back to your browser.</a:t>
            </a:r>
            <a:endParaRPr lang="en-US" sz="1300" dirty="0"/>
          </a:p>
        </p:txBody>
      </p:sp>
      <p:sp>
        <p:nvSpPr>
          <p:cNvPr id="10" name="Text 7"/>
          <p:cNvSpPr/>
          <p:nvPr/>
        </p:nvSpPr>
        <p:spPr>
          <a:xfrm>
            <a:off x="548640" y="4480560"/>
            <a:ext cx="10972800" cy="548640"/>
          </a:xfrm>
          <a:prstGeom prst="rect">
            <a:avLst/>
          </a:prstGeom>
          <a:noFill/>
          <a:ln/>
        </p:spPr>
        <p:txBody>
          <a:bodyPr wrap="square" rtlCol="0" anchor="ctr"/>
          <a:lstStyle/>
          <a:p>
            <a:pPr indent="0" marL="0">
              <a:buNone/>
            </a:pPr>
            <a:r>
              <a:rPr lang="en-US" sz="1250" i="1" dirty="0">
                <a:solidFill>
                  <a:srgbClr val="3A3F4B"/>
                </a:solidFill>
                <a:latin typeface="Calibri" pitchFamily="34" charset="0"/>
                <a:ea typeface="Calibri" pitchFamily="34" charset="-122"/>
                <a:cs typeface="Calibri" pitchFamily="34" charset="-120"/>
              </a:rPr>
              <a:t>You do not need to understand exactly how the proxy works. You only need to know it is there on purpose, not a mistake.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250" b="1" spc="100" kern="0" dirty="0">
                <a:solidFill>
                  <a:srgbClr val="9A6B2C"/>
                </a:solidFill>
                <a:latin typeface="Calibri" pitchFamily="34" charset="0"/>
                <a:ea typeface="Calibri" pitchFamily="34" charset="-122"/>
                <a:cs typeface="Calibri" pitchFamily="34" charset="-120"/>
              </a:rPr>
              <a:t>PIECE 2  ·  PROMPT</a:t>
            </a:r>
            <a:endParaRPr lang="en-US" sz="1250" dirty="0"/>
          </a:p>
        </p:txBody>
      </p:sp>
      <p:sp>
        <p:nvSpPr>
          <p:cNvPr id="5" name="Text 2"/>
          <p:cNvSpPr/>
          <p:nvPr/>
        </p:nvSpPr>
        <p:spPr>
          <a:xfrm>
            <a:off x="1280160" y="804672"/>
            <a:ext cx="9601200" cy="502920"/>
          </a:xfrm>
          <a:prstGeom prst="rect">
            <a:avLst/>
          </a:prstGeom>
          <a:noFill/>
          <a:ln/>
        </p:spPr>
        <p:txBody>
          <a:bodyPr wrap="square" rtlCol="0" anchor="ctr"/>
          <a:lstStyle/>
          <a:p>
            <a:pPr indent="0" marL="0">
              <a:buNone/>
            </a:pPr>
            <a:r>
              <a:rPr lang="en-US" sz="2300" b="1" dirty="0">
                <a:solidFill>
                  <a:srgbClr val="14213D"/>
                </a:solidFill>
                <a:latin typeface="Cambria" pitchFamily="34" charset="0"/>
                <a:ea typeface="Cambria" pitchFamily="34" charset="-122"/>
                <a:cs typeface="Cambria" pitchFamily="34" charset="-120"/>
              </a:rPr>
              <a:t>Ask your AI assistant to fetch the price data</a:t>
            </a:r>
            <a:endParaRPr lang="en-US" sz="2300" dirty="0"/>
          </a:p>
        </p:txBody>
      </p:sp>
      <p:sp>
        <p:nvSpPr>
          <p:cNvPr id="6" name="Shape 3"/>
          <p:cNvSpPr/>
          <p:nvPr/>
        </p:nvSpPr>
        <p:spPr>
          <a:xfrm>
            <a:off x="548640" y="1463040"/>
            <a:ext cx="11064240" cy="2286000"/>
          </a:xfrm>
          <a:prstGeom prst="roundRect">
            <a:avLst>
              <a:gd name="adj" fmla="val 3200"/>
            </a:avLst>
          </a:prstGeom>
          <a:solidFill>
            <a:srgbClr val="14213D"/>
          </a:solidFill>
          <a:ln/>
        </p:spPr>
      </p:sp>
      <p:sp>
        <p:nvSpPr>
          <p:cNvPr id="7" name="Text 4"/>
          <p:cNvSpPr/>
          <p:nvPr/>
        </p:nvSpPr>
        <p:spPr>
          <a:xfrm>
            <a:off x="822960" y="1627632"/>
            <a:ext cx="10424160" cy="320040"/>
          </a:xfrm>
          <a:prstGeom prst="rect">
            <a:avLst/>
          </a:prstGeom>
          <a:noFill/>
          <a:ln/>
        </p:spPr>
        <p:txBody>
          <a:bodyPr wrap="square" rtlCol="0" anchor="ctr"/>
          <a:lstStyle/>
          <a:p>
            <a:pPr indent="0" marL="0">
              <a:buNone/>
            </a:pPr>
            <a:r>
              <a:rPr lang="en-US" sz="1150" i="1" dirty="0">
                <a:solidFill>
                  <a:srgbClr val="8FA3C9"/>
                </a:solidFill>
                <a:latin typeface="Calibri" pitchFamily="34" charset="0"/>
                <a:ea typeface="Calibri" pitchFamily="34" charset="-122"/>
                <a:cs typeface="Calibri" pitchFamily="34" charset="-120"/>
              </a:rPr>
              <a:t>Copy this into your AI assistant, exactly as written:</a:t>
            </a:r>
            <a:endParaRPr lang="en-US" sz="1150" dirty="0"/>
          </a:p>
        </p:txBody>
      </p:sp>
      <p:sp>
        <p:nvSpPr>
          <p:cNvPr id="8" name="Text 5"/>
          <p:cNvSpPr/>
          <p:nvPr/>
        </p:nvSpPr>
        <p:spPr>
          <a:xfrm>
            <a:off x="822960" y="1965960"/>
            <a:ext cx="10424160" cy="1691640"/>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In main.js, write a function called fetchOhlcv that takes a ticker symbol and fetches one year of daily prices from this Yahoo Finance address, replacing TICKER with the actual symbol: https://query1.finance.yahoo.com/v8/finance/chart/TICKER?range=1y&amp;interval=1d. Yahoo does not allow direct browser requests, so send the request through this CORS proxy instead, by putting the encoded Yahoo address after it: https://corsproxy.io/?url= . Return an array of objects, each with a date and a closing price. Run this function when the form is submitted, and print the result to the browser console so I can check it.</a:t>
            </a:r>
            <a:endParaRPr lang="en-US" sz="1350" dirty="0"/>
          </a:p>
        </p:txBody>
      </p:sp>
      <p:sp>
        <p:nvSpPr>
          <p:cNvPr id="9" name="Text 6"/>
          <p:cNvSpPr/>
          <p:nvPr/>
        </p:nvSpPr>
        <p:spPr>
          <a:xfrm>
            <a:off x="548640" y="3977640"/>
            <a:ext cx="82296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Before you move on, check:</a:t>
            </a:r>
            <a:endParaRPr lang="en-US" sz="1500" dirty="0"/>
          </a:p>
        </p:txBody>
      </p:sp>
      <p:sp>
        <p:nvSpPr>
          <p:cNvPr id="10" name="Shape 7"/>
          <p:cNvSpPr/>
          <p:nvPr/>
        </p:nvSpPr>
        <p:spPr>
          <a:xfrm>
            <a:off x="685800" y="4453128"/>
            <a:ext cx="128016" cy="128016"/>
          </a:xfrm>
          <a:prstGeom prst="ellipse">
            <a:avLst/>
          </a:prstGeom>
          <a:solidFill>
            <a:srgbClr val="9A6B2C"/>
          </a:solidFill>
          <a:ln/>
        </p:spPr>
      </p:sp>
      <p:sp>
        <p:nvSpPr>
          <p:cNvPr id="11" name="Text 8"/>
          <p:cNvSpPr/>
          <p:nvPr/>
        </p:nvSpPr>
        <p:spPr>
          <a:xfrm>
            <a:off x="1005840" y="43891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Open your browser's developer console (right click the page, choose Inspect, then Console).</a:t>
            </a:r>
            <a:endParaRPr lang="en-US" sz="1300" dirty="0"/>
          </a:p>
        </p:txBody>
      </p:sp>
      <p:sp>
        <p:nvSpPr>
          <p:cNvPr id="12" name="Shape 9"/>
          <p:cNvSpPr/>
          <p:nvPr/>
        </p:nvSpPr>
        <p:spPr>
          <a:xfrm>
            <a:off x="685800" y="4910328"/>
            <a:ext cx="128016" cy="128016"/>
          </a:xfrm>
          <a:prstGeom prst="ellipse">
            <a:avLst/>
          </a:prstGeom>
          <a:solidFill>
            <a:srgbClr val="9A6B2C"/>
          </a:solidFill>
          <a:ln/>
        </p:spPr>
      </p:sp>
      <p:sp>
        <p:nvSpPr>
          <p:cNvPr id="13" name="Text 10"/>
          <p:cNvSpPr/>
          <p:nvPr/>
        </p:nvSpPr>
        <p:spPr>
          <a:xfrm>
            <a:off x="1005840" y="48463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Submit the form with a real ticker, such as AAPL.</a:t>
            </a:r>
            <a:endParaRPr lang="en-US" sz="1300" dirty="0"/>
          </a:p>
        </p:txBody>
      </p:sp>
      <p:sp>
        <p:nvSpPr>
          <p:cNvPr id="14" name="Shape 11"/>
          <p:cNvSpPr/>
          <p:nvPr/>
        </p:nvSpPr>
        <p:spPr>
          <a:xfrm>
            <a:off x="685800" y="5367528"/>
            <a:ext cx="128016" cy="128016"/>
          </a:xfrm>
          <a:prstGeom prst="ellipse">
            <a:avLst/>
          </a:prstGeom>
          <a:solidFill>
            <a:srgbClr val="9A6B2C"/>
          </a:solidFill>
          <a:ln/>
        </p:spPr>
      </p:sp>
      <p:sp>
        <p:nvSpPr>
          <p:cNvPr id="15" name="Text 12"/>
          <p:cNvSpPr/>
          <p:nvPr/>
        </p:nvSpPr>
        <p:spPr>
          <a:xfrm>
            <a:off x="1005840" y="53035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You should see a list of dates and prices printed in the console, roughly 250 entries for one year.</a:t>
            </a:r>
            <a:endParaRPr lang="en-US" sz="1300" dirty="0"/>
          </a:p>
        </p:txBody>
      </p:sp>
      <p:sp>
        <p:nvSpPr>
          <p:cNvPr id="16" name="Shape 13"/>
          <p:cNvSpPr/>
          <p:nvPr/>
        </p:nvSpPr>
        <p:spPr>
          <a:xfrm>
            <a:off x="685800" y="5824728"/>
            <a:ext cx="128016" cy="128016"/>
          </a:xfrm>
          <a:prstGeom prst="ellipse">
            <a:avLst/>
          </a:prstGeom>
          <a:solidFill>
            <a:srgbClr val="9A6B2C"/>
          </a:solidFill>
          <a:ln/>
        </p:spPr>
      </p:sp>
      <p:sp>
        <p:nvSpPr>
          <p:cNvPr id="17" name="Text 14"/>
          <p:cNvSpPr/>
          <p:nvPr/>
        </p:nvSpPr>
        <p:spPr>
          <a:xfrm>
            <a:off x="1005840" y="57607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If you see a red error instead, read it out loud before asking the AI to fix it. It usually names the actual problem.</a:t>
            </a:r>
            <a:endParaRPr lang="en-US" sz="1300" dirty="0"/>
          </a:p>
        </p:txBody>
      </p:sp>
      <p:sp>
        <p:nvSpPr>
          <p:cNvPr id="18" name="Shape 15"/>
          <p:cNvSpPr/>
          <p:nvPr/>
        </p:nvSpPr>
        <p:spPr>
          <a:xfrm>
            <a:off x="548640" y="5989320"/>
            <a:ext cx="11064240" cy="502920"/>
          </a:xfrm>
          <a:prstGeom prst="roundRect">
            <a:avLst>
              <a:gd name="adj" fmla="val 10909"/>
            </a:avLst>
          </a:prstGeom>
          <a:solidFill>
            <a:srgbClr val="F1EEE3"/>
          </a:solidFill>
          <a:ln/>
        </p:spPr>
      </p:sp>
      <p:sp>
        <p:nvSpPr>
          <p:cNvPr id="19" name="Text 16"/>
          <p:cNvSpPr/>
          <p:nvPr/>
        </p:nvSpPr>
        <p:spPr>
          <a:xfrm>
            <a:off x="777240" y="5989320"/>
            <a:ext cx="10607040" cy="502920"/>
          </a:xfrm>
          <a:prstGeom prst="rect">
            <a:avLst/>
          </a:prstGeom>
          <a:noFill/>
          <a:ln/>
        </p:spPr>
        <p:txBody>
          <a:bodyPr wrap="square" rtlCol="0" anchor="ctr"/>
          <a:lstStyle/>
          <a:p>
            <a:pPr indent="0" marL="0">
              <a:buNone/>
            </a:pPr>
            <a:r>
              <a:rPr lang="en-US" sz="1150" dirty="0">
                <a:solidFill>
                  <a:srgbClr val="14213D"/>
                </a:solidFill>
                <a:latin typeface="Courier New" pitchFamily="34" charset="0"/>
                <a:ea typeface="Courier New" pitchFamily="34" charset="-122"/>
                <a:cs typeface="Courier New" pitchFamily="34" charset="-120"/>
              </a:rPr>
              <a:t>Working? Save it now: git add .   then   git commit -m "describe what you just added"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Turning prices into signals</a:t>
            </a:r>
            <a:endParaRPr lang="en-US" sz="2600" dirty="0"/>
          </a:p>
        </p:txBody>
      </p:sp>
      <p:sp>
        <p:nvSpPr>
          <p:cNvPr id="5" name="Text 2"/>
          <p:cNvSpPr/>
          <p:nvPr/>
        </p:nvSpPr>
        <p:spPr>
          <a:xfrm>
            <a:off x="640080" y="1280160"/>
            <a:ext cx="3657600" cy="320040"/>
          </a:xfrm>
          <a:prstGeom prst="rect">
            <a:avLst/>
          </a:prstGeom>
          <a:noFill/>
          <a:ln/>
        </p:spPr>
        <p:txBody>
          <a:bodyPr wrap="square" rtlCol="0" anchor="ctr"/>
          <a:lstStyle/>
          <a:p>
            <a:pPr indent="0" marL="0">
              <a:buNone/>
            </a:pPr>
            <a:r>
              <a:rPr lang="en-US" sz="1250" b="1" spc="200" kern="0" dirty="0">
                <a:solidFill>
                  <a:srgbClr val="9A6B2C"/>
                </a:solidFill>
                <a:latin typeface="Calibri" pitchFamily="34" charset="0"/>
                <a:ea typeface="Calibri" pitchFamily="34" charset="-122"/>
                <a:cs typeface="Calibri" pitchFamily="34" charset="-120"/>
              </a:rPr>
              <a:t>PIECE 3</a:t>
            </a:r>
            <a:endParaRPr lang="en-US" sz="1250" dirty="0"/>
          </a:p>
        </p:txBody>
      </p:sp>
      <p:sp>
        <p:nvSpPr>
          <p:cNvPr id="6" name="Text 3"/>
          <p:cNvSpPr/>
          <p:nvPr/>
        </p:nvSpPr>
        <p:spPr>
          <a:xfrm>
            <a:off x="640080" y="1645920"/>
            <a:ext cx="10789920" cy="64008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This is the same math from this morning, now written in JavaScript instead of R. Nothing new to learn, only a new language to say it in.</a:t>
            </a:r>
            <a:endParaRPr lang="en-US" sz="1500" dirty="0"/>
          </a:p>
        </p:txBody>
      </p:sp>
      <p:sp>
        <p:nvSpPr>
          <p:cNvPr id="7" name="Shape 4"/>
          <p:cNvSpPr/>
          <p:nvPr/>
        </p:nvSpPr>
        <p:spPr>
          <a:xfrm>
            <a:off x="640080" y="2514600"/>
            <a:ext cx="10789920" cy="822960"/>
          </a:xfrm>
          <a:prstGeom prst="roundRect">
            <a:avLst>
              <a:gd name="adj" fmla="val 7778"/>
            </a:avLst>
          </a:prstGeom>
          <a:solidFill>
            <a:srgbClr val="1C2B52"/>
          </a:solidFill>
          <a:ln/>
        </p:spPr>
      </p:sp>
      <p:sp>
        <p:nvSpPr>
          <p:cNvPr id="8" name="Text 5"/>
          <p:cNvSpPr/>
          <p:nvPr/>
        </p:nvSpPr>
        <p:spPr>
          <a:xfrm>
            <a:off x="914400" y="2624328"/>
            <a:ext cx="3200400" cy="594360"/>
          </a:xfrm>
          <a:prstGeom prst="rect">
            <a:avLst/>
          </a:prstGeom>
          <a:noFill/>
          <a:ln/>
        </p:spPr>
        <p:txBody>
          <a:bodyPr wrap="square" rtlCol="0" anchor="ctr"/>
          <a:lstStyle/>
          <a:p>
            <a:pPr indent="0" marL="0">
              <a:buNone/>
            </a:pPr>
            <a:r>
              <a:rPr lang="en-US" sz="1400" b="1" dirty="0">
                <a:solidFill>
                  <a:srgbClr val="9A6B2C"/>
                </a:solidFill>
                <a:latin typeface="Cambria" pitchFamily="34" charset="0"/>
                <a:ea typeface="Cambria" pitchFamily="34" charset="-122"/>
                <a:cs typeface="Cambria" pitchFamily="34" charset="-120"/>
              </a:rPr>
              <a:t>Moving average crossover</a:t>
            </a:r>
            <a:endParaRPr lang="en-US" sz="1400" dirty="0"/>
          </a:p>
        </p:txBody>
      </p:sp>
      <p:sp>
        <p:nvSpPr>
          <p:cNvPr id="9" name="Text 6"/>
          <p:cNvSpPr/>
          <p:nvPr/>
        </p:nvSpPr>
        <p:spPr>
          <a:xfrm>
            <a:off x="4206240" y="2624328"/>
            <a:ext cx="6949440" cy="594360"/>
          </a:xfrm>
          <a:prstGeom prst="rect">
            <a:avLst/>
          </a:prstGeom>
          <a:noFill/>
          <a:ln/>
        </p:spPr>
        <p:txBody>
          <a:bodyPr wrap="square" rtlCol="0" anchor="ctr"/>
          <a:lstStyle/>
          <a:p>
            <a:pPr indent="0" marL="0">
              <a:buNone/>
            </a:pPr>
            <a:r>
              <a:rPr lang="en-US" sz="1300" dirty="0">
                <a:solidFill>
                  <a:srgbClr val="E4E9F5"/>
                </a:solidFill>
                <a:latin typeface="Calibri" pitchFamily="34" charset="0"/>
                <a:ea typeface="Calibri" pitchFamily="34" charset="-122"/>
                <a:cs typeface="Calibri" pitchFamily="34" charset="-120"/>
              </a:rPr>
              <a:t>A fast SMA and a slow SMA, from this morning's Script B.</a:t>
            </a:r>
            <a:endParaRPr lang="en-US" sz="1300" dirty="0"/>
          </a:p>
        </p:txBody>
      </p:sp>
      <p:sp>
        <p:nvSpPr>
          <p:cNvPr id="10" name="Shape 7"/>
          <p:cNvSpPr/>
          <p:nvPr/>
        </p:nvSpPr>
        <p:spPr>
          <a:xfrm>
            <a:off x="640080" y="3474720"/>
            <a:ext cx="10789920" cy="822960"/>
          </a:xfrm>
          <a:prstGeom prst="roundRect">
            <a:avLst>
              <a:gd name="adj" fmla="val 7778"/>
            </a:avLst>
          </a:prstGeom>
          <a:solidFill>
            <a:srgbClr val="1C2B52"/>
          </a:solidFill>
          <a:ln/>
        </p:spPr>
      </p:sp>
      <p:sp>
        <p:nvSpPr>
          <p:cNvPr id="11" name="Text 8"/>
          <p:cNvSpPr/>
          <p:nvPr/>
        </p:nvSpPr>
        <p:spPr>
          <a:xfrm>
            <a:off x="914400" y="3584448"/>
            <a:ext cx="3200400" cy="594360"/>
          </a:xfrm>
          <a:prstGeom prst="rect">
            <a:avLst/>
          </a:prstGeom>
          <a:noFill/>
          <a:ln/>
        </p:spPr>
        <p:txBody>
          <a:bodyPr wrap="square" rtlCol="0" anchor="ctr"/>
          <a:lstStyle/>
          <a:p>
            <a:pPr indent="0" marL="0">
              <a:buNone/>
            </a:pPr>
            <a:r>
              <a:rPr lang="en-US" sz="1400" b="1" dirty="0">
                <a:solidFill>
                  <a:srgbClr val="9A6B2C"/>
                </a:solidFill>
                <a:latin typeface="Cambria" pitchFamily="34" charset="0"/>
                <a:ea typeface="Cambria" pitchFamily="34" charset="-122"/>
                <a:cs typeface="Cambria" pitchFamily="34" charset="-120"/>
              </a:rPr>
              <a:t>MACD</a:t>
            </a:r>
            <a:endParaRPr lang="en-US" sz="1400" dirty="0"/>
          </a:p>
        </p:txBody>
      </p:sp>
      <p:sp>
        <p:nvSpPr>
          <p:cNvPr id="12" name="Text 9"/>
          <p:cNvSpPr/>
          <p:nvPr/>
        </p:nvSpPr>
        <p:spPr>
          <a:xfrm>
            <a:off x="4206240" y="3584448"/>
            <a:ext cx="6949440" cy="594360"/>
          </a:xfrm>
          <a:prstGeom prst="rect">
            <a:avLst/>
          </a:prstGeom>
          <a:noFill/>
          <a:ln/>
        </p:spPr>
        <p:txBody>
          <a:bodyPr wrap="square" rtlCol="0" anchor="ctr"/>
          <a:lstStyle/>
          <a:p>
            <a:pPr indent="0" marL="0">
              <a:buNone/>
            </a:pPr>
            <a:r>
              <a:rPr lang="en-US" sz="1300" dirty="0">
                <a:solidFill>
                  <a:srgbClr val="E4E9F5"/>
                </a:solidFill>
                <a:latin typeface="Calibri" pitchFamily="34" charset="0"/>
                <a:ea typeface="Calibri" pitchFamily="34" charset="-122"/>
                <a:cs typeface="Calibri" pitchFamily="34" charset="-120"/>
              </a:rPr>
              <a:t>A fast EMA minus a slow EMA, then an EMA of that difference, from Script D.</a:t>
            </a:r>
            <a:endParaRPr lang="en-US" sz="1300" dirty="0"/>
          </a:p>
        </p:txBody>
      </p:sp>
      <p:sp>
        <p:nvSpPr>
          <p:cNvPr id="13" name="Shape 10"/>
          <p:cNvSpPr/>
          <p:nvPr/>
        </p:nvSpPr>
        <p:spPr>
          <a:xfrm>
            <a:off x="640080" y="4434840"/>
            <a:ext cx="10789920" cy="822960"/>
          </a:xfrm>
          <a:prstGeom prst="roundRect">
            <a:avLst>
              <a:gd name="adj" fmla="val 7778"/>
            </a:avLst>
          </a:prstGeom>
          <a:solidFill>
            <a:srgbClr val="1C2B52"/>
          </a:solidFill>
          <a:ln/>
        </p:spPr>
      </p:sp>
      <p:sp>
        <p:nvSpPr>
          <p:cNvPr id="14" name="Text 11"/>
          <p:cNvSpPr/>
          <p:nvPr/>
        </p:nvSpPr>
        <p:spPr>
          <a:xfrm>
            <a:off x="914400" y="4544568"/>
            <a:ext cx="3200400" cy="594360"/>
          </a:xfrm>
          <a:prstGeom prst="rect">
            <a:avLst/>
          </a:prstGeom>
          <a:noFill/>
          <a:ln/>
        </p:spPr>
        <p:txBody>
          <a:bodyPr wrap="square" rtlCol="0" anchor="ctr"/>
          <a:lstStyle/>
          <a:p>
            <a:pPr indent="0" marL="0">
              <a:buNone/>
            </a:pPr>
            <a:r>
              <a:rPr lang="en-US" sz="1400" b="1" dirty="0">
                <a:solidFill>
                  <a:srgbClr val="9A6B2C"/>
                </a:solidFill>
                <a:latin typeface="Cambria" pitchFamily="34" charset="0"/>
                <a:ea typeface="Cambria" pitchFamily="34" charset="-122"/>
                <a:cs typeface="Cambria" pitchFamily="34" charset="-120"/>
              </a:rPr>
              <a:t>RSI</a:t>
            </a:r>
            <a:endParaRPr lang="en-US" sz="1400" dirty="0"/>
          </a:p>
        </p:txBody>
      </p:sp>
      <p:sp>
        <p:nvSpPr>
          <p:cNvPr id="15" name="Text 12"/>
          <p:cNvSpPr/>
          <p:nvPr/>
        </p:nvSpPr>
        <p:spPr>
          <a:xfrm>
            <a:off x="4206240" y="4544568"/>
            <a:ext cx="6949440" cy="594360"/>
          </a:xfrm>
          <a:prstGeom prst="rect">
            <a:avLst/>
          </a:prstGeom>
          <a:noFill/>
          <a:ln/>
        </p:spPr>
        <p:txBody>
          <a:bodyPr wrap="square" rtlCol="0" anchor="ctr"/>
          <a:lstStyle/>
          <a:p>
            <a:pPr indent="0" marL="0">
              <a:buNone/>
            </a:pPr>
            <a:r>
              <a:rPr lang="en-US" sz="1300" dirty="0">
                <a:solidFill>
                  <a:srgbClr val="E4E9F5"/>
                </a:solidFill>
                <a:latin typeface="Calibri" pitchFamily="34" charset="0"/>
                <a:ea typeface="Calibri" pitchFamily="34" charset="-122"/>
                <a:cs typeface="Calibri" pitchFamily="34" charset="-120"/>
              </a:rPr>
              <a:t>Average gain divided by average loss over the same window, from Script E.</a:t>
            </a:r>
            <a:endParaRPr lang="en-US" sz="1300" dirty="0"/>
          </a:p>
        </p:txBody>
      </p:sp>
      <p:sp>
        <p:nvSpPr>
          <p:cNvPr id="16" name="Text 13"/>
          <p:cNvSpPr/>
          <p:nvPr/>
        </p:nvSpPr>
        <p:spPr>
          <a:xfrm>
            <a:off x="640080" y="5532120"/>
            <a:ext cx="10789920" cy="457200"/>
          </a:xfrm>
          <a:prstGeom prst="rect">
            <a:avLst/>
          </a:prstGeom>
          <a:noFill/>
          <a:ln/>
        </p:spPr>
        <p:txBody>
          <a:bodyPr wrap="square" rtlCol="0" anchor="ctr"/>
          <a:lstStyle/>
          <a:p>
            <a:pPr indent="0" marL="0">
              <a:buNone/>
            </a:pPr>
            <a:r>
              <a:rPr lang="en-US" sz="1300" i="1" dirty="0">
                <a:solidFill>
                  <a:srgbClr val="9A6B2C"/>
                </a:solidFill>
                <a:latin typeface="Calibri" pitchFamily="34" charset="0"/>
                <a:ea typeface="Calibri" pitchFamily="34" charset="-122"/>
                <a:cs typeface="Calibri" pitchFamily="34" charset="-120"/>
              </a:rPr>
              <a:t>We build these one at a time too, in three separate prompts, not one big 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250" b="1" spc="100" kern="0" dirty="0">
                <a:solidFill>
                  <a:srgbClr val="9A6B2C"/>
                </a:solidFill>
                <a:latin typeface="Calibri" pitchFamily="34" charset="0"/>
                <a:ea typeface="Calibri" pitchFamily="34" charset="-122"/>
                <a:cs typeface="Calibri" pitchFamily="34" charset="-120"/>
              </a:rPr>
              <a:t>PIECE 3  ·  PROMPT 1 OF 3</a:t>
            </a:r>
            <a:endParaRPr lang="en-US" sz="1250" dirty="0"/>
          </a:p>
        </p:txBody>
      </p:sp>
      <p:sp>
        <p:nvSpPr>
          <p:cNvPr id="5" name="Text 2"/>
          <p:cNvSpPr/>
          <p:nvPr/>
        </p:nvSpPr>
        <p:spPr>
          <a:xfrm>
            <a:off x="1280160" y="804672"/>
            <a:ext cx="9601200" cy="502920"/>
          </a:xfrm>
          <a:prstGeom prst="rect">
            <a:avLst/>
          </a:prstGeom>
          <a:noFill/>
          <a:ln/>
        </p:spPr>
        <p:txBody>
          <a:bodyPr wrap="square" rtlCol="0" anchor="ctr"/>
          <a:lstStyle/>
          <a:p>
            <a:pPr indent="0" marL="0">
              <a:buNone/>
            </a:pPr>
            <a:r>
              <a:rPr lang="en-US" sz="2300" b="1" dirty="0">
                <a:solidFill>
                  <a:srgbClr val="14213D"/>
                </a:solidFill>
                <a:latin typeface="Cambria" pitchFamily="34" charset="0"/>
                <a:ea typeface="Cambria" pitchFamily="34" charset="-122"/>
                <a:cs typeface="Cambria" pitchFamily="34" charset="-120"/>
              </a:rPr>
              <a:t>First, the moving average crossover</a:t>
            </a:r>
            <a:endParaRPr lang="en-US" sz="2300" dirty="0"/>
          </a:p>
        </p:txBody>
      </p:sp>
      <p:sp>
        <p:nvSpPr>
          <p:cNvPr id="6" name="Shape 3"/>
          <p:cNvSpPr/>
          <p:nvPr/>
        </p:nvSpPr>
        <p:spPr>
          <a:xfrm>
            <a:off x="548640" y="1463040"/>
            <a:ext cx="11064240" cy="2286000"/>
          </a:xfrm>
          <a:prstGeom prst="roundRect">
            <a:avLst>
              <a:gd name="adj" fmla="val 3200"/>
            </a:avLst>
          </a:prstGeom>
          <a:solidFill>
            <a:srgbClr val="14213D"/>
          </a:solidFill>
          <a:ln/>
        </p:spPr>
      </p:sp>
      <p:sp>
        <p:nvSpPr>
          <p:cNvPr id="7" name="Text 4"/>
          <p:cNvSpPr/>
          <p:nvPr/>
        </p:nvSpPr>
        <p:spPr>
          <a:xfrm>
            <a:off x="822960" y="1627632"/>
            <a:ext cx="10424160" cy="320040"/>
          </a:xfrm>
          <a:prstGeom prst="rect">
            <a:avLst/>
          </a:prstGeom>
          <a:noFill/>
          <a:ln/>
        </p:spPr>
        <p:txBody>
          <a:bodyPr wrap="square" rtlCol="0" anchor="ctr"/>
          <a:lstStyle/>
          <a:p>
            <a:pPr indent="0" marL="0">
              <a:buNone/>
            </a:pPr>
            <a:r>
              <a:rPr lang="en-US" sz="1150" i="1" dirty="0">
                <a:solidFill>
                  <a:srgbClr val="8FA3C9"/>
                </a:solidFill>
                <a:latin typeface="Calibri" pitchFamily="34" charset="0"/>
                <a:ea typeface="Calibri" pitchFamily="34" charset="-122"/>
                <a:cs typeface="Calibri" pitchFamily="34" charset="-120"/>
              </a:rPr>
              <a:t>Copy this into your AI assistant, exactly as written:</a:t>
            </a:r>
            <a:endParaRPr lang="en-US" sz="1150" dirty="0"/>
          </a:p>
        </p:txBody>
      </p:sp>
      <p:sp>
        <p:nvSpPr>
          <p:cNvPr id="8" name="Text 5"/>
          <p:cNvSpPr/>
          <p:nvPr/>
        </p:nvSpPr>
        <p:spPr>
          <a:xfrm>
            <a:off x="822960" y="1965960"/>
            <a:ext cx="10424160" cy="1691640"/>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Add a function called SMA that takes an array of closing prices and a window size, and returns a new array of the same length, where each value is the average of that day and the previous (window minus 1) days. The first (window minus 1) values should be null, since there is not enough history yet. Use this function to calculate a fast moving average and a slow moving average from the fetched closing prices, using the fast and slow window numbers from the form.</a:t>
            </a:r>
            <a:endParaRPr lang="en-US" sz="1350" dirty="0"/>
          </a:p>
        </p:txBody>
      </p:sp>
      <p:sp>
        <p:nvSpPr>
          <p:cNvPr id="9" name="Text 6"/>
          <p:cNvSpPr/>
          <p:nvPr/>
        </p:nvSpPr>
        <p:spPr>
          <a:xfrm>
            <a:off x="548640" y="3977640"/>
            <a:ext cx="82296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Before you move on, check:</a:t>
            </a:r>
            <a:endParaRPr lang="en-US" sz="1500" dirty="0"/>
          </a:p>
        </p:txBody>
      </p:sp>
      <p:sp>
        <p:nvSpPr>
          <p:cNvPr id="10" name="Shape 7"/>
          <p:cNvSpPr/>
          <p:nvPr/>
        </p:nvSpPr>
        <p:spPr>
          <a:xfrm>
            <a:off x="685800" y="4453128"/>
            <a:ext cx="128016" cy="128016"/>
          </a:xfrm>
          <a:prstGeom prst="ellipse">
            <a:avLst/>
          </a:prstGeom>
          <a:solidFill>
            <a:srgbClr val="9A6B2C"/>
          </a:solidFill>
          <a:ln/>
        </p:spPr>
      </p:sp>
      <p:sp>
        <p:nvSpPr>
          <p:cNvPr id="11" name="Text 8"/>
          <p:cNvSpPr/>
          <p:nvPr/>
        </p:nvSpPr>
        <p:spPr>
          <a:xfrm>
            <a:off x="1005840" y="43891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Ask the AI to print the last five values of both the fast and slow moving average to the console.</a:t>
            </a:r>
            <a:endParaRPr lang="en-US" sz="1300" dirty="0"/>
          </a:p>
        </p:txBody>
      </p:sp>
      <p:sp>
        <p:nvSpPr>
          <p:cNvPr id="12" name="Shape 9"/>
          <p:cNvSpPr/>
          <p:nvPr/>
        </p:nvSpPr>
        <p:spPr>
          <a:xfrm>
            <a:off x="685800" y="4910328"/>
            <a:ext cx="128016" cy="128016"/>
          </a:xfrm>
          <a:prstGeom prst="ellipse">
            <a:avLst/>
          </a:prstGeom>
          <a:solidFill>
            <a:srgbClr val="9A6B2C"/>
          </a:solidFill>
          <a:ln/>
        </p:spPr>
      </p:sp>
      <p:sp>
        <p:nvSpPr>
          <p:cNvPr id="13" name="Text 10"/>
          <p:cNvSpPr/>
          <p:nvPr/>
        </p:nvSpPr>
        <p:spPr>
          <a:xfrm>
            <a:off x="1005840" y="48463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Confirm the first several values are null, and the rest are numbers close to the actual price.</a:t>
            </a:r>
            <a:endParaRPr lang="en-US" sz="1300" dirty="0"/>
          </a:p>
        </p:txBody>
      </p:sp>
      <p:sp>
        <p:nvSpPr>
          <p:cNvPr id="14" name="Shape 11"/>
          <p:cNvSpPr/>
          <p:nvPr/>
        </p:nvSpPr>
        <p:spPr>
          <a:xfrm>
            <a:off x="685800" y="5367528"/>
            <a:ext cx="128016" cy="128016"/>
          </a:xfrm>
          <a:prstGeom prst="ellipse">
            <a:avLst/>
          </a:prstGeom>
          <a:solidFill>
            <a:srgbClr val="9A6B2C"/>
          </a:solidFill>
          <a:ln/>
        </p:spPr>
      </p:sp>
      <p:sp>
        <p:nvSpPr>
          <p:cNvPr id="15" name="Text 12"/>
          <p:cNvSpPr/>
          <p:nvPr/>
        </p:nvSpPr>
        <p:spPr>
          <a:xfrm>
            <a:off x="1005840" y="53035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The fast moving average should move around more than the slow one.</a:t>
            </a:r>
            <a:endParaRPr lang="en-US" sz="1300" dirty="0"/>
          </a:p>
        </p:txBody>
      </p:sp>
      <p:sp>
        <p:nvSpPr>
          <p:cNvPr id="16" name="Shape 13"/>
          <p:cNvSpPr/>
          <p:nvPr/>
        </p:nvSpPr>
        <p:spPr>
          <a:xfrm>
            <a:off x="548640" y="5989320"/>
            <a:ext cx="11064240" cy="502920"/>
          </a:xfrm>
          <a:prstGeom prst="roundRect">
            <a:avLst>
              <a:gd name="adj" fmla="val 10909"/>
            </a:avLst>
          </a:prstGeom>
          <a:solidFill>
            <a:srgbClr val="F1EEE3"/>
          </a:solidFill>
          <a:ln/>
        </p:spPr>
      </p:sp>
      <p:sp>
        <p:nvSpPr>
          <p:cNvPr id="17" name="Text 14"/>
          <p:cNvSpPr/>
          <p:nvPr/>
        </p:nvSpPr>
        <p:spPr>
          <a:xfrm>
            <a:off x="777240" y="5989320"/>
            <a:ext cx="10607040" cy="502920"/>
          </a:xfrm>
          <a:prstGeom prst="rect">
            <a:avLst/>
          </a:prstGeom>
          <a:noFill/>
          <a:ln/>
        </p:spPr>
        <p:txBody>
          <a:bodyPr wrap="square" rtlCol="0" anchor="ctr"/>
          <a:lstStyle/>
          <a:p>
            <a:pPr indent="0" marL="0">
              <a:buNone/>
            </a:pPr>
            <a:r>
              <a:rPr lang="en-US" sz="1150" dirty="0">
                <a:solidFill>
                  <a:srgbClr val="14213D"/>
                </a:solidFill>
                <a:latin typeface="Courier New" pitchFamily="34" charset="0"/>
                <a:ea typeface="Courier New" pitchFamily="34" charset="-122"/>
                <a:cs typeface="Courier New" pitchFamily="34" charset="-120"/>
              </a:rPr>
              <a:t>Working? Save it now: git add .   then   git commit -m "describe what you just added"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250" b="1" spc="100" kern="0" dirty="0">
                <a:solidFill>
                  <a:srgbClr val="9A6B2C"/>
                </a:solidFill>
                <a:latin typeface="Calibri" pitchFamily="34" charset="0"/>
                <a:ea typeface="Calibri" pitchFamily="34" charset="-122"/>
                <a:cs typeface="Calibri" pitchFamily="34" charset="-120"/>
              </a:rPr>
              <a:t>PIECE 3  ·  PROMPT 2 OF 3</a:t>
            </a:r>
            <a:endParaRPr lang="en-US" sz="1250" dirty="0"/>
          </a:p>
        </p:txBody>
      </p:sp>
      <p:sp>
        <p:nvSpPr>
          <p:cNvPr id="5" name="Text 2"/>
          <p:cNvSpPr/>
          <p:nvPr/>
        </p:nvSpPr>
        <p:spPr>
          <a:xfrm>
            <a:off x="1280160" y="804672"/>
            <a:ext cx="9601200" cy="502920"/>
          </a:xfrm>
          <a:prstGeom prst="rect">
            <a:avLst/>
          </a:prstGeom>
          <a:noFill/>
          <a:ln/>
        </p:spPr>
        <p:txBody>
          <a:bodyPr wrap="square" rtlCol="0" anchor="ctr"/>
          <a:lstStyle/>
          <a:p>
            <a:pPr indent="0" marL="0">
              <a:buNone/>
            </a:pPr>
            <a:r>
              <a:rPr lang="en-US" sz="2300" b="1" dirty="0">
                <a:solidFill>
                  <a:srgbClr val="14213D"/>
                </a:solidFill>
                <a:latin typeface="Cambria" pitchFamily="34" charset="0"/>
                <a:ea typeface="Cambria" pitchFamily="34" charset="-122"/>
                <a:cs typeface="Cambria" pitchFamily="34" charset="-120"/>
              </a:rPr>
              <a:t>Next, MACD</a:t>
            </a:r>
            <a:endParaRPr lang="en-US" sz="2300" dirty="0"/>
          </a:p>
        </p:txBody>
      </p:sp>
      <p:sp>
        <p:nvSpPr>
          <p:cNvPr id="6" name="Shape 3"/>
          <p:cNvSpPr/>
          <p:nvPr/>
        </p:nvSpPr>
        <p:spPr>
          <a:xfrm>
            <a:off x="548640" y="1463040"/>
            <a:ext cx="11064240" cy="2286000"/>
          </a:xfrm>
          <a:prstGeom prst="roundRect">
            <a:avLst>
              <a:gd name="adj" fmla="val 3200"/>
            </a:avLst>
          </a:prstGeom>
          <a:solidFill>
            <a:srgbClr val="14213D"/>
          </a:solidFill>
          <a:ln/>
        </p:spPr>
      </p:sp>
      <p:sp>
        <p:nvSpPr>
          <p:cNvPr id="7" name="Text 4"/>
          <p:cNvSpPr/>
          <p:nvPr/>
        </p:nvSpPr>
        <p:spPr>
          <a:xfrm>
            <a:off x="822960" y="1627632"/>
            <a:ext cx="10424160" cy="320040"/>
          </a:xfrm>
          <a:prstGeom prst="rect">
            <a:avLst/>
          </a:prstGeom>
          <a:noFill/>
          <a:ln/>
        </p:spPr>
        <p:txBody>
          <a:bodyPr wrap="square" rtlCol="0" anchor="ctr"/>
          <a:lstStyle/>
          <a:p>
            <a:pPr indent="0" marL="0">
              <a:buNone/>
            </a:pPr>
            <a:r>
              <a:rPr lang="en-US" sz="1150" i="1" dirty="0">
                <a:solidFill>
                  <a:srgbClr val="8FA3C9"/>
                </a:solidFill>
                <a:latin typeface="Calibri" pitchFamily="34" charset="0"/>
                <a:ea typeface="Calibri" pitchFamily="34" charset="-122"/>
                <a:cs typeface="Calibri" pitchFamily="34" charset="-120"/>
              </a:rPr>
              <a:t>Copy this into your AI assistant, exactly as written:</a:t>
            </a:r>
            <a:endParaRPr lang="en-US" sz="1150" dirty="0"/>
          </a:p>
        </p:txBody>
      </p:sp>
      <p:sp>
        <p:nvSpPr>
          <p:cNvPr id="8" name="Text 5"/>
          <p:cNvSpPr/>
          <p:nvPr/>
        </p:nvSpPr>
        <p:spPr>
          <a:xfrm>
            <a:off x="822960" y="1965960"/>
            <a:ext cx="10424160" cy="1691640"/>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Add a function called EMA that takes an array of prices and a window size, and returns an exponential moving average array, seeded with the simple moving average of the first window values. Then add a function called MACD that uses EMA to calculate a fast EMA using the fast window from the form, a slow EMA using the slow window from the form, the difference between them as the MACD line, and a nine period EMA of that difference as the signal line.</a:t>
            </a:r>
            <a:endParaRPr lang="en-US" sz="1350" dirty="0"/>
          </a:p>
        </p:txBody>
      </p:sp>
      <p:sp>
        <p:nvSpPr>
          <p:cNvPr id="9" name="Text 6"/>
          <p:cNvSpPr/>
          <p:nvPr/>
        </p:nvSpPr>
        <p:spPr>
          <a:xfrm>
            <a:off x="548640" y="3977640"/>
            <a:ext cx="82296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Before you move on, check:</a:t>
            </a:r>
            <a:endParaRPr lang="en-US" sz="1500" dirty="0"/>
          </a:p>
        </p:txBody>
      </p:sp>
      <p:sp>
        <p:nvSpPr>
          <p:cNvPr id="10" name="Shape 7"/>
          <p:cNvSpPr/>
          <p:nvPr/>
        </p:nvSpPr>
        <p:spPr>
          <a:xfrm>
            <a:off x="685800" y="4453128"/>
            <a:ext cx="128016" cy="128016"/>
          </a:xfrm>
          <a:prstGeom prst="ellipse">
            <a:avLst/>
          </a:prstGeom>
          <a:solidFill>
            <a:srgbClr val="9A6B2C"/>
          </a:solidFill>
          <a:ln/>
        </p:spPr>
      </p:sp>
      <p:sp>
        <p:nvSpPr>
          <p:cNvPr id="11" name="Text 8"/>
          <p:cNvSpPr/>
          <p:nvPr/>
        </p:nvSpPr>
        <p:spPr>
          <a:xfrm>
            <a:off x="1005840" y="43891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Print the last five MACD values and the last five signal values to the console.</a:t>
            </a:r>
            <a:endParaRPr lang="en-US" sz="1300" dirty="0"/>
          </a:p>
        </p:txBody>
      </p:sp>
      <p:sp>
        <p:nvSpPr>
          <p:cNvPr id="12" name="Shape 9"/>
          <p:cNvSpPr/>
          <p:nvPr/>
        </p:nvSpPr>
        <p:spPr>
          <a:xfrm>
            <a:off x="685800" y="4910328"/>
            <a:ext cx="128016" cy="128016"/>
          </a:xfrm>
          <a:prstGeom prst="ellipse">
            <a:avLst/>
          </a:prstGeom>
          <a:solidFill>
            <a:srgbClr val="9A6B2C"/>
          </a:solidFill>
          <a:ln/>
        </p:spPr>
      </p:sp>
      <p:sp>
        <p:nvSpPr>
          <p:cNvPr id="13" name="Text 10"/>
          <p:cNvSpPr/>
          <p:nvPr/>
        </p:nvSpPr>
        <p:spPr>
          <a:xfrm>
            <a:off x="1005840" y="48463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Both should be small numbers, positive or negative, not in the hundreds or thousands.</a:t>
            </a:r>
            <a:endParaRPr lang="en-US" sz="1300" dirty="0"/>
          </a:p>
        </p:txBody>
      </p:sp>
      <p:sp>
        <p:nvSpPr>
          <p:cNvPr id="14" name="Shape 11"/>
          <p:cNvSpPr/>
          <p:nvPr/>
        </p:nvSpPr>
        <p:spPr>
          <a:xfrm>
            <a:off x="685800" y="5367528"/>
            <a:ext cx="128016" cy="128016"/>
          </a:xfrm>
          <a:prstGeom prst="ellipse">
            <a:avLst/>
          </a:prstGeom>
          <a:solidFill>
            <a:srgbClr val="9A6B2C"/>
          </a:solidFill>
          <a:ln/>
        </p:spPr>
      </p:sp>
      <p:sp>
        <p:nvSpPr>
          <p:cNvPr id="15" name="Text 12"/>
          <p:cNvSpPr/>
          <p:nvPr/>
        </p:nvSpPr>
        <p:spPr>
          <a:xfrm>
            <a:off x="1005840" y="53035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If everything is null, the fast and slow windows from the form may not be reaching this function. Ask the AI to check that.</a:t>
            </a:r>
            <a:endParaRPr lang="en-US" sz="1300" dirty="0"/>
          </a:p>
        </p:txBody>
      </p:sp>
      <p:sp>
        <p:nvSpPr>
          <p:cNvPr id="16" name="Shape 13"/>
          <p:cNvSpPr/>
          <p:nvPr/>
        </p:nvSpPr>
        <p:spPr>
          <a:xfrm>
            <a:off x="548640" y="5989320"/>
            <a:ext cx="11064240" cy="502920"/>
          </a:xfrm>
          <a:prstGeom prst="roundRect">
            <a:avLst>
              <a:gd name="adj" fmla="val 10909"/>
            </a:avLst>
          </a:prstGeom>
          <a:solidFill>
            <a:srgbClr val="F1EEE3"/>
          </a:solidFill>
          <a:ln/>
        </p:spPr>
      </p:sp>
      <p:sp>
        <p:nvSpPr>
          <p:cNvPr id="17" name="Text 14"/>
          <p:cNvSpPr/>
          <p:nvPr/>
        </p:nvSpPr>
        <p:spPr>
          <a:xfrm>
            <a:off x="777240" y="5989320"/>
            <a:ext cx="10607040" cy="502920"/>
          </a:xfrm>
          <a:prstGeom prst="rect">
            <a:avLst/>
          </a:prstGeom>
          <a:noFill/>
          <a:ln/>
        </p:spPr>
        <p:txBody>
          <a:bodyPr wrap="square" rtlCol="0" anchor="ctr"/>
          <a:lstStyle/>
          <a:p>
            <a:pPr indent="0" marL="0">
              <a:buNone/>
            </a:pPr>
            <a:r>
              <a:rPr lang="en-US" sz="1150" dirty="0">
                <a:solidFill>
                  <a:srgbClr val="14213D"/>
                </a:solidFill>
                <a:latin typeface="Courier New" pitchFamily="34" charset="0"/>
                <a:ea typeface="Courier New" pitchFamily="34" charset="-122"/>
                <a:cs typeface="Courier New" pitchFamily="34" charset="-120"/>
              </a:rPr>
              <a:t>Working? Save it now: git add .   then   git commit -m "describe what you just added"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250" b="1" spc="100" kern="0" dirty="0">
                <a:solidFill>
                  <a:srgbClr val="9A6B2C"/>
                </a:solidFill>
                <a:latin typeface="Calibri" pitchFamily="34" charset="0"/>
                <a:ea typeface="Calibri" pitchFamily="34" charset="-122"/>
                <a:cs typeface="Calibri" pitchFamily="34" charset="-120"/>
              </a:rPr>
              <a:t>PIECE 3  ·  PROMPT 3 OF 3</a:t>
            </a:r>
            <a:endParaRPr lang="en-US" sz="1250" dirty="0"/>
          </a:p>
        </p:txBody>
      </p:sp>
      <p:sp>
        <p:nvSpPr>
          <p:cNvPr id="5" name="Text 2"/>
          <p:cNvSpPr/>
          <p:nvPr/>
        </p:nvSpPr>
        <p:spPr>
          <a:xfrm>
            <a:off x="1280160" y="804672"/>
            <a:ext cx="9601200" cy="502920"/>
          </a:xfrm>
          <a:prstGeom prst="rect">
            <a:avLst/>
          </a:prstGeom>
          <a:noFill/>
          <a:ln/>
        </p:spPr>
        <p:txBody>
          <a:bodyPr wrap="square" rtlCol="0" anchor="ctr"/>
          <a:lstStyle/>
          <a:p>
            <a:pPr indent="0" marL="0">
              <a:buNone/>
            </a:pPr>
            <a:r>
              <a:rPr lang="en-US" sz="2300" b="1" dirty="0">
                <a:solidFill>
                  <a:srgbClr val="14213D"/>
                </a:solidFill>
                <a:latin typeface="Cambria" pitchFamily="34" charset="0"/>
                <a:ea typeface="Cambria" pitchFamily="34" charset="-122"/>
                <a:cs typeface="Cambria" pitchFamily="34" charset="-120"/>
              </a:rPr>
              <a:t>Then, RSI</a:t>
            </a:r>
            <a:endParaRPr lang="en-US" sz="2300" dirty="0"/>
          </a:p>
        </p:txBody>
      </p:sp>
      <p:sp>
        <p:nvSpPr>
          <p:cNvPr id="6" name="Shape 3"/>
          <p:cNvSpPr/>
          <p:nvPr/>
        </p:nvSpPr>
        <p:spPr>
          <a:xfrm>
            <a:off x="548640" y="1463040"/>
            <a:ext cx="11064240" cy="2286000"/>
          </a:xfrm>
          <a:prstGeom prst="roundRect">
            <a:avLst>
              <a:gd name="adj" fmla="val 3200"/>
            </a:avLst>
          </a:prstGeom>
          <a:solidFill>
            <a:srgbClr val="14213D"/>
          </a:solidFill>
          <a:ln/>
        </p:spPr>
      </p:sp>
      <p:sp>
        <p:nvSpPr>
          <p:cNvPr id="7" name="Text 4"/>
          <p:cNvSpPr/>
          <p:nvPr/>
        </p:nvSpPr>
        <p:spPr>
          <a:xfrm>
            <a:off x="822960" y="1627632"/>
            <a:ext cx="10424160" cy="320040"/>
          </a:xfrm>
          <a:prstGeom prst="rect">
            <a:avLst/>
          </a:prstGeom>
          <a:noFill/>
          <a:ln/>
        </p:spPr>
        <p:txBody>
          <a:bodyPr wrap="square" rtlCol="0" anchor="ctr"/>
          <a:lstStyle/>
          <a:p>
            <a:pPr indent="0" marL="0">
              <a:buNone/>
            </a:pPr>
            <a:r>
              <a:rPr lang="en-US" sz="1150" i="1" dirty="0">
                <a:solidFill>
                  <a:srgbClr val="8FA3C9"/>
                </a:solidFill>
                <a:latin typeface="Calibri" pitchFamily="34" charset="0"/>
                <a:ea typeface="Calibri" pitchFamily="34" charset="-122"/>
                <a:cs typeface="Calibri" pitchFamily="34" charset="-120"/>
              </a:rPr>
              <a:t>Copy this into your AI assistant, exactly as written:</a:t>
            </a:r>
            <a:endParaRPr lang="en-US" sz="1150" dirty="0"/>
          </a:p>
        </p:txBody>
      </p:sp>
      <p:sp>
        <p:nvSpPr>
          <p:cNvPr id="8" name="Text 5"/>
          <p:cNvSpPr/>
          <p:nvPr/>
        </p:nvSpPr>
        <p:spPr>
          <a:xfrm>
            <a:off x="822960" y="1965960"/>
            <a:ext cx="10424160" cy="1691640"/>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Add a function called RSI that takes an array of closing prices and a period, and returns the Relative Strength Index for each day. Calculate the average gain and average loss over that period, both divided by the same period length, then use RS equals average gain divided by average loss, and RSI equals 100 minus 100 divided by (1 plus RS). Use the RSI period value from the form.</a:t>
            </a:r>
            <a:endParaRPr lang="en-US" sz="1350" dirty="0"/>
          </a:p>
        </p:txBody>
      </p:sp>
      <p:sp>
        <p:nvSpPr>
          <p:cNvPr id="9" name="Text 6"/>
          <p:cNvSpPr/>
          <p:nvPr/>
        </p:nvSpPr>
        <p:spPr>
          <a:xfrm>
            <a:off x="548640" y="3977640"/>
            <a:ext cx="82296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Before you move on, check:</a:t>
            </a:r>
            <a:endParaRPr lang="en-US" sz="1500" dirty="0"/>
          </a:p>
        </p:txBody>
      </p:sp>
      <p:sp>
        <p:nvSpPr>
          <p:cNvPr id="10" name="Shape 7"/>
          <p:cNvSpPr/>
          <p:nvPr/>
        </p:nvSpPr>
        <p:spPr>
          <a:xfrm>
            <a:off x="685800" y="4453128"/>
            <a:ext cx="128016" cy="128016"/>
          </a:xfrm>
          <a:prstGeom prst="ellipse">
            <a:avLst/>
          </a:prstGeom>
          <a:solidFill>
            <a:srgbClr val="9A6B2C"/>
          </a:solidFill>
          <a:ln/>
        </p:spPr>
      </p:sp>
      <p:sp>
        <p:nvSpPr>
          <p:cNvPr id="11" name="Text 8"/>
          <p:cNvSpPr/>
          <p:nvPr/>
        </p:nvSpPr>
        <p:spPr>
          <a:xfrm>
            <a:off x="1005840" y="43891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Print the last five RSI values to the console.</a:t>
            </a:r>
            <a:endParaRPr lang="en-US" sz="1300" dirty="0"/>
          </a:p>
        </p:txBody>
      </p:sp>
      <p:sp>
        <p:nvSpPr>
          <p:cNvPr id="12" name="Shape 9"/>
          <p:cNvSpPr/>
          <p:nvPr/>
        </p:nvSpPr>
        <p:spPr>
          <a:xfrm>
            <a:off x="685800" y="4910328"/>
            <a:ext cx="128016" cy="128016"/>
          </a:xfrm>
          <a:prstGeom prst="ellipse">
            <a:avLst/>
          </a:prstGeom>
          <a:solidFill>
            <a:srgbClr val="9A6B2C"/>
          </a:solidFill>
          <a:ln/>
        </p:spPr>
      </p:sp>
      <p:sp>
        <p:nvSpPr>
          <p:cNvPr id="13" name="Text 10"/>
          <p:cNvSpPr/>
          <p:nvPr/>
        </p:nvSpPr>
        <p:spPr>
          <a:xfrm>
            <a:off x="1005840" y="48463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Every value should be between 0 and 100.</a:t>
            </a:r>
            <a:endParaRPr lang="en-US" sz="1300" dirty="0"/>
          </a:p>
        </p:txBody>
      </p:sp>
      <p:sp>
        <p:nvSpPr>
          <p:cNvPr id="14" name="Shape 11"/>
          <p:cNvSpPr/>
          <p:nvPr/>
        </p:nvSpPr>
        <p:spPr>
          <a:xfrm>
            <a:off x="685800" y="5367528"/>
            <a:ext cx="128016" cy="128016"/>
          </a:xfrm>
          <a:prstGeom prst="ellipse">
            <a:avLst/>
          </a:prstGeom>
          <a:solidFill>
            <a:srgbClr val="9A6B2C"/>
          </a:solidFill>
          <a:ln/>
        </p:spPr>
      </p:sp>
      <p:sp>
        <p:nvSpPr>
          <p:cNvPr id="15" name="Text 12"/>
          <p:cNvSpPr/>
          <p:nvPr/>
        </p:nvSpPr>
        <p:spPr>
          <a:xfrm>
            <a:off x="1005840" y="53035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If a value is exactly 100 or NaN, ask the AI what happens when average loss is zero, and how it is handling that.</a:t>
            </a:r>
            <a:endParaRPr lang="en-US" sz="1300" dirty="0"/>
          </a:p>
        </p:txBody>
      </p:sp>
      <p:sp>
        <p:nvSpPr>
          <p:cNvPr id="16" name="Shape 13"/>
          <p:cNvSpPr/>
          <p:nvPr/>
        </p:nvSpPr>
        <p:spPr>
          <a:xfrm>
            <a:off x="548640" y="5989320"/>
            <a:ext cx="11064240" cy="502920"/>
          </a:xfrm>
          <a:prstGeom prst="roundRect">
            <a:avLst>
              <a:gd name="adj" fmla="val 10909"/>
            </a:avLst>
          </a:prstGeom>
          <a:solidFill>
            <a:srgbClr val="F1EEE3"/>
          </a:solidFill>
          <a:ln/>
        </p:spPr>
      </p:sp>
      <p:sp>
        <p:nvSpPr>
          <p:cNvPr id="17" name="Text 14"/>
          <p:cNvSpPr/>
          <p:nvPr/>
        </p:nvSpPr>
        <p:spPr>
          <a:xfrm>
            <a:off x="777240" y="5989320"/>
            <a:ext cx="10607040" cy="502920"/>
          </a:xfrm>
          <a:prstGeom prst="rect">
            <a:avLst/>
          </a:prstGeom>
          <a:noFill/>
          <a:ln/>
        </p:spPr>
        <p:txBody>
          <a:bodyPr wrap="square" rtlCol="0" anchor="ctr"/>
          <a:lstStyle/>
          <a:p>
            <a:pPr indent="0" marL="0">
              <a:buNone/>
            </a:pPr>
            <a:r>
              <a:rPr lang="en-US" sz="1150" dirty="0">
                <a:solidFill>
                  <a:srgbClr val="14213D"/>
                </a:solidFill>
                <a:latin typeface="Courier New" pitchFamily="34" charset="0"/>
                <a:ea typeface="Courier New" pitchFamily="34" charset="-122"/>
                <a:cs typeface="Courier New" pitchFamily="34" charset="-120"/>
              </a:rPr>
              <a:t>Working? Save it now: git add .   then   git commit -m "describe what you just added"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502920"/>
            <a:ext cx="9144000" cy="548640"/>
          </a:xfrm>
          <a:prstGeom prst="rect">
            <a:avLst/>
          </a:prstGeom>
          <a:noFill/>
          <a:ln/>
        </p:spPr>
        <p:txBody>
          <a:bodyPr wrap="square" rtlCol="0" anchor="ctr"/>
          <a:lstStyle/>
          <a:p>
            <a:pPr indent="0" marL="0">
              <a:buNone/>
            </a:pPr>
            <a:r>
              <a:rPr lang="en-US" sz="2500" b="1" dirty="0">
                <a:solidFill>
                  <a:srgbClr val="14213D"/>
                </a:solidFill>
                <a:latin typeface="Cambria" pitchFamily="34" charset="0"/>
                <a:ea typeface="Cambria" pitchFamily="34" charset="-122"/>
                <a:cs typeface="Cambria" pitchFamily="34" charset="-120"/>
              </a:rPr>
              <a:t>All three indicators, together</a:t>
            </a:r>
            <a:endParaRPr lang="en-US" sz="2500" dirty="0"/>
          </a:p>
        </p:txBody>
      </p:sp>
      <p:sp>
        <p:nvSpPr>
          <p:cNvPr id="5" name="Text 2"/>
          <p:cNvSpPr/>
          <p:nvPr/>
        </p:nvSpPr>
        <p:spPr>
          <a:xfrm>
            <a:off x="1280160" y="1097280"/>
            <a:ext cx="9601200" cy="365760"/>
          </a:xfrm>
          <a:prstGeom prst="rect">
            <a:avLst/>
          </a:prstGeom>
          <a:noFill/>
          <a:ln/>
        </p:spPr>
        <p:txBody>
          <a:bodyPr wrap="square" rtlCol="0" anchor="ctr"/>
          <a:lstStyle/>
          <a:p>
            <a:pPr indent="0" marL="0">
              <a:buNone/>
            </a:pPr>
            <a:r>
              <a:rPr lang="en-US" sz="1350" i="1" dirty="0">
                <a:solidFill>
                  <a:srgbClr val="3A3F4B"/>
                </a:solidFill>
                <a:latin typeface="Calibri" pitchFamily="34" charset="0"/>
                <a:ea typeface="Calibri" pitchFamily="34" charset="-122"/>
                <a:cs typeface="Calibri" pitchFamily="34" charset="-120"/>
              </a:rPr>
              <a:t>Before moving to charts, confirm all three pieces of math actually ran on the same data.</a:t>
            </a:r>
            <a:endParaRPr lang="en-US" sz="1350" dirty="0"/>
          </a:p>
        </p:txBody>
      </p:sp>
      <p:sp>
        <p:nvSpPr>
          <p:cNvPr id="6" name="Shape 3"/>
          <p:cNvSpPr/>
          <p:nvPr/>
        </p:nvSpPr>
        <p:spPr>
          <a:xfrm>
            <a:off x="685800" y="1901952"/>
            <a:ext cx="128016" cy="128016"/>
          </a:xfrm>
          <a:prstGeom prst="ellipse">
            <a:avLst/>
          </a:prstGeom>
          <a:solidFill>
            <a:srgbClr val="9A6B2C"/>
          </a:solidFill>
          <a:ln/>
        </p:spPr>
      </p:sp>
      <p:sp>
        <p:nvSpPr>
          <p:cNvPr id="7" name="Text 4"/>
          <p:cNvSpPr/>
          <p:nvPr/>
        </p:nvSpPr>
        <p:spPr>
          <a:xfrm>
            <a:off x="1005840" y="1828800"/>
            <a:ext cx="10332720" cy="502920"/>
          </a:xfrm>
          <a:prstGeom prst="rect">
            <a:avLst/>
          </a:prstGeom>
          <a:noFill/>
          <a:ln/>
        </p:spPr>
        <p:txBody>
          <a:bodyPr wrap="square" rtlCol="0" anchor="ctr"/>
          <a:lstStyle/>
          <a:p>
            <a:pPr indent="0" marL="0">
              <a:buNone/>
            </a:pPr>
            <a:r>
              <a:rPr lang="en-US" sz="1450" dirty="0">
                <a:solidFill>
                  <a:srgbClr val="3A3F4B"/>
                </a:solidFill>
                <a:latin typeface="Calibri" pitchFamily="34" charset="0"/>
                <a:ea typeface="Calibri" pitchFamily="34" charset="-122"/>
                <a:cs typeface="Calibri" pitchFamily="34" charset="-120"/>
              </a:rPr>
              <a:t>The moving average, MACD, and RSI values all printed to the console without errors.</a:t>
            </a:r>
            <a:endParaRPr lang="en-US" sz="1450" dirty="0"/>
          </a:p>
        </p:txBody>
      </p:sp>
      <p:sp>
        <p:nvSpPr>
          <p:cNvPr id="8" name="Shape 5"/>
          <p:cNvSpPr/>
          <p:nvPr/>
        </p:nvSpPr>
        <p:spPr>
          <a:xfrm>
            <a:off x="685800" y="2523744"/>
            <a:ext cx="128016" cy="128016"/>
          </a:xfrm>
          <a:prstGeom prst="ellipse">
            <a:avLst/>
          </a:prstGeom>
          <a:solidFill>
            <a:srgbClr val="9A6B2C"/>
          </a:solidFill>
          <a:ln/>
        </p:spPr>
      </p:sp>
      <p:sp>
        <p:nvSpPr>
          <p:cNvPr id="9" name="Text 6"/>
          <p:cNvSpPr/>
          <p:nvPr/>
        </p:nvSpPr>
        <p:spPr>
          <a:xfrm>
            <a:off x="1005840" y="2450592"/>
            <a:ext cx="10332720" cy="502920"/>
          </a:xfrm>
          <a:prstGeom prst="rect">
            <a:avLst/>
          </a:prstGeom>
          <a:noFill/>
          <a:ln/>
        </p:spPr>
        <p:txBody>
          <a:bodyPr wrap="square" rtlCol="0" anchor="ctr"/>
          <a:lstStyle/>
          <a:p>
            <a:pPr indent="0" marL="0">
              <a:buNone/>
            </a:pPr>
            <a:r>
              <a:rPr lang="en-US" sz="1450" dirty="0">
                <a:solidFill>
                  <a:srgbClr val="3A3F4B"/>
                </a:solidFill>
                <a:latin typeface="Calibri" pitchFamily="34" charset="0"/>
                <a:ea typeface="Calibri" pitchFamily="34" charset="-122"/>
                <a:cs typeface="Calibri" pitchFamily="34" charset="-120"/>
              </a:rPr>
              <a:t>The numbers look reasonable for the ticker you tested (a moving average near the actual price, RSI between 0 and 100).</a:t>
            </a:r>
            <a:endParaRPr lang="en-US" sz="1450" dirty="0"/>
          </a:p>
        </p:txBody>
      </p:sp>
      <p:sp>
        <p:nvSpPr>
          <p:cNvPr id="10" name="Shape 7"/>
          <p:cNvSpPr/>
          <p:nvPr/>
        </p:nvSpPr>
        <p:spPr>
          <a:xfrm>
            <a:off x="685800" y="3145536"/>
            <a:ext cx="128016" cy="128016"/>
          </a:xfrm>
          <a:prstGeom prst="ellipse">
            <a:avLst/>
          </a:prstGeom>
          <a:solidFill>
            <a:srgbClr val="9A6B2C"/>
          </a:solidFill>
          <a:ln/>
        </p:spPr>
      </p:sp>
      <p:sp>
        <p:nvSpPr>
          <p:cNvPr id="11" name="Text 8"/>
          <p:cNvSpPr/>
          <p:nvPr/>
        </p:nvSpPr>
        <p:spPr>
          <a:xfrm>
            <a:off x="1005840" y="3072384"/>
            <a:ext cx="10332720" cy="502920"/>
          </a:xfrm>
          <a:prstGeom prst="rect">
            <a:avLst/>
          </a:prstGeom>
          <a:noFill/>
          <a:ln/>
        </p:spPr>
        <p:txBody>
          <a:bodyPr wrap="square" rtlCol="0" anchor="ctr"/>
          <a:lstStyle/>
          <a:p>
            <a:pPr indent="0" marL="0">
              <a:buNone/>
            </a:pPr>
            <a:r>
              <a:rPr lang="en-US" sz="1450" dirty="0">
                <a:solidFill>
                  <a:srgbClr val="3A3F4B"/>
                </a:solidFill>
                <a:latin typeface="Calibri" pitchFamily="34" charset="0"/>
                <a:ea typeface="Calibri" pitchFamily="34" charset="-122"/>
                <a:cs typeface="Calibri" pitchFamily="34" charset="-120"/>
              </a:rPr>
              <a:t>You have not touched the chart canvases yet. That is the next piece.</a:t>
            </a:r>
            <a:endParaRPr lang="en-US" sz="1450" dirty="0"/>
          </a:p>
        </p:txBody>
      </p:sp>
      <p:sp>
        <p:nvSpPr>
          <p:cNvPr id="12" name="Shape 9"/>
          <p:cNvSpPr/>
          <p:nvPr/>
        </p:nvSpPr>
        <p:spPr>
          <a:xfrm>
            <a:off x="548640" y="3931920"/>
            <a:ext cx="11064240" cy="548640"/>
          </a:xfrm>
          <a:prstGeom prst="roundRect">
            <a:avLst>
              <a:gd name="adj" fmla="val 10000"/>
            </a:avLst>
          </a:prstGeom>
          <a:solidFill>
            <a:srgbClr val="14213D"/>
          </a:solidFill>
          <a:ln/>
        </p:spPr>
      </p:sp>
      <p:sp>
        <p:nvSpPr>
          <p:cNvPr id="13" name="Text 10"/>
          <p:cNvSpPr/>
          <p:nvPr/>
        </p:nvSpPr>
        <p:spPr>
          <a:xfrm>
            <a:off x="777240" y="3931920"/>
            <a:ext cx="10607040" cy="548640"/>
          </a:xfrm>
          <a:prstGeom prst="rect">
            <a:avLst/>
          </a:prstGeom>
          <a:noFill/>
          <a:ln/>
        </p:spPr>
        <p:txBody>
          <a:bodyPr wrap="square"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git add .   then   git commit -m "add moving average, MACD, and RSI calculations"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7315200" cy="365760"/>
          </a:xfrm>
          <a:prstGeom prst="rect">
            <a:avLst/>
          </a:prstGeom>
          <a:noFill/>
          <a:ln/>
        </p:spPr>
        <p:txBody>
          <a:bodyPr wrap="square" rtlCol="0" anchor="ctr"/>
          <a:lstStyle/>
          <a:p>
            <a:pPr indent="0" marL="0">
              <a:buNone/>
            </a:pPr>
            <a:r>
              <a:rPr lang="en-US" sz="1300" b="1" spc="200" kern="0" dirty="0">
                <a:solidFill>
                  <a:srgbClr val="9A6B2C"/>
                </a:solidFill>
                <a:latin typeface="Calibri" pitchFamily="34" charset="0"/>
                <a:ea typeface="Calibri" pitchFamily="34" charset="-122"/>
                <a:cs typeface="Calibri" pitchFamily="34" charset="-120"/>
              </a:rPr>
              <a:t>PIECE 4</a:t>
            </a:r>
            <a:endParaRPr lang="en-US" sz="1300" dirty="0"/>
          </a:p>
        </p:txBody>
      </p:sp>
      <p:sp>
        <p:nvSpPr>
          <p:cNvPr id="5" name="Text 2"/>
          <p:cNvSpPr/>
          <p:nvPr/>
        </p:nvSpPr>
        <p:spPr>
          <a:xfrm>
            <a:off x="1280160" y="804672"/>
            <a:ext cx="9601200" cy="548640"/>
          </a:xfrm>
          <a:prstGeom prst="rect">
            <a:avLst/>
          </a:prstGeom>
          <a:noFill/>
          <a:ln/>
        </p:spPr>
        <p:txBody>
          <a:bodyPr wrap="square" rtlCol="0" anchor="ctr"/>
          <a:lstStyle/>
          <a:p>
            <a:pPr indent="0" marL="0">
              <a:buNone/>
            </a:pPr>
            <a:r>
              <a:rPr lang="en-US" sz="2700" b="1" dirty="0">
                <a:solidFill>
                  <a:srgbClr val="14213D"/>
                </a:solidFill>
                <a:latin typeface="Cambria" pitchFamily="34" charset="0"/>
                <a:ea typeface="Cambria" pitchFamily="34" charset="-122"/>
                <a:cs typeface="Cambria" pitchFamily="34" charset="-120"/>
              </a:rPr>
              <a:t>Drawing the charts</a:t>
            </a:r>
            <a:endParaRPr lang="en-US" sz="2700" dirty="0"/>
          </a:p>
        </p:txBody>
      </p:sp>
      <p:sp>
        <p:nvSpPr>
          <p:cNvPr id="6" name="Text 3"/>
          <p:cNvSpPr/>
          <p:nvPr/>
        </p:nvSpPr>
        <p:spPr>
          <a:xfrm>
            <a:off x="548640" y="1508760"/>
            <a:ext cx="10972800" cy="548640"/>
          </a:xfrm>
          <a:prstGeom prst="rect">
            <a:avLst/>
          </a:prstGeom>
          <a:noFill/>
          <a:ln/>
        </p:spPr>
        <p:txBody>
          <a:bodyPr wrap="square" rtlCol="0" anchor="ctr"/>
          <a:lstStyle/>
          <a:p>
            <a:pPr indent="0" marL="0">
              <a:buNone/>
            </a:pPr>
            <a:r>
              <a:rPr lang="en-US" sz="1500" dirty="0">
                <a:solidFill>
                  <a:srgbClr val="3A3F4B"/>
                </a:solidFill>
                <a:latin typeface="Calibri" pitchFamily="34" charset="0"/>
                <a:ea typeface="Calibri" pitchFamily="34" charset="-122"/>
                <a:cs typeface="Calibri" pitchFamily="34" charset="-120"/>
              </a:rPr>
              <a:t>The numbers exist now, they just are not visible yet. This piece draws them as three charts.</a:t>
            </a:r>
            <a:endParaRPr lang="en-US" sz="1500" dirty="0"/>
          </a:p>
        </p:txBody>
      </p:sp>
      <p:sp>
        <p:nvSpPr>
          <p:cNvPr id="7" name="Text 4"/>
          <p:cNvSpPr/>
          <p:nvPr/>
        </p:nvSpPr>
        <p:spPr>
          <a:xfrm>
            <a:off x="548640" y="2148840"/>
            <a:ext cx="10972800" cy="457200"/>
          </a:xfrm>
          <a:prstGeom prst="rect">
            <a:avLst/>
          </a:prstGeom>
          <a:noFill/>
          <a:ln/>
        </p:spPr>
        <p:txBody>
          <a:bodyPr wrap="square" rtlCol="0" anchor="ctr"/>
          <a:lstStyle/>
          <a:p>
            <a:pPr indent="0" marL="0">
              <a:buNone/>
            </a:pPr>
            <a:r>
              <a:rPr lang="en-US" sz="1400" i="1" dirty="0">
                <a:solidFill>
                  <a:srgbClr val="3A3F4B"/>
                </a:solidFill>
                <a:latin typeface="Calibri" pitchFamily="34" charset="0"/>
                <a:ea typeface="Calibri" pitchFamily="34" charset="-122"/>
                <a:cs typeface="Calibri" pitchFamily="34" charset="-120"/>
              </a:rPr>
              <a:t>We use a small charting library called Chart.js, so nobody has to draw lines and axes by hand.</a:t>
            </a:r>
            <a:endParaRPr lang="en-US" sz="1400" dirty="0"/>
          </a:p>
        </p:txBody>
      </p:sp>
      <p:sp>
        <p:nvSpPr>
          <p:cNvPr id="8" name="Text 5"/>
          <p:cNvSpPr/>
          <p:nvPr/>
        </p:nvSpPr>
        <p:spPr>
          <a:xfrm>
            <a:off x="548640" y="2743200"/>
            <a:ext cx="9144000" cy="365760"/>
          </a:xfrm>
          <a:prstGeom prst="rect">
            <a:avLst/>
          </a:prstGeom>
          <a:noFill/>
          <a:ln/>
        </p:spPr>
        <p:txBody>
          <a:bodyPr wrap="square"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Three charts, matching the three pieces of math</a:t>
            </a:r>
            <a:endParaRPr lang="en-US" sz="1600" dirty="0"/>
          </a:p>
        </p:txBody>
      </p:sp>
      <p:sp>
        <p:nvSpPr>
          <p:cNvPr id="9" name="Text 6"/>
          <p:cNvSpPr/>
          <p:nvPr/>
        </p:nvSpPr>
        <p:spPr>
          <a:xfrm>
            <a:off x="548640" y="3200400"/>
            <a:ext cx="10972800" cy="41148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Chart 1: the closing price, with the fast and slow moving average lines on top of it.</a:t>
            </a:r>
            <a:endParaRPr lang="en-US" sz="1350" dirty="0"/>
          </a:p>
        </p:txBody>
      </p:sp>
      <p:sp>
        <p:nvSpPr>
          <p:cNvPr id="10" name="Text 7"/>
          <p:cNvSpPr/>
          <p:nvPr/>
        </p:nvSpPr>
        <p:spPr>
          <a:xfrm>
            <a:off x="548640" y="3703320"/>
            <a:ext cx="10972800" cy="41148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Chart 2: the MACD line and the signal line.</a:t>
            </a:r>
            <a:endParaRPr lang="en-US" sz="1350" dirty="0"/>
          </a:p>
        </p:txBody>
      </p:sp>
      <p:sp>
        <p:nvSpPr>
          <p:cNvPr id="11" name="Text 8"/>
          <p:cNvSpPr/>
          <p:nvPr/>
        </p:nvSpPr>
        <p:spPr>
          <a:xfrm>
            <a:off x="548640" y="4206240"/>
            <a:ext cx="10972800" cy="41148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Chart 3: RSI, with two flat reference lines at 30 and 70.</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250" b="1" spc="100" kern="0" dirty="0">
                <a:solidFill>
                  <a:srgbClr val="9A6B2C"/>
                </a:solidFill>
                <a:latin typeface="Calibri" pitchFamily="34" charset="0"/>
                <a:ea typeface="Calibri" pitchFamily="34" charset="-122"/>
                <a:cs typeface="Calibri" pitchFamily="34" charset="-120"/>
              </a:rPr>
              <a:t>PIECE 4  ·  PROMPT</a:t>
            </a:r>
            <a:endParaRPr lang="en-US" sz="1250" dirty="0"/>
          </a:p>
        </p:txBody>
      </p:sp>
      <p:sp>
        <p:nvSpPr>
          <p:cNvPr id="5" name="Text 2"/>
          <p:cNvSpPr/>
          <p:nvPr/>
        </p:nvSpPr>
        <p:spPr>
          <a:xfrm>
            <a:off x="1280160" y="804672"/>
            <a:ext cx="9601200" cy="502920"/>
          </a:xfrm>
          <a:prstGeom prst="rect">
            <a:avLst/>
          </a:prstGeom>
          <a:noFill/>
          <a:ln/>
        </p:spPr>
        <p:txBody>
          <a:bodyPr wrap="square" rtlCol="0" anchor="ctr"/>
          <a:lstStyle/>
          <a:p>
            <a:pPr indent="0" marL="0">
              <a:buNone/>
            </a:pPr>
            <a:r>
              <a:rPr lang="en-US" sz="2300" b="1" dirty="0">
                <a:solidFill>
                  <a:srgbClr val="14213D"/>
                </a:solidFill>
                <a:latin typeface="Cambria" pitchFamily="34" charset="0"/>
                <a:ea typeface="Cambria" pitchFamily="34" charset="-122"/>
                <a:cs typeface="Cambria" pitchFamily="34" charset="-120"/>
              </a:rPr>
              <a:t>Ask your AI assistant to add the charts</a:t>
            </a:r>
            <a:endParaRPr lang="en-US" sz="2300" dirty="0"/>
          </a:p>
        </p:txBody>
      </p:sp>
      <p:sp>
        <p:nvSpPr>
          <p:cNvPr id="6" name="Shape 3"/>
          <p:cNvSpPr/>
          <p:nvPr/>
        </p:nvSpPr>
        <p:spPr>
          <a:xfrm>
            <a:off x="548640" y="1463040"/>
            <a:ext cx="11064240" cy="2286000"/>
          </a:xfrm>
          <a:prstGeom prst="roundRect">
            <a:avLst>
              <a:gd name="adj" fmla="val 3200"/>
            </a:avLst>
          </a:prstGeom>
          <a:solidFill>
            <a:srgbClr val="14213D"/>
          </a:solidFill>
          <a:ln/>
        </p:spPr>
      </p:sp>
      <p:sp>
        <p:nvSpPr>
          <p:cNvPr id="7" name="Text 4"/>
          <p:cNvSpPr/>
          <p:nvPr/>
        </p:nvSpPr>
        <p:spPr>
          <a:xfrm>
            <a:off x="822960" y="1627632"/>
            <a:ext cx="10424160" cy="320040"/>
          </a:xfrm>
          <a:prstGeom prst="rect">
            <a:avLst/>
          </a:prstGeom>
          <a:noFill/>
          <a:ln/>
        </p:spPr>
        <p:txBody>
          <a:bodyPr wrap="square" rtlCol="0" anchor="ctr"/>
          <a:lstStyle/>
          <a:p>
            <a:pPr indent="0" marL="0">
              <a:buNone/>
            </a:pPr>
            <a:r>
              <a:rPr lang="en-US" sz="1150" i="1" dirty="0">
                <a:solidFill>
                  <a:srgbClr val="8FA3C9"/>
                </a:solidFill>
                <a:latin typeface="Calibri" pitchFamily="34" charset="0"/>
                <a:ea typeface="Calibri" pitchFamily="34" charset="-122"/>
                <a:cs typeface="Calibri" pitchFamily="34" charset="-120"/>
              </a:rPr>
              <a:t>Copy this into your AI assistant, exactly as written:</a:t>
            </a:r>
            <a:endParaRPr lang="en-US" sz="1150" dirty="0"/>
          </a:p>
        </p:txBody>
      </p:sp>
      <p:sp>
        <p:nvSpPr>
          <p:cNvPr id="8" name="Text 5"/>
          <p:cNvSpPr/>
          <p:nvPr/>
        </p:nvSpPr>
        <p:spPr>
          <a:xfrm>
            <a:off x="822960" y="1965960"/>
            <a:ext cx="10424160" cy="1691640"/>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Install chart.js. In index.html add three canvas elements with the ids ma-chart, macd-chart, and rsi-chart. In main.js, import Chart.js and render three line charts after the indicators are calculated: the first showing the closing price with the fast and slow moving averages, the second showing the MACD line and its signal line, the third showing RSI with two flat reference lines at 30 and 70. Use the dates as labels on all three charts.</a:t>
            </a:r>
            <a:endParaRPr lang="en-US" sz="1350" dirty="0"/>
          </a:p>
        </p:txBody>
      </p:sp>
      <p:sp>
        <p:nvSpPr>
          <p:cNvPr id="9" name="Text 6"/>
          <p:cNvSpPr/>
          <p:nvPr/>
        </p:nvSpPr>
        <p:spPr>
          <a:xfrm>
            <a:off x="548640" y="3977640"/>
            <a:ext cx="82296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Before you move on, check:</a:t>
            </a:r>
            <a:endParaRPr lang="en-US" sz="1500" dirty="0"/>
          </a:p>
        </p:txBody>
      </p:sp>
      <p:sp>
        <p:nvSpPr>
          <p:cNvPr id="10" name="Shape 7"/>
          <p:cNvSpPr/>
          <p:nvPr/>
        </p:nvSpPr>
        <p:spPr>
          <a:xfrm>
            <a:off x="685800" y="4453128"/>
            <a:ext cx="128016" cy="128016"/>
          </a:xfrm>
          <a:prstGeom prst="ellipse">
            <a:avLst/>
          </a:prstGeom>
          <a:solidFill>
            <a:srgbClr val="9A6B2C"/>
          </a:solidFill>
          <a:ln/>
        </p:spPr>
      </p:sp>
      <p:sp>
        <p:nvSpPr>
          <p:cNvPr id="11" name="Text 8"/>
          <p:cNvSpPr/>
          <p:nvPr/>
        </p:nvSpPr>
        <p:spPr>
          <a:xfrm>
            <a:off x="1005840" y="43891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Submit the form again with a real ticker.</a:t>
            </a:r>
            <a:endParaRPr lang="en-US" sz="1300" dirty="0"/>
          </a:p>
        </p:txBody>
      </p:sp>
      <p:sp>
        <p:nvSpPr>
          <p:cNvPr id="12" name="Shape 9"/>
          <p:cNvSpPr/>
          <p:nvPr/>
        </p:nvSpPr>
        <p:spPr>
          <a:xfrm>
            <a:off x="685800" y="4910328"/>
            <a:ext cx="128016" cy="128016"/>
          </a:xfrm>
          <a:prstGeom prst="ellipse">
            <a:avLst/>
          </a:prstGeom>
          <a:solidFill>
            <a:srgbClr val="9A6B2C"/>
          </a:solidFill>
          <a:ln/>
        </p:spPr>
      </p:sp>
      <p:sp>
        <p:nvSpPr>
          <p:cNvPr id="13" name="Text 10"/>
          <p:cNvSpPr/>
          <p:nvPr/>
        </p:nvSpPr>
        <p:spPr>
          <a:xfrm>
            <a:off x="1005840" y="48463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Three charts should appear, stacked or side by side.</a:t>
            </a:r>
            <a:endParaRPr lang="en-US" sz="1300" dirty="0"/>
          </a:p>
        </p:txBody>
      </p:sp>
      <p:sp>
        <p:nvSpPr>
          <p:cNvPr id="14" name="Shape 11"/>
          <p:cNvSpPr/>
          <p:nvPr/>
        </p:nvSpPr>
        <p:spPr>
          <a:xfrm>
            <a:off x="685800" y="5367528"/>
            <a:ext cx="128016" cy="128016"/>
          </a:xfrm>
          <a:prstGeom prst="ellipse">
            <a:avLst/>
          </a:prstGeom>
          <a:solidFill>
            <a:srgbClr val="9A6B2C"/>
          </a:solidFill>
          <a:ln/>
        </p:spPr>
      </p:sp>
      <p:sp>
        <p:nvSpPr>
          <p:cNvPr id="15" name="Text 12"/>
          <p:cNvSpPr/>
          <p:nvPr/>
        </p:nvSpPr>
        <p:spPr>
          <a:xfrm>
            <a:off x="1005840" y="53035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The first chart's lines should roughly track the closing price. The moving average lines should look smoother than the price line.</a:t>
            </a:r>
            <a:endParaRPr lang="en-US" sz="1300" dirty="0"/>
          </a:p>
        </p:txBody>
      </p:sp>
      <p:sp>
        <p:nvSpPr>
          <p:cNvPr id="16" name="Shape 13"/>
          <p:cNvSpPr/>
          <p:nvPr/>
        </p:nvSpPr>
        <p:spPr>
          <a:xfrm>
            <a:off x="685800" y="5824728"/>
            <a:ext cx="128016" cy="128016"/>
          </a:xfrm>
          <a:prstGeom prst="ellipse">
            <a:avLst/>
          </a:prstGeom>
          <a:solidFill>
            <a:srgbClr val="9A6B2C"/>
          </a:solidFill>
          <a:ln/>
        </p:spPr>
      </p:sp>
      <p:sp>
        <p:nvSpPr>
          <p:cNvPr id="17" name="Text 14"/>
          <p:cNvSpPr/>
          <p:nvPr/>
        </p:nvSpPr>
        <p:spPr>
          <a:xfrm>
            <a:off x="1005840" y="57607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The RSI chart should mostly sit between 0 and 100, occasionally crossing the 30 or 70 lines.</a:t>
            </a:r>
            <a:endParaRPr lang="en-US" sz="1300" dirty="0"/>
          </a:p>
        </p:txBody>
      </p:sp>
      <p:sp>
        <p:nvSpPr>
          <p:cNvPr id="18" name="Shape 15"/>
          <p:cNvSpPr/>
          <p:nvPr/>
        </p:nvSpPr>
        <p:spPr>
          <a:xfrm>
            <a:off x="548640" y="5989320"/>
            <a:ext cx="11064240" cy="502920"/>
          </a:xfrm>
          <a:prstGeom prst="roundRect">
            <a:avLst>
              <a:gd name="adj" fmla="val 10909"/>
            </a:avLst>
          </a:prstGeom>
          <a:solidFill>
            <a:srgbClr val="F1EEE3"/>
          </a:solidFill>
          <a:ln/>
        </p:spPr>
      </p:sp>
      <p:sp>
        <p:nvSpPr>
          <p:cNvPr id="19" name="Text 16"/>
          <p:cNvSpPr/>
          <p:nvPr/>
        </p:nvSpPr>
        <p:spPr>
          <a:xfrm>
            <a:off x="777240" y="5989320"/>
            <a:ext cx="10607040" cy="502920"/>
          </a:xfrm>
          <a:prstGeom prst="rect">
            <a:avLst/>
          </a:prstGeom>
          <a:noFill/>
          <a:ln/>
        </p:spPr>
        <p:txBody>
          <a:bodyPr wrap="square" rtlCol="0" anchor="ctr"/>
          <a:lstStyle/>
          <a:p>
            <a:pPr indent="0" marL="0">
              <a:buNone/>
            </a:pPr>
            <a:r>
              <a:rPr lang="en-US" sz="1150" dirty="0">
                <a:solidFill>
                  <a:srgbClr val="14213D"/>
                </a:solidFill>
                <a:latin typeface="Courier New" pitchFamily="34" charset="0"/>
                <a:ea typeface="Courier New" pitchFamily="34" charset="-122"/>
                <a:cs typeface="Courier New" pitchFamily="34" charset="-120"/>
              </a:rPr>
              <a:t>Working? Save it now: git add .   then   git commit -m "describe what you just added"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Asking AI to explain the signals</a:t>
            </a:r>
            <a:endParaRPr lang="en-US" sz="2400" dirty="0"/>
          </a:p>
        </p:txBody>
      </p:sp>
      <p:sp>
        <p:nvSpPr>
          <p:cNvPr id="5" name="Text 2"/>
          <p:cNvSpPr/>
          <p:nvPr/>
        </p:nvSpPr>
        <p:spPr>
          <a:xfrm>
            <a:off x="640080" y="1280160"/>
            <a:ext cx="3657600" cy="320040"/>
          </a:xfrm>
          <a:prstGeom prst="rect">
            <a:avLst/>
          </a:prstGeom>
          <a:noFill/>
          <a:ln/>
        </p:spPr>
        <p:txBody>
          <a:bodyPr wrap="square" rtlCol="0" anchor="ctr"/>
          <a:lstStyle/>
          <a:p>
            <a:pPr indent="0" marL="0">
              <a:buNone/>
            </a:pPr>
            <a:r>
              <a:rPr lang="en-US" sz="1250" b="1" spc="200" kern="0" dirty="0">
                <a:solidFill>
                  <a:srgbClr val="9A6B2C"/>
                </a:solidFill>
                <a:latin typeface="Calibri" pitchFamily="34" charset="0"/>
                <a:ea typeface="Calibri" pitchFamily="34" charset="-122"/>
                <a:cs typeface="Calibri" pitchFamily="34" charset="-120"/>
              </a:rPr>
              <a:t>PIECE 5</a:t>
            </a:r>
            <a:endParaRPr lang="en-US" sz="1250" dirty="0"/>
          </a:p>
        </p:txBody>
      </p:sp>
      <p:sp>
        <p:nvSpPr>
          <p:cNvPr id="6" name="Text 3"/>
          <p:cNvSpPr/>
          <p:nvPr/>
        </p:nvSpPr>
        <p:spPr>
          <a:xfrm>
            <a:off x="640080" y="1645920"/>
            <a:ext cx="10789920" cy="54864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charts show what happened. This piece asks an AI model to explain what it means, in plain English.</a:t>
            </a:r>
            <a:endParaRPr lang="en-US" sz="1500" dirty="0"/>
          </a:p>
        </p:txBody>
      </p:sp>
      <p:sp>
        <p:nvSpPr>
          <p:cNvPr id="7" name="Shape 4"/>
          <p:cNvSpPr/>
          <p:nvPr/>
        </p:nvSpPr>
        <p:spPr>
          <a:xfrm>
            <a:off x="640080" y="2331720"/>
            <a:ext cx="10789920" cy="1920240"/>
          </a:xfrm>
          <a:prstGeom prst="roundRect">
            <a:avLst>
              <a:gd name="adj" fmla="val 3810"/>
            </a:avLst>
          </a:prstGeom>
          <a:solidFill>
            <a:srgbClr val="1C2B52"/>
          </a:solidFill>
          <a:ln/>
        </p:spPr>
      </p:sp>
      <p:sp>
        <p:nvSpPr>
          <p:cNvPr id="8" name="Text 5"/>
          <p:cNvSpPr/>
          <p:nvPr/>
        </p:nvSpPr>
        <p:spPr>
          <a:xfrm>
            <a:off x="914400" y="2514600"/>
            <a:ext cx="9144000" cy="36576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This reuses this morning's system prompt habit</a:t>
            </a:r>
            <a:endParaRPr lang="en-US" sz="1500" dirty="0"/>
          </a:p>
        </p:txBody>
      </p:sp>
      <p:sp>
        <p:nvSpPr>
          <p:cNvPr id="9" name="Text 6"/>
          <p:cNvSpPr/>
          <p:nvPr/>
        </p:nvSpPr>
        <p:spPr>
          <a:xfrm>
            <a:off x="914400" y="2880360"/>
            <a:ext cx="10241280" cy="1188720"/>
          </a:xfrm>
          <a:prstGeom prst="rect">
            <a:avLst/>
          </a:prstGeom>
          <a:noFill/>
          <a:ln/>
        </p:spPr>
        <p:txBody>
          <a:bodyPr wrap="square" rtlCol="0" anchor="ctr"/>
          <a:lstStyle/>
          <a:p>
            <a:pPr indent="0" marL="0">
              <a:lnSpc>
                <a:spcPct val="125000"/>
              </a:lnSpc>
              <a:buNone/>
            </a:pPr>
            <a:r>
              <a:rPr lang="en-US" sz="1300" dirty="0">
                <a:solidFill>
                  <a:srgbClr val="E4E9F5"/>
                </a:solidFill>
                <a:latin typeface="Calibri" pitchFamily="34" charset="0"/>
                <a:ea typeface="Calibri" pitchFamily="34" charset="-122"/>
                <a:cs typeface="Calibri" pitchFamily="34" charset="-120"/>
              </a:rPr>
              <a:t>At 11:00 you practiced writing a system prompt that forces a model to answer only in JSON. We use the exact same pattern here: the model must respond with an explanation, a research note, and exactly three risk factors, in a fixed shape your code can read.</a:t>
            </a:r>
            <a:endParaRPr lang="en-US" sz="1300" dirty="0"/>
          </a:p>
        </p:txBody>
      </p:sp>
      <p:sp>
        <p:nvSpPr>
          <p:cNvPr id="10" name="Text 7"/>
          <p:cNvSpPr/>
          <p:nvPr/>
        </p:nvSpPr>
        <p:spPr>
          <a:xfrm>
            <a:off x="640080" y="4480560"/>
            <a:ext cx="10789920" cy="457200"/>
          </a:xfrm>
          <a:prstGeom prst="rect">
            <a:avLst/>
          </a:prstGeom>
          <a:noFill/>
          <a:ln/>
        </p:spPr>
        <p:txBody>
          <a:bodyPr wrap="square" rtlCol="0" anchor="ctr"/>
          <a:lstStyle/>
          <a:p>
            <a:pPr indent="0" marL="0">
              <a:buNone/>
            </a:pPr>
            <a:r>
              <a:rPr lang="en-US" sz="1250" i="1" dirty="0">
                <a:solidFill>
                  <a:srgbClr val="9A6B2C"/>
                </a:solidFill>
                <a:latin typeface="Calibri" pitchFamily="34" charset="0"/>
                <a:ea typeface="Calibri" pitchFamily="34" charset="-122"/>
                <a:cs typeface="Calibri" pitchFamily="34" charset="-120"/>
              </a:rPr>
              <a:t>If this JSON pattern feels unfamiliar, look back at your notes from the 11:00 session before continuing.</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250" b="1" spc="100" kern="0" dirty="0">
                <a:solidFill>
                  <a:srgbClr val="9A6B2C"/>
                </a:solidFill>
                <a:latin typeface="Calibri" pitchFamily="34" charset="0"/>
                <a:ea typeface="Calibri" pitchFamily="34" charset="-122"/>
                <a:cs typeface="Calibri" pitchFamily="34" charset="-120"/>
              </a:rPr>
              <a:t>PIECE 5  ·  PROMPT</a:t>
            </a:r>
            <a:endParaRPr lang="en-US" sz="1250" dirty="0"/>
          </a:p>
        </p:txBody>
      </p:sp>
      <p:sp>
        <p:nvSpPr>
          <p:cNvPr id="5" name="Text 2"/>
          <p:cNvSpPr/>
          <p:nvPr/>
        </p:nvSpPr>
        <p:spPr>
          <a:xfrm>
            <a:off x="1280160" y="804672"/>
            <a:ext cx="9601200" cy="502920"/>
          </a:xfrm>
          <a:prstGeom prst="rect">
            <a:avLst/>
          </a:prstGeom>
          <a:noFill/>
          <a:ln/>
        </p:spPr>
        <p:txBody>
          <a:bodyPr wrap="square" rtlCol="0" anchor="ctr"/>
          <a:lstStyle/>
          <a:p>
            <a:pPr indent="0" marL="0">
              <a:buNone/>
            </a:pPr>
            <a:r>
              <a:rPr lang="en-US" sz="2300" b="1" dirty="0">
                <a:solidFill>
                  <a:srgbClr val="14213D"/>
                </a:solidFill>
                <a:latin typeface="Cambria" pitchFamily="34" charset="0"/>
                <a:ea typeface="Cambria" pitchFamily="34" charset="-122"/>
                <a:cs typeface="Cambria" pitchFamily="34" charset="-120"/>
              </a:rPr>
              <a:t>Ask your AI assistant to add the research note</a:t>
            </a:r>
            <a:endParaRPr lang="en-US" sz="2300" dirty="0"/>
          </a:p>
        </p:txBody>
      </p:sp>
      <p:sp>
        <p:nvSpPr>
          <p:cNvPr id="6" name="Shape 3"/>
          <p:cNvSpPr/>
          <p:nvPr/>
        </p:nvSpPr>
        <p:spPr>
          <a:xfrm>
            <a:off x="548640" y="1463040"/>
            <a:ext cx="11064240" cy="2286000"/>
          </a:xfrm>
          <a:prstGeom prst="roundRect">
            <a:avLst>
              <a:gd name="adj" fmla="val 3200"/>
            </a:avLst>
          </a:prstGeom>
          <a:solidFill>
            <a:srgbClr val="14213D"/>
          </a:solidFill>
          <a:ln/>
        </p:spPr>
      </p:sp>
      <p:sp>
        <p:nvSpPr>
          <p:cNvPr id="7" name="Text 4"/>
          <p:cNvSpPr/>
          <p:nvPr/>
        </p:nvSpPr>
        <p:spPr>
          <a:xfrm>
            <a:off x="822960" y="1627632"/>
            <a:ext cx="10424160" cy="320040"/>
          </a:xfrm>
          <a:prstGeom prst="rect">
            <a:avLst/>
          </a:prstGeom>
          <a:noFill/>
          <a:ln/>
        </p:spPr>
        <p:txBody>
          <a:bodyPr wrap="square" rtlCol="0" anchor="ctr"/>
          <a:lstStyle/>
          <a:p>
            <a:pPr indent="0" marL="0">
              <a:buNone/>
            </a:pPr>
            <a:r>
              <a:rPr lang="en-US" sz="1150" i="1" dirty="0">
                <a:solidFill>
                  <a:srgbClr val="8FA3C9"/>
                </a:solidFill>
                <a:latin typeface="Calibri" pitchFamily="34" charset="0"/>
                <a:ea typeface="Calibri" pitchFamily="34" charset="-122"/>
                <a:cs typeface="Calibri" pitchFamily="34" charset="-120"/>
              </a:rPr>
              <a:t>Copy this into your AI assistant, exactly as written:</a:t>
            </a:r>
            <a:endParaRPr lang="en-US" sz="1150" dirty="0"/>
          </a:p>
        </p:txBody>
      </p:sp>
      <p:sp>
        <p:nvSpPr>
          <p:cNvPr id="8" name="Text 5"/>
          <p:cNvSpPr/>
          <p:nvPr/>
        </p:nvSpPr>
        <p:spPr>
          <a:xfrm>
            <a:off x="822960" y="1965960"/>
            <a:ext cx="10424160" cy="1691640"/>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Write a function called getResearchNote that sends the ticker, the latest closing price, the latest fast and slow moving averages, the latest MACD and signal values, and the latest RSI value to OpenRouter's chat completions endpoint, using the API key from the form. Use a system prompt that tells the model to respond only with valid JSON in this exact shape: explanation, research_note, and a risks array containing exactly three strings, with no text outside the JSON. Parse the response and display the explanation, the research note, and the three risks on the page.</a:t>
            </a:r>
            <a:endParaRPr lang="en-US" sz="1350" dirty="0"/>
          </a:p>
        </p:txBody>
      </p:sp>
      <p:sp>
        <p:nvSpPr>
          <p:cNvPr id="9" name="Text 6"/>
          <p:cNvSpPr/>
          <p:nvPr/>
        </p:nvSpPr>
        <p:spPr>
          <a:xfrm>
            <a:off x="548640" y="3977640"/>
            <a:ext cx="82296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Before you move on, check:</a:t>
            </a:r>
            <a:endParaRPr lang="en-US" sz="1500" dirty="0"/>
          </a:p>
        </p:txBody>
      </p:sp>
      <p:sp>
        <p:nvSpPr>
          <p:cNvPr id="10" name="Shape 7"/>
          <p:cNvSpPr/>
          <p:nvPr/>
        </p:nvSpPr>
        <p:spPr>
          <a:xfrm>
            <a:off x="685800" y="4453128"/>
            <a:ext cx="128016" cy="128016"/>
          </a:xfrm>
          <a:prstGeom prst="ellipse">
            <a:avLst/>
          </a:prstGeom>
          <a:solidFill>
            <a:srgbClr val="9A6B2C"/>
          </a:solidFill>
          <a:ln/>
        </p:spPr>
      </p:sp>
      <p:sp>
        <p:nvSpPr>
          <p:cNvPr id="11" name="Text 8"/>
          <p:cNvSpPr/>
          <p:nvPr/>
        </p:nvSpPr>
        <p:spPr>
          <a:xfrm>
            <a:off x="1005840" y="43891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Submit the form with a real ticker and your OpenRouter API key.</a:t>
            </a:r>
            <a:endParaRPr lang="en-US" sz="1300" dirty="0"/>
          </a:p>
        </p:txBody>
      </p:sp>
      <p:sp>
        <p:nvSpPr>
          <p:cNvPr id="12" name="Shape 9"/>
          <p:cNvSpPr/>
          <p:nvPr/>
        </p:nvSpPr>
        <p:spPr>
          <a:xfrm>
            <a:off x="685800" y="4910328"/>
            <a:ext cx="128016" cy="128016"/>
          </a:xfrm>
          <a:prstGeom prst="ellipse">
            <a:avLst/>
          </a:prstGeom>
          <a:solidFill>
            <a:srgbClr val="9A6B2C"/>
          </a:solidFill>
          <a:ln/>
        </p:spPr>
      </p:sp>
      <p:sp>
        <p:nvSpPr>
          <p:cNvPr id="13" name="Text 10"/>
          <p:cNvSpPr/>
          <p:nvPr/>
        </p:nvSpPr>
        <p:spPr>
          <a:xfrm>
            <a:off x="1005840" y="48463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After the charts appear, a short explanation, a paragraph, and three risk factors should appear underneath.</a:t>
            </a:r>
            <a:endParaRPr lang="en-US" sz="1300" dirty="0"/>
          </a:p>
        </p:txBody>
      </p:sp>
      <p:sp>
        <p:nvSpPr>
          <p:cNvPr id="14" name="Shape 11"/>
          <p:cNvSpPr/>
          <p:nvPr/>
        </p:nvSpPr>
        <p:spPr>
          <a:xfrm>
            <a:off x="685800" y="5367528"/>
            <a:ext cx="128016" cy="128016"/>
          </a:xfrm>
          <a:prstGeom prst="ellipse">
            <a:avLst/>
          </a:prstGeom>
          <a:solidFill>
            <a:srgbClr val="9A6B2C"/>
          </a:solidFill>
          <a:ln/>
        </p:spPr>
      </p:sp>
      <p:sp>
        <p:nvSpPr>
          <p:cNvPr id="15" name="Text 12"/>
          <p:cNvSpPr/>
          <p:nvPr/>
        </p:nvSpPr>
        <p:spPr>
          <a:xfrm>
            <a:off x="1005840" y="5303520"/>
            <a:ext cx="10424160" cy="384048"/>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If you see raw text with curly braces instead of readable sentences, the JSON did not parse. Ask the AI to check that the model's response is valid JSON before displaying it.</a:t>
            </a:r>
            <a:endParaRPr lang="en-US" sz="1300" dirty="0"/>
          </a:p>
        </p:txBody>
      </p:sp>
      <p:sp>
        <p:nvSpPr>
          <p:cNvPr id="16" name="Shape 13"/>
          <p:cNvSpPr/>
          <p:nvPr/>
        </p:nvSpPr>
        <p:spPr>
          <a:xfrm>
            <a:off x="548640" y="5989320"/>
            <a:ext cx="11064240" cy="502920"/>
          </a:xfrm>
          <a:prstGeom prst="roundRect">
            <a:avLst>
              <a:gd name="adj" fmla="val 10909"/>
            </a:avLst>
          </a:prstGeom>
          <a:solidFill>
            <a:srgbClr val="F1EEE3"/>
          </a:solidFill>
          <a:ln/>
        </p:spPr>
      </p:sp>
      <p:sp>
        <p:nvSpPr>
          <p:cNvPr id="17" name="Text 14"/>
          <p:cNvSpPr/>
          <p:nvPr/>
        </p:nvSpPr>
        <p:spPr>
          <a:xfrm>
            <a:off x="777240" y="5989320"/>
            <a:ext cx="10607040" cy="502920"/>
          </a:xfrm>
          <a:prstGeom prst="rect">
            <a:avLst/>
          </a:prstGeom>
          <a:noFill/>
          <a:ln/>
        </p:spPr>
        <p:txBody>
          <a:bodyPr wrap="square" rtlCol="0" anchor="ctr"/>
          <a:lstStyle/>
          <a:p>
            <a:pPr indent="0" marL="0">
              <a:buNone/>
            </a:pPr>
            <a:r>
              <a:rPr lang="en-US" sz="1150" dirty="0">
                <a:solidFill>
                  <a:srgbClr val="14213D"/>
                </a:solidFill>
                <a:latin typeface="Courier New" pitchFamily="34" charset="0"/>
                <a:ea typeface="Courier New" pitchFamily="34" charset="-122"/>
                <a:cs typeface="Courier New" pitchFamily="34" charset="-120"/>
              </a:rPr>
              <a:t>Working? Save it now: git add .   then   git commit -m "describe what you just added"</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502920"/>
            <a:ext cx="9601200" cy="548640"/>
          </a:xfrm>
          <a:prstGeom prst="rect">
            <a:avLst/>
          </a:prstGeom>
          <a:noFill/>
          <a:ln/>
        </p:spPr>
        <p:txBody>
          <a:bodyPr wrap="square" rtlCol="0" anchor="ctr"/>
          <a:lstStyle/>
          <a:p>
            <a:pPr indent="0" marL="0">
              <a:buNone/>
            </a:pPr>
            <a:r>
              <a:rPr lang="en-US" sz="2500" b="1" dirty="0">
                <a:solidFill>
                  <a:srgbClr val="14213D"/>
                </a:solidFill>
                <a:latin typeface="Cambria" pitchFamily="34" charset="0"/>
                <a:ea typeface="Cambria" pitchFamily="34" charset="-122"/>
                <a:cs typeface="Cambria" pitchFamily="34" charset="-120"/>
              </a:rPr>
              <a:t>If something breaks along the way</a:t>
            </a:r>
            <a:endParaRPr lang="en-US" sz="2500" dirty="0"/>
          </a:p>
        </p:txBody>
      </p:sp>
      <p:sp>
        <p:nvSpPr>
          <p:cNvPr id="5" name="Text 2"/>
          <p:cNvSpPr/>
          <p:nvPr/>
        </p:nvSpPr>
        <p:spPr>
          <a:xfrm>
            <a:off x="1280160" y="1097280"/>
            <a:ext cx="9601200" cy="365760"/>
          </a:xfrm>
          <a:prstGeom prst="rect">
            <a:avLst/>
          </a:prstGeom>
          <a:noFill/>
          <a:ln/>
        </p:spPr>
        <p:txBody>
          <a:bodyPr wrap="square" rtlCol="0" anchor="ctr"/>
          <a:lstStyle/>
          <a:p>
            <a:pPr indent="0" marL="0">
              <a:buNone/>
            </a:pPr>
            <a:r>
              <a:rPr lang="en-US" sz="1350" i="1" dirty="0">
                <a:solidFill>
                  <a:srgbClr val="3A3F4B"/>
                </a:solidFill>
                <a:latin typeface="Calibri" pitchFamily="34" charset="0"/>
                <a:ea typeface="Calibri" pitchFamily="34" charset="-122"/>
                <a:cs typeface="Calibri" pitchFamily="34" charset="-120"/>
              </a:rPr>
              <a:t>This is normal. It happened to everyone building this today, including your instructor.</a:t>
            </a:r>
            <a:endParaRPr lang="en-US" sz="1350" dirty="0"/>
          </a:p>
        </p:txBody>
      </p:sp>
      <p:sp>
        <p:nvSpPr>
          <p:cNvPr id="6" name="Shape 3"/>
          <p:cNvSpPr/>
          <p:nvPr/>
        </p:nvSpPr>
        <p:spPr>
          <a:xfrm>
            <a:off x="685800" y="1828800"/>
            <a:ext cx="365760" cy="365760"/>
          </a:xfrm>
          <a:prstGeom prst="ellipse">
            <a:avLst/>
          </a:prstGeom>
          <a:solidFill>
            <a:srgbClr val="F1EEE3"/>
          </a:solidFill>
          <a:ln/>
        </p:spPr>
      </p:sp>
      <p:sp>
        <p:nvSpPr>
          <p:cNvPr id="7" name="Text 4"/>
          <p:cNvSpPr/>
          <p:nvPr/>
        </p:nvSpPr>
        <p:spPr>
          <a:xfrm>
            <a:off x="685800" y="1828800"/>
            <a:ext cx="365760" cy="365760"/>
          </a:xfrm>
          <a:prstGeom prst="rect">
            <a:avLst/>
          </a:prstGeom>
          <a:noFill/>
          <a:ln/>
        </p:spPr>
        <p:txBody>
          <a:bodyPr wrap="square" rtlCol="0" anchor="ctr"/>
          <a:lstStyle/>
          <a:p>
            <a:pPr algn="ctr" indent="0" marL="0">
              <a:buNone/>
            </a:pPr>
            <a:r>
              <a:rPr lang="en-US" sz="1400" b="1" dirty="0">
                <a:solidFill>
                  <a:srgbClr val="14213D"/>
                </a:solidFill>
                <a:latin typeface="Cambria" pitchFamily="34" charset="0"/>
                <a:ea typeface="Cambria" pitchFamily="34" charset="-122"/>
                <a:cs typeface="Cambria" pitchFamily="34" charset="-120"/>
              </a:rPr>
              <a:t>1</a:t>
            </a:r>
            <a:endParaRPr lang="en-US" sz="1400" dirty="0"/>
          </a:p>
        </p:txBody>
      </p:sp>
      <p:sp>
        <p:nvSpPr>
          <p:cNvPr id="8" name="Text 5"/>
          <p:cNvSpPr/>
          <p:nvPr/>
        </p:nvSpPr>
        <p:spPr>
          <a:xfrm>
            <a:off x="1188720" y="1810512"/>
            <a:ext cx="10241280" cy="502920"/>
          </a:xfrm>
          <a:prstGeom prst="rect">
            <a:avLst/>
          </a:prstGeom>
          <a:noFill/>
          <a:ln/>
        </p:spPr>
        <p:txBody>
          <a:bodyPr wrap="square" rtlCol="0" anchor="ctr"/>
          <a:lstStyle/>
          <a:p>
            <a:pPr indent="0" marL="0">
              <a:buNone/>
            </a:pPr>
            <a:r>
              <a:rPr lang="en-US" sz="1400" dirty="0">
                <a:solidFill>
                  <a:srgbClr val="3A3F4B"/>
                </a:solidFill>
                <a:latin typeface="Calibri" pitchFamily="34" charset="0"/>
                <a:ea typeface="Calibri" pitchFamily="34" charset="-122"/>
                <a:cs typeface="Calibri" pitchFamily="34" charset="-120"/>
              </a:rPr>
              <a:t>Read the error message out loud, even if it looks like nonsense. It usually names a file and a line.</a:t>
            </a:r>
            <a:endParaRPr lang="en-US" sz="1400" dirty="0"/>
          </a:p>
        </p:txBody>
      </p:sp>
      <p:sp>
        <p:nvSpPr>
          <p:cNvPr id="9" name="Shape 6"/>
          <p:cNvSpPr/>
          <p:nvPr/>
        </p:nvSpPr>
        <p:spPr>
          <a:xfrm>
            <a:off x="685800" y="2487168"/>
            <a:ext cx="365760" cy="365760"/>
          </a:xfrm>
          <a:prstGeom prst="ellipse">
            <a:avLst/>
          </a:prstGeom>
          <a:solidFill>
            <a:srgbClr val="F1EEE3"/>
          </a:solidFill>
          <a:ln/>
        </p:spPr>
      </p:sp>
      <p:sp>
        <p:nvSpPr>
          <p:cNvPr id="10" name="Text 7"/>
          <p:cNvSpPr/>
          <p:nvPr/>
        </p:nvSpPr>
        <p:spPr>
          <a:xfrm>
            <a:off x="685800" y="2487168"/>
            <a:ext cx="365760" cy="365760"/>
          </a:xfrm>
          <a:prstGeom prst="rect">
            <a:avLst/>
          </a:prstGeom>
          <a:noFill/>
          <a:ln/>
        </p:spPr>
        <p:txBody>
          <a:bodyPr wrap="square" rtlCol="0" anchor="ctr"/>
          <a:lstStyle/>
          <a:p>
            <a:pPr algn="ctr" indent="0" marL="0">
              <a:buNone/>
            </a:pPr>
            <a:r>
              <a:rPr lang="en-US" sz="1400" b="1" dirty="0">
                <a:solidFill>
                  <a:srgbClr val="14213D"/>
                </a:solidFill>
                <a:latin typeface="Cambria" pitchFamily="34" charset="0"/>
                <a:ea typeface="Cambria" pitchFamily="34" charset="-122"/>
                <a:cs typeface="Cambria" pitchFamily="34" charset="-120"/>
              </a:rPr>
              <a:t>2</a:t>
            </a:r>
            <a:endParaRPr lang="en-US" sz="1400" dirty="0"/>
          </a:p>
        </p:txBody>
      </p:sp>
      <p:sp>
        <p:nvSpPr>
          <p:cNvPr id="11" name="Text 8"/>
          <p:cNvSpPr/>
          <p:nvPr/>
        </p:nvSpPr>
        <p:spPr>
          <a:xfrm>
            <a:off x="1188720" y="2468880"/>
            <a:ext cx="10241280" cy="502920"/>
          </a:xfrm>
          <a:prstGeom prst="rect">
            <a:avLst/>
          </a:prstGeom>
          <a:noFill/>
          <a:ln/>
        </p:spPr>
        <p:txBody>
          <a:bodyPr wrap="square" rtlCol="0" anchor="ctr"/>
          <a:lstStyle/>
          <a:p>
            <a:pPr indent="0" marL="0">
              <a:buNone/>
            </a:pPr>
            <a:r>
              <a:rPr lang="en-US" sz="1400" dirty="0">
                <a:solidFill>
                  <a:srgbClr val="3A3F4B"/>
                </a:solidFill>
                <a:latin typeface="Calibri" pitchFamily="34" charset="0"/>
                <a:ea typeface="Calibri" pitchFamily="34" charset="-122"/>
                <a:cs typeface="Calibri" pitchFamily="34" charset="-120"/>
              </a:rPr>
              <a:t>Copy the exact error message into your AI assistant and ask it to explain what happened, before asking it to fix anything.</a:t>
            </a:r>
            <a:endParaRPr lang="en-US" sz="1400" dirty="0"/>
          </a:p>
        </p:txBody>
      </p:sp>
      <p:sp>
        <p:nvSpPr>
          <p:cNvPr id="12" name="Shape 9"/>
          <p:cNvSpPr/>
          <p:nvPr/>
        </p:nvSpPr>
        <p:spPr>
          <a:xfrm>
            <a:off x="685800" y="3145536"/>
            <a:ext cx="365760" cy="365760"/>
          </a:xfrm>
          <a:prstGeom prst="ellipse">
            <a:avLst/>
          </a:prstGeom>
          <a:solidFill>
            <a:srgbClr val="F1EEE3"/>
          </a:solidFill>
          <a:ln/>
        </p:spPr>
      </p:sp>
      <p:sp>
        <p:nvSpPr>
          <p:cNvPr id="13" name="Text 10"/>
          <p:cNvSpPr/>
          <p:nvPr/>
        </p:nvSpPr>
        <p:spPr>
          <a:xfrm>
            <a:off x="685800" y="3145536"/>
            <a:ext cx="365760" cy="365760"/>
          </a:xfrm>
          <a:prstGeom prst="rect">
            <a:avLst/>
          </a:prstGeom>
          <a:noFill/>
          <a:ln/>
        </p:spPr>
        <p:txBody>
          <a:bodyPr wrap="square" rtlCol="0" anchor="ctr"/>
          <a:lstStyle/>
          <a:p>
            <a:pPr algn="ctr" indent="0" marL="0">
              <a:buNone/>
            </a:pPr>
            <a:r>
              <a:rPr lang="en-US" sz="1400" b="1" dirty="0">
                <a:solidFill>
                  <a:srgbClr val="14213D"/>
                </a:solidFill>
                <a:latin typeface="Cambria" pitchFamily="34" charset="0"/>
                <a:ea typeface="Cambria" pitchFamily="34" charset="-122"/>
                <a:cs typeface="Cambria" pitchFamily="34" charset="-120"/>
              </a:rPr>
              <a:t>3</a:t>
            </a:r>
            <a:endParaRPr lang="en-US" sz="1400" dirty="0"/>
          </a:p>
        </p:txBody>
      </p:sp>
      <p:sp>
        <p:nvSpPr>
          <p:cNvPr id="14" name="Text 11"/>
          <p:cNvSpPr/>
          <p:nvPr/>
        </p:nvSpPr>
        <p:spPr>
          <a:xfrm>
            <a:off x="1188720" y="3127248"/>
            <a:ext cx="10241280" cy="502920"/>
          </a:xfrm>
          <a:prstGeom prst="rect">
            <a:avLst/>
          </a:prstGeom>
          <a:noFill/>
          <a:ln/>
        </p:spPr>
        <p:txBody>
          <a:bodyPr wrap="square" rtlCol="0" anchor="ctr"/>
          <a:lstStyle/>
          <a:p>
            <a:pPr indent="0" marL="0">
              <a:buNone/>
            </a:pPr>
            <a:r>
              <a:rPr lang="en-US" sz="1400" dirty="0">
                <a:solidFill>
                  <a:srgbClr val="3A3F4B"/>
                </a:solidFill>
                <a:latin typeface="Calibri" pitchFamily="34" charset="0"/>
                <a:ea typeface="Calibri" pitchFamily="34" charset="-122"/>
                <a:cs typeface="Calibri" pitchFamily="34" charset="-120"/>
              </a:rPr>
              <a:t>Ask for one fix at a time. Do not ask it to fix everything at once.</a:t>
            </a:r>
            <a:endParaRPr lang="en-US" sz="1400" dirty="0"/>
          </a:p>
        </p:txBody>
      </p:sp>
      <p:sp>
        <p:nvSpPr>
          <p:cNvPr id="15" name="Shape 12"/>
          <p:cNvSpPr/>
          <p:nvPr/>
        </p:nvSpPr>
        <p:spPr>
          <a:xfrm>
            <a:off x="685800" y="3803904"/>
            <a:ext cx="365760" cy="365760"/>
          </a:xfrm>
          <a:prstGeom prst="ellipse">
            <a:avLst/>
          </a:prstGeom>
          <a:solidFill>
            <a:srgbClr val="F1EEE3"/>
          </a:solidFill>
          <a:ln/>
        </p:spPr>
      </p:sp>
      <p:sp>
        <p:nvSpPr>
          <p:cNvPr id="16" name="Text 13"/>
          <p:cNvSpPr/>
          <p:nvPr/>
        </p:nvSpPr>
        <p:spPr>
          <a:xfrm>
            <a:off x="685800" y="3803904"/>
            <a:ext cx="365760" cy="365760"/>
          </a:xfrm>
          <a:prstGeom prst="rect">
            <a:avLst/>
          </a:prstGeom>
          <a:noFill/>
          <a:ln/>
        </p:spPr>
        <p:txBody>
          <a:bodyPr wrap="square" rtlCol="0" anchor="ctr"/>
          <a:lstStyle/>
          <a:p>
            <a:pPr algn="ctr" indent="0" marL="0">
              <a:buNone/>
            </a:pPr>
            <a:r>
              <a:rPr lang="en-US" sz="1400" b="1" dirty="0">
                <a:solidFill>
                  <a:srgbClr val="14213D"/>
                </a:solidFill>
                <a:latin typeface="Cambria" pitchFamily="34" charset="0"/>
                <a:ea typeface="Cambria" pitchFamily="34" charset="-122"/>
                <a:cs typeface="Cambria" pitchFamily="34" charset="-120"/>
              </a:rPr>
              <a:t>4</a:t>
            </a:r>
            <a:endParaRPr lang="en-US" sz="1400" dirty="0"/>
          </a:p>
        </p:txBody>
      </p:sp>
      <p:sp>
        <p:nvSpPr>
          <p:cNvPr id="17" name="Text 14"/>
          <p:cNvSpPr/>
          <p:nvPr/>
        </p:nvSpPr>
        <p:spPr>
          <a:xfrm>
            <a:off x="1188720" y="3785616"/>
            <a:ext cx="10241280" cy="502920"/>
          </a:xfrm>
          <a:prstGeom prst="rect">
            <a:avLst/>
          </a:prstGeom>
          <a:noFill/>
          <a:ln/>
        </p:spPr>
        <p:txBody>
          <a:bodyPr wrap="square" rtlCol="0" anchor="ctr"/>
          <a:lstStyle/>
          <a:p>
            <a:pPr indent="0" marL="0">
              <a:buNone/>
            </a:pPr>
            <a:r>
              <a:rPr lang="en-US" sz="1400" dirty="0">
                <a:solidFill>
                  <a:srgbClr val="3A3F4B"/>
                </a:solidFill>
                <a:latin typeface="Calibri" pitchFamily="34" charset="0"/>
                <a:ea typeface="Calibri" pitchFamily="34" charset="-122"/>
                <a:cs typeface="Calibri" pitchFamily="34" charset="-120"/>
              </a:rPr>
              <a:t>If a change makes things worse, ask your AI assistant to undo the last change, or use git to go back to your last commit.</a:t>
            </a:r>
            <a:endParaRPr lang="en-US" sz="1400" dirty="0"/>
          </a:p>
        </p:txBody>
      </p:sp>
      <p:sp>
        <p:nvSpPr>
          <p:cNvPr id="18" name="Text 15"/>
          <p:cNvSpPr/>
          <p:nvPr/>
        </p:nvSpPr>
        <p:spPr>
          <a:xfrm>
            <a:off x="548640" y="4709160"/>
            <a:ext cx="10972800" cy="457200"/>
          </a:xfrm>
          <a:prstGeom prst="rect">
            <a:avLst/>
          </a:prstGeom>
          <a:noFill/>
          <a:ln/>
        </p:spPr>
        <p:txBody>
          <a:bodyPr wrap="square" rtlCol="0" anchor="ctr"/>
          <a:lstStyle/>
          <a:p>
            <a:pPr indent="0" marL="0">
              <a:buNone/>
            </a:pPr>
            <a:r>
              <a:rPr lang="en-US" sz="1300" i="1" dirty="0">
                <a:solidFill>
                  <a:srgbClr val="8A8577"/>
                </a:solidFill>
                <a:latin typeface="Calibri" pitchFamily="34" charset="0"/>
                <a:ea typeface="Calibri" pitchFamily="34" charset="-122"/>
                <a:cs typeface="Calibri" pitchFamily="34" charset="-120"/>
              </a:rPr>
              <a:t>This is also why we committed after every piece. You always have somewhere safe to go back to.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Save your work before you leave today</a:t>
            </a:r>
            <a:endParaRPr lang="en-US" sz="2500" dirty="0"/>
          </a:p>
        </p:txBody>
      </p:sp>
      <p:sp>
        <p:nvSpPr>
          <p:cNvPr id="5" name="Shape 2"/>
          <p:cNvSpPr/>
          <p:nvPr/>
        </p:nvSpPr>
        <p:spPr>
          <a:xfrm>
            <a:off x="685800" y="1554480"/>
            <a:ext cx="365760" cy="365760"/>
          </a:xfrm>
          <a:prstGeom prst="ellipse">
            <a:avLst/>
          </a:prstGeom>
          <a:solidFill>
            <a:srgbClr val="1C2B52"/>
          </a:solidFill>
          <a:ln/>
        </p:spPr>
      </p:sp>
      <p:sp>
        <p:nvSpPr>
          <p:cNvPr id="6" name="Text 3"/>
          <p:cNvSpPr/>
          <p:nvPr/>
        </p:nvSpPr>
        <p:spPr>
          <a:xfrm>
            <a:off x="685800" y="155448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1</a:t>
            </a:r>
            <a:endParaRPr lang="en-US" sz="1400" dirty="0"/>
          </a:p>
        </p:txBody>
      </p:sp>
      <p:sp>
        <p:nvSpPr>
          <p:cNvPr id="7" name="Text 4"/>
          <p:cNvSpPr/>
          <p:nvPr/>
        </p:nvSpPr>
        <p:spPr>
          <a:xfrm>
            <a:off x="1188720" y="1536192"/>
            <a:ext cx="102412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Confirm your last commit includes the AI research note piece.</a:t>
            </a:r>
            <a:endParaRPr lang="en-US" sz="1500" dirty="0"/>
          </a:p>
        </p:txBody>
      </p:sp>
      <p:sp>
        <p:nvSpPr>
          <p:cNvPr id="8" name="Shape 5"/>
          <p:cNvSpPr/>
          <p:nvPr/>
        </p:nvSpPr>
        <p:spPr>
          <a:xfrm>
            <a:off x="685800" y="2240280"/>
            <a:ext cx="365760" cy="365760"/>
          </a:xfrm>
          <a:prstGeom prst="ellipse">
            <a:avLst/>
          </a:prstGeom>
          <a:solidFill>
            <a:srgbClr val="1C2B52"/>
          </a:solidFill>
          <a:ln/>
        </p:spPr>
      </p:sp>
      <p:sp>
        <p:nvSpPr>
          <p:cNvPr id="9" name="Text 6"/>
          <p:cNvSpPr/>
          <p:nvPr/>
        </p:nvSpPr>
        <p:spPr>
          <a:xfrm>
            <a:off x="685800" y="224028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2</a:t>
            </a:r>
            <a:endParaRPr lang="en-US" sz="1400" dirty="0"/>
          </a:p>
        </p:txBody>
      </p:sp>
      <p:sp>
        <p:nvSpPr>
          <p:cNvPr id="10" name="Text 7"/>
          <p:cNvSpPr/>
          <p:nvPr/>
        </p:nvSpPr>
        <p:spPr>
          <a:xfrm>
            <a:off x="1188720" y="2221992"/>
            <a:ext cx="102412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Push your work to GitHub: git push</a:t>
            </a:r>
            <a:endParaRPr lang="en-US" sz="1500" dirty="0"/>
          </a:p>
        </p:txBody>
      </p:sp>
      <p:sp>
        <p:nvSpPr>
          <p:cNvPr id="11" name="Shape 8"/>
          <p:cNvSpPr/>
          <p:nvPr/>
        </p:nvSpPr>
        <p:spPr>
          <a:xfrm>
            <a:off x="685800" y="2926080"/>
            <a:ext cx="365760" cy="365760"/>
          </a:xfrm>
          <a:prstGeom prst="ellipse">
            <a:avLst/>
          </a:prstGeom>
          <a:solidFill>
            <a:srgbClr val="1C2B52"/>
          </a:solidFill>
          <a:ln/>
        </p:spPr>
      </p:sp>
      <p:sp>
        <p:nvSpPr>
          <p:cNvPr id="12" name="Text 9"/>
          <p:cNvSpPr/>
          <p:nvPr/>
        </p:nvSpPr>
        <p:spPr>
          <a:xfrm>
            <a:off x="685800" y="292608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3</a:t>
            </a:r>
            <a:endParaRPr lang="en-US" sz="1400" dirty="0"/>
          </a:p>
        </p:txBody>
      </p:sp>
      <p:sp>
        <p:nvSpPr>
          <p:cNvPr id="13" name="Text 10"/>
          <p:cNvSpPr/>
          <p:nvPr/>
        </p:nvSpPr>
        <p:spPr>
          <a:xfrm>
            <a:off x="1188720" y="2907792"/>
            <a:ext cx="102412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Open your repository on github.com and confirm your files are there.</a:t>
            </a:r>
            <a:endParaRPr lang="en-US" sz="1500" dirty="0"/>
          </a:p>
        </p:txBody>
      </p:sp>
      <p:sp>
        <p:nvSpPr>
          <p:cNvPr id="14" name="Shape 11"/>
          <p:cNvSpPr/>
          <p:nvPr/>
        </p:nvSpPr>
        <p:spPr>
          <a:xfrm>
            <a:off x="685800" y="3611880"/>
            <a:ext cx="365760" cy="365760"/>
          </a:xfrm>
          <a:prstGeom prst="ellipse">
            <a:avLst/>
          </a:prstGeom>
          <a:solidFill>
            <a:srgbClr val="1C2B52"/>
          </a:solidFill>
          <a:ln/>
        </p:spPr>
      </p:sp>
      <p:sp>
        <p:nvSpPr>
          <p:cNvPr id="15" name="Text 12"/>
          <p:cNvSpPr/>
          <p:nvPr/>
        </p:nvSpPr>
        <p:spPr>
          <a:xfrm>
            <a:off x="685800" y="3611880"/>
            <a:ext cx="365760" cy="365760"/>
          </a:xfrm>
          <a:prstGeom prst="rect">
            <a:avLst/>
          </a:prstGeom>
          <a:noFill/>
          <a:ln/>
        </p:spPr>
        <p:txBody>
          <a:bodyPr wrap="square" rtlCol="0" anchor="ctr"/>
          <a:lstStyle/>
          <a:p>
            <a:pPr algn="ctr" indent="0" marL="0">
              <a:buNone/>
            </a:pPr>
            <a:r>
              <a:rPr lang="en-US" sz="1400" b="1" dirty="0">
                <a:solidFill>
                  <a:srgbClr val="9A6B2C"/>
                </a:solidFill>
                <a:latin typeface="Cambria" pitchFamily="34" charset="0"/>
                <a:ea typeface="Cambria" pitchFamily="34" charset="-122"/>
                <a:cs typeface="Cambria" pitchFamily="34" charset="-120"/>
              </a:rPr>
              <a:t>4</a:t>
            </a:r>
            <a:endParaRPr lang="en-US" sz="1400" dirty="0"/>
          </a:p>
        </p:txBody>
      </p:sp>
      <p:sp>
        <p:nvSpPr>
          <p:cNvPr id="16" name="Text 13"/>
          <p:cNvSpPr/>
          <p:nvPr/>
        </p:nvSpPr>
        <p:spPr>
          <a:xfrm>
            <a:off x="1188720" y="3593592"/>
            <a:ext cx="102412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You do not need to publish this app publicly yet. That comes on Day 2, when we cover the release workflow.</a:t>
            </a:r>
            <a:endParaRPr lang="en-US" sz="1500" dirty="0"/>
          </a:p>
        </p:txBody>
      </p:sp>
      <p:sp>
        <p:nvSpPr>
          <p:cNvPr id="17" name="Text 14"/>
          <p:cNvSpPr/>
          <p:nvPr/>
        </p:nvSpPr>
        <p:spPr>
          <a:xfrm>
            <a:off x="640080" y="4937760"/>
            <a:ext cx="10789920" cy="822960"/>
          </a:xfrm>
          <a:prstGeom prst="rect">
            <a:avLst/>
          </a:prstGeom>
          <a:noFill/>
          <a:ln/>
        </p:spPr>
        <p:txBody>
          <a:bodyPr wrap="square" rtlCol="0" anchor="ctr"/>
          <a:lstStyle/>
          <a:p>
            <a:pPr indent="0" marL="0">
              <a:buNone/>
            </a:pPr>
            <a:r>
              <a:rPr lang="en-US" sz="1400" i="1" dirty="0">
                <a:solidFill>
                  <a:srgbClr val="9A6B2C"/>
                </a:solidFill>
                <a:latin typeface="Cambria" pitchFamily="34" charset="0"/>
                <a:ea typeface="Cambria" pitchFamily="34" charset="-122"/>
                <a:cs typeface="Cambria" pitchFamily="34" charset="-120"/>
              </a:rPr>
              <a:t>You built a working application today: a form, a live data fetch, three indicators, three charts, and an AI generated research note. That is not a small thing for one afternoon.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502920"/>
            <a:ext cx="7315200" cy="548640"/>
          </a:xfrm>
          <a:prstGeom prst="rect">
            <a:avLst/>
          </a:prstGeom>
          <a:noFill/>
          <a:ln/>
        </p:spPr>
        <p:txBody>
          <a:bodyPr wrap="square" rtlCol="0" anchor="ctr"/>
          <a:lstStyle/>
          <a:p>
            <a:pPr indent="0" marL="0">
              <a:buNone/>
            </a:pPr>
            <a:r>
              <a:rPr lang="en-US" sz="2700" b="1" dirty="0">
                <a:solidFill>
                  <a:srgbClr val="14213D"/>
                </a:solidFill>
                <a:latin typeface="Cambria" pitchFamily="34" charset="0"/>
                <a:ea typeface="Cambria" pitchFamily="34" charset="-122"/>
                <a:cs typeface="Cambria" pitchFamily="34" charset="-120"/>
              </a:rPr>
              <a:t>Tomorrow</a:t>
            </a:r>
            <a:endParaRPr lang="en-US" sz="2700" dirty="0"/>
          </a:p>
        </p:txBody>
      </p:sp>
      <p:sp>
        <p:nvSpPr>
          <p:cNvPr id="5" name="Shape 2"/>
          <p:cNvSpPr/>
          <p:nvPr/>
        </p:nvSpPr>
        <p:spPr>
          <a:xfrm>
            <a:off x="548640" y="1371600"/>
            <a:ext cx="11064240" cy="777240"/>
          </a:xfrm>
          <a:prstGeom prst="roundRect">
            <a:avLst>
              <a:gd name="adj" fmla="val 8235"/>
            </a:avLst>
          </a:prstGeom>
          <a:solidFill>
            <a:srgbClr val="FFFFFF"/>
          </a:solidFill>
          <a:ln/>
          <a:effectLst>
            <a:outerShdw sx="100000" sy="100000" kx="0" ky="0" algn="bl" rotWithShape="0" blurRad="63500" dist="25400" dir="5400000">
              <a:srgbClr val="000000">
                <a:alpha val="8000"/>
              </a:srgbClr>
            </a:outerShdw>
          </a:effectLst>
        </p:spPr>
      </p:sp>
      <p:sp>
        <p:nvSpPr>
          <p:cNvPr id="6" name="Shape 3"/>
          <p:cNvSpPr/>
          <p:nvPr/>
        </p:nvSpPr>
        <p:spPr>
          <a:xfrm>
            <a:off x="731520" y="1508760"/>
            <a:ext cx="502920" cy="502920"/>
          </a:xfrm>
          <a:prstGeom prst="ellipse">
            <a:avLst/>
          </a:prstGeom>
          <a:solidFill>
            <a:srgbClr val="F1EEE3"/>
          </a:solidFill>
          <a:ln/>
        </p:spPr>
      </p:sp>
      <p:pic>
        <p:nvPicPr>
          <p:cNvPr id="7" name="Image 1" descr="preencoded.png">    </p:cNvPr>
          <p:cNvPicPr>
            <a:picLocks noChangeAspect="1"/>
          </p:cNvPicPr>
          <p:nvPr/>
        </p:nvPicPr>
        <p:blipFill>
          <a:blip r:embed="rId2"/>
          <a:stretch>
            <a:fillRect/>
          </a:stretch>
        </p:blipFill>
        <p:spPr>
          <a:xfrm>
            <a:off x="791870" y="1569110"/>
            <a:ext cx="382219" cy="382219"/>
          </a:xfrm>
          <a:prstGeom prst="rect">
            <a:avLst/>
          </a:prstGeom>
        </p:spPr>
      </p:pic>
      <p:sp>
        <p:nvSpPr>
          <p:cNvPr id="8" name="Text 4"/>
          <p:cNvSpPr/>
          <p:nvPr/>
        </p:nvSpPr>
        <p:spPr>
          <a:xfrm>
            <a:off x="1417320" y="1463040"/>
            <a:ext cx="9966960" cy="594360"/>
          </a:xfrm>
          <a:prstGeom prst="rect">
            <a:avLst/>
          </a:prstGeom>
          <a:noFill/>
          <a:ln/>
        </p:spPr>
        <p:txBody>
          <a:bodyPr wrap="square" rtlCol="0" anchor="ctr"/>
          <a:lstStyle/>
          <a:p>
            <a:pPr indent="0" marL="0">
              <a:buNone/>
            </a:pPr>
            <a:r>
              <a:rPr lang="en-US" sz="1350" dirty="0">
                <a:solidFill>
                  <a:srgbClr val="14213D"/>
                </a:solidFill>
                <a:latin typeface="Calibri" pitchFamily="34" charset="0"/>
                <a:ea typeface="Calibri" pitchFamily="34" charset="-122"/>
                <a:cs typeface="Calibri" pitchFamily="34" charset="-120"/>
              </a:rPr>
              <a:t>Finance Masters and Data Science Masters split into separate tracks for the first hour.</a:t>
            </a:r>
            <a:endParaRPr lang="en-US" sz="1350" dirty="0"/>
          </a:p>
        </p:txBody>
      </p:sp>
      <p:sp>
        <p:nvSpPr>
          <p:cNvPr id="9" name="Shape 5"/>
          <p:cNvSpPr/>
          <p:nvPr/>
        </p:nvSpPr>
        <p:spPr>
          <a:xfrm>
            <a:off x="548640" y="2267712"/>
            <a:ext cx="11064240" cy="777240"/>
          </a:xfrm>
          <a:prstGeom prst="roundRect">
            <a:avLst>
              <a:gd name="adj" fmla="val 8235"/>
            </a:avLst>
          </a:prstGeom>
          <a:solidFill>
            <a:srgbClr val="FFFFFF"/>
          </a:solidFill>
          <a:ln/>
          <a:effectLst>
            <a:outerShdw sx="100000" sy="100000" kx="0" ky="0" algn="bl" rotWithShape="0" blurRad="63500" dist="25400" dir="5400000">
              <a:srgbClr val="000000">
                <a:alpha val="8000"/>
              </a:srgbClr>
            </a:outerShdw>
          </a:effectLst>
        </p:spPr>
      </p:sp>
      <p:sp>
        <p:nvSpPr>
          <p:cNvPr id="10" name="Shape 6"/>
          <p:cNvSpPr/>
          <p:nvPr/>
        </p:nvSpPr>
        <p:spPr>
          <a:xfrm>
            <a:off x="731520" y="2404872"/>
            <a:ext cx="502920" cy="502920"/>
          </a:xfrm>
          <a:prstGeom prst="ellipse">
            <a:avLst/>
          </a:prstGeom>
          <a:solidFill>
            <a:srgbClr val="F1EEE3"/>
          </a:solidFill>
          <a:ln/>
        </p:spPr>
      </p:sp>
      <p:pic>
        <p:nvPicPr>
          <p:cNvPr id="11" name="Image 2" descr="preencoded.png">    </p:cNvPr>
          <p:cNvPicPr>
            <a:picLocks noChangeAspect="1"/>
          </p:cNvPicPr>
          <p:nvPr/>
        </p:nvPicPr>
        <p:blipFill>
          <a:blip r:embed="rId3"/>
          <a:stretch>
            <a:fillRect/>
          </a:stretch>
        </p:blipFill>
        <p:spPr>
          <a:xfrm>
            <a:off x="791870" y="2465222"/>
            <a:ext cx="382219" cy="382219"/>
          </a:xfrm>
          <a:prstGeom prst="rect">
            <a:avLst/>
          </a:prstGeom>
        </p:spPr>
      </p:pic>
      <p:sp>
        <p:nvSpPr>
          <p:cNvPr id="12" name="Text 7"/>
          <p:cNvSpPr/>
          <p:nvPr/>
        </p:nvSpPr>
        <p:spPr>
          <a:xfrm>
            <a:off x="1417320" y="2359152"/>
            <a:ext cx="9966960" cy="594360"/>
          </a:xfrm>
          <a:prstGeom prst="rect">
            <a:avLst/>
          </a:prstGeom>
          <a:noFill/>
          <a:ln/>
        </p:spPr>
        <p:txBody>
          <a:bodyPr wrap="square" rtlCol="0" anchor="ctr"/>
          <a:lstStyle/>
          <a:p>
            <a:pPr indent="0" marL="0">
              <a:buNone/>
            </a:pPr>
            <a:r>
              <a:rPr lang="en-US" sz="1350" dirty="0">
                <a:solidFill>
                  <a:srgbClr val="14213D"/>
                </a:solidFill>
                <a:latin typeface="Calibri" pitchFamily="34" charset="0"/>
                <a:ea typeface="Calibri" pitchFamily="34" charset="-122"/>
                <a:cs typeface="Calibri" pitchFamily="34" charset="-120"/>
              </a:rPr>
              <a:t>Finance: news context, sentiment, and named entity recognition, added to this app.</a:t>
            </a:r>
            <a:endParaRPr lang="en-US" sz="1350" dirty="0"/>
          </a:p>
        </p:txBody>
      </p:sp>
      <p:sp>
        <p:nvSpPr>
          <p:cNvPr id="13" name="Shape 8"/>
          <p:cNvSpPr/>
          <p:nvPr/>
        </p:nvSpPr>
        <p:spPr>
          <a:xfrm>
            <a:off x="548640" y="3163824"/>
            <a:ext cx="11064240" cy="777240"/>
          </a:xfrm>
          <a:prstGeom prst="roundRect">
            <a:avLst>
              <a:gd name="adj" fmla="val 8235"/>
            </a:avLst>
          </a:prstGeom>
          <a:solidFill>
            <a:srgbClr val="FFFFFF"/>
          </a:solidFill>
          <a:ln/>
          <a:effectLst>
            <a:outerShdw sx="100000" sy="100000" kx="0" ky="0" algn="bl" rotWithShape="0" blurRad="63500" dist="25400" dir="5400000">
              <a:srgbClr val="000000">
                <a:alpha val="8000"/>
              </a:srgbClr>
            </a:outerShdw>
          </a:effectLst>
        </p:spPr>
      </p:sp>
      <p:sp>
        <p:nvSpPr>
          <p:cNvPr id="14" name="Shape 9"/>
          <p:cNvSpPr/>
          <p:nvPr/>
        </p:nvSpPr>
        <p:spPr>
          <a:xfrm>
            <a:off x="731520" y="3300984"/>
            <a:ext cx="502920" cy="502920"/>
          </a:xfrm>
          <a:prstGeom prst="ellipse">
            <a:avLst/>
          </a:prstGeom>
          <a:solidFill>
            <a:srgbClr val="F1EEE3"/>
          </a:solidFill>
          <a:ln/>
        </p:spPr>
      </p:sp>
      <p:pic>
        <p:nvPicPr>
          <p:cNvPr id="15" name="Image 3" descr="preencoded.png">    </p:cNvPr>
          <p:cNvPicPr>
            <a:picLocks noChangeAspect="1"/>
          </p:cNvPicPr>
          <p:nvPr/>
        </p:nvPicPr>
        <p:blipFill>
          <a:blip r:embed="rId4"/>
          <a:stretch>
            <a:fillRect/>
          </a:stretch>
        </p:blipFill>
        <p:spPr>
          <a:xfrm>
            <a:off x="791870" y="3361334"/>
            <a:ext cx="382219" cy="382219"/>
          </a:xfrm>
          <a:prstGeom prst="rect">
            <a:avLst/>
          </a:prstGeom>
        </p:spPr>
      </p:pic>
      <p:sp>
        <p:nvSpPr>
          <p:cNvPr id="16" name="Text 10"/>
          <p:cNvSpPr/>
          <p:nvPr/>
        </p:nvSpPr>
        <p:spPr>
          <a:xfrm>
            <a:off x="1417320" y="3255264"/>
            <a:ext cx="9966960" cy="594360"/>
          </a:xfrm>
          <a:prstGeom prst="rect">
            <a:avLst/>
          </a:prstGeom>
          <a:noFill/>
          <a:ln/>
        </p:spPr>
        <p:txBody>
          <a:bodyPr wrap="square" rtlCol="0" anchor="ctr"/>
          <a:lstStyle/>
          <a:p>
            <a:pPr indent="0" marL="0">
              <a:buNone/>
            </a:pPr>
            <a:r>
              <a:rPr lang="en-US" sz="1350" dirty="0">
                <a:solidFill>
                  <a:srgbClr val="14213D"/>
                </a:solidFill>
                <a:latin typeface="Calibri" pitchFamily="34" charset="0"/>
                <a:ea typeface="Calibri" pitchFamily="34" charset="-122"/>
                <a:cs typeface="Calibri" pitchFamily="34" charset="-120"/>
              </a:rPr>
              <a:t>Data Science: portfolio optimization and rolling correlation, added to this app.</a:t>
            </a:r>
            <a:endParaRPr lang="en-US" sz="1350" dirty="0"/>
          </a:p>
        </p:txBody>
      </p:sp>
      <p:sp>
        <p:nvSpPr>
          <p:cNvPr id="17" name="Shape 11"/>
          <p:cNvSpPr/>
          <p:nvPr/>
        </p:nvSpPr>
        <p:spPr>
          <a:xfrm>
            <a:off x="548640" y="4059936"/>
            <a:ext cx="11064240" cy="777240"/>
          </a:xfrm>
          <a:prstGeom prst="roundRect">
            <a:avLst>
              <a:gd name="adj" fmla="val 8235"/>
            </a:avLst>
          </a:prstGeom>
          <a:solidFill>
            <a:srgbClr val="FFFFFF"/>
          </a:solidFill>
          <a:ln/>
          <a:effectLst>
            <a:outerShdw sx="100000" sy="100000" kx="0" ky="0" algn="bl" rotWithShape="0" blurRad="63500" dist="25400" dir="5400000">
              <a:srgbClr val="000000">
                <a:alpha val="8000"/>
              </a:srgbClr>
            </a:outerShdw>
          </a:effectLst>
        </p:spPr>
      </p:sp>
      <p:sp>
        <p:nvSpPr>
          <p:cNvPr id="18" name="Shape 12"/>
          <p:cNvSpPr/>
          <p:nvPr/>
        </p:nvSpPr>
        <p:spPr>
          <a:xfrm>
            <a:off x="731520" y="4197096"/>
            <a:ext cx="502920" cy="502920"/>
          </a:xfrm>
          <a:prstGeom prst="ellipse">
            <a:avLst/>
          </a:prstGeom>
          <a:solidFill>
            <a:srgbClr val="F1EEE3"/>
          </a:solidFill>
          <a:ln/>
        </p:spPr>
      </p:sp>
      <p:pic>
        <p:nvPicPr>
          <p:cNvPr id="19" name="Image 4" descr="preencoded.png">    </p:cNvPr>
          <p:cNvPicPr>
            <a:picLocks noChangeAspect="1"/>
          </p:cNvPicPr>
          <p:nvPr/>
        </p:nvPicPr>
        <p:blipFill>
          <a:blip r:embed="rId5"/>
          <a:stretch>
            <a:fillRect/>
          </a:stretch>
        </p:blipFill>
        <p:spPr>
          <a:xfrm>
            <a:off x="791870" y="4257446"/>
            <a:ext cx="382219" cy="382219"/>
          </a:xfrm>
          <a:prstGeom prst="rect">
            <a:avLst/>
          </a:prstGeom>
        </p:spPr>
      </p:pic>
      <p:sp>
        <p:nvSpPr>
          <p:cNvPr id="20" name="Text 13"/>
          <p:cNvSpPr/>
          <p:nvPr/>
        </p:nvSpPr>
        <p:spPr>
          <a:xfrm>
            <a:off x="1417320" y="4151376"/>
            <a:ext cx="9966960" cy="594360"/>
          </a:xfrm>
          <a:prstGeom prst="rect">
            <a:avLst/>
          </a:prstGeom>
          <a:noFill/>
          <a:ln/>
        </p:spPr>
        <p:txBody>
          <a:bodyPr wrap="square" rtlCol="0" anchor="ctr"/>
          <a:lstStyle/>
          <a:p>
            <a:pPr indent="0" marL="0">
              <a:buNone/>
            </a:pPr>
            <a:r>
              <a:rPr lang="en-US" sz="1350" dirty="0">
                <a:solidFill>
                  <a:srgbClr val="14213D"/>
                </a:solidFill>
                <a:latin typeface="Calibri" pitchFamily="34" charset="0"/>
                <a:ea typeface="Calibri" pitchFamily="34" charset="-122"/>
                <a:cs typeface="Calibri" pitchFamily="34" charset="-120"/>
              </a:rPr>
              <a:t>Everyone rejoins for the Vite and GitHub Actions release workflow, and publishes an app publicly for the first time.</a:t>
            </a:r>
            <a:endParaRPr lang="en-US" sz="1350" dirty="0"/>
          </a:p>
        </p:txBody>
      </p:sp>
      <p:sp>
        <p:nvSpPr>
          <p:cNvPr id="21" name="Text 14"/>
          <p:cNvSpPr/>
          <p:nvPr/>
        </p:nvSpPr>
        <p:spPr>
          <a:xfrm>
            <a:off x="548640" y="5257800"/>
            <a:ext cx="10972800" cy="457200"/>
          </a:xfrm>
          <a:prstGeom prst="rect">
            <a:avLst/>
          </a:prstGeom>
          <a:noFill/>
          <a:ln/>
        </p:spPr>
        <p:txBody>
          <a:bodyPr wrap="square" rtlCol="0" anchor="ctr"/>
          <a:lstStyle/>
          <a:p>
            <a:pPr indent="0" marL="0">
              <a:buNone/>
            </a:pPr>
            <a:r>
              <a:rPr lang="en-US" sz="1450" i="1" dirty="0">
                <a:solidFill>
                  <a:srgbClr val="9A6B2C"/>
                </a:solidFill>
                <a:latin typeface="Cambria" pitchFamily="34" charset="0"/>
                <a:ea typeface="Cambria" pitchFamily="34" charset="-122"/>
                <a:cs typeface="Cambria" pitchFamily="34" charset="-120"/>
              </a:rPr>
              <a:t>Bring the repository you built today. Tomorrow builds directly on top of it.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 1 Build</dc:title>
  <dc:subject>PptxGenJS Presentation</dc:subject>
  <dc:creator>Ted Kwartler</dc:creator>
  <cp:lastModifiedBy>Ted Kwartler</cp:lastModifiedBy>
  <cp:revision>1</cp:revision>
  <dcterms:created xsi:type="dcterms:W3CDTF">2026-07-06T22:50:45Z</dcterms:created>
  <dcterms:modified xsi:type="dcterms:W3CDTF">2026-07-06T22:50:45Z</dcterms:modified>
</cp:coreProperties>
</file>