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463040"/>
            <a:ext cx="3291840" cy="3291840"/>
          </a:xfrm>
          <a:prstGeom prst="ellipse">
            <a:avLst/>
          </a:prstGeom>
          <a:solidFill>
            <a:srgbClr val="A51C30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-457200"/>
            <a:ext cx="1463040" cy="1463040"/>
          </a:xfrm>
          <a:prstGeom prst="ellipse">
            <a:avLst/>
          </a:prstGeom>
          <a:solidFill>
            <a:srgbClr val="29335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 IN FINANCE  ·  EXECUTIVE MBA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Flow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6974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 in Class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33375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9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steps to get your repo cloned, verified, and ready before we start.</a:t>
            </a:r>
            <a:endParaRPr lang="en-US" sz="1400" dirty="0"/>
          </a:p>
        </p:txBody>
      </p:sp>
      <p:sp>
        <p:nvSpPr>
          <p:cNvPr id="8" name="Harvard Footer"/>
          <p:cNvSpPr txBox="1"/>
          <p:nvPr/>
        </p:nvSpPr>
        <p:spPr>
          <a:xfrm>
            <a:off x="137319" y="6446043"/>
            <a:ext cx="5486400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Steps Before We Begin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508760"/>
            <a:ext cx="548640" cy="548640"/>
          </a:xfrm>
          <a:prstGeom prst="ellipse">
            <a:avLst/>
          </a:prstGeom>
          <a:solidFill>
            <a:srgbClr val="A51C3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80160" y="14173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Template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8288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9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your own copy of the course repo on GitHub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548640" cy="548640"/>
          </a:xfrm>
          <a:prstGeom prst="ellipse">
            <a:avLst/>
          </a:prstGeom>
          <a:solidFill>
            <a:srgbClr val="A51C3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80160" y="246888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 into RStudio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28803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9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it as a Version Control project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611880"/>
            <a:ext cx="548640" cy="548640"/>
          </a:xfrm>
          <a:prstGeom prst="ellipse">
            <a:avLst/>
          </a:prstGeom>
          <a:solidFill>
            <a:srgbClr val="A51C3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80160" y="352044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Your Setup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39319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9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git, node, and npm all work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663440"/>
            <a:ext cx="548640" cy="548640"/>
          </a:xfrm>
          <a:prstGeom prst="ellipse">
            <a:avLst/>
          </a:prstGeom>
          <a:solidFill>
            <a:srgbClr val="A51C3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80160" y="457200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API Keys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49834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9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keys safely, never commit them</a:t>
            </a:r>
            <a:endParaRPr lang="en-US" sz="1300" dirty="0"/>
          </a:p>
        </p:txBody>
      </p:sp>
      <p:sp>
        <p:nvSpPr>
          <p:cNvPr id="19" name="Harvard Footer"/>
          <p:cNvSpPr txBox="1"/>
          <p:nvPr/>
        </p:nvSpPr>
        <p:spPr>
          <a:xfrm>
            <a:off x="137319" y="6446043"/>
            <a:ext cx="5486400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20" name="Harvard Page Number"/>
          <p:cNvSpPr txBox="1"/>
          <p:nvPr/>
        </p:nvSpPr>
        <p:spPr>
          <a:xfrm>
            <a:off x="8092281" y="6446043"/>
            <a:ext cx="914400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90FDC5F7-228E-4376-892D-FD10AF1927F1}" type="slidenum">
              <a:rPr lang="en-US" sz="1000">
                <a:solidFill>
                  <a:srgbClr val="1E1E1E"/>
                </a:solidFill>
                <a:latin typeface="Arial"/>
              </a:rPr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A51C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43000" y="457200"/>
            <a:ext cx="7543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Template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480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github.com/kwartler/vienna-genai-finance-course</a:t>
            </a:r>
            <a:endParaRPr lang="en-US" sz="15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the green “Use this template” button</a:t>
            </a:r>
            <a:endParaRPr lang="en-US" sz="15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“Create a new repository”</a:t>
            </a:r>
            <a:endParaRPr lang="en-US" sz="15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it genai-finance-[yourname] and click Create repository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212080" y="1371600"/>
            <a:ext cx="3474720" cy="2926080"/>
          </a:xfrm>
          <a:prstGeom prst="rect">
            <a:avLst/>
          </a:prstGeom>
          <a:solidFill>
            <a:srgbClr val="F3F3F1"/>
          </a:solidFill>
          <a:ln w="12700">
            <a:solidFill>
              <a:srgbClr val="BAC5C6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349240" y="1508760"/>
            <a:ext cx="3200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9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 PLACEHOLDER
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89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“Use this template” button on GitHub</a:t>
            </a:r>
            <a:endParaRPr lang="en-US" sz="1200" dirty="0"/>
          </a:p>
        </p:txBody>
      </p:sp>
      <p:sp>
        <p:nvSpPr>
          <p:cNvPr id="8" name="Harvard Footer"/>
          <p:cNvSpPr txBox="1"/>
          <p:nvPr/>
        </p:nvSpPr>
        <p:spPr>
          <a:xfrm>
            <a:off x="137319" y="6446043"/>
            <a:ext cx="5486400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9" name="Harvard Page Number"/>
          <p:cNvSpPr txBox="1"/>
          <p:nvPr/>
        </p:nvSpPr>
        <p:spPr>
          <a:xfrm>
            <a:off x="8092281" y="6446043"/>
            <a:ext cx="914400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83EAF837-4AEE-41AB-A56A-486BC6AC3107}" type="slidenum">
              <a:rPr lang="en-US" sz="1000">
                <a:solidFill>
                  <a:srgbClr val="1E1E1E"/>
                </a:solidFill>
                <a:latin typeface="Arial"/>
              </a:rPr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A51C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43000" y="457200"/>
            <a:ext cx="7543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 into RStudio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4805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the green Code button on your new repo, copy the HTTPS URL</a:t>
            </a:r>
            <a:endParaRPr lang="en-US" sz="15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RStudio: File → New Project → Version Control → Git</a:t>
            </a:r>
            <a:endParaRPr lang="en-US" sz="15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your repo URL, choose a folder, click Create Project</a:t>
            </a:r>
            <a:endParaRPr lang="en-US" sz="15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RStudio clones the repo and sets your working directory automatically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212080" y="1371600"/>
            <a:ext cx="3474720" cy="1371600"/>
          </a:xfrm>
          <a:prstGeom prst="rect">
            <a:avLst/>
          </a:prstGeom>
          <a:solidFill>
            <a:srgbClr val="F3F3F1"/>
          </a:solidFill>
          <a:ln w="12700">
            <a:solidFill>
              <a:srgbClr val="BAC5C6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349240" y="15087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9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 PLACEHOLDER
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89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Code button + HTTPS URL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212080" y="2880360"/>
            <a:ext cx="3474720" cy="1417320"/>
          </a:xfrm>
          <a:prstGeom prst="rect">
            <a:avLst/>
          </a:prstGeom>
          <a:solidFill>
            <a:srgbClr val="F3F3F1"/>
          </a:solidFill>
          <a:ln w="12700">
            <a:solidFill>
              <a:srgbClr val="BAC5C6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349240" y="301752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9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 PLACEHOLDER
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89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RStudio New Project dialog</a:t>
            </a:r>
            <a:endParaRPr lang="en-US" sz="1200" dirty="0"/>
          </a:p>
        </p:txBody>
      </p:sp>
      <p:sp>
        <p:nvSpPr>
          <p:cNvPr id="10" name="Harvard Footer"/>
          <p:cNvSpPr txBox="1"/>
          <p:nvPr/>
        </p:nvSpPr>
        <p:spPr>
          <a:xfrm>
            <a:off x="137319" y="6446043"/>
            <a:ext cx="5486400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1" name="Harvard Page Number"/>
          <p:cNvSpPr txBox="1"/>
          <p:nvPr/>
        </p:nvSpPr>
        <p:spPr>
          <a:xfrm>
            <a:off x="8092281" y="6446043"/>
            <a:ext cx="914400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8F70794B-23B1-472A-8DF6-7E7CE4DB851A}" type="slidenum">
              <a:rPr lang="en-US" sz="1000">
                <a:solidFill>
                  <a:srgbClr val="1E1E1E"/>
                </a:solidFill>
                <a:latin typeface="Arial"/>
              </a:rPr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A51C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43000" y="457200"/>
            <a:ext cx="7543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Your Setup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Terminal tab (not Console) in RStudio and run: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4480560" cy="1188720"/>
          </a:xfrm>
          <a:prstGeom prst="rect">
            <a:avLst/>
          </a:prstGeom>
          <a:solidFill>
            <a:srgbClr val="29335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05740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Courier New" pitchFamily="34" charset="-122"/>
                <a:cs typeface="Courier New" pitchFamily="34" charset="-120"/>
              </a:rPr>
              <a:t>git --version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Courier New" pitchFamily="34" charset="-122"/>
                <a:cs typeface="Courier New" pitchFamily="34" charset="-120"/>
              </a:rPr>
              <a:t>node --version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Courier New" pitchFamily="34" charset="-122"/>
                <a:cs typeface="Courier New" pitchFamily="34" charset="-120"/>
              </a:rPr>
              <a:t>npm --version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should return version numbers. If any fail, flag a TA before the session begins.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212080" y="1371600"/>
            <a:ext cx="3474720" cy="2926080"/>
          </a:xfrm>
          <a:prstGeom prst="rect">
            <a:avLst/>
          </a:prstGeom>
          <a:solidFill>
            <a:srgbClr val="F3F3F1"/>
          </a:solidFill>
          <a:ln w="12700">
            <a:solidFill>
              <a:srgbClr val="BAC5C6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5349240" y="1508760"/>
            <a:ext cx="3200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9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 PLACEHOLDER
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89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tab showing version output</a:t>
            </a:r>
            <a:endParaRPr lang="en-US" sz="1200" dirty="0"/>
          </a:p>
        </p:txBody>
      </p:sp>
      <p:sp>
        <p:nvSpPr>
          <p:cNvPr id="11" name="Harvard Footer"/>
          <p:cNvSpPr txBox="1"/>
          <p:nvPr/>
        </p:nvSpPr>
        <p:spPr>
          <a:xfrm>
            <a:off x="137319" y="6446043"/>
            <a:ext cx="5486400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2" name="Harvard Page Number"/>
          <p:cNvSpPr txBox="1"/>
          <p:nvPr/>
        </p:nvSpPr>
        <p:spPr>
          <a:xfrm>
            <a:off x="8092281" y="6446043"/>
            <a:ext cx="914400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D3FD50D2-EE3B-435C-A034-D23256A145AB}" type="slidenum">
              <a:rPr lang="en-US" sz="1000">
                <a:solidFill>
                  <a:srgbClr val="1E1E1E"/>
                </a:solidFill>
                <a:latin typeface="Arial"/>
              </a:rPr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A51C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43000" y="457200"/>
            <a:ext cx="7543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API Keys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48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keys.example.md in the repo</a:t>
            </a:r>
            <a:endParaRPr lang="en-US" sz="15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its instructions for where to store each key</a:t>
            </a:r>
            <a:endParaRPr lang="en-US" sz="15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paste real API keys into R scripts</a:t>
            </a:r>
            <a:endParaRPr lang="en-US" sz="15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commit real keys to GitHub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3931920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F3F3F1"/>
          </a:solidFill>
          <a:ln w="12700">
            <a:solidFill>
              <a:srgbClr val="BAC5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9319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newsapi.org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4434840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F3F3F1"/>
          </a:solidFill>
          <a:ln w="12700">
            <a:solidFill>
              <a:srgbClr val="BAC5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4348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Modeling Prep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4937760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F3F3F1"/>
          </a:solidFill>
          <a:ln w="12700">
            <a:solidFill>
              <a:srgbClr val="BAC5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9377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AI Studio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12080" y="1371600"/>
            <a:ext cx="3474720" cy="2926080"/>
          </a:xfrm>
          <a:prstGeom prst="rect">
            <a:avLst/>
          </a:prstGeom>
          <a:solidFill>
            <a:srgbClr val="F3F3F1"/>
          </a:solidFill>
          <a:ln w="12700">
            <a:solidFill>
              <a:srgbClr val="BAC5C6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5349240" y="1508760"/>
            <a:ext cx="3200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9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 PLACEHOLDER
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89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keys.example.md open in RStudio</a:t>
            </a:r>
            <a:endParaRPr lang="en-US" sz="1200" dirty="0"/>
          </a:p>
        </p:txBody>
      </p:sp>
      <p:sp>
        <p:nvSpPr>
          <p:cNvPr id="14" name="Harvard Footer"/>
          <p:cNvSpPr txBox="1"/>
          <p:nvPr/>
        </p:nvSpPr>
        <p:spPr>
          <a:xfrm>
            <a:off x="137319" y="6446043"/>
            <a:ext cx="5486400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5" name="Harvard Page Number"/>
          <p:cNvSpPr txBox="1"/>
          <p:nvPr/>
        </p:nvSpPr>
        <p:spPr>
          <a:xfrm>
            <a:off x="8092281" y="6446043"/>
            <a:ext cx="914400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EB3BCB03-C7C6-43EE-A189-D7BB46A80592}" type="slidenum">
              <a:rPr lang="en-US" sz="1000">
                <a:solidFill>
                  <a:srgbClr val="1E1E1E"/>
                </a:solidFill>
                <a:latin typeface="Arial"/>
              </a:rPr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You’re Ready for Day 1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2468880"/>
            <a:ext cx="640080" cy="640080"/>
          </a:xfrm>
          <a:prstGeom prst="ellipse">
            <a:avLst/>
          </a:prstGeom>
          <a:solidFill>
            <a:srgbClr val="29335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" y="3200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9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68880" y="2468880"/>
            <a:ext cx="640080" cy="640080"/>
          </a:xfrm>
          <a:prstGeom prst="ellipse">
            <a:avLst/>
          </a:prstGeom>
          <a:solidFill>
            <a:srgbClr val="293352"/>
          </a:solidFill>
          <a:ln/>
        </p:spPr>
      </p:sp>
      <p:sp>
        <p:nvSpPr>
          <p:cNvPr id="7" name="Text 5"/>
          <p:cNvSpPr/>
          <p:nvPr/>
        </p:nvSpPr>
        <p:spPr>
          <a:xfrm>
            <a:off x="246888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148840" y="3200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9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2468880"/>
            <a:ext cx="640080" cy="640080"/>
          </a:xfrm>
          <a:prstGeom prst="ellipse">
            <a:avLst/>
          </a:prstGeom>
          <a:solidFill>
            <a:srgbClr val="293352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160520" y="3200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9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92240" y="2468880"/>
            <a:ext cx="640080" cy="640080"/>
          </a:xfrm>
          <a:prstGeom prst="ellipse">
            <a:avLst/>
          </a:prstGeom>
          <a:solidFill>
            <a:srgbClr val="293352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172200" y="3200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9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Flag a TA before we begin.</a:t>
            </a:r>
            <a:endParaRPr lang="en-US" sz="1500" dirty="0"/>
          </a:p>
        </p:txBody>
      </p:sp>
      <p:sp>
        <p:nvSpPr>
          <p:cNvPr id="16" name="Harvard Footer"/>
          <p:cNvSpPr txBox="1"/>
          <p:nvPr/>
        </p:nvSpPr>
        <p:spPr>
          <a:xfrm>
            <a:off x="137319" y="6446043"/>
            <a:ext cx="5486400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7" name="Harvard Page Number"/>
          <p:cNvSpPr txBox="1"/>
          <p:nvPr/>
        </p:nvSpPr>
        <p:spPr>
          <a:xfrm>
            <a:off x="8092281" y="6446043"/>
            <a:ext cx="914400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C3D6D589-2474-4213-9F1E-74DE89E2180C}" type="slidenum">
              <a:rPr lang="en-US" sz="1000">
                <a:solidFill>
                  <a:srgbClr val="1E1E1E"/>
                </a:solidFill>
                <a:latin typeface="Arial"/>
              </a:rPr>
              <a:t>7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E1E1E"/>
      </a:dk1>
      <a:lt1>
        <a:srgbClr val="FFFFFF"/>
      </a:lt1>
      <a:dk2>
        <a:srgbClr val="293352"/>
      </a:dk2>
      <a:lt2>
        <a:srgbClr val="F3F3F1"/>
      </a:lt2>
      <a:accent1>
        <a:srgbClr val="A51C30"/>
      </a:accent1>
      <a:accent2>
        <a:srgbClr val="293352"/>
      </a:accent2>
      <a:accent3>
        <a:srgbClr val="4E84C4"/>
      </a:accent3>
      <a:accent4>
        <a:srgbClr val="C4961A"/>
      </a:accent4>
      <a:accent5>
        <a:srgbClr val="8996A0"/>
      </a:accent5>
      <a:accent6>
        <a:srgbClr val="1E1E1E"/>
      </a:accent6>
      <a:hlink>
        <a:srgbClr val="4E84C4"/>
      </a:hlink>
      <a:folHlink>
        <a:srgbClr val="946EB7"/>
      </a:folHlink>
    </a:clrScheme>
    <a:fontScheme name="Office">
      <a:majorFont>
        <a:latin typeface="Arial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2026-07-12T18:05:17Z</dcterms:created>
  <dcterms:modified xsi:type="dcterms:W3CDTF">2026-07-12T18:05:17Z</dcterms:modified>
</cp:coreProperties>
</file>