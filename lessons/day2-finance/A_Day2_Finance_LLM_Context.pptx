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spc="150">
                <a:solidFill>
                  <a:srgbClr val="FFFFFF"/>
                </a:solidFill>
                <a:latin typeface="Arial"/>
              </a:rPr>
              <a:t>Generative AI in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Day 2, Finance Masters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LLM context: earnings calls, macro risk, company news, and one assembled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14630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50">
                <a:solidFill>
                  <a:srgbClr val="FFFFFF"/>
                </a:solidFill>
                <a:latin typeface="Arial"/>
              </a:rPr>
              <a:t>HOUR 1  ·  8:00 TO 9:00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Building a Context Window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Four scripts, three sources, one call</a:t>
            </a:r>
          </a:p>
        </p:txBody>
      </p:sp>
      <p:sp>
        <p:nvSpPr>
          <p:cNvPr id="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SCRIPTS A TO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The hour as one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45336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45336" y="24688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033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One earnings call, and how big it really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4846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24688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00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Macro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7033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Live geopolitical alerts, no API key at 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3063240"/>
            <a:ext cx="4846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4688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200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Company 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7033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Headlines, then a search model that 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3063240"/>
            <a:ext cx="4846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2148840"/>
            <a:ext cx="2377440" cy="2468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31552" y="246888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24688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200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1E1E"/>
                </a:solidFill>
                <a:latin typeface="Arial"/>
              </a:rPr>
              <a:t>Assemble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37033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Three sources, one system prompt, one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Arial"/>
              </a:rPr>
              <a:t>A is local and free. B costs nothing. C needs a key. D spends the tokens, once, on purpose.</a:t>
            </a:r>
          </a:p>
        </p:txBody>
      </p:sp>
      <p:sp>
        <p:nvSpPr>
          <p:cNvPr id="2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9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B58B80C1-F42A-410B-9274-16C7830ECF2B}" type="slidenum">
              <a:rPr lang="en-US" sz="1000">
                <a:solidFill>
                  <a:srgbClr val="8996A0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A NOTE ON THIS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The rule flips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2461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19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965960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Data Science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43200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R does the math. The model never touches arithmetic, it only explains the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3977639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A51C30"/>
                </a:solidFill>
                <a:latin typeface="Arial"/>
              </a:rPr>
              <a:t>IN PRACTICE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Arial"/>
              </a:rPr>
              <a:t>quadprog solves for the weights, the model writes the paragraph.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257800" cy="32461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“ 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65960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Finance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3F3F1"/>
                </a:solidFill>
                <a:latin typeface="Arial"/>
              </a:rPr>
              <a:t>The model does the core work. Reading text, judging tone and pulling out names ARE language tasks.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FFFFFF"/>
                </a:solidFill>
                <a:latin typeface="Arial"/>
              </a:rPr>
              <a:t>IN PRACTICE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F3F3F1"/>
                </a:solidFill>
                <a:latin typeface="Arial"/>
              </a:rPr>
              <a:t>the model reads the call and reports what management emphasized.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Same principle, opposite side of the line: use the model only for what it is actually good at.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4F977E44-46BB-4F67-96AD-A5013A983AD2}" type="slidenum">
              <a:rPr lang="en-US" sz="1000">
                <a:solidFill>
                  <a:srgbClr val="8996A0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A  ·  FIN_A_load_documents.R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transcript is not a blob of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8686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 spc="20">
                <a:solidFill>
                  <a:srgbClr val="F3F3F1"/>
                </a:solidFill>
                <a:latin typeface="Arial"/>
              </a:rPr>
              <a:t>symbol   report_date   speaker   title   msg   source_url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One row per speaker turn. That structure is useful all morning.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33756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Who is in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95928"/>
            <a:ext cx="29535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The title column names each speaker's role. A call has two halves: prepared remarks and analyst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08576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337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33756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An imperfect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995928"/>
            <a:ext cx="29535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grepl("analyst|research") splits the two groups. Look at where it gets people wrong. That is the lesson.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2752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337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33756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Hold on to the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995928"/>
            <a:ext cx="29535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Management is almost always positive about their own quarter. The interesting question is whether analysts agree.</a:t>
            </a:r>
          </a:p>
        </p:txBody>
      </p:sp>
      <p:sp>
        <p:nvSpPr>
          <p:cNvPr id="2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3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13E7551-8240-4596-BA20-AFB1041EA90D}" type="slidenum">
              <a:rPr lang="en-US" sz="1000">
                <a:solidFill>
                  <a:srgbClr val="8996A0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STOP AND LOOK AT THAT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One call does not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846320" cy="2514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 chars ≈ 1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3F3F1"/>
                </a:solidFill>
                <a:latin typeface="Arial"/>
              </a:rPr>
              <a:t>A rough rule, not a billing grade number, but accurate enough to reason about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577840" cy="25146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9202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Our pretend budget: 8,000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6888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Real models allow far more. But every model has a ceiling, and every token costs money. Run the script and read the multiple out loud: a single call is several times the budget, before we have added anything 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10881360" cy="118872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1498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Now imagine four quarters of calls, plus recent news, plus a macro feed, and still room for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A646E"/>
                </a:solidFill>
                <a:latin typeface="Arial"/>
              </a:rPr>
              <a:t>This is the whole reason “context engineering” is a phrase. We cannot paste it in. We have to choose.</a:t>
            </a:r>
          </a:p>
        </p:txBody>
      </p:sp>
      <p:sp>
        <p:nvSpPr>
          <p:cNvPr id="1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050DE8F5-DA86-4780-8A4D-D7883AE2AEDB}" type="slidenum">
              <a:rPr lang="en-US" sz="1000">
                <a:solidFill>
                  <a:srgbClr val="8996A0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THE TRICK WORTH STEALING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Sorting text that happens to be a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9601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 spc="20">
                <a:solidFill>
                  <a:srgbClr val="F3F3F1"/>
                </a:solidFill>
                <a:latin typeface="Arial"/>
              </a:rPr>
              <a:t>available_dates &lt;- sort(unique(this_call$report_date), decreasing = TRUE)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 spc="20">
                <a:solidFill>
                  <a:srgbClr val="98C379"/>
                </a:solidFill>
                <a:latin typeface="Arial"/>
              </a:rPr>
              <a:t>chosen_date     &lt;- available_dates[1]        # the newest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Sort descending, take the first item, and you have the newest call. With no date parsing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47472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Largest unit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295351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YYYY, then MM, then DD. The most significant field is also the leftmost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08576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474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47472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Fixed width, zero padded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133087"/>
            <a:ext cx="295351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Every field is always the same number of characters, so nothing shifts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3200400"/>
            <a:ext cx="3502152" cy="19659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2752" y="34747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474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47472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Text order is time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133087"/>
            <a:ext cx="2953512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character by character comparison settles the year, then the month, then the day.</a:t>
            </a:r>
          </a:p>
        </p:txBody>
      </p:sp>
      <p:sp>
        <p:nvSpPr>
          <p:cNvPr id="2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3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73391066-E591-455B-9508-FEB6DFCE6C31}" type="slidenum">
              <a:rPr lang="en-US" sz="1000">
                <a:solidFill>
                  <a:srgbClr val="8996A0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WHY IT ONLY WORKS FOR ISO 8601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Nearly every other format breaks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50">
                <a:solidFill>
                  <a:srgbClr val="8996A0"/>
                </a:solidFill>
                <a:latin typeface="Arial"/>
              </a:rPr>
              <a:t>SORTED AS PLAIN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8132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50">
                <a:solidFill>
                  <a:srgbClr val="8996A0"/>
                </a:solidFill>
                <a:latin typeface="Arial"/>
              </a:rPr>
              <a:t>WHAT WENT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"12/01/2024"  lands before  "02/01/2025"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828800"/>
            <a:ext cx="411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The year is never considered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"Dec 16 2024"  lands before  "Jan 5 2025"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743200"/>
            <a:ext cx="411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7432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7432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Alphabetical, not chronological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94960" cy="7772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spc="20">
                <a:solidFill>
                  <a:srgbClr val="F3F3F1"/>
                </a:solidFill>
                <a:latin typeface="Arial"/>
              </a:rPr>
              <a:t>"2024-1-5"  lands after  "2024-12-16"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657600"/>
            <a:ext cx="411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657600"/>
            <a:ext cx="4846320" cy="7772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6576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Arial"/>
              </a:rPr>
              <a:t>No zero padding, so widths shift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881360" cy="114300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7316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F0D5D9"/>
                </a:solidFill>
                <a:latin typeface="Arial"/>
              </a:rPr>
              <a:t>AND IT REMOVES AN AMBIGUITY THAT CAUSES REAL ERRORS IN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03/04/2025 reads as March 4th in the US and 3 April across most of Europe. 2025-03-04 can only mean one 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rial"/>
              </a:rPr>
              <a:t>When you control how data is named or stored, this is the format to insist on.</a:t>
            </a:r>
          </a:p>
        </p:txBody>
      </p:sp>
      <p:sp>
        <p:nvSpPr>
          <p:cNvPr id="2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6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62A4E58C-EE9F-42CB-96CE-D993A00E3407}" type="slidenum">
              <a:rPr lang="en-US" sz="1000">
                <a:solidFill>
                  <a:srgbClr val="8996A0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A  ·  FITTING INSIDE THE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Two strategies, and what each one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57800" cy="35661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19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19" y="19659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Select, do not summarize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743200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The data is already split by speaker, so keep only management remarks. Cheapest possible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3977639"/>
            <a:ext cx="4617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A51C30"/>
                </a:solidFill>
                <a:latin typeface="Arial"/>
              </a:rPr>
              <a:t>THE COST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Arial"/>
              </a:rPr>
              <a:t>You just threw away every analyst question. Fine for “what did management claim?”. Fatal for “did anyone push back?”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257800" cy="35661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965960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E1E1E"/>
                </a:solidFill>
                <a:latin typeface="Arial"/>
              </a:rPr>
              <a:t>Chunk on speaker boundaries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4617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Pack whole turns into chunks. The naive cut every N characters slices sentences and speakers in half.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794760"/>
            <a:ext cx="4617720" cy="13716"/>
          </a:xfrm>
          <a:prstGeom prst="rect">
            <a:avLst/>
          </a:prstGeom>
          <a:solidFill>
            <a:srgbClr val="8996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977639"/>
            <a:ext cx="4617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spc="130">
                <a:solidFill>
                  <a:srgbClr val="A51C30"/>
                </a:solidFill>
                <a:latin typeface="Arial"/>
              </a:rPr>
              <a:t>THE COST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1E1E1E"/>
                </a:solidFill>
                <a:latin typeface="Arial"/>
              </a:rPr>
              <a:t>A model reading chunk 3 has no memory of chunk 1. An analyst referring back forty minutes later loses the connection.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54406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Every context strategy trades away something. Knowing what you traded is the skill.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58" y="6446043"/>
            <a:ext cx="253492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90E90FEA-5192-42CD-A20B-F854B5F315CE}" type="slidenum">
              <a:rPr lang="en-US" sz="1000">
                <a:solidFill>
                  <a:srgbClr val="8996A0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A: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Stack every CSV, print the column names, and point out the shape: rows, not a blob.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the participants, run the Analyst / Company split, and find one it gets wrong.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total characters and estimated tokens, then compare to the 8,000 token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Show the chunk table, then read one management turn and one analyst turn out 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A51C30"/>
                </a:solidFill>
                <a:latin typeface="Arial"/>
              </a:rPr>
              <a:t>⏱  about 12 minutes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2AB08198-2942-4B2A-8192-CA18BF2776A4}" type="slidenum">
              <a:rPr lang="en-US" sz="1000">
                <a:solidFill>
                  <a:srgbClr val="8996A0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B  ·  FIN_B_macro_risk.R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Your first API call, and it needs no 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Nothing to authenticate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4709160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Riskline publishes these alerts openly, so nothing can go wrong with a key. Script C adds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59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192024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Check the status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578608"/>
            <a:ext cx="4709160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failed request still returns an object, just with no useful data. Skip the check and it breaks later, somewhere confusing.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49039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23359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5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Read the shape, then write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81727"/>
            <a:ext cx="4709160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Print names(alerts) before anything else. Real APIs rarely return what you assumed they would.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49039"/>
            <a:ext cx="5257800" cy="1874519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59" y="4023359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02335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02335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Do not assume the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681727"/>
            <a:ext cx="4709160" cy="685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The API nests its results. Loop the fields, find the data frame, and report which one it was.</a:t>
            </a:r>
          </a:p>
        </p:txBody>
      </p:sp>
      <p:sp>
        <p:nvSpPr>
          <p:cNvPr id="2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5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7CA5C782-0364-4C5A-9D0E-F6C92D35F47E}" type="slidenum">
              <a:rPr lang="en-US" sz="1000">
                <a:solidFill>
                  <a:srgbClr val="8996A0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B  ·  THE ACTUAL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Filtering is context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>
                <a:solidFill>
                  <a:srgbClr val="8996A0"/>
                </a:solidFill>
                <a:latin typeface="Arial"/>
              </a:rPr>
              <a:t>THE FEED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dozens of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74519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>
                <a:solidFill>
                  <a:srgbClr val="8996A0"/>
                </a:solidFill>
                <a:latin typeface="Arial"/>
              </a:rPr>
              <a:t>THE FILTER</a:t>
            </a:r>
          </a:p>
          <a:p>
            <a:pPr algn="l"/>
            <a:r>
              <a:rPr sz="1600" b="1">
                <a:solidFill>
                  <a:srgbClr val="98C379"/>
                </a:solidFill>
                <a:latin typeface="Arial"/>
              </a:rPr>
              <a:t>COUNTRIES_OF_INTEREST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74519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spc="130">
                <a:solidFill>
                  <a:srgbClr val="8996A0"/>
                </a:solidFill>
                <a:latin typeface="Arial"/>
              </a:rPr>
              <a:t>THE CONTEXT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ten lines of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45920"/>
            <a:ext cx="5486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45920"/>
            <a:ext cx="5486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9535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Noise costs you twice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9535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You pay tokens for the irrelevant alerts, and they bury the relevant signal where the model may miss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520440"/>
            <a:ext cx="29535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A model cannot read a data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114800"/>
            <a:ext cx="29535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Context has to be text. Structured data must be rendered into prose lines before it can go in a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246120"/>
            <a:ext cx="3502152" cy="18288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520440"/>
            <a:ext cx="29535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1E1E"/>
                </a:solidFill>
                <a:latin typeface="Arial"/>
              </a:rPr>
              <a:t>Compare the size to Script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114800"/>
            <a:ext cx="29535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The macro block is tiny, and it tells the model something no earnings call could contain.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530352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High value, low cost. That combination is exactly what earns a place in a context window.</a:t>
            </a:r>
          </a:p>
        </p:txBody>
      </p:sp>
      <p:sp>
        <p:nvSpPr>
          <p:cNvPr id="2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F2674D19-2567-4057-94DB-9EE7C40EA405}" type="slidenum">
              <a:rPr lang="en-US" sz="1000">
                <a:solidFill>
                  <a:srgbClr val="8996A0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B: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Make the request, check the status code, and print the field names before anything 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Filter to the countries of interest and read out how much was kept.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Build the context block, print it, and measure it in characters and tokens.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Save macro_context.rds. API results are worth caching, local files are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A51C30"/>
                </a:solidFill>
                <a:latin typeface="Arial"/>
              </a:rPr>
              <a:t>⏱  about 8 minutes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5150B004-D42F-4B28-BEB1-AACC8BE955D1}" type="slidenum">
              <a:rPr lang="en-US" sz="1000">
                <a:solidFill>
                  <a:srgbClr val="8996A0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FIN_C_company_news.R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key is a password. Treat it like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8996A0"/>
                </a:solidFill>
                <a:latin typeface="Arial"/>
              </a:rPr>
              <a:t># In the CONSOLE, never in the file: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F3F3F1"/>
                </a:solidFill>
                <a:latin typeface="Arial"/>
              </a:rPr>
              <a:t>Sys.setenv(NEWSORG_API_KEY = "your_key_here")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 spc="20">
                <a:solidFill>
                  <a:srgbClr val="98C379"/>
                </a:solidFill>
                <a:latin typeface="Arial"/>
              </a:rPr>
              <a:t>api_key &lt;- Sys.getenv("NEWSORG_API_KEY")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3756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The most common real mistake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29535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key typed into a script that goes into a shared repo is a published password. People who know better do this constantly.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3337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333756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Print the length, not the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995928"/>
            <a:ext cx="29535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When debugging, print enough to confirm something loaded and nothing more. Never cat() a secret to a projector.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063240"/>
            <a:ext cx="3502152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2752" y="333756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337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333756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Let the API explain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995928"/>
            <a:ext cx="29535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401 the key was rejected. 429 you hit the daily limit. 426 you asked for articles older than the free plan allows.</a:t>
            </a:r>
          </a:p>
        </p:txBody>
      </p:sp>
      <p:sp>
        <p:nvSpPr>
          <p:cNvPr id="2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BE92EC70-B1FD-45F4-AF63-F39198C742B1}" type="slidenum">
              <a:rPr lang="en-US" sz="1000">
                <a:solidFill>
                  <a:srgbClr val="8996A0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ASKING A PRECISE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A search API answers exactly what you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60020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600200"/>
            <a:ext cx="411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60020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Few results. A ticker rarely appears in prose.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32888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2532888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Apple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532888"/>
            <a:ext cx="411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A51C30"/>
                </a:solidFill>
                <a:latin typeface="Arial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532888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The fruit, Apple Records, apple pie recipes.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65576"/>
            <a:ext cx="6675120" cy="8229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19" y="3465576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spc="20">
                <a:solidFill>
                  <a:srgbClr val="F3F3F1"/>
                </a:solidFill>
                <a:latin typeface="Arial"/>
              </a:rPr>
              <a:t>"Apple" AND (earnings OR revenue OR stock OR shares OR analyst)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465576"/>
            <a:ext cx="411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E7D4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465576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The company, in a financial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A646E"/>
                </a:solidFill>
                <a:latin typeface="Arial"/>
              </a:rPr>
              <a:t>Quotation marks force an exact phrase. AND requires both terms. Together they make the story be about the business.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51389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A51C30"/>
                </a:solidFill>
                <a:latin typeface="Arial"/>
              </a:rPr>
              <a:t>THEN FILTER FOR RELEVANCE, AND READ WHAT YOU DROPPED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550468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Even a careful query returns strays. Sometimes the filter caught junk. Sometimes the article really was about the company, under the name of its CEO, a product, or a subsidiary.</a:t>
            </a:r>
          </a:p>
        </p:txBody>
      </p: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3372266A-A2C5-479E-A0BC-E5A259D5702A}" type="slidenum">
              <a:rPr lang="en-US" sz="1000">
                <a:solidFill>
                  <a:srgbClr val="8996A0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THE LIMITATION YOU MUST KNOW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Know what your plan actually returns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023360" cy="219456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8346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>
                <a:solidFill>
                  <a:srgbClr val="F0D5D9"/>
                </a:solidFill>
                <a:latin typeface="Arial"/>
              </a:rPr>
              <a:t>characters of article text on the free plan. It ends mid sentence with [+2431 chars].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91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E1E"/>
                </a:solidFill>
                <a:latin typeface="Arial"/>
              </a:rPr>
              <a:t>That is the API telling you exactly how much it withheld.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So per article you have a headline, a one line description, and a stub. Enough to know WHAT happened. Not enough to analyse HOW it was reported.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246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51C30"/>
                </a:solidFill>
                <a:latin typeface="Arial"/>
              </a:rPr>
              <a:t>Which is why the transcripts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5257800" cy="160020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438912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E1E"/>
                </a:solidFill>
                <a:latin typeface="Arial"/>
              </a:rPr>
              <a:t>News gives you breadth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84632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A646E"/>
                </a:solidFill>
                <a:latin typeface="Arial"/>
              </a:rPr>
              <a:t>Many sources, current events, dated and attributed.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160520"/>
            <a:ext cx="5257800" cy="16002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38912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Transcripts give you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3F3F1"/>
                </a:solidFill>
                <a:latin typeface="Arial"/>
              </a:rPr>
              <a:t>Complete text, direct quotes, the speaker's own words.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A good context window often needs both, for different reasons.</a:t>
            </a:r>
          </a:p>
        </p:txBody>
      </p:sp>
      <p:sp>
        <p:nvSpPr>
          <p:cNvPr id="1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8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59EEFACE-57D4-432A-BA68-6C10AD13F06B}" type="slidenum">
              <a:rPr lang="en-US" sz="1000">
                <a:solidFill>
                  <a:srgbClr val="8996A0"/>
                </a:solidFill>
                <a:latin typeface="Arial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C  ·  THE PATTERN WORTH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One API decides what to ask, another answers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E1E1E"/>
                </a:solidFill>
                <a:latin typeface="Arial"/>
              </a:rPr>
              <a:t>NewsAPI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Structured and cheap. What happened, and who reported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484632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920240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E1E1E"/>
                </a:solidFill>
                <a:latin typeface="Arial"/>
              </a:rPr>
              <a:t>Your headlines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Six real stories, named in the prompt, so the model does not wander.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1645920"/>
            <a:ext cx="484632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920240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perplexity/sonar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Searches, reads the actual pages, and synthesizes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1645920"/>
            <a:ext cx="484632" cy="2148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8996A0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645920"/>
            <a:ext cx="2377440" cy="214884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9176" y="1920240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Briefing +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6060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Facts, figures, what is disputed, and a numbered citation list.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9392"/>
            <a:ext cx="2953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Still a language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29535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It is reading and summarizing. It is not being asked to invent facts or compute anything.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4279392"/>
            <a:ext cx="2953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Cited, so checkable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773168"/>
            <a:ext cx="29535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A plain model answers from a training cutoff and gives you no way to verify. This one names its pages.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4023360"/>
            <a:ext cx="3502152" cy="169164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4279392"/>
            <a:ext cx="29535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Provenance, not just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773168"/>
            <a:ext cx="29535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Every line carries its source and date. The model cannot judge Reuters against a blog unless you tell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Cost of the search model: roughly $1 per million tokens, search included.</a:t>
            </a:r>
          </a:p>
        </p:txBody>
      </p:sp>
      <p:sp>
        <p:nvSpPr>
          <p:cNvPr id="2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0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4CFDFC9F-1362-4F6C-AECC-4FE02B00C552}" type="slidenum">
              <a:rPr lang="en-US" sz="1000">
                <a:solidFill>
                  <a:srgbClr val="8996A0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C: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Confirm the key loaded by printing its length, then show the assembled query string.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Print the headline table, then print one content field in full and find the [+n chars] marker.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Run the relevance filter and read the dropped headlines out loud. Was it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Send six headlines to perplexity/sonar, read the briefing, then read the citation 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A51C30"/>
                </a:solidFill>
                <a:latin typeface="Arial"/>
              </a:rPr>
              <a:t>⏱  about 12 minutes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347C841F-C88D-45AA-90B4-452D4B90F321}" type="slidenum">
              <a:rPr lang="en-US" sz="1000">
                <a:solidFill>
                  <a:srgbClr val="8996A0"/>
                </a:solidFill>
                <a:latin typeface="Arial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THE SAME TRICK, ON FILE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Find the right call without opening a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10512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spc="20">
                <a:solidFill>
                  <a:srgbClr val="F3F3F1"/>
                </a:solidFill>
                <a:latin typeface="Arial"/>
              </a:rPr>
              <a:t>AAPL_2026-05-01.csv        MSFT_2025-10-29.csv        BRK.B_2026-02-24.csv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spc="20">
                <a:solidFill>
                  <a:srgbClr val="98C379"/>
                </a:solidFill>
                <a:latin typeface="Arial"/>
              </a:rPr>
              <a:t>newest_idx &lt;- order(file_dates, decreasing = TRUE)[1]   # ISO again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46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Everything is in the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04487"/>
            <a:ext cx="20574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Symbol and date both live in the file name, so we can list every available call without reading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46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Prefix match, not regex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904487"/>
            <a:ext cx="20574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Tickers like BRK.B contain regex wildcards. The underscore also stops “A” matching AAPL_ and “ALL” matching ALLY_.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246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Sort the dates as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04487"/>
            <a:ext cx="20574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Strip the prefix and the .csv and you have a plain ISO string. Descending order gives you the newest.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2971800"/>
            <a:ext cx="2606040" cy="219456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1159" y="324612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59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246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1E1E1E"/>
                </a:solidFill>
                <a:latin typeface="Arial"/>
              </a:rPr>
              <a:t>Open one file, not hundreds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904487"/>
            <a:ext cx="20574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46E"/>
                </a:solidFill>
                <a:latin typeface="Arial"/>
              </a:rPr>
              <a:t>We never read a file we are not going to use. The archive can grow without the script getting slower.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9496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539496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Name your files in ISO 8601 and the file system sorts your history for you, for free.</a:t>
            </a:r>
          </a:p>
        </p:txBody>
      </p:sp>
      <p:sp>
        <p:nvSpPr>
          <p:cNvPr id="2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9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5988FF84-E674-40BA-B397-9D804F24D354}" type="slidenum">
              <a:rPr lang="en-US" sz="1000">
                <a:solidFill>
                  <a:srgbClr val="8996A0"/>
                </a:solidFill>
                <a:latin typeface="Arial"/>
              </a:rPr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FIN_D_build_context.R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Order and labels do real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PRIMARY SOURCE: COMPANY STATEMENTS ===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72768"/>
            <a:ext cx="4526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Earnings call excerpt, management turns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5000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SECONDARY SOURCE: PRESS COVERAGE ===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350008"/>
            <a:ext cx="4526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Headlines plus the enriched briefing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27248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ENVIRONMENT: MACRO RISK ===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127248"/>
            <a:ext cx="4526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Filtered Riskline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04487"/>
            <a:ext cx="6126480" cy="676656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5577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">
                <a:solidFill>
                  <a:srgbClr val="FFFFFF"/>
                </a:solidFill>
                <a:latin typeface="Arial"/>
              </a:rPr>
              <a:t>=== QUESTION ===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904487"/>
            <a:ext cx="45262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5A646E"/>
                </a:solidFill>
                <a:latin typeface="Arial"/>
              </a:rPr>
              <a:t>Four things we want the model to address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919472"/>
            <a:ext cx="29900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Beginnings and ends get the most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349240"/>
            <a:ext cx="29900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Models attend unevenly across a long input, so the primary source goes first and the question goes last.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4919472"/>
            <a:ext cx="29900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Without headers, sources blur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5349240"/>
            <a:ext cx="29900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The model cannot tell where a company's own claims end and a journalist's summary begins unless you say 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2" y="4709160"/>
            <a:ext cx="3502152" cy="132588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919472"/>
            <a:ext cx="299008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E1E1E"/>
                </a:solidFill>
                <a:latin typeface="Arial"/>
              </a:rPr>
              <a:t>Look at the proportions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5349240"/>
            <a:ext cx="29900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A646E"/>
                </a:solidFill>
                <a:latin typeface="Arial"/>
              </a:rPr>
              <a:t>Which source is eating your window? Is it the one you trust most? Those two answers often do not match.</a:t>
            </a:r>
          </a:p>
        </p:txBody>
      </p:sp>
      <p:sp>
        <p:nvSpPr>
          <p:cNvPr id="2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4E2EF6B-C835-459D-9A93-115E849E6D26}" type="slidenum">
              <a:rPr lang="en-US" sz="1000">
                <a:solidFill>
                  <a:srgbClr val="8996A0"/>
                </a:solidFill>
                <a:latin typeface="Arial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THE SYSTEM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The context is the material. This is the instruction.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1709928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099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Use only the provided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21992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331720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221992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Attribute every claim to its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43784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2953512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9535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843784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Separate what the company asserts from what others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65576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7" y="3575304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5753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A51C3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465576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 the sources do not answer, say so plainly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87368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4197096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1970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087368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No investment advice, no buy or sell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09160"/>
            <a:ext cx="6949440" cy="566928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7" y="4818888"/>
            <a:ext cx="347472" cy="347472"/>
          </a:xfrm>
          <a:prstGeom prst="roundRect">
            <a:avLst>
              <a:gd name="adj" fmla="val 160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8188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19" y="4709160"/>
            <a:ext cx="5943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1E1E"/>
                </a:solidFill>
                <a:latin typeface="Arial"/>
              </a:rPr>
              <a:t>Be concise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1600200"/>
            <a:ext cx="3566160" cy="3675887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828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Rule 4 is the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31720"/>
            <a:ext cx="301752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3F3F1"/>
                </a:solidFill>
                <a:latin typeface="Arial"/>
              </a:rPr>
              <a:t>Most people leave it out, and it is the one doing the real work. A model asked a question it cannot answer from the context will usually answer anyway.
Delete this line, re-run, and watch it start filling gaps.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6811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19" y="546811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It still does not always work. Models are trained to be helpful and will state a fabricated fact confidently.</a:t>
            </a:r>
          </a:p>
        </p:txBody>
      </p:sp>
      <p:sp>
        <p:nvSpPr>
          <p:cNvPr id="3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4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88D7B2B2-DBE1-46D6-A1CB-FEC14CFEB023}" type="slidenum">
              <a:rPr lang="en-US" sz="1000">
                <a:solidFill>
                  <a:srgbClr val="8996A0"/>
                </a:solidFill>
                <a:latin typeface="Arial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SCRIPT D  ·  NOW CHANGE SOMETHING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Three experiments worth running in the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Cut the transcript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95351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Set TRANSCRIPT_TURNS to 3 and re-run. Less context is cheaper. Is the research note meaningfully worse?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6" y="192024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Add the analysts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578608"/>
            <a:ext cx="295351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Include analyst turns as well as management. Does the model's read of the call change?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45920"/>
            <a:ext cx="3502152" cy="219456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920240"/>
            <a:ext cx="548640" cy="548640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920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92024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Remove rule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78608"/>
            <a:ext cx="295351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3F3F1"/>
                </a:solidFill>
                <a:latin typeface="Arial"/>
              </a:rPr>
              <a:t>Delete the instruction to admit gaps. Watch whether the model starts filling them in for you.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434340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A51C30"/>
                </a:solidFill>
                <a:latin typeface="Arial"/>
              </a:rPr>
              <a:t>AND CHECK OUR ARITHMETIC AGAINST THEIRS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75488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E1E1E"/>
                </a:solidFill>
                <a:latin typeface="Arial"/>
              </a:rPr>
              <a:t>The response carries a usage field with the real prompt, completion and total token counts. Compare it to our characters divided by four. Dividing by 4 is a rough rule, not a precise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E1E1E"/>
                </a:solidFill>
                <a:latin typeface="Arial"/>
              </a:rPr>
              <a:t>The third experiment is the important one.</a:t>
            </a:r>
          </a:p>
        </p:txBody>
      </p:sp>
      <p:sp>
        <p:nvSpPr>
          <p:cNvPr id="23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4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903970FA-DB0C-473B-9350-1C021C3F32BF}" type="slidenum">
              <a:rPr lang="en-US" sz="1000">
                <a:solidFill>
                  <a:srgbClr val="8996A0"/>
                </a:solidFill>
                <a:latin typeface="Arial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LIVE IN RSTUDIO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Script D: 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881360" cy="361188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06C7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0432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5C0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26464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8C3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7647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LIVE CODE STEP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Find the newest file by sorting names, read exactly one CSV, and build the excerpt.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Load the saved macro and news blocks, then print the size of each of the three pieces.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14215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Assemble, print the labelled context, and send one call to the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55464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3F3F1"/>
                </a:solidFill>
                <a:latin typeface="Arial"/>
              </a:rPr>
              <a:t>&gt; Read the research note, then the usage field, then change TRANSCRIPT_TURNS and re-run.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A51C30"/>
                </a:solidFill>
                <a:latin typeface="Arial"/>
              </a:rPr>
              <a:t>⏱  about 12 minutes</a:t>
            </a:r>
          </a:p>
        </p:txBody>
      </p: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9591DF4F-A695-4E7B-9EF5-308EA92D8C26}" type="slidenum">
              <a:rPr lang="en-US" sz="1000">
                <a:solidFill>
                  <a:srgbClr val="8996A0"/>
                </a:solidFill>
                <a:latin typeface="Arial"/>
              </a:rPr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BEFORE YOU TRUST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What we traded away,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2763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Kept management remarks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27632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627632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627632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Deleted every question and every pushback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Chunked the call by speaker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6888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468880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46888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Chunk three has no memory of chunk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10128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Filtered the risk feed by country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10128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310128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310128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Assumed our country list was the right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51376"/>
            <a:ext cx="54864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51376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E1E1E"/>
                </a:solidFill>
                <a:latin typeface="Arial"/>
              </a:rPr>
              <a:t>Took the first 12 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151376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A51C30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4151376"/>
            <a:ext cx="4709160" cy="73152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151376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3F3F1"/>
                </a:solidFill>
                <a:latin typeface="Arial"/>
              </a:rPr>
              <a:t>Assumed the prepared statement is the 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35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149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If the model reports that the call was positive, remember we only showed it the part where management describes its own quarter. We built that bias in ourselves.</a:t>
            </a:r>
          </a:p>
        </p:txBody>
      </p:sp>
      <p:sp>
        <p:nvSpPr>
          <p:cNvPr id="2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7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237A912A-329C-4707-8961-6F325894FCA9}" type="slidenum">
              <a:rPr lang="en-US" sz="1000">
                <a:solidFill>
                  <a:srgbClr val="8996A0"/>
                </a:solidFill>
                <a:latin typeface="Arial"/>
              </a:rPr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A51C30"/>
                </a:solidFill>
                <a:latin typeface="Arial"/>
              </a:rPr>
              <a:t>HOUR 1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E1E1E"/>
                </a:solidFill>
                <a:latin typeface="Arial"/>
              </a:rPr>
              <a:t>What you should take 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174650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4650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Context is built by choosing, not by pasting everything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61518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615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688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Structure you already have (speakers, dates, file names) is free leverage.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348386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8386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Filtering is context engineering. Noise costs tokens and hides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64807" y="174650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74650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0020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Give the model the source and the date, not just the claim.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6888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64807" y="261518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2615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6888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Order and labels matter. Primary source first, question last.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37560"/>
            <a:ext cx="5257800" cy="731520"/>
          </a:xfrm>
          <a:prstGeom prst="roundRect">
            <a:avLst>
              <a:gd name="adj" fmla="val 3500"/>
            </a:avLst>
          </a:prstGeom>
          <a:solidFill>
            <a:srgbClr val="F3F3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7" y="3483864"/>
            <a:ext cx="438912" cy="438912"/>
          </a:xfrm>
          <a:prstGeom prst="roundRect">
            <a:avLst>
              <a:gd name="adj" fmla="val 16000"/>
            </a:avLst>
          </a:prstGeom>
          <a:solidFill>
            <a:srgbClr val="A51C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348386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33756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1E1E"/>
                </a:solidFill>
                <a:latin typeface="Arial"/>
              </a:rPr>
              <a:t>What you leave out shapes the answer as much as what you include.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3500"/>
            </a:avLst>
          </a:prstGeom>
          <a:solidFill>
            <a:srgbClr val="2933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6344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50">
                <a:solidFill>
                  <a:srgbClr val="8996A0"/>
                </a:solidFill>
                <a:latin typeface="Arial"/>
              </a:rPr>
              <a:t>NEXT  ·  9:00 TO 10:00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02920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3F3F1"/>
                </a:solidFill>
                <a:latin typeface="Arial"/>
              </a:rPr>
              <a:t>Sentiment analysis and named entity recognition. We stop asking the model to summarize the text and start asking it to score and label it, one sentence at a time.</a:t>
            </a:r>
          </a:p>
        </p:txBody>
      </p:sp>
      <p:sp>
        <p:nvSpPr>
          <p:cNvPr id="3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2" name="Harvard Page Number"/>
          <p:cNvSpPr txBox="1"/>
          <p:nvPr/>
        </p:nvSpPr>
        <p:spPr>
          <a:xfrm>
            <a:off x="11730546" y="6446043"/>
            <a:ext cx="324104" cy="2746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fld id="{11717793-4A2C-4EB8-A7F3-38729929F76C}" type="slidenum">
              <a:rPr lang="en-US" sz="1000">
                <a:solidFill>
                  <a:srgbClr val="8996A0"/>
                </a:solidFill>
                <a:latin typeface="Arial"/>
              </a:rPr>
              <a:t>25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