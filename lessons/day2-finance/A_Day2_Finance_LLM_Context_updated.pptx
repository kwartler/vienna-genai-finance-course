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58" r:id="rId5"/>
    <p:sldId id="281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82" r:id="rId15"/>
    <p:sldId id="268" r:id="rId16"/>
    <p:sldId id="269" r:id="rId17"/>
    <p:sldId id="270" r:id="rId18"/>
    <p:sldId id="271" r:id="rId19"/>
    <p:sldId id="272" r:id="rId20"/>
    <p:sldId id="283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80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riskline.com/alerts/latest.json%60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5544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spc="150">
                <a:solidFill>
                  <a:srgbClr val="FFFFFF"/>
                </a:solidFill>
                <a:latin typeface="Arial"/>
              </a:rPr>
              <a:t>Generative AI in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Day 2, Finance Masters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rial"/>
              </a:rPr>
              <a:t>LLM context: earnings calls, macro risk, company news, and one assembled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663440"/>
            <a:ext cx="146304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51C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spc="250">
                <a:solidFill>
                  <a:srgbClr val="FFFFFF"/>
                </a:solidFill>
                <a:latin typeface="Arial"/>
              </a:rPr>
              <a:t>HOUR 1  ·  8:00 TO 9:00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Building a Context Window on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rial"/>
              </a:rPr>
              <a:t>Four scripts, three sources, one call</a:t>
            </a:r>
          </a:p>
        </p:txBody>
      </p:sp>
      <p:sp>
        <p:nvSpPr>
          <p:cNvPr id="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F3F3F1"/>
                </a:solidFill>
                <a:latin typeface="Arial"/>
              </a:rPr>
              <a:t>© 2026 Ted Kwartler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A NOTE ON THIS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112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  <a:latin typeface="Arial"/>
              </a:rPr>
              <a:t>The difference in the tracks…</a:t>
            </a:r>
            <a:endParaRPr sz="2800" b="1" dirty="0">
              <a:solidFill>
                <a:srgbClr val="1E1E1E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257800" cy="32461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60119" y="196596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19" y="1965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39" y="1965960"/>
            <a:ext cx="38404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  <a:latin typeface="Arial"/>
              </a:rPr>
              <a:t>Data Science track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743200"/>
            <a:ext cx="4617720" cy="493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dirty="0">
                <a:solidFill>
                  <a:srgbClr val="5A646E"/>
                </a:solidFill>
                <a:latin typeface="Arial"/>
              </a:rPr>
              <a:t>R does the math. The </a:t>
            </a:r>
            <a:r>
              <a:rPr lang="en-US" sz="1300" b="0" dirty="0">
                <a:solidFill>
                  <a:srgbClr val="5A646E"/>
                </a:solidFill>
                <a:latin typeface="Arial"/>
              </a:rPr>
              <a:t>LLM</a:t>
            </a:r>
            <a:r>
              <a:rPr sz="1300" b="0" dirty="0">
                <a:solidFill>
                  <a:srgbClr val="5A646E"/>
                </a:solidFill>
                <a:latin typeface="Arial"/>
              </a:rPr>
              <a:t> never touches arithmetic, it only explains the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60"/>
            <a:ext cx="4617720" cy="13716"/>
          </a:xfrm>
          <a:prstGeom prst="rect">
            <a:avLst/>
          </a:prstGeom>
          <a:solidFill>
            <a:srgbClr val="8996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19" y="3977639"/>
            <a:ext cx="4617720" cy="447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spc="130" dirty="0">
                <a:solidFill>
                  <a:srgbClr val="A51C30"/>
                </a:solidFill>
                <a:latin typeface="Arial"/>
              </a:rPr>
              <a:t>IN PRACTICE</a:t>
            </a:r>
          </a:p>
          <a:p>
            <a:pPr algn="l">
              <a:lnSpc>
                <a:spcPct val="125000"/>
              </a:lnSpc>
            </a:pPr>
            <a:r>
              <a:rPr sz="1250" b="0" dirty="0" err="1">
                <a:solidFill>
                  <a:srgbClr val="1E1E1E"/>
                </a:solidFill>
                <a:latin typeface="Arial"/>
              </a:rPr>
              <a:t>quadprog</a:t>
            </a:r>
            <a:r>
              <a:rPr sz="1250" b="0" dirty="0">
                <a:solidFill>
                  <a:srgbClr val="1E1E1E"/>
                </a:solidFill>
                <a:latin typeface="Arial"/>
              </a:rPr>
              <a:t> solves for the </a:t>
            </a:r>
            <a:r>
              <a:rPr lang="en-US" sz="1250" b="0" dirty="0">
                <a:solidFill>
                  <a:srgbClr val="1E1E1E"/>
                </a:solidFill>
                <a:latin typeface="Arial"/>
              </a:rPr>
              <a:t>quant</a:t>
            </a:r>
            <a:r>
              <a:rPr sz="1250" b="0" dirty="0">
                <a:solidFill>
                  <a:srgbClr val="1E1E1E"/>
                </a:solidFill>
                <a:latin typeface="Arial"/>
              </a:rPr>
              <a:t>, the model writes the paragraph.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91640"/>
            <a:ext cx="5257800" cy="32461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“ 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1965960"/>
            <a:ext cx="38404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Finance track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17720" cy="493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dirty="0">
                <a:solidFill>
                  <a:srgbClr val="F3F3F1"/>
                </a:solidFill>
                <a:latin typeface="Arial"/>
              </a:rPr>
              <a:t>The </a:t>
            </a:r>
            <a:r>
              <a:rPr lang="en-US" sz="1300" b="0" dirty="0">
                <a:solidFill>
                  <a:srgbClr val="F3F3F1"/>
                </a:solidFill>
                <a:latin typeface="Arial"/>
              </a:rPr>
              <a:t>LLM</a:t>
            </a:r>
            <a:r>
              <a:rPr sz="1300" b="0" dirty="0">
                <a:solidFill>
                  <a:srgbClr val="F3F3F1"/>
                </a:solidFill>
                <a:latin typeface="Arial"/>
              </a:rPr>
              <a:t> does the core work. Reading text, judging tone and pulling out names ARE language tasks.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794760"/>
            <a:ext cx="4617720" cy="13716"/>
          </a:xfrm>
          <a:prstGeom prst="rect">
            <a:avLst/>
          </a:prstGeom>
          <a:solidFill>
            <a:srgbClr val="8996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3977639"/>
            <a:ext cx="4617720" cy="688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spc="130" dirty="0">
                <a:solidFill>
                  <a:srgbClr val="FFFFFF"/>
                </a:solidFill>
                <a:latin typeface="Arial"/>
              </a:rPr>
              <a:t>IN PRACTICE</a:t>
            </a:r>
          </a:p>
          <a:p>
            <a:pPr algn="l">
              <a:lnSpc>
                <a:spcPct val="125000"/>
              </a:lnSpc>
            </a:pPr>
            <a:r>
              <a:rPr sz="1250" b="0" dirty="0">
                <a:solidFill>
                  <a:srgbClr val="F3F3F1"/>
                </a:solidFill>
                <a:latin typeface="Arial"/>
              </a:rPr>
              <a:t>the </a:t>
            </a:r>
            <a:r>
              <a:rPr lang="en-US" sz="1250" b="0" dirty="0">
                <a:solidFill>
                  <a:srgbClr val="F3F3F1"/>
                </a:solidFill>
                <a:latin typeface="Arial"/>
              </a:rPr>
              <a:t>LLM</a:t>
            </a:r>
            <a:r>
              <a:rPr sz="1250" b="0" dirty="0">
                <a:solidFill>
                  <a:srgbClr val="F3F3F1"/>
                </a:solidFill>
                <a:latin typeface="Arial"/>
              </a:rPr>
              <a:t> reads the call and reports what management emphasized.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1208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19" y="5395516"/>
            <a:ext cx="102412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dirty="0">
                <a:solidFill>
                  <a:srgbClr val="FFFFFF"/>
                </a:solidFill>
                <a:latin typeface="Arial"/>
              </a:rPr>
              <a:t>Same principle, opposite side of the </a:t>
            </a:r>
            <a:r>
              <a:rPr lang="en-US" sz="1300" b="1" dirty="0">
                <a:solidFill>
                  <a:srgbClr val="FFFFFF"/>
                </a:solidFill>
                <a:latin typeface="Arial"/>
              </a:rPr>
              <a:t>capability divide</a:t>
            </a:r>
            <a:r>
              <a:rPr sz="1300" b="1" dirty="0">
                <a:solidFill>
                  <a:srgbClr val="FFFFFF"/>
                </a:solidFill>
                <a:latin typeface="Arial"/>
              </a:rPr>
              <a:t>: use the model only for what it is actually good at.</a:t>
            </a:r>
          </a:p>
        </p:txBody>
      </p: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F977E44-46BB-4F67-96AD-A5013A983AD2}" type="slidenum">
              <a:rPr lang="en-US" sz="1000">
                <a:solidFill>
                  <a:srgbClr val="8996A0"/>
                </a:solidFill>
                <a:latin typeface="Arial"/>
              </a:rPr>
              <a:t>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SCRIPTS A TO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1E1E1E"/>
                </a:solidFill>
                <a:latin typeface="Arial"/>
              </a:rPr>
              <a:t>The hour as one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48840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545336" y="246888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5336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004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70332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One earnings call, and how big it really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063240"/>
            <a:ext cx="4846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>
                <a:solidFill>
                  <a:srgbClr val="8996A0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148840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407408" y="246888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07408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2004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E1E1E"/>
                </a:solidFill>
                <a:latin typeface="Arial"/>
              </a:rPr>
              <a:t>Macro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70332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Live geopolitical alerts, no API key at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3063240"/>
            <a:ext cx="4846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>
                <a:solidFill>
                  <a:srgbClr val="8996A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2148840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269480" y="246888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69480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004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Company news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370332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Headlines, then a search model that cites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41664" y="3063240"/>
            <a:ext cx="484632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>
                <a:solidFill>
                  <a:srgbClr val="8996A0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26296" y="2148840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131552" y="246888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131552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32004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E1E1E"/>
                </a:solidFill>
                <a:latin typeface="Arial"/>
              </a:rPr>
              <a:t>Assemble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09176" y="370332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Three sources, one system prompt, one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5A646E"/>
                </a:solidFill>
                <a:latin typeface="Arial"/>
              </a:rPr>
              <a:t>A is local and free. B costs nothing. C needs a key. D spends the tokens, once, on purpose.</a:t>
            </a:r>
          </a:p>
        </p:txBody>
      </p:sp>
      <p:sp>
        <p:nvSpPr>
          <p:cNvPr id="2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9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B58B80C1-F42A-410B-9274-16C7830ECF2B}" type="slidenum">
              <a:rPr lang="en-US" sz="1000">
                <a:solidFill>
                  <a:srgbClr val="8996A0"/>
                </a:solidFill>
                <a:latin typeface="Arial"/>
              </a:rPr>
              <a:t>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41915A-F800-A2F7-9D72-C69377D41F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3852" b="70382"/>
          <a:stretch>
            <a:fillRect/>
          </a:stretch>
        </p:blipFill>
        <p:spPr>
          <a:xfrm>
            <a:off x="4130474" y="3474720"/>
            <a:ext cx="7815655" cy="3135086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A9FBB4-FAAB-A173-DF1B-65EC7A192F6D}"/>
              </a:ext>
            </a:extLst>
          </p:cNvPr>
          <p:cNvSpPr/>
          <p:nvPr/>
        </p:nvSpPr>
        <p:spPr>
          <a:xfrm>
            <a:off x="193764" y="2148840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0ABCDA-04E9-77FF-9699-1A8F2488BEB1}"/>
              </a:ext>
            </a:extLst>
          </p:cNvPr>
          <p:cNvSpPr/>
          <p:nvPr/>
        </p:nvSpPr>
        <p:spPr>
          <a:xfrm>
            <a:off x="1099020" y="246888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9C1749-9748-9818-34EF-39EAA910D587}"/>
              </a:ext>
            </a:extLst>
          </p:cNvPr>
          <p:cNvSpPr txBox="1"/>
          <p:nvPr/>
        </p:nvSpPr>
        <p:spPr>
          <a:xfrm>
            <a:off x="1099020" y="24688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DBA8E3-3140-9E5C-6D46-4F3F5CC78FAF}"/>
              </a:ext>
            </a:extLst>
          </p:cNvPr>
          <p:cNvSpPr txBox="1"/>
          <p:nvPr/>
        </p:nvSpPr>
        <p:spPr>
          <a:xfrm>
            <a:off x="330924" y="32004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B31FEC-F2A8-1A74-B758-F8A22EF8FC10}"/>
              </a:ext>
            </a:extLst>
          </p:cNvPr>
          <p:cNvSpPr txBox="1"/>
          <p:nvPr/>
        </p:nvSpPr>
        <p:spPr>
          <a:xfrm>
            <a:off x="376643" y="370332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One earnings call, and how big it really 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902002-0658-F937-8DE0-3D6CE135B0E1}"/>
              </a:ext>
            </a:extLst>
          </p:cNvPr>
          <p:cNvSpPr txBox="1"/>
          <p:nvPr/>
        </p:nvSpPr>
        <p:spPr>
          <a:xfrm>
            <a:off x="465909" y="295911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  <a:latin typeface="Arial"/>
              </a:rPr>
              <a:t>The class repo has SP500 Earnings Calls as CSV files</a:t>
            </a:r>
            <a:endParaRPr sz="2800" b="1" dirty="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655843-11E7-0C44-39DD-83159B668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9" y="1011668"/>
            <a:ext cx="8570454" cy="2991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BF5337-DF94-7FC5-D7C1-62EB57A576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4048" y="1405287"/>
            <a:ext cx="8570454" cy="1485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D6B0B8-ED77-5D28-3D08-D6941B82E95C}"/>
              </a:ext>
            </a:extLst>
          </p:cNvPr>
          <p:cNvSpPr txBox="1"/>
          <p:nvPr/>
        </p:nvSpPr>
        <p:spPr>
          <a:xfrm>
            <a:off x="4152102" y="3105388"/>
            <a:ext cx="7332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>
                <a:solidFill>
                  <a:schemeClr val="accent1"/>
                </a:solidFill>
              </a:rPr>
              <a:t>Click “RAW” to open a CSV in your browser.  We can add this link to your SPA.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FA2480-BDB5-0687-596B-452824B6992B}"/>
              </a:ext>
            </a:extLst>
          </p:cNvPr>
          <p:cNvSpPr/>
          <p:nvPr/>
        </p:nvSpPr>
        <p:spPr>
          <a:xfrm>
            <a:off x="10722431" y="1372629"/>
            <a:ext cx="751114" cy="347313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923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A transcript is not a blob of 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19" y="1810512"/>
            <a:ext cx="10241280" cy="41147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400" b="0" spc="20">
                <a:solidFill>
                  <a:srgbClr val="F3F3F1"/>
                </a:solidFill>
                <a:latin typeface="Arial"/>
              </a:rPr>
              <a:t>symbol   report_date   speaker   title   msg   source_url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8716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One row per speaker turn. That structure is useful all morning.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3502152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3337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33756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Who is in the room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95928"/>
            <a:ext cx="295351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The title column names each speaker's role. A call has two halves: prepared remarks and analyst questions.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3063240"/>
            <a:ext cx="3502152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08576" y="3337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08576" y="3337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4376" y="333756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An imperfect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3995928"/>
            <a:ext cx="295351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grepl("analyst|research") splits the two groups. Look at where it gets people wrong. That is the lesson.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063240"/>
            <a:ext cx="3502152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02752" y="3337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02752" y="3337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333756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Hold on to the split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3995928"/>
            <a:ext cx="295351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Management is almost always positive about their own quarter. The interesting question is whether analysts agree.</a:t>
            </a:r>
          </a:p>
        </p:txBody>
      </p:sp>
      <p:sp>
        <p:nvSpPr>
          <p:cNvPr id="2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3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13E7551-8240-4596-BA20-AFB1041EA90D}" type="slidenum">
              <a:rPr lang="en-US" sz="1000">
                <a:solidFill>
                  <a:srgbClr val="8996A0"/>
                </a:solidFill>
                <a:latin typeface="Arial"/>
              </a:rPr>
              <a:t>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B0AF317-C4F8-9B47-8876-9C4BCD110415}"/>
              </a:ext>
            </a:extLst>
          </p:cNvPr>
          <p:cNvSpPr txBox="1"/>
          <p:nvPr/>
        </p:nvSpPr>
        <p:spPr>
          <a:xfrm>
            <a:off x="640080" y="451735"/>
            <a:ext cx="108813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 dirty="0">
                <a:solidFill>
                  <a:srgbClr val="A51C30"/>
                </a:solidFill>
                <a:latin typeface="Arial"/>
              </a:rPr>
              <a:t>SCRIPT A  ·  FITTING INSIDE THE WINDOW</a:t>
            </a:r>
            <a:r>
              <a:rPr lang="en-US" sz="1200" b="1" spc="200" dirty="0">
                <a:solidFill>
                  <a:srgbClr val="A51C30"/>
                </a:solidFill>
                <a:latin typeface="Arial"/>
              </a:rPr>
              <a:t> w/EARNINGS  CALLS</a:t>
            </a:r>
            <a:endParaRPr sz="1200" b="1" spc="200" dirty="0">
              <a:solidFill>
                <a:srgbClr val="A51C3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STOP AND LOOK AT THAT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One call does not fit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4846320" cy="251460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4 chars ≈ 1 token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4114800" cy="2167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dirty="0">
                <a:solidFill>
                  <a:srgbClr val="F3F3F1"/>
                </a:solidFill>
                <a:latin typeface="Arial"/>
              </a:rPr>
              <a:t>A rough rule, but accurate enough to reason about limits.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645920"/>
            <a:ext cx="5577840" cy="251460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  <a:latin typeface="Arial"/>
              </a:rPr>
              <a:t>Our pretend budget: 8,000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468880"/>
            <a:ext cx="49377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46E"/>
                </a:solidFill>
                <a:latin typeface="Arial"/>
              </a:rPr>
              <a:t>Real models allow far more. But every model has a ceiling, and every token costs money. Run the script and read the multiple out loud: a single call is several times the budget, before we have added anything else.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34840"/>
            <a:ext cx="10881360" cy="1188720"/>
          </a:xfrm>
          <a:prstGeom prst="roundRect">
            <a:avLst>
              <a:gd name="adj" fmla="val 35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434840"/>
            <a:ext cx="10149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"/>
              </a:rPr>
              <a:t>Now imagine four quarters of calls, plus recent news, plus a macro feed, and still room for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5A646E"/>
                </a:solidFill>
                <a:latin typeface="Arial"/>
              </a:rPr>
              <a:t>This is the whole reason “context engineering” is a phrase. We cannot paste it in. We have to choose</a:t>
            </a:r>
            <a:r>
              <a:rPr lang="en-US" sz="1400" b="0" dirty="0">
                <a:solidFill>
                  <a:srgbClr val="5A646E"/>
                </a:solidFill>
                <a:latin typeface="Arial"/>
              </a:rPr>
              <a:t> the “context” that is most relevant</a:t>
            </a:r>
            <a:r>
              <a:rPr sz="1400" b="0" dirty="0">
                <a:solidFill>
                  <a:srgbClr val="5A646E"/>
                </a:solidFill>
                <a:latin typeface="Arial"/>
              </a:rPr>
              <a:t>.</a:t>
            </a:r>
          </a:p>
        </p:txBody>
      </p:sp>
      <p:sp>
        <p:nvSpPr>
          <p:cNvPr id="13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4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050DE8F5-DA86-4780-8A4D-D7883AE2AEDB}" type="slidenum">
              <a:rPr lang="en-US" sz="1000">
                <a:solidFill>
                  <a:srgbClr val="8996A0"/>
                </a:solidFill>
                <a:latin typeface="Arial"/>
              </a:rPr>
              <a:t>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THE TRICK WORTH STEALING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Sorting text that happens to be a date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9601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19" y="1810512"/>
            <a:ext cx="102412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 spc="20">
                <a:solidFill>
                  <a:srgbClr val="F3F3F1"/>
                </a:solidFill>
                <a:latin typeface="Arial"/>
              </a:rPr>
              <a:t>available_dates &lt;- sort(unique(this_call$report_date), decreasing = TRUE)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50" b="0" spc="20">
                <a:solidFill>
                  <a:srgbClr val="98C379"/>
                </a:solidFill>
                <a:latin typeface="Arial"/>
              </a:rPr>
              <a:t>chosen_date     &lt;- available_dates[1]        # the newest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1E1E1E"/>
                </a:solidFill>
                <a:latin typeface="Arial"/>
              </a:rPr>
              <a:t>Sort descending, take the first item, and you have the newest call. With no date </a:t>
            </a:r>
            <a:r>
              <a:rPr lang="en-US" sz="1400" b="1" dirty="0">
                <a:solidFill>
                  <a:srgbClr val="1E1E1E"/>
                </a:solidFill>
                <a:latin typeface="Arial"/>
              </a:rPr>
              <a:t>class </a:t>
            </a:r>
            <a:r>
              <a:rPr sz="1400" b="1" dirty="0">
                <a:solidFill>
                  <a:srgbClr val="1E1E1E"/>
                </a:solidFill>
                <a:latin typeface="Arial"/>
              </a:rPr>
              <a:t>parsing </a:t>
            </a:r>
            <a:r>
              <a:rPr lang="en-US" sz="1400" b="1" dirty="0">
                <a:solidFill>
                  <a:srgbClr val="1E1E1E"/>
                </a:solidFill>
                <a:latin typeface="Arial"/>
              </a:rPr>
              <a:t>issues </a:t>
            </a:r>
            <a:r>
              <a:rPr sz="1400" b="1" dirty="0">
                <a:solidFill>
                  <a:srgbClr val="1E1E1E"/>
                </a:solidFill>
                <a:latin typeface="Arial"/>
              </a:rPr>
              <a:t>at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3502152" cy="19659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34747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47472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Largest unit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33087"/>
            <a:ext cx="2953512" cy="777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YYYY, then MM, then DD. The most significant field is also the leftmost 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3200400"/>
            <a:ext cx="3502152" cy="19659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608576" y="34747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08576" y="34747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94376" y="347472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Fixed width, zero padded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576" y="4133087"/>
            <a:ext cx="2953512" cy="777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Every field is always the same number of characters, so nothing shifts position.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3200400"/>
            <a:ext cx="3502152" cy="19659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02752" y="34747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02752" y="34747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347472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Text order is time order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133087"/>
            <a:ext cx="2953512" cy="777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A character by character comparison settles the year, then the month, then the day.</a:t>
            </a:r>
          </a:p>
        </p:txBody>
      </p:sp>
      <p:sp>
        <p:nvSpPr>
          <p:cNvPr id="22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3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3391066-E591-455B-9508-FEB6DFCE6C31}" type="slidenum">
              <a:rPr lang="en-US" sz="1000">
                <a:solidFill>
                  <a:srgbClr val="8996A0"/>
                </a:solidFill>
                <a:latin typeface="Arial"/>
              </a:rPr>
              <a:t>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1735"/>
            <a:ext cx="108813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 dirty="0">
                <a:solidFill>
                  <a:srgbClr val="A51C30"/>
                </a:solidFill>
                <a:latin typeface="Arial"/>
              </a:rPr>
              <a:t>WHY IT ONLY WORKS FOR ISO 8601</a:t>
            </a:r>
            <a:r>
              <a:rPr lang="en-US" sz="1200" b="1" spc="200" dirty="0">
                <a:solidFill>
                  <a:srgbClr val="A51C30"/>
                </a:solidFill>
                <a:latin typeface="Arial"/>
              </a:rPr>
              <a:t> DATES</a:t>
            </a:r>
            <a:endParaRPr sz="1200" b="1" spc="200" dirty="0">
              <a:solidFill>
                <a:srgbClr val="A51C30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Nearly every other format breaks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8996A0"/>
                </a:solidFill>
                <a:latin typeface="Arial"/>
              </a:rPr>
              <a:t>SORTED AS PLAIN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481328"/>
            <a:ext cx="51206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8996A0"/>
                </a:solidFill>
                <a:latin typeface="Arial"/>
              </a:rPr>
              <a:t>WHAT WENT WRONG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94960" cy="77724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spc="20">
                <a:solidFill>
                  <a:srgbClr val="F3F3F1"/>
                </a:solidFill>
                <a:latin typeface="Arial"/>
              </a:rPr>
              <a:t>"12/01/2024"  lands before  "02/01/2025"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411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A51C30"/>
                </a:solidFill>
                <a:latin typeface="Arial"/>
              </a:rPr>
              <a:t>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28800"/>
            <a:ext cx="4846320" cy="7772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182880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Arial"/>
              </a:rPr>
              <a:t>The year is never considered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743200"/>
            <a:ext cx="5394960" cy="77724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2743200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spc="20">
                <a:solidFill>
                  <a:srgbClr val="F3F3F1"/>
                </a:solidFill>
                <a:latin typeface="Arial"/>
              </a:rPr>
              <a:t>"Dec 16 2024"  lands before  "Jan 5 2025"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411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A51C30"/>
                </a:solidFill>
                <a:latin typeface="Arial"/>
              </a:rPr>
              <a:t>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2743200"/>
            <a:ext cx="4846320" cy="7772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9440" y="274320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Arial"/>
              </a:rPr>
              <a:t>Alphabetical, not chronological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5394960" cy="77724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657600"/>
            <a:ext cx="484632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spc="20">
                <a:solidFill>
                  <a:srgbClr val="F3F3F1"/>
                </a:solidFill>
                <a:latin typeface="Arial"/>
              </a:rPr>
              <a:t>"2024-1-5"  lands after  "2024-12-16"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657600"/>
            <a:ext cx="411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A51C30"/>
                </a:solidFill>
                <a:latin typeface="Arial"/>
              </a:rPr>
              <a:t>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3657600"/>
            <a:ext cx="4846320" cy="7772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365760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1E1E1E"/>
                </a:solidFill>
                <a:latin typeface="Arial"/>
              </a:rPr>
              <a:t>No zero padding, so widths shift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17720"/>
            <a:ext cx="10881360" cy="1143000"/>
          </a:xfrm>
          <a:prstGeom prst="roundRect">
            <a:avLst>
              <a:gd name="adj" fmla="val 35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7316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20">
                <a:solidFill>
                  <a:srgbClr val="F0D5D9"/>
                </a:solidFill>
                <a:latin typeface="Arial"/>
              </a:rPr>
              <a:t>AND IT REMOVES AN AMBIGUITY THAT CAUSES REAL ERRORS IN FINANCE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166360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Arial"/>
              </a:rPr>
              <a:t>03/04/2025 reads as March 4th in the US and 3 April across most of Europe. 2025-03-04 can only mean one thing.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A646E"/>
                </a:solidFill>
                <a:latin typeface="Arial"/>
              </a:rPr>
              <a:t>When you control how data is named or stored, this is the format to insist on.</a:t>
            </a:r>
          </a:p>
        </p:txBody>
      </p:sp>
      <p:sp>
        <p:nvSpPr>
          <p:cNvPr id="2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6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62A4E58C-EE9F-42CB-96CE-D993A00E3407}" type="slidenum">
              <a:rPr lang="en-US" sz="1000">
                <a:solidFill>
                  <a:srgbClr val="8996A0"/>
                </a:solidFill>
                <a:latin typeface="Arial"/>
              </a:rPr>
              <a:t>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1735"/>
            <a:ext cx="108813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 dirty="0">
                <a:solidFill>
                  <a:srgbClr val="A51C30"/>
                </a:solidFill>
                <a:latin typeface="Arial"/>
              </a:rPr>
              <a:t>SCRIPT A  ·  FITTING INSIDE THE WINDOW</a:t>
            </a:r>
            <a:r>
              <a:rPr lang="en-US" sz="1200" b="1" spc="200" dirty="0">
                <a:solidFill>
                  <a:srgbClr val="A51C30"/>
                </a:solidFill>
                <a:latin typeface="Arial"/>
              </a:rPr>
              <a:t> w/EARNINGS  CALLS</a:t>
            </a:r>
            <a:endParaRPr sz="1200" b="1" spc="200" dirty="0">
              <a:solidFill>
                <a:srgbClr val="A51C30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Two strategies, and what each one costs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257800" cy="35661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60119" y="196596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19" y="1965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965960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  <a:latin typeface="Arial"/>
              </a:rPr>
              <a:t>Select, do not summarize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743200"/>
            <a:ext cx="4617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46E"/>
                </a:solidFill>
                <a:latin typeface="Arial"/>
              </a:rPr>
              <a:t>The data is already split by speaker, so keep only management remarks. Cheapest possible reduction.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60"/>
            <a:ext cx="4617720" cy="13716"/>
          </a:xfrm>
          <a:prstGeom prst="rect">
            <a:avLst/>
          </a:prstGeom>
          <a:solidFill>
            <a:srgbClr val="8996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19" y="3977639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spc="130">
                <a:solidFill>
                  <a:srgbClr val="A51C30"/>
                </a:solidFill>
                <a:latin typeface="Arial"/>
              </a:rPr>
              <a:t>THE COST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E1E1E"/>
                </a:solidFill>
                <a:latin typeface="Arial"/>
              </a:rPr>
              <a:t>You just threw away every analyst question. Fine for “what did management claim?”. Fatal for “did anyone push back?”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45920"/>
            <a:ext cx="5257800" cy="35661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583680" y="196596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96596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80" y="1965960"/>
            <a:ext cx="3931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  <a:latin typeface="Arial"/>
              </a:rPr>
              <a:t>Chunk on speaker boundaries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17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A646E"/>
                </a:solidFill>
                <a:latin typeface="Arial"/>
              </a:rPr>
              <a:t>Pack whole turns into chunks. The naive cut every N characters slices sentences and speakers in half.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794760"/>
            <a:ext cx="4617720" cy="13716"/>
          </a:xfrm>
          <a:prstGeom prst="rect">
            <a:avLst/>
          </a:prstGeom>
          <a:solidFill>
            <a:srgbClr val="8996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3977639"/>
            <a:ext cx="46177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spc="130">
                <a:solidFill>
                  <a:srgbClr val="A51C30"/>
                </a:solidFill>
                <a:latin typeface="Arial"/>
              </a:rPr>
              <a:t>THE COST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1E1E1E"/>
                </a:solidFill>
                <a:latin typeface="Arial"/>
              </a:rPr>
              <a:t>A model reading chunk 3 has no memory of chunk 1. An analyst referring back forty minutes later loses the connection.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44068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19" y="5440680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Every context strategy trades away something. Knowing what you traded is the skill.</a:t>
            </a:r>
          </a:p>
        </p:txBody>
      </p: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801158" y="6446043"/>
            <a:ext cx="253492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0E90FEA-5192-42CD-A20B-F854B5F315CE}" type="slidenum">
              <a:rPr lang="en-US" sz="1000">
                <a:solidFill>
                  <a:srgbClr val="8996A0"/>
                </a:solidFill>
                <a:latin typeface="Arial"/>
              </a:rPr>
              <a:t>10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LIVE IN RSTUDIO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Script A: run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3611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06C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70432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426464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8C3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1680" y="17647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8996A0"/>
                </a:solidFill>
                <a:latin typeface="Arial"/>
              </a:rPr>
              <a:t>LIVE CODE STEP 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Stack every CSV, print the column names, and point out the shape: rows, not a blob.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Print the participants, run the Analyst / Company split, and find one it gets wrong.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14215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Print total characters and estimated tokens, then compare to the 8,000 token budget.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55464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Show the chunk table, then read one management turn and one analyst turn out loud.</a:t>
            </a:r>
          </a:p>
        </p:txBody>
      </p: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AB08198-2942-4B2A-8192-CA18BF2776A4}" type="slidenum">
              <a:rPr lang="en-US" sz="1000">
                <a:solidFill>
                  <a:srgbClr val="8996A0"/>
                </a:solidFill>
                <a:latin typeface="Arial"/>
              </a:rPr>
              <a:t>11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B  ·  FIN_B_macro_risk.R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Your first API call, and it needs no key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5257800" cy="1874519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Nothing to authenticate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78608"/>
            <a:ext cx="4709160" cy="685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Riskline publishes these alerts openly, so nothing can go wrong with a key. Script C adds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257800" cy="1874519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537959" y="192024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59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59" y="1920240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Check the status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578608"/>
            <a:ext cx="4709160" cy="685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A failed request still returns an object, just with no useful data. Skip the check and it breaks later, somewhere confusing.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49039"/>
            <a:ext cx="5257800" cy="1874519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14400" y="4023359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023359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023359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Read the shape, then write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81727"/>
            <a:ext cx="4709160" cy="685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Print names(alerts) before anything else. Real APIs rarely return what you assumed they would.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749039"/>
            <a:ext cx="5257800" cy="1874519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37959" y="4023359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59" y="4023359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59" y="4023359"/>
            <a:ext cx="40233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Do not assume the wrapper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4681727"/>
            <a:ext cx="4709160" cy="685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The API nests its results. Loop the fields, find the data frame, and report which one it was.</a:t>
            </a:r>
          </a:p>
        </p:txBody>
      </p:sp>
      <p:sp>
        <p:nvSpPr>
          <p:cNvPr id="24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5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7CA5C782-0364-4C5A-9D0E-F6C92D35F47E}" type="slidenum">
              <a:rPr lang="en-US" sz="1000">
                <a:solidFill>
                  <a:srgbClr val="8996A0"/>
                </a:solidFill>
                <a:latin typeface="Arial"/>
              </a:rPr>
              <a:t>12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1735"/>
            <a:ext cx="108813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200" b="1" spc="200" dirty="0">
                <a:solidFill>
                  <a:srgbClr val="A51C30"/>
                </a:solidFill>
                <a:latin typeface="Arial"/>
              </a:rPr>
              <a:t>Riskline API</a:t>
            </a:r>
            <a:endParaRPr sz="1200" b="1" spc="200" dirty="0">
              <a:solidFill>
                <a:srgbClr val="A51C30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Filtering is context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10881360" cy="137160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874519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spc="130">
                <a:solidFill>
                  <a:srgbClr val="8996A0"/>
                </a:solidFill>
                <a:latin typeface="Arial"/>
              </a:rPr>
              <a:t>THE FEED</a:t>
            </a:r>
          </a:p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dozens of 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874519"/>
            <a:ext cx="32918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spc="130">
                <a:solidFill>
                  <a:srgbClr val="8996A0"/>
                </a:solidFill>
                <a:latin typeface="Arial"/>
              </a:rPr>
              <a:t>THE FILTER</a:t>
            </a:r>
          </a:p>
          <a:p>
            <a:pPr algn="l"/>
            <a:r>
              <a:rPr sz="1600" b="1">
                <a:solidFill>
                  <a:srgbClr val="98C379"/>
                </a:solidFill>
                <a:latin typeface="Arial"/>
              </a:rPr>
              <a:t>COUNTRIES_OF_INTEREST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874519"/>
            <a:ext cx="2743200" cy="7309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 spc="130" dirty="0">
                <a:solidFill>
                  <a:srgbClr val="8996A0"/>
                </a:solidFill>
                <a:latin typeface="Arial"/>
              </a:rPr>
              <a:t>THE CONTEXT</a:t>
            </a:r>
          </a:p>
          <a:p>
            <a:pPr algn="l"/>
            <a:r>
              <a:rPr lang="en-US" sz="1600" b="1" dirty="0">
                <a:solidFill>
                  <a:srgbClr val="FFFFFF"/>
                </a:solidFill>
                <a:latin typeface="Arial"/>
              </a:rPr>
              <a:t>Usually about </a:t>
            </a:r>
            <a:r>
              <a:rPr sz="1600" b="1" dirty="0">
                <a:solidFill>
                  <a:srgbClr val="FFFFFF"/>
                </a:solidFill>
                <a:latin typeface="Arial"/>
              </a:rPr>
              <a:t>ten lines of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46120"/>
            <a:ext cx="3502152" cy="182880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295351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400" b="1" dirty="0">
                <a:solidFill>
                  <a:srgbClr val="1E1E1E"/>
                </a:solidFill>
                <a:latin typeface="Arial"/>
              </a:rPr>
              <a:t>If you send it all to the LLM you pay twice…</a:t>
            </a:r>
            <a:endParaRPr sz="1400" b="1" dirty="0">
              <a:solidFill>
                <a:srgbClr val="1E1E1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2953512" cy="641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You pay tokens for the </a:t>
            </a:r>
            <a:r>
              <a:rPr sz="1150" b="1" dirty="0">
                <a:solidFill>
                  <a:srgbClr val="5A646E"/>
                </a:solidFill>
                <a:latin typeface="Arial"/>
              </a:rPr>
              <a:t>irrelevant alerts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, 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&amp;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 they </a:t>
            </a:r>
            <a:r>
              <a:rPr sz="1150" b="1" dirty="0">
                <a:solidFill>
                  <a:srgbClr val="5A646E"/>
                </a:solidFill>
                <a:latin typeface="Arial"/>
              </a:rPr>
              <a:t>bury the relevant signal 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where the model may miss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3246120"/>
            <a:ext cx="3502152" cy="182880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08576" y="3520440"/>
            <a:ext cx="295351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E1E1E"/>
                </a:solidFill>
                <a:latin typeface="Arial"/>
              </a:rPr>
              <a:t>A model cannot read a data frame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4114800"/>
            <a:ext cx="2953512" cy="641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Context has to be text. </a:t>
            </a:r>
            <a:r>
              <a:rPr sz="1150" b="1" dirty="0">
                <a:solidFill>
                  <a:srgbClr val="5A646E"/>
                </a:solidFill>
                <a:latin typeface="Arial"/>
              </a:rPr>
              <a:t>Structured data must be rendered into prose 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lines before it can go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46120"/>
            <a:ext cx="3502152" cy="182880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02752" y="3520440"/>
            <a:ext cx="2953512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1E1E1E"/>
                </a:solidFill>
                <a:latin typeface="Arial"/>
              </a:rPr>
              <a:t>Compare the size</a:t>
            </a:r>
            <a:r>
              <a:rPr lang="en-US" sz="1400" b="1" dirty="0">
                <a:solidFill>
                  <a:srgbClr val="1E1E1E"/>
                </a:solidFill>
                <a:latin typeface="Arial"/>
              </a:rPr>
              <a:t> &amp; information </a:t>
            </a:r>
            <a:r>
              <a:rPr sz="1400" b="1" dirty="0">
                <a:solidFill>
                  <a:srgbClr val="1E1E1E"/>
                </a:solidFill>
                <a:latin typeface="Arial"/>
              </a:rPr>
              <a:t> to Script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4114800"/>
            <a:ext cx="2953512" cy="641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The 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API JSON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 is tiny, and it tells the model something no earnings call could contain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 because it very contemporary information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0352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5303520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High value, low cost. That combination is exactly what earns a place in a context window.</a:t>
            </a:r>
          </a:p>
        </p:txBody>
      </p:sp>
      <p:sp>
        <p:nvSpPr>
          <p:cNvPr id="2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F2674D19-2567-4057-94DB-9EE7C40EA405}" type="slidenum">
              <a:rPr lang="en-US" sz="1000">
                <a:solidFill>
                  <a:srgbClr val="8996A0"/>
                </a:solidFill>
                <a:latin typeface="Arial"/>
              </a:rPr>
              <a:t>13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  <p:sp>
        <p:nvSpPr>
          <p:cNvPr id="23" name="Triangle 22">
            <a:extLst>
              <a:ext uri="{FF2B5EF4-FFF2-40B4-BE49-F238E27FC236}">
                <a16:creationId xmlns:a16="http://schemas.microsoft.com/office/drawing/2014/main" id="{AA0E1F64-0766-FBA2-8947-B22A3686607B}"/>
              </a:ext>
            </a:extLst>
          </p:cNvPr>
          <p:cNvSpPr/>
          <p:nvPr/>
        </p:nvSpPr>
        <p:spPr>
          <a:xfrm rot="5400000">
            <a:off x="3233056" y="2090055"/>
            <a:ext cx="960122" cy="346166"/>
          </a:xfrm>
          <a:prstGeom prst="triangle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A6D0AB2F-C87E-DC98-C685-E904AE742F52}"/>
              </a:ext>
            </a:extLst>
          </p:cNvPr>
          <p:cNvSpPr/>
          <p:nvPr/>
        </p:nvSpPr>
        <p:spPr>
          <a:xfrm rot="5400000">
            <a:off x="7375288" y="2090055"/>
            <a:ext cx="960122" cy="346166"/>
          </a:xfrm>
          <a:prstGeom prst="triangle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E11CD9-56B8-5670-A73F-4BDE4A8BBE02}"/>
              </a:ext>
            </a:extLst>
          </p:cNvPr>
          <p:cNvSpPr txBox="1"/>
          <p:nvPr/>
        </p:nvSpPr>
        <p:spPr>
          <a:xfrm>
            <a:off x="465909" y="352611"/>
            <a:ext cx="10881360" cy="8617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  <a:latin typeface="Arial"/>
              </a:rPr>
              <a:t>Riskline is a service covering natural disaster, political and other impactful events </a:t>
            </a:r>
            <a:endParaRPr sz="2800" b="1" dirty="0">
              <a:solidFill>
                <a:srgbClr val="1E1E1E"/>
              </a:solidFill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87315A-AA5E-905A-F464-D35A4841D6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734" r="36611" b="52689"/>
          <a:stretch>
            <a:fillRect/>
          </a:stretch>
        </p:blipFill>
        <p:spPr>
          <a:xfrm>
            <a:off x="3620017" y="2111828"/>
            <a:ext cx="8038584" cy="337457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679CD7-D587-997C-6005-3D84B95DA775}"/>
              </a:ext>
            </a:extLst>
          </p:cNvPr>
          <p:cNvSpPr txBox="1"/>
          <p:nvPr/>
        </p:nvSpPr>
        <p:spPr>
          <a:xfrm>
            <a:off x="3620017" y="160036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https://api.riskline.com/alerts/latest.json`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9E6536E-3D27-ED85-FB60-09CD85E1A859}"/>
              </a:ext>
            </a:extLst>
          </p:cNvPr>
          <p:cNvSpPr/>
          <p:nvPr/>
        </p:nvSpPr>
        <p:spPr>
          <a:xfrm>
            <a:off x="813380" y="2355668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B2934F8-4721-2BBC-B497-BAA9CFCB8F28}"/>
              </a:ext>
            </a:extLst>
          </p:cNvPr>
          <p:cNvSpPr/>
          <p:nvPr/>
        </p:nvSpPr>
        <p:spPr>
          <a:xfrm>
            <a:off x="1718636" y="2675708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A1405E-B472-0DAE-DCD9-B377F1C8EE2A}"/>
              </a:ext>
            </a:extLst>
          </p:cNvPr>
          <p:cNvSpPr txBox="1"/>
          <p:nvPr/>
        </p:nvSpPr>
        <p:spPr>
          <a:xfrm>
            <a:off x="1718636" y="267570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0C182E-0E1D-7EE8-1BD7-68A0055D5AF2}"/>
              </a:ext>
            </a:extLst>
          </p:cNvPr>
          <p:cNvSpPr txBox="1"/>
          <p:nvPr/>
        </p:nvSpPr>
        <p:spPr>
          <a:xfrm>
            <a:off x="950540" y="34072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E1E1E"/>
                </a:solidFill>
                <a:latin typeface="Arial"/>
              </a:rPr>
              <a:t>Macro risk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A080ED-1BBD-1A49-1E77-1161B802265B}"/>
              </a:ext>
            </a:extLst>
          </p:cNvPr>
          <p:cNvSpPr txBox="1"/>
          <p:nvPr/>
        </p:nvSpPr>
        <p:spPr>
          <a:xfrm>
            <a:off x="996260" y="3910148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Live geopolitical alerts, no API key at all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602E03-238B-27DE-E01A-0ED1DACA8E1F}"/>
              </a:ext>
            </a:extLst>
          </p:cNvPr>
          <p:cNvSpPr txBox="1"/>
          <p:nvPr/>
        </p:nvSpPr>
        <p:spPr>
          <a:xfrm>
            <a:off x="2002100" y="6018865"/>
            <a:ext cx="7802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Since it is not authenticated, you can go to the site in your browser &amp; see it.</a:t>
            </a:r>
          </a:p>
        </p:txBody>
      </p:sp>
    </p:spTree>
    <p:extLst>
      <p:ext uri="{BB962C8B-B14F-4D97-AF65-F5344CB8AC3E}">
        <p14:creationId xmlns:p14="http://schemas.microsoft.com/office/powerpoint/2010/main" val="1608823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LIVE IN RSTUDIO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Script B: run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3611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06C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70432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426464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8C3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1680" y="17647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8996A0"/>
                </a:solidFill>
                <a:latin typeface="Arial"/>
              </a:rPr>
              <a:t>LIVE CODE STEP 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Make the request, check the status code, and print the field names before anything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Filter to the countries of interest and read out how much was kept.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14215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Build the context block, print it, and measure it in characters and tokens.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55464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Save macro_context.rds. API results are worth caching, local files are not.</a:t>
            </a:r>
          </a:p>
        </p:txBody>
      </p: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150B004-D42F-4B28-BEB1-AACC8BE955D1}" type="slidenum">
              <a:rPr lang="en-US" sz="1000">
                <a:solidFill>
                  <a:srgbClr val="8996A0"/>
                </a:solidFill>
                <a:latin typeface="Arial"/>
              </a:rPr>
              <a:t>15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C  ·  FIN_C_newsdataIO_company_news.R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A key is a password. Treat it like 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23444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19" y="1810512"/>
            <a:ext cx="10241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spc="20">
                <a:solidFill>
                  <a:srgbClr val="8996A0"/>
                </a:solidFill>
                <a:latin typeface="Arial"/>
              </a:rPr>
              <a:t># In the CONSOLE, never in the file: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spc="20">
                <a:solidFill>
                  <a:srgbClr val="F3F3F1"/>
                </a:solidFill>
                <a:latin typeface="Arial"/>
              </a:rPr>
              <a:t>Sys.setenv(NEWS_DATA_IO_API_KEY = "your_key_here")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 spc="20">
                <a:solidFill>
                  <a:srgbClr val="98C379"/>
                </a:solidFill>
                <a:latin typeface="Arial"/>
              </a:rPr>
              <a:t>api_key &lt;- Sys.getenv("NEWS_DATA_IO_API_KEY")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63240"/>
            <a:ext cx="3502152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3337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33756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The most common real mistake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5351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A key typed into a script that goes into a shared repo is a published password. People who know better do this constantly.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3063240"/>
            <a:ext cx="3502152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608576" y="3337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08576" y="3337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94376" y="333756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Print the length, not the key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3995928"/>
            <a:ext cx="2953512" cy="863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When debugging, print enough to confirm something loaded and nothing more. Never cat() a secret to a projector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 or recorded lesson!</a:t>
            </a:r>
            <a:endParaRPr sz="1150" b="0" dirty="0">
              <a:solidFill>
                <a:srgbClr val="5A646E"/>
              </a:solidFill>
              <a:latin typeface="Arial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28432" y="3063240"/>
            <a:ext cx="3502152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302752" y="333756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02752" y="3337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333756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Let the API explain itself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995928"/>
            <a:ext cx="2953512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401 the key was rejected. 429 you hit the daily limit. 422 a parameter your plan does not allow.</a:t>
            </a:r>
          </a:p>
        </p:txBody>
      </p:sp>
      <p:sp>
        <p:nvSpPr>
          <p:cNvPr id="2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2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BE92EC70-B1FD-45F4-AF63-F39198C742B1}" type="slidenum">
              <a:rPr lang="en-US" sz="1000">
                <a:solidFill>
                  <a:srgbClr val="8996A0"/>
                </a:solidFill>
                <a:latin typeface="Arial"/>
              </a:rPr>
              <a:t>16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C  ·  ASKING A PRECISE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A search API answers exactly what you ask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6675120" cy="82296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19" y="160020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spc="20">
                <a:solidFill>
                  <a:srgbClr val="F3F3F1"/>
                </a:solidFill>
                <a:latin typeface="Arial"/>
              </a:rP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52360" y="1600200"/>
            <a:ext cx="411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A51C30"/>
                </a:solidFill>
                <a:latin typeface="Arial"/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915500"/>
            <a:ext cx="3520440" cy="192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dirty="0">
                <a:solidFill>
                  <a:srgbClr val="5A646E"/>
                </a:solidFill>
                <a:latin typeface="Arial"/>
              </a:rPr>
              <a:t>Few results. A ticker rarely appears in prose.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32888"/>
            <a:ext cx="6675120" cy="82296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19" y="2532888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spc="20">
                <a:solidFill>
                  <a:srgbClr val="F3F3F1"/>
                </a:solidFill>
                <a:latin typeface="Arial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532888"/>
            <a:ext cx="411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A51C30"/>
                </a:solidFill>
                <a:latin typeface="Arial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532888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The fruit, Apple Records, apple pie recipes.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65576"/>
            <a:ext cx="6675120" cy="82296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19" y="3465576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spc="20">
                <a:solidFill>
                  <a:srgbClr val="F3F3F1"/>
                </a:solidFill>
                <a:latin typeface="Arial"/>
              </a:rPr>
              <a:t>"Apple" AND (earnings OR revenue OR stock OR shares OR analyst)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465576"/>
            <a:ext cx="411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7D4F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465576"/>
            <a:ext cx="35204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The company, in a financial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A646E"/>
                </a:solidFill>
                <a:latin typeface="Arial"/>
              </a:rPr>
              <a:t>Quotation marks force an exact phrase. AND requires both terms. Together they make the story be about the business.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37760"/>
            <a:ext cx="10881360" cy="941832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60119" y="5138928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20">
                <a:solidFill>
                  <a:srgbClr val="A51C30"/>
                </a:solidFill>
                <a:latin typeface="Arial"/>
              </a:rPr>
              <a:t>THEN FILTER FOR RELEVANCE, AND READ WHAT YOU DROPPED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5504688"/>
            <a:ext cx="10241280" cy="2254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rgbClr val="1E1E1E"/>
                </a:solidFill>
                <a:latin typeface="Arial"/>
              </a:rPr>
              <a:t>Even a careful query returns strays. Sometimes the filter caught junk. </a:t>
            </a:r>
          </a:p>
        </p:txBody>
      </p:sp>
      <p:sp>
        <p:nvSpPr>
          <p:cNvPr id="20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1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372266A-A2C5-479E-A0BC-E5A259D5702A}" type="slidenum">
              <a:rPr lang="en-US" sz="1000">
                <a:solidFill>
                  <a:srgbClr val="8996A0"/>
                </a:solidFill>
                <a:latin typeface="Arial"/>
              </a:rPr>
              <a:t>17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C  ·  THE LIMITATION YOU MUST KNOW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112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1E1E1E"/>
                </a:solidFill>
                <a:latin typeface="Arial"/>
              </a:rPr>
              <a:t>Know what your </a:t>
            </a:r>
            <a:r>
              <a:rPr lang="en-US" sz="2800" b="1" dirty="0" err="1">
                <a:solidFill>
                  <a:srgbClr val="1E1E1E"/>
                </a:solidFill>
                <a:latin typeface="Arial"/>
              </a:rPr>
              <a:t>newsdata.io</a:t>
            </a:r>
            <a:r>
              <a:rPr lang="en-US" sz="2800" b="1" dirty="0">
                <a:solidFill>
                  <a:srgbClr val="1E1E1E"/>
                </a:solidFill>
                <a:latin typeface="Arial"/>
              </a:rPr>
              <a:t> </a:t>
            </a:r>
            <a:r>
              <a:rPr sz="2800" b="1" dirty="0">
                <a:solidFill>
                  <a:srgbClr val="1E1E1E"/>
                </a:solidFill>
                <a:latin typeface="Arial"/>
              </a:rPr>
              <a:t>plan actually returns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81978"/>
            <a:ext cx="4023360" cy="2194560"/>
          </a:xfrm>
          <a:prstGeom prst="roundRect">
            <a:avLst>
              <a:gd name="adj" fmla="val 35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64858"/>
            <a:ext cx="40233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19" y="3370698"/>
            <a:ext cx="3383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0D5D9"/>
                </a:solidFill>
                <a:latin typeface="Arial"/>
              </a:rPr>
              <a:t>characters of article text on the free plan. The content field is just a paid-plan placeholder.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227698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1E1E1E"/>
                </a:solidFill>
                <a:latin typeface="Arial"/>
              </a:rPr>
              <a:t>That is the API telling you exactly how much it withheld.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730618"/>
            <a:ext cx="6400799" cy="493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dirty="0">
                <a:solidFill>
                  <a:srgbClr val="5A646E"/>
                </a:solidFill>
                <a:latin typeface="Arial"/>
              </a:rPr>
              <a:t>So per article you have a headline and a one line description. Enough to know WHAT happened. Not enough to </a:t>
            </a:r>
            <a:r>
              <a:rPr sz="1300" b="0" dirty="0" err="1">
                <a:solidFill>
                  <a:srgbClr val="5A646E"/>
                </a:solidFill>
                <a:latin typeface="Arial"/>
              </a:rPr>
              <a:t>analyse</a:t>
            </a:r>
            <a:r>
              <a:rPr sz="1300" b="0" dirty="0">
                <a:solidFill>
                  <a:srgbClr val="5A646E"/>
                </a:solidFill>
                <a:latin typeface="Arial"/>
              </a:rPr>
              <a:t> HOW it was reported.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8822" y="5019247"/>
            <a:ext cx="11142617" cy="1133365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8862" y="5247847"/>
            <a:ext cx="46177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chemeClr val="bg1"/>
                </a:solidFill>
                <a:latin typeface="Arial"/>
              </a:rPr>
              <a:t>News gives you breadth</a:t>
            </a:r>
            <a:r>
              <a:rPr lang="en-US" sz="1500" b="1" dirty="0">
                <a:solidFill>
                  <a:schemeClr val="bg1"/>
                </a:solidFill>
                <a:latin typeface="Arial"/>
              </a:rPr>
              <a:t> &amp; depth</a:t>
            </a:r>
            <a:endParaRPr sz="1500" b="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98862" y="5705047"/>
            <a:ext cx="4617720" cy="2254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dirty="0">
                <a:solidFill>
                  <a:schemeClr val="bg1"/>
                </a:solidFill>
                <a:latin typeface="Arial"/>
              </a:rPr>
              <a:t>Many sources, current events, dated and attributed.</a:t>
            </a:r>
          </a:p>
        </p:txBody>
      </p:sp>
      <p:sp>
        <p:nvSpPr>
          <p:cNvPr id="17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8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9EEFACE-57D4-432A-BA68-6C10AD13F06B}" type="slidenum">
              <a:rPr lang="en-US" sz="1000">
                <a:solidFill>
                  <a:srgbClr val="8996A0"/>
                </a:solidFill>
                <a:latin typeface="Arial"/>
              </a:rPr>
              <a:t>18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C  ·  THE PATTERN WORTH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88669"/>
            <a:ext cx="10881360" cy="8617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  <a:latin typeface="Arial"/>
              </a:rPr>
              <a:t>So we extend the pipeline from the </a:t>
            </a:r>
            <a:r>
              <a:rPr lang="en-US" sz="2800" b="1" dirty="0" err="1">
                <a:solidFill>
                  <a:srgbClr val="1E1E1E"/>
                </a:solidFill>
                <a:latin typeface="Arial"/>
              </a:rPr>
              <a:t>newsdata.io</a:t>
            </a:r>
            <a:r>
              <a:rPr lang="en-US" sz="2800" b="1" dirty="0">
                <a:solidFill>
                  <a:srgbClr val="1E1E1E"/>
                </a:solidFill>
                <a:latin typeface="Arial"/>
              </a:rPr>
              <a:t> API to know what to search and use another to get more information.  </a:t>
            </a:r>
            <a:endParaRPr sz="2800" b="1" dirty="0">
              <a:solidFill>
                <a:srgbClr val="1E1E1E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2377440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9202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E1E1E"/>
                </a:solidFill>
                <a:latin typeface="Arial"/>
              </a:rPr>
              <a:t>newsdata.io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011680" cy="617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Structured 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&amp;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 cheap. What happened, and who reported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484632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8996A0"/>
                </a:solidFill>
                <a:latin typeface="Arial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1645920"/>
            <a:ext cx="2377440" cy="21488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85032" y="19202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1E1E1E"/>
                </a:solidFill>
                <a:latin typeface="Arial"/>
              </a:rPr>
              <a:t>Your headlines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2606040"/>
            <a:ext cx="2011680" cy="617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1150" dirty="0">
                <a:solidFill>
                  <a:srgbClr val="5A646E"/>
                </a:solidFill>
                <a:latin typeface="Arial"/>
              </a:rPr>
              <a:t>R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eal stories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 identified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, named in the prompt, so the model </a:t>
            </a:r>
            <a:r>
              <a:rPr lang="en-US" sz="1150" dirty="0">
                <a:solidFill>
                  <a:srgbClr val="5A646E"/>
                </a:solidFill>
                <a:latin typeface="Arial"/>
              </a:rPr>
              <a:t>searches specifically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1645920"/>
            <a:ext cx="484632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8996A0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645920"/>
            <a:ext cx="2377440" cy="214884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47104" y="19202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perplexity/sonar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606040"/>
            <a:ext cx="2011680" cy="617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dirty="0">
                <a:solidFill>
                  <a:srgbClr val="F3F3F1"/>
                </a:solidFill>
                <a:latin typeface="Arial"/>
              </a:rPr>
              <a:t>Searches</a:t>
            </a:r>
            <a:r>
              <a:rPr lang="en-US" sz="1150" b="0" dirty="0">
                <a:solidFill>
                  <a:srgbClr val="F3F3F1"/>
                </a:solidFill>
                <a:latin typeface="Arial"/>
              </a:rPr>
              <a:t> the web</a:t>
            </a:r>
            <a:r>
              <a:rPr sz="1150" b="0" dirty="0">
                <a:solidFill>
                  <a:srgbClr val="F3F3F1"/>
                </a:solidFill>
                <a:latin typeface="Arial"/>
              </a:rPr>
              <a:t>, reads the actual pages, </a:t>
            </a:r>
            <a:r>
              <a:rPr lang="en-US" sz="1150" b="0" dirty="0">
                <a:solidFill>
                  <a:srgbClr val="F3F3F1"/>
                </a:solidFill>
                <a:latin typeface="Arial"/>
              </a:rPr>
              <a:t>&amp;</a:t>
            </a:r>
            <a:r>
              <a:rPr sz="1150" b="0" dirty="0">
                <a:solidFill>
                  <a:srgbClr val="F3F3F1"/>
                </a:solidFill>
                <a:latin typeface="Arial"/>
              </a:rPr>
              <a:t> </a:t>
            </a:r>
            <a:r>
              <a:rPr lang="en-US" sz="1150" b="0" dirty="0">
                <a:solidFill>
                  <a:srgbClr val="F3F3F1"/>
                </a:solidFill>
                <a:latin typeface="Arial"/>
              </a:rPr>
              <a:t>summarizes</a:t>
            </a:r>
            <a:r>
              <a:rPr sz="1150" b="0" dirty="0">
                <a:solidFill>
                  <a:srgbClr val="F3F3F1"/>
                </a:solidFill>
                <a:latin typeface="Arial"/>
              </a:rPr>
              <a:t>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41664" y="1645920"/>
            <a:ext cx="484632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>
                <a:solidFill>
                  <a:srgbClr val="8996A0"/>
                </a:solidFill>
                <a:latin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26296" y="1645920"/>
            <a:ext cx="2377440" cy="214884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09176" y="192024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rial"/>
              </a:rPr>
              <a:t>Briefing +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2606040"/>
            <a:ext cx="2011680" cy="617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dirty="0">
                <a:solidFill>
                  <a:srgbClr val="F3F3F1"/>
                </a:solidFill>
                <a:latin typeface="Arial"/>
              </a:rPr>
              <a:t>Facts, figures, what is disputed, and a numbered citation list</a:t>
            </a:r>
            <a:r>
              <a:rPr lang="en-US" sz="1150" b="0" dirty="0">
                <a:solidFill>
                  <a:srgbClr val="F3F3F1"/>
                </a:solidFill>
                <a:latin typeface="Arial"/>
              </a:rPr>
              <a:t> are all returned</a:t>
            </a:r>
            <a:r>
              <a:rPr sz="1150" b="0" dirty="0">
                <a:solidFill>
                  <a:srgbClr val="F3F3F1"/>
                </a:solidFill>
                <a:latin typeface="Arial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23360"/>
            <a:ext cx="3502152" cy="16916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279392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Still a language task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73168"/>
            <a:ext cx="29535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It is reading and summarizing. It is not being asked to invent facts or compute anything.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4256" y="4023360"/>
            <a:ext cx="3502152" cy="16916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08576" y="4279392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Cited, so checkable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4773168"/>
            <a:ext cx="2953512" cy="863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A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n ungrounded 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model answers from a training cutoff and gives you no way to verify. </a:t>
            </a:r>
            <a:r>
              <a:rPr lang="en-US" sz="1150" b="1" dirty="0">
                <a:solidFill>
                  <a:srgbClr val="5A646E"/>
                </a:solidFill>
                <a:latin typeface="Arial"/>
              </a:rPr>
              <a:t>Perplexity will search the web similar to </a:t>
            </a:r>
            <a:r>
              <a:rPr lang="en-US" sz="1150" b="1" dirty="0" err="1">
                <a:solidFill>
                  <a:srgbClr val="5A646E"/>
                </a:solidFill>
                <a:latin typeface="Arial"/>
              </a:rPr>
              <a:t>google’s</a:t>
            </a:r>
            <a:r>
              <a:rPr lang="en-US" sz="1150" b="1" dirty="0">
                <a:solidFill>
                  <a:srgbClr val="5A646E"/>
                </a:solidFill>
                <a:latin typeface="Arial"/>
              </a:rPr>
              <a:t> AI Overview</a:t>
            </a:r>
            <a:endParaRPr sz="1150" b="1" dirty="0">
              <a:solidFill>
                <a:srgbClr val="5A646E"/>
              </a:solidFill>
              <a:latin typeface="Arial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28432" y="4023360"/>
            <a:ext cx="3502152" cy="169164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02752" y="4279392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Provenance, not just facts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773168"/>
            <a:ext cx="2953512" cy="641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dirty="0">
                <a:solidFill>
                  <a:srgbClr val="5A646E"/>
                </a:solidFill>
                <a:latin typeface="Arial"/>
              </a:rPr>
              <a:t>Every line carries its source </a:t>
            </a:r>
            <a:r>
              <a:rPr lang="en-US" sz="1150" b="0" dirty="0">
                <a:solidFill>
                  <a:srgbClr val="5A646E"/>
                </a:solidFill>
                <a:latin typeface="Arial"/>
              </a:rPr>
              <a:t>&amp;</a:t>
            </a:r>
            <a:r>
              <a:rPr sz="1150" b="0" dirty="0">
                <a:solidFill>
                  <a:srgbClr val="5A646E"/>
                </a:solidFill>
                <a:latin typeface="Arial"/>
              </a:rPr>
              <a:t> date. The model cannot judge Reuters against a blog unless you tell it.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Cost of the search model: roughly $1 per million tokens, search included.</a:t>
            </a:r>
          </a:p>
        </p:txBody>
      </p:sp>
      <p:sp>
        <p:nvSpPr>
          <p:cNvPr id="29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0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4CFDFC9F-1362-4F6C-AECC-4FE02B00C552}" type="slidenum">
              <a:rPr lang="en-US" sz="1000">
                <a:solidFill>
                  <a:srgbClr val="8996A0"/>
                </a:solidFill>
                <a:latin typeface="Arial"/>
              </a:rPr>
              <a:t>19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57DED-9036-EF82-FFEC-955DDC539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F0144C1-F971-0BD0-7146-D7177C89ECD2}"/>
              </a:ext>
            </a:extLst>
          </p:cNvPr>
          <p:cNvSpPr txBox="1"/>
          <p:nvPr/>
        </p:nvSpPr>
        <p:spPr>
          <a:xfrm>
            <a:off x="465909" y="324075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  <a:latin typeface="Arial"/>
              </a:rPr>
              <a:t>Make sure you sign up at </a:t>
            </a:r>
            <a:r>
              <a:rPr lang="en-US" sz="2400" b="1" dirty="0" err="1">
                <a:solidFill>
                  <a:srgbClr val="FF0000"/>
                </a:solidFill>
                <a:latin typeface="Arial"/>
              </a:rPr>
              <a:t>newsdata.io</a:t>
            </a:r>
            <a:r>
              <a:rPr lang="en-US" sz="2800" b="1" dirty="0">
                <a:solidFill>
                  <a:srgbClr val="1E1E1E"/>
                </a:solidFill>
                <a:latin typeface="Arial"/>
              </a:rPr>
              <a:t> &amp; have explored perplexity.</a:t>
            </a:r>
            <a:endParaRPr sz="2800" b="1" dirty="0">
              <a:solidFill>
                <a:srgbClr val="1E1E1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55157E-AB0F-6529-2349-5AA5EB8618A6}"/>
              </a:ext>
            </a:extLst>
          </p:cNvPr>
          <p:cNvSpPr txBox="1"/>
          <p:nvPr/>
        </p:nvSpPr>
        <p:spPr>
          <a:xfrm>
            <a:off x="177299" y="5981927"/>
            <a:ext cx="114585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News headline API points us in a specific direction to focus on newsworthy stories from reputable sources, thereby avoiding blogs &amp; slop.  Then we use that information to perform a search &amp; summary with perplexity.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A6824B9-20EA-95E0-A407-43C82D6EA956}"/>
              </a:ext>
            </a:extLst>
          </p:cNvPr>
          <p:cNvSpPr/>
          <p:nvPr/>
        </p:nvSpPr>
        <p:spPr>
          <a:xfrm>
            <a:off x="268224" y="2194560"/>
            <a:ext cx="2377440" cy="2468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700E49B-49AB-9421-4DE9-B1C016507AC7}"/>
              </a:ext>
            </a:extLst>
          </p:cNvPr>
          <p:cNvSpPr/>
          <p:nvPr/>
        </p:nvSpPr>
        <p:spPr>
          <a:xfrm>
            <a:off x="1173480" y="2514600"/>
            <a:ext cx="566928" cy="566928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6EAF01-2C2A-98DB-311A-E2A8A5B55C3A}"/>
              </a:ext>
            </a:extLst>
          </p:cNvPr>
          <p:cNvSpPr txBox="1"/>
          <p:nvPr/>
        </p:nvSpPr>
        <p:spPr>
          <a:xfrm>
            <a:off x="1173480" y="251460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E87379-DBC8-032B-7E7E-E1CB4C5C5276}"/>
              </a:ext>
            </a:extLst>
          </p:cNvPr>
          <p:cNvSpPr txBox="1"/>
          <p:nvPr/>
        </p:nvSpPr>
        <p:spPr>
          <a:xfrm>
            <a:off x="405384" y="324612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Company news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7E73D0-EC1D-827F-E202-7886D43C5EA5}"/>
              </a:ext>
            </a:extLst>
          </p:cNvPr>
          <p:cNvSpPr txBox="1"/>
          <p:nvPr/>
        </p:nvSpPr>
        <p:spPr>
          <a:xfrm>
            <a:off x="451104" y="3749040"/>
            <a:ext cx="2011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Headlines, then a search model that cites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A5B5454-F451-803D-AB10-72501C97C9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115" t="34978" r="22269" b="26470"/>
          <a:stretch>
            <a:fillRect/>
          </a:stretch>
        </p:blipFill>
        <p:spPr>
          <a:xfrm>
            <a:off x="7861663" y="1198762"/>
            <a:ext cx="3156857" cy="187275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D6722E5-9BB2-5500-B5E3-BE325740D9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950" t="8320" r="30111" b="11905"/>
          <a:stretch>
            <a:fillRect/>
          </a:stretch>
        </p:blipFill>
        <p:spPr>
          <a:xfrm>
            <a:off x="8166340" y="3189514"/>
            <a:ext cx="2547501" cy="2764971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EB151E1-46B1-19BA-ED09-F51FB74BB0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77" r="23363" b="24588"/>
          <a:stretch>
            <a:fillRect/>
          </a:stretch>
        </p:blipFill>
        <p:spPr>
          <a:xfrm>
            <a:off x="3167600" y="2317428"/>
            <a:ext cx="4172127" cy="2137954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610233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LIVE IN RSTUDIO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Script C: run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3611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06C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70432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426464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8C3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1680" y="17647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8996A0"/>
                </a:solidFill>
                <a:latin typeface="Arial"/>
              </a:rPr>
              <a:t>LIVE CODE STEP 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Confirm the key loaded by printing its length, then show the assembled query string.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Print the headline table, then print one content field and see it is a paid-plan placeholder, not the article text.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14215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Run the relevance filter and read the dropped headlines out loud. Was it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55464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Send six headlines to perplexity/sonar, read the briefing, then read the citation list.</a:t>
            </a:r>
          </a:p>
        </p:txBody>
      </p: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347C841F-C88D-45AA-90B4-452D4B90F321}" type="slidenum">
              <a:rPr lang="en-US" sz="1000">
                <a:solidFill>
                  <a:srgbClr val="8996A0"/>
                </a:solidFill>
                <a:latin typeface="Arial"/>
              </a:rPr>
              <a:t>21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D  ·  THE SAME TRICK, ON FILE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112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dirty="0">
                <a:solidFill>
                  <a:srgbClr val="1E1E1E"/>
                </a:solidFill>
                <a:latin typeface="Arial"/>
              </a:rPr>
              <a:t>Find the right </a:t>
            </a:r>
            <a:r>
              <a:rPr lang="en-US" sz="2800" b="1" dirty="0">
                <a:solidFill>
                  <a:srgbClr val="1E1E1E"/>
                </a:solidFill>
                <a:latin typeface="Arial"/>
              </a:rPr>
              <a:t>earnings </a:t>
            </a:r>
            <a:r>
              <a:rPr sz="2800" b="1" dirty="0">
                <a:solidFill>
                  <a:srgbClr val="1E1E1E"/>
                </a:solidFill>
                <a:latin typeface="Arial"/>
              </a:rPr>
              <a:t>call without opening a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1887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19" y="1810512"/>
            <a:ext cx="102412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 spc="20">
                <a:solidFill>
                  <a:srgbClr val="F3F3F1"/>
                </a:solidFill>
                <a:latin typeface="Arial"/>
              </a:rPr>
              <a:t>AAPL_2026-05-01.csv        MSFT_2025-10-29.csv        BRK.B_2026-02-24.csv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50" b="0" spc="20">
                <a:solidFill>
                  <a:srgbClr val="98C379"/>
                </a:solidFill>
                <a:latin typeface="Arial"/>
              </a:rPr>
              <a:t>newest_idx &lt;- order(file_dates, decreasing = TRUE)[1]   # ISO again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606040" cy="21945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14400" y="32461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2461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Everything is in the 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04487"/>
            <a:ext cx="2057400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Symbol and date both live in the file name, so we can list every available call without reading anything.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971800"/>
            <a:ext cx="2606040" cy="21945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703320" y="32461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3320" y="32461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2461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Prefix match, not regex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3904487"/>
            <a:ext cx="2057400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Tickers like BRK.B contain regex wildcards. The underscore also stops “A” matching AAPL_ and “ALL” matching ALLY_.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2606040" cy="21945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92240" y="32461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2461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2461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Sort the dates as 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04487"/>
            <a:ext cx="2057400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Strip the prefix and the .csv and you have a plain ISO string. Descending order gives you the newest.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39" y="2971800"/>
            <a:ext cx="2606040" cy="219456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81159" y="324612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81159" y="324612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59" y="32461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1E1E1E"/>
                </a:solidFill>
                <a:latin typeface="Arial"/>
              </a:rPr>
              <a:t>Open one file, not hundreds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59" y="3904487"/>
            <a:ext cx="2057400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5A646E"/>
                </a:solidFill>
                <a:latin typeface="Arial"/>
              </a:rPr>
              <a:t>We never read a file we are not going to use. The archive can grow without the script getting slower.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394960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19" y="5394960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Name your files in ISO 8601 and the file system sorts your history for you, for free.</a:t>
            </a:r>
          </a:p>
        </p:txBody>
      </p:sp>
      <p:sp>
        <p:nvSpPr>
          <p:cNvPr id="28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9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5988FF84-E674-40BA-B397-9D804F24D354}" type="slidenum">
              <a:rPr lang="en-US" sz="1000">
                <a:solidFill>
                  <a:srgbClr val="8996A0"/>
                </a:solidFill>
                <a:latin typeface="Arial"/>
              </a:rPr>
              <a:t>22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D  ·  FIN_D_build_context.R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112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  <a:latin typeface="Arial"/>
              </a:rPr>
              <a:t>Context </a:t>
            </a:r>
            <a:r>
              <a:rPr lang="en-US" sz="2800" b="1" dirty="0" err="1">
                <a:solidFill>
                  <a:srgbClr val="1E1E1E"/>
                </a:solidFill>
                <a:latin typeface="Arial"/>
              </a:rPr>
              <a:t>Enginering</a:t>
            </a:r>
            <a:r>
              <a:rPr lang="en-US" sz="2800" b="1" dirty="0">
                <a:solidFill>
                  <a:srgbClr val="1E1E1E"/>
                </a:solidFill>
                <a:latin typeface="Arial"/>
              </a:rPr>
              <a:t>: </a:t>
            </a:r>
            <a:r>
              <a:rPr sz="2800" b="1" dirty="0">
                <a:solidFill>
                  <a:srgbClr val="1E1E1E"/>
                </a:solidFill>
                <a:latin typeface="Arial"/>
              </a:rPr>
              <a:t>Order </a:t>
            </a:r>
            <a:r>
              <a:rPr lang="en-US" sz="2800" b="1" dirty="0">
                <a:solidFill>
                  <a:srgbClr val="1E1E1E"/>
                </a:solidFill>
                <a:latin typeface="Arial"/>
              </a:rPr>
              <a:t>&amp;</a:t>
            </a:r>
            <a:r>
              <a:rPr sz="2800" b="1" dirty="0">
                <a:solidFill>
                  <a:srgbClr val="1E1E1E"/>
                </a:solidFill>
                <a:latin typeface="Arial"/>
              </a:rPr>
              <a:t> labels do real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6126480" cy="676656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55778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">
                <a:solidFill>
                  <a:srgbClr val="FFFFFF"/>
                </a:solidFill>
                <a:latin typeface="Arial"/>
              </a:rPr>
              <a:t>=== PRIMARY SOURCE: COMPANY STATEMENTS ===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1572768"/>
            <a:ext cx="45262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Earnings call excerpt, management turns only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50008"/>
            <a:ext cx="6126480" cy="676656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50008"/>
            <a:ext cx="55778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">
                <a:solidFill>
                  <a:srgbClr val="FFFFFF"/>
                </a:solidFill>
                <a:latin typeface="Arial"/>
              </a:rPr>
              <a:t>=== SECONDARY SOURCE: PRESS COVERAGE ===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350008"/>
            <a:ext cx="45262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Headlines plus the enriched briefing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6126480" cy="676656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127248"/>
            <a:ext cx="55778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">
                <a:solidFill>
                  <a:srgbClr val="FFFFFF"/>
                </a:solidFill>
                <a:latin typeface="Arial"/>
              </a:rPr>
              <a:t>=== ENVIRONMENT: MACRO RISK ===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127248"/>
            <a:ext cx="45262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Filtered Riskline alerts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04487"/>
            <a:ext cx="6126480" cy="676656"/>
          </a:xfrm>
          <a:prstGeom prst="roundRect">
            <a:avLst>
              <a:gd name="adj" fmla="val 35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904487"/>
            <a:ext cx="557784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">
                <a:solidFill>
                  <a:srgbClr val="FFFFFF"/>
                </a:solidFill>
                <a:latin typeface="Arial"/>
              </a:rPr>
              <a:t>=== QUESTION ===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3904487"/>
            <a:ext cx="452628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5A646E"/>
                </a:solidFill>
                <a:latin typeface="Arial"/>
              </a:rPr>
              <a:t>Four things we want the model to address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09160"/>
            <a:ext cx="3502152" cy="132588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919472"/>
            <a:ext cx="29900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E1E1E"/>
                </a:solidFill>
                <a:latin typeface="Arial"/>
              </a:rPr>
              <a:t>Beginnings and ends get the most weight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349240"/>
            <a:ext cx="29900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46E"/>
                </a:solidFill>
                <a:latin typeface="Arial"/>
              </a:rPr>
              <a:t>Models attend unevenly across a long input, so the primary source goes first and the question goes last.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4709160"/>
            <a:ext cx="3502152" cy="132588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90288" y="4919472"/>
            <a:ext cx="29900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E1E1E"/>
                </a:solidFill>
                <a:latin typeface="Arial"/>
              </a:rPr>
              <a:t>Without headers, sources blur together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5349240"/>
            <a:ext cx="29900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46E"/>
                </a:solidFill>
                <a:latin typeface="Arial"/>
              </a:rPr>
              <a:t>The model cannot tell where a company's own claims end and a journalist's summary begins unless you say so.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8432" y="4709160"/>
            <a:ext cx="3502152" cy="132588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4919472"/>
            <a:ext cx="299008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E1E1E"/>
                </a:solidFill>
                <a:latin typeface="Arial"/>
              </a:rPr>
              <a:t>Look at the proportions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5349240"/>
            <a:ext cx="29900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5A646E"/>
                </a:solidFill>
                <a:latin typeface="Arial"/>
              </a:rPr>
              <a:t>Which source is eating your window? Is it the one you trust most? Those two answers often do not match.</a:t>
            </a:r>
          </a:p>
        </p:txBody>
      </p:sp>
      <p:sp>
        <p:nvSpPr>
          <p:cNvPr id="2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6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4E2EF6B-C835-459D-9A93-115E849E6D26}" type="slidenum">
              <a:rPr lang="en-US" sz="1000">
                <a:solidFill>
                  <a:srgbClr val="8996A0"/>
                </a:solidFill>
                <a:latin typeface="Arial"/>
              </a:rPr>
              <a:t>23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D  ·  THE SYSTEM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The context is the material. This is the instruction.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6949440" cy="566928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1247" y="1709928"/>
            <a:ext cx="347472" cy="347472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709928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5943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E1E1E"/>
                </a:solidFill>
                <a:latin typeface="Arial"/>
              </a:rPr>
              <a:t>Use only the provided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21992"/>
            <a:ext cx="6949440" cy="566928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7" y="2331720"/>
            <a:ext cx="347472" cy="347472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2331720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221992"/>
            <a:ext cx="5943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E1E1E"/>
                </a:solidFill>
                <a:latin typeface="Arial"/>
              </a:rPr>
              <a:t>Attribute every claim to its 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43784"/>
            <a:ext cx="6949440" cy="566928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41247" y="2953512"/>
            <a:ext cx="347472" cy="347472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843784"/>
            <a:ext cx="5943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E1E1E"/>
                </a:solidFill>
                <a:latin typeface="Arial"/>
              </a:rPr>
              <a:t>Separate what the company asserts from what others report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65576"/>
            <a:ext cx="6949440" cy="566928"/>
          </a:xfrm>
          <a:prstGeom prst="roundRect">
            <a:avLst>
              <a:gd name="adj" fmla="val 35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7" y="3575304"/>
            <a:ext cx="347472" cy="34747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3575304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A51C3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3465576"/>
            <a:ext cx="5943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If the sources do not answer, say so plainly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87368"/>
            <a:ext cx="6949440" cy="566928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4197096"/>
            <a:ext cx="347472" cy="347472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4197096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4087368"/>
            <a:ext cx="5943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E1E1E"/>
                </a:solidFill>
                <a:latin typeface="Arial"/>
              </a:rPr>
              <a:t>No investment advice, no buy or sell 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709160"/>
            <a:ext cx="6949440" cy="566928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41247" y="4818888"/>
            <a:ext cx="347472" cy="347472"/>
          </a:xfrm>
          <a:prstGeom prst="roundRect">
            <a:avLst>
              <a:gd name="adj" fmla="val 160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4818888"/>
            <a:ext cx="34747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19" y="4709160"/>
            <a:ext cx="5943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>
                <a:solidFill>
                  <a:srgbClr val="1E1E1E"/>
                </a:solidFill>
                <a:latin typeface="Arial"/>
              </a:rPr>
              <a:t>Be concise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55279" y="1600200"/>
            <a:ext cx="3566160" cy="3675887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0" y="182880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rial"/>
              </a:rPr>
              <a:t>Rule 4 is the 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331720"/>
            <a:ext cx="3017520" cy="2049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dirty="0">
                <a:solidFill>
                  <a:srgbClr val="F3F3F1"/>
                </a:solidFill>
                <a:latin typeface="Arial"/>
              </a:rPr>
              <a:t>Most people leave it out, and it is the one doing the real work. A model asked a question it cannot answer from the context will usually answer anyway.
Delete this line, re-run, and watch it start filling gaps.</a:t>
            </a:r>
            <a:r>
              <a:rPr lang="en-US" sz="1250" b="0" dirty="0">
                <a:solidFill>
                  <a:srgbClr val="F3F3F1"/>
                </a:solidFill>
                <a:latin typeface="Arial"/>
              </a:rPr>
              <a:t>  </a:t>
            </a:r>
            <a:r>
              <a:rPr lang="en-US" sz="1250" b="0" i="1" dirty="0">
                <a:solidFill>
                  <a:schemeClr val="accent1"/>
                </a:solidFill>
                <a:latin typeface="Arial"/>
              </a:rPr>
              <a:t>It does not work 100% of th</a:t>
            </a:r>
            <a:r>
              <a:rPr lang="en-US" sz="1250" i="1" dirty="0">
                <a:solidFill>
                  <a:schemeClr val="accent1"/>
                </a:solidFill>
                <a:latin typeface="Arial"/>
              </a:rPr>
              <a:t>e time but it will help.</a:t>
            </a:r>
            <a:endParaRPr sz="1250" b="0" i="1" dirty="0">
              <a:solidFill>
                <a:schemeClr val="accent1"/>
              </a:solidFill>
              <a:latin typeface="Arial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40080" y="5468112"/>
            <a:ext cx="10881360" cy="566928"/>
          </a:xfrm>
          <a:prstGeom prst="roundRect">
            <a:avLst>
              <a:gd name="adj" fmla="val 8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60119" y="5468112"/>
            <a:ext cx="10241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It still does not always work. Models are trained to be helpful and will state a fabricated fact confidently.</a:t>
            </a:r>
          </a:p>
        </p:txBody>
      </p:sp>
      <p:sp>
        <p:nvSpPr>
          <p:cNvPr id="33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4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88D7B2B2-DBE1-46D6-A1CB-FEC14CFEB023}" type="slidenum">
              <a:rPr lang="en-US" sz="1000">
                <a:solidFill>
                  <a:srgbClr val="8996A0"/>
                </a:solidFill>
                <a:latin typeface="Arial"/>
              </a:rPr>
              <a:t>24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SCRIPT D  ·  NOW CHANGE SOMETHING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Three experiments worth running in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502152" cy="219456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Arial"/>
              </a:rPr>
              <a:t>Cut the transcript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78608"/>
            <a:ext cx="2953512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Set TRANSCRIPT_TURNS to 3 and re-run. Less context is cheaper. Is the research note meaningfully worse?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1645920"/>
            <a:ext cx="3502152" cy="219456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608576" y="192024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08576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4376" y="192024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Arial"/>
              </a:rPr>
              <a:t>Add the analysts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2578608"/>
            <a:ext cx="2953512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Include analyst turns as well as management. Does the model's read of the call change?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45920"/>
            <a:ext cx="3502152" cy="219456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302752" y="1920240"/>
            <a:ext cx="548640" cy="548640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92024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1920240"/>
            <a:ext cx="226771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Arial"/>
              </a:rPr>
              <a:t>Remove rule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578608"/>
            <a:ext cx="2953512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F3F3F1"/>
                </a:solidFill>
                <a:latin typeface="Arial"/>
              </a:rPr>
              <a:t>Delete the instruction to admit gaps. Watch whether the model starts filling them in for you.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14800"/>
            <a:ext cx="10881360" cy="14173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343400"/>
            <a:ext cx="10241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120">
                <a:solidFill>
                  <a:srgbClr val="A51C30"/>
                </a:solidFill>
                <a:latin typeface="Arial"/>
              </a:rPr>
              <a:t>AND CHECK OUR ARITHMETIC AGAINST THEIRS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54880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E1E1E"/>
                </a:solidFill>
                <a:latin typeface="Arial"/>
              </a:rPr>
              <a:t>The response carries a usage field with the real prompt, completion and total token counts. Compare it to our characters divided by four. Dividing by 4 is a rough rule, not a precise one.</a:t>
            </a:r>
          </a:p>
        </p:txBody>
      </p:sp>
      <p:sp>
        <p:nvSpPr>
          <p:cNvPr id="23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4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03970FA-DB0C-473B-9350-1C021C3F32BF}" type="slidenum">
              <a:rPr lang="en-US" sz="1000">
                <a:solidFill>
                  <a:srgbClr val="8996A0"/>
                </a:solidFill>
                <a:latin typeface="Arial"/>
              </a:rPr>
              <a:t>25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LIVE IN RSTUDIO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Script D: run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0881360" cy="361188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06C7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70432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5C0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426464" y="182880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8C3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1680" y="176479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spc="150">
                <a:solidFill>
                  <a:srgbClr val="8996A0"/>
                </a:solidFill>
                <a:latin typeface="Arial"/>
              </a:rPr>
              <a:t>LIVE CODE STEP 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Find the newest file by sorting names, read exactly one CSV, and build the excerpt.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72968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Load the saved macro and news blocks, then print the size of each of the three pieces.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14215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Assemble, print the labelled context, and send one call to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55464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F3F3F1"/>
                </a:solidFill>
                <a:latin typeface="Arial"/>
              </a:rPr>
              <a:t>&gt; Read the research note, then the usage field, then change TRANSCRIPT_TURNS and re-run.</a:t>
            </a:r>
          </a:p>
        </p:txBody>
      </p:sp>
      <p:sp>
        <p:nvSpPr>
          <p:cNvPr id="15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16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9591DF4F-A695-4E7B-9EF5-308EA92D8C26}" type="slidenum">
              <a:rPr lang="en-US" sz="1000">
                <a:solidFill>
                  <a:srgbClr val="8996A0"/>
                </a:solidFill>
                <a:latin typeface="Arial"/>
              </a:rPr>
              <a:t>26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BEFORE YOU TRUST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What we traded away, on purpose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27632"/>
            <a:ext cx="54864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32688" y="1627632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Kept management remarks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27632"/>
            <a:ext cx="457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A51C30"/>
                </a:solidFill>
                <a:latin typeface="Arial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627632"/>
            <a:ext cx="4709160" cy="7315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86600" y="1627632"/>
            <a:ext cx="4160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F3F3F1"/>
                </a:solidFill>
                <a:latin typeface="Arial"/>
              </a:rPr>
              <a:t>Deleted every question and every pushback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54864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32688" y="2468880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Chunked the call by speaker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468880"/>
            <a:ext cx="457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A51C30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2468880"/>
            <a:ext cx="4709160" cy="7315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2468880"/>
            <a:ext cx="4160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F3F3F1"/>
                </a:solidFill>
                <a:latin typeface="Arial"/>
              </a:rPr>
              <a:t>Chunk three has no memory of chunk 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310128"/>
            <a:ext cx="54864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" y="3310128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Filtered the risk feed by country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310128"/>
            <a:ext cx="457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A51C30"/>
                </a:solidFill>
                <a:latin typeface="Arial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3310128"/>
            <a:ext cx="4709160" cy="7315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086600" y="3310128"/>
            <a:ext cx="4160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F3F3F1"/>
                </a:solidFill>
                <a:latin typeface="Arial"/>
              </a:rPr>
              <a:t>Assumed our country list was the right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51376"/>
            <a:ext cx="54864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" y="4151376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1E1E1E"/>
                </a:solidFill>
                <a:latin typeface="Arial"/>
              </a:rPr>
              <a:t>Took the first 12 turns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151376"/>
            <a:ext cx="457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A51C30"/>
                </a:solidFill>
                <a:latin typeface="Arial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4151376"/>
            <a:ext cx="4709160" cy="73152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86600" y="4151376"/>
            <a:ext cx="41605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F3F3F1"/>
                </a:solidFill>
                <a:latin typeface="Arial"/>
              </a:rPr>
              <a:t>Assumed the prepared statement is the 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074920"/>
            <a:ext cx="10881360" cy="1005840"/>
          </a:xfrm>
          <a:prstGeom prst="roundRect">
            <a:avLst>
              <a:gd name="adj" fmla="val 35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5074920"/>
            <a:ext cx="101498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If the model reports that the call was positive, remember we only showed it the part where management describes its own quarter. We built that bias in ourselves.</a:t>
            </a:r>
          </a:p>
        </p:txBody>
      </p:sp>
      <p:sp>
        <p:nvSpPr>
          <p:cNvPr id="26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27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237A912A-329C-4707-8961-6F325894FCA9}" type="slidenum">
              <a:rPr lang="en-US" sz="1000">
                <a:solidFill>
                  <a:srgbClr val="8996A0"/>
                </a:solidFill>
                <a:latin typeface="Arial"/>
              </a:rPr>
              <a:t>27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A51C30"/>
                </a:solidFill>
                <a:latin typeface="Arial"/>
              </a:rPr>
              <a:t>HOUR 1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>
                <a:solidFill>
                  <a:srgbClr val="1E1E1E"/>
                </a:solidFill>
                <a:latin typeface="Arial"/>
              </a:rPr>
              <a:t>What you should take 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2578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41247" y="1746504"/>
            <a:ext cx="438912" cy="438912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7" y="17465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020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1E1E"/>
                </a:solidFill>
                <a:latin typeface="Arial"/>
              </a:rPr>
              <a:t>Context is built by choosing, not by pasting everything 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52578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7" y="2615184"/>
            <a:ext cx="438912" cy="438912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7" y="261518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6888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1E1E"/>
                </a:solidFill>
                <a:latin typeface="Arial"/>
              </a:rPr>
              <a:t>Structure you already have (speakers, dates, file names) is free leverage.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37560"/>
            <a:ext cx="52578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41247" y="3483864"/>
            <a:ext cx="438912" cy="438912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7" y="348386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3756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1E1E"/>
                </a:solidFill>
                <a:latin typeface="Arial"/>
              </a:rPr>
              <a:t>Filtering is context engineering. Noise costs tokens and hides signal.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00200"/>
            <a:ext cx="52578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64807" y="1746504"/>
            <a:ext cx="438912" cy="438912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64807" y="17465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60020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1E1E"/>
                </a:solidFill>
                <a:latin typeface="Arial"/>
              </a:rPr>
              <a:t>Give the model the source and the date, not just the claim.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468880"/>
            <a:ext cx="52578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464807" y="2615184"/>
            <a:ext cx="438912" cy="438912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64807" y="261518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46888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1E1E"/>
                </a:solidFill>
                <a:latin typeface="Arial"/>
              </a:rPr>
              <a:t>Order and labels matter. Primary source first, question last.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337560"/>
            <a:ext cx="5257800" cy="731520"/>
          </a:xfrm>
          <a:prstGeom prst="roundRect">
            <a:avLst>
              <a:gd name="adj" fmla="val 3500"/>
            </a:avLst>
          </a:prstGeom>
          <a:solidFill>
            <a:srgbClr val="F3F3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64807" y="3483864"/>
            <a:ext cx="438912" cy="438912"/>
          </a:xfrm>
          <a:prstGeom prst="roundRect">
            <a:avLst>
              <a:gd name="adj" fmla="val 16000"/>
            </a:avLst>
          </a:prstGeom>
          <a:solidFill>
            <a:srgbClr val="A51C3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7" y="348386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337560"/>
            <a:ext cx="42976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1E1E1E"/>
                </a:solidFill>
                <a:latin typeface="Arial"/>
              </a:rPr>
              <a:t>What you leave out shapes the answer as much as what you include.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34840"/>
            <a:ext cx="10881360" cy="1371600"/>
          </a:xfrm>
          <a:prstGeom prst="roundRect">
            <a:avLst>
              <a:gd name="adj" fmla="val 3500"/>
            </a:avLst>
          </a:prstGeom>
          <a:solidFill>
            <a:srgbClr val="2933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5029200"/>
            <a:ext cx="10149840" cy="5309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dirty="0">
                <a:solidFill>
                  <a:srgbClr val="F3F3F1"/>
                </a:solidFill>
                <a:latin typeface="Arial"/>
              </a:rPr>
              <a:t>Sentiment analysis </a:t>
            </a:r>
            <a:r>
              <a:rPr lang="en-US" sz="1400" b="0" dirty="0">
                <a:solidFill>
                  <a:srgbClr val="F3F3F1"/>
                </a:solidFill>
                <a:latin typeface="Arial"/>
              </a:rPr>
              <a:t>&amp;</a:t>
            </a:r>
            <a:r>
              <a:rPr sz="1400" b="0" dirty="0">
                <a:solidFill>
                  <a:srgbClr val="F3F3F1"/>
                </a:solidFill>
                <a:latin typeface="Arial"/>
              </a:rPr>
              <a:t> named entity recognition. We stop asking the model to summarize the text and start asking it to score and label it, one sentence at a time.</a:t>
            </a:r>
          </a:p>
        </p:txBody>
      </p:sp>
      <p:sp>
        <p:nvSpPr>
          <p:cNvPr id="31" name="Harvard Footer"/>
          <p:cNvSpPr txBox="1"/>
          <p:nvPr/>
        </p:nvSpPr>
        <p:spPr>
          <a:xfrm>
            <a:off x="137319" y="6446043"/>
            <a:ext cx="1326387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sz="1000">
                <a:solidFill>
                  <a:srgbClr val="8996A0"/>
                </a:solidFill>
                <a:latin typeface="Arial"/>
              </a:rPr>
              <a:t>© 2026 Ted Kwartler</a:t>
            </a:r>
          </a:p>
        </p:txBody>
      </p:sp>
      <p:sp>
        <p:nvSpPr>
          <p:cNvPr id="32" name="Harvard Page Number"/>
          <p:cNvSpPr txBox="1"/>
          <p:nvPr/>
        </p:nvSpPr>
        <p:spPr>
          <a:xfrm>
            <a:off x="11730546" y="6446043"/>
            <a:ext cx="324104" cy="2746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fld id="{11717793-4A2C-4EB8-A7F3-38729929F76C}" type="slidenum">
              <a:rPr lang="en-US" sz="1000">
                <a:solidFill>
                  <a:srgbClr val="8996A0"/>
                </a:solidFill>
                <a:latin typeface="Arial"/>
              </a:rPr>
              <a:t>28</a:t>
            </a:fld>
            <a:endParaRPr lang="en-US" sz="1000">
              <a:solidFill>
                <a:srgbClr val="8996A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1E1E"/>
      </a:dk1>
      <a:lt1>
        <a:srgbClr val="FFFFFF"/>
      </a:lt1>
      <a:dk2>
        <a:srgbClr val="293352"/>
      </a:dk2>
      <a:lt2>
        <a:srgbClr val="F3F3F1"/>
      </a:lt2>
      <a:accent1>
        <a:srgbClr val="A51C30"/>
      </a:accent1>
      <a:accent2>
        <a:srgbClr val="293352"/>
      </a:accent2>
      <a:accent3>
        <a:srgbClr val="4E84C4"/>
      </a:accent3>
      <a:accent4>
        <a:srgbClr val="C4961A"/>
      </a:accent4>
      <a:accent5>
        <a:srgbClr val="8996A0"/>
      </a:accent5>
      <a:accent6>
        <a:srgbClr val="1E1E1E"/>
      </a:accent6>
      <a:hlink>
        <a:srgbClr val="4E84C4"/>
      </a:hlink>
      <a:folHlink>
        <a:srgbClr val="946EB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3180</Words>
  <Application>Microsoft Macintosh PowerPoint</Application>
  <PresentationFormat>Widescreen</PresentationFormat>
  <Paragraphs>371</Paragraphs>
  <Slides>28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Ted Kwartler</cp:lastModifiedBy>
  <cp:revision>5</cp:revision>
  <dcterms:created xsi:type="dcterms:W3CDTF">2013-01-27T09:14:16Z</dcterms:created>
  <dcterms:modified xsi:type="dcterms:W3CDTF">2026-08-04T01:35:55Z</dcterms:modified>
  <cp:category/>
</cp:coreProperties>
</file>