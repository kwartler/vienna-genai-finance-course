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2" r:id="rId15"/>
    <p:sldId id="268" r:id="rId16"/>
    <p:sldId id="269" r:id="rId17"/>
    <p:sldId id="270" r:id="rId18"/>
    <p:sldId id="271" r:id="rId19"/>
    <p:sldId id="272" r:id="rId20"/>
    <p:sldId id="283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riskline.com/alerts/latest.json%6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spc="150">
                <a:solidFill>
                  <a:srgbClr val="FFFFFF"/>
                </a:solidFill>
                <a:latin typeface="Arial"/>
              </a:rPr>
              <a:t>Generative AI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Day 2, Finance Masters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LLM context: earnings calls, macro risk, company news, and one assembled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4630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250">
                <a:solidFill>
                  <a:srgbClr val="FFFFFF"/>
                </a:solidFill>
                <a:latin typeface="Arial"/>
              </a:rPr>
              <a:t>HOUR 1  ·  8:00 TO 9:00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Building a Context Window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Four scripts, three sources, one call</a:t>
            </a:r>
          </a:p>
        </p:txBody>
      </p:sp>
      <p:sp>
        <p:nvSpPr>
          <p:cNvPr id="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A NOTE ON THIS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The difference in the tracks…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2461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19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96596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Data Science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4617720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5A646E"/>
                </a:solidFill>
                <a:latin typeface="Arial"/>
              </a:rPr>
              <a:t>R does the math. The </a:t>
            </a:r>
            <a:r>
              <a:rPr lang="en-US" sz="1300" b="0" dirty="0">
                <a:solidFill>
                  <a:srgbClr val="5A646E"/>
                </a:solidFill>
                <a:latin typeface="Arial"/>
              </a:rPr>
              <a:t>LLM</a:t>
            </a:r>
            <a:r>
              <a:rPr sz="1300" b="0" dirty="0">
                <a:solidFill>
                  <a:srgbClr val="5A646E"/>
                </a:solidFill>
                <a:latin typeface="Arial"/>
              </a:rPr>
              <a:t> never touches arithmetic, it only explains the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4617720" cy="447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 dirty="0">
                <a:solidFill>
                  <a:srgbClr val="A51C30"/>
                </a:solidFill>
                <a:latin typeface="Arial"/>
              </a:rPr>
              <a:t>IN PRACTICE</a:t>
            </a:r>
          </a:p>
          <a:p>
            <a:pPr algn="l">
              <a:lnSpc>
                <a:spcPct val="125000"/>
              </a:lnSpc>
            </a:pPr>
            <a:r>
              <a:rPr sz="1250" b="0" dirty="0" err="1">
                <a:solidFill>
                  <a:srgbClr val="1E1E1E"/>
                </a:solidFill>
                <a:latin typeface="Arial"/>
              </a:rPr>
              <a:t>quadprog</a:t>
            </a:r>
            <a:r>
              <a:rPr sz="1250" b="0" dirty="0">
                <a:solidFill>
                  <a:srgbClr val="1E1E1E"/>
                </a:solidFill>
                <a:latin typeface="Arial"/>
              </a:rPr>
              <a:t> solves for the </a:t>
            </a:r>
            <a:r>
              <a:rPr lang="en-US" sz="1250" b="0" dirty="0">
                <a:solidFill>
                  <a:srgbClr val="1E1E1E"/>
                </a:solidFill>
                <a:latin typeface="Arial"/>
              </a:rPr>
              <a:t>quant</a:t>
            </a:r>
            <a:r>
              <a:rPr sz="1250" b="0" dirty="0">
                <a:solidFill>
                  <a:srgbClr val="1E1E1E"/>
                </a:solidFill>
                <a:latin typeface="Arial"/>
              </a:rPr>
              <a:t>, the model writes the paragraph.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32461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“ 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Finance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17720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F3F3F1"/>
                </a:solidFill>
                <a:latin typeface="Arial"/>
              </a:rPr>
              <a:t>The </a:t>
            </a:r>
            <a:r>
              <a:rPr lang="en-US" sz="1300" b="0" dirty="0">
                <a:solidFill>
                  <a:srgbClr val="F3F3F1"/>
                </a:solidFill>
                <a:latin typeface="Arial"/>
              </a:rPr>
              <a:t>LLM</a:t>
            </a:r>
            <a:r>
              <a:rPr sz="1300" b="0" dirty="0">
                <a:solidFill>
                  <a:srgbClr val="F3F3F1"/>
                </a:solidFill>
                <a:latin typeface="Arial"/>
              </a:rPr>
              <a:t> does the core work. Reading text, judging tone and pulling out names ARE language tasks.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617720" cy="688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 dirty="0">
                <a:solidFill>
                  <a:srgbClr val="FFFFFF"/>
                </a:solidFill>
                <a:latin typeface="Arial"/>
              </a:rPr>
              <a:t>IN PRACTICE</a:t>
            </a: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F3F3F1"/>
                </a:solidFill>
                <a:latin typeface="Arial"/>
              </a:rPr>
              <a:t>the </a:t>
            </a:r>
            <a:r>
              <a:rPr lang="en-US" sz="1250" b="0" dirty="0">
                <a:solidFill>
                  <a:srgbClr val="F3F3F1"/>
                </a:solidFill>
                <a:latin typeface="Arial"/>
              </a:rPr>
              <a:t>LLM</a:t>
            </a:r>
            <a:r>
              <a:rPr sz="1250" b="0" dirty="0">
                <a:solidFill>
                  <a:srgbClr val="F3F3F1"/>
                </a:solidFill>
                <a:latin typeface="Arial"/>
              </a:rPr>
              <a:t> reads the call and reports what management emphasized.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19" y="5395516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Same principle, opposite side of the 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capability divide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: use the model only for what it is actually good at.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F977E44-46BB-4F67-96AD-A5013A983AD2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SCRIPTS A TO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rial"/>
              </a:rPr>
              <a:t>The hour as one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45336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5336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One earnings call, and how big it really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4846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07408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Macro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Live geopolitical alerts, no API key at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3063240"/>
            <a:ext cx="4846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69480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Company 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Headlines, then a search model that 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3063240"/>
            <a:ext cx="4846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31552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31552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Assemble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Three sources, one system prompt, one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Arial"/>
              </a:rPr>
              <a:t>A is local and free. B costs nothing. C needs a key. D spends the tokens, once, on purpose.</a:t>
            </a:r>
          </a:p>
        </p:txBody>
      </p:sp>
      <p:sp>
        <p:nvSpPr>
          <p:cNvPr id="2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9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58B80C1-F42A-410B-9274-16C7830ECF2B}" type="slidenum">
              <a:rPr lang="en-US" sz="1000">
                <a:solidFill>
                  <a:srgbClr val="8996A0"/>
                </a:solidFill>
                <a:latin typeface="Arial"/>
              </a:rPr>
              <a:t>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41915A-F800-A2F7-9D72-C69377D41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852" b="70382"/>
          <a:stretch>
            <a:fillRect/>
          </a:stretch>
        </p:blipFill>
        <p:spPr>
          <a:xfrm>
            <a:off x="4130474" y="3474720"/>
            <a:ext cx="7815655" cy="31350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1A9FBB4-FAAB-A173-DF1B-65EC7A192F6D}"/>
              </a:ext>
            </a:extLst>
          </p:cNvPr>
          <p:cNvSpPr/>
          <p:nvPr/>
        </p:nvSpPr>
        <p:spPr>
          <a:xfrm>
            <a:off x="193764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0ABCDA-04E9-77FF-9699-1A8F2488BEB1}"/>
              </a:ext>
            </a:extLst>
          </p:cNvPr>
          <p:cNvSpPr/>
          <p:nvPr/>
        </p:nvSpPr>
        <p:spPr>
          <a:xfrm>
            <a:off x="1099020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C1749-9748-9818-34EF-39EAA910D587}"/>
              </a:ext>
            </a:extLst>
          </p:cNvPr>
          <p:cNvSpPr txBox="1"/>
          <p:nvPr/>
        </p:nvSpPr>
        <p:spPr>
          <a:xfrm>
            <a:off x="1099020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BA8E3-3140-9E5C-6D46-4F3F5CC78FAF}"/>
              </a:ext>
            </a:extLst>
          </p:cNvPr>
          <p:cNvSpPr txBox="1"/>
          <p:nvPr/>
        </p:nvSpPr>
        <p:spPr>
          <a:xfrm>
            <a:off x="330924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31FEC-F2A8-1A74-B758-F8A22EF8FC10}"/>
              </a:ext>
            </a:extLst>
          </p:cNvPr>
          <p:cNvSpPr txBox="1"/>
          <p:nvPr/>
        </p:nvSpPr>
        <p:spPr>
          <a:xfrm>
            <a:off x="376643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One earnings call, and how big it really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02002-0658-F937-8DE0-3D6CE135B0E1}"/>
              </a:ext>
            </a:extLst>
          </p:cNvPr>
          <p:cNvSpPr txBox="1"/>
          <p:nvPr/>
        </p:nvSpPr>
        <p:spPr>
          <a:xfrm>
            <a:off x="465909" y="295911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The class repo has SP500 Earnings Calls as CSV files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655843-11E7-0C44-39DD-83159B66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049" y="1011668"/>
            <a:ext cx="8570454" cy="299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BF5337-DF94-7FC5-D7C1-62EB57A57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048" y="1405287"/>
            <a:ext cx="8570454" cy="14853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D6B0B8-ED77-5D28-3D08-D6941B82E95C}"/>
              </a:ext>
            </a:extLst>
          </p:cNvPr>
          <p:cNvSpPr txBox="1"/>
          <p:nvPr/>
        </p:nvSpPr>
        <p:spPr>
          <a:xfrm>
            <a:off x="4152102" y="3105388"/>
            <a:ext cx="733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accent1"/>
                </a:solidFill>
              </a:rPr>
              <a:t>Click “RAW” to open a CSV in your browser.  We can add this link to your SPA.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FA2480-BDB5-0687-596B-452824B6992B}"/>
              </a:ext>
            </a:extLst>
          </p:cNvPr>
          <p:cNvSpPr/>
          <p:nvPr/>
        </p:nvSpPr>
        <p:spPr>
          <a:xfrm>
            <a:off x="10722431" y="1372629"/>
            <a:ext cx="751114" cy="34731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2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transcript is not a blob of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411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 spc="20">
                <a:solidFill>
                  <a:srgbClr val="F3F3F1"/>
                </a:solidFill>
                <a:latin typeface="Arial"/>
              </a:rPr>
              <a:t>symbol   report_date   speaker   title   msg   source_url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One row per speaker turn. That structure is useful all morning.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Who is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title column names each speaker's role. A call has two halves: prepared remarks and analyst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08576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An imperfect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grepl("analyst|research") splits the two groups. Look at where it gets people wrong. That is the lesson.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752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Hold on to the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Management is almost always positive about their own quarter. The interesting question is whether analysts agree.</a:t>
            </a:r>
          </a:p>
        </p:txBody>
      </p:sp>
      <p:sp>
        <p:nvSpPr>
          <p:cNvPr id="2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3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13E7551-8240-4596-BA20-AFB1041EA90D}" type="slidenum">
              <a:rPr lang="en-US" sz="1000">
                <a:solidFill>
                  <a:srgbClr val="8996A0"/>
                </a:solidFill>
                <a:latin typeface="Arial"/>
              </a:rPr>
              <a:t>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0AF317-C4F8-9B47-8876-9C4BCD110415}"/>
              </a:ext>
            </a:extLst>
          </p:cNvPr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A51C30"/>
                </a:solidFill>
                <a:latin typeface="Arial"/>
              </a:rPr>
              <a:t>SCRIPT A  ·  FITTING INSIDE THE WINDOW</a:t>
            </a:r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 w/EARNINGS  CALLS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STOP AND LOOK AT THAT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One call does not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846320" cy="2514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 chars ≈ 1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114800" cy="21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irty="0">
                <a:solidFill>
                  <a:srgbClr val="F3F3F1"/>
                </a:solidFill>
                <a:latin typeface="Arial"/>
              </a:rPr>
              <a:t>A rough rule, but accurate enough to reason about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577840" cy="25146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Our pretend budget: 8,000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6888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Real models allow far more. But every model has a ceiling, and every token costs money. Run the script and read the multiple out loud: a single call is several times the budget, before we have added anything 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49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Now imagine four quarters of calls, plus recent news, plus a macro feed, and still room for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A646E"/>
                </a:solidFill>
                <a:latin typeface="Arial"/>
              </a:rPr>
              <a:t>This is the whole reason “context engineering” is a phrase. We cannot paste it in. We have to choose</a:t>
            </a:r>
            <a:r>
              <a:rPr lang="en-US" sz="1400" b="0" dirty="0">
                <a:solidFill>
                  <a:srgbClr val="5A646E"/>
                </a:solidFill>
                <a:latin typeface="Arial"/>
              </a:rPr>
              <a:t> the “context” that is most relevant</a:t>
            </a:r>
            <a:r>
              <a:rPr sz="1400" b="0" dirty="0">
                <a:solidFill>
                  <a:srgbClr val="5A646E"/>
                </a:solidFill>
                <a:latin typeface="Arial"/>
              </a:rPr>
              <a:t>.</a:t>
            </a:r>
          </a:p>
        </p:txBody>
      </p:sp>
      <p:sp>
        <p:nvSpPr>
          <p:cNvPr id="1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50DE8F5-DA86-4780-8A4D-D7883AE2AEDB}" type="slidenum">
              <a:rPr lang="en-US" sz="1000">
                <a:solidFill>
                  <a:srgbClr val="8996A0"/>
                </a:solidFill>
                <a:latin typeface="Arial"/>
              </a:rPr>
              <a:t>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THE TRICK WORTH STEALING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Sorting text that happens to be a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 spc="20">
                <a:solidFill>
                  <a:srgbClr val="F3F3F1"/>
                </a:solidFill>
                <a:latin typeface="Arial"/>
              </a:rPr>
              <a:t>available_dates &lt;- sort(unique(this_call$report_date), decreasing = TRUE)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 spc="20">
                <a:solidFill>
                  <a:srgbClr val="98C379"/>
                </a:solidFill>
                <a:latin typeface="Arial"/>
              </a:rPr>
              <a:t>chosen_date     &lt;- available_dates[1]        # the newest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E1E1E"/>
                </a:solidFill>
                <a:latin typeface="Arial"/>
              </a:rPr>
              <a:t>Sort descending, take the first item, and you have the newest call. With no date 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class </a:t>
            </a:r>
            <a:r>
              <a:rPr sz="1400" b="1" dirty="0">
                <a:solidFill>
                  <a:srgbClr val="1E1E1E"/>
                </a:solidFill>
                <a:latin typeface="Arial"/>
              </a:rPr>
              <a:t>parsing 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issues </a:t>
            </a:r>
            <a:r>
              <a:rPr sz="1400" b="1" dirty="0">
                <a:solidFill>
                  <a:srgbClr val="1E1E1E"/>
                </a:solidFill>
                <a:latin typeface="Arial"/>
              </a:rPr>
              <a:t>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7472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Largest unit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295351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YYYY, then MM, then DD. The most significant field is also the leftmost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08576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474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47472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Fixed width, zero padded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133087"/>
            <a:ext cx="295351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Every field is always the same number of characters, so nothing shifts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752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3474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47472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Text order is time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133087"/>
            <a:ext cx="295351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character by character comparison settles the year, then the month, then the day.</a:t>
            </a:r>
          </a:p>
        </p:txBody>
      </p:sp>
      <p:sp>
        <p:nvSpPr>
          <p:cNvPr id="2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3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3391066-E591-455B-9508-FEB6DFCE6C31}" type="slidenum">
              <a:rPr lang="en-US" sz="1000">
                <a:solidFill>
                  <a:srgbClr val="8996A0"/>
                </a:solidFill>
                <a:latin typeface="Arial"/>
              </a:rPr>
              <a:t>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A51C30"/>
                </a:solidFill>
                <a:latin typeface="Arial"/>
              </a:rPr>
              <a:t>WHY IT ONLY WORKS FOR ISO 8601</a:t>
            </a:r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 DATES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Nearly every other format breaks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8996A0"/>
                </a:solidFill>
                <a:latin typeface="Arial"/>
              </a:rPr>
              <a:t>SORTED AS PLAIN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8132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8996A0"/>
                </a:solidFill>
                <a:latin typeface="Arial"/>
              </a:rPr>
              <a:t>WHAT WENT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"12/01/2024"  lands before  "02/01/2025"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411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The year is never considered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"Dec 16 2024"  lands before  "Jan 5 2025"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743200"/>
            <a:ext cx="411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7432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7432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Alphabetical, not chronological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"2024-1-5"  lands after  "2024-12-16"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657600"/>
            <a:ext cx="411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6576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36576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No zero padding, so widths shift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881360" cy="114300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7316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F0D5D9"/>
                </a:solidFill>
                <a:latin typeface="Arial"/>
              </a:rPr>
              <a:t>AND IT REMOVES AN AMBIGUITY THAT CAUSES REAL ERRORS IN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03/04/2025 reads as March 4th in the US and 3 April across most of Europe. 2025-03-04 can only mean one 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rial"/>
              </a:rPr>
              <a:t>When you control how data is named or stored, this is the format to insist on.</a:t>
            </a:r>
          </a:p>
        </p:txBody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2A4E58C-EE9F-42CB-96CE-D993A00E3407}" type="slidenum">
              <a:rPr lang="en-US" sz="1000">
                <a:solidFill>
                  <a:srgbClr val="8996A0"/>
                </a:solidFill>
                <a:latin typeface="Arial"/>
              </a:rPr>
              <a:t>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A51C30"/>
                </a:solidFill>
                <a:latin typeface="Arial"/>
              </a:rPr>
              <a:t>SCRIPT A  ·  FITTING INSIDE THE WINDOW</a:t>
            </a:r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 w/EARNINGS  CALLS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Two strategies, and what each one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35661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19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Select, do not summarize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The data is already split by speaker, so keep only management remarks. Cheapest possible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THE COST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You just threw away every analyst question. Fine for “what did management claim?”. Fatal for “did anyone push back?”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57800" cy="35661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965960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Chunk on speaker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Pack whole turns into chunks. The naive cut every N characters slices sentences and speakers in half.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THE COST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A model reading chunk 3 has no memory of chunk 1. An analyst referring back forty minutes later loses the connection.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19" y="544068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Every context strategy trades away something. Knowing what you traded is the skill.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0E90FEA-5192-42CD-A20B-F854B5F315CE}" type="slidenum">
              <a:rPr lang="en-US" sz="1000">
                <a:solidFill>
                  <a:srgbClr val="8996A0"/>
                </a:solidFill>
                <a:latin typeface="Arial"/>
              </a:rPr>
              <a:t>10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A: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Stack every CSV, print the column names, and point out the shape: rows, not a blob.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the participants, run the Analyst / Company split, and find one it gets wrong.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total characters and estimated tokens, then compare to the 8,000 token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Show the chunk table, then read one management turn and one analyst turn out loud.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AB08198-2942-4B2A-8192-CA18BF2776A4}" type="slidenum">
              <a:rPr lang="en-US" sz="1000">
                <a:solidFill>
                  <a:srgbClr val="8996A0"/>
                </a:solidFill>
                <a:latin typeface="Arial"/>
              </a:rPr>
              <a:t>11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B  ·  FIN_B_macro_risk.R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Your first API call, and it needs no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Nothing to 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Riskline publishes these alerts openly, so nothing can go wrong with a key. Script C adds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59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920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Check the status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78608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failed request still returns an object, just with no useful data. Skip the check and it breaks later, somewhere confusing.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Read the shape, then write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81727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Print names(alerts) before anything else. Real APIs rarely return what you assumed they would.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49039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37959" y="4023359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402335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023359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Do not assume the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681727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API nests its results. Loop the fields, find the data frame, and report which one it was.</a:t>
            </a:r>
          </a:p>
        </p:txBody>
      </p:sp>
      <p:sp>
        <p:nvSpPr>
          <p:cNvPr id="2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5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CA5C782-0364-4C5A-9D0E-F6C92D35F47E}" type="slidenum">
              <a:rPr lang="en-US" sz="1000">
                <a:solidFill>
                  <a:srgbClr val="8996A0"/>
                </a:solidFill>
                <a:latin typeface="Arial"/>
              </a:rPr>
              <a:t>12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Riskline API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Filtering is context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FEED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dozens of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74519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FILTER</a:t>
            </a:r>
          </a:p>
          <a:p>
            <a:pPr algn="l"/>
            <a:r>
              <a:rPr sz="1600" b="1">
                <a:solidFill>
                  <a:srgbClr val="98C379"/>
                </a:solidFill>
                <a:latin typeface="Arial"/>
              </a:rPr>
              <a:t>COUNTRIES_OF_INTEREST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27432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 dirty="0">
                <a:solidFill>
                  <a:srgbClr val="8996A0"/>
                </a:solidFill>
                <a:latin typeface="Arial"/>
              </a:rPr>
              <a:t>THE CONTEXT</a:t>
            </a: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Arial"/>
              </a:rPr>
              <a:t>Usually about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ten lines of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95351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1E1E1E"/>
                </a:solidFill>
                <a:latin typeface="Arial"/>
              </a:rPr>
              <a:t>If you send it all to the LLM you pay twice…</a:t>
            </a:r>
            <a:endParaRPr sz="14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You pay tokens for the </a:t>
            </a:r>
            <a:r>
              <a:rPr sz="1150" b="1" dirty="0">
                <a:solidFill>
                  <a:srgbClr val="5A646E"/>
                </a:solidFill>
                <a:latin typeface="Arial"/>
              </a:rPr>
              <a:t>irrelevant alerts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,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they </a:t>
            </a:r>
            <a:r>
              <a:rPr sz="1150" b="1" dirty="0">
                <a:solidFill>
                  <a:srgbClr val="5A646E"/>
                </a:solidFill>
                <a:latin typeface="Arial"/>
              </a:rPr>
              <a:t>bury the relevant signal 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where the model may miss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52044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A model cannot read a data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114800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Context has to be text. </a:t>
            </a:r>
            <a:r>
              <a:rPr sz="1150" b="1" dirty="0">
                <a:solidFill>
                  <a:srgbClr val="5A646E"/>
                </a:solidFill>
                <a:latin typeface="Arial"/>
              </a:rPr>
              <a:t>Structured data must be rendered into prose 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lines before it can go in a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3520440"/>
            <a:ext cx="295351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E1E1E"/>
                </a:solidFill>
                <a:latin typeface="Arial"/>
              </a:rPr>
              <a:t>Compare the size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 &amp; information </a:t>
            </a:r>
            <a:r>
              <a:rPr sz="1400" b="1" dirty="0">
                <a:solidFill>
                  <a:srgbClr val="1E1E1E"/>
                </a:solidFill>
                <a:latin typeface="Arial"/>
              </a:rPr>
              <a:t> to Script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114800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The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API JSON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is tiny, and it tells the model something no earnings call could contain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 because it very contemporary information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530352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High value, low cost. That combination is exactly what earns a place in a context window.</a:t>
            </a:r>
          </a:p>
        </p:txBody>
      </p:sp>
      <p:sp>
        <p:nvSpPr>
          <p:cNvPr id="2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2674D19-2567-4057-94DB-9EE7C40EA405}" type="slidenum">
              <a:rPr lang="en-US" sz="1000">
                <a:solidFill>
                  <a:srgbClr val="8996A0"/>
                </a:solidFill>
                <a:latin typeface="Arial"/>
              </a:rPr>
              <a:t>13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AA0E1F64-0766-FBA2-8947-B22A3686607B}"/>
              </a:ext>
            </a:extLst>
          </p:cNvPr>
          <p:cNvSpPr/>
          <p:nvPr/>
        </p:nvSpPr>
        <p:spPr>
          <a:xfrm rot="5400000">
            <a:off x="3233056" y="2090055"/>
            <a:ext cx="960122" cy="346166"/>
          </a:xfrm>
          <a:prstGeom prst="triangl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A6D0AB2F-C87E-DC98-C685-E904AE742F52}"/>
              </a:ext>
            </a:extLst>
          </p:cNvPr>
          <p:cNvSpPr/>
          <p:nvPr/>
        </p:nvSpPr>
        <p:spPr>
          <a:xfrm rot="5400000">
            <a:off x="7375288" y="2090055"/>
            <a:ext cx="960122" cy="346166"/>
          </a:xfrm>
          <a:prstGeom prst="triangl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11CD9-56B8-5670-A73F-4BDE4A8BBE02}"/>
              </a:ext>
            </a:extLst>
          </p:cNvPr>
          <p:cNvSpPr txBox="1"/>
          <p:nvPr/>
        </p:nvSpPr>
        <p:spPr>
          <a:xfrm>
            <a:off x="465909" y="352611"/>
            <a:ext cx="1088136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Riskline is a service covering natural disaster, political and other impactful events 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7315A-AA5E-905A-F464-D35A484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4" r="36611" b="52689"/>
          <a:stretch>
            <a:fillRect/>
          </a:stretch>
        </p:blipFill>
        <p:spPr>
          <a:xfrm>
            <a:off x="3620017" y="2111828"/>
            <a:ext cx="8038584" cy="33745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679CD7-D587-997C-6005-3D84B95DA775}"/>
              </a:ext>
            </a:extLst>
          </p:cNvPr>
          <p:cNvSpPr txBox="1"/>
          <p:nvPr/>
        </p:nvSpPr>
        <p:spPr>
          <a:xfrm>
            <a:off x="3620017" y="1600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https://api.riskline.com/alerts/latest.json`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E6536E-3D27-ED85-FB60-09CD85E1A859}"/>
              </a:ext>
            </a:extLst>
          </p:cNvPr>
          <p:cNvSpPr/>
          <p:nvPr/>
        </p:nvSpPr>
        <p:spPr>
          <a:xfrm>
            <a:off x="813380" y="2355668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2934F8-4721-2BBC-B497-BAA9CFCB8F28}"/>
              </a:ext>
            </a:extLst>
          </p:cNvPr>
          <p:cNvSpPr/>
          <p:nvPr/>
        </p:nvSpPr>
        <p:spPr>
          <a:xfrm>
            <a:off x="1718636" y="267570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1405E-B472-0DAE-DCD9-B377F1C8EE2A}"/>
              </a:ext>
            </a:extLst>
          </p:cNvPr>
          <p:cNvSpPr txBox="1"/>
          <p:nvPr/>
        </p:nvSpPr>
        <p:spPr>
          <a:xfrm>
            <a:off x="1718636" y="26757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C182E-0E1D-7EE8-1BD7-68A0055D5AF2}"/>
              </a:ext>
            </a:extLst>
          </p:cNvPr>
          <p:cNvSpPr txBox="1"/>
          <p:nvPr/>
        </p:nvSpPr>
        <p:spPr>
          <a:xfrm>
            <a:off x="950540" y="34072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Macro 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080ED-1BBD-1A49-1E77-1161B802265B}"/>
              </a:ext>
            </a:extLst>
          </p:cNvPr>
          <p:cNvSpPr txBox="1"/>
          <p:nvPr/>
        </p:nvSpPr>
        <p:spPr>
          <a:xfrm>
            <a:off x="996260" y="3910148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Live geopolitical alerts, no API key at 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02E03-238B-27DE-E01A-0ED1DACA8E1F}"/>
              </a:ext>
            </a:extLst>
          </p:cNvPr>
          <p:cNvSpPr txBox="1"/>
          <p:nvPr/>
        </p:nvSpPr>
        <p:spPr>
          <a:xfrm>
            <a:off x="2002100" y="6018865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it is not authenticated, you can go to the site in your browser &amp; see it.</a:t>
            </a:r>
          </a:p>
        </p:txBody>
      </p:sp>
    </p:spTree>
    <p:extLst>
      <p:ext uri="{BB962C8B-B14F-4D97-AF65-F5344CB8AC3E}">
        <p14:creationId xmlns:p14="http://schemas.microsoft.com/office/powerpoint/2010/main" val="160882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B: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Make the request, check the status code, and print the field names before anything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Filter to the countries of interest and read out how much was kept.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Build the context block, print it, and measure it in characters and tokens.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Save macro_context.rds. API results are worth caching, local files are not.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150B004-D42F-4B28-BEB1-AACC8BE955D1}" type="slidenum">
              <a:rPr lang="en-US" sz="1000">
                <a:solidFill>
                  <a:srgbClr val="8996A0"/>
                </a:solidFill>
                <a:latin typeface="Arial"/>
              </a:rPr>
              <a:t>15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FIN_C_company_news.R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key is a password. Treat it like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8996A0"/>
                </a:solidFill>
                <a:latin typeface="Arial"/>
              </a:rPr>
              <a:t># In the CONSOLE, never in the file: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F3F3F1"/>
                </a:solidFill>
                <a:latin typeface="Arial"/>
              </a:rPr>
              <a:t>Sys.setenv(NEWSORG_API_KEY = "your_key_here")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98C379"/>
                </a:solidFill>
                <a:latin typeface="Arial"/>
              </a:rPr>
              <a:t>api_key &lt;- Sys.getenv("NEWSORG_API_KEY")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The most common real mistake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key typed into a script that goes into a shared repo is a published password. People who know better do this constantly.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08576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Print the length, not the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995928"/>
            <a:ext cx="2953512" cy="863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When debugging, print enough to confirm something loaded and nothing more. Never cat() a secret to a projector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 or recorded lesson!</a:t>
            </a:r>
            <a:endParaRPr sz="1150" b="0" dirty="0">
              <a:solidFill>
                <a:srgbClr val="5A646E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432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02752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Let the API explain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401 the key was rejected. 429 you hit the daily limit. 426 you asked for articles older than the free plan allows.</a:t>
            </a:r>
          </a:p>
        </p:txBody>
      </p:sp>
      <p:sp>
        <p:nvSpPr>
          <p:cNvPr id="2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E92EC70-B1FD-45F4-AF63-F39198C742B1}" type="slidenum">
              <a:rPr lang="en-US" sz="1000">
                <a:solidFill>
                  <a:srgbClr val="8996A0"/>
                </a:solidFill>
                <a:latin typeface="Arial"/>
              </a:rPr>
              <a:t>16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ASKING A PRECISE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search API answers exactly what you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600200"/>
            <a:ext cx="411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915500"/>
            <a:ext cx="35204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dirty="0">
                <a:solidFill>
                  <a:srgbClr val="5A646E"/>
                </a:solidFill>
                <a:latin typeface="Arial"/>
              </a:rPr>
              <a:t>Few results. A ticker rarely appears in prose.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32888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19" y="2532888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532888"/>
            <a:ext cx="411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532888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The fruit, Apple Records, apple pie recipes.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6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19" y="3465576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"Apple" AND (earnings OR revenue OR stock OR shares OR analyst)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465576"/>
            <a:ext cx="411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7D4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65576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The company, in a financial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rial"/>
              </a:rPr>
              <a:t>Quotation marks force an exact phrase. AND requires both terms. Together they make the story be about the business.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0881360" cy="941832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19" y="51389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51C30"/>
                </a:solidFill>
                <a:latin typeface="Arial"/>
              </a:rPr>
              <a:t>THEN FILTER FOR RELEVANCE, AND READ WHAT YOU DROPPED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5504688"/>
            <a:ext cx="10241280" cy="22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E1E1E"/>
                </a:solidFill>
                <a:latin typeface="Arial"/>
              </a:rPr>
              <a:t>Even a careful query returns strays. Sometimes the filter caught junk. 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372266A-A2C5-479E-A0BC-E5A259D5702A}" type="slidenum">
              <a:rPr lang="en-US" sz="1000">
                <a:solidFill>
                  <a:srgbClr val="8996A0"/>
                </a:solidFill>
                <a:latin typeface="Arial"/>
              </a:rPr>
              <a:t>17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THE LIMITATION YOU MUST KNOW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rial"/>
              </a:rPr>
              <a:t>Know what your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Newapi.org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plan actually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81978"/>
            <a:ext cx="4023360" cy="219456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64858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370698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0D5D9"/>
                </a:solidFill>
                <a:latin typeface="Arial"/>
              </a:rPr>
              <a:t>characters of article text on the free plan. It ends mid sentence with [+2431 chars].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2769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E1E1E"/>
                </a:solidFill>
                <a:latin typeface="Arial"/>
              </a:rPr>
              <a:t>That is the API telling you exactly how much it withheld.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730618"/>
            <a:ext cx="6400799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5A646E"/>
                </a:solidFill>
                <a:latin typeface="Arial"/>
              </a:rPr>
              <a:t>So per article you have a headline, a one line description, and a stub. Enough to know WHAT happened. Not enough to </a:t>
            </a:r>
            <a:r>
              <a:rPr sz="1300" b="0" dirty="0" err="1">
                <a:solidFill>
                  <a:srgbClr val="5A646E"/>
                </a:solidFill>
                <a:latin typeface="Arial"/>
              </a:rPr>
              <a:t>analyse</a:t>
            </a:r>
            <a:r>
              <a:rPr sz="1300" b="0" dirty="0">
                <a:solidFill>
                  <a:srgbClr val="5A646E"/>
                </a:solidFill>
                <a:latin typeface="Arial"/>
              </a:rPr>
              <a:t> HOW it was reported.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822" y="5019247"/>
            <a:ext cx="11142617" cy="1133365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8862" y="5247847"/>
            <a:ext cx="46177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chemeClr val="bg1"/>
                </a:solidFill>
                <a:latin typeface="Arial"/>
              </a:rPr>
              <a:t>News gives you breadth</a:t>
            </a:r>
            <a:r>
              <a:rPr lang="en-US" sz="1500" b="1" dirty="0">
                <a:solidFill>
                  <a:schemeClr val="bg1"/>
                </a:solidFill>
                <a:latin typeface="Arial"/>
              </a:rPr>
              <a:t> &amp; depth</a:t>
            </a:r>
            <a:endParaRPr sz="15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862" y="5705047"/>
            <a:ext cx="4617720" cy="22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chemeClr val="bg1"/>
                </a:solidFill>
                <a:latin typeface="Arial"/>
              </a:rPr>
              <a:t>Many sources, current events, dated and attributed.</a:t>
            </a:r>
          </a:p>
        </p:txBody>
      </p:sp>
      <p:sp>
        <p:nvSpPr>
          <p:cNvPr id="1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8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9EEFACE-57D4-432A-BA68-6C10AD13F06B}" type="slidenum">
              <a:rPr lang="en-US" sz="1000">
                <a:solidFill>
                  <a:srgbClr val="8996A0"/>
                </a:solidFill>
                <a:latin typeface="Arial"/>
              </a:rPr>
              <a:t>18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THE PATTERN WORTH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8669"/>
            <a:ext cx="1088136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So we extend the pipeline from the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newapi.org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 API to know what to search and use another to get more information.  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E1E1E"/>
                </a:solidFill>
                <a:latin typeface="Arial"/>
              </a:rPr>
              <a:t>NewsAPI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Structured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cheap. What happened, and who reported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484632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E1E1E"/>
                </a:solidFill>
                <a:latin typeface="Arial"/>
              </a:rPr>
              <a:t>Your headlines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50" dirty="0">
                <a:solidFill>
                  <a:srgbClr val="5A646E"/>
                </a:solidFill>
                <a:latin typeface="Arial"/>
              </a:rPr>
              <a:t>R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eal stories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 identified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, named in the prompt, so the model </a:t>
            </a:r>
            <a:r>
              <a:rPr lang="en-US" sz="1150" dirty="0">
                <a:solidFill>
                  <a:srgbClr val="5A646E"/>
                </a:solidFill>
                <a:latin typeface="Arial"/>
              </a:rPr>
              <a:t>searches specifically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1645920"/>
            <a:ext cx="484632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perplexity/sonar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dirty="0">
                <a:solidFill>
                  <a:srgbClr val="F3F3F1"/>
                </a:solidFill>
                <a:latin typeface="Arial"/>
              </a:rPr>
              <a:t>Searches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 the web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, reads the actual pages, 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 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summarizes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1645920"/>
            <a:ext cx="484632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9176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Briefing +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dirty="0">
                <a:solidFill>
                  <a:srgbClr val="F3F3F1"/>
                </a:solidFill>
                <a:latin typeface="Arial"/>
              </a:rPr>
              <a:t>Facts, figures, what is disputed, and a numbered citation list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 are all returned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Still a language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29535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It is reading and summarizing. It is not being asked to invent facts or compute anything.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427939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Cited, so checkable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773168"/>
            <a:ext cx="2953512" cy="863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A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n ungrounded 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model answers from a training cutoff and gives you no way to verify. </a:t>
            </a:r>
            <a:r>
              <a:rPr lang="en-US" sz="1150" b="1" dirty="0">
                <a:solidFill>
                  <a:srgbClr val="5A646E"/>
                </a:solidFill>
                <a:latin typeface="Arial"/>
              </a:rPr>
              <a:t>Perplexity will search the web similar to </a:t>
            </a:r>
            <a:r>
              <a:rPr lang="en-US" sz="1150" b="1" dirty="0" err="1">
                <a:solidFill>
                  <a:srgbClr val="5A646E"/>
                </a:solidFill>
                <a:latin typeface="Arial"/>
              </a:rPr>
              <a:t>google’s</a:t>
            </a:r>
            <a:r>
              <a:rPr lang="en-US" sz="1150" b="1" dirty="0">
                <a:solidFill>
                  <a:srgbClr val="5A646E"/>
                </a:solidFill>
                <a:latin typeface="Arial"/>
              </a:rPr>
              <a:t> AI Overview</a:t>
            </a:r>
            <a:endParaRPr sz="1150" b="1" dirty="0">
              <a:solidFill>
                <a:srgbClr val="5A646E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8432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7939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Provenance, not just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773168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Every line carries its source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date. The model cannot judge Reuters against a blog unless you tell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Cost of the search model: roughly $1 per million tokens, search included.</a:t>
            </a:r>
          </a:p>
        </p:txBody>
      </p:sp>
      <p:sp>
        <p:nvSpPr>
          <p:cNvPr id="2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0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CFDFC9F-1362-4F6C-AECC-4FE02B00C552}" type="slidenum">
              <a:rPr lang="en-US" sz="1000">
                <a:solidFill>
                  <a:srgbClr val="8996A0"/>
                </a:solidFill>
                <a:latin typeface="Arial"/>
              </a:rPr>
              <a:t>19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7DED-9036-EF82-FFEC-955DDC53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0144C1-F971-0BD0-7146-D7177C89ECD2}"/>
              </a:ext>
            </a:extLst>
          </p:cNvPr>
          <p:cNvSpPr txBox="1"/>
          <p:nvPr/>
        </p:nvSpPr>
        <p:spPr>
          <a:xfrm>
            <a:off x="465909" y="56805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Make sure you sign up at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NewsAPI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 &amp; have explored perplexity.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5157E-AB0F-6529-2349-5AA5EB8618A6}"/>
              </a:ext>
            </a:extLst>
          </p:cNvPr>
          <p:cNvSpPr txBox="1"/>
          <p:nvPr/>
        </p:nvSpPr>
        <p:spPr>
          <a:xfrm>
            <a:off x="177299" y="5981927"/>
            <a:ext cx="11458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News API points us in a specific direction to focus on newsworthy stories from reputable sources, thereby avoiding blogs &amp; slop.  Then we use that information to perform a search &amp; summary with perplexity.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A6824B9-20EA-95E0-A407-43C82D6EA956}"/>
              </a:ext>
            </a:extLst>
          </p:cNvPr>
          <p:cNvSpPr/>
          <p:nvPr/>
        </p:nvSpPr>
        <p:spPr>
          <a:xfrm>
            <a:off x="268224" y="219456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00E49B-49AB-9421-4DE9-B1C016507AC7}"/>
              </a:ext>
            </a:extLst>
          </p:cNvPr>
          <p:cNvSpPr/>
          <p:nvPr/>
        </p:nvSpPr>
        <p:spPr>
          <a:xfrm>
            <a:off x="1173480" y="251460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EAF01-2C2A-98DB-311A-E2A8A5B55C3A}"/>
              </a:ext>
            </a:extLst>
          </p:cNvPr>
          <p:cNvSpPr txBox="1"/>
          <p:nvPr/>
        </p:nvSpPr>
        <p:spPr>
          <a:xfrm>
            <a:off x="1173480" y="2514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87379-DBC8-032B-7E7E-E1CB4C5C5276}"/>
              </a:ext>
            </a:extLst>
          </p:cNvPr>
          <p:cNvSpPr txBox="1"/>
          <p:nvPr/>
        </p:nvSpPr>
        <p:spPr>
          <a:xfrm>
            <a:off x="405384" y="32461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Company news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E73D0-EC1D-827F-E202-7886D43C5EA5}"/>
              </a:ext>
            </a:extLst>
          </p:cNvPr>
          <p:cNvSpPr txBox="1"/>
          <p:nvPr/>
        </p:nvSpPr>
        <p:spPr>
          <a:xfrm>
            <a:off x="451104" y="374904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Headlines, then a search model that cites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A320889-039E-D0AC-C79C-F554C0D8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7" t="8767" r="26051"/>
          <a:stretch>
            <a:fillRect/>
          </a:stretch>
        </p:blipFill>
        <p:spPr>
          <a:xfrm>
            <a:off x="3550920" y="1950848"/>
            <a:ext cx="3064556" cy="31586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5B5454-F451-803D-AB10-72501C97C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15" t="34978" r="22269" b="26470"/>
          <a:stretch>
            <a:fillRect/>
          </a:stretch>
        </p:blipFill>
        <p:spPr>
          <a:xfrm>
            <a:off x="7861663" y="1198762"/>
            <a:ext cx="3156857" cy="18727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6722E5-9BB2-5500-B5E3-BE325740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950" t="8320" r="30111" b="11905"/>
          <a:stretch>
            <a:fillRect/>
          </a:stretch>
        </p:blipFill>
        <p:spPr>
          <a:xfrm>
            <a:off x="8166340" y="3189514"/>
            <a:ext cx="2547501" cy="27649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10233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C: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Confirm the key loaded by printing its length, then show the assembled query string.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the headline table, then print one content field in full and find the [+n chars] marker.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Run the relevance filter and read the dropped headlines out loud. Was it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Send six headlines to perplexity/sonar, read the briefing, then read the citation list.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47C841F-C88D-45AA-90B4-452D4B90F321}" type="slidenum">
              <a:rPr lang="en-US" sz="1000">
                <a:solidFill>
                  <a:srgbClr val="8996A0"/>
                </a:solidFill>
                <a:latin typeface="Arial"/>
              </a:rPr>
              <a:t>21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THE SAME TRICK, ON FILE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rial"/>
              </a:rPr>
              <a:t>Find the right 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earnings 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call without opening a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spc="20">
                <a:solidFill>
                  <a:srgbClr val="F3F3F1"/>
                </a:solidFill>
                <a:latin typeface="Arial"/>
              </a:rPr>
              <a:t>AAPL_2026-05-01.csv        MSFT_2025-10-29.csv        BRK.B_2026-02-24.csv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spc="20">
                <a:solidFill>
                  <a:srgbClr val="98C379"/>
                </a:solidFill>
                <a:latin typeface="Arial"/>
              </a:rPr>
              <a:t>newest_idx &lt;- order(file_dates, decreasing = TRUE)[1]   # ISO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Everything is in the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Symbol and date both live in the file name, so we can list every available call without reading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0332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Prefix match, not 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Tickers like BRK.B contain regex wildcards. The underscore also stops “A” matching AAPL_ and “ALL” matching ALLY_.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24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Sort the dates as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Strip the prefix and the .csv and you have a plain ISO string. Descending order gives you the newest.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81159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Open one file, not hundreds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We never read a file we are not going to use. The archive can grow without the script getting slower.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9496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19" y="539496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Name your files in ISO 8601 and the file system sorts your history for you, for free.</a:t>
            </a:r>
          </a:p>
        </p:txBody>
      </p:sp>
      <p:sp>
        <p:nvSpPr>
          <p:cNvPr id="2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9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988FF84-E674-40BA-B397-9D804F24D354}" type="slidenum">
              <a:rPr lang="en-US" sz="1000">
                <a:solidFill>
                  <a:srgbClr val="8996A0"/>
                </a:solidFill>
                <a:latin typeface="Arial"/>
              </a:rPr>
              <a:t>22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FIN_D_build_context.R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Context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Enginering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: 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Order 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&amp;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labels do real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PRIMARY SOURCE: COMPANY STATEMENTS ===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72768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Earnings call excerpt, management turns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5000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SECONDARY SOURCE: PRESS COVERAGE ===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350008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Headlines plus the enriched briefing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ENVIRONMENT: MACRO RISK 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27248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Filtered Riskline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04487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QUESTION ===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904487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Four things we want the model to address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919472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Beginnings and ends get the most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349240"/>
            <a:ext cx="29900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Models attend unevenly across a long input, so the primary source goes first and the question goes last.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919472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Without headers, sources blur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5349240"/>
            <a:ext cx="29900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The model cannot tell where a company's own claims end and a journalist's summary begins unless you say 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4919472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Look at the proportions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349240"/>
            <a:ext cx="29900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Which source is eating your window? Is it the one you trust most? Those two answers often do not match.</a:t>
            </a:r>
          </a:p>
        </p:txBody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4E2EF6B-C835-459D-9A93-115E849E6D26}" type="slidenum">
              <a:rPr lang="en-US" sz="1000">
                <a:solidFill>
                  <a:srgbClr val="8996A0"/>
                </a:solidFill>
                <a:latin typeface="Arial"/>
              </a:rPr>
              <a:t>23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THE SYSTEM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The context is the material. This is the instruction.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709928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099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Use only the provided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21992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2331720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221992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Attribute every claim to its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43784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7" y="2953512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9535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843784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Separate what the company asserts from what others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65576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7" y="3575304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5753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A51C3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465576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 the sources do not answer, say so plainly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4197096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197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087368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No investment advice, no buy or sell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09160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7" y="4818888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818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4709160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Be concise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1600200"/>
            <a:ext cx="3566160" cy="3675887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Rule 4 is the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31720"/>
            <a:ext cx="3017520" cy="2049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dirty="0">
                <a:solidFill>
                  <a:srgbClr val="F3F3F1"/>
                </a:solidFill>
                <a:latin typeface="Arial"/>
              </a:rPr>
              <a:t>Most people leave it out, and it is the one doing the real work. A model asked a question it cannot answer from the context will usually answer anyway.
Delete this line, re-run, and watch it start filling gaps.</a:t>
            </a:r>
            <a:r>
              <a:rPr lang="en-US" sz="1250" b="0" dirty="0">
                <a:solidFill>
                  <a:srgbClr val="F3F3F1"/>
                </a:solidFill>
                <a:latin typeface="Arial"/>
              </a:rPr>
              <a:t>  </a:t>
            </a:r>
            <a:r>
              <a:rPr lang="en-US" sz="1250" b="0" i="1" dirty="0">
                <a:solidFill>
                  <a:schemeClr val="accent1"/>
                </a:solidFill>
                <a:latin typeface="Arial"/>
              </a:rPr>
              <a:t>It does not work 100% of th</a:t>
            </a:r>
            <a:r>
              <a:rPr lang="en-US" sz="1250" i="1" dirty="0">
                <a:solidFill>
                  <a:schemeClr val="accent1"/>
                </a:solidFill>
                <a:latin typeface="Arial"/>
              </a:rPr>
              <a:t>e time but it will help.</a:t>
            </a:r>
            <a:endParaRPr sz="1250" b="0" i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19" y="5468112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It still does not always work. Models are trained to be helpful and will state a fabricated fact confidently.</a:t>
            </a:r>
          </a:p>
        </p:txBody>
      </p:sp>
      <p:sp>
        <p:nvSpPr>
          <p:cNvPr id="3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4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8D7B2B2-DBE1-46D6-A1CB-FEC14CFEB023}" type="slidenum">
              <a:rPr lang="en-US" sz="1000">
                <a:solidFill>
                  <a:srgbClr val="8996A0"/>
                </a:solidFill>
                <a:latin typeface="Arial"/>
              </a:rPr>
              <a:t>24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NOW CHANGE SOMETHING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Three experiments worth running in the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Cut the transcript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953512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Set TRANSCRIPT_TURNS to 3 and re-run. Less context is cheaper. Is the research note meaningfully worse?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08576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192024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Add the analysts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78608"/>
            <a:ext cx="2953512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Include analyst turns as well as management. Does the model's read of the call change?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2752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92024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Remove rule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78608"/>
            <a:ext cx="2953512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Delete the instruction to admit gaps. Watch whether the model starts filling them in for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434340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51C30"/>
                </a:solidFill>
                <a:latin typeface="Arial"/>
              </a:rPr>
              <a:t>AND CHECK OUR ARITHMETIC AGAINST THEIRS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75488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E1E1E"/>
                </a:solidFill>
                <a:latin typeface="Arial"/>
              </a:rPr>
              <a:t>The response carries a usage field with the real prompt, completion and total token counts. Compare it to our characters divided by four. Dividing by 4 is a rough rule, not a precise one.</a:t>
            </a:r>
          </a:p>
        </p:txBody>
      </p:sp>
      <p:sp>
        <p:nvSpPr>
          <p:cNvPr id="2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4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03970FA-DB0C-473B-9350-1C021C3F32BF}" type="slidenum">
              <a:rPr lang="en-US" sz="1000">
                <a:solidFill>
                  <a:srgbClr val="8996A0"/>
                </a:solidFill>
                <a:latin typeface="Arial"/>
              </a:rPr>
              <a:t>25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D: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Find the newest file by sorting names, read exactly one CSV, and build the excerpt.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Load the saved macro and news blocks, then print the size of each of the three pieces.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Assemble, print the labelled context, and send one call to the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Read the research note, then the usage field, then change TRANSCRIPT_TURNS and re-run.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591DF4F-A695-4E7B-9EF5-308EA92D8C26}" type="slidenum">
              <a:rPr lang="en-US" sz="1000">
                <a:solidFill>
                  <a:srgbClr val="8996A0"/>
                </a:solidFill>
                <a:latin typeface="Arial"/>
              </a:rPr>
              <a:t>26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BEFORE YOU TRUST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What we traded away,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Kept management remarks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27632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627632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627632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Deleted every question and every pushback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Chunked the call by speaker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468880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2468880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Chunk three has no memory of chunk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10128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1012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Filtered the risk feed by country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10128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310128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3310128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Assumed our country list was the right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51376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Took the first 12 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151376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4151376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4151376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Assumed the prepared statement is the 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If the model reports that the call was positive, remember we only showed it the part where management describes its own quarter. We built that bias in ourselves.</a:t>
            </a:r>
          </a:p>
        </p:txBody>
      </p:sp>
      <p:sp>
        <p:nvSpPr>
          <p:cNvPr id="2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7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37A912A-329C-4707-8961-6F325894FCA9}" type="slidenum">
              <a:rPr lang="en-US" sz="1000">
                <a:solidFill>
                  <a:srgbClr val="8996A0"/>
                </a:solidFill>
                <a:latin typeface="Arial"/>
              </a:rPr>
              <a:t>27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HOUR 1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What you should take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74650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465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Context is built by choosing, not by pasting everything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261518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6151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Structure you already have (speakers, dates, file names) is free leverage.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7" y="348386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4838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Filtering is context engineering. Noise costs tokens and hides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64807" y="174650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17465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002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Give the model the source and the date, not just the claim.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64807" y="261518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26151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688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Order and labels matter. Primary source first, question last.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3756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64807" y="348386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34838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3756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What you leave out shapes the answer as much as what you include.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029200"/>
            <a:ext cx="10149840" cy="53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F3F3F1"/>
                </a:solidFill>
                <a:latin typeface="Arial"/>
              </a:rPr>
              <a:t>Sentiment analysis </a:t>
            </a:r>
            <a:r>
              <a:rPr lang="en-US" sz="1400" b="0" dirty="0">
                <a:solidFill>
                  <a:srgbClr val="F3F3F1"/>
                </a:solidFill>
                <a:latin typeface="Arial"/>
              </a:rPr>
              <a:t>&amp;</a:t>
            </a:r>
            <a:r>
              <a:rPr sz="1400" b="0" dirty="0">
                <a:solidFill>
                  <a:srgbClr val="F3F3F1"/>
                </a:solidFill>
                <a:latin typeface="Arial"/>
              </a:rPr>
              <a:t> named entity recognition. We stop asking the model to summarize the text and start asking it to score and label it, one sentence at a time.</a:t>
            </a:r>
          </a:p>
        </p:txBody>
      </p:sp>
      <p:sp>
        <p:nvSpPr>
          <p:cNvPr id="3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1717793-4A2C-4EB8-A7F3-38729929F76C}" type="slidenum">
              <a:rPr lang="en-US" sz="1000">
                <a:solidFill>
                  <a:srgbClr val="8996A0"/>
                </a:solidFill>
                <a:latin typeface="Arial"/>
              </a:rPr>
              <a:t>28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3170</Words>
  <Application>Microsoft Macintosh PowerPoint</Application>
  <PresentationFormat>Widescreen</PresentationFormat>
  <Paragraphs>371</Paragraphs>
  <Slides>28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Kwartler</cp:lastModifiedBy>
  <cp:revision>3</cp:revision>
  <dcterms:created xsi:type="dcterms:W3CDTF">2013-01-27T09:14:16Z</dcterms:created>
  <dcterms:modified xsi:type="dcterms:W3CDTF">2026-08-03T00:22:22Z</dcterms:modified>
  <cp:category/>
</cp:coreProperties>
</file>