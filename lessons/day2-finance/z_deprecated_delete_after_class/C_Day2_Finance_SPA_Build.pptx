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4" d="100"/>
          <a:sy n="124" d="100"/>
        </p:scale>
        <p:origin x="5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5298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51C30"/>
        </a:solidFill>
        <a:effectLst/>
      </p:bgPr>
    </p:bg>
    <p:spTree>
      <p:nvGrpSpPr>
        <p:cNvPr id="1" name=""/>
        <p:cNvGrpSpPr/>
        <p:nvPr/>
      </p:nvGrpSpPr>
      <p:grpSpPr>
        <a:xfrm>
          <a:off x="0" y="0"/>
          <a:ext cx="0" cy="0"/>
          <a:chOff x="0" y="0"/>
          <a:chExt cx="0" cy="0"/>
        </a:xfrm>
      </p:grpSpPr>
      <p:sp>
        <p:nvSpPr>
          <p:cNvPr id="2" name="Text 0"/>
          <p:cNvSpPr/>
          <p:nvPr/>
        </p:nvSpPr>
        <p:spPr>
          <a:xfrm>
            <a:off x="548640" y="2286000"/>
            <a:ext cx="11064240" cy="365760"/>
          </a:xfrm>
          <a:prstGeom prst="rect">
            <a:avLst/>
          </a:prstGeom>
          <a:noFill/>
          <a:ln/>
        </p:spPr>
        <p:txBody>
          <a:bodyPr wrap="square" lIns="0" tIns="0" rIns="0" bIns="0" rtlCol="0" anchor="ctr"/>
          <a:lstStyle/>
          <a:p>
            <a:pPr marL="0" indent="0">
              <a:buNone/>
            </a:pPr>
            <a:r>
              <a:rPr lang="en-US" sz="1400" b="1" kern="0" spc="600" dirty="0">
                <a:solidFill>
                  <a:srgbClr val="F3F3F1"/>
                </a:solidFill>
                <a:latin typeface="Arial" pitchFamily="34" charset="0"/>
                <a:ea typeface="Arial" pitchFamily="34" charset="-122"/>
                <a:cs typeface="Arial" pitchFamily="34" charset="-120"/>
              </a:rPr>
              <a:t>DAY 2  ·  HOUR 3  ·  FINANCE MASTERS TRACK</a:t>
            </a:r>
            <a:endParaRPr lang="en-US" sz="1400" dirty="0"/>
          </a:p>
        </p:txBody>
      </p:sp>
      <p:sp>
        <p:nvSpPr>
          <p:cNvPr id="3" name="Text 1"/>
          <p:cNvSpPr/>
          <p:nvPr/>
        </p:nvSpPr>
        <p:spPr>
          <a:xfrm>
            <a:off x="548640" y="2743200"/>
            <a:ext cx="11064240" cy="1280160"/>
          </a:xfrm>
          <a:prstGeom prst="rect">
            <a:avLst/>
          </a:prstGeom>
          <a:noFill/>
          <a:ln/>
        </p:spPr>
        <p:txBody>
          <a:bodyPr wrap="square" lIns="0" tIns="0" rIns="0" bIns="0" rtlCol="0" anchor="ctr"/>
          <a:lstStyle/>
          <a:p>
            <a:pPr marL="0" indent="0">
              <a:buNone/>
            </a:pPr>
            <a:r>
              <a:rPr lang="en-US" sz="6000" b="1" dirty="0">
                <a:solidFill>
                  <a:srgbClr val="FFFFFF"/>
                </a:solidFill>
                <a:latin typeface="Arial" pitchFamily="34" charset="0"/>
                <a:ea typeface="Arial" pitchFamily="34" charset="-122"/>
                <a:cs typeface="Arial" pitchFamily="34" charset="-120"/>
              </a:rPr>
              <a:t>The SPA Build</a:t>
            </a:r>
            <a:endParaRPr lang="en-US" sz="6000" dirty="0"/>
          </a:p>
        </p:txBody>
      </p:sp>
      <p:sp>
        <p:nvSpPr>
          <p:cNvPr id="4" name="Text 2"/>
          <p:cNvSpPr/>
          <p:nvPr/>
        </p:nvSpPr>
        <p:spPr>
          <a:xfrm>
            <a:off x="548640" y="4023360"/>
            <a:ext cx="11064240" cy="548640"/>
          </a:xfrm>
          <a:prstGeom prst="rect">
            <a:avLst/>
          </a:prstGeom>
          <a:noFill/>
          <a:ln/>
        </p:spPr>
        <p:txBody>
          <a:bodyPr wrap="square" lIns="0" tIns="0" rIns="0" bIns="0" rtlCol="0" anchor="ctr"/>
          <a:lstStyle/>
          <a:p>
            <a:pPr marL="0" indent="0">
              <a:buNone/>
            </a:pPr>
            <a:r>
              <a:rPr lang="en-US" sz="2000" i="1" dirty="0">
                <a:solidFill>
                  <a:srgbClr val="F3F3F1"/>
                </a:solidFill>
                <a:latin typeface="Arial" pitchFamily="34" charset="0"/>
                <a:ea typeface="Arial" pitchFamily="34" charset="-122"/>
                <a:cs typeface="Arial" pitchFamily="34" charset="-120"/>
              </a:rPr>
              <a:t>From morning R to a browser app that reviews an earnings call end to end</a:t>
            </a:r>
            <a:endParaRPr lang="en-US" sz="2000" dirty="0"/>
          </a:p>
        </p:txBody>
      </p:sp>
      <p:sp>
        <p:nvSpPr>
          <p:cNvPr id="5" name="Text 3"/>
          <p:cNvSpPr/>
          <p:nvPr/>
        </p:nvSpPr>
        <p:spPr>
          <a:xfrm>
            <a:off x="548640" y="6035040"/>
            <a:ext cx="11064240" cy="320040"/>
          </a:xfrm>
          <a:prstGeom prst="rect">
            <a:avLst/>
          </a:prstGeom>
          <a:noFill/>
          <a:ln/>
        </p:spPr>
        <p:txBody>
          <a:bodyPr wrap="square" lIns="0" tIns="0" rIns="0" bIns="0" rtlCol="0" anchor="ctr"/>
          <a:lstStyle/>
          <a:p>
            <a:pPr marL="0" indent="0">
              <a:buNone/>
            </a:pPr>
            <a:r>
              <a:rPr lang="en-US" sz="1200" kern="0" spc="400" dirty="0">
                <a:solidFill>
                  <a:srgbClr val="F3F3F1"/>
                </a:solidFill>
                <a:latin typeface="Arial" pitchFamily="34" charset="0"/>
                <a:ea typeface="Arial" pitchFamily="34" charset="-122"/>
                <a:cs typeface="Arial" pitchFamily="34" charset="-120"/>
              </a:rPr>
              <a:t>Generative AI in Finance  ·  EA Executive MBA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SPA AS ONE PIPELINE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Same architecture, now in the browser</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3766884600"/>
              </p:ext>
            </p:extLst>
          </p:nvPr>
        </p:nvGraphicFramePr>
        <p:xfrm>
          <a:off x="457200" y="2011680"/>
          <a:ext cx="11247120" cy="4023360"/>
        </p:xfrm>
        <a:graphic>
          <a:graphicData uri="http://schemas.openxmlformats.org/drawingml/2006/table">
            <a:tbl>
              <a:tblPr/>
              <a:tblGrid>
                <a:gridCol w="12801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57200">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This morning in R</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solidFill>
                      <a:srgbClr val="A51C30"/>
                    </a:solidFill>
                  </a:tcPr>
                </a:tc>
                <a:tc>
                  <a:txBody>
                    <a:bodyPr/>
                    <a:lstStyle/>
                    <a:p>
                      <a:pPr marL="0" indent="0" algn="l">
                        <a:buNone/>
                      </a:pP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solidFill>
                      <a:srgbClr val="A51C30"/>
                    </a:solidFill>
                  </a:tcPr>
                </a:tc>
                <a:tc>
                  <a:txBody>
                    <a:bodyPr/>
                    <a:lstStyle/>
                    <a:p>
                      <a:pPr marL="0" indent="0" algn="l">
                        <a:buNone/>
                      </a:pPr>
                      <a:r>
                        <a:rPr lang="en-US" sz="1200" b="1" dirty="0">
                          <a:solidFill>
                            <a:srgbClr val="FFFFFF"/>
                          </a:solidFill>
                          <a:latin typeface="Arial" pitchFamily="34" charset="0"/>
                          <a:ea typeface="Arial" pitchFamily="34" charset="-122"/>
                          <a:cs typeface="Arial" pitchFamily="34" charset="-120"/>
                        </a:rPr>
                        <a:t>This hour in the SPA</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solidFill>
                      <a:srgbClr val="A51C30"/>
                    </a:solidFill>
                  </a:tcPr>
                </a:tc>
                <a:extLst>
                  <a:ext uri="{0D108BD9-81ED-4DB2-BD59-A6C34878D82A}">
                    <a16:rowId xmlns:a16="http://schemas.microsoft.com/office/drawing/2014/main" val="10000"/>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FIN_A</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Load and inspect the transcript</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File upload plus CSV parser or raw </a:t>
                      </a:r>
                      <a:r>
                        <a:rPr lang="en-US" sz="1200" i="1" dirty="0" err="1">
                          <a:solidFill>
                            <a:srgbClr val="293352"/>
                          </a:solidFill>
                          <a:latin typeface="Arial" pitchFamily="34" charset="0"/>
                          <a:ea typeface="Arial" pitchFamily="34" charset="-122"/>
                          <a:cs typeface="Arial" pitchFamily="34" charset="-120"/>
                        </a:rPr>
                        <a:t>github</a:t>
                      </a:r>
                      <a:r>
                        <a:rPr lang="en-US" sz="1200" i="1" dirty="0">
                          <a:solidFill>
                            <a:srgbClr val="293352"/>
                          </a:solidFill>
                          <a:latin typeface="Arial" pitchFamily="34" charset="0"/>
                          <a:ea typeface="Arial" pitchFamily="34" charset="-122"/>
                          <a:cs typeface="Arial" pitchFamily="34" charset="-120"/>
                        </a:rPr>
                        <a:t> file URLs</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FIN_B</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Fetch and filter macro alerts</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fetch() to Riskline, filter by country; could be input from user</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FIN_C</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Fetch and query company news</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fetch() to NewsAPI with an API keyed field&gt; expand with perplexity</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FIN_D</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Assemble one labeled context block</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Assemble in JS, render on screen</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FIN_E</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Sentiment per turn, JSON schema</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JS loop, OpenRouter per turn, with a progress bar &amp; specify a small model</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FIN_F</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Extraction per turn, JSON schema</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JS loop, OpenRouter per turn, with a progress bar &amp; specify a small model</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lgn="l">
                        <a:buNone/>
                      </a:pPr>
                      <a:r>
                        <a:rPr lang="en-US" sz="1200" b="1" dirty="0">
                          <a:solidFill>
                            <a:srgbClr val="A51C30"/>
                          </a:solidFill>
                          <a:latin typeface="Arial" pitchFamily="34" charset="0"/>
                          <a:ea typeface="Arial" pitchFamily="34" charset="-122"/>
                          <a:cs typeface="Arial" pitchFamily="34" charset="-120"/>
                        </a:rPr>
                        <a:t>FIN_G</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dirty="0">
                          <a:solidFill>
                            <a:srgbClr val="1E1E1E"/>
                          </a:solidFill>
                          <a:latin typeface="Arial" pitchFamily="34" charset="0"/>
                          <a:ea typeface="Arial" pitchFamily="34" charset="-122"/>
                          <a:cs typeface="Arial" pitchFamily="34" charset="-120"/>
                        </a:rPr>
                        <a:t>Assemble the human review surface</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tc>
                  <a:txBody>
                    <a:bodyPr/>
                    <a:lstStyle/>
                    <a:p>
                      <a:pPr marL="0" indent="0" algn="l">
                        <a:buNone/>
                      </a:pPr>
                      <a:r>
                        <a:rPr lang="en-US" sz="1200" i="1" dirty="0">
                          <a:solidFill>
                            <a:srgbClr val="293352"/>
                          </a:solidFill>
                          <a:latin typeface="Arial" pitchFamily="34" charset="0"/>
                          <a:ea typeface="Arial" pitchFamily="34" charset="-122"/>
                          <a:cs typeface="Arial" pitchFamily="34" charset="-120"/>
                        </a:rPr>
                        <a:t>Raw data is shown for human review along with the research note summary.</a:t>
                      </a:r>
                      <a:endParaRPr lang="en-US" sz="1200" dirty="0">
                        <a:latin typeface="Arial" charset="0"/>
                        <a:ea typeface="Arial" charset="0"/>
                        <a:cs typeface="Arial" charset="0"/>
                      </a:endParaRPr>
                    </a:p>
                  </a:txBody>
                  <a:tcPr marT="91440" marB="91440" anchor="ctr">
                    <a:lnL w="12700" cap="flat" cmpd="sng" algn="ctr">
                      <a:solidFill>
                        <a:srgbClr val="F3F3F1"/>
                      </a:solidFill>
                      <a:prstDash val="solid"/>
                      <a:round/>
                      <a:headEnd type="none" w="med" len="med"/>
                      <a:tailEnd type="none" w="med" len="med"/>
                    </a:lnL>
                    <a:lnR w="12700" cap="flat" cmpd="sng" algn="ctr">
                      <a:solidFill>
                        <a:srgbClr val="F3F3F1"/>
                      </a:solidFill>
                      <a:prstDash val="solid"/>
                      <a:round/>
                      <a:headEnd type="none" w="med" len="med"/>
                      <a:tailEnd type="none" w="med" len="med"/>
                    </a:lnR>
                    <a:lnT w="12700" cap="flat" cmpd="sng" algn="ctr">
                      <a:solidFill>
                        <a:srgbClr val="F3F3F1"/>
                      </a:solidFill>
                      <a:prstDash val="solid"/>
                      <a:round/>
                      <a:headEnd type="none" w="med" len="med"/>
                      <a:tailEnd type="none" w="med" len="med"/>
                    </a:lnT>
                    <a:lnB w="12700" cap="flat" cmpd="sng" algn="ctr">
                      <a:solidFill>
                        <a:srgbClr val="F3F3F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Text 3"/>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The split holds. Code collects and structures. An LLM interprets. A human reads.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WHY THIS APP CAN BE TRUSTED</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The rule of the build</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194560"/>
            <a:ext cx="3566160" cy="3474720"/>
          </a:xfrm>
          <a:prstGeom prst="rect">
            <a:avLst/>
          </a:prstGeom>
          <a:solidFill>
            <a:srgbClr val="F3F3F1"/>
          </a:solidFill>
          <a:ln w="12700">
            <a:solidFill>
              <a:srgbClr val="F3F3F1"/>
            </a:solidFill>
            <a:prstDash val="solid"/>
          </a:ln>
        </p:spPr>
      </p:sp>
      <p:sp>
        <p:nvSpPr>
          <p:cNvPr id="6" name="Text 4"/>
          <p:cNvSpPr/>
          <p:nvPr/>
        </p:nvSpPr>
        <p:spPr>
          <a:xfrm>
            <a:off x="731520" y="2423160"/>
            <a:ext cx="3017520" cy="320040"/>
          </a:xfrm>
          <a:prstGeom prst="rect">
            <a:avLst/>
          </a:prstGeom>
          <a:noFill/>
          <a:ln/>
        </p:spPr>
        <p:txBody>
          <a:bodyPr wrap="square" lIns="0" tIns="0" rIns="0" bIns="0" rtlCol="0" anchor="ctr"/>
          <a:lstStyle/>
          <a:p>
            <a:pPr marL="0" indent="0">
              <a:buNone/>
            </a:pPr>
            <a:r>
              <a:rPr lang="en-US" sz="1100" b="1" kern="0" spc="500" dirty="0">
                <a:solidFill>
                  <a:srgbClr val="A51C30"/>
                </a:solidFill>
                <a:latin typeface="Arial" pitchFamily="34" charset="0"/>
                <a:ea typeface="Arial" pitchFamily="34" charset="-122"/>
                <a:cs typeface="Arial" pitchFamily="34" charset="-120"/>
              </a:rPr>
              <a:t>JAVASCRIPT</a:t>
            </a:r>
            <a:endParaRPr lang="en-US" sz="1100" dirty="0"/>
          </a:p>
        </p:txBody>
      </p:sp>
      <p:sp>
        <p:nvSpPr>
          <p:cNvPr id="7" name="Text 5"/>
          <p:cNvSpPr/>
          <p:nvPr/>
        </p:nvSpPr>
        <p:spPr>
          <a:xfrm>
            <a:off x="731520" y="2743200"/>
            <a:ext cx="3017520" cy="548640"/>
          </a:xfrm>
          <a:prstGeom prst="rect">
            <a:avLst/>
          </a:prstGeom>
          <a:noFill/>
          <a:ln/>
        </p:spPr>
        <p:txBody>
          <a:bodyPr wrap="square" lIns="0" tIns="0" rIns="0" bIns="0" rtlCol="0" anchor="ctr"/>
          <a:lstStyle/>
          <a:p>
            <a:pPr marL="0" indent="0">
              <a:buNone/>
            </a:pPr>
            <a:r>
              <a:rPr lang="en-US" sz="2200" b="1" dirty="0">
                <a:solidFill>
                  <a:srgbClr val="1E1E1E"/>
                </a:solidFill>
                <a:latin typeface="Arial" pitchFamily="34" charset="0"/>
                <a:ea typeface="Arial" pitchFamily="34" charset="-122"/>
                <a:cs typeface="Arial" pitchFamily="34" charset="-120"/>
              </a:rPr>
              <a:t>Structured work</a:t>
            </a:r>
            <a:endParaRPr lang="en-US" sz="2200" dirty="0"/>
          </a:p>
        </p:txBody>
      </p:sp>
      <p:sp>
        <p:nvSpPr>
          <p:cNvPr id="8" name="Text 6"/>
          <p:cNvSpPr/>
          <p:nvPr/>
        </p:nvSpPr>
        <p:spPr>
          <a:xfrm>
            <a:off x="731520" y="3474720"/>
            <a:ext cx="3017520" cy="20116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CSV parsing</a:t>
            </a:r>
            <a:endParaRPr lang="en-US" sz="1300" dirty="0"/>
          </a:p>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Country filters</a:t>
            </a:r>
            <a:endParaRPr lang="en-US" sz="1300" dirty="0"/>
          </a:p>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Word counts</a:t>
            </a:r>
            <a:endParaRPr lang="en-US" sz="1300" dirty="0"/>
          </a:p>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Sentiment density</a:t>
            </a:r>
            <a:endParaRPr lang="en-US" sz="1300" dirty="0"/>
          </a:p>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Entity dedupe</a:t>
            </a:r>
            <a:endParaRPr lang="en-US" sz="1300" dirty="0"/>
          </a:p>
          <a:p>
            <a:pPr marL="342900" indent="-342900">
              <a:spcAft>
                <a:spcPts val="400"/>
              </a:spcAft>
              <a:buSzPct val="100000"/>
              <a:buChar char="▪"/>
            </a:pPr>
            <a:r>
              <a:rPr lang="en-US" sz="1300" dirty="0">
                <a:solidFill>
                  <a:srgbClr val="1E1E1E"/>
                </a:solidFill>
                <a:latin typeface="Arial" pitchFamily="34" charset="0"/>
                <a:ea typeface="Arial" pitchFamily="34" charset="-122"/>
                <a:cs typeface="Arial" pitchFamily="34" charset="-120"/>
              </a:rPr>
              <a:t>Coverage checks</a:t>
            </a:r>
            <a:endParaRPr lang="en-US" sz="1300" dirty="0"/>
          </a:p>
        </p:txBody>
      </p:sp>
      <p:sp>
        <p:nvSpPr>
          <p:cNvPr id="9" name="Shape 7"/>
          <p:cNvSpPr/>
          <p:nvPr/>
        </p:nvSpPr>
        <p:spPr>
          <a:xfrm>
            <a:off x="4297680" y="2194560"/>
            <a:ext cx="3566160" cy="3474720"/>
          </a:xfrm>
          <a:prstGeom prst="rect">
            <a:avLst/>
          </a:prstGeom>
          <a:solidFill>
            <a:srgbClr val="293352"/>
          </a:solidFill>
          <a:ln w="12700">
            <a:solidFill>
              <a:srgbClr val="293352"/>
            </a:solidFill>
            <a:prstDash val="solid"/>
          </a:ln>
        </p:spPr>
      </p:sp>
      <p:sp>
        <p:nvSpPr>
          <p:cNvPr id="10" name="Text 8"/>
          <p:cNvSpPr/>
          <p:nvPr/>
        </p:nvSpPr>
        <p:spPr>
          <a:xfrm>
            <a:off x="4572000" y="2423160"/>
            <a:ext cx="3017520" cy="320040"/>
          </a:xfrm>
          <a:prstGeom prst="rect">
            <a:avLst/>
          </a:prstGeom>
          <a:noFill/>
          <a:ln/>
        </p:spPr>
        <p:txBody>
          <a:bodyPr wrap="square" lIns="0" tIns="0" rIns="0" bIns="0" rtlCol="0" anchor="ctr"/>
          <a:lstStyle/>
          <a:p>
            <a:pPr marL="0" indent="0">
              <a:buNone/>
            </a:pPr>
            <a:r>
              <a:rPr lang="en-US" sz="1100" b="1" kern="0" spc="500" dirty="0">
                <a:solidFill>
                  <a:srgbClr val="F3F3F1"/>
                </a:solidFill>
                <a:latin typeface="Arial" pitchFamily="34" charset="0"/>
                <a:ea typeface="Arial" pitchFamily="34" charset="-122"/>
                <a:cs typeface="Arial" pitchFamily="34" charset="-120"/>
              </a:rPr>
              <a:t>LANGUAGE MODEL</a:t>
            </a:r>
            <a:endParaRPr lang="en-US" sz="1100" dirty="0"/>
          </a:p>
        </p:txBody>
      </p:sp>
      <p:sp>
        <p:nvSpPr>
          <p:cNvPr id="11" name="Text 9"/>
          <p:cNvSpPr/>
          <p:nvPr/>
        </p:nvSpPr>
        <p:spPr>
          <a:xfrm>
            <a:off x="4572000" y="2743200"/>
            <a:ext cx="3017520" cy="54864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Language work</a:t>
            </a:r>
            <a:endParaRPr lang="en-US" sz="2200" dirty="0"/>
          </a:p>
        </p:txBody>
      </p:sp>
      <p:sp>
        <p:nvSpPr>
          <p:cNvPr id="12" name="Text 10"/>
          <p:cNvSpPr/>
          <p:nvPr/>
        </p:nvSpPr>
        <p:spPr>
          <a:xfrm>
            <a:off x="4572000" y="3474720"/>
            <a:ext cx="3017520" cy="20116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Positive and negative phrases</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Named entities and roles</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Financial figures with context</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Forward looking claims</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The final research note</a:t>
            </a:r>
            <a:endParaRPr lang="en-US" sz="1300" dirty="0"/>
          </a:p>
        </p:txBody>
      </p:sp>
      <p:sp>
        <p:nvSpPr>
          <p:cNvPr id="13" name="Shape 11"/>
          <p:cNvSpPr/>
          <p:nvPr/>
        </p:nvSpPr>
        <p:spPr>
          <a:xfrm>
            <a:off x="8138160" y="2194560"/>
            <a:ext cx="3566160" cy="3474720"/>
          </a:xfrm>
          <a:prstGeom prst="rect">
            <a:avLst/>
          </a:prstGeom>
          <a:solidFill>
            <a:srgbClr val="A51C30"/>
          </a:solidFill>
          <a:ln w="12700">
            <a:solidFill>
              <a:srgbClr val="A51C30"/>
            </a:solidFill>
            <a:prstDash val="solid"/>
          </a:ln>
        </p:spPr>
      </p:sp>
      <p:sp>
        <p:nvSpPr>
          <p:cNvPr id="14" name="Text 12"/>
          <p:cNvSpPr/>
          <p:nvPr/>
        </p:nvSpPr>
        <p:spPr>
          <a:xfrm>
            <a:off x="8412480" y="2423160"/>
            <a:ext cx="3017520" cy="320040"/>
          </a:xfrm>
          <a:prstGeom prst="rect">
            <a:avLst/>
          </a:prstGeom>
          <a:noFill/>
          <a:ln/>
        </p:spPr>
        <p:txBody>
          <a:bodyPr wrap="square" lIns="0" tIns="0" rIns="0" bIns="0" rtlCol="0" anchor="ctr"/>
          <a:lstStyle/>
          <a:p>
            <a:pPr marL="0" indent="0">
              <a:buNone/>
            </a:pPr>
            <a:r>
              <a:rPr lang="en-US" sz="1100" b="1" kern="0" spc="500" dirty="0">
                <a:solidFill>
                  <a:srgbClr val="F3F3F1"/>
                </a:solidFill>
                <a:latin typeface="Arial" pitchFamily="34" charset="0"/>
                <a:ea typeface="Arial" pitchFamily="34" charset="-122"/>
                <a:cs typeface="Arial" pitchFamily="34" charset="-120"/>
              </a:rPr>
              <a:t>HUMAN</a:t>
            </a:r>
            <a:endParaRPr lang="en-US" sz="1100" dirty="0"/>
          </a:p>
        </p:txBody>
      </p:sp>
      <p:sp>
        <p:nvSpPr>
          <p:cNvPr id="15" name="Text 13"/>
          <p:cNvSpPr/>
          <p:nvPr/>
        </p:nvSpPr>
        <p:spPr>
          <a:xfrm>
            <a:off x="8412480" y="2743200"/>
            <a:ext cx="3017520" cy="548640"/>
          </a:xfrm>
          <a:prstGeom prst="rect">
            <a:avLst/>
          </a:prstGeom>
          <a:noFill/>
          <a:ln/>
        </p:spPr>
        <p:txBody>
          <a:bodyPr wrap="square" lIns="0" tIns="0" rIns="0" bIns="0" rtlCol="0" anchor="ctr"/>
          <a:lstStyle/>
          <a:p>
            <a:pPr marL="0" indent="0">
              <a:buNone/>
            </a:pPr>
            <a:r>
              <a:rPr lang="en-US" sz="2200" b="1" dirty="0">
                <a:solidFill>
                  <a:srgbClr val="FFFFFF"/>
                </a:solidFill>
                <a:latin typeface="Arial" pitchFamily="34" charset="0"/>
                <a:ea typeface="Arial" pitchFamily="34" charset="-122"/>
                <a:cs typeface="Arial" pitchFamily="34" charset="-120"/>
              </a:rPr>
              <a:t>Review before publishing</a:t>
            </a:r>
            <a:endParaRPr lang="en-US" sz="2200" dirty="0"/>
          </a:p>
        </p:txBody>
      </p:sp>
      <p:sp>
        <p:nvSpPr>
          <p:cNvPr id="16" name="Text 14"/>
          <p:cNvSpPr/>
          <p:nvPr/>
        </p:nvSpPr>
        <p:spPr>
          <a:xfrm>
            <a:off x="8412480" y="3474720"/>
            <a:ext cx="3017520" cy="20116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Reads the review surface</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Confirms coverage</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Judges what to publish</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Checks attribution</a:t>
            </a:r>
            <a:endParaRPr lang="en-US" sz="1300" dirty="0"/>
          </a:p>
          <a:p>
            <a:pPr marL="342900" indent="-342900">
              <a:spcAft>
                <a:spcPts val="400"/>
              </a:spcAft>
              <a:buSzPct val="100000"/>
              <a:buChar char="▪"/>
            </a:pPr>
            <a:r>
              <a:rPr lang="en-US" sz="1300" dirty="0">
                <a:solidFill>
                  <a:srgbClr val="FFFFFF"/>
                </a:solidFill>
                <a:latin typeface="Arial" pitchFamily="34" charset="0"/>
                <a:ea typeface="Arial" pitchFamily="34" charset="-122"/>
                <a:cs typeface="Arial" pitchFamily="34" charset="-120"/>
              </a:rPr>
              <a:t>Signs off</a:t>
            </a:r>
            <a:endParaRPr lang="en-US" sz="1300" dirty="0"/>
          </a:p>
        </p:txBody>
      </p:sp>
      <p:sp>
        <p:nvSpPr>
          <p:cNvPr id="17" name="Text 15"/>
          <p:cNvSpPr/>
          <p:nvPr/>
        </p:nvSpPr>
        <p:spPr>
          <a:xfrm>
            <a:off x="457200" y="5989320"/>
            <a:ext cx="11247120" cy="36576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Every calculation on screen came from JavaScript. Every sentence came from the model. The distinction is what a reviewer can audit.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INSTRUCTOR DEMO, SETS THE GOAL</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Target application</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548640" y="2103120"/>
            <a:ext cx="502920" cy="502920"/>
          </a:xfrm>
          <a:prstGeom prst="ellipse">
            <a:avLst/>
          </a:prstGeom>
          <a:solidFill>
            <a:srgbClr val="A51C30"/>
          </a:solidFill>
          <a:ln w="12700">
            <a:solidFill>
              <a:srgbClr val="A51C30"/>
            </a:solidFill>
            <a:prstDash val="solid"/>
          </a:ln>
        </p:spPr>
      </p:sp>
      <p:sp>
        <p:nvSpPr>
          <p:cNvPr id="6" name="Text 4"/>
          <p:cNvSpPr/>
          <p:nvPr/>
        </p:nvSpPr>
        <p:spPr>
          <a:xfrm>
            <a:off x="548640" y="2103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234440" y="210312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Upload a transcript CSV.  Sample shown to user to ensure it is correct.</a:t>
            </a:r>
            <a:endParaRPr lang="en-US" sz="1500" dirty="0"/>
          </a:p>
        </p:txBody>
      </p:sp>
      <p:sp>
        <p:nvSpPr>
          <p:cNvPr id="8" name="Shape 6"/>
          <p:cNvSpPr/>
          <p:nvPr/>
        </p:nvSpPr>
        <p:spPr>
          <a:xfrm>
            <a:off x="548640" y="2743200"/>
            <a:ext cx="502920" cy="502920"/>
          </a:xfrm>
          <a:prstGeom prst="ellipse">
            <a:avLst/>
          </a:prstGeom>
          <a:solidFill>
            <a:srgbClr val="A51C30"/>
          </a:solidFill>
          <a:ln w="12700">
            <a:solidFill>
              <a:srgbClr val="A51C30"/>
            </a:solidFill>
            <a:prstDash val="solid"/>
          </a:ln>
        </p:spPr>
      </p:sp>
      <p:sp>
        <p:nvSpPr>
          <p:cNvPr id="9" name="Text 7"/>
          <p:cNvSpPr/>
          <p:nvPr/>
        </p:nvSpPr>
        <p:spPr>
          <a:xfrm>
            <a:off x="548640" y="2743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1234440" y="274320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App fetches macro alerts and press coverage in the background.</a:t>
            </a:r>
            <a:endParaRPr lang="en-US" sz="1500" dirty="0"/>
          </a:p>
        </p:txBody>
      </p:sp>
      <p:sp>
        <p:nvSpPr>
          <p:cNvPr id="11" name="Shape 9"/>
          <p:cNvSpPr/>
          <p:nvPr/>
        </p:nvSpPr>
        <p:spPr>
          <a:xfrm>
            <a:off x="548640" y="3383280"/>
            <a:ext cx="502920" cy="502920"/>
          </a:xfrm>
          <a:prstGeom prst="ellipse">
            <a:avLst/>
          </a:prstGeom>
          <a:solidFill>
            <a:srgbClr val="A51C30"/>
          </a:solidFill>
          <a:ln w="12700">
            <a:solidFill>
              <a:srgbClr val="A51C30"/>
            </a:solidFill>
            <a:prstDash val="solid"/>
          </a:ln>
        </p:spPr>
      </p:sp>
      <p:sp>
        <p:nvSpPr>
          <p:cNvPr id="12" name="Text 10"/>
          <p:cNvSpPr/>
          <p:nvPr/>
        </p:nvSpPr>
        <p:spPr>
          <a:xfrm>
            <a:off x="548640" y="3383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1234440" y="338328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App assembles a labeled context block. You can read what the model will see.</a:t>
            </a:r>
            <a:endParaRPr lang="en-US" sz="1500" dirty="0"/>
          </a:p>
        </p:txBody>
      </p:sp>
      <p:sp>
        <p:nvSpPr>
          <p:cNvPr id="14" name="Shape 12"/>
          <p:cNvSpPr/>
          <p:nvPr/>
        </p:nvSpPr>
        <p:spPr>
          <a:xfrm>
            <a:off x="548640" y="4023360"/>
            <a:ext cx="502920" cy="502920"/>
          </a:xfrm>
          <a:prstGeom prst="ellipse">
            <a:avLst/>
          </a:prstGeom>
          <a:solidFill>
            <a:srgbClr val="A51C30"/>
          </a:solidFill>
          <a:ln w="12700">
            <a:solidFill>
              <a:srgbClr val="A51C30"/>
            </a:solidFill>
            <a:prstDash val="solid"/>
          </a:ln>
        </p:spPr>
      </p:sp>
      <p:sp>
        <p:nvSpPr>
          <p:cNvPr id="15" name="Text 13"/>
          <p:cNvSpPr/>
          <p:nvPr/>
        </p:nvSpPr>
        <p:spPr>
          <a:xfrm>
            <a:off x="548640" y="4023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6" name="Text 14"/>
          <p:cNvSpPr/>
          <p:nvPr/>
        </p:nvSpPr>
        <p:spPr>
          <a:xfrm>
            <a:off x="1234440" y="402336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App loops through every turn scoring sentiment. Progress ticks on screen.</a:t>
            </a:r>
            <a:endParaRPr lang="en-US" sz="1500" dirty="0"/>
          </a:p>
        </p:txBody>
      </p:sp>
      <p:sp>
        <p:nvSpPr>
          <p:cNvPr id="17" name="Shape 15"/>
          <p:cNvSpPr/>
          <p:nvPr/>
        </p:nvSpPr>
        <p:spPr>
          <a:xfrm>
            <a:off x="548640" y="4663440"/>
            <a:ext cx="502920" cy="502920"/>
          </a:xfrm>
          <a:prstGeom prst="ellipse">
            <a:avLst/>
          </a:prstGeom>
          <a:solidFill>
            <a:srgbClr val="A51C30"/>
          </a:solidFill>
          <a:ln w="12700">
            <a:solidFill>
              <a:srgbClr val="A51C30"/>
            </a:solidFill>
            <a:prstDash val="solid"/>
          </a:ln>
        </p:spPr>
      </p:sp>
      <p:sp>
        <p:nvSpPr>
          <p:cNvPr id="18" name="Text 16"/>
          <p:cNvSpPr/>
          <p:nvPr/>
        </p:nvSpPr>
        <p:spPr>
          <a:xfrm>
            <a:off x="548640" y="46634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19" name="Text 17"/>
          <p:cNvSpPr/>
          <p:nvPr/>
        </p:nvSpPr>
        <p:spPr>
          <a:xfrm>
            <a:off x="1234440" y="466344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App loops through every turn extracting entities, figures, and forward looking claims.</a:t>
            </a:r>
            <a:endParaRPr lang="en-US" sz="1500" dirty="0"/>
          </a:p>
        </p:txBody>
      </p:sp>
      <p:sp>
        <p:nvSpPr>
          <p:cNvPr id="20" name="Shape 18"/>
          <p:cNvSpPr/>
          <p:nvPr/>
        </p:nvSpPr>
        <p:spPr>
          <a:xfrm>
            <a:off x="548640" y="5303520"/>
            <a:ext cx="502920" cy="502920"/>
          </a:xfrm>
          <a:prstGeom prst="ellipse">
            <a:avLst/>
          </a:prstGeom>
          <a:solidFill>
            <a:srgbClr val="A51C30"/>
          </a:solidFill>
          <a:ln w="12700">
            <a:solidFill>
              <a:srgbClr val="A51C30"/>
            </a:solidFill>
            <a:prstDash val="solid"/>
          </a:ln>
        </p:spPr>
      </p:sp>
      <p:sp>
        <p:nvSpPr>
          <p:cNvPr id="21" name="Text 19"/>
          <p:cNvSpPr/>
          <p:nvPr/>
        </p:nvSpPr>
        <p:spPr>
          <a:xfrm>
            <a:off x="548640" y="5303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22" name="Text 20"/>
          <p:cNvSpPr/>
          <p:nvPr/>
        </p:nvSpPr>
        <p:spPr>
          <a:xfrm>
            <a:off x="1234440" y="5303520"/>
            <a:ext cx="10515600" cy="502920"/>
          </a:xfrm>
          <a:prstGeom prst="rect">
            <a:avLst/>
          </a:prstGeom>
          <a:noFill/>
          <a:ln/>
        </p:spPr>
        <p:txBody>
          <a:bodyPr wrap="square" lIns="0" tIns="0" rIns="0" bIns="0" rtlCol="0" anchor="ctr"/>
          <a:lstStyle/>
          <a:p>
            <a:pPr marL="0" indent="0">
              <a:buNone/>
            </a:pPr>
            <a:r>
              <a:rPr lang="en-US" sz="1500" dirty="0">
                <a:solidFill>
                  <a:srgbClr val="1E1E1E"/>
                </a:solidFill>
                <a:latin typeface="Arial" pitchFamily="34" charset="0"/>
                <a:ea typeface="Arial" pitchFamily="34" charset="-122"/>
                <a:cs typeface="Arial" pitchFamily="34" charset="-120"/>
              </a:rPr>
              <a:t>The review surface renders. You confirm coverage, then the model produce the research note.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THE BUSINESS OF SHIPPING SOFTWARE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How professionals hand a build across</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3611880" cy="3931920"/>
          </a:xfrm>
          <a:prstGeom prst="rect">
            <a:avLst/>
          </a:prstGeom>
          <a:solidFill>
            <a:srgbClr val="F3F3F1"/>
          </a:solidFill>
          <a:ln w="12700">
            <a:solidFill>
              <a:srgbClr val="F3F3F1"/>
            </a:solidFill>
            <a:prstDash val="solid"/>
          </a:ln>
        </p:spPr>
      </p:sp>
      <p:sp>
        <p:nvSpPr>
          <p:cNvPr id="6" name="Text 4"/>
          <p:cNvSpPr/>
          <p:nvPr/>
        </p:nvSpPr>
        <p:spPr>
          <a:xfrm>
            <a:off x="731520" y="2240280"/>
            <a:ext cx="3063240" cy="320040"/>
          </a:xfrm>
          <a:prstGeom prst="rect">
            <a:avLst/>
          </a:prstGeom>
          <a:noFill/>
          <a:ln/>
        </p:spPr>
        <p:txBody>
          <a:bodyPr wrap="square" lIns="0" tIns="0" rIns="0" bIns="0" rtlCol="0" anchor="ctr"/>
          <a:lstStyle/>
          <a:p>
            <a:pPr marL="0" indent="0">
              <a:buNone/>
            </a:pPr>
            <a:r>
              <a:rPr lang="en-US" sz="1100" b="1" kern="0" spc="400" dirty="0">
                <a:solidFill>
                  <a:srgbClr val="A51C30"/>
                </a:solidFill>
                <a:latin typeface="Arial" pitchFamily="34" charset="0"/>
                <a:ea typeface="Arial" pitchFamily="34" charset="-122"/>
                <a:cs typeface="Arial" pitchFamily="34" charset="-120"/>
              </a:rPr>
              <a:t>1  ·  USER STORY</a:t>
            </a:r>
            <a:endParaRPr lang="en-US" sz="1100" dirty="0"/>
          </a:p>
        </p:txBody>
      </p:sp>
      <p:sp>
        <p:nvSpPr>
          <p:cNvPr id="7" name="Text 5"/>
          <p:cNvSpPr/>
          <p:nvPr/>
        </p:nvSpPr>
        <p:spPr>
          <a:xfrm>
            <a:off x="731520" y="2606040"/>
            <a:ext cx="3063240" cy="320040"/>
          </a:xfrm>
          <a:prstGeom prst="rect">
            <a:avLst/>
          </a:prstGeom>
          <a:noFill/>
          <a:ln/>
        </p:spPr>
        <p:txBody>
          <a:bodyPr wrap="square" lIns="0" tIns="0" rIns="0" bIns="0" rtlCol="0" anchor="ctr"/>
          <a:lstStyle/>
          <a:p>
            <a:pPr marL="0" indent="0">
              <a:buNone/>
            </a:pPr>
            <a:r>
              <a:rPr lang="en-US" sz="1200" i="1" dirty="0">
                <a:solidFill>
                  <a:srgbClr val="8996A0"/>
                </a:solidFill>
                <a:latin typeface="Arial" pitchFamily="34" charset="0"/>
                <a:ea typeface="Arial" pitchFamily="34" charset="-122"/>
                <a:cs typeface="Arial" pitchFamily="34" charset="-120"/>
              </a:rPr>
              <a:t>Written by the business owner</a:t>
            </a:r>
            <a:endParaRPr lang="en-US" sz="1200" dirty="0"/>
          </a:p>
        </p:txBody>
      </p:sp>
      <p:sp>
        <p:nvSpPr>
          <p:cNvPr id="8" name="Text 6"/>
          <p:cNvSpPr/>
          <p:nvPr/>
        </p:nvSpPr>
        <p:spPr>
          <a:xfrm>
            <a:off x="731520" y="3017520"/>
            <a:ext cx="3063240" cy="1463040"/>
          </a:xfrm>
          <a:prstGeom prst="rect">
            <a:avLst/>
          </a:prstGeom>
          <a:noFill/>
          <a:ln/>
        </p:spPr>
        <p:txBody>
          <a:bodyPr wrap="square" lIns="0" tIns="0" rIns="0" bIns="0" rtlCol="0" anchor="ctr"/>
          <a:lstStyle/>
          <a:p>
            <a:pPr marL="0" indent="0">
              <a:spcAft>
                <a:spcPts val="400"/>
              </a:spcAft>
              <a:buNone/>
            </a:pPr>
            <a:r>
              <a:rPr lang="en-US" sz="1200" dirty="0">
                <a:solidFill>
                  <a:srgbClr val="1E1E1E"/>
                </a:solidFill>
                <a:latin typeface="Arial" pitchFamily="34" charset="0"/>
                <a:ea typeface="Arial" pitchFamily="34" charset="-122"/>
                <a:cs typeface="Arial" pitchFamily="34" charset="-120"/>
              </a:rPr>
              <a:t>A single sentence that names the person, the need, and the outcome. No technology inside. If it takes a paragraph, the story is not sharp yet.</a:t>
            </a:r>
            <a:endParaRPr lang="en-US" sz="1200" dirty="0"/>
          </a:p>
        </p:txBody>
      </p:sp>
      <p:sp>
        <p:nvSpPr>
          <p:cNvPr id="9" name="Text 7"/>
          <p:cNvSpPr/>
          <p:nvPr/>
        </p:nvSpPr>
        <p:spPr>
          <a:xfrm>
            <a:off x="731520" y="4526280"/>
            <a:ext cx="3063240" cy="12801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"As an analyst I need every claim in the note tied back to who said it so I can defend the note in front of the committee."</a:t>
            </a:r>
            <a:endParaRPr lang="en-US" sz="1100" dirty="0"/>
          </a:p>
        </p:txBody>
      </p:sp>
      <p:sp>
        <p:nvSpPr>
          <p:cNvPr id="10" name="Shape 8"/>
          <p:cNvSpPr/>
          <p:nvPr/>
        </p:nvSpPr>
        <p:spPr>
          <a:xfrm>
            <a:off x="4297680" y="2011680"/>
            <a:ext cx="3611880" cy="3931920"/>
          </a:xfrm>
          <a:prstGeom prst="rect">
            <a:avLst/>
          </a:prstGeom>
          <a:solidFill>
            <a:srgbClr val="F3F3F1"/>
          </a:solidFill>
          <a:ln w="12700">
            <a:solidFill>
              <a:srgbClr val="F3F3F1"/>
            </a:solidFill>
            <a:prstDash val="solid"/>
          </a:ln>
        </p:spPr>
      </p:sp>
      <p:sp>
        <p:nvSpPr>
          <p:cNvPr id="11" name="Text 9"/>
          <p:cNvSpPr/>
          <p:nvPr/>
        </p:nvSpPr>
        <p:spPr>
          <a:xfrm>
            <a:off x="4572000" y="2240280"/>
            <a:ext cx="3063240" cy="320040"/>
          </a:xfrm>
          <a:prstGeom prst="rect">
            <a:avLst/>
          </a:prstGeom>
          <a:noFill/>
          <a:ln/>
        </p:spPr>
        <p:txBody>
          <a:bodyPr wrap="square" lIns="0" tIns="0" rIns="0" bIns="0" rtlCol="0" anchor="ctr"/>
          <a:lstStyle/>
          <a:p>
            <a:pPr marL="0" indent="0">
              <a:buNone/>
            </a:pPr>
            <a:r>
              <a:rPr lang="en-US" sz="1100" b="1" kern="0" spc="400" dirty="0">
                <a:solidFill>
                  <a:srgbClr val="A51C30"/>
                </a:solidFill>
                <a:latin typeface="Arial" pitchFamily="34" charset="0"/>
                <a:ea typeface="Arial" pitchFamily="34" charset="-122"/>
                <a:cs typeface="Arial" pitchFamily="34" charset="-120"/>
              </a:rPr>
              <a:t>2  ·  FUNCTIONAL REQUIREMENT</a:t>
            </a:r>
            <a:endParaRPr lang="en-US" sz="1100" dirty="0"/>
          </a:p>
        </p:txBody>
      </p:sp>
      <p:sp>
        <p:nvSpPr>
          <p:cNvPr id="12" name="Text 10"/>
          <p:cNvSpPr/>
          <p:nvPr/>
        </p:nvSpPr>
        <p:spPr>
          <a:xfrm>
            <a:off x="4572000" y="2606040"/>
            <a:ext cx="3063240" cy="320040"/>
          </a:xfrm>
          <a:prstGeom prst="rect">
            <a:avLst/>
          </a:prstGeom>
          <a:noFill/>
          <a:ln/>
        </p:spPr>
        <p:txBody>
          <a:bodyPr wrap="square" lIns="0" tIns="0" rIns="0" bIns="0" rtlCol="0" anchor="ctr"/>
          <a:lstStyle/>
          <a:p>
            <a:pPr marL="0" indent="0">
              <a:buNone/>
            </a:pPr>
            <a:r>
              <a:rPr lang="en-US" sz="1200" i="1" dirty="0">
                <a:solidFill>
                  <a:srgbClr val="8996A0"/>
                </a:solidFill>
                <a:latin typeface="Arial" pitchFamily="34" charset="0"/>
                <a:ea typeface="Arial" pitchFamily="34" charset="-122"/>
                <a:cs typeface="Arial" pitchFamily="34" charset="-120"/>
              </a:rPr>
              <a:t>Translated by the analyst</a:t>
            </a:r>
            <a:endParaRPr lang="en-US" sz="1200" dirty="0"/>
          </a:p>
        </p:txBody>
      </p:sp>
      <p:sp>
        <p:nvSpPr>
          <p:cNvPr id="13" name="Text 11"/>
          <p:cNvSpPr/>
          <p:nvPr/>
        </p:nvSpPr>
        <p:spPr>
          <a:xfrm>
            <a:off x="4572000" y="3017520"/>
            <a:ext cx="3063240" cy="1463040"/>
          </a:xfrm>
          <a:prstGeom prst="rect">
            <a:avLst/>
          </a:prstGeom>
          <a:noFill/>
          <a:ln/>
        </p:spPr>
        <p:txBody>
          <a:bodyPr wrap="square" lIns="0" tIns="0" rIns="0" bIns="0" rtlCol="0" anchor="ctr"/>
          <a:lstStyle/>
          <a:p>
            <a:pPr marL="0" indent="0">
              <a:spcAft>
                <a:spcPts val="400"/>
              </a:spcAft>
              <a:buNone/>
            </a:pPr>
            <a:r>
              <a:rPr lang="en-US" sz="1200" dirty="0">
                <a:solidFill>
                  <a:srgbClr val="1E1E1E"/>
                </a:solidFill>
                <a:latin typeface="Arial" pitchFamily="34" charset="0"/>
                <a:ea typeface="Arial" pitchFamily="34" charset="-122"/>
                <a:cs typeface="Arial" pitchFamily="34" charset="-120"/>
              </a:rPr>
              <a:t>The story turned into what the software must do. Still no code. Names the inputs, the outputs, and the visible behavior a reviewer would sign off on.</a:t>
            </a:r>
            <a:endParaRPr lang="en-US" sz="1200" dirty="0"/>
          </a:p>
        </p:txBody>
      </p:sp>
      <p:sp>
        <p:nvSpPr>
          <p:cNvPr id="14" name="Text 12"/>
          <p:cNvSpPr/>
          <p:nvPr/>
        </p:nvSpPr>
        <p:spPr>
          <a:xfrm>
            <a:off x="4572000" y="4526280"/>
            <a:ext cx="3063240" cy="12801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"Every figure and forward looking statement in the review surface shows the speaker name next to it, and stays attributed through to the final note."</a:t>
            </a:r>
            <a:endParaRPr lang="en-US" sz="1100" dirty="0"/>
          </a:p>
        </p:txBody>
      </p:sp>
      <p:sp>
        <p:nvSpPr>
          <p:cNvPr id="15" name="Shape 13"/>
          <p:cNvSpPr/>
          <p:nvPr/>
        </p:nvSpPr>
        <p:spPr>
          <a:xfrm>
            <a:off x="8138160" y="2011680"/>
            <a:ext cx="3611880" cy="3931920"/>
          </a:xfrm>
          <a:prstGeom prst="rect">
            <a:avLst/>
          </a:prstGeom>
          <a:solidFill>
            <a:srgbClr val="F3F3F1"/>
          </a:solidFill>
          <a:ln w="12700">
            <a:solidFill>
              <a:srgbClr val="F3F3F1"/>
            </a:solidFill>
            <a:prstDash val="solid"/>
          </a:ln>
        </p:spPr>
      </p:sp>
      <p:sp>
        <p:nvSpPr>
          <p:cNvPr id="16" name="Text 14"/>
          <p:cNvSpPr/>
          <p:nvPr/>
        </p:nvSpPr>
        <p:spPr>
          <a:xfrm>
            <a:off x="8412480" y="2240280"/>
            <a:ext cx="3063240" cy="320040"/>
          </a:xfrm>
          <a:prstGeom prst="rect">
            <a:avLst/>
          </a:prstGeom>
          <a:noFill/>
          <a:ln/>
        </p:spPr>
        <p:txBody>
          <a:bodyPr wrap="square" lIns="0" tIns="0" rIns="0" bIns="0" rtlCol="0" anchor="ctr"/>
          <a:lstStyle/>
          <a:p>
            <a:pPr marL="0" indent="0">
              <a:buNone/>
            </a:pPr>
            <a:r>
              <a:rPr lang="en-US" sz="1100" b="1" kern="0" spc="400" dirty="0">
                <a:solidFill>
                  <a:srgbClr val="A51C30"/>
                </a:solidFill>
                <a:latin typeface="Arial" pitchFamily="34" charset="0"/>
                <a:ea typeface="Arial" pitchFamily="34" charset="-122"/>
                <a:cs typeface="Arial" pitchFamily="34" charset="-120"/>
              </a:rPr>
              <a:t>3  ·  PROMPT</a:t>
            </a:r>
            <a:endParaRPr lang="en-US" sz="1100" dirty="0"/>
          </a:p>
        </p:txBody>
      </p:sp>
      <p:sp>
        <p:nvSpPr>
          <p:cNvPr id="17" name="Text 15"/>
          <p:cNvSpPr/>
          <p:nvPr/>
        </p:nvSpPr>
        <p:spPr>
          <a:xfrm>
            <a:off x="8412480" y="2606040"/>
            <a:ext cx="3063240" cy="320040"/>
          </a:xfrm>
          <a:prstGeom prst="rect">
            <a:avLst/>
          </a:prstGeom>
          <a:noFill/>
          <a:ln/>
        </p:spPr>
        <p:txBody>
          <a:bodyPr wrap="square" lIns="0" tIns="0" rIns="0" bIns="0" rtlCol="0" anchor="ctr"/>
          <a:lstStyle/>
          <a:p>
            <a:pPr marL="0" indent="0">
              <a:buNone/>
            </a:pPr>
            <a:r>
              <a:rPr lang="en-US" sz="1200" i="1" dirty="0">
                <a:solidFill>
                  <a:srgbClr val="8996A0"/>
                </a:solidFill>
                <a:latin typeface="Arial" pitchFamily="34" charset="0"/>
                <a:ea typeface="Arial" pitchFamily="34" charset="-122"/>
                <a:cs typeface="Arial" pitchFamily="34" charset="-120"/>
              </a:rPr>
              <a:t>Given to the AI agent</a:t>
            </a:r>
            <a:endParaRPr lang="en-US" sz="1200" dirty="0"/>
          </a:p>
        </p:txBody>
      </p:sp>
      <p:sp>
        <p:nvSpPr>
          <p:cNvPr id="18" name="Text 16"/>
          <p:cNvSpPr/>
          <p:nvPr/>
        </p:nvSpPr>
        <p:spPr>
          <a:xfrm>
            <a:off x="8412480" y="3017520"/>
            <a:ext cx="3063240" cy="1463040"/>
          </a:xfrm>
          <a:prstGeom prst="rect">
            <a:avLst/>
          </a:prstGeom>
          <a:noFill/>
          <a:ln/>
        </p:spPr>
        <p:txBody>
          <a:bodyPr wrap="square" lIns="0" tIns="0" rIns="0" bIns="0" rtlCol="0" anchor="ctr"/>
          <a:lstStyle/>
          <a:p>
            <a:pPr marL="0" indent="0">
              <a:spcAft>
                <a:spcPts val="400"/>
              </a:spcAft>
              <a:buNone/>
            </a:pPr>
            <a:r>
              <a:rPr lang="en-US" sz="1200" dirty="0">
                <a:solidFill>
                  <a:srgbClr val="1E1E1E"/>
                </a:solidFill>
                <a:latin typeface="Arial" pitchFamily="34" charset="0"/>
                <a:ea typeface="Arial" pitchFamily="34" charset="-122"/>
                <a:cs typeface="Arial" pitchFamily="34" charset="-120"/>
              </a:rPr>
              <a:t>The requirement rewritten for the tool that will build it. Adds the file layout, the constraint, and how a reviewer will know the work is done.</a:t>
            </a:r>
            <a:endParaRPr lang="en-US" sz="1200" dirty="0"/>
          </a:p>
        </p:txBody>
      </p:sp>
      <p:sp>
        <p:nvSpPr>
          <p:cNvPr id="19" name="Text 17"/>
          <p:cNvSpPr/>
          <p:nvPr/>
        </p:nvSpPr>
        <p:spPr>
          <a:xfrm>
            <a:off x="8412480" y="4526280"/>
            <a:ext cx="3063240" cy="12801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"Add attribution to every claim in reviewSurface.claims, render it in the panel, and preserve it through the final research note. Acceptance: I can point at any figure and see who said it."</a:t>
            </a:r>
            <a:endParaRPr lang="en-US" sz="1100" dirty="0"/>
          </a:p>
        </p:txBody>
      </p:sp>
      <p:sp>
        <p:nvSpPr>
          <p:cNvPr id="20" name="Text 18"/>
          <p:cNvSpPr/>
          <p:nvPr/>
        </p:nvSpPr>
        <p:spPr>
          <a:xfrm>
            <a:off x="457200" y="6080760"/>
            <a:ext cx="11247120" cy="36576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Each row narrows the last. Business need becomes a spec becomes an instruction. The names change, the intent survives.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WRITING FOR AN AI AGENT</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Anatomy of a good prompt</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2011680" cy="822960"/>
          </a:xfrm>
          <a:prstGeom prst="rect">
            <a:avLst/>
          </a:prstGeom>
          <a:solidFill>
            <a:srgbClr val="A51C30"/>
          </a:solidFill>
          <a:ln w="12700">
            <a:solidFill>
              <a:srgbClr val="A51C30"/>
            </a:solidFill>
            <a:prstDash val="solid"/>
          </a:ln>
        </p:spPr>
      </p:sp>
      <p:sp>
        <p:nvSpPr>
          <p:cNvPr id="6" name="Text 4"/>
          <p:cNvSpPr/>
          <p:nvPr/>
        </p:nvSpPr>
        <p:spPr>
          <a:xfrm>
            <a:off x="457200" y="2011680"/>
            <a:ext cx="2011680" cy="822960"/>
          </a:xfrm>
          <a:prstGeom prst="rect">
            <a:avLst/>
          </a:prstGeom>
          <a:noFill/>
          <a:ln/>
        </p:spPr>
        <p:txBody>
          <a:bodyPr wrap="square" lIns="0" tIns="0" rIns="0" bIns="0" rtlCol="0" anchor="ctr"/>
          <a:lstStyle/>
          <a:p>
            <a:pPr marL="0" indent="0" algn="ctr">
              <a:buNone/>
            </a:pPr>
            <a:r>
              <a:rPr lang="en-US" sz="1500" b="1" kern="0" spc="400" dirty="0">
                <a:solidFill>
                  <a:srgbClr val="FFFFFF"/>
                </a:solidFill>
                <a:latin typeface="Arial" pitchFamily="34" charset="0"/>
                <a:ea typeface="Arial" pitchFamily="34" charset="-122"/>
                <a:cs typeface="Arial" pitchFamily="34" charset="-120"/>
              </a:rPr>
              <a:t>CONTEXT</a:t>
            </a:r>
            <a:endParaRPr lang="en-US" sz="1500" dirty="0"/>
          </a:p>
        </p:txBody>
      </p:sp>
      <p:sp>
        <p:nvSpPr>
          <p:cNvPr id="7" name="Text 5"/>
          <p:cNvSpPr/>
          <p:nvPr/>
        </p:nvSpPr>
        <p:spPr>
          <a:xfrm>
            <a:off x="2651760" y="2011680"/>
            <a:ext cx="5303520" cy="82296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What exists in the app already. The frameworks, the file layout, the state.</a:t>
            </a:r>
            <a:endParaRPr lang="en-US" sz="1300" dirty="0"/>
          </a:p>
        </p:txBody>
      </p:sp>
      <p:sp>
        <p:nvSpPr>
          <p:cNvPr id="8" name="Text 6"/>
          <p:cNvSpPr/>
          <p:nvPr/>
        </p:nvSpPr>
        <p:spPr>
          <a:xfrm>
            <a:off x="8092440" y="2011680"/>
            <a:ext cx="3657600" cy="8229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"This is a Vite vanilla JS app. The parsed transcript is in a top level `transcript` variable, an array of speaker turn objects."</a:t>
            </a:r>
            <a:endParaRPr lang="en-US" sz="1100" dirty="0"/>
          </a:p>
        </p:txBody>
      </p:sp>
      <p:sp>
        <p:nvSpPr>
          <p:cNvPr id="9" name="Shape 7"/>
          <p:cNvSpPr/>
          <p:nvPr/>
        </p:nvSpPr>
        <p:spPr>
          <a:xfrm>
            <a:off x="457200" y="2999232"/>
            <a:ext cx="2011680" cy="822960"/>
          </a:xfrm>
          <a:prstGeom prst="rect">
            <a:avLst/>
          </a:prstGeom>
          <a:solidFill>
            <a:srgbClr val="A51C30"/>
          </a:solidFill>
          <a:ln w="12700">
            <a:solidFill>
              <a:srgbClr val="A51C30"/>
            </a:solidFill>
            <a:prstDash val="solid"/>
          </a:ln>
        </p:spPr>
      </p:sp>
      <p:sp>
        <p:nvSpPr>
          <p:cNvPr id="10" name="Text 8"/>
          <p:cNvSpPr/>
          <p:nvPr/>
        </p:nvSpPr>
        <p:spPr>
          <a:xfrm>
            <a:off x="457200" y="2999232"/>
            <a:ext cx="2011680" cy="822960"/>
          </a:xfrm>
          <a:prstGeom prst="rect">
            <a:avLst/>
          </a:prstGeom>
          <a:noFill/>
          <a:ln/>
        </p:spPr>
        <p:txBody>
          <a:bodyPr wrap="square" lIns="0" tIns="0" rIns="0" bIns="0" rtlCol="0" anchor="ctr"/>
          <a:lstStyle/>
          <a:p>
            <a:pPr marL="0" indent="0" algn="ctr">
              <a:buNone/>
            </a:pPr>
            <a:r>
              <a:rPr lang="en-US" sz="1500" b="1" kern="0" spc="400" dirty="0">
                <a:solidFill>
                  <a:srgbClr val="FFFFFF"/>
                </a:solidFill>
                <a:latin typeface="Arial" pitchFamily="34" charset="0"/>
                <a:ea typeface="Arial" pitchFamily="34" charset="-122"/>
                <a:cs typeface="Arial" pitchFamily="34" charset="-120"/>
              </a:rPr>
              <a:t>TASK</a:t>
            </a:r>
            <a:endParaRPr lang="en-US" sz="1500" dirty="0"/>
          </a:p>
        </p:txBody>
      </p:sp>
      <p:sp>
        <p:nvSpPr>
          <p:cNvPr id="11" name="Text 9"/>
          <p:cNvSpPr/>
          <p:nvPr/>
        </p:nvSpPr>
        <p:spPr>
          <a:xfrm>
            <a:off x="2651760" y="2999232"/>
            <a:ext cx="5303520" cy="82296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What to build. One thing, stated as a verb plus a target.</a:t>
            </a:r>
            <a:endParaRPr lang="en-US" sz="1300" dirty="0"/>
          </a:p>
        </p:txBody>
      </p:sp>
      <p:sp>
        <p:nvSpPr>
          <p:cNvPr id="12" name="Text 10"/>
          <p:cNvSpPr/>
          <p:nvPr/>
        </p:nvSpPr>
        <p:spPr>
          <a:xfrm>
            <a:off x="8092440" y="2999232"/>
            <a:ext cx="3657600" cy="8229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"Add a fetch to the Riskline API that filters alerts to a list of countries and renders each as a plain sentence."</a:t>
            </a:r>
            <a:endParaRPr lang="en-US" sz="1100" dirty="0"/>
          </a:p>
        </p:txBody>
      </p:sp>
      <p:sp>
        <p:nvSpPr>
          <p:cNvPr id="13" name="Shape 11"/>
          <p:cNvSpPr/>
          <p:nvPr/>
        </p:nvSpPr>
        <p:spPr>
          <a:xfrm>
            <a:off x="457200" y="3986784"/>
            <a:ext cx="2011680" cy="822960"/>
          </a:xfrm>
          <a:prstGeom prst="rect">
            <a:avLst/>
          </a:prstGeom>
          <a:solidFill>
            <a:srgbClr val="A51C30"/>
          </a:solidFill>
          <a:ln w="12700">
            <a:solidFill>
              <a:srgbClr val="A51C30"/>
            </a:solidFill>
            <a:prstDash val="solid"/>
          </a:ln>
        </p:spPr>
      </p:sp>
      <p:sp>
        <p:nvSpPr>
          <p:cNvPr id="14" name="Text 12"/>
          <p:cNvSpPr/>
          <p:nvPr/>
        </p:nvSpPr>
        <p:spPr>
          <a:xfrm>
            <a:off x="457200" y="3986784"/>
            <a:ext cx="2011680" cy="822960"/>
          </a:xfrm>
          <a:prstGeom prst="rect">
            <a:avLst/>
          </a:prstGeom>
          <a:noFill/>
          <a:ln/>
        </p:spPr>
        <p:txBody>
          <a:bodyPr wrap="square" lIns="0" tIns="0" rIns="0" bIns="0" rtlCol="0" anchor="ctr"/>
          <a:lstStyle/>
          <a:p>
            <a:pPr marL="0" indent="0" algn="ctr">
              <a:buNone/>
            </a:pPr>
            <a:r>
              <a:rPr lang="en-US" sz="1500" b="1" kern="0" spc="400" dirty="0">
                <a:solidFill>
                  <a:srgbClr val="FFFFFF"/>
                </a:solidFill>
                <a:latin typeface="Arial" pitchFamily="34" charset="0"/>
                <a:ea typeface="Arial" pitchFamily="34" charset="-122"/>
                <a:cs typeface="Arial" pitchFamily="34" charset="-120"/>
              </a:rPr>
              <a:t>CONSTRAINT</a:t>
            </a:r>
            <a:endParaRPr lang="en-US" sz="1500" dirty="0"/>
          </a:p>
        </p:txBody>
      </p:sp>
      <p:sp>
        <p:nvSpPr>
          <p:cNvPr id="15" name="Text 13"/>
          <p:cNvSpPr/>
          <p:nvPr/>
        </p:nvSpPr>
        <p:spPr>
          <a:xfrm>
            <a:off x="2651760" y="3986784"/>
            <a:ext cx="5303520" cy="82296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Rules the build must respect. What NOT to do is often what matters.</a:t>
            </a:r>
            <a:endParaRPr lang="en-US" sz="1300" dirty="0"/>
          </a:p>
        </p:txBody>
      </p:sp>
      <p:sp>
        <p:nvSpPr>
          <p:cNvPr id="16" name="Text 14"/>
          <p:cNvSpPr/>
          <p:nvPr/>
        </p:nvSpPr>
        <p:spPr>
          <a:xfrm>
            <a:off x="8092440" y="3986784"/>
            <a:ext cx="3657600" cy="8229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"Every fetch checks status before parsing. On failure, show what failed and keep going. Do not block the rest of the app."</a:t>
            </a:r>
            <a:endParaRPr lang="en-US" sz="1100" dirty="0"/>
          </a:p>
        </p:txBody>
      </p:sp>
      <p:sp>
        <p:nvSpPr>
          <p:cNvPr id="17" name="Shape 15"/>
          <p:cNvSpPr/>
          <p:nvPr/>
        </p:nvSpPr>
        <p:spPr>
          <a:xfrm>
            <a:off x="457200" y="4974336"/>
            <a:ext cx="2011680" cy="822960"/>
          </a:xfrm>
          <a:prstGeom prst="rect">
            <a:avLst/>
          </a:prstGeom>
          <a:solidFill>
            <a:srgbClr val="A51C30"/>
          </a:solidFill>
          <a:ln w="12700">
            <a:solidFill>
              <a:srgbClr val="A51C30"/>
            </a:solidFill>
            <a:prstDash val="solid"/>
          </a:ln>
        </p:spPr>
      </p:sp>
      <p:sp>
        <p:nvSpPr>
          <p:cNvPr id="18" name="Text 16"/>
          <p:cNvSpPr/>
          <p:nvPr/>
        </p:nvSpPr>
        <p:spPr>
          <a:xfrm>
            <a:off x="457200" y="4974336"/>
            <a:ext cx="2011680" cy="822960"/>
          </a:xfrm>
          <a:prstGeom prst="rect">
            <a:avLst/>
          </a:prstGeom>
          <a:noFill/>
          <a:ln/>
        </p:spPr>
        <p:txBody>
          <a:bodyPr wrap="square" lIns="0" tIns="0" rIns="0" bIns="0" rtlCol="0" anchor="ctr"/>
          <a:lstStyle/>
          <a:p>
            <a:pPr marL="0" indent="0" algn="ctr">
              <a:buNone/>
            </a:pPr>
            <a:r>
              <a:rPr lang="en-US" sz="1500" b="1" kern="0" spc="400" dirty="0">
                <a:solidFill>
                  <a:srgbClr val="FFFFFF"/>
                </a:solidFill>
                <a:latin typeface="Arial" pitchFamily="34" charset="0"/>
                <a:ea typeface="Arial" pitchFamily="34" charset="-122"/>
                <a:cs typeface="Arial" pitchFamily="34" charset="-120"/>
              </a:rPr>
              <a:t>ACCEPTANCE</a:t>
            </a:r>
            <a:endParaRPr lang="en-US" sz="1500" dirty="0"/>
          </a:p>
        </p:txBody>
      </p:sp>
      <p:sp>
        <p:nvSpPr>
          <p:cNvPr id="19" name="Text 17"/>
          <p:cNvSpPr/>
          <p:nvPr/>
        </p:nvSpPr>
        <p:spPr>
          <a:xfrm>
            <a:off x="2651760" y="4974336"/>
            <a:ext cx="5303520" cy="82296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How you will know it works. A concrete test a reviewer can run.</a:t>
            </a:r>
            <a:endParaRPr lang="en-US" sz="1300" dirty="0"/>
          </a:p>
        </p:txBody>
      </p:sp>
      <p:sp>
        <p:nvSpPr>
          <p:cNvPr id="20" name="Text 18"/>
          <p:cNvSpPr/>
          <p:nvPr/>
        </p:nvSpPr>
        <p:spPr>
          <a:xfrm>
            <a:off x="8092440" y="4974336"/>
            <a:ext cx="3657600" cy="822960"/>
          </a:xfrm>
          <a:prstGeom prst="rect">
            <a:avLst/>
          </a:prstGeom>
          <a:noFill/>
          <a:ln/>
        </p:spPr>
        <p:txBody>
          <a:bodyPr wrap="square" lIns="0" tIns="0" rIns="0" bIns="0" rtlCol="0" anchor="ctr"/>
          <a:lstStyle/>
          <a:p>
            <a:pPr marL="0" indent="0">
              <a:buNone/>
            </a:pPr>
            <a:r>
              <a:rPr lang="en-US" sz="1100" i="1" dirty="0">
                <a:solidFill>
                  <a:srgbClr val="293352"/>
                </a:solidFill>
                <a:latin typeface="Arial" pitchFamily="34" charset="0"/>
                <a:ea typeface="Arial" pitchFamily="34" charset="-122"/>
                <a:cs typeface="Arial" pitchFamily="34" charset="-120"/>
              </a:rPr>
              <a:t>"I see three to eight alert sentences on screen for US, China, and EU."</a:t>
            </a:r>
            <a:endParaRPr lang="en-US" sz="1100" dirty="0"/>
          </a:p>
        </p:txBody>
      </p:sp>
      <p:sp>
        <p:nvSpPr>
          <p:cNvPr id="21" name="Text 19"/>
          <p:cNvSpPr/>
          <p:nvPr/>
        </p:nvSpPr>
        <p:spPr>
          <a:xfrm>
            <a:off x="457200" y="6126480"/>
            <a:ext cx="11247120" cy="365760"/>
          </a:xfrm>
          <a:prstGeom prst="rect">
            <a:avLst/>
          </a:prstGeom>
          <a:noFill/>
          <a:ln/>
        </p:spPr>
        <p:txBody>
          <a:bodyPr wrap="square" lIns="0" tIns="0" rIns="0" bIns="0" rtlCol="0" anchor="ctr"/>
          <a:lstStyle/>
          <a:p>
            <a:pPr marL="0" indent="0" algn="ctr">
              <a:buNone/>
            </a:pPr>
            <a:r>
              <a:rPr lang="en-US" sz="1300" i="1" dirty="0">
                <a:solidFill>
                  <a:srgbClr val="8996A0"/>
                </a:solidFill>
                <a:latin typeface="Arial" pitchFamily="34" charset="0"/>
                <a:ea typeface="Arial" pitchFamily="34" charset="-122"/>
                <a:cs typeface="Arial" pitchFamily="34" charset="-120"/>
              </a:rPr>
              <a:t>The six prompts that follow all use this shape. That is not a coincidence.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THE REPO 2 STARTING POINT</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Clone the template</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548640" y="2103120"/>
            <a:ext cx="640080" cy="640080"/>
          </a:xfrm>
          <a:prstGeom prst="roundRect">
            <a:avLst>
              <a:gd name="adj" fmla="val 14286"/>
            </a:avLst>
          </a:prstGeom>
          <a:solidFill>
            <a:srgbClr val="293352"/>
          </a:solidFill>
          <a:ln w="12700">
            <a:solidFill>
              <a:srgbClr val="293352"/>
            </a:solidFill>
            <a:prstDash val="solid"/>
          </a:ln>
        </p:spPr>
      </p:sp>
      <p:sp>
        <p:nvSpPr>
          <p:cNvPr id="6" name="Text 4"/>
          <p:cNvSpPr/>
          <p:nvPr/>
        </p:nvSpPr>
        <p:spPr>
          <a:xfrm>
            <a:off x="548640" y="21031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1371600" y="2103120"/>
            <a:ext cx="2377440" cy="640080"/>
          </a:xfrm>
          <a:prstGeom prst="rect">
            <a:avLst/>
          </a:prstGeom>
          <a:noFill/>
          <a:ln/>
        </p:spPr>
        <p:txBody>
          <a:bodyPr wrap="square" lIns="0" tIns="0" rIns="0" bIns="0" rtlCol="0" anchor="ctr"/>
          <a:lstStyle/>
          <a:p>
            <a:pPr marL="0" indent="0">
              <a:buNone/>
            </a:pPr>
            <a:r>
              <a:rPr lang="en-US" sz="1800" b="1" dirty="0">
                <a:solidFill>
                  <a:srgbClr val="A51C30"/>
                </a:solidFill>
                <a:latin typeface="Arial" pitchFamily="34" charset="0"/>
                <a:ea typeface="Arial" pitchFamily="34" charset="-122"/>
                <a:cs typeface="Arial" pitchFamily="34" charset="-120"/>
              </a:rPr>
              <a:t>Clone</a:t>
            </a:r>
            <a:endParaRPr lang="en-US" sz="1800" dirty="0"/>
          </a:p>
        </p:txBody>
      </p:sp>
      <p:sp>
        <p:nvSpPr>
          <p:cNvPr id="8" name="Text 6"/>
          <p:cNvSpPr/>
          <p:nvPr/>
        </p:nvSpPr>
        <p:spPr>
          <a:xfrm>
            <a:off x="3840480" y="210312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Fork or clone vienna-genai-spa-template into your GitHub as a new repo. Name it whatever your Repo 2 will be.</a:t>
            </a:r>
            <a:endParaRPr lang="en-US" sz="1300" dirty="0"/>
          </a:p>
        </p:txBody>
      </p:sp>
      <p:sp>
        <p:nvSpPr>
          <p:cNvPr id="9" name="Shape 7"/>
          <p:cNvSpPr/>
          <p:nvPr/>
        </p:nvSpPr>
        <p:spPr>
          <a:xfrm>
            <a:off x="548640" y="3063240"/>
            <a:ext cx="640080" cy="640080"/>
          </a:xfrm>
          <a:prstGeom prst="roundRect">
            <a:avLst>
              <a:gd name="adj" fmla="val 14286"/>
            </a:avLst>
          </a:prstGeom>
          <a:solidFill>
            <a:srgbClr val="293352"/>
          </a:solidFill>
          <a:ln w="12700">
            <a:solidFill>
              <a:srgbClr val="293352"/>
            </a:solidFill>
            <a:prstDash val="solid"/>
          </a:ln>
        </p:spPr>
      </p:sp>
      <p:sp>
        <p:nvSpPr>
          <p:cNvPr id="10" name="Text 8"/>
          <p:cNvSpPr/>
          <p:nvPr/>
        </p:nvSpPr>
        <p:spPr>
          <a:xfrm>
            <a:off x="548640" y="30632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Text 9"/>
          <p:cNvSpPr/>
          <p:nvPr/>
        </p:nvSpPr>
        <p:spPr>
          <a:xfrm>
            <a:off x="1371600" y="3063240"/>
            <a:ext cx="2377440" cy="640080"/>
          </a:xfrm>
          <a:prstGeom prst="rect">
            <a:avLst/>
          </a:prstGeom>
          <a:noFill/>
          <a:ln/>
        </p:spPr>
        <p:txBody>
          <a:bodyPr wrap="square" lIns="0" tIns="0" rIns="0" bIns="0" rtlCol="0" anchor="ctr"/>
          <a:lstStyle/>
          <a:p>
            <a:pPr marL="0" indent="0">
              <a:buNone/>
            </a:pPr>
            <a:r>
              <a:rPr lang="en-US" sz="1800" b="1" dirty="0">
                <a:solidFill>
                  <a:srgbClr val="A51C30"/>
                </a:solidFill>
                <a:latin typeface="Arial" pitchFamily="34" charset="0"/>
                <a:ea typeface="Arial" pitchFamily="34" charset="-122"/>
                <a:cs typeface="Arial" pitchFamily="34" charset="-120"/>
              </a:rPr>
              <a:t>Install</a:t>
            </a:r>
            <a:endParaRPr lang="en-US" sz="1800" dirty="0"/>
          </a:p>
        </p:txBody>
      </p:sp>
      <p:sp>
        <p:nvSpPr>
          <p:cNvPr id="12" name="Text 10"/>
          <p:cNvSpPr/>
          <p:nvPr/>
        </p:nvSpPr>
        <p:spPr>
          <a:xfrm>
            <a:off x="3840480" y="306324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npm install. Then npm run dev to confirm the local server serves the Day 1 base app.</a:t>
            </a:r>
            <a:endParaRPr lang="en-US" sz="1300" dirty="0"/>
          </a:p>
        </p:txBody>
      </p:sp>
      <p:sp>
        <p:nvSpPr>
          <p:cNvPr id="13" name="Shape 11"/>
          <p:cNvSpPr/>
          <p:nvPr/>
        </p:nvSpPr>
        <p:spPr>
          <a:xfrm>
            <a:off x="548640" y="4023360"/>
            <a:ext cx="640080" cy="640080"/>
          </a:xfrm>
          <a:prstGeom prst="roundRect">
            <a:avLst>
              <a:gd name="adj" fmla="val 14286"/>
            </a:avLst>
          </a:prstGeom>
          <a:solidFill>
            <a:srgbClr val="293352"/>
          </a:solidFill>
          <a:ln w="12700">
            <a:solidFill>
              <a:srgbClr val="293352"/>
            </a:solidFill>
            <a:prstDash val="solid"/>
          </a:ln>
        </p:spPr>
      </p:sp>
      <p:sp>
        <p:nvSpPr>
          <p:cNvPr id="14" name="Text 12"/>
          <p:cNvSpPr/>
          <p:nvPr/>
        </p:nvSpPr>
        <p:spPr>
          <a:xfrm>
            <a:off x="548640" y="40233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5" name="Text 13"/>
          <p:cNvSpPr/>
          <p:nvPr/>
        </p:nvSpPr>
        <p:spPr>
          <a:xfrm>
            <a:off x="1371600" y="4023360"/>
            <a:ext cx="2377440" cy="640080"/>
          </a:xfrm>
          <a:prstGeom prst="rect">
            <a:avLst/>
          </a:prstGeom>
          <a:noFill/>
          <a:ln/>
        </p:spPr>
        <p:txBody>
          <a:bodyPr wrap="square" lIns="0" tIns="0" rIns="0" bIns="0" rtlCol="0" anchor="ctr"/>
          <a:lstStyle/>
          <a:p>
            <a:pPr marL="0" indent="0">
              <a:buNone/>
            </a:pPr>
            <a:r>
              <a:rPr lang="en-US" sz="1800" b="1" dirty="0">
                <a:solidFill>
                  <a:srgbClr val="A51C30"/>
                </a:solidFill>
                <a:latin typeface="Arial" pitchFamily="34" charset="0"/>
                <a:ea typeface="Arial" pitchFamily="34" charset="-122"/>
                <a:cs typeface="Arial" pitchFamily="34" charset="-120"/>
              </a:rPr>
              <a:t>Note the shape</a:t>
            </a:r>
            <a:endParaRPr lang="en-US" sz="1800" dirty="0"/>
          </a:p>
        </p:txBody>
      </p:sp>
      <p:sp>
        <p:nvSpPr>
          <p:cNvPr id="16" name="Text 14"/>
          <p:cNvSpPr/>
          <p:nvPr/>
        </p:nvSpPr>
        <p:spPr>
          <a:xfrm>
            <a:off x="3840480" y="402336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One index.html, one main.js, one style.css. The Vite build turns this into a static site. Every prompt in this hour edits main.js or adds to it.</a:t>
            </a:r>
            <a:endParaRPr lang="en-US" sz="1300" dirty="0"/>
          </a:p>
        </p:txBody>
      </p:sp>
      <p:sp>
        <p:nvSpPr>
          <p:cNvPr id="17" name="Shape 15"/>
          <p:cNvSpPr/>
          <p:nvPr/>
        </p:nvSpPr>
        <p:spPr>
          <a:xfrm>
            <a:off x="548640" y="4983480"/>
            <a:ext cx="640080" cy="640080"/>
          </a:xfrm>
          <a:prstGeom prst="roundRect">
            <a:avLst>
              <a:gd name="adj" fmla="val 14286"/>
            </a:avLst>
          </a:prstGeom>
          <a:solidFill>
            <a:srgbClr val="293352"/>
          </a:solidFill>
          <a:ln w="12700">
            <a:solidFill>
              <a:srgbClr val="293352"/>
            </a:solidFill>
            <a:prstDash val="solid"/>
          </a:ln>
        </p:spPr>
      </p:sp>
      <p:sp>
        <p:nvSpPr>
          <p:cNvPr id="18" name="Text 16"/>
          <p:cNvSpPr/>
          <p:nvPr/>
        </p:nvSpPr>
        <p:spPr>
          <a:xfrm>
            <a:off x="548640" y="49834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19" name="Text 17"/>
          <p:cNvSpPr/>
          <p:nvPr/>
        </p:nvSpPr>
        <p:spPr>
          <a:xfrm>
            <a:off x="1371600" y="4983480"/>
            <a:ext cx="2377440" cy="640080"/>
          </a:xfrm>
          <a:prstGeom prst="rect">
            <a:avLst/>
          </a:prstGeom>
          <a:noFill/>
          <a:ln/>
        </p:spPr>
        <p:txBody>
          <a:bodyPr wrap="square" lIns="0" tIns="0" rIns="0" bIns="0" rtlCol="0" anchor="ctr"/>
          <a:lstStyle/>
          <a:p>
            <a:pPr marL="0" indent="0">
              <a:buNone/>
            </a:pPr>
            <a:r>
              <a:rPr lang="en-US" sz="1800" b="1" dirty="0">
                <a:solidFill>
                  <a:srgbClr val="A51C30"/>
                </a:solidFill>
                <a:latin typeface="Arial" pitchFamily="34" charset="0"/>
                <a:ea typeface="Arial" pitchFamily="34" charset="-122"/>
                <a:cs typeface="Arial" pitchFamily="34" charset="-120"/>
              </a:rPr>
              <a:t>Commit early</a:t>
            </a:r>
            <a:endParaRPr lang="en-US" sz="1800" dirty="0"/>
          </a:p>
        </p:txBody>
      </p:sp>
      <p:sp>
        <p:nvSpPr>
          <p:cNvPr id="20" name="Text 18"/>
          <p:cNvSpPr/>
          <p:nvPr/>
        </p:nvSpPr>
        <p:spPr>
          <a:xfrm>
            <a:off x="3840480" y="498348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Make an empty commit or a README note before the first build step. Every step below is one commit, so you can revert if a prompt goes sideways.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1  ·  MAPS TO FIN_A</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2000" b="1" dirty="0">
                <a:solidFill>
                  <a:srgbClr val="293352"/>
                </a:solidFill>
                <a:latin typeface="Arial" pitchFamily="34" charset="0"/>
                <a:ea typeface="Arial" pitchFamily="34" charset="-122"/>
                <a:cs typeface="Arial" pitchFamily="34" charset="-120"/>
              </a:rPr>
              <a:t>Think through starting from user (you) to functional requirement to your actual prompt.  Vibe code just the prompt or describe all of it in the chat.  Do not just do one part which will be incomplete and cause more work.</a:t>
            </a:r>
            <a:endParaRPr lang="en-US" sz="20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to feed a specific earnings call into the app without hosting a database, so I can review any call I have on hand."</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File upload accepting a .csv with the same shape as the morning archive: symbol, report_date, speaker, title, msg, source_url.</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Parse in the browser (PapaParse is already available in the template).</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Store the parsed rows in a top level `transcript` variable.</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Show a confirmation on screen: symbol, report date, and turn count.</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On upload of a different file, replace the previous transcript cleanly.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1  ·  PROMPT TO PASTE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Provide the transcript</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1965960"/>
            <a:ext cx="11247120" cy="4160520"/>
          </a:xfrm>
          <a:prstGeom prst="rect">
            <a:avLst/>
          </a:prstGeom>
          <a:solidFill>
            <a:srgbClr val="F3F3F1"/>
          </a:solidFill>
          <a:ln w="12700">
            <a:solidFill>
              <a:srgbClr val="F3F3F1"/>
            </a:solidFill>
            <a:prstDash val="solid"/>
          </a:ln>
        </p:spPr>
      </p:sp>
      <p:sp>
        <p:nvSpPr>
          <p:cNvPr id="8" name="Text 6"/>
          <p:cNvSpPr/>
          <p:nvPr/>
        </p:nvSpPr>
        <p:spPr>
          <a:xfrm>
            <a:off x="731520" y="2468880"/>
            <a:ext cx="10698480" cy="3611880"/>
          </a:xfrm>
          <a:prstGeom prst="rect">
            <a:avLst/>
          </a:prstGeom>
          <a:noFill/>
          <a:ln/>
        </p:spPr>
        <p:txBody>
          <a:bodyPr wrap="square" lIns="0" tIns="0" rIns="0" bIns="0" rtlCol="0" anchor="ctr"/>
          <a:lstStyle/>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Build a transcript loader for our Vite vanilla JS SPA.</a:t>
            </a:r>
            <a:endParaRPr lang="en-US" sz="1050" dirty="0"/>
          </a:p>
          <a:p>
            <a:pPr marL="0" indent="0">
              <a:spcAft>
                <a:spcPts val="200"/>
              </a:spcAft>
              <a:buNone/>
            </a:pP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CONTEXT</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The app already runs (npm run dev). PapaParse is loaded. The transcript is a</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CSV with columns: symbol, report_date, speaker, title, msg, source_url. One</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row per speaker turn.</a:t>
            </a:r>
            <a:endParaRPr lang="en-US" sz="1050" dirty="0"/>
          </a:p>
          <a:p>
            <a:pPr marL="0" indent="0">
              <a:spcAft>
                <a:spcPts val="200"/>
              </a:spcAft>
              <a:buNone/>
            </a:pP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TASK</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Add a file input that accepts a single .csv. On selection, parse with</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PapaParse and store the rows in a top level `transcript` variable. Render a</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confirmation line on the page: "&lt;symbol&gt; · &lt;report_date&gt; · &lt;n&gt; turns</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loaded".</a:t>
            </a:r>
            <a:endParaRPr lang="en-US" sz="1050" dirty="0"/>
          </a:p>
          <a:p>
            <a:pPr marL="0" indent="0">
              <a:spcAft>
                <a:spcPts val="200"/>
              </a:spcAft>
              <a:buNone/>
            </a:pP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CONSTRAINT</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Do not fetch anything. The user provides the file. If the CSV is missing a</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required column, show the missing name on screen and stop cleanly.</a:t>
            </a:r>
            <a:endParaRPr lang="en-US" sz="1050" dirty="0"/>
          </a:p>
          <a:p>
            <a:pPr marL="0" indent="0">
              <a:spcAft>
                <a:spcPts val="200"/>
              </a:spcAft>
              <a:buNone/>
            </a:pP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ACCEPTANCE</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When I upload A_2026-05-27.csv I see "A · 2026-05-27 · 115 turns loaded".</a:t>
            </a:r>
            <a:endParaRPr lang="en-US" sz="1050" dirty="0"/>
          </a:p>
          <a:p>
            <a:pPr marL="0" indent="0">
              <a:spcAft>
                <a:spcPts val="200"/>
              </a:spcAft>
              <a:buNone/>
            </a:pPr>
            <a:r>
              <a:rPr lang="en-US" sz="1050" dirty="0">
                <a:solidFill>
                  <a:srgbClr val="1E1E1E"/>
                </a:solidFill>
                <a:latin typeface="Consolas" pitchFamily="34" charset="0"/>
                <a:ea typeface="Consolas" pitchFamily="34" charset="-122"/>
                <a:cs typeface="Consolas" pitchFamily="34" charset="-120"/>
              </a:rPr>
              <a:t>Uploading a second file replaces the first, no ghost data left over.</a:t>
            </a:r>
            <a:endParaRPr lang="en-US" sz="1050" dirty="0"/>
          </a:p>
        </p:txBody>
      </p:sp>
      <p:sp>
        <p:nvSpPr>
          <p:cNvPr id="10" name="Shape 4">
            <a:extLst>
              <a:ext uri="{FF2B5EF4-FFF2-40B4-BE49-F238E27FC236}">
                <a16:creationId xmlns:a16="http://schemas.microsoft.com/office/drawing/2014/main" id="{8B74FA05-CE38-FE0E-DCCF-54F3A028E68A}"/>
              </a:ext>
            </a:extLst>
          </p:cNvPr>
          <p:cNvSpPr/>
          <p:nvPr/>
        </p:nvSpPr>
        <p:spPr>
          <a:xfrm>
            <a:off x="457200" y="1544725"/>
            <a:ext cx="2194560" cy="365760"/>
          </a:xfrm>
          <a:prstGeom prst="rect">
            <a:avLst/>
          </a:prstGeom>
          <a:solidFill>
            <a:srgbClr val="A51C30"/>
          </a:solidFill>
          <a:ln w="12700">
            <a:solidFill>
              <a:srgbClr val="A51C30"/>
            </a:solidFill>
            <a:prstDash val="solid"/>
          </a:ln>
        </p:spPr>
      </p:sp>
      <p:sp>
        <p:nvSpPr>
          <p:cNvPr id="11" name="Text 5">
            <a:extLst>
              <a:ext uri="{FF2B5EF4-FFF2-40B4-BE49-F238E27FC236}">
                <a16:creationId xmlns:a16="http://schemas.microsoft.com/office/drawing/2014/main" id="{992418A9-EFBE-7AF7-8E9B-188C423C5E57}"/>
              </a:ext>
            </a:extLst>
          </p:cNvPr>
          <p:cNvSpPr/>
          <p:nvPr/>
        </p:nvSpPr>
        <p:spPr>
          <a:xfrm>
            <a:off x="457200" y="1544724"/>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EXAMPLE PROMPT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2  ·  MAPS TO FIN_B AND FIN_C</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Fetch macro and news</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current geopolitical alerts and recent press coverage for this company alongside its own words, so my read is not built on management remarks alone."</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Two browser fetches: Riskline (no key) and NewsAPI (key entered by the user in a form field).</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Filter Riskline to a country list (US, China, EU by default). Render each kept alert as a plain sentence.</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Query NewsAPI with: "&lt;company&gt;" AND (earnings OR revenue OR analyst). Return the top ten headlines with dates and sources.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Every fetch checks status before parsing. On failure, show what failed and keep going.</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Cache the results so a reload does not spend the daily budget.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2  ·  PROMPT TO PASTE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Fetch macro and news</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1965959"/>
            <a:ext cx="11247120" cy="4588947"/>
          </a:xfrm>
          <a:prstGeom prst="rect">
            <a:avLst/>
          </a:prstGeom>
          <a:solidFill>
            <a:srgbClr val="F3F3F1"/>
          </a:solidFill>
          <a:ln w="12700">
            <a:solidFill>
              <a:srgbClr val="F3F3F1"/>
            </a:solidFill>
            <a:prstDash val="solid"/>
          </a:ln>
        </p:spPr>
      </p:sp>
      <p:sp>
        <p:nvSpPr>
          <p:cNvPr id="6" name="Shape 4"/>
          <p:cNvSpPr/>
          <p:nvPr/>
        </p:nvSpPr>
        <p:spPr>
          <a:xfrm>
            <a:off x="457200" y="1544725"/>
            <a:ext cx="2194560" cy="365760"/>
          </a:xfrm>
          <a:prstGeom prst="rect">
            <a:avLst/>
          </a:prstGeom>
          <a:solidFill>
            <a:srgbClr val="A51C30"/>
          </a:solidFill>
          <a:ln w="12700">
            <a:solidFill>
              <a:srgbClr val="A51C30"/>
            </a:solidFill>
            <a:prstDash val="solid"/>
          </a:ln>
        </p:spPr>
      </p:sp>
      <p:sp>
        <p:nvSpPr>
          <p:cNvPr id="7" name="Text 5"/>
          <p:cNvSpPr/>
          <p:nvPr/>
        </p:nvSpPr>
        <p:spPr>
          <a:xfrm>
            <a:off x="457200" y="1544724"/>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EXAMPLE PROMPT</a:t>
            </a:r>
            <a:endParaRPr lang="en-US" sz="1000" dirty="0"/>
          </a:p>
        </p:txBody>
      </p:sp>
      <p:sp>
        <p:nvSpPr>
          <p:cNvPr id="8" name="Text 6"/>
          <p:cNvSpPr/>
          <p:nvPr/>
        </p:nvSpPr>
        <p:spPr>
          <a:xfrm>
            <a:off x="731520" y="2427784"/>
            <a:ext cx="10698480" cy="3611880"/>
          </a:xfrm>
          <a:prstGeom prst="rect">
            <a:avLst/>
          </a:prstGeom>
          <a:noFill/>
          <a:ln/>
        </p:spPr>
        <p:txBody>
          <a:bodyPr wrap="square" lIns="0" tIns="0" rIns="0" bIns="0" rtlCol="0" anchor="ctr"/>
          <a:lstStyle/>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Add two data fetches to the SPA.</a:t>
            </a:r>
            <a:endParaRPr lang="en-US" sz="1000" dirty="0">
              <a:latin typeface="Consolas" panose="020B0609020204030204" pitchFamily="49" charset="0"/>
              <a:cs typeface="Consolas" panose="020B0609020204030204" pitchFamily="49" charset="0"/>
            </a:endParaRPr>
          </a:p>
          <a:p>
            <a:pPr marL="0" indent="0">
              <a:spcAft>
                <a:spcPts val="200"/>
              </a:spcAft>
              <a:buNone/>
            </a:pP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CONTEXT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The transcript is already loaded. We need external context. Two APIs:</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Riskline:  https://api.riskline.com/alerts/latest.json  (no key)</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NewsAPI:   https://newsapi.org/v2/everything  (key from an input field)</a:t>
            </a:r>
            <a:endParaRPr lang="en-US" sz="1000" dirty="0">
              <a:latin typeface="Consolas" panose="020B0609020204030204" pitchFamily="49" charset="0"/>
              <a:cs typeface="Consolas" panose="020B0609020204030204" pitchFamily="49" charset="0"/>
            </a:endParaRPr>
          </a:p>
          <a:p>
            <a:pPr marL="0" indent="0">
              <a:spcAft>
                <a:spcPts val="200"/>
              </a:spcAft>
              <a:buNone/>
            </a:pP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TASK</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1. On a "Fetch context" button, call Riskline. Filter the returned alerts to</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COUNTRIES = ["United States", "China", "European Union"]. Render each kept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alert as: "&lt;date&gt; · &lt;country&gt;: &lt;headline&gt;".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2. Call NewsAPI with the query pattern: '"&lt;companyName&gt;" AND (earnings OR</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revenue OR analyst)', pageSize=10, sortBy=publishedAt. Render each hit as:</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   "&lt;publishedAt&gt; · &lt;source&gt;: &lt;title&gt;".</a:t>
            </a:r>
            <a:endParaRPr lang="en-US" sz="1000" dirty="0">
              <a:latin typeface="Consolas" panose="020B0609020204030204" pitchFamily="49" charset="0"/>
              <a:cs typeface="Consolas" panose="020B0609020204030204" pitchFamily="49" charset="0"/>
            </a:endParaRPr>
          </a:p>
          <a:p>
            <a:pPr marL="0" indent="0">
              <a:spcAft>
                <a:spcPts val="200"/>
              </a:spcAft>
              <a:buNone/>
            </a:pP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CONSTRAINT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Check res.ok before parsing every response. If either fetch fails, print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"&lt;source&gt; fetch failed: &lt;status&gt;" to the panel and continue. Never let one</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failure block the other. Cache both responses in memory so a reload does not</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re-request.</a:t>
            </a:r>
            <a:endParaRPr lang="en-US" sz="1000" dirty="0">
              <a:latin typeface="Consolas" panose="020B0609020204030204" pitchFamily="49" charset="0"/>
              <a:cs typeface="Consolas" panose="020B0609020204030204" pitchFamily="49" charset="0"/>
            </a:endParaRPr>
          </a:p>
          <a:p>
            <a:pPr marL="0" indent="0">
              <a:spcAft>
                <a:spcPts val="200"/>
              </a:spcAft>
              <a:buNone/>
            </a:pP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ACCEPTANCE</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I see a "Macro" panel with three to eight sentences, and a "News" panel with</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up to ten headlines dated in the last thirty days. If I disable my network</a:t>
            </a:r>
            <a:endParaRPr lang="en-US" sz="1000" dirty="0">
              <a:latin typeface="Consolas" panose="020B0609020204030204" pitchFamily="49" charset="0"/>
              <a:cs typeface="Consolas" panose="020B0609020204030204" pitchFamily="49" charset="0"/>
            </a:endParaRPr>
          </a:p>
          <a:p>
            <a:pPr marL="0" indent="0">
              <a:spcAft>
                <a:spcPts val="200"/>
              </a:spcAft>
              <a:buNone/>
            </a:pPr>
            <a:r>
              <a:rPr lang="en-US" sz="1000" dirty="0">
                <a:solidFill>
                  <a:srgbClr val="1E1E1E"/>
                </a:solidFill>
                <a:latin typeface="Consolas" panose="020B0609020204030204" pitchFamily="49" charset="0"/>
                <a:ea typeface="Consolas" pitchFamily="34" charset="-122"/>
                <a:cs typeface="Consolas" panose="020B0609020204030204" pitchFamily="49" charset="0"/>
              </a:rPr>
              <a:t>mid-way I see the failure message, not a broken page.</a:t>
            </a:r>
            <a:endParaRPr lang="en-US" sz="1000" dirty="0">
              <a:latin typeface="Consolas" panose="020B0609020204030204" pitchFamily="49" charset="0"/>
              <a:cs typeface="Consolas" panose="020B06090202040302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3  ·  MAPS TO FIN_D</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Assemble the labeled context block</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to see exactly what the model will see before it responds, so I can catch a bad input before it becomes a bad answer."</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Filter the transcript to management speakers (title does NOT contain "analyst" or "research").</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Take the first twelve management turns. Prepend each with "&lt;speaker&gt; (&lt;title&gt;): ".</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Assemble one string with four labeled sections: PRIMARY SOURCE, SECONDARY SOURCE, ENVIRONMENT, QUESTION.</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Render the assembled block on screen in a monospace panel.</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Show character count and estimated token count next to it (characters divided by four).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3  ·  PROMPT TO PASTE</a:t>
            </a:r>
            <a:endParaRPr lang="en-US" sz="1200" dirty="0"/>
          </a:p>
        </p:txBody>
      </p:sp>
      <p:sp>
        <p:nvSpPr>
          <p:cNvPr id="3" name="Text 1"/>
          <p:cNvSpPr/>
          <p:nvPr/>
        </p:nvSpPr>
        <p:spPr>
          <a:xfrm>
            <a:off x="457200" y="777240"/>
            <a:ext cx="6036067"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Assemble the labeled context block</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5496674" y="397608"/>
            <a:ext cx="6207646" cy="5852160"/>
          </a:xfrm>
          <a:prstGeom prst="rect">
            <a:avLst/>
          </a:prstGeom>
          <a:solidFill>
            <a:srgbClr val="F3F3F1"/>
          </a:solidFill>
          <a:ln w="12700">
            <a:solidFill>
              <a:srgbClr val="F3F3F1"/>
            </a:solidFill>
            <a:prstDash val="solid"/>
          </a:ln>
        </p:spPr>
      </p:sp>
      <p:sp>
        <p:nvSpPr>
          <p:cNvPr id="6" name="Shape 4"/>
          <p:cNvSpPr/>
          <p:nvPr/>
        </p:nvSpPr>
        <p:spPr>
          <a:xfrm>
            <a:off x="3077110" y="2163738"/>
            <a:ext cx="2194560" cy="365760"/>
          </a:xfrm>
          <a:prstGeom prst="rect">
            <a:avLst/>
          </a:prstGeom>
          <a:solidFill>
            <a:srgbClr val="A51C30"/>
          </a:solidFill>
          <a:ln w="12700">
            <a:solidFill>
              <a:srgbClr val="A51C30"/>
            </a:solidFill>
            <a:prstDash val="solid"/>
          </a:ln>
        </p:spPr>
      </p:sp>
      <p:sp>
        <p:nvSpPr>
          <p:cNvPr id="7" name="Text 5"/>
          <p:cNvSpPr/>
          <p:nvPr/>
        </p:nvSpPr>
        <p:spPr>
          <a:xfrm>
            <a:off x="3097658" y="2162710"/>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SUGGESTED PROMPT</a:t>
            </a:r>
            <a:endParaRPr lang="en-US" sz="1000" dirty="0"/>
          </a:p>
        </p:txBody>
      </p:sp>
      <p:sp>
        <p:nvSpPr>
          <p:cNvPr id="8" name="Text 6"/>
          <p:cNvSpPr/>
          <p:nvPr/>
        </p:nvSpPr>
        <p:spPr>
          <a:xfrm>
            <a:off x="6080760" y="1394459"/>
            <a:ext cx="4980911" cy="4040567"/>
          </a:xfrm>
          <a:prstGeom prst="rect">
            <a:avLst/>
          </a:prstGeom>
          <a:noFill/>
          <a:ln/>
        </p:spPr>
        <p:txBody>
          <a:bodyPr wrap="square" lIns="0" tIns="0" rIns="0" bIns="0" rtlCol="0" anchor="ctr"/>
          <a:lstStyle/>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Assemble a labeled context block from what we have.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CONTEXT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We already have: transcript (array of turn objects), news (array of</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headlines), macro (array of filtered alert sentences).</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TASK</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Build a function assembleContext(transcript, news, macro) that returns one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string with these four sections, in this order:</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PRIMARY SOURCE: COMPANY STATEMENTS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first 12 management turns, formatted "&lt;speaker&gt; (&lt;title&gt;): &lt;msg&gt;"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(a management turn is one whose title does NOT match /analyst|research/i)</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SECONDARY SOURCE: PRESS COVERAGE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the headline list</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ENVIRONMENT: MACRO RISK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the filtered alert sentences</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QUESTION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"Summarize what management emphasized this quarter, what analysts should</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watch, and any macro risk that could affect it."</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Render the returned string in a monospace panel on the page. Below it, show</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character count and estimated token count (chars / 4).</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CONSTRAINT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Do not call the model in this step. This step is purely display. The reader</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must be able to inspect the input before any spend happens.</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ACCEPTANCE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I see the four labeled sections rendered on screen. The token estimate is a</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visible number, not hidden in a console log.</a:t>
            </a:r>
            <a:endParaRPr lang="en-US" sz="900" dirty="0"/>
          </a:p>
        </p:txBody>
      </p:sp>
      <p:sp>
        <p:nvSpPr>
          <p:cNvPr id="9" name="Text 7"/>
          <p:cNvSpPr/>
          <p:nvPr/>
        </p:nvSpPr>
        <p:spPr>
          <a:xfrm>
            <a:off x="457200" y="6263640"/>
            <a:ext cx="11247120" cy="32004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The read-before-you-spend habit is worth more than any single prompt.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4  ·  MAPS TO FIN_E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Score sentiment per turn</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every speaker turn scored positive, neutral, or negative, so I can see who leaned which way without reading the whole call again."</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JS loop over every transcript turn. One OpenRouter call per turn.</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JSON schema on the response: positive_phrases and negative_phrases, each an array of one to five word strings.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JavaScript computes counts, density = (pos minus neg) over word count, and the label from a threshold.</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Retry each call up to three times with backoff. Skip a row after three failures, keep the loop going.</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Render progress ("Scored 27 of 115") and a table with speaker, density, label, and phrases.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Aggregate: per speaker, per role group, one overall row.</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4  ·  PROMPT TO PASTE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Score sentiment per turn</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6709024" y="195209"/>
            <a:ext cx="4995295" cy="6585731"/>
          </a:xfrm>
          <a:prstGeom prst="rect">
            <a:avLst/>
          </a:prstGeom>
          <a:solidFill>
            <a:srgbClr val="F3F3F1"/>
          </a:solidFill>
          <a:ln w="12700">
            <a:solidFill>
              <a:srgbClr val="F3F3F1"/>
            </a:solidFill>
            <a:prstDash val="solid"/>
          </a:ln>
        </p:spPr>
      </p:sp>
      <p:sp>
        <p:nvSpPr>
          <p:cNvPr id="6" name="Shape 4"/>
          <p:cNvSpPr/>
          <p:nvPr/>
        </p:nvSpPr>
        <p:spPr>
          <a:xfrm>
            <a:off x="457200" y="1965960"/>
            <a:ext cx="2194560" cy="365760"/>
          </a:xfrm>
          <a:prstGeom prst="rect">
            <a:avLst/>
          </a:prstGeom>
          <a:solidFill>
            <a:srgbClr val="A51C30"/>
          </a:solidFill>
          <a:ln w="12700">
            <a:solidFill>
              <a:srgbClr val="A51C30"/>
            </a:solidFill>
            <a:prstDash val="solid"/>
          </a:ln>
        </p:spPr>
      </p:sp>
      <p:sp>
        <p:nvSpPr>
          <p:cNvPr id="7" name="Text 5"/>
          <p:cNvSpPr/>
          <p:nvPr/>
        </p:nvSpPr>
        <p:spPr>
          <a:xfrm>
            <a:off x="457200" y="1965960"/>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EXAMPLE PROMPT</a:t>
            </a:r>
            <a:endParaRPr lang="en-US" sz="1000" dirty="0"/>
          </a:p>
        </p:txBody>
      </p:sp>
      <p:sp>
        <p:nvSpPr>
          <p:cNvPr id="8" name="Text 6"/>
          <p:cNvSpPr/>
          <p:nvPr/>
        </p:nvSpPr>
        <p:spPr>
          <a:xfrm>
            <a:off x="6887280" y="1737360"/>
            <a:ext cx="4638782" cy="3611880"/>
          </a:xfrm>
          <a:prstGeom prst="rect">
            <a:avLst/>
          </a:prstGeom>
          <a:noFill/>
          <a:ln/>
        </p:spPr>
        <p:txBody>
          <a:bodyPr wrap="square" lIns="0" tIns="0" rIns="0" bIns="0" rtlCol="0" anchor="ctr"/>
          <a:lstStyle/>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Score sentiment across every transcript turn.</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CONTEXT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The parsed transcript is in the `transcript` array. Each row has a msg</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field (the speaker's text) and word count is msg.split(/\s+/).length.</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TASK</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For each row, call OpenRouter (model: "mistralai/mistral-small-3.2-24b")</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with response_format = json_schema, requiring exactly:</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positive_phrases: string[], negative_phrases: string[]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additionalProperties: false, strict: true. Each phrase is one to five words,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taken from the passage.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For each returned response, JavaScript computes: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positive_count  = positive_phrases.length</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negative_count  = negative_phrases.length</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density         = (positive_count - negative_count) / word_count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label           = density &gt;  0.005 ? "positive"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density &lt; -0.005 ? "negative"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 "neutral"</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Wrap each fetch in retry: three tries, exponential backoff (1s, 2s, 4s). On</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final failure, log the row index and continue.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Render a table: speaker | title | density | label | phrases. Under it,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aggregate rows: per speaker (sum counts, re-derive density and label), per</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role group (Management vs Analyst), and one overall row.</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CONSTRAINT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The model returns phrases only. Every count, ratio, and label is JavaScript.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Show progress text: "Scored N of M turns" that updates as the loop runs.</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ACCEPTANCE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The table renders one row per turn plus the aggregate rows. If I stop the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network mid-loop, the rows already scored stay on screen.</a:t>
            </a:r>
            <a:endParaRPr lang="en-US" sz="900" dirty="0"/>
          </a:p>
        </p:txBody>
      </p:sp>
      <p:sp>
        <p:nvSpPr>
          <p:cNvPr id="9" name="Text 7"/>
          <p:cNvSpPr/>
          <p:nvPr/>
        </p:nvSpPr>
        <p:spPr>
          <a:xfrm>
            <a:off x="313362" y="3801949"/>
            <a:ext cx="5861407" cy="32004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The model finds the words. JavaScript does every number the reader sees.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5  ·  MAPS TO FIN_F</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Extract entities and claims per turn</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the structured facts pulled from the call, so I can scan the companies, people, products, numbers, and guidance without rereading every sentence."</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Same loop shape as sentiment. One OpenRouter call per turn.</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JSON schema requires five fields: companies, executives (name plus role), products, financial_figures (figure plus metric), forward_looking_statements.</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Entities dedupe across turns: one clean list per category.</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Claims stay separate: every figure and every forward looking statement keeps the speaker who said it.</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Render two panels: an entities panel and a claims panel.</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5  ·  PROMPT TO PASTE</a:t>
            </a:r>
            <a:endParaRPr lang="en-US" sz="1200" dirty="0"/>
          </a:p>
        </p:txBody>
      </p:sp>
      <p:sp>
        <p:nvSpPr>
          <p:cNvPr id="3" name="Text 1"/>
          <p:cNvSpPr/>
          <p:nvPr/>
        </p:nvSpPr>
        <p:spPr>
          <a:xfrm>
            <a:off x="457200" y="777240"/>
            <a:ext cx="6395663"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Extract entities and claims per turn</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6852863" y="184937"/>
            <a:ext cx="4851457" cy="6398737"/>
          </a:xfrm>
          <a:prstGeom prst="rect">
            <a:avLst/>
          </a:prstGeom>
          <a:solidFill>
            <a:srgbClr val="F3F3F1"/>
          </a:solidFill>
          <a:ln w="12700">
            <a:solidFill>
              <a:srgbClr val="F3F3F1"/>
            </a:solidFill>
            <a:prstDash val="solid"/>
          </a:ln>
        </p:spPr>
      </p:sp>
      <p:sp>
        <p:nvSpPr>
          <p:cNvPr id="6" name="Shape 4"/>
          <p:cNvSpPr/>
          <p:nvPr/>
        </p:nvSpPr>
        <p:spPr>
          <a:xfrm>
            <a:off x="457200" y="1965960"/>
            <a:ext cx="2194560" cy="365760"/>
          </a:xfrm>
          <a:prstGeom prst="rect">
            <a:avLst/>
          </a:prstGeom>
          <a:solidFill>
            <a:srgbClr val="A51C30"/>
          </a:solidFill>
          <a:ln w="12700">
            <a:solidFill>
              <a:srgbClr val="A51C30"/>
            </a:solidFill>
            <a:prstDash val="solid"/>
          </a:ln>
        </p:spPr>
      </p:sp>
      <p:sp>
        <p:nvSpPr>
          <p:cNvPr id="7" name="Text 5"/>
          <p:cNvSpPr/>
          <p:nvPr/>
        </p:nvSpPr>
        <p:spPr>
          <a:xfrm>
            <a:off x="457200" y="1965960"/>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EXAMPLE PROMPT</a:t>
            </a:r>
            <a:endParaRPr lang="en-US" sz="1000" dirty="0"/>
          </a:p>
        </p:txBody>
      </p:sp>
      <p:sp>
        <p:nvSpPr>
          <p:cNvPr id="8" name="Text 6"/>
          <p:cNvSpPr/>
          <p:nvPr/>
        </p:nvSpPr>
        <p:spPr>
          <a:xfrm>
            <a:off x="7072215" y="1349768"/>
            <a:ext cx="4412751" cy="3611880"/>
          </a:xfrm>
          <a:prstGeom prst="rect">
            <a:avLst/>
          </a:prstGeom>
          <a:noFill/>
          <a:ln/>
        </p:spPr>
        <p:txBody>
          <a:bodyPr wrap="square" lIns="0" tIns="0" rIns="0" bIns="0" rtlCol="0" anchor="ctr"/>
          <a:lstStyle/>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Extract structured facts from every transcript turn.</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CONTEXT</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Same loop shape as the sentiment step, different schema.</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TASK</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For each transcript row, call OpenRouter with response_format = json_schema</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requiring exactly:</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companies:                  string[]   (named third parties only, NEVER</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the reporting company itself)</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executives:                 { name: string, role: string }[]</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products:                   string[]   (distinct products, services,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business segments)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financial_figures:          { figure: string, metric: string }[]</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A bare "$51B" fails. "$51B in iPhone revenue"</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qualifies.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forward_looking_statements: string[]   (verbatim claims about the future)</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additionalProperties: false everywhere. All five fields required. Empty</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arrays allowed.</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After the loop, JavaScript aggregates: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Entities: dedupe companies, executives (by name), products across turns.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Claims:   keep every financial_figure and every forward_looking_statement,</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each attributed to the speaker who said it.</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Render two panels on the page:</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ENTITIES: three deduped lists.</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CLAIMS:   every figure and every forward looking statement, with speaker</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            name attached.</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CONSTRAINT</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Include a worked example inside the system prompt showing one input passage</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and the exact JSON expected. That single example does more than a paragraph</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of instructions.</a:t>
            </a:r>
            <a:endParaRPr lang="en-US" sz="800" dirty="0"/>
          </a:p>
          <a:p>
            <a:pPr marL="0" indent="0">
              <a:spcAft>
                <a:spcPts val="200"/>
              </a:spcAft>
              <a:buNone/>
            </a:pP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ACCEPTANCE</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The entities panel has no duplicates. Every figure and every statement in</a:t>
            </a:r>
            <a:endParaRPr lang="en-US" sz="800" dirty="0"/>
          </a:p>
          <a:p>
            <a:pPr marL="0" indent="0">
              <a:spcAft>
                <a:spcPts val="200"/>
              </a:spcAft>
              <a:buNone/>
            </a:pPr>
            <a:r>
              <a:rPr lang="en-US" sz="800" dirty="0">
                <a:solidFill>
                  <a:srgbClr val="1E1E1E"/>
                </a:solidFill>
                <a:latin typeface="Consolas" pitchFamily="34" charset="0"/>
                <a:ea typeface="Consolas" pitchFamily="34" charset="-122"/>
                <a:cs typeface="Consolas" pitchFamily="34" charset="-120"/>
              </a:rPr>
              <a:t>the claims panel shows a speaker name next to it.</a:t>
            </a:r>
            <a:endParaRPr lang="en-US" sz="800" dirty="0"/>
          </a:p>
        </p:txBody>
      </p:sp>
      <p:sp>
        <p:nvSpPr>
          <p:cNvPr id="9" name="Text 7"/>
          <p:cNvSpPr/>
          <p:nvPr/>
        </p:nvSpPr>
        <p:spPr>
          <a:xfrm>
            <a:off x="457200" y="3703316"/>
            <a:ext cx="4712584" cy="32004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Attribution is what turns a fact into a claim you can defend.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6  ·  MAPS TO FIN_G</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Render the review surface, then the note</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USER STORY</a:t>
            </a:r>
            <a:endParaRPr lang="en-US" sz="1200" dirty="0"/>
          </a:p>
        </p:txBody>
      </p:sp>
      <p:sp>
        <p:nvSpPr>
          <p:cNvPr id="7" name="Text 5"/>
          <p:cNvSpPr/>
          <p:nvPr/>
        </p:nvSpPr>
        <p:spPr>
          <a:xfrm>
            <a:off x="685800" y="2514600"/>
            <a:ext cx="5120640" cy="274320"/>
          </a:xfrm>
          <a:prstGeom prst="rect">
            <a:avLst/>
          </a:prstGeom>
          <a:noFill/>
          <a:ln/>
        </p:spPr>
        <p:txBody>
          <a:bodyPr wrap="square" lIns="0" tIns="0" rIns="0" bIns="0" rtlCol="0" anchor="ctr"/>
          <a:lstStyle/>
          <a:p>
            <a:pPr marL="0" indent="0">
              <a:buNone/>
            </a:pPr>
            <a:r>
              <a:rPr lang="en-US" sz="1100" i="1" dirty="0">
                <a:solidFill>
                  <a:srgbClr val="8996A0"/>
                </a:solidFill>
                <a:latin typeface="Arial" pitchFamily="34" charset="0"/>
                <a:ea typeface="Arial" pitchFamily="34" charset="-122"/>
                <a:cs typeface="Arial" pitchFamily="34" charset="-120"/>
              </a:rPr>
              <a:t>Written by the business owner</a:t>
            </a:r>
            <a:endParaRPr lang="en-US" sz="1100" dirty="0"/>
          </a:p>
        </p:txBody>
      </p:sp>
      <p:sp>
        <p:nvSpPr>
          <p:cNvPr id="8" name="Text 6"/>
          <p:cNvSpPr/>
          <p:nvPr/>
        </p:nvSpPr>
        <p:spPr>
          <a:xfrm>
            <a:off x="685800" y="2880360"/>
            <a:ext cx="5120640" cy="2926080"/>
          </a:xfrm>
          <a:prstGeom prst="rect">
            <a:avLst/>
          </a:prstGeom>
          <a:noFill/>
          <a:ln/>
        </p:spPr>
        <p:txBody>
          <a:bodyPr wrap="square" lIns="0" tIns="0" rIns="0" bIns="0" rtlCol="0" anchor="ctr"/>
          <a:lstStyle/>
          <a:p>
            <a:pPr marL="0" indent="0">
              <a:buNone/>
            </a:pPr>
            <a:r>
              <a:rPr lang="en-US" sz="1800" i="1" dirty="0">
                <a:solidFill>
                  <a:srgbClr val="1E1E1E"/>
                </a:solidFill>
                <a:latin typeface="Arial" pitchFamily="34" charset="0"/>
                <a:ea typeface="Arial" pitchFamily="34" charset="-122"/>
                <a:cs typeface="Arial" pitchFamily="34" charset="-120"/>
              </a:rPr>
              <a:t>"As an analyst, I need to read every input the model will see and confirm coverage before any research note goes out, so I own what gets published in my name."</a:t>
            </a:r>
            <a:endParaRPr lang="en-US" sz="1800" dirty="0"/>
          </a:p>
        </p:txBody>
      </p:sp>
      <p:sp>
        <p:nvSpPr>
          <p:cNvPr id="9" name="Shape 7"/>
          <p:cNvSpPr/>
          <p:nvPr/>
        </p:nvSpPr>
        <p:spPr>
          <a:xfrm>
            <a:off x="6263640" y="2011680"/>
            <a:ext cx="5486400" cy="3931920"/>
          </a:xfrm>
          <a:prstGeom prst="rect">
            <a:avLst/>
          </a:prstGeom>
          <a:solidFill>
            <a:srgbClr val="293352"/>
          </a:solidFill>
          <a:ln w="12700">
            <a:solidFill>
              <a:srgbClr val="293352"/>
            </a:solidFill>
            <a:prstDash val="solid"/>
          </a:ln>
        </p:spPr>
      </p:sp>
      <p:sp>
        <p:nvSpPr>
          <p:cNvPr id="10" name="Text 8"/>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FUNCTIONAL REQUIREMENT</a:t>
            </a:r>
            <a:endParaRPr lang="en-US" sz="1200" dirty="0"/>
          </a:p>
        </p:txBody>
      </p:sp>
      <p:sp>
        <p:nvSpPr>
          <p:cNvPr id="11" name="Text 9"/>
          <p:cNvSpPr/>
          <p:nvPr/>
        </p:nvSpPr>
        <p:spPr>
          <a:xfrm>
            <a:off x="6492240" y="2514600"/>
            <a:ext cx="5120640" cy="274320"/>
          </a:xfrm>
          <a:prstGeom prst="rect">
            <a:avLst/>
          </a:prstGeom>
          <a:noFill/>
          <a:ln/>
        </p:spPr>
        <p:txBody>
          <a:bodyPr wrap="square" lIns="0" tIns="0" rIns="0" bIns="0" rtlCol="0" anchor="ctr"/>
          <a:lstStyle/>
          <a:p>
            <a:pPr marL="0" indent="0">
              <a:buNone/>
            </a:pPr>
            <a:r>
              <a:rPr lang="en-US" sz="1100" i="1" dirty="0">
                <a:solidFill>
                  <a:srgbClr val="F3F3F1"/>
                </a:solidFill>
                <a:latin typeface="Arial" pitchFamily="34" charset="0"/>
                <a:ea typeface="Arial" pitchFamily="34" charset="-122"/>
                <a:cs typeface="Arial" pitchFamily="34" charset="-120"/>
              </a:rPr>
              <a:t>Translated by the analyst</a:t>
            </a:r>
            <a:endParaRPr lang="en-US" sz="1100" dirty="0"/>
          </a:p>
        </p:txBody>
      </p:sp>
      <p:sp>
        <p:nvSpPr>
          <p:cNvPr id="12" name="Text 10"/>
          <p:cNvSpPr/>
          <p:nvPr/>
        </p:nvSpPr>
        <p:spPr>
          <a:xfrm>
            <a:off x="6492240" y="2880360"/>
            <a:ext cx="5120640" cy="29260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Assemble a reviewSurface object holding every input and every derived label.</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Render it as a readable panel with a coverage line ("Scored 115 of 115. Extracted from 115 of 115.").</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Add a "Generate research note" button, disabled until a "I have reviewed the surface" checkbox is ticked.</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On click, one OpenRouter call sends the surface plus a rule bound system prompt.</a:t>
            </a:r>
            <a:endParaRPr lang="en-US" sz="1300" dirty="0"/>
          </a:p>
          <a:p>
            <a:pPr marL="342900" indent="-342900">
              <a:spcAft>
                <a:spcPts val="600"/>
              </a:spcAft>
              <a:buSzPct val="100000"/>
              <a:buChar char="▪"/>
            </a:pPr>
            <a:r>
              <a:rPr lang="en-US" sz="1300" dirty="0">
                <a:solidFill>
                  <a:srgbClr val="FFFFFF"/>
                </a:solidFill>
                <a:latin typeface="Arial" pitchFamily="34" charset="0"/>
                <a:ea typeface="Arial" pitchFamily="34" charset="-122"/>
                <a:cs typeface="Arial" pitchFamily="34" charset="-120"/>
              </a:rPr>
              <a:t>System prompt: use only provided sources, attribute every claim, no investment advice, be concise.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BUILD STEP 6  ·  PROMPT TO PASTE</a:t>
            </a:r>
            <a:endParaRPr lang="en-US" sz="1200" dirty="0"/>
          </a:p>
        </p:txBody>
      </p:sp>
      <p:sp>
        <p:nvSpPr>
          <p:cNvPr id="3" name="Text 1"/>
          <p:cNvSpPr/>
          <p:nvPr/>
        </p:nvSpPr>
        <p:spPr>
          <a:xfrm>
            <a:off x="457200" y="777240"/>
            <a:ext cx="6426485"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Render the review surface, then the note</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6513816" y="274319"/>
            <a:ext cx="5190504" cy="6126471"/>
          </a:xfrm>
          <a:prstGeom prst="rect">
            <a:avLst/>
          </a:prstGeom>
          <a:solidFill>
            <a:srgbClr val="F3F3F1"/>
          </a:solidFill>
          <a:ln w="12700">
            <a:solidFill>
              <a:srgbClr val="F3F3F1"/>
            </a:solidFill>
            <a:prstDash val="solid"/>
          </a:ln>
        </p:spPr>
      </p:sp>
      <p:sp>
        <p:nvSpPr>
          <p:cNvPr id="6" name="Shape 4"/>
          <p:cNvSpPr/>
          <p:nvPr/>
        </p:nvSpPr>
        <p:spPr>
          <a:xfrm>
            <a:off x="457200" y="1965960"/>
            <a:ext cx="2194560" cy="365760"/>
          </a:xfrm>
          <a:prstGeom prst="rect">
            <a:avLst/>
          </a:prstGeom>
          <a:solidFill>
            <a:srgbClr val="A51C30"/>
          </a:solidFill>
          <a:ln w="12700">
            <a:solidFill>
              <a:srgbClr val="A51C30"/>
            </a:solidFill>
            <a:prstDash val="solid"/>
          </a:ln>
        </p:spPr>
      </p:sp>
      <p:sp>
        <p:nvSpPr>
          <p:cNvPr id="7" name="Text 5"/>
          <p:cNvSpPr/>
          <p:nvPr/>
        </p:nvSpPr>
        <p:spPr>
          <a:xfrm>
            <a:off x="457200" y="1965960"/>
            <a:ext cx="2194560" cy="365760"/>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Arial" pitchFamily="34" charset="0"/>
                <a:ea typeface="Arial" pitchFamily="34" charset="-122"/>
                <a:cs typeface="Arial" pitchFamily="34" charset="-120"/>
              </a:rPr>
              <a:t>EXAMPLE PROMPT</a:t>
            </a:r>
            <a:endParaRPr lang="en-US" sz="1000" dirty="0"/>
          </a:p>
        </p:txBody>
      </p:sp>
      <p:sp>
        <p:nvSpPr>
          <p:cNvPr id="8" name="Text 6"/>
          <p:cNvSpPr/>
          <p:nvPr/>
        </p:nvSpPr>
        <p:spPr>
          <a:xfrm>
            <a:off x="6733169" y="1562702"/>
            <a:ext cx="4751798" cy="3611880"/>
          </a:xfrm>
          <a:prstGeom prst="rect">
            <a:avLst/>
          </a:prstGeom>
          <a:noFill/>
          <a:ln/>
        </p:spPr>
        <p:txBody>
          <a:bodyPr wrap="square" lIns="0" tIns="0" rIns="0" bIns="0" rtlCol="0" anchor="ctr"/>
          <a:lstStyle/>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Assemble the human review surface, then produce the research note.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CONTEXT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Everything is in memory: assembledContext (string), sentiment (per turn +</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aggregates), extraction (entities + claims), news, macro.</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TASK</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1. Build reviewSurface = { assembledContext, sentiment, extraction, news,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macro }. Render it as a readable panel on the page. Include a coverage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line: "Scored N of M turns. Extracted from N of M turns." Show any gaps.</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2. Add a "Generate research note" button, disabled until a checkbox reading</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"I have reviewed the surface" is ticked. This gate is deliberate.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3. On click, send reviewSurface plus the system prompt below to OpenRouter</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(google/gemini-2.0-flash-001). Render the returned note under the surface.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SYSTEM PROMPT (rules the model must follow)</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Use only the provided sources. Attribute every claim to its source.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Separate what the company asserts from what others report. If the sources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do not answer, say so plainly. No investment advice, no buy or sell view.</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  Be concise.</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CONSTRAINT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The button is disabled until the checkbox is ticked. Do not remove that</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gate. The review IS the point.</a:t>
            </a:r>
            <a:endParaRPr lang="en-US" sz="900" dirty="0"/>
          </a:p>
          <a:p>
            <a:pPr marL="0" indent="0">
              <a:spcAft>
                <a:spcPts val="200"/>
              </a:spcAft>
              <a:buNone/>
            </a:pP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ACCEPTANCE</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I read the surface, tick the box, click Generate, and the note appears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citing the sections it drew from. If I un-tick the box, the button disables</a:t>
            </a:r>
            <a:endParaRPr lang="en-US" sz="900" dirty="0"/>
          </a:p>
          <a:p>
            <a:pPr marL="0" indent="0">
              <a:spcAft>
                <a:spcPts val="200"/>
              </a:spcAft>
              <a:buNone/>
            </a:pPr>
            <a:r>
              <a:rPr lang="en-US" sz="900" dirty="0">
                <a:solidFill>
                  <a:srgbClr val="1E1E1E"/>
                </a:solidFill>
                <a:latin typeface="Consolas" pitchFamily="34" charset="0"/>
                <a:ea typeface="Consolas" pitchFamily="34" charset="-122"/>
                <a:cs typeface="Consolas" pitchFamily="34" charset="-120"/>
              </a:rPr>
              <a:t>again.</a:t>
            </a:r>
            <a:endParaRPr lang="en-US" sz="900" dirty="0"/>
          </a:p>
        </p:txBody>
      </p:sp>
      <p:sp>
        <p:nvSpPr>
          <p:cNvPr id="9" name="Text 7"/>
          <p:cNvSpPr/>
          <p:nvPr/>
        </p:nvSpPr>
        <p:spPr>
          <a:xfrm>
            <a:off x="0" y="2948934"/>
            <a:ext cx="5638800" cy="320040"/>
          </a:xfrm>
          <a:prstGeom prst="rect">
            <a:avLst/>
          </a:prstGeom>
          <a:noFill/>
          <a:ln/>
        </p:spPr>
        <p:txBody>
          <a:bodyPr wrap="square" lIns="0" tIns="0" rIns="0" bIns="0" rtlCol="0" anchor="ctr"/>
          <a:lstStyle/>
          <a:p>
            <a:pPr marL="0" indent="0" algn="ctr">
              <a:buNone/>
            </a:pPr>
            <a:r>
              <a:rPr lang="en-US" sz="1200" i="1" dirty="0">
                <a:solidFill>
                  <a:srgbClr val="8996A0"/>
                </a:solidFill>
                <a:latin typeface="Arial" pitchFamily="34" charset="0"/>
                <a:ea typeface="Arial" pitchFamily="34" charset="-122"/>
                <a:cs typeface="Arial" pitchFamily="34" charset="-120"/>
              </a:rPr>
              <a:t>The Knight Capital step is missing here on purpose. You put it back.</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SHIP REPO 2</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Commit, push, and tag</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548640" y="2103120"/>
            <a:ext cx="640080" cy="640080"/>
          </a:xfrm>
          <a:prstGeom prst="ellipse">
            <a:avLst/>
          </a:prstGeom>
          <a:solidFill>
            <a:srgbClr val="A51C30"/>
          </a:solidFill>
          <a:ln w="12700">
            <a:solidFill>
              <a:srgbClr val="A51C30"/>
            </a:solidFill>
            <a:prstDash val="solid"/>
          </a:ln>
        </p:spPr>
      </p:sp>
      <p:sp>
        <p:nvSpPr>
          <p:cNvPr id="6" name="Text 4"/>
          <p:cNvSpPr/>
          <p:nvPr/>
        </p:nvSpPr>
        <p:spPr>
          <a:xfrm>
            <a:off x="548640" y="21031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371600" y="2103120"/>
            <a:ext cx="2377440" cy="640080"/>
          </a:xfrm>
          <a:prstGeom prst="rect">
            <a:avLst/>
          </a:prstGeom>
          <a:noFill/>
          <a:ln/>
        </p:spPr>
        <p:txBody>
          <a:bodyPr wrap="square" lIns="0" tIns="0" rIns="0" bIns="0" rtlCol="0" anchor="ctr"/>
          <a:lstStyle/>
          <a:p>
            <a:pPr marL="0" indent="0">
              <a:buNone/>
            </a:pPr>
            <a:r>
              <a:rPr lang="en-US" sz="1800" b="1" dirty="0">
                <a:solidFill>
                  <a:srgbClr val="293352"/>
                </a:solidFill>
                <a:latin typeface="Arial" pitchFamily="34" charset="0"/>
                <a:ea typeface="Arial" pitchFamily="34" charset="-122"/>
                <a:cs typeface="Arial" pitchFamily="34" charset="-120"/>
              </a:rPr>
              <a:t>Commit each step</a:t>
            </a:r>
            <a:endParaRPr lang="en-US" sz="1800" dirty="0"/>
          </a:p>
        </p:txBody>
      </p:sp>
      <p:sp>
        <p:nvSpPr>
          <p:cNvPr id="8" name="Text 6"/>
          <p:cNvSpPr/>
          <p:nvPr/>
        </p:nvSpPr>
        <p:spPr>
          <a:xfrm>
            <a:off x="3840480" y="210312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A commit after every prompt. If something breaks, git log shows exactly which prompt introduced it.</a:t>
            </a:r>
            <a:endParaRPr lang="en-US" sz="1300" dirty="0"/>
          </a:p>
        </p:txBody>
      </p:sp>
      <p:sp>
        <p:nvSpPr>
          <p:cNvPr id="9" name="Shape 7"/>
          <p:cNvSpPr/>
          <p:nvPr/>
        </p:nvSpPr>
        <p:spPr>
          <a:xfrm>
            <a:off x="548640" y="3017520"/>
            <a:ext cx="640080" cy="640080"/>
          </a:xfrm>
          <a:prstGeom prst="ellipse">
            <a:avLst/>
          </a:prstGeom>
          <a:solidFill>
            <a:srgbClr val="A51C30"/>
          </a:solidFill>
          <a:ln w="12700">
            <a:solidFill>
              <a:srgbClr val="A51C30"/>
            </a:solidFill>
            <a:prstDash val="solid"/>
          </a:ln>
        </p:spPr>
      </p:sp>
      <p:sp>
        <p:nvSpPr>
          <p:cNvPr id="10" name="Text 8"/>
          <p:cNvSpPr/>
          <p:nvPr/>
        </p:nvSpPr>
        <p:spPr>
          <a:xfrm>
            <a:off x="548640" y="30175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p:nvPr/>
        </p:nvSpPr>
        <p:spPr>
          <a:xfrm>
            <a:off x="1371600" y="3017520"/>
            <a:ext cx="2377440" cy="640080"/>
          </a:xfrm>
          <a:prstGeom prst="rect">
            <a:avLst/>
          </a:prstGeom>
          <a:noFill/>
          <a:ln/>
        </p:spPr>
        <p:txBody>
          <a:bodyPr wrap="square" lIns="0" tIns="0" rIns="0" bIns="0" rtlCol="0" anchor="ctr"/>
          <a:lstStyle/>
          <a:p>
            <a:pPr marL="0" indent="0">
              <a:buNone/>
            </a:pPr>
            <a:r>
              <a:rPr lang="en-US" sz="1800" b="1" dirty="0">
                <a:solidFill>
                  <a:srgbClr val="293352"/>
                </a:solidFill>
                <a:latin typeface="Arial" pitchFamily="34" charset="0"/>
                <a:ea typeface="Arial" pitchFamily="34" charset="-122"/>
                <a:cs typeface="Arial" pitchFamily="34" charset="-120"/>
              </a:rPr>
              <a:t>Push to your GitHub</a:t>
            </a:r>
            <a:endParaRPr lang="en-US" sz="1800" dirty="0"/>
          </a:p>
        </p:txBody>
      </p:sp>
      <p:sp>
        <p:nvSpPr>
          <p:cNvPr id="12" name="Text 10"/>
          <p:cNvSpPr/>
          <p:nvPr/>
        </p:nvSpPr>
        <p:spPr>
          <a:xfrm>
            <a:off x="3840480" y="301752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The remote copy is the version anyone else can look at. It is also what the release workflow watches.</a:t>
            </a:r>
            <a:endParaRPr lang="en-US" sz="1300" dirty="0"/>
          </a:p>
        </p:txBody>
      </p:sp>
      <p:sp>
        <p:nvSpPr>
          <p:cNvPr id="13" name="Shape 11"/>
          <p:cNvSpPr/>
          <p:nvPr/>
        </p:nvSpPr>
        <p:spPr>
          <a:xfrm>
            <a:off x="548640" y="3931920"/>
            <a:ext cx="640080" cy="640080"/>
          </a:xfrm>
          <a:prstGeom prst="ellipse">
            <a:avLst/>
          </a:prstGeom>
          <a:solidFill>
            <a:srgbClr val="A51C30"/>
          </a:solidFill>
          <a:ln w="12700">
            <a:solidFill>
              <a:srgbClr val="A51C30"/>
            </a:solidFill>
            <a:prstDash val="solid"/>
          </a:ln>
        </p:spPr>
      </p:sp>
      <p:sp>
        <p:nvSpPr>
          <p:cNvPr id="14" name="Text 12"/>
          <p:cNvSpPr/>
          <p:nvPr/>
        </p:nvSpPr>
        <p:spPr>
          <a:xfrm>
            <a:off x="548640" y="39319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5" name="Text 13"/>
          <p:cNvSpPr/>
          <p:nvPr/>
        </p:nvSpPr>
        <p:spPr>
          <a:xfrm>
            <a:off x="1371600" y="3931920"/>
            <a:ext cx="2377440" cy="640080"/>
          </a:xfrm>
          <a:prstGeom prst="rect">
            <a:avLst/>
          </a:prstGeom>
          <a:noFill/>
          <a:ln/>
        </p:spPr>
        <p:txBody>
          <a:bodyPr wrap="square" lIns="0" tIns="0" rIns="0" bIns="0" rtlCol="0" anchor="ctr"/>
          <a:lstStyle/>
          <a:p>
            <a:pPr marL="0" indent="0">
              <a:buNone/>
            </a:pPr>
            <a:r>
              <a:rPr lang="en-US" sz="1800" b="1" strike="sngStrike" dirty="0">
                <a:solidFill>
                  <a:srgbClr val="293352"/>
                </a:solidFill>
                <a:latin typeface="Arial" pitchFamily="34" charset="0"/>
                <a:ea typeface="Arial" pitchFamily="34" charset="-122"/>
                <a:cs typeface="Arial" pitchFamily="34" charset="-120"/>
              </a:rPr>
              <a:t>Tag v0.1.0</a:t>
            </a:r>
            <a:endParaRPr lang="en-US" sz="1800" strike="sngStrike" dirty="0"/>
          </a:p>
        </p:txBody>
      </p:sp>
      <p:sp>
        <p:nvSpPr>
          <p:cNvPr id="16" name="Text 14"/>
          <p:cNvSpPr/>
          <p:nvPr/>
        </p:nvSpPr>
        <p:spPr>
          <a:xfrm>
            <a:off x="3840480" y="3931920"/>
            <a:ext cx="7955280" cy="640080"/>
          </a:xfrm>
          <a:prstGeom prst="rect">
            <a:avLst/>
          </a:prstGeom>
          <a:noFill/>
          <a:ln/>
        </p:spPr>
        <p:txBody>
          <a:bodyPr wrap="square" lIns="0" tIns="0" rIns="0" bIns="0" rtlCol="0" anchor="ctr"/>
          <a:lstStyle/>
          <a:p>
            <a:pPr marL="0" indent="0">
              <a:buNone/>
            </a:pPr>
            <a:r>
              <a:rPr lang="en-US" sz="1300" strike="sngStrike" dirty="0">
                <a:solidFill>
                  <a:srgbClr val="1E1E1E"/>
                </a:solidFill>
                <a:latin typeface="Arial" pitchFamily="34" charset="0"/>
                <a:ea typeface="Arial" pitchFamily="34" charset="-122"/>
                <a:cs typeface="Arial" pitchFamily="34" charset="-120"/>
              </a:rPr>
              <a:t>git tag v0.1.0 &amp;&amp; git push origin v0.1.0. The GitHub Actions workflow builds the site and publishes it to GitHub Pages. </a:t>
            </a:r>
            <a:r>
              <a:rPr lang="en-US" sz="1300" dirty="0">
                <a:solidFill>
                  <a:srgbClr val="1E1E1E"/>
                </a:solidFill>
                <a:latin typeface="Arial" pitchFamily="34" charset="0"/>
                <a:ea typeface="Arial" pitchFamily="34" charset="-122"/>
                <a:cs typeface="Arial" pitchFamily="34" charset="-120"/>
              </a:rPr>
              <a:t>We are pushing any changes directly to the app but normally you would have versioning.</a:t>
            </a:r>
            <a:endParaRPr lang="en-US" sz="1300" strike="sngStrike" dirty="0"/>
          </a:p>
        </p:txBody>
      </p:sp>
      <p:sp>
        <p:nvSpPr>
          <p:cNvPr id="17" name="Shape 15"/>
          <p:cNvSpPr/>
          <p:nvPr/>
        </p:nvSpPr>
        <p:spPr>
          <a:xfrm>
            <a:off x="548640" y="4846320"/>
            <a:ext cx="640080" cy="640080"/>
          </a:xfrm>
          <a:prstGeom prst="ellipse">
            <a:avLst/>
          </a:prstGeom>
          <a:solidFill>
            <a:srgbClr val="A51C30"/>
          </a:solidFill>
          <a:ln w="12700">
            <a:solidFill>
              <a:srgbClr val="A51C30"/>
            </a:solidFill>
            <a:prstDash val="solid"/>
          </a:ln>
        </p:spPr>
      </p:sp>
      <p:sp>
        <p:nvSpPr>
          <p:cNvPr id="18" name="Text 16"/>
          <p:cNvSpPr/>
          <p:nvPr/>
        </p:nvSpPr>
        <p:spPr>
          <a:xfrm>
            <a:off x="548640" y="484632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9" name="Text 17"/>
          <p:cNvSpPr/>
          <p:nvPr/>
        </p:nvSpPr>
        <p:spPr>
          <a:xfrm>
            <a:off x="1371600" y="4846320"/>
            <a:ext cx="2377440" cy="640080"/>
          </a:xfrm>
          <a:prstGeom prst="rect">
            <a:avLst/>
          </a:prstGeom>
          <a:noFill/>
          <a:ln/>
        </p:spPr>
        <p:txBody>
          <a:bodyPr wrap="square" lIns="0" tIns="0" rIns="0" bIns="0" rtlCol="0" anchor="ctr"/>
          <a:lstStyle/>
          <a:p>
            <a:pPr marL="0" indent="0">
              <a:buNone/>
            </a:pPr>
            <a:r>
              <a:rPr lang="en-US" sz="1800" b="1" dirty="0">
                <a:solidFill>
                  <a:srgbClr val="293352"/>
                </a:solidFill>
                <a:latin typeface="Arial" pitchFamily="34" charset="0"/>
                <a:ea typeface="Arial" pitchFamily="34" charset="-122"/>
                <a:cs typeface="Arial" pitchFamily="34" charset="-120"/>
              </a:rPr>
              <a:t>Watch the Actions tab</a:t>
            </a:r>
            <a:endParaRPr lang="en-US" sz="1800" dirty="0"/>
          </a:p>
        </p:txBody>
      </p:sp>
      <p:sp>
        <p:nvSpPr>
          <p:cNvPr id="20" name="Text 18"/>
          <p:cNvSpPr/>
          <p:nvPr/>
        </p:nvSpPr>
        <p:spPr>
          <a:xfrm>
            <a:off x="3840480" y="4846320"/>
            <a:ext cx="7955280" cy="640080"/>
          </a:xfrm>
          <a:prstGeom prst="rect">
            <a:avLst/>
          </a:prstGeom>
          <a:noFill/>
          <a:ln/>
        </p:spPr>
        <p:txBody>
          <a:bodyPr wrap="square" lIns="0" tIns="0" rIns="0" bIns="0" rtlCol="0" anchor="ctr"/>
          <a:lstStyle/>
          <a:p>
            <a:pPr marL="0" indent="0">
              <a:buNone/>
            </a:pPr>
            <a:r>
              <a:rPr lang="en-US" sz="1300" dirty="0">
                <a:solidFill>
                  <a:srgbClr val="1E1E1E"/>
                </a:solidFill>
                <a:latin typeface="Arial" pitchFamily="34" charset="0"/>
                <a:ea typeface="Arial" pitchFamily="34" charset="-122"/>
                <a:cs typeface="Arial" pitchFamily="34" charset="-120"/>
              </a:rPr>
              <a:t>Green means your app is live at your Pages URL. Red means read the log at the failed step. Fix, re-tag, watch again.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57200"/>
            <a:ext cx="11247120" cy="320040"/>
          </a:xfrm>
          <a:prstGeom prst="rect">
            <a:avLst/>
          </a:prstGeom>
          <a:noFill/>
          <a:ln/>
        </p:spPr>
        <p:txBody>
          <a:bodyPr wrap="square" lIns="0" tIns="0" rIns="0" bIns="0" rtlCol="0" anchor="ctr"/>
          <a:lstStyle/>
          <a:p>
            <a:pPr marL="0" indent="0">
              <a:buNone/>
            </a:pPr>
            <a:r>
              <a:rPr lang="en-US" sz="1200" b="1" kern="0" spc="400" dirty="0">
                <a:solidFill>
                  <a:srgbClr val="A51C30"/>
                </a:solidFill>
                <a:latin typeface="Arial" pitchFamily="34" charset="0"/>
                <a:ea typeface="Arial" pitchFamily="34" charset="-122"/>
                <a:cs typeface="Arial" pitchFamily="34" charset="-120"/>
              </a:rPr>
              <a:t>HOUR 3 CLOSE</a:t>
            </a:r>
            <a:endParaRPr lang="en-US" sz="1200" dirty="0"/>
          </a:p>
        </p:txBody>
      </p:sp>
      <p:sp>
        <p:nvSpPr>
          <p:cNvPr id="3" name="Text 1"/>
          <p:cNvSpPr/>
          <p:nvPr/>
        </p:nvSpPr>
        <p:spPr>
          <a:xfrm>
            <a:off x="457200" y="777240"/>
            <a:ext cx="11247120" cy="822960"/>
          </a:xfrm>
          <a:prstGeom prst="rect">
            <a:avLst/>
          </a:prstGeom>
          <a:noFill/>
          <a:ln/>
        </p:spPr>
        <p:txBody>
          <a:bodyPr wrap="square" lIns="0" tIns="0" rIns="0" bIns="0" rtlCol="0" anchor="ctr"/>
          <a:lstStyle/>
          <a:p>
            <a:pPr marL="0" indent="0">
              <a:buNone/>
            </a:pPr>
            <a:r>
              <a:rPr lang="en-US" sz="3400" b="1" dirty="0">
                <a:solidFill>
                  <a:srgbClr val="293352"/>
                </a:solidFill>
                <a:latin typeface="Arial" pitchFamily="34" charset="0"/>
                <a:ea typeface="Arial" pitchFamily="34" charset="-122"/>
                <a:cs typeface="Arial" pitchFamily="34" charset="-120"/>
              </a:rPr>
              <a:t>What you built, and what it is not</a:t>
            </a:r>
            <a:endParaRPr lang="en-US" sz="3400" dirty="0"/>
          </a:p>
        </p:txBody>
      </p:sp>
      <p:sp>
        <p:nvSpPr>
          <p:cNvPr id="4" name="Shape 2"/>
          <p:cNvSpPr/>
          <p:nvPr/>
        </p:nvSpPr>
        <p:spPr>
          <a:xfrm>
            <a:off x="457200" y="1737360"/>
            <a:ext cx="11247120" cy="0"/>
          </a:xfrm>
          <a:prstGeom prst="line">
            <a:avLst/>
          </a:prstGeom>
          <a:noFill/>
          <a:ln w="12700">
            <a:solidFill>
              <a:srgbClr val="A51C30"/>
            </a:solidFill>
            <a:prstDash val="solid"/>
          </a:ln>
        </p:spPr>
      </p:sp>
      <p:sp>
        <p:nvSpPr>
          <p:cNvPr id="5" name="Shape 3"/>
          <p:cNvSpPr/>
          <p:nvPr/>
        </p:nvSpPr>
        <p:spPr>
          <a:xfrm>
            <a:off x="457200" y="2011680"/>
            <a:ext cx="5486400" cy="3931920"/>
          </a:xfrm>
          <a:prstGeom prst="rect">
            <a:avLst/>
          </a:prstGeom>
          <a:solidFill>
            <a:srgbClr val="F3F3F1"/>
          </a:solidFill>
          <a:ln w="12700">
            <a:solidFill>
              <a:srgbClr val="F3F3F1"/>
            </a:solidFill>
            <a:prstDash val="solid"/>
          </a:ln>
        </p:spPr>
      </p:sp>
      <p:sp>
        <p:nvSpPr>
          <p:cNvPr id="6" name="Text 4"/>
          <p:cNvSpPr/>
          <p:nvPr/>
        </p:nvSpPr>
        <p:spPr>
          <a:xfrm>
            <a:off x="685800" y="2194560"/>
            <a:ext cx="5120640" cy="320040"/>
          </a:xfrm>
          <a:prstGeom prst="rect">
            <a:avLst/>
          </a:prstGeom>
          <a:noFill/>
          <a:ln/>
        </p:spPr>
        <p:txBody>
          <a:bodyPr wrap="square" lIns="0" tIns="0" rIns="0" bIns="0" rtlCol="0" anchor="ctr"/>
          <a:lstStyle/>
          <a:p>
            <a:pPr marL="0" indent="0">
              <a:buNone/>
            </a:pPr>
            <a:r>
              <a:rPr lang="en-US" sz="1200" b="1" kern="0" spc="500" dirty="0">
                <a:solidFill>
                  <a:srgbClr val="A51C30"/>
                </a:solidFill>
                <a:latin typeface="Arial" pitchFamily="34" charset="0"/>
                <a:ea typeface="Arial" pitchFamily="34" charset="-122"/>
                <a:cs typeface="Arial" pitchFamily="34" charset="-120"/>
              </a:rPr>
              <a:t>WHAT YOU BUILT</a:t>
            </a:r>
            <a:endParaRPr lang="en-US" sz="1200" dirty="0"/>
          </a:p>
        </p:txBody>
      </p:sp>
      <p:sp>
        <p:nvSpPr>
          <p:cNvPr id="7" name="Text 5"/>
          <p:cNvSpPr/>
          <p:nvPr/>
        </p:nvSpPr>
        <p:spPr>
          <a:xfrm>
            <a:off x="685800" y="2606040"/>
            <a:ext cx="5120640" cy="329184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1E1E1E"/>
                </a:solidFill>
                <a:latin typeface="Arial" pitchFamily="34" charset="0"/>
                <a:ea typeface="Arial" pitchFamily="34" charset="-122"/>
                <a:cs typeface="Arial" pitchFamily="34" charset="-120"/>
              </a:rPr>
              <a:t>A working app that reads one call.</a:t>
            </a:r>
            <a:endParaRPr lang="en-US" sz="1500" dirty="0"/>
          </a:p>
          <a:p>
            <a:pPr marL="342900" indent="-342900">
              <a:spcAft>
                <a:spcPts val="800"/>
              </a:spcAft>
              <a:buSzPct val="100000"/>
              <a:buChar char="▪"/>
            </a:pPr>
            <a:r>
              <a:rPr lang="en-US" sz="1500" dirty="0">
                <a:solidFill>
                  <a:srgbClr val="1E1E1E"/>
                </a:solidFill>
                <a:latin typeface="Arial" pitchFamily="34" charset="0"/>
                <a:ea typeface="Arial" pitchFamily="34" charset="-122"/>
                <a:cs typeface="Arial" pitchFamily="34" charset="-120"/>
              </a:rPr>
              <a:t>A visible split: JS numbers, model language.</a:t>
            </a:r>
            <a:endParaRPr lang="en-US" sz="1500" dirty="0"/>
          </a:p>
          <a:p>
            <a:pPr marL="342900" indent="-342900">
              <a:spcAft>
                <a:spcPts val="800"/>
              </a:spcAft>
              <a:buSzPct val="100000"/>
              <a:buChar char="▪"/>
            </a:pPr>
            <a:r>
              <a:rPr lang="en-US" sz="1500" dirty="0">
                <a:solidFill>
                  <a:srgbClr val="1E1E1E"/>
                </a:solidFill>
                <a:latin typeface="Arial" pitchFamily="34" charset="0"/>
                <a:ea typeface="Arial" pitchFamily="34" charset="-122"/>
                <a:cs typeface="Arial" pitchFamily="34" charset="-120"/>
              </a:rPr>
              <a:t>A review surface a human confirms before publishing.</a:t>
            </a:r>
            <a:endParaRPr lang="en-US" sz="1500" dirty="0"/>
          </a:p>
          <a:p>
            <a:pPr marL="342900" indent="-342900">
              <a:spcAft>
                <a:spcPts val="800"/>
              </a:spcAft>
              <a:buSzPct val="100000"/>
              <a:buChar char="▪"/>
            </a:pPr>
            <a:r>
              <a:rPr lang="en-US" sz="1500" dirty="0">
                <a:solidFill>
                  <a:srgbClr val="1E1E1E"/>
                </a:solidFill>
                <a:latin typeface="Arial" pitchFamily="34" charset="0"/>
                <a:ea typeface="Arial" pitchFamily="34" charset="-122"/>
                <a:cs typeface="Arial" pitchFamily="34" charset="-120"/>
              </a:rPr>
              <a:t>A commit history that names every step.</a:t>
            </a:r>
            <a:endParaRPr lang="en-US" sz="1500" dirty="0"/>
          </a:p>
          <a:p>
            <a:pPr marL="342900" indent="-342900">
              <a:spcAft>
                <a:spcPts val="800"/>
              </a:spcAft>
              <a:buSzPct val="100000"/>
              <a:buChar char="▪"/>
            </a:pPr>
            <a:r>
              <a:rPr lang="en-US" sz="1500" dirty="0">
                <a:solidFill>
                  <a:srgbClr val="1E1E1E"/>
                </a:solidFill>
                <a:latin typeface="Arial" pitchFamily="34" charset="0"/>
                <a:ea typeface="Arial" pitchFamily="34" charset="-122"/>
                <a:cs typeface="Arial" pitchFamily="34" charset="-120"/>
              </a:rPr>
              <a:t>A live URL you can send to anyone.</a:t>
            </a:r>
            <a:endParaRPr lang="en-US" sz="1500" dirty="0"/>
          </a:p>
        </p:txBody>
      </p:sp>
      <p:sp>
        <p:nvSpPr>
          <p:cNvPr id="8" name="Shape 6"/>
          <p:cNvSpPr/>
          <p:nvPr/>
        </p:nvSpPr>
        <p:spPr>
          <a:xfrm>
            <a:off x="6263640" y="2011680"/>
            <a:ext cx="5486400" cy="3931920"/>
          </a:xfrm>
          <a:prstGeom prst="rect">
            <a:avLst/>
          </a:prstGeom>
          <a:solidFill>
            <a:srgbClr val="A51C30"/>
          </a:solidFill>
          <a:ln w="12700">
            <a:solidFill>
              <a:srgbClr val="A51C30"/>
            </a:solidFill>
            <a:prstDash val="solid"/>
          </a:ln>
        </p:spPr>
      </p:sp>
      <p:sp>
        <p:nvSpPr>
          <p:cNvPr id="9" name="Text 7"/>
          <p:cNvSpPr/>
          <p:nvPr/>
        </p:nvSpPr>
        <p:spPr>
          <a:xfrm>
            <a:off x="6492240" y="2194560"/>
            <a:ext cx="5120640" cy="320040"/>
          </a:xfrm>
          <a:prstGeom prst="rect">
            <a:avLst/>
          </a:prstGeom>
          <a:noFill/>
          <a:ln/>
        </p:spPr>
        <p:txBody>
          <a:bodyPr wrap="square" lIns="0" tIns="0" rIns="0" bIns="0" rtlCol="0" anchor="ctr"/>
          <a:lstStyle/>
          <a:p>
            <a:pPr marL="0" indent="0">
              <a:buNone/>
            </a:pPr>
            <a:r>
              <a:rPr lang="en-US" sz="1200" b="1" kern="0" spc="500" dirty="0">
                <a:solidFill>
                  <a:srgbClr val="F3F3F1"/>
                </a:solidFill>
                <a:latin typeface="Arial" pitchFamily="34" charset="0"/>
                <a:ea typeface="Arial" pitchFamily="34" charset="-122"/>
                <a:cs typeface="Arial" pitchFamily="34" charset="-120"/>
              </a:rPr>
              <a:t>WHAT IT IS NOT</a:t>
            </a:r>
            <a:endParaRPr lang="en-US" sz="1200" dirty="0"/>
          </a:p>
        </p:txBody>
      </p:sp>
      <p:sp>
        <p:nvSpPr>
          <p:cNvPr id="10" name="Text 8"/>
          <p:cNvSpPr/>
          <p:nvPr/>
        </p:nvSpPr>
        <p:spPr>
          <a:xfrm>
            <a:off x="6492240" y="2606040"/>
            <a:ext cx="5120640" cy="329184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Trading logic. There is no button that trades.</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A replacement for the analyst. It supports the analyst.</a:t>
            </a:r>
            <a:endParaRPr lang="en-US" sz="1500" dirty="0"/>
          </a:p>
          <a:p>
            <a:pPr marL="342900" indent="-342900">
              <a:spcAft>
                <a:spcPts val="800"/>
              </a:spcAft>
              <a:buSzPct val="100000"/>
              <a:buChar char="▪"/>
            </a:pPr>
            <a:r>
              <a:rPr lang="en-US" sz="1500" dirty="0">
                <a:solidFill>
                  <a:srgbClr val="FFFFFF"/>
                </a:solidFill>
                <a:latin typeface="Arial" pitchFamily="34" charset="0"/>
                <a:ea typeface="Arial" pitchFamily="34" charset="-122"/>
                <a:cs typeface="Arial" pitchFamily="34" charset="-120"/>
              </a:rPr>
              <a:t>Trusted because the model said so. Trusted because the arithmetic is auditable.</a:t>
            </a:r>
            <a:endParaRPr lang="en-US" sz="1500" dirty="0"/>
          </a:p>
          <a:p>
            <a:pPr>
              <a:spcAft>
                <a:spcPts val="800"/>
              </a:spcAft>
              <a:buSzPct val="100000"/>
            </a:pPr>
            <a:endParaRPr lang="en-US" sz="1500" dirty="0"/>
          </a:p>
        </p:txBody>
      </p:sp>
      <p:sp>
        <p:nvSpPr>
          <p:cNvPr id="11" name="Text 9"/>
          <p:cNvSpPr/>
          <p:nvPr/>
        </p:nvSpPr>
        <p:spPr>
          <a:xfrm>
            <a:off x="457200" y="6126480"/>
            <a:ext cx="11247120" cy="365760"/>
          </a:xfrm>
          <a:prstGeom prst="rect">
            <a:avLst/>
          </a:prstGeom>
          <a:noFill/>
          <a:ln/>
        </p:spPr>
        <p:txBody>
          <a:bodyPr wrap="square" lIns="0" tIns="0" rIns="0" bIns="0" rtlCol="0" anchor="ctr"/>
          <a:lstStyle/>
          <a:p>
            <a:pPr marL="0" indent="0" algn="ctr">
              <a:buNone/>
            </a:pPr>
            <a:r>
              <a:rPr lang="en-US" sz="1400" i="1" dirty="0">
                <a:solidFill>
                  <a:srgbClr val="8996A0"/>
                </a:solidFill>
                <a:latin typeface="Arial" pitchFamily="34" charset="0"/>
                <a:ea typeface="Arial" pitchFamily="34" charset="-122"/>
                <a:cs typeface="Arial" pitchFamily="34" charset="-120"/>
              </a:rPr>
              <a:t>45 minutes was how long Knight Capital ran without the surface you just built.  And it cost them $400M.  HFT removes the human so you have to be VERY careful and have good QA, and release reviews.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3906</Words>
  <Application>Microsoft Macintosh PowerPoint</Application>
  <PresentationFormat>Widescreen</PresentationFormat>
  <Paragraphs>439</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2 Hour 3 Finance SPA Build</dc:title>
  <dc:subject>PptxGenJS Presentation</dc:subject>
  <dc:creator>Ted Kwartler</dc:creator>
  <cp:lastModifiedBy>Ted Kwartler</cp:lastModifiedBy>
  <cp:revision>2</cp:revision>
  <dcterms:created xsi:type="dcterms:W3CDTF">2026-07-25T17:33:09Z</dcterms:created>
  <dcterms:modified xsi:type="dcterms:W3CDTF">2026-08-03T01:47:02Z</dcterms:modified>
</cp:coreProperties>
</file>