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4" d="100"/>
          <a:sy n="124" d="100"/>
        </p:scale>
        <p:origin x="54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4615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Arial"/>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9pPr>
    </p:bodyStyle>
    <p:otherStyle>
      <a:defPPr>
        <a:defRPr lang="en-US"/>
      </a:defPPr>
      <a:lvl1pPr marL="0" algn="l" defTabSz="914400" rtl="0" eaLnBrk="1" latinLnBrk="0" hangingPunct="1">
        <a:defRPr sz="1800" kern="1200">
          <a:solidFill>
            <a:schemeClr val="tx1"/>
          </a:solidFill>
          <a:latin typeface="Arial"/>
          <a:ea typeface="+mn-ea"/>
          <a:cs typeface="+mn-cs"/>
        </a:defRPr>
      </a:lvl1pPr>
      <a:lvl2pPr marL="457200" algn="l" defTabSz="914400" rtl="0" eaLnBrk="1" latinLnBrk="0" hangingPunct="1">
        <a:defRPr sz="1800" kern="1200">
          <a:solidFill>
            <a:schemeClr val="tx1"/>
          </a:solidFill>
          <a:latin typeface="Arial"/>
          <a:ea typeface="+mn-ea"/>
          <a:cs typeface="+mn-cs"/>
        </a:defRPr>
      </a:lvl2pPr>
      <a:lvl3pPr marL="914400" algn="l" defTabSz="914400" rtl="0" eaLnBrk="1" latinLnBrk="0" hangingPunct="1">
        <a:defRPr sz="1800" kern="1200">
          <a:solidFill>
            <a:schemeClr val="tx1"/>
          </a:solidFill>
          <a:latin typeface="Arial"/>
          <a:ea typeface="+mn-ea"/>
          <a:cs typeface="+mn-cs"/>
        </a:defRPr>
      </a:lvl3pPr>
      <a:lvl4pPr marL="1371600" algn="l" defTabSz="914400" rtl="0" eaLnBrk="1" latinLnBrk="0" hangingPunct="1">
        <a:defRPr sz="1800" kern="1200">
          <a:solidFill>
            <a:schemeClr val="tx1"/>
          </a:solidFill>
          <a:latin typeface="Arial"/>
          <a:ea typeface="+mn-ea"/>
          <a:cs typeface="+mn-cs"/>
        </a:defRPr>
      </a:lvl4pPr>
      <a:lvl5pPr marL="1828800" algn="l" defTabSz="914400" rtl="0" eaLnBrk="1" latinLnBrk="0" hangingPunct="1">
        <a:defRPr sz="18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Arial"/>
          <a:ea typeface="+mn-ea"/>
          <a:cs typeface="+mn-cs"/>
        </a:defRPr>
      </a:lvl6pPr>
      <a:lvl7pPr marL="2743200" algn="l" defTabSz="914400" rtl="0" eaLnBrk="1" latinLnBrk="0" hangingPunct="1">
        <a:defRPr sz="1800" kern="1200">
          <a:solidFill>
            <a:schemeClr val="tx1"/>
          </a:solidFill>
          <a:latin typeface="Arial"/>
          <a:ea typeface="+mn-ea"/>
          <a:cs typeface="+mn-cs"/>
        </a:defRPr>
      </a:lvl7pPr>
      <a:lvl8pPr marL="3200400" algn="l" defTabSz="914400" rtl="0" eaLnBrk="1" latinLnBrk="0" hangingPunct="1">
        <a:defRPr sz="1800" kern="1200">
          <a:solidFill>
            <a:schemeClr val="tx1"/>
          </a:solidFill>
          <a:latin typeface="Arial"/>
          <a:ea typeface="+mn-ea"/>
          <a:cs typeface="+mn-cs"/>
        </a:defRPr>
      </a:lvl8pPr>
      <a:lvl9pPr marL="3657600" algn="l" defTabSz="914400" rtl="0" eaLnBrk="1" latinLnBrk="0" hangingPunct="1">
        <a:defRPr sz="1800" kern="1200">
          <a:solidFill>
            <a:schemeClr val="tx1"/>
          </a:solidFill>
          <a:latin typeface="Arial"/>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A51C30"/>
        </a:solidFill>
        <a:effectLst/>
      </p:bgPr>
    </p:bg>
    <p:spTree>
      <p:nvGrpSpPr>
        <p:cNvPr id="1" name=""/>
        <p:cNvGrpSpPr/>
        <p:nvPr/>
      </p:nvGrpSpPr>
      <p:grpSpPr>
        <a:xfrm>
          <a:off x="0" y="0"/>
          <a:ext cx="0" cy="0"/>
          <a:chOff x="0" y="0"/>
          <a:chExt cx="0" cy="0"/>
        </a:xfrm>
      </p:grpSpPr>
      <p:sp>
        <p:nvSpPr>
          <p:cNvPr id="2" name="Text 0"/>
          <p:cNvSpPr/>
          <p:nvPr/>
        </p:nvSpPr>
        <p:spPr>
          <a:xfrm>
            <a:off x="640080" y="1920240"/>
            <a:ext cx="10972800" cy="822960"/>
          </a:xfrm>
          <a:prstGeom prst="rect">
            <a:avLst/>
          </a:prstGeom>
          <a:noFill/>
          <a:ln/>
        </p:spPr>
        <p:txBody>
          <a:bodyPr wrap="square" lIns="0" tIns="0" rIns="0" bIns="0"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Sentiment, Extraction,</a:t>
            </a:r>
            <a:endParaRPr lang="en-US" sz="4400" dirty="0"/>
          </a:p>
        </p:txBody>
      </p:sp>
      <p:sp>
        <p:nvSpPr>
          <p:cNvPr id="3" name="Text 1"/>
          <p:cNvSpPr/>
          <p:nvPr/>
        </p:nvSpPr>
        <p:spPr>
          <a:xfrm>
            <a:off x="640080" y="2743200"/>
            <a:ext cx="10972800" cy="822960"/>
          </a:xfrm>
          <a:prstGeom prst="rect">
            <a:avLst/>
          </a:prstGeom>
          <a:noFill/>
          <a:ln/>
        </p:spPr>
        <p:txBody>
          <a:bodyPr wrap="square" lIns="0" tIns="0" rIns="0" bIns="0"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and the Human Review Surface</a:t>
            </a:r>
            <a:endParaRPr lang="en-US" sz="4400" dirty="0"/>
          </a:p>
        </p:txBody>
      </p:sp>
      <p:sp>
        <p:nvSpPr>
          <p:cNvPr id="4" name="Text 2"/>
          <p:cNvSpPr/>
          <p:nvPr/>
        </p:nvSpPr>
        <p:spPr>
          <a:xfrm>
            <a:off x="640080" y="3840480"/>
            <a:ext cx="10972800" cy="457200"/>
          </a:xfrm>
          <a:prstGeom prst="rect">
            <a:avLst/>
          </a:prstGeom>
          <a:noFill/>
          <a:ln/>
        </p:spPr>
        <p:txBody>
          <a:bodyPr wrap="square" lIns="0" tIns="0" rIns="0" bIns="0" rtlCol="0" anchor="ctr"/>
          <a:lstStyle/>
          <a:p>
            <a:pPr marL="0" indent="0" algn="l">
              <a:buNone/>
            </a:pPr>
            <a:r>
              <a:rPr lang="en-US" sz="2000" dirty="0">
                <a:solidFill>
                  <a:srgbClr val="FFFFFF"/>
                </a:solidFill>
                <a:latin typeface="Arial" pitchFamily="34" charset="0"/>
                <a:ea typeface="Arial" pitchFamily="34" charset="-122"/>
                <a:cs typeface="Arial" pitchFamily="34" charset="-120"/>
              </a:rPr>
              <a:t>Day 2, Hour 2  ·  Finance Masters Track</a:t>
            </a:r>
            <a:endParaRPr lang="en-US" sz="2000" dirty="0"/>
          </a:p>
        </p:txBody>
      </p:sp>
      <p:sp>
        <p:nvSpPr>
          <p:cNvPr id="5" name="Text 3"/>
          <p:cNvSpPr/>
          <p:nvPr/>
        </p:nvSpPr>
        <p:spPr>
          <a:xfrm>
            <a:off x="640080" y="4297680"/>
            <a:ext cx="10972800" cy="365760"/>
          </a:xfrm>
          <a:prstGeom prst="rect">
            <a:avLst/>
          </a:prstGeom>
          <a:noFill/>
          <a:ln/>
        </p:spPr>
        <p:txBody>
          <a:bodyPr wrap="square" lIns="0" tIns="0" rIns="0" bIns="0" rtlCol="0" anchor="ctr"/>
          <a:lstStyle/>
          <a:p>
            <a:pPr marL="0" indent="0" algn="l">
              <a:buNone/>
            </a:pPr>
            <a:r>
              <a:rPr lang="en-US" sz="1400" dirty="0">
                <a:solidFill>
                  <a:srgbClr val="FFFFFF"/>
                </a:solidFill>
                <a:latin typeface="Arial" pitchFamily="34" charset="0"/>
                <a:ea typeface="Arial" pitchFamily="34" charset="-122"/>
                <a:cs typeface="Arial" pitchFamily="34" charset="-120"/>
              </a:rPr>
              <a:t>Generative AI in Finance  ·  EA Executive MBA</a:t>
            </a:r>
            <a:endParaRPr lang="en-US" sz="1400" dirty="0"/>
          </a:p>
        </p:txBody>
      </p:sp>
      <p:sp>
        <p:nvSpPr>
          <p:cNvPr id="6"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F3F3F1"/>
                </a:solidFill>
                <a:latin typeface="Arial"/>
              </a:rPr>
              <a:t>© 2026 Ted Kwartler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51C30"/>
        </a:solidFill>
        <a:effectLst/>
      </p:bgPr>
    </p:bg>
    <p:spTree>
      <p:nvGrpSpPr>
        <p:cNvPr id="1" name=""/>
        <p:cNvGrpSpPr/>
        <p:nvPr/>
      </p:nvGrpSpPr>
      <p:grpSpPr>
        <a:xfrm>
          <a:off x="0" y="0"/>
          <a:ext cx="0" cy="0"/>
          <a:chOff x="0" y="0"/>
          <a:chExt cx="0" cy="0"/>
        </a:xfrm>
      </p:grpSpPr>
      <p:sp>
        <p:nvSpPr>
          <p:cNvPr id="2" name="Text 0"/>
          <p:cNvSpPr/>
          <p:nvPr/>
        </p:nvSpPr>
        <p:spPr>
          <a:xfrm>
            <a:off x="457200" y="2743200"/>
            <a:ext cx="11247120" cy="1371600"/>
          </a:xfrm>
          <a:prstGeom prst="rect">
            <a:avLst/>
          </a:prstGeom>
          <a:noFill/>
          <a:ln/>
        </p:spPr>
        <p:txBody>
          <a:bodyPr wrap="square" rtlCol="0" anchor="ctr"/>
          <a:lstStyle/>
          <a:p>
            <a:pPr marL="0" indent="0" algn="ctr">
              <a:buNone/>
            </a:pPr>
            <a:r>
              <a:rPr lang="en-US" sz="4800" b="1" dirty="0">
                <a:solidFill>
                  <a:srgbClr val="FFFFFF"/>
                </a:solidFill>
                <a:latin typeface="Arial" pitchFamily="34" charset="0"/>
                <a:ea typeface="Arial" pitchFamily="34" charset="-122"/>
                <a:cs typeface="Arial" pitchFamily="34" charset="-120"/>
              </a:rPr>
              <a:t>The Morning's Arc</a:t>
            </a:r>
            <a:endParaRPr lang="en-US" sz="4800" dirty="0"/>
          </a:p>
        </p:txBody>
      </p:sp>
      <p:sp>
        <p:nvSpPr>
          <p:cNvPr id="3"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F3F3F1"/>
                </a:solidFill>
                <a:latin typeface="Arial"/>
              </a:rPr>
              <a:t>© 2026 Ted Kwartler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Next up: Three Scripts, One Artifact</a:t>
            </a:r>
            <a:endParaRPr lang="en-US" sz="3200" dirty="0"/>
          </a:p>
        </p:txBody>
      </p:sp>
      <p:sp>
        <p:nvSpPr>
          <p:cNvPr id="3" name="Shape 1"/>
          <p:cNvSpPr/>
          <p:nvPr/>
        </p:nvSpPr>
        <p:spPr>
          <a:xfrm>
            <a:off x="457200" y="1463040"/>
            <a:ext cx="3657600" cy="3291840"/>
          </a:xfrm>
          <a:prstGeom prst="rect">
            <a:avLst/>
          </a:prstGeom>
          <a:solidFill>
            <a:srgbClr val="F3F3F1"/>
          </a:solidFill>
          <a:ln w="6350">
            <a:solidFill>
              <a:srgbClr val="8996A0"/>
            </a:solidFill>
            <a:prstDash val="solid"/>
          </a:ln>
        </p:spPr>
      </p:sp>
      <p:sp>
        <p:nvSpPr>
          <p:cNvPr id="4" name="Text 2"/>
          <p:cNvSpPr/>
          <p:nvPr/>
        </p:nvSpPr>
        <p:spPr>
          <a:xfrm>
            <a:off x="594360" y="1554480"/>
            <a:ext cx="338328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FIN_E  ·  Sentiment</a:t>
            </a:r>
            <a:endParaRPr lang="en-US" sz="1400" dirty="0"/>
          </a:p>
        </p:txBody>
      </p:sp>
      <p:sp>
        <p:nvSpPr>
          <p:cNvPr id="5" name="Text 3"/>
          <p:cNvSpPr/>
          <p:nvPr/>
        </p:nvSpPr>
        <p:spPr>
          <a:xfrm>
            <a:off x="594360" y="1965960"/>
            <a:ext cx="3383280" cy="26974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Score every speaker turn positive, negative, or neutral.</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Model finds phrases. R does the arithmetic.</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Aggregate to speaker, then role, then overall.</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Save the per-turn data frame plus a compact summary.</a:t>
            </a:r>
            <a:endParaRPr lang="en-US" sz="1100" dirty="0"/>
          </a:p>
        </p:txBody>
      </p:sp>
      <p:sp>
        <p:nvSpPr>
          <p:cNvPr id="6" name="Shape 4"/>
          <p:cNvSpPr/>
          <p:nvPr/>
        </p:nvSpPr>
        <p:spPr>
          <a:xfrm>
            <a:off x="4389120" y="1463040"/>
            <a:ext cx="3657600" cy="3291840"/>
          </a:xfrm>
          <a:prstGeom prst="rect">
            <a:avLst/>
          </a:prstGeom>
          <a:solidFill>
            <a:srgbClr val="F3F3F1"/>
          </a:solidFill>
          <a:ln w="6350">
            <a:solidFill>
              <a:srgbClr val="8996A0"/>
            </a:solidFill>
            <a:prstDash val="solid"/>
          </a:ln>
        </p:spPr>
      </p:sp>
      <p:sp>
        <p:nvSpPr>
          <p:cNvPr id="7" name="Text 5"/>
          <p:cNvSpPr/>
          <p:nvPr/>
        </p:nvSpPr>
        <p:spPr>
          <a:xfrm>
            <a:off x="4526280" y="1554480"/>
            <a:ext cx="338328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FIN_F  ·  Extraction</a:t>
            </a:r>
            <a:endParaRPr lang="en-US" sz="1400" dirty="0"/>
          </a:p>
        </p:txBody>
      </p:sp>
      <p:sp>
        <p:nvSpPr>
          <p:cNvPr id="8" name="Text 6"/>
          <p:cNvSpPr/>
          <p:nvPr/>
        </p:nvSpPr>
        <p:spPr>
          <a:xfrm>
            <a:off x="4526280" y="1965960"/>
            <a:ext cx="3383280" cy="26974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Pull five structured categories from every turn.</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Companies, executives, products, financial figures, forward looking.</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Dedupe entities. Keep every claim with its speaker.</a:t>
            </a:r>
            <a:endParaRPr lang="en-US" sz="1100" dirty="0"/>
          </a:p>
        </p:txBody>
      </p:sp>
      <p:sp>
        <p:nvSpPr>
          <p:cNvPr id="9" name="Shape 7"/>
          <p:cNvSpPr/>
          <p:nvPr/>
        </p:nvSpPr>
        <p:spPr>
          <a:xfrm>
            <a:off x="8321040" y="1463040"/>
            <a:ext cx="3657600" cy="3291840"/>
          </a:xfrm>
          <a:prstGeom prst="rect">
            <a:avLst/>
          </a:prstGeom>
          <a:solidFill>
            <a:srgbClr val="F3F3F1"/>
          </a:solidFill>
          <a:ln w="6350">
            <a:solidFill>
              <a:srgbClr val="8996A0"/>
            </a:solidFill>
            <a:prstDash val="solid"/>
          </a:ln>
        </p:spPr>
      </p:sp>
      <p:sp>
        <p:nvSpPr>
          <p:cNvPr id="10" name="Text 8"/>
          <p:cNvSpPr/>
          <p:nvPr/>
        </p:nvSpPr>
        <p:spPr>
          <a:xfrm>
            <a:off x="8458200" y="1554480"/>
            <a:ext cx="338328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FIN_G  ·  Review Surface</a:t>
            </a:r>
            <a:endParaRPr lang="en-US" sz="1400" dirty="0"/>
          </a:p>
        </p:txBody>
      </p:sp>
      <p:sp>
        <p:nvSpPr>
          <p:cNvPr id="11" name="Text 9"/>
          <p:cNvSpPr/>
          <p:nvPr/>
        </p:nvSpPr>
        <p:spPr>
          <a:xfrm>
            <a:off x="8458200" y="1965960"/>
            <a:ext cx="3383280" cy="26974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Zero API calls. Pure assembly.</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One JSON file. One portable prompt.</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Hand off to any chatbot for the research note.</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The checkpoint that turns evidence into a decision.</a:t>
            </a:r>
            <a:endParaRPr lang="en-US" sz="1100" dirty="0"/>
          </a:p>
        </p:txBody>
      </p:sp>
      <p:sp>
        <p:nvSpPr>
          <p:cNvPr id="12" name="Text 10"/>
          <p:cNvSpPr/>
          <p:nvPr/>
        </p:nvSpPr>
        <p:spPr>
          <a:xfrm>
            <a:off x="457200" y="5029200"/>
            <a:ext cx="11247120" cy="731520"/>
          </a:xfrm>
          <a:prstGeom prst="rect">
            <a:avLst/>
          </a:prstGeom>
          <a:noFill/>
          <a:ln/>
        </p:spPr>
        <p:txBody>
          <a:bodyPr wrap="square" lIns="0" tIns="0" rIns="0" bIns="0" rtlCol="0" anchor="ctr"/>
          <a:lstStyle/>
          <a:p>
            <a:pPr marL="0" indent="0" algn="ctr">
              <a:buNone/>
            </a:pPr>
            <a:r>
              <a:rPr lang="en-US" sz="1400" i="1" dirty="0">
                <a:solidFill>
                  <a:srgbClr val="293352"/>
                </a:solidFill>
                <a:latin typeface="Arial" pitchFamily="34" charset="0"/>
                <a:ea typeface="Arial" pitchFamily="34" charset="-122"/>
                <a:cs typeface="Arial" pitchFamily="34" charset="-120"/>
              </a:rPr>
              <a:t>Two new mechanics carry across all three scripts: JSON schema validated responses, and open weight models.</a:t>
            </a:r>
            <a:endParaRPr lang="en-US" sz="1400" dirty="0"/>
          </a:p>
        </p:txBody>
      </p:sp>
      <p:sp>
        <p:nvSpPr>
          <p:cNvPr id="13"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4" name="Harvard Page Number"/>
          <p:cNvSpPr txBox="1"/>
          <p:nvPr/>
        </p:nvSpPr>
        <p:spPr>
          <a:xfrm>
            <a:off x="11801189" y="6446043"/>
            <a:ext cx="253492" cy="274638"/>
          </a:xfrm>
          <a:prstGeom prst="rect">
            <a:avLst/>
          </a:prstGeom>
          <a:noFill/>
        </p:spPr>
        <p:txBody>
          <a:bodyPr wrap="none" lIns="0" tIns="0" rIns="0" bIns="0">
            <a:noAutofit/>
          </a:bodyPr>
          <a:lstStyle/>
          <a:p>
            <a:pPr algn="r"/>
            <a:fld id="{8FA526CE-CA6D-40C2-8CCC-D424BCBCCEA1}" type="slidenum">
              <a:rPr lang="en-US" sz="1000">
                <a:solidFill>
                  <a:srgbClr val="8996A0"/>
                </a:solidFill>
                <a:latin typeface="Arial"/>
              </a:rPr>
              <a:t>3</a:t>
            </a:fld>
            <a:endParaRPr lang="en-US" sz="1000">
              <a:solidFill>
                <a:srgbClr val="8996A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JSON Schema Validated Responses</a:t>
            </a:r>
            <a:endParaRPr lang="en-US" sz="3200" dirty="0"/>
          </a:p>
        </p:txBody>
      </p:sp>
      <p:sp>
        <p:nvSpPr>
          <p:cNvPr id="3" name="Text 1"/>
          <p:cNvSpPr/>
          <p:nvPr/>
        </p:nvSpPr>
        <p:spPr>
          <a:xfrm>
            <a:off x="457200" y="1280160"/>
            <a:ext cx="5303520" cy="365760"/>
          </a:xfrm>
          <a:prstGeom prst="rect">
            <a:avLst/>
          </a:prstGeom>
          <a:noFill/>
          <a:ln/>
        </p:spPr>
        <p:txBody>
          <a:bodyPr wrap="square" lIns="0" tIns="0" rIns="0" bIns="0" rtlCol="0" anchor="ctr"/>
          <a:lstStyle/>
          <a:p>
            <a:pPr marL="0" indent="0">
              <a:buNone/>
            </a:pPr>
            <a:r>
              <a:rPr lang="en-US" sz="1600" b="1" dirty="0">
                <a:solidFill>
                  <a:srgbClr val="8996A0"/>
                </a:solidFill>
                <a:latin typeface="Arial" pitchFamily="34" charset="0"/>
                <a:ea typeface="Arial" pitchFamily="34" charset="-122"/>
                <a:cs typeface="Arial" pitchFamily="34" charset="-120"/>
              </a:rPr>
              <a:t>The old way</a:t>
            </a:r>
            <a:endParaRPr lang="en-US" sz="1600" dirty="0"/>
          </a:p>
        </p:txBody>
      </p:sp>
      <p:sp>
        <p:nvSpPr>
          <p:cNvPr id="4" name="Text 2"/>
          <p:cNvSpPr/>
          <p:nvPr/>
        </p:nvSpPr>
        <p:spPr>
          <a:xfrm>
            <a:off x="457200" y="1737360"/>
            <a:ext cx="530352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1E1E"/>
                </a:solidFill>
                <a:latin typeface="Arial" pitchFamily="34" charset="0"/>
                <a:ea typeface="Arial" pitchFamily="34" charset="-122"/>
                <a:cs typeface="Arial" pitchFamily="34" charset="-120"/>
              </a:rPr>
              <a:t>Ask a model to "please return JSON."</a:t>
            </a:r>
            <a:endParaRPr lang="en-US" sz="1400" dirty="0"/>
          </a:p>
          <a:p>
            <a:pPr marL="342900" indent="-342900">
              <a:spcAft>
                <a:spcPts val="600"/>
              </a:spcAft>
              <a:buSzPct val="100000"/>
              <a:buChar char="•"/>
            </a:pPr>
            <a:r>
              <a:rPr lang="en-US" sz="1400" dirty="0">
                <a:solidFill>
                  <a:srgbClr val="1E1E1E"/>
                </a:solidFill>
                <a:latin typeface="Arial" pitchFamily="34" charset="0"/>
                <a:ea typeface="Arial" pitchFamily="34" charset="-122"/>
                <a:cs typeface="Arial" pitchFamily="34" charset="-120"/>
              </a:rPr>
              <a:t>It usually does, wrapped in ```json ... ``` fences.</a:t>
            </a:r>
            <a:endParaRPr lang="en-US" sz="1400" dirty="0"/>
          </a:p>
          <a:p>
            <a:pPr marL="342900" indent="-342900">
              <a:spcAft>
                <a:spcPts val="600"/>
              </a:spcAft>
              <a:buSzPct val="100000"/>
              <a:buChar char="•"/>
            </a:pPr>
            <a:r>
              <a:rPr lang="en-US" sz="1400" dirty="0">
                <a:solidFill>
                  <a:srgbClr val="1E1E1E"/>
                </a:solidFill>
                <a:latin typeface="Arial" pitchFamily="34" charset="0"/>
                <a:ea typeface="Arial" pitchFamily="34" charset="-122"/>
                <a:cs typeface="Arial" pitchFamily="34" charset="-120"/>
              </a:rPr>
              <a:t>Sometimes it adds a preamble. Sometimes it forgets a field.</a:t>
            </a:r>
            <a:endParaRPr lang="en-US" sz="1400" dirty="0"/>
          </a:p>
          <a:p>
            <a:pPr marL="342900" indent="-342900">
              <a:spcAft>
                <a:spcPts val="600"/>
              </a:spcAft>
              <a:buSzPct val="100000"/>
              <a:buChar char="•"/>
            </a:pPr>
            <a:r>
              <a:rPr lang="en-US" sz="1400" dirty="0">
                <a:solidFill>
                  <a:srgbClr val="1E1E1E"/>
                </a:solidFill>
                <a:latin typeface="Arial" pitchFamily="34" charset="0"/>
                <a:ea typeface="Arial" pitchFamily="34" charset="-122"/>
                <a:cs typeface="Arial" pitchFamily="34" charset="-120"/>
              </a:rPr>
              <a:t>You write cleanup code. You write retry logic. You still lose one row in fifty.</a:t>
            </a:r>
            <a:endParaRPr lang="en-US" sz="1400" dirty="0"/>
          </a:p>
        </p:txBody>
      </p:sp>
      <p:sp>
        <p:nvSpPr>
          <p:cNvPr id="5" name="Text 3"/>
          <p:cNvSpPr/>
          <p:nvPr/>
        </p:nvSpPr>
        <p:spPr>
          <a:xfrm>
            <a:off x="6309360" y="1280160"/>
            <a:ext cx="5394960" cy="365760"/>
          </a:xfrm>
          <a:prstGeom prst="rect">
            <a:avLst/>
          </a:prstGeom>
          <a:noFill/>
          <a:ln/>
        </p:spPr>
        <p:txBody>
          <a:bodyPr wrap="square" lIns="0" tIns="0" rIns="0" bIns="0" rtlCol="0" anchor="ctr"/>
          <a:lstStyle/>
          <a:p>
            <a:pPr marL="0" indent="0">
              <a:buNone/>
            </a:pPr>
            <a:r>
              <a:rPr lang="en-US" sz="1600" b="1" dirty="0">
                <a:solidFill>
                  <a:srgbClr val="A51C30"/>
                </a:solidFill>
                <a:latin typeface="Arial" pitchFamily="34" charset="0"/>
                <a:ea typeface="Arial" pitchFamily="34" charset="-122"/>
                <a:cs typeface="Arial" pitchFamily="34" charset="-120"/>
              </a:rPr>
              <a:t>What OpenRouter now supports</a:t>
            </a:r>
            <a:endParaRPr lang="en-US" sz="1600" dirty="0"/>
          </a:p>
        </p:txBody>
      </p:sp>
      <p:sp>
        <p:nvSpPr>
          <p:cNvPr id="6" name="Text 4"/>
          <p:cNvSpPr/>
          <p:nvPr/>
        </p:nvSpPr>
        <p:spPr>
          <a:xfrm>
            <a:off x="6309360" y="1737360"/>
            <a:ext cx="539496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1E1E"/>
                </a:solidFill>
                <a:latin typeface="Arial" pitchFamily="34" charset="0"/>
                <a:ea typeface="Arial" pitchFamily="34" charset="-122"/>
                <a:cs typeface="Arial" pitchFamily="34" charset="-120"/>
              </a:rPr>
              <a:t>Hand the model a JSON schema.</a:t>
            </a:r>
            <a:endParaRPr lang="en-US" sz="1400" dirty="0"/>
          </a:p>
          <a:p>
            <a:pPr marL="342900" indent="-342900">
              <a:spcAft>
                <a:spcPts val="600"/>
              </a:spcAft>
              <a:buSzPct val="100000"/>
              <a:buChar char="•"/>
            </a:pPr>
            <a:r>
              <a:rPr lang="en-US" sz="1400" dirty="0">
                <a:solidFill>
                  <a:srgbClr val="1E1E1E"/>
                </a:solidFill>
                <a:latin typeface="Arial" pitchFamily="34" charset="0"/>
                <a:ea typeface="Arial" pitchFamily="34" charset="-122"/>
                <a:cs typeface="Arial" pitchFamily="34" charset="-120"/>
              </a:rPr>
              <a:t>The provider enforces the shape at the token level.</a:t>
            </a:r>
            <a:endParaRPr lang="en-US" sz="1400" dirty="0"/>
          </a:p>
          <a:p>
            <a:pPr marL="342900" indent="-342900">
              <a:spcAft>
                <a:spcPts val="600"/>
              </a:spcAft>
              <a:buSzPct val="100000"/>
              <a:buChar char="•"/>
            </a:pPr>
            <a:r>
              <a:rPr lang="en-US" sz="1400" dirty="0">
                <a:solidFill>
                  <a:srgbClr val="1E1E1E"/>
                </a:solidFill>
                <a:latin typeface="Arial" pitchFamily="34" charset="0"/>
                <a:ea typeface="Arial" pitchFamily="34" charset="-122"/>
                <a:cs typeface="Arial" pitchFamily="34" charset="-120"/>
              </a:rPr>
              <a:t>additionalProperties: false blocks invented fields.</a:t>
            </a:r>
            <a:endParaRPr lang="en-US" sz="1400" dirty="0"/>
          </a:p>
          <a:p>
            <a:pPr marL="342900" indent="-342900">
              <a:spcAft>
                <a:spcPts val="600"/>
              </a:spcAft>
              <a:buSzPct val="100000"/>
              <a:buChar char="•"/>
            </a:pPr>
            <a:r>
              <a:rPr lang="en-US" sz="1400" dirty="0">
                <a:solidFill>
                  <a:srgbClr val="1E1E1E"/>
                </a:solidFill>
                <a:latin typeface="Arial" pitchFamily="34" charset="0"/>
                <a:ea typeface="Arial" pitchFamily="34" charset="-122"/>
                <a:cs typeface="Arial" pitchFamily="34" charset="-120"/>
              </a:rPr>
              <a:t>require_parameters: true routes only to providers that support it.</a:t>
            </a:r>
            <a:endParaRPr lang="en-US" sz="1400" dirty="0"/>
          </a:p>
        </p:txBody>
      </p:sp>
      <p:sp>
        <p:nvSpPr>
          <p:cNvPr id="7" name="Shape 5"/>
          <p:cNvSpPr/>
          <p:nvPr/>
        </p:nvSpPr>
        <p:spPr>
          <a:xfrm>
            <a:off x="457200" y="4480560"/>
            <a:ext cx="11247120" cy="1554480"/>
          </a:xfrm>
          <a:prstGeom prst="rect">
            <a:avLst/>
          </a:prstGeom>
          <a:solidFill>
            <a:srgbClr val="F3F3F1"/>
          </a:solidFill>
          <a:ln w="6350">
            <a:solidFill>
              <a:srgbClr val="8996A0"/>
            </a:solidFill>
            <a:prstDash val="solid"/>
          </a:ln>
        </p:spPr>
      </p:sp>
      <p:sp>
        <p:nvSpPr>
          <p:cNvPr id="8" name="Text 6"/>
          <p:cNvSpPr/>
          <p:nvPr/>
        </p:nvSpPr>
        <p:spPr>
          <a:xfrm>
            <a:off x="640080" y="4572000"/>
            <a:ext cx="10972800" cy="1371600"/>
          </a:xfrm>
          <a:prstGeom prst="rect">
            <a:avLst/>
          </a:prstGeom>
          <a:noFill/>
          <a:ln/>
        </p:spPr>
        <p:txBody>
          <a:bodyPr wrap="square" lIns="0" tIns="0" rIns="0" bIns="0" rtlCol="0" anchor="t"/>
          <a:lstStyle/>
          <a:p>
            <a:pPr marL="0" indent="0">
              <a:buNone/>
            </a:pPr>
            <a:r>
              <a:rPr lang="en-US" sz="1200" dirty="0">
                <a:solidFill>
                  <a:srgbClr val="293352"/>
                </a:solidFill>
                <a:latin typeface="Arial" pitchFamily="34" charset="0"/>
                <a:ea typeface="Courier New" pitchFamily="34" charset="-122"/>
                <a:cs typeface="Courier New" pitchFamily="34" charset="-120"/>
              </a:rPr>
              <a:t>response_format = list(</a:t>
            </a:r>
            <a:endParaRPr lang="en-US" sz="1200" dirty="0"/>
          </a:p>
          <a:p>
            <a:pPr marL="0" indent="0">
              <a:buNone/>
            </a:pPr>
            <a:r>
              <a:rPr lang="en-US" sz="1200" dirty="0">
                <a:solidFill>
                  <a:srgbClr val="293352"/>
                </a:solidFill>
                <a:latin typeface="Arial" pitchFamily="34" charset="0"/>
                <a:ea typeface="Courier New" pitchFamily="34" charset="-122"/>
                <a:cs typeface="Courier New" pitchFamily="34" charset="-120"/>
              </a:rPr>
              <a:t>  type = "json_schema",</a:t>
            </a:r>
            <a:endParaRPr lang="en-US" sz="1200" dirty="0"/>
          </a:p>
          <a:p>
            <a:pPr marL="0" indent="0">
              <a:buNone/>
            </a:pPr>
            <a:r>
              <a:rPr lang="en-US" sz="1200" dirty="0">
                <a:solidFill>
                  <a:srgbClr val="293352"/>
                </a:solidFill>
                <a:latin typeface="Arial" pitchFamily="34" charset="0"/>
                <a:ea typeface="Courier New" pitchFamily="34" charset="-122"/>
                <a:cs typeface="Courier New" pitchFamily="34" charset="-120"/>
              </a:rPr>
              <a:t>  json_schema = list(</a:t>
            </a:r>
            <a:endParaRPr lang="en-US" sz="1200" dirty="0"/>
          </a:p>
          <a:p>
            <a:pPr marL="0" indent="0">
              <a:buNone/>
            </a:pPr>
            <a:r>
              <a:rPr lang="en-US" sz="1200" dirty="0">
                <a:solidFill>
                  <a:srgbClr val="293352"/>
                </a:solidFill>
                <a:latin typeface="Arial" pitchFamily="34" charset="0"/>
                <a:ea typeface="Courier New" pitchFamily="34" charset="-122"/>
                <a:cs typeface="Courier New" pitchFamily="34" charset="-120"/>
              </a:rPr>
              <a:t>    name = "sentiment_result", strict = TRUE,</a:t>
            </a:r>
            <a:endParaRPr lang="en-US" sz="1200" dirty="0"/>
          </a:p>
          <a:p>
            <a:pPr marL="0" indent="0">
              <a:buNone/>
            </a:pPr>
            <a:r>
              <a:rPr lang="en-US" sz="1200" dirty="0">
                <a:solidFill>
                  <a:srgbClr val="293352"/>
                </a:solidFill>
                <a:latin typeface="Arial" pitchFamily="34" charset="0"/>
                <a:ea typeface="Courier New" pitchFamily="34" charset="-122"/>
                <a:cs typeface="Courier New" pitchFamily="34" charset="-120"/>
              </a:rPr>
              <a:t>    schema = list(type = "object", properties = list(...), additionalProperties = FALSE)))</a:t>
            </a:r>
            <a:endParaRPr lang="en-US" sz="1200" dirty="0"/>
          </a:p>
        </p:txBody>
      </p:sp>
      <p:sp>
        <p:nvSpPr>
          <p:cNvPr id="9" name="Text 7"/>
          <p:cNvSpPr/>
          <p:nvPr/>
        </p:nvSpPr>
        <p:spPr>
          <a:xfrm>
            <a:off x="457200" y="6217920"/>
            <a:ext cx="11247120" cy="365760"/>
          </a:xfrm>
          <a:prstGeom prst="rect">
            <a:avLst/>
          </a:prstGeom>
          <a:noFill/>
          <a:ln/>
        </p:spPr>
        <p:txBody>
          <a:bodyPr wrap="square" lIns="0" tIns="0" rIns="0" bIns="0" rtlCol="0" anchor="ctr"/>
          <a:lstStyle/>
          <a:p>
            <a:pPr marL="0" indent="0" algn="ctr">
              <a:buNone/>
            </a:pPr>
            <a:r>
              <a:rPr lang="en-US" sz="1200" i="1" dirty="0">
                <a:solidFill>
                  <a:srgbClr val="8996A0"/>
                </a:solidFill>
                <a:latin typeface="Arial" pitchFamily="34" charset="0"/>
                <a:ea typeface="Arial" pitchFamily="34" charset="-122"/>
                <a:cs typeface="Arial" pitchFamily="34" charset="-120"/>
              </a:rPr>
              <a:t>Used in FIN_E and FIN_F. Removes an entire class of parsing bugs.</a:t>
            </a:r>
            <a:endParaRPr lang="en-US" sz="1200" dirty="0"/>
          </a:p>
        </p:txBody>
      </p:sp>
      <p:sp>
        <p:nvSpPr>
          <p:cNvPr id="10" name="Harvard Footer"/>
          <p:cNvSpPr txBox="1"/>
          <p:nvPr/>
        </p:nvSpPr>
        <p:spPr>
          <a:xfrm>
            <a:off x="137319" y="658320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1" name="Harvard Page Number"/>
          <p:cNvSpPr txBox="1"/>
          <p:nvPr/>
        </p:nvSpPr>
        <p:spPr>
          <a:xfrm>
            <a:off x="11801189" y="6446043"/>
            <a:ext cx="253492" cy="274638"/>
          </a:xfrm>
          <a:prstGeom prst="rect">
            <a:avLst/>
          </a:prstGeom>
          <a:noFill/>
        </p:spPr>
        <p:txBody>
          <a:bodyPr wrap="none" lIns="0" tIns="0" rIns="0" bIns="0">
            <a:noAutofit/>
          </a:bodyPr>
          <a:lstStyle/>
          <a:p>
            <a:pPr algn="r"/>
            <a:fld id="{35C50453-4DEC-4FE1-8275-C9630548019C}" type="slidenum">
              <a:rPr lang="en-US" sz="1000">
                <a:solidFill>
                  <a:srgbClr val="8996A0"/>
                </a:solidFill>
                <a:latin typeface="Arial"/>
              </a:rPr>
              <a:t>4</a:t>
            </a:fld>
            <a:endParaRPr lang="en-US" sz="1000">
              <a:solidFill>
                <a:srgbClr val="8996A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Open Weight vs Closed Weight Models</a:t>
            </a:r>
            <a:endParaRPr lang="en-US" sz="3200" dirty="0"/>
          </a:p>
        </p:txBody>
      </p:sp>
      <p:sp>
        <p:nvSpPr>
          <p:cNvPr id="3" name="Shape 1"/>
          <p:cNvSpPr/>
          <p:nvPr/>
        </p:nvSpPr>
        <p:spPr>
          <a:xfrm>
            <a:off x="457200" y="1280160"/>
            <a:ext cx="3931920" cy="502920"/>
          </a:xfrm>
          <a:prstGeom prst="rect">
            <a:avLst/>
          </a:prstGeom>
          <a:solidFill>
            <a:srgbClr val="293352"/>
          </a:solidFill>
          <a:ln w="12700">
            <a:solidFill>
              <a:srgbClr val="293352"/>
            </a:solidFill>
            <a:prstDash val="solid"/>
          </a:ln>
        </p:spPr>
      </p:sp>
      <p:sp>
        <p:nvSpPr>
          <p:cNvPr id="4" name="Shape 2"/>
          <p:cNvSpPr/>
          <p:nvPr/>
        </p:nvSpPr>
        <p:spPr>
          <a:xfrm>
            <a:off x="4389120" y="1280160"/>
            <a:ext cx="3657600" cy="502920"/>
          </a:xfrm>
          <a:prstGeom prst="rect">
            <a:avLst/>
          </a:prstGeom>
          <a:solidFill>
            <a:srgbClr val="293352"/>
          </a:solidFill>
          <a:ln w="12700">
            <a:solidFill>
              <a:srgbClr val="293352"/>
            </a:solidFill>
            <a:prstDash val="solid"/>
          </a:ln>
        </p:spPr>
      </p:sp>
      <p:sp>
        <p:nvSpPr>
          <p:cNvPr id="5" name="Shape 3"/>
          <p:cNvSpPr/>
          <p:nvPr/>
        </p:nvSpPr>
        <p:spPr>
          <a:xfrm>
            <a:off x="8046720" y="1280160"/>
            <a:ext cx="3657600" cy="502920"/>
          </a:xfrm>
          <a:prstGeom prst="rect">
            <a:avLst/>
          </a:prstGeom>
          <a:solidFill>
            <a:srgbClr val="293352"/>
          </a:solidFill>
          <a:ln w="12700">
            <a:solidFill>
              <a:srgbClr val="293352"/>
            </a:solidFill>
            <a:prstDash val="solid"/>
          </a:ln>
        </p:spPr>
      </p:sp>
      <p:sp>
        <p:nvSpPr>
          <p:cNvPr id="6" name="Text 4"/>
          <p:cNvSpPr/>
          <p:nvPr/>
        </p:nvSpPr>
        <p:spPr>
          <a:xfrm>
            <a:off x="594360" y="1280160"/>
            <a:ext cx="365760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Aspect</a:t>
            </a:r>
            <a:endParaRPr lang="en-US" sz="1300" dirty="0"/>
          </a:p>
        </p:txBody>
      </p:sp>
      <p:sp>
        <p:nvSpPr>
          <p:cNvPr id="7" name="Text 5"/>
          <p:cNvSpPr/>
          <p:nvPr/>
        </p:nvSpPr>
        <p:spPr>
          <a:xfrm>
            <a:off x="4526280" y="1280160"/>
            <a:ext cx="338328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Open weight</a:t>
            </a:r>
            <a:endParaRPr lang="en-US" sz="1300" dirty="0"/>
          </a:p>
        </p:txBody>
      </p:sp>
      <p:sp>
        <p:nvSpPr>
          <p:cNvPr id="8" name="Text 6"/>
          <p:cNvSpPr/>
          <p:nvPr/>
        </p:nvSpPr>
        <p:spPr>
          <a:xfrm>
            <a:off x="8183880" y="1280160"/>
            <a:ext cx="338328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Closed weight</a:t>
            </a:r>
            <a:endParaRPr lang="en-US" sz="1300" dirty="0"/>
          </a:p>
        </p:txBody>
      </p:sp>
      <p:sp>
        <p:nvSpPr>
          <p:cNvPr id="9" name="Shape 7"/>
          <p:cNvSpPr/>
          <p:nvPr/>
        </p:nvSpPr>
        <p:spPr>
          <a:xfrm>
            <a:off x="457200" y="1783080"/>
            <a:ext cx="3931920" cy="502920"/>
          </a:xfrm>
          <a:prstGeom prst="rect">
            <a:avLst/>
          </a:prstGeom>
          <a:solidFill>
            <a:srgbClr val="F3F3F1"/>
          </a:solidFill>
          <a:ln w="3175">
            <a:solidFill>
              <a:srgbClr val="8996A0"/>
            </a:solidFill>
            <a:prstDash val="solid"/>
          </a:ln>
        </p:spPr>
      </p:sp>
      <p:sp>
        <p:nvSpPr>
          <p:cNvPr id="10" name="Shape 8"/>
          <p:cNvSpPr/>
          <p:nvPr/>
        </p:nvSpPr>
        <p:spPr>
          <a:xfrm>
            <a:off x="4389120" y="1783080"/>
            <a:ext cx="3657600" cy="502920"/>
          </a:xfrm>
          <a:prstGeom prst="rect">
            <a:avLst/>
          </a:prstGeom>
          <a:solidFill>
            <a:srgbClr val="F3F3F1"/>
          </a:solidFill>
          <a:ln w="3175">
            <a:solidFill>
              <a:srgbClr val="8996A0"/>
            </a:solidFill>
            <a:prstDash val="solid"/>
          </a:ln>
        </p:spPr>
      </p:sp>
      <p:sp>
        <p:nvSpPr>
          <p:cNvPr id="11" name="Shape 9"/>
          <p:cNvSpPr/>
          <p:nvPr/>
        </p:nvSpPr>
        <p:spPr>
          <a:xfrm>
            <a:off x="8046720" y="1783080"/>
            <a:ext cx="3657600" cy="502920"/>
          </a:xfrm>
          <a:prstGeom prst="rect">
            <a:avLst/>
          </a:prstGeom>
          <a:solidFill>
            <a:srgbClr val="F3F3F1"/>
          </a:solidFill>
          <a:ln w="3175">
            <a:solidFill>
              <a:srgbClr val="8996A0"/>
            </a:solidFill>
            <a:prstDash val="solid"/>
          </a:ln>
        </p:spPr>
      </p:sp>
      <p:sp>
        <p:nvSpPr>
          <p:cNvPr id="12" name="Text 10"/>
          <p:cNvSpPr/>
          <p:nvPr/>
        </p:nvSpPr>
        <p:spPr>
          <a:xfrm>
            <a:off x="594360" y="1783080"/>
            <a:ext cx="365760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Parameters published?</a:t>
            </a:r>
            <a:endParaRPr lang="en-US" sz="1200" dirty="0"/>
          </a:p>
        </p:txBody>
      </p:sp>
      <p:sp>
        <p:nvSpPr>
          <p:cNvPr id="13" name="Text 11"/>
          <p:cNvSpPr/>
          <p:nvPr/>
        </p:nvSpPr>
        <p:spPr>
          <a:xfrm>
            <a:off x="4526280" y="178308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Yes, under a permissive license</a:t>
            </a:r>
            <a:endParaRPr lang="en-US" sz="1200" dirty="0"/>
          </a:p>
        </p:txBody>
      </p:sp>
      <p:sp>
        <p:nvSpPr>
          <p:cNvPr id="14" name="Text 12"/>
          <p:cNvSpPr/>
          <p:nvPr/>
        </p:nvSpPr>
        <p:spPr>
          <a:xfrm>
            <a:off x="8183880" y="178308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No, provider only</a:t>
            </a:r>
            <a:endParaRPr lang="en-US" sz="1200" dirty="0"/>
          </a:p>
        </p:txBody>
      </p:sp>
      <p:sp>
        <p:nvSpPr>
          <p:cNvPr id="15" name="Shape 13"/>
          <p:cNvSpPr/>
          <p:nvPr/>
        </p:nvSpPr>
        <p:spPr>
          <a:xfrm>
            <a:off x="457200" y="2286000"/>
            <a:ext cx="3931920" cy="502920"/>
          </a:xfrm>
          <a:prstGeom prst="rect">
            <a:avLst/>
          </a:prstGeom>
          <a:solidFill>
            <a:srgbClr val="FFFFFF"/>
          </a:solidFill>
          <a:ln w="3175">
            <a:solidFill>
              <a:srgbClr val="8996A0"/>
            </a:solidFill>
            <a:prstDash val="solid"/>
          </a:ln>
        </p:spPr>
      </p:sp>
      <p:sp>
        <p:nvSpPr>
          <p:cNvPr id="16" name="Shape 14"/>
          <p:cNvSpPr/>
          <p:nvPr/>
        </p:nvSpPr>
        <p:spPr>
          <a:xfrm>
            <a:off x="4389120" y="2286000"/>
            <a:ext cx="3657600" cy="502920"/>
          </a:xfrm>
          <a:prstGeom prst="rect">
            <a:avLst/>
          </a:prstGeom>
          <a:solidFill>
            <a:srgbClr val="FFFFFF"/>
          </a:solidFill>
          <a:ln w="3175">
            <a:solidFill>
              <a:srgbClr val="8996A0"/>
            </a:solidFill>
            <a:prstDash val="solid"/>
          </a:ln>
        </p:spPr>
      </p:sp>
      <p:sp>
        <p:nvSpPr>
          <p:cNvPr id="17" name="Shape 15"/>
          <p:cNvSpPr/>
          <p:nvPr/>
        </p:nvSpPr>
        <p:spPr>
          <a:xfrm>
            <a:off x="8046720" y="2286000"/>
            <a:ext cx="3657600" cy="502920"/>
          </a:xfrm>
          <a:prstGeom prst="rect">
            <a:avLst/>
          </a:prstGeom>
          <a:solidFill>
            <a:srgbClr val="FFFFFF"/>
          </a:solidFill>
          <a:ln w="3175">
            <a:solidFill>
              <a:srgbClr val="8996A0"/>
            </a:solidFill>
            <a:prstDash val="solid"/>
          </a:ln>
        </p:spPr>
      </p:sp>
      <p:sp>
        <p:nvSpPr>
          <p:cNvPr id="18" name="Text 16"/>
          <p:cNvSpPr/>
          <p:nvPr/>
        </p:nvSpPr>
        <p:spPr>
          <a:xfrm>
            <a:off x="594360" y="2286000"/>
            <a:ext cx="365760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Cost per token</a:t>
            </a:r>
            <a:endParaRPr lang="en-US" sz="1200" dirty="0"/>
          </a:p>
        </p:txBody>
      </p:sp>
      <p:sp>
        <p:nvSpPr>
          <p:cNvPr id="19" name="Text 17"/>
          <p:cNvSpPr/>
          <p:nvPr/>
        </p:nvSpPr>
        <p:spPr>
          <a:xfrm>
            <a:off x="4526280" y="228600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Lower</a:t>
            </a:r>
            <a:endParaRPr lang="en-US" sz="1200" dirty="0"/>
          </a:p>
        </p:txBody>
      </p:sp>
      <p:sp>
        <p:nvSpPr>
          <p:cNvPr id="20" name="Text 18"/>
          <p:cNvSpPr/>
          <p:nvPr/>
        </p:nvSpPr>
        <p:spPr>
          <a:xfrm>
            <a:off x="8183880" y="228600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Higher</a:t>
            </a:r>
            <a:endParaRPr lang="en-US" sz="1200" dirty="0"/>
          </a:p>
        </p:txBody>
      </p:sp>
      <p:sp>
        <p:nvSpPr>
          <p:cNvPr id="21" name="Shape 19"/>
          <p:cNvSpPr/>
          <p:nvPr/>
        </p:nvSpPr>
        <p:spPr>
          <a:xfrm>
            <a:off x="457200" y="2788920"/>
            <a:ext cx="3931920" cy="502920"/>
          </a:xfrm>
          <a:prstGeom prst="rect">
            <a:avLst/>
          </a:prstGeom>
          <a:solidFill>
            <a:srgbClr val="F3F3F1"/>
          </a:solidFill>
          <a:ln w="3175">
            <a:solidFill>
              <a:srgbClr val="8996A0"/>
            </a:solidFill>
            <a:prstDash val="solid"/>
          </a:ln>
        </p:spPr>
      </p:sp>
      <p:sp>
        <p:nvSpPr>
          <p:cNvPr id="22" name="Shape 20"/>
          <p:cNvSpPr/>
          <p:nvPr/>
        </p:nvSpPr>
        <p:spPr>
          <a:xfrm>
            <a:off x="4389120" y="2788920"/>
            <a:ext cx="3657600" cy="502920"/>
          </a:xfrm>
          <a:prstGeom prst="rect">
            <a:avLst/>
          </a:prstGeom>
          <a:solidFill>
            <a:srgbClr val="F3F3F1"/>
          </a:solidFill>
          <a:ln w="3175">
            <a:solidFill>
              <a:srgbClr val="8996A0"/>
            </a:solidFill>
            <a:prstDash val="solid"/>
          </a:ln>
        </p:spPr>
      </p:sp>
      <p:sp>
        <p:nvSpPr>
          <p:cNvPr id="23" name="Shape 21"/>
          <p:cNvSpPr/>
          <p:nvPr/>
        </p:nvSpPr>
        <p:spPr>
          <a:xfrm>
            <a:off x="8046720" y="2788920"/>
            <a:ext cx="3657600" cy="502920"/>
          </a:xfrm>
          <a:prstGeom prst="rect">
            <a:avLst/>
          </a:prstGeom>
          <a:solidFill>
            <a:srgbClr val="F3F3F1"/>
          </a:solidFill>
          <a:ln w="3175">
            <a:solidFill>
              <a:srgbClr val="8996A0"/>
            </a:solidFill>
            <a:prstDash val="solid"/>
          </a:ln>
        </p:spPr>
      </p:sp>
      <p:sp>
        <p:nvSpPr>
          <p:cNvPr id="24" name="Text 22"/>
          <p:cNvSpPr/>
          <p:nvPr/>
        </p:nvSpPr>
        <p:spPr>
          <a:xfrm>
            <a:off x="594360" y="2788920"/>
            <a:ext cx="365760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Deprecation risk</a:t>
            </a:r>
            <a:endParaRPr lang="en-US" sz="1200" dirty="0"/>
          </a:p>
        </p:txBody>
      </p:sp>
      <p:sp>
        <p:nvSpPr>
          <p:cNvPr id="25" name="Text 23"/>
          <p:cNvSpPr/>
          <p:nvPr/>
        </p:nvSpPr>
        <p:spPr>
          <a:xfrm>
            <a:off x="4526280" y="278892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You keep the weights</a:t>
            </a:r>
            <a:endParaRPr lang="en-US" sz="1200" dirty="0"/>
          </a:p>
        </p:txBody>
      </p:sp>
      <p:sp>
        <p:nvSpPr>
          <p:cNvPr id="26" name="Text 24"/>
          <p:cNvSpPr/>
          <p:nvPr/>
        </p:nvSpPr>
        <p:spPr>
          <a:xfrm>
            <a:off x="8183880" y="278892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Provider decides</a:t>
            </a:r>
            <a:endParaRPr lang="en-US" sz="1200" dirty="0"/>
          </a:p>
        </p:txBody>
      </p:sp>
      <p:sp>
        <p:nvSpPr>
          <p:cNvPr id="27" name="Shape 25"/>
          <p:cNvSpPr/>
          <p:nvPr/>
        </p:nvSpPr>
        <p:spPr>
          <a:xfrm>
            <a:off x="457200" y="3291840"/>
            <a:ext cx="3931920" cy="502920"/>
          </a:xfrm>
          <a:prstGeom prst="rect">
            <a:avLst/>
          </a:prstGeom>
          <a:solidFill>
            <a:srgbClr val="FFFFFF"/>
          </a:solidFill>
          <a:ln w="3175">
            <a:solidFill>
              <a:srgbClr val="8996A0"/>
            </a:solidFill>
            <a:prstDash val="solid"/>
          </a:ln>
        </p:spPr>
      </p:sp>
      <p:sp>
        <p:nvSpPr>
          <p:cNvPr id="28" name="Shape 26"/>
          <p:cNvSpPr/>
          <p:nvPr/>
        </p:nvSpPr>
        <p:spPr>
          <a:xfrm>
            <a:off x="4389120" y="3291840"/>
            <a:ext cx="3657600" cy="502920"/>
          </a:xfrm>
          <a:prstGeom prst="rect">
            <a:avLst/>
          </a:prstGeom>
          <a:solidFill>
            <a:srgbClr val="FFFFFF"/>
          </a:solidFill>
          <a:ln w="3175">
            <a:solidFill>
              <a:srgbClr val="8996A0"/>
            </a:solidFill>
            <a:prstDash val="solid"/>
          </a:ln>
        </p:spPr>
      </p:sp>
      <p:sp>
        <p:nvSpPr>
          <p:cNvPr id="29" name="Shape 27"/>
          <p:cNvSpPr/>
          <p:nvPr/>
        </p:nvSpPr>
        <p:spPr>
          <a:xfrm>
            <a:off x="8046720" y="3291840"/>
            <a:ext cx="3657600" cy="502920"/>
          </a:xfrm>
          <a:prstGeom prst="rect">
            <a:avLst/>
          </a:prstGeom>
          <a:solidFill>
            <a:srgbClr val="FFFFFF"/>
          </a:solidFill>
          <a:ln w="3175">
            <a:solidFill>
              <a:srgbClr val="8996A0"/>
            </a:solidFill>
            <a:prstDash val="solid"/>
          </a:ln>
        </p:spPr>
      </p:sp>
      <p:sp>
        <p:nvSpPr>
          <p:cNvPr id="30" name="Text 28"/>
          <p:cNvSpPr/>
          <p:nvPr/>
        </p:nvSpPr>
        <p:spPr>
          <a:xfrm>
            <a:off x="594360" y="3291840"/>
            <a:ext cx="365760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Frontier capability</a:t>
            </a:r>
            <a:endParaRPr lang="en-US" sz="1200" dirty="0"/>
          </a:p>
        </p:txBody>
      </p:sp>
      <p:sp>
        <p:nvSpPr>
          <p:cNvPr id="31" name="Text 29"/>
          <p:cNvSpPr/>
          <p:nvPr/>
        </p:nvSpPr>
        <p:spPr>
          <a:xfrm>
            <a:off x="4526280" y="329184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Trails, but gap has closed</a:t>
            </a:r>
            <a:endParaRPr lang="en-US" sz="1200" dirty="0"/>
          </a:p>
        </p:txBody>
      </p:sp>
      <p:sp>
        <p:nvSpPr>
          <p:cNvPr id="32" name="Text 30"/>
          <p:cNvSpPr/>
          <p:nvPr/>
        </p:nvSpPr>
        <p:spPr>
          <a:xfrm>
            <a:off x="8183880" y="329184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Usually leads</a:t>
            </a:r>
            <a:endParaRPr lang="en-US" sz="1200" dirty="0"/>
          </a:p>
        </p:txBody>
      </p:sp>
      <p:sp>
        <p:nvSpPr>
          <p:cNvPr id="33" name="Shape 31"/>
          <p:cNvSpPr/>
          <p:nvPr/>
        </p:nvSpPr>
        <p:spPr>
          <a:xfrm>
            <a:off x="457200" y="3794760"/>
            <a:ext cx="3931920" cy="502920"/>
          </a:xfrm>
          <a:prstGeom prst="rect">
            <a:avLst/>
          </a:prstGeom>
          <a:solidFill>
            <a:srgbClr val="F3F3F1"/>
          </a:solidFill>
          <a:ln w="3175">
            <a:solidFill>
              <a:srgbClr val="8996A0"/>
            </a:solidFill>
            <a:prstDash val="solid"/>
          </a:ln>
        </p:spPr>
      </p:sp>
      <p:sp>
        <p:nvSpPr>
          <p:cNvPr id="34" name="Shape 32"/>
          <p:cNvSpPr/>
          <p:nvPr/>
        </p:nvSpPr>
        <p:spPr>
          <a:xfrm>
            <a:off x="4389120" y="3794760"/>
            <a:ext cx="3657600" cy="502920"/>
          </a:xfrm>
          <a:prstGeom prst="rect">
            <a:avLst/>
          </a:prstGeom>
          <a:solidFill>
            <a:srgbClr val="F3F3F1"/>
          </a:solidFill>
          <a:ln w="3175">
            <a:solidFill>
              <a:srgbClr val="8996A0"/>
            </a:solidFill>
            <a:prstDash val="solid"/>
          </a:ln>
        </p:spPr>
      </p:sp>
      <p:sp>
        <p:nvSpPr>
          <p:cNvPr id="35" name="Shape 33"/>
          <p:cNvSpPr/>
          <p:nvPr/>
        </p:nvSpPr>
        <p:spPr>
          <a:xfrm>
            <a:off x="8046720" y="3794760"/>
            <a:ext cx="3657600" cy="502920"/>
          </a:xfrm>
          <a:prstGeom prst="rect">
            <a:avLst/>
          </a:prstGeom>
          <a:solidFill>
            <a:srgbClr val="F3F3F1"/>
          </a:solidFill>
          <a:ln w="3175">
            <a:solidFill>
              <a:srgbClr val="8996A0"/>
            </a:solidFill>
            <a:prstDash val="solid"/>
          </a:ln>
        </p:spPr>
      </p:sp>
      <p:sp>
        <p:nvSpPr>
          <p:cNvPr id="36" name="Text 34"/>
          <p:cNvSpPr/>
          <p:nvPr/>
        </p:nvSpPr>
        <p:spPr>
          <a:xfrm>
            <a:off x="594360" y="3794760"/>
            <a:ext cx="365760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Fit for bounded tasks</a:t>
            </a:r>
            <a:endParaRPr lang="en-US" sz="1200" dirty="0"/>
          </a:p>
        </p:txBody>
      </p:sp>
      <p:sp>
        <p:nvSpPr>
          <p:cNvPr id="37" name="Text 35"/>
          <p:cNvSpPr/>
          <p:nvPr/>
        </p:nvSpPr>
        <p:spPr>
          <a:xfrm>
            <a:off x="4526280" y="379476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Excellent (this course)</a:t>
            </a:r>
            <a:endParaRPr lang="en-US" sz="1200" dirty="0"/>
          </a:p>
        </p:txBody>
      </p:sp>
      <p:sp>
        <p:nvSpPr>
          <p:cNvPr id="38" name="Text 36"/>
          <p:cNvSpPr/>
          <p:nvPr/>
        </p:nvSpPr>
        <p:spPr>
          <a:xfrm>
            <a:off x="8183880" y="379476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Overkill</a:t>
            </a:r>
            <a:endParaRPr lang="en-US" sz="1200" dirty="0"/>
          </a:p>
        </p:txBody>
      </p:sp>
      <p:sp>
        <p:nvSpPr>
          <p:cNvPr id="39" name="Shape 37"/>
          <p:cNvSpPr/>
          <p:nvPr/>
        </p:nvSpPr>
        <p:spPr>
          <a:xfrm>
            <a:off x="457200" y="4297680"/>
            <a:ext cx="3931920" cy="502920"/>
          </a:xfrm>
          <a:prstGeom prst="rect">
            <a:avLst/>
          </a:prstGeom>
          <a:solidFill>
            <a:srgbClr val="FFFFFF"/>
          </a:solidFill>
          <a:ln w="3175">
            <a:solidFill>
              <a:srgbClr val="8996A0"/>
            </a:solidFill>
            <a:prstDash val="solid"/>
          </a:ln>
        </p:spPr>
      </p:sp>
      <p:sp>
        <p:nvSpPr>
          <p:cNvPr id="40" name="Shape 38"/>
          <p:cNvSpPr/>
          <p:nvPr/>
        </p:nvSpPr>
        <p:spPr>
          <a:xfrm>
            <a:off x="4389120" y="4297680"/>
            <a:ext cx="3657600" cy="502920"/>
          </a:xfrm>
          <a:prstGeom prst="rect">
            <a:avLst/>
          </a:prstGeom>
          <a:solidFill>
            <a:srgbClr val="FFFFFF"/>
          </a:solidFill>
          <a:ln w="3175">
            <a:solidFill>
              <a:srgbClr val="8996A0"/>
            </a:solidFill>
            <a:prstDash val="solid"/>
          </a:ln>
        </p:spPr>
      </p:sp>
      <p:sp>
        <p:nvSpPr>
          <p:cNvPr id="41" name="Shape 39"/>
          <p:cNvSpPr/>
          <p:nvPr/>
        </p:nvSpPr>
        <p:spPr>
          <a:xfrm>
            <a:off x="8046720" y="4297680"/>
            <a:ext cx="3657600" cy="502920"/>
          </a:xfrm>
          <a:prstGeom prst="rect">
            <a:avLst/>
          </a:prstGeom>
          <a:solidFill>
            <a:srgbClr val="FFFFFF"/>
          </a:solidFill>
          <a:ln w="3175">
            <a:solidFill>
              <a:srgbClr val="8996A0"/>
            </a:solidFill>
            <a:prstDash val="solid"/>
          </a:ln>
        </p:spPr>
      </p:sp>
      <p:sp>
        <p:nvSpPr>
          <p:cNvPr id="42" name="Text 40"/>
          <p:cNvSpPr/>
          <p:nvPr/>
        </p:nvSpPr>
        <p:spPr>
          <a:xfrm>
            <a:off x="594360" y="4297680"/>
            <a:ext cx="365760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Example on OpenRouter</a:t>
            </a:r>
            <a:endParaRPr lang="en-US" sz="1200" dirty="0"/>
          </a:p>
        </p:txBody>
      </p:sp>
      <p:sp>
        <p:nvSpPr>
          <p:cNvPr id="43" name="Text 41"/>
          <p:cNvSpPr/>
          <p:nvPr/>
        </p:nvSpPr>
        <p:spPr>
          <a:xfrm>
            <a:off x="4526280" y="4297680"/>
            <a:ext cx="3383280" cy="502920"/>
          </a:xfrm>
          <a:prstGeom prst="rect">
            <a:avLst/>
          </a:prstGeom>
          <a:noFill/>
          <a:ln/>
        </p:spPr>
        <p:txBody>
          <a:bodyPr wrap="square" lIns="0" tIns="0" rIns="0" bIns="0" rtlCol="0" anchor="ctr"/>
          <a:lstStyle/>
          <a:p>
            <a:pPr marL="0" indent="0">
              <a:buNone/>
            </a:pPr>
            <a:r>
              <a:rPr lang="en-US" sz="1100" dirty="0">
                <a:solidFill>
                  <a:srgbClr val="1E1E1E"/>
                </a:solidFill>
                <a:latin typeface="Arial" pitchFamily="34" charset="0"/>
                <a:ea typeface="Courier New" pitchFamily="34" charset="-122"/>
                <a:cs typeface="Courier New" pitchFamily="34" charset="-120"/>
              </a:rPr>
              <a:t>mistralai/mistral-small-3.2-24b</a:t>
            </a:r>
            <a:endParaRPr lang="en-US" sz="1100" dirty="0"/>
          </a:p>
        </p:txBody>
      </p:sp>
      <p:sp>
        <p:nvSpPr>
          <p:cNvPr id="44" name="Text 42"/>
          <p:cNvSpPr/>
          <p:nvPr/>
        </p:nvSpPr>
        <p:spPr>
          <a:xfrm>
            <a:off x="8183880" y="4297680"/>
            <a:ext cx="3383280" cy="502920"/>
          </a:xfrm>
          <a:prstGeom prst="rect">
            <a:avLst/>
          </a:prstGeom>
          <a:noFill/>
          <a:ln/>
        </p:spPr>
        <p:txBody>
          <a:bodyPr wrap="square" lIns="0" tIns="0" rIns="0" bIns="0" rtlCol="0" anchor="ctr"/>
          <a:lstStyle/>
          <a:p>
            <a:pPr marL="0" indent="0">
              <a:buNone/>
            </a:pPr>
            <a:r>
              <a:rPr lang="en-US" sz="1100" dirty="0">
                <a:solidFill>
                  <a:srgbClr val="1E1E1E"/>
                </a:solidFill>
                <a:latin typeface="Arial" pitchFamily="34" charset="0"/>
                <a:ea typeface="Courier New" pitchFamily="34" charset="-122"/>
                <a:cs typeface="Courier New" pitchFamily="34" charset="-120"/>
              </a:rPr>
              <a:t>google/gemini-2.0-flash-001</a:t>
            </a:r>
            <a:endParaRPr lang="en-US" sz="1100" dirty="0"/>
          </a:p>
        </p:txBody>
      </p:sp>
      <p:sp>
        <p:nvSpPr>
          <p:cNvPr id="45" name="Text 43"/>
          <p:cNvSpPr/>
          <p:nvPr/>
        </p:nvSpPr>
        <p:spPr>
          <a:xfrm>
            <a:off x="457200" y="5943600"/>
            <a:ext cx="11247120" cy="457200"/>
          </a:xfrm>
          <a:prstGeom prst="rect">
            <a:avLst/>
          </a:prstGeom>
          <a:noFill/>
          <a:ln/>
        </p:spPr>
        <p:txBody>
          <a:bodyPr wrap="square" lIns="0" tIns="0" rIns="0" bIns="0" rtlCol="0" anchor="ctr"/>
          <a:lstStyle/>
          <a:p>
            <a:pPr marL="0" indent="0" algn="ctr">
              <a:buNone/>
            </a:pPr>
            <a:r>
              <a:rPr lang="en-US" sz="1300" i="1" dirty="0">
                <a:solidFill>
                  <a:srgbClr val="A51C30"/>
                </a:solidFill>
                <a:latin typeface="Arial" pitchFamily="34" charset="0"/>
                <a:ea typeface="Arial" pitchFamily="34" charset="-122"/>
                <a:cs typeface="Arial" pitchFamily="34" charset="-120"/>
              </a:rPr>
              <a:t>Our default in FIN_E and FIN_F: open weight. MODEL is kept top-level so a one-line change swaps it.</a:t>
            </a:r>
            <a:endParaRPr lang="en-US" sz="1300" dirty="0"/>
          </a:p>
        </p:txBody>
      </p:sp>
      <p:sp>
        <p:nvSpPr>
          <p:cNvPr id="46"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47" name="Harvard Page Number"/>
          <p:cNvSpPr txBox="1"/>
          <p:nvPr/>
        </p:nvSpPr>
        <p:spPr>
          <a:xfrm>
            <a:off x="11801189" y="6446043"/>
            <a:ext cx="253492" cy="274638"/>
          </a:xfrm>
          <a:prstGeom prst="rect">
            <a:avLst/>
          </a:prstGeom>
          <a:noFill/>
        </p:spPr>
        <p:txBody>
          <a:bodyPr wrap="none" lIns="0" tIns="0" rIns="0" bIns="0">
            <a:noAutofit/>
          </a:bodyPr>
          <a:lstStyle/>
          <a:p>
            <a:pPr algn="r"/>
            <a:fld id="{B0A40632-AB0F-4B61-9F3E-46B9503959E8}" type="slidenum">
              <a:rPr lang="en-US" sz="1000">
                <a:solidFill>
                  <a:srgbClr val="8996A0"/>
                </a:solidFill>
                <a:latin typeface="Arial"/>
              </a:rPr>
              <a:t>5</a:t>
            </a:fld>
            <a:endParaRPr lang="en-US" sz="1000">
              <a:solidFill>
                <a:srgbClr val="8996A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A51C30"/>
        </a:solidFill>
        <a:effectLst/>
      </p:bgPr>
    </p:bg>
    <p:spTree>
      <p:nvGrpSpPr>
        <p:cNvPr id="1" name=""/>
        <p:cNvGrpSpPr/>
        <p:nvPr/>
      </p:nvGrpSpPr>
      <p:grpSpPr>
        <a:xfrm>
          <a:off x="0" y="0"/>
          <a:ext cx="0" cy="0"/>
          <a:chOff x="0" y="0"/>
          <a:chExt cx="0" cy="0"/>
        </a:xfrm>
      </p:grpSpPr>
      <p:sp>
        <p:nvSpPr>
          <p:cNvPr id="2" name="Text 0"/>
          <p:cNvSpPr/>
          <p:nvPr/>
        </p:nvSpPr>
        <p:spPr>
          <a:xfrm>
            <a:off x="457200" y="2743200"/>
            <a:ext cx="11247120" cy="1371600"/>
          </a:xfrm>
          <a:prstGeom prst="rect">
            <a:avLst/>
          </a:prstGeom>
          <a:noFill/>
          <a:ln/>
        </p:spPr>
        <p:txBody>
          <a:bodyPr wrap="square" rtlCol="0" anchor="ctr"/>
          <a:lstStyle/>
          <a:p>
            <a:pPr marL="0" indent="0" algn="ctr">
              <a:buNone/>
            </a:pPr>
            <a:r>
              <a:rPr lang="en-US" sz="4800" b="1" dirty="0">
                <a:solidFill>
                  <a:srgbClr val="FFFFFF"/>
                </a:solidFill>
                <a:latin typeface="Arial" pitchFamily="34" charset="0"/>
                <a:ea typeface="Arial" pitchFamily="34" charset="-122"/>
                <a:cs typeface="Arial" pitchFamily="34" charset="-120"/>
              </a:rPr>
              <a:t>FIN_E: Sentiment</a:t>
            </a:r>
            <a:endParaRPr lang="en-US" sz="4800" dirty="0"/>
          </a:p>
        </p:txBody>
      </p:sp>
      <p:sp>
        <p:nvSpPr>
          <p:cNvPr id="3"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F3F3F1"/>
                </a:solidFill>
                <a:latin typeface="Arial"/>
              </a:rPr>
              <a:t>© 2026 Ted Kwartler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The Split: Model Finds, R Counts</a:t>
            </a:r>
            <a:endParaRPr lang="en-US" sz="3200" dirty="0"/>
          </a:p>
        </p:txBody>
      </p:sp>
      <p:sp>
        <p:nvSpPr>
          <p:cNvPr id="3" name="Shape 1"/>
          <p:cNvSpPr/>
          <p:nvPr/>
        </p:nvSpPr>
        <p:spPr>
          <a:xfrm>
            <a:off x="457200" y="1280160"/>
            <a:ext cx="5486400" cy="4389120"/>
          </a:xfrm>
          <a:prstGeom prst="rect">
            <a:avLst/>
          </a:prstGeom>
          <a:solidFill>
            <a:srgbClr val="F3F3F1"/>
          </a:solidFill>
          <a:ln w="6350">
            <a:solidFill>
              <a:srgbClr val="8996A0"/>
            </a:solidFill>
            <a:prstDash val="solid"/>
          </a:ln>
        </p:spPr>
      </p:sp>
      <p:sp>
        <p:nvSpPr>
          <p:cNvPr id="4" name="Text 2"/>
          <p:cNvSpPr/>
          <p:nvPr/>
        </p:nvSpPr>
        <p:spPr>
          <a:xfrm>
            <a:off x="594360" y="1371600"/>
            <a:ext cx="521208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The model does the language</a:t>
            </a:r>
            <a:endParaRPr lang="en-US" sz="1400" dirty="0"/>
          </a:p>
        </p:txBody>
      </p:sp>
      <p:sp>
        <p:nvSpPr>
          <p:cNvPr id="5" name="Text 3"/>
          <p:cNvSpPr/>
          <p:nvPr/>
        </p:nvSpPr>
        <p:spPr>
          <a:xfrm>
            <a:off x="594360" y="1783080"/>
            <a:ext cx="5212080" cy="379476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For each speaker turn, identify:</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positive_phrases: array of strings</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negative_phrases: array of strings</a:t>
            </a:r>
            <a:endParaRPr lang="en-US" sz="1100" dirty="0"/>
          </a:p>
          <a:p>
            <a:pPr marL="0" indent="0">
              <a:spcAft>
                <a:spcPts val="400"/>
              </a:spcAft>
              <a:buNone/>
            </a:pP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Each phrase is 1 to 5 words, taken from the passage.</a:t>
            </a: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The schema forbids extra fields.</a:t>
            </a:r>
            <a:endParaRPr lang="en-US" sz="1100" dirty="0"/>
          </a:p>
          <a:p>
            <a:pPr marL="0" indent="0">
              <a:spcAft>
                <a:spcPts val="400"/>
              </a:spcAft>
              <a:buNone/>
            </a:pPr>
            <a:endParaRPr lang="en-US" sz="1100" dirty="0"/>
          </a:p>
          <a:p>
            <a:pPr marL="0" indent="0">
              <a:spcAft>
                <a:spcPts val="400"/>
              </a:spcAft>
              <a:buNone/>
            </a:pPr>
            <a:r>
              <a:rPr lang="en-US" sz="1100" i="1" dirty="0">
                <a:solidFill>
                  <a:srgbClr val="1E1E1E"/>
                </a:solidFill>
                <a:latin typeface="Arial" pitchFamily="34" charset="0"/>
                <a:ea typeface="Arial" pitchFamily="34" charset="-122"/>
                <a:cs typeface="Arial" pitchFamily="34" charset="-120"/>
              </a:rPr>
              <a:t>This is the only step where judgment happens.</a:t>
            </a:r>
            <a:endParaRPr lang="en-US" sz="1100" dirty="0"/>
          </a:p>
        </p:txBody>
      </p:sp>
      <p:sp>
        <p:nvSpPr>
          <p:cNvPr id="6" name="Shape 4"/>
          <p:cNvSpPr/>
          <p:nvPr/>
        </p:nvSpPr>
        <p:spPr>
          <a:xfrm>
            <a:off x="6217920" y="1280160"/>
            <a:ext cx="5486400" cy="4389120"/>
          </a:xfrm>
          <a:prstGeom prst="rect">
            <a:avLst/>
          </a:prstGeom>
          <a:solidFill>
            <a:srgbClr val="F3F3F1"/>
          </a:solidFill>
          <a:ln w="6350">
            <a:solidFill>
              <a:srgbClr val="8996A0"/>
            </a:solidFill>
            <a:prstDash val="solid"/>
          </a:ln>
        </p:spPr>
      </p:sp>
      <p:sp>
        <p:nvSpPr>
          <p:cNvPr id="7" name="Text 5"/>
          <p:cNvSpPr/>
          <p:nvPr/>
        </p:nvSpPr>
        <p:spPr>
          <a:xfrm>
            <a:off x="6355080" y="1371600"/>
            <a:ext cx="5212080" cy="365760"/>
          </a:xfrm>
          <a:prstGeom prst="rect">
            <a:avLst/>
          </a:prstGeom>
          <a:noFill/>
          <a:ln/>
        </p:spPr>
        <p:txBody>
          <a:bodyPr wrap="square" lIns="0" tIns="0" rIns="0" bIns="0" rtlCol="0" anchor="ctr"/>
          <a:lstStyle/>
          <a:p>
            <a:pPr marL="0" indent="0">
              <a:buNone/>
            </a:pPr>
            <a:r>
              <a:rPr lang="en-US" sz="1400" b="1" dirty="0">
                <a:solidFill>
                  <a:srgbClr val="293352"/>
                </a:solidFill>
                <a:latin typeface="Arial" pitchFamily="34" charset="0"/>
                <a:ea typeface="Arial" pitchFamily="34" charset="-122"/>
                <a:cs typeface="Arial" pitchFamily="34" charset="-120"/>
              </a:rPr>
              <a:t>R does the arithmetic</a:t>
            </a:r>
            <a:endParaRPr lang="en-US" sz="1400" dirty="0"/>
          </a:p>
        </p:txBody>
      </p:sp>
      <p:sp>
        <p:nvSpPr>
          <p:cNvPr id="8" name="Text 6"/>
          <p:cNvSpPr/>
          <p:nvPr/>
        </p:nvSpPr>
        <p:spPr>
          <a:xfrm>
            <a:off x="6355080" y="1783080"/>
            <a:ext cx="5212080" cy="37947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positive_count = length(positive_phrases)</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negative_count = length(negative_phrases)</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msg_words = whitespace split</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sentiment_density = (pos - neg) / words</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label = threshold on density</a:t>
            </a:r>
            <a:endParaRPr lang="en-US" sz="1100" dirty="0"/>
          </a:p>
          <a:p>
            <a:pPr marL="0" indent="0">
              <a:spcAft>
                <a:spcPts val="400"/>
              </a:spcAft>
              <a:buNone/>
            </a:pPr>
            <a:endParaRPr lang="en-US" sz="1100" dirty="0"/>
          </a:p>
          <a:p>
            <a:pPr marL="0" indent="0">
              <a:spcAft>
                <a:spcPts val="400"/>
              </a:spcAft>
              <a:buNone/>
            </a:pPr>
            <a:r>
              <a:rPr lang="en-US" sz="1100" i="1" dirty="0">
                <a:solidFill>
                  <a:srgbClr val="1E1E1E"/>
                </a:solidFill>
                <a:latin typeface="Arial" pitchFamily="34" charset="0"/>
                <a:ea typeface="Arial" pitchFamily="34" charset="-122"/>
                <a:cs typeface="Arial" pitchFamily="34" charset="-120"/>
              </a:rPr>
              <a:t>Every number is auditable in one line of R.</a:t>
            </a:r>
            <a:endParaRPr lang="en-US" sz="1100" dirty="0"/>
          </a:p>
        </p:txBody>
      </p:sp>
      <p:sp>
        <p:nvSpPr>
          <p:cNvPr id="9" name="Text 7"/>
          <p:cNvSpPr/>
          <p:nvPr/>
        </p:nvSpPr>
        <p:spPr>
          <a:xfrm>
            <a:off x="457200" y="5852160"/>
            <a:ext cx="11247120" cy="548640"/>
          </a:xfrm>
          <a:prstGeom prst="rect">
            <a:avLst/>
          </a:prstGeom>
          <a:noFill/>
          <a:ln/>
        </p:spPr>
        <p:txBody>
          <a:bodyPr wrap="square" lIns="0" tIns="0" rIns="0" bIns="0" rtlCol="0" anchor="ctr"/>
          <a:lstStyle/>
          <a:p>
            <a:pPr marL="0" indent="0" algn="ctr">
              <a:buNone/>
            </a:pPr>
            <a:r>
              <a:rPr lang="en-US" sz="1300" i="1" dirty="0">
                <a:solidFill>
                  <a:srgbClr val="8996A0"/>
                </a:solidFill>
                <a:latin typeface="Arial" pitchFamily="34" charset="0"/>
                <a:ea typeface="Arial" pitchFamily="34" charset="-122"/>
                <a:cs typeface="Arial" pitchFamily="34" charset="-120"/>
              </a:rPr>
              <a:t>If a student asks "why did this get called positive?", the answer is on line 43. Not hidden in a model.</a:t>
            </a:r>
            <a:endParaRPr lang="en-US" sz="1300" dirty="0"/>
          </a:p>
        </p:txBody>
      </p:sp>
      <p:sp>
        <p:nvSpPr>
          <p:cNvPr id="10"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1" name="Harvard Page Number"/>
          <p:cNvSpPr txBox="1"/>
          <p:nvPr/>
        </p:nvSpPr>
        <p:spPr>
          <a:xfrm>
            <a:off x="11801189" y="6446043"/>
            <a:ext cx="253492" cy="274638"/>
          </a:xfrm>
          <a:prstGeom prst="rect">
            <a:avLst/>
          </a:prstGeom>
          <a:noFill/>
        </p:spPr>
        <p:txBody>
          <a:bodyPr wrap="none" lIns="0" tIns="0" rIns="0" bIns="0">
            <a:noAutofit/>
          </a:bodyPr>
          <a:lstStyle/>
          <a:p>
            <a:pPr algn="r"/>
            <a:fld id="{C0B4D3A2-0DE4-43F6-8C50-41E9E4C5FB92}" type="slidenum">
              <a:rPr lang="en-US" sz="1000">
                <a:solidFill>
                  <a:srgbClr val="8996A0"/>
                </a:solidFill>
                <a:latin typeface="Arial"/>
              </a:rPr>
              <a:t>7</a:t>
            </a:fld>
            <a:endParaRPr lang="en-US" sz="1000">
              <a:solidFill>
                <a:srgbClr val="8996A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The Per-Turn Call, With Retry</a:t>
            </a:r>
            <a:endParaRPr lang="en-US" sz="3200" dirty="0"/>
          </a:p>
        </p:txBody>
      </p:sp>
      <p:sp>
        <p:nvSpPr>
          <p:cNvPr id="3" name="Text 1"/>
          <p:cNvSpPr/>
          <p:nvPr/>
        </p:nvSpPr>
        <p:spPr>
          <a:xfrm>
            <a:off x="457200" y="1280160"/>
            <a:ext cx="5852160" cy="5029200"/>
          </a:xfrm>
          <a:prstGeom prst="rect">
            <a:avLst/>
          </a:prstGeom>
          <a:noFill/>
          <a:ln/>
        </p:spPr>
        <p:txBody>
          <a:bodyPr wrap="square" lIns="0" tIns="0" rIns="0" bIns="0" rtlCol="0" anchor="t"/>
          <a:lstStyle/>
          <a:p>
            <a:pPr marL="0" indent="0">
              <a:spcAft>
                <a:spcPts val="400"/>
              </a:spcAft>
              <a:buNone/>
            </a:pPr>
            <a:r>
              <a:rPr lang="en-US" sz="1500" b="1" dirty="0">
                <a:solidFill>
                  <a:srgbClr val="A51C30"/>
                </a:solidFill>
                <a:latin typeface="Arial" pitchFamily="34" charset="0"/>
                <a:ea typeface="Arial" pitchFamily="34" charset="-122"/>
                <a:cs typeface="Arial" pitchFamily="34" charset="-120"/>
              </a:rPr>
              <a:t>Per row, not batched.</a:t>
            </a:r>
            <a:endParaRPr lang="en-US" sz="1300" dirty="0"/>
          </a:p>
          <a:p>
            <a:pPr marL="0" indent="0">
              <a:spcAft>
                <a:spcPts val="400"/>
              </a:spcAft>
              <a:buNone/>
            </a:pPr>
            <a:r>
              <a:rPr lang="en-US" sz="1300" dirty="0">
                <a:solidFill>
                  <a:srgbClr val="1E1E1E"/>
                </a:solidFill>
                <a:latin typeface="Arial" pitchFamily="34" charset="0"/>
                <a:ea typeface="Arial" pitchFamily="34" charset="-122"/>
                <a:cs typeface="Arial" pitchFamily="34" charset="-120"/>
              </a:rPr>
              <a:t>One API call per speaker turn. Slower than batching the whole call into one request, more expensive, and completely worth it for teaching. You see the mechanic on turn one before it disappears into a loop.</a:t>
            </a:r>
            <a:endParaRPr lang="en-US" sz="1300" dirty="0"/>
          </a:p>
          <a:p>
            <a:pPr marL="0" indent="0">
              <a:spcAft>
                <a:spcPts val="400"/>
              </a:spcAft>
              <a:buNone/>
            </a:pPr>
            <a:endParaRPr lang="en-US" sz="1300" dirty="0"/>
          </a:p>
          <a:p>
            <a:pPr marL="0" indent="0">
              <a:spcAft>
                <a:spcPts val="400"/>
              </a:spcAft>
              <a:buNone/>
            </a:pPr>
            <a:r>
              <a:rPr lang="en-US" sz="1500" b="1" dirty="0">
                <a:solidFill>
                  <a:srgbClr val="A51C30"/>
                </a:solidFill>
                <a:latin typeface="Arial" pitchFamily="34" charset="0"/>
                <a:ea typeface="Arial" pitchFamily="34" charset="-122"/>
                <a:cs typeface="Arial" pitchFamily="34" charset="-120"/>
              </a:rPr>
              <a:t>httr2 with req_retry().</a:t>
            </a:r>
            <a:endParaRPr lang="en-US" sz="1300" dirty="0"/>
          </a:p>
          <a:p>
            <a:pPr marL="0" indent="0">
              <a:spcAft>
                <a:spcPts val="400"/>
              </a:spcAft>
              <a:buNone/>
            </a:pPr>
            <a:r>
              <a:rPr lang="en-US" sz="1300" dirty="0">
                <a:solidFill>
                  <a:srgbClr val="1E1E1E"/>
                </a:solidFill>
                <a:latin typeface="Arial" pitchFamily="34" charset="0"/>
                <a:ea typeface="Arial" pitchFamily="34" charset="-122"/>
                <a:cs typeface="Arial" pitchFamily="34" charset="-120"/>
              </a:rPr>
              <a:t>Fifty calls per transcript is fifty chances for a network hiccup. httr2's req_retry gives us backoff and retry in one line. Three tries covers most transient failures.</a:t>
            </a:r>
            <a:endParaRPr lang="en-US" sz="1300" dirty="0"/>
          </a:p>
        </p:txBody>
      </p:sp>
      <p:sp>
        <p:nvSpPr>
          <p:cNvPr id="4" name="Shape 2"/>
          <p:cNvSpPr/>
          <p:nvPr/>
        </p:nvSpPr>
        <p:spPr>
          <a:xfrm>
            <a:off x="6583680" y="1280160"/>
            <a:ext cx="5120640" cy="5029200"/>
          </a:xfrm>
          <a:prstGeom prst="rect">
            <a:avLst/>
          </a:prstGeom>
          <a:solidFill>
            <a:srgbClr val="F3F3F1"/>
          </a:solidFill>
          <a:ln w="6350">
            <a:solidFill>
              <a:srgbClr val="8996A0"/>
            </a:solidFill>
            <a:prstDash val="solid"/>
          </a:ln>
        </p:spPr>
      </p:sp>
      <p:sp>
        <p:nvSpPr>
          <p:cNvPr id="5" name="Text 3"/>
          <p:cNvSpPr/>
          <p:nvPr/>
        </p:nvSpPr>
        <p:spPr>
          <a:xfrm>
            <a:off x="6720840" y="1371600"/>
            <a:ext cx="4937760" cy="4846320"/>
          </a:xfrm>
          <a:prstGeom prst="rect">
            <a:avLst/>
          </a:prstGeom>
          <a:noFill/>
          <a:ln/>
        </p:spPr>
        <p:txBody>
          <a:bodyPr wrap="square" lIns="0" tIns="0" rIns="0" bIns="0" rtlCol="0" anchor="t"/>
          <a:lstStyle/>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req &lt;- request(OPENROUTER_URL)</a:t>
            </a: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req &lt;- req_headers(req,</a:t>
            </a: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  "Authorization" = paste("Bearer", key),</a:t>
            </a: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  "Content-Type" = "application/json"</a:t>
            </a: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a:t>
            </a: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req &lt;- req_body_raw(req,</a:t>
            </a: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  toJSON(request_body, auto_unbox = TRUE),</a:t>
            </a: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  type = "application/json")</a:t>
            </a: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req &lt;- req_timeout(req, 120)</a:t>
            </a: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req &lt;- req_retry(req,</a:t>
            </a: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  max_tries = 3,</a:t>
            </a: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  backoff = ~ 2 ^ .x)</a:t>
            </a:r>
            <a:endParaRPr lang="en-US" sz="1200" dirty="0">
              <a:latin typeface="Consolas" panose="020B0609020204030204" pitchFamily="49" charset="0"/>
              <a:cs typeface="Consolas" panose="020B0609020204030204" pitchFamily="49" charset="0"/>
            </a:endParaRPr>
          </a:p>
          <a:p>
            <a:pPr marL="0" indent="0">
              <a:buNone/>
            </a:pP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resp &lt;- req_perform(req)</a:t>
            </a:r>
            <a:endParaRPr lang="en-US" sz="1200" dirty="0">
              <a:latin typeface="Consolas" panose="020B0609020204030204" pitchFamily="49" charset="0"/>
              <a:cs typeface="Consolas" panose="020B0609020204030204" pitchFamily="49" charset="0"/>
            </a:endParaRPr>
          </a:p>
        </p:txBody>
      </p:sp>
      <p:sp>
        <p:nvSpPr>
          <p:cNvPr id="6"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7" name="Harvard Page Number"/>
          <p:cNvSpPr txBox="1"/>
          <p:nvPr/>
        </p:nvSpPr>
        <p:spPr>
          <a:xfrm>
            <a:off x="11801189" y="6446043"/>
            <a:ext cx="253492" cy="274638"/>
          </a:xfrm>
          <a:prstGeom prst="rect">
            <a:avLst/>
          </a:prstGeom>
          <a:noFill/>
        </p:spPr>
        <p:txBody>
          <a:bodyPr wrap="none" lIns="0" tIns="0" rIns="0" bIns="0">
            <a:noAutofit/>
          </a:bodyPr>
          <a:lstStyle/>
          <a:p>
            <a:pPr algn="r"/>
            <a:fld id="{C90672BF-1409-4956-8CA2-ABDDE4978895}" type="slidenum">
              <a:rPr lang="en-US" sz="1000">
                <a:solidFill>
                  <a:srgbClr val="8996A0"/>
                </a:solidFill>
                <a:latin typeface="Arial"/>
              </a:rPr>
              <a:t>8</a:t>
            </a:fld>
            <a:endParaRPr lang="en-US" sz="1000">
              <a:solidFill>
                <a:srgbClr val="8996A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Density: Weighting for Passage Length</a:t>
            </a:r>
            <a:endParaRPr lang="en-US" sz="3200" dirty="0"/>
          </a:p>
        </p:txBody>
      </p:sp>
      <p:sp>
        <p:nvSpPr>
          <p:cNvPr id="3" name="Text 1"/>
          <p:cNvSpPr/>
          <p:nvPr/>
        </p:nvSpPr>
        <p:spPr>
          <a:xfrm>
            <a:off x="457200" y="1280160"/>
            <a:ext cx="11247120" cy="365760"/>
          </a:xfrm>
          <a:prstGeom prst="rect">
            <a:avLst/>
          </a:prstGeom>
          <a:noFill/>
          <a:ln/>
        </p:spPr>
        <p:txBody>
          <a:bodyPr wrap="square" lIns="0" tIns="0" rIns="0" bIns="0" rtlCol="0" anchor="ctr"/>
          <a:lstStyle/>
          <a:p>
            <a:pPr marL="0" indent="0">
              <a:buNone/>
            </a:pPr>
            <a:r>
              <a:rPr lang="en-US" sz="1600" b="1" dirty="0">
                <a:solidFill>
                  <a:srgbClr val="8996A0"/>
                </a:solidFill>
                <a:latin typeface="Arial" pitchFamily="34" charset="0"/>
                <a:ea typeface="Arial" pitchFamily="34" charset="-122"/>
                <a:cs typeface="Arial" pitchFamily="34" charset="-120"/>
              </a:rPr>
              <a:t>The problem</a:t>
            </a:r>
            <a:endParaRPr lang="en-US" sz="1600" dirty="0"/>
          </a:p>
        </p:txBody>
      </p:sp>
      <p:sp>
        <p:nvSpPr>
          <p:cNvPr id="4" name="Text 2"/>
          <p:cNvSpPr/>
          <p:nvPr/>
        </p:nvSpPr>
        <p:spPr>
          <a:xfrm>
            <a:off x="457200" y="1645920"/>
            <a:ext cx="11247120" cy="731520"/>
          </a:xfrm>
          <a:prstGeom prst="rect">
            <a:avLst/>
          </a:prstGeom>
          <a:noFill/>
          <a:ln/>
        </p:spPr>
        <p:txBody>
          <a:bodyPr wrap="square" lIns="0" tIns="0" rIns="0" bIns="0" rtlCol="0" anchor="t"/>
          <a:lstStyle/>
          <a:p>
            <a:pPr marL="0" indent="0">
              <a:buNone/>
            </a:pPr>
            <a:r>
              <a:rPr lang="en-US" sz="1400" dirty="0">
                <a:solidFill>
                  <a:srgbClr val="1E1E1E"/>
                </a:solidFill>
                <a:latin typeface="Arial" pitchFamily="34" charset="0"/>
                <a:ea typeface="Arial" pitchFamily="34" charset="-122"/>
                <a:cs typeface="Arial" pitchFamily="34" charset="-120"/>
              </a:rPr>
              <a:t>A CEO who speaks for a long time may use 10 positive phrases and 3 negative in 100 words. Another CEO uses the same counts in 1000 words. The first is more positive than the second, higher density of positive terms. Raw counts hide this.</a:t>
            </a:r>
            <a:endParaRPr lang="en-US" sz="1400" dirty="0"/>
          </a:p>
        </p:txBody>
      </p:sp>
      <p:sp>
        <p:nvSpPr>
          <p:cNvPr id="5" name="Shape 3"/>
          <p:cNvSpPr/>
          <p:nvPr/>
        </p:nvSpPr>
        <p:spPr>
          <a:xfrm>
            <a:off x="457200" y="2743200"/>
            <a:ext cx="11247120" cy="1463040"/>
          </a:xfrm>
          <a:prstGeom prst="rect">
            <a:avLst/>
          </a:prstGeom>
          <a:solidFill>
            <a:srgbClr val="F3F3F1"/>
          </a:solidFill>
          <a:ln w="19050">
            <a:solidFill>
              <a:srgbClr val="A51C30"/>
            </a:solidFill>
            <a:prstDash val="solid"/>
          </a:ln>
        </p:spPr>
      </p:sp>
      <p:sp>
        <p:nvSpPr>
          <p:cNvPr id="6" name="Text 4"/>
          <p:cNvSpPr/>
          <p:nvPr/>
        </p:nvSpPr>
        <p:spPr>
          <a:xfrm>
            <a:off x="457200" y="2880360"/>
            <a:ext cx="11247120" cy="457200"/>
          </a:xfrm>
          <a:prstGeom prst="rect">
            <a:avLst/>
          </a:prstGeom>
          <a:noFill/>
          <a:ln/>
        </p:spPr>
        <p:txBody>
          <a:bodyPr wrap="square" lIns="0" tIns="0" rIns="0" bIns="0" rtlCol="0" anchor="ctr"/>
          <a:lstStyle/>
          <a:p>
            <a:pPr marL="0" indent="0" algn="ctr">
              <a:buNone/>
            </a:pPr>
            <a:r>
              <a:rPr lang="en-US" sz="2000" b="1" dirty="0">
                <a:solidFill>
                  <a:srgbClr val="293352"/>
                </a:solidFill>
                <a:latin typeface="Arial" pitchFamily="34" charset="0"/>
                <a:ea typeface="Courier New" pitchFamily="34" charset="-122"/>
                <a:cs typeface="Courier New" pitchFamily="34" charset="-120"/>
              </a:rPr>
              <a:t>sentiment_density  =  (positive_count − negative_count)  /  total_words</a:t>
            </a:r>
            <a:endParaRPr lang="en-US" sz="2000" dirty="0"/>
          </a:p>
        </p:txBody>
      </p:sp>
      <p:sp>
        <p:nvSpPr>
          <p:cNvPr id="7" name="Text 5"/>
          <p:cNvSpPr/>
          <p:nvPr/>
        </p:nvSpPr>
        <p:spPr>
          <a:xfrm>
            <a:off x="457200" y="3383280"/>
            <a:ext cx="11247120" cy="365760"/>
          </a:xfrm>
          <a:prstGeom prst="rect">
            <a:avLst/>
          </a:prstGeom>
          <a:noFill/>
          <a:ln/>
        </p:spPr>
        <p:txBody>
          <a:bodyPr wrap="square" lIns="0" tIns="0" rIns="0" bIns="0" rtlCol="0" anchor="ctr"/>
          <a:lstStyle/>
          <a:p>
            <a:pPr marL="0" indent="0" algn="ctr">
              <a:buNone/>
            </a:pPr>
            <a:r>
              <a:rPr lang="en-US" sz="1400" b="1" dirty="0">
                <a:solidFill>
                  <a:srgbClr val="1E1E1E"/>
                </a:solidFill>
                <a:latin typeface="Arial" pitchFamily="34" charset="0"/>
                <a:ea typeface="Arial" pitchFamily="34" charset="-122"/>
                <a:cs typeface="Arial" pitchFamily="34" charset="-120"/>
              </a:rPr>
              <a:t>CEO 1:  </a:t>
            </a:r>
            <a:r>
              <a:rPr lang="en-US" sz="1400" dirty="0">
                <a:solidFill>
                  <a:srgbClr val="1E1E1E"/>
                </a:solidFill>
                <a:latin typeface="Arial" pitchFamily="34" charset="0"/>
                <a:ea typeface="Arial" pitchFamily="34" charset="-122"/>
                <a:cs typeface="Arial" pitchFamily="34" charset="-120"/>
              </a:rPr>
              <a:t>(10 − 3) / 100 = </a:t>
            </a:r>
            <a:r>
              <a:rPr lang="en-US" sz="1400" b="1" dirty="0">
                <a:solidFill>
                  <a:srgbClr val="A51C30"/>
                </a:solidFill>
                <a:latin typeface="Arial" pitchFamily="34" charset="0"/>
                <a:ea typeface="Arial" pitchFamily="34" charset="-122"/>
                <a:cs typeface="Arial" pitchFamily="34" charset="-120"/>
              </a:rPr>
              <a:t>+0.070   (strongly positive)</a:t>
            </a:r>
            <a:endParaRPr lang="en-US" sz="1400" dirty="0"/>
          </a:p>
        </p:txBody>
      </p:sp>
      <p:sp>
        <p:nvSpPr>
          <p:cNvPr id="8" name="Text 6"/>
          <p:cNvSpPr/>
          <p:nvPr/>
        </p:nvSpPr>
        <p:spPr>
          <a:xfrm>
            <a:off x="457200" y="3749040"/>
            <a:ext cx="11247120" cy="365760"/>
          </a:xfrm>
          <a:prstGeom prst="rect">
            <a:avLst/>
          </a:prstGeom>
          <a:noFill/>
          <a:ln/>
        </p:spPr>
        <p:txBody>
          <a:bodyPr wrap="square" lIns="0" tIns="0" rIns="0" bIns="0" rtlCol="0" anchor="ctr"/>
          <a:lstStyle/>
          <a:p>
            <a:pPr marL="0" indent="0" algn="ctr">
              <a:buNone/>
            </a:pPr>
            <a:r>
              <a:rPr lang="en-US" sz="1400" b="1" dirty="0">
                <a:solidFill>
                  <a:srgbClr val="1E1E1E"/>
                </a:solidFill>
                <a:latin typeface="Arial" pitchFamily="34" charset="0"/>
                <a:ea typeface="Arial" pitchFamily="34" charset="-122"/>
                <a:cs typeface="Arial" pitchFamily="34" charset="-120"/>
              </a:rPr>
              <a:t>CEO 2:  </a:t>
            </a:r>
            <a:r>
              <a:rPr lang="en-US" sz="1400" dirty="0">
                <a:solidFill>
                  <a:srgbClr val="1E1E1E"/>
                </a:solidFill>
                <a:latin typeface="Arial" pitchFamily="34" charset="0"/>
                <a:ea typeface="Arial" pitchFamily="34" charset="-122"/>
                <a:cs typeface="Arial" pitchFamily="34" charset="-120"/>
              </a:rPr>
              <a:t>(10 − 3) / 1000 = </a:t>
            </a:r>
            <a:r>
              <a:rPr lang="en-US" sz="1400" b="1" dirty="0">
                <a:solidFill>
                  <a:srgbClr val="293352"/>
                </a:solidFill>
                <a:latin typeface="Arial" pitchFamily="34" charset="0"/>
                <a:ea typeface="Arial" pitchFamily="34" charset="-122"/>
                <a:cs typeface="Arial" pitchFamily="34" charset="-120"/>
              </a:rPr>
              <a:t>+0.007   (barely leaning)</a:t>
            </a:r>
            <a:endParaRPr lang="en-US" sz="1400" dirty="0"/>
          </a:p>
        </p:txBody>
      </p:sp>
      <p:sp>
        <p:nvSpPr>
          <p:cNvPr id="10"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1" name="Harvard Page Number"/>
          <p:cNvSpPr txBox="1"/>
          <p:nvPr/>
        </p:nvSpPr>
        <p:spPr>
          <a:xfrm>
            <a:off x="11801189" y="6446043"/>
            <a:ext cx="253492" cy="274638"/>
          </a:xfrm>
          <a:prstGeom prst="rect">
            <a:avLst/>
          </a:prstGeom>
          <a:noFill/>
        </p:spPr>
        <p:txBody>
          <a:bodyPr wrap="none" lIns="0" tIns="0" rIns="0" bIns="0">
            <a:noAutofit/>
          </a:bodyPr>
          <a:lstStyle/>
          <a:p>
            <a:pPr algn="r"/>
            <a:fld id="{E65BF22F-6B97-4497-B4D1-5F8ACC427C44}" type="slidenum">
              <a:rPr lang="en-US" sz="1000">
                <a:solidFill>
                  <a:srgbClr val="8996A0"/>
                </a:solidFill>
                <a:latin typeface="Arial"/>
              </a:rPr>
              <a:t>9</a:t>
            </a:fld>
            <a:endParaRPr lang="en-US" sz="1000">
              <a:solidFill>
                <a:srgbClr val="8996A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Three Labels: Positive, Neutral, Negative</a:t>
            </a:r>
            <a:endParaRPr lang="en-US" sz="3200" dirty="0"/>
          </a:p>
        </p:txBody>
      </p:sp>
      <p:sp>
        <p:nvSpPr>
          <p:cNvPr id="3" name="Shape 1"/>
          <p:cNvSpPr/>
          <p:nvPr/>
        </p:nvSpPr>
        <p:spPr>
          <a:xfrm>
            <a:off x="457200" y="1280160"/>
            <a:ext cx="11247120" cy="1371600"/>
          </a:xfrm>
          <a:prstGeom prst="rect">
            <a:avLst/>
          </a:prstGeom>
          <a:solidFill>
            <a:srgbClr val="F3F3F1"/>
          </a:solidFill>
          <a:ln w="6350">
            <a:solidFill>
              <a:srgbClr val="8996A0"/>
            </a:solidFill>
            <a:prstDash val="solid"/>
          </a:ln>
        </p:spPr>
      </p:sp>
      <p:sp>
        <p:nvSpPr>
          <p:cNvPr id="4" name="Text 2"/>
          <p:cNvSpPr/>
          <p:nvPr/>
        </p:nvSpPr>
        <p:spPr>
          <a:xfrm>
            <a:off x="640080" y="1371600"/>
            <a:ext cx="10972800" cy="1188720"/>
          </a:xfrm>
          <a:prstGeom prst="rect">
            <a:avLst/>
          </a:prstGeom>
          <a:noFill/>
          <a:ln/>
        </p:spPr>
        <p:txBody>
          <a:bodyPr wrap="square" lIns="0" tIns="0" rIns="0" bIns="0" rtlCol="0" anchor="ctr"/>
          <a:lstStyle/>
          <a:p>
            <a:pPr marL="0" indent="0">
              <a:buNone/>
            </a:pPr>
            <a:r>
              <a:rPr lang="en-US" sz="1600" b="1" dirty="0">
                <a:solidFill>
                  <a:srgbClr val="A51C30"/>
                </a:solidFill>
                <a:latin typeface="Arial" pitchFamily="34" charset="0"/>
                <a:ea typeface="Courier New" pitchFamily="34" charset="-122"/>
                <a:cs typeface="Courier New" pitchFamily="34" charset="-120"/>
              </a:rPr>
              <a:t>if (density &gt; NEUTRAL_BAND)   →   "positive"
</a:t>
            </a:r>
            <a:r>
              <a:rPr lang="en-US" sz="1600" b="1" dirty="0">
                <a:solidFill>
                  <a:srgbClr val="293352"/>
                </a:solidFill>
                <a:latin typeface="Arial" pitchFamily="34" charset="0"/>
                <a:ea typeface="Courier New" pitchFamily="34" charset="-122"/>
                <a:cs typeface="Courier New" pitchFamily="34" charset="-120"/>
              </a:rPr>
              <a:t>if (density &lt; −NEUTRAL_BAND)  →   "negative"
</a:t>
            </a:r>
            <a:r>
              <a:rPr lang="en-US" sz="1600" b="1" dirty="0">
                <a:solidFill>
                  <a:srgbClr val="8996A0"/>
                </a:solidFill>
                <a:latin typeface="Arial" pitchFamily="34" charset="0"/>
                <a:ea typeface="Courier New" pitchFamily="34" charset="-122"/>
                <a:cs typeface="Courier New" pitchFamily="34" charset="-120"/>
              </a:rPr>
              <a:t>else                          →   "neutral"</a:t>
            </a:r>
            <a:endParaRPr lang="en-US" sz="1600" dirty="0"/>
          </a:p>
        </p:txBody>
      </p:sp>
      <p:sp>
        <p:nvSpPr>
          <p:cNvPr id="5" name="Text 3"/>
          <p:cNvSpPr/>
          <p:nvPr/>
        </p:nvSpPr>
        <p:spPr>
          <a:xfrm>
            <a:off x="457200" y="2926080"/>
            <a:ext cx="11247120" cy="365760"/>
          </a:xfrm>
          <a:prstGeom prst="rect">
            <a:avLst/>
          </a:prstGeom>
          <a:noFill/>
          <a:ln/>
        </p:spPr>
        <p:txBody>
          <a:bodyPr wrap="square" lIns="0" tIns="0" rIns="0" bIns="0" rtlCol="0" anchor="ctr"/>
          <a:lstStyle/>
          <a:p>
            <a:pPr marL="0" indent="0">
              <a:buNone/>
            </a:pPr>
            <a:r>
              <a:rPr lang="en-US" sz="1600" b="1" dirty="0">
                <a:solidFill>
                  <a:srgbClr val="A51C30"/>
                </a:solidFill>
                <a:latin typeface="Arial" pitchFamily="34" charset="0"/>
                <a:ea typeface="Arial" pitchFamily="34" charset="-122"/>
                <a:cs typeface="Arial" pitchFamily="34" charset="-120"/>
              </a:rPr>
              <a:t>Why a neutral bucket?</a:t>
            </a:r>
            <a:endParaRPr lang="en-US" sz="1600" dirty="0"/>
          </a:p>
        </p:txBody>
      </p:sp>
      <p:sp>
        <p:nvSpPr>
          <p:cNvPr id="6" name="Text 4"/>
          <p:cNvSpPr/>
          <p:nvPr/>
        </p:nvSpPr>
        <p:spPr>
          <a:xfrm>
            <a:off x="457200" y="3383280"/>
            <a:ext cx="11247120" cy="2377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E1E1E"/>
                </a:solidFill>
                <a:latin typeface="Arial" pitchFamily="34" charset="0"/>
                <a:ea typeface="Arial" pitchFamily="34" charset="-122"/>
                <a:cs typeface="Arial" pitchFamily="34" charset="-120"/>
              </a:rPr>
              <a:t>Some passages truly say nothing. "Thanks. Next question." is not positive OR negative.</a:t>
            </a:r>
            <a:endParaRPr lang="en-US" sz="1400" dirty="0"/>
          </a:p>
          <a:p>
            <a:pPr marL="342900" indent="-342900">
              <a:spcAft>
                <a:spcPts val="400"/>
              </a:spcAft>
              <a:buSzPct val="100000"/>
              <a:buChar char="•"/>
            </a:pPr>
            <a:r>
              <a:rPr lang="en-US" sz="1400" dirty="0">
                <a:solidFill>
                  <a:srgbClr val="1E1E1E"/>
                </a:solidFill>
                <a:latin typeface="Arial" pitchFamily="34" charset="0"/>
                <a:ea typeface="Arial" pitchFamily="34" charset="-122"/>
                <a:cs typeface="Arial" pitchFamily="34" charset="-120"/>
              </a:rPr>
              <a:t>Forcing a binary label on these introduces false signal. Neutral is the honest answer.</a:t>
            </a:r>
            <a:endParaRPr lang="en-US" sz="1400" dirty="0"/>
          </a:p>
          <a:p>
            <a:pPr marL="342900" indent="-342900">
              <a:spcAft>
                <a:spcPts val="400"/>
              </a:spcAft>
              <a:buSzPct val="100000"/>
              <a:buChar char="•"/>
            </a:pPr>
            <a:r>
              <a:rPr lang="en-US" sz="1400" dirty="0">
                <a:solidFill>
                  <a:srgbClr val="1E1E1E"/>
                </a:solidFill>
                <a:latin typeface="Arial" pitchFamily="34" charset="0"/>
                <a:ea typeface="Arial" pitchFamily="34" charset="-122"/>
                <a:cs typeface="Arial" pitchFamily="34" charset="-120"/>
              </a:rPr>
              <a:t>NEUTRAL_BAND is a configurable choice. Widen it and more rows go neutral.</a:t>
            </a:r>
            <a:endParaRPr lang="en-US" sz="1400" dirty="0"/>
          </a:p>
          <a:p>
            <a:pPr marL="342900" indent="-342900">
              <a:spcAft>
                <a:spcPts val="400"/>
              </a:spcAft>
              <a:buSzPct val="100000"/>
              <a:buChar char="•"/>
            </a:pPr>
            <a:r>
              <a:rPr lang="en-US" sz="1400" dirty="0">
                <a:solidFill>
                  <a:srgbClr val="1E1E1E"/>
                </a:solidFill>
                <a:latin typeface="Arial" pitchFamily="34" charset="0"/>
                <a:ea typeface="Arial" pitchFamily="34" charset="-122"/>
                <a:cs typeface="Arial" pitchFamily="34" charset="-120"/>
              </a:rPr>
              <a:t>Default: 0.005. Half a percentage point either way is not a real lean.</a:t>
            </a:r>
            <a:endParaRPr lang="en-US" sz="1400" dirty="0"/>
          </a:p>
        </p:txBody>
      </p:sp>
      <p:sp>
        <p:nvSpPr>
          <p:cNvPr id="7" name="Text 5"/>
          <p:cNvSpPr/>
          <p:nvPr/>
        </p:nvSpPr>
        <p:spPr>
          <a:xfrm>
            <a:off x="457200" y="5852160"/>
            <a:ext cx="11247120" cy="457200"/>
          </a:xfrm>
          <a:prstGeom prst="rect">
            <a:avLst/>
          </a:prstGeom>
          <a:noFill/>
          <a:ln/>
        </p:spPr>
        <p:txBody>
          <a:bodyPr wrap="square" lIns="0" tIns="0" rIns="0" bIns="0" rtlCol="0" anchor="ctr"/>
          <a:lstStyle/>
          <a:p>
            <a:pPr marL="0" indent="0" algn="ctr">
              <a:buNone/>
            </a:pPr>
            <a:r>
              <a:rPr lang="en-US" sz="1300" i="1" dirty="0">
                <a:solidFill>
                  <a:srgbClr val="8996A0"/>
                </a:solidFill>
                <a:latin typeface="Arial" pitchFamily="34" charset="0"/>
                <a:ea typeface="Arial" pitchFamily="34" charset="-122"/>
                <a:cs typeface="Arial" pitchFamily="34" charset="-120"/>
              </a:rPr>
              <a:t>A defensible threshold you set on purpose beats a hidden threshold buried in a model.</a:t>
            </a:r>
            <a:endParaRPr lang="en-US" sz="1300" dirty="0"/>
          </a:p>
        </p:txBody>
      </p:sp>
      <p:sp>
        <p:nvSpPr>
          <p:cNvPr id="8"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9" name="Harvard Page Number"/>
          <p:cNvSpPr txBox="1"/>
          <p:nvPr/>
        </p:nvSpPr>
        <p:spPr>
          <a:xfrm>
            <a:off x="11730577" y="6446043"/>
            <a:ext cx="324104" cy="274638"/>
          </a:xfrm>
          <a:prstGeom prst="rect">
            <a:avLst/>
          </a:prstGeom>
          <a:noFill/>
        </p:spPr>
        <p:txBody>
          <a:bodyPr wrap="none" lIns="0" tIns="0" rIns="0" bIns="0">
            <a:noAutofit/>
          </a:bodyPr>
          <a:lstStyle/>
          <a:p>
            <a:pPr algn="r"/>
            <a:fld id="{B627B5B6-98D6-4057-909A-6113C2598788}" type="slidenum">
              <a:rPr lang="en-US" sz="1000">
                <a:solidFill>
                  <a:srgbClr val="8996A0"/>
                </a:solidFill>
                <a:latin typeface="Arial"/>
              </a:rPr>
              <a:t>10</a:t>
            </a:fld>
            <a:endParaRPr lang="en-US" sz="1000">
              <a:solidFill>
                <a:srgbClr val="8996A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Aggregating: Sum Counts, Re-Derive the Label</a:t>
            </a:r>
            <a:endParaRPr lang="en-US" sz="3200" dirty="0"/>
          </a:p>
        </p:txBody>
      </p:sp>
      <p:sp>
        <p:nvSpPr>
          <p:cNvPr id="3" name="Shape 1"/>
          <p:cNvSpPr/>
          <p:nvPr/>
        </p:nvSpPr>
        <p:spPr>
          <a:xfrm>
            <a:off x="457200" y="1280160"/>
            <a:ext cx="11247120" cy="1371600"/>
          </a:xfrm>
          <a:prstGeom prst="rect">
            <a:avLst/>
          </a:prstGeom>
          <a:solidFill>
            <a:srgbClr val="F3F3F1"/>
          </a:solidFill>
          <a:ln w="6350">
            <a:solidFill>
              <a:srgbClr val="8996A0"/>
            </a:solidFill>
            <a:prstDash val="solid"/>
          </a:ln>
        </p:spPr>
      </p:sp>
      <p:sp>
        <p:nvSpPr>
          <p:cNvPr id="4" name="Text 2"/>
          <p:cNvSpPr/>
          <p:nvPr/>
        </p:nvSpPr>
        <p:spPr>
          <a:xfrm>
            <a:off x="594360" y="1371600"/>
            <a:ext cx="1097280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Level 1  ·  By speaker</a:t>
            </a:r>
            <a:endParaRPr lang="en-US" sz="1400" dirty="0"/>
          </a:p>
        </p:txBody>
      </p:sp>
      <p:sp>
        <p:nvSpPr>
          <p:cNvPr id="5" name="Text 3"/>
          <p:cNvSpPr/>
          <p:nvPr/>
        </p:nvSpPr>
        <p:spPr>
          <a:xfrm>
            <a:off x="594360" y="1783080"/>
            <a:ext cx="10972800" cy="77724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Sum positive_count, negative_count, and msg_words across every turn from that speaker.</a:t>
            </a: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Density and label re-derived from the sums. A speaker who talked twice as long carries twice the weight in their own row.</a:t>
            </a:r>
            <a:endParaRPr lang="en-US" sz="1100" dirty="0"/>
          </a:p>
        </p:txBody>
      </p:sp>
      <p:sp>
        <p:nvSpPr>
          <p:cNvPr id="6" name="Shape 4"/>
          <p:cNvSpPr/>
          <p:nvPr/>
        </p:nvSpPr>
        <p:spPr>
          <a:xfrm>
            <a:off x="457200" y="2834640"/>
            <a:ext cx="11247120" cy="1371600"/>
          </a:xfrm>
          <a:prstGeom prst="rect">
            <a:avLst/>
          </a:prstGeom>
          <a:solidFill>
            <a:srgbClr val="F3F3F1"/>
          </a:solidFill>
          <a:ln w="6350">
            <a:solidFill>
              <a:srgbClr val="8996A0"/>
            </a:solidFill>
            <a:prstDash val="solid"/>
          </a:ln>
        </p:spPr>
      </p:sp>
      <p:sp>
        <p:nvSpPr>
          <p:cNvPr id="7" name="Text 5"/>
          <p:cNvSpPr/>
          <p:nvPr/>
        </p:nvSpPr>
        <p:spPr>
          <a:xfrm>
            <a:off x="594360" y="2926080"/>
            <a:ext cx="1097280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Level 2  ·  By role group (Management or Analyst)</a:t>
            </a:r>
            <a:endParaRPr lang="en-US" sz="1400" dirty="0"/>
          </a:p>
        </p:txBody>
      </p:sp>
      <p:sp>
        <p:nvSpPr>
          <p:cNvPr id="8" name="Text 6"/>
          <p:cNvSpPr/>
          <p:nvPr/>
        </p:nvSpPr>
        <p:spPr>
          <a:xfrm>
            <a:off x="594360" y="3337560"/>
            <a:ext cx="10972800" cy="77724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Same sum-and-re-derive rule, one level higher.</a:t>
            </a: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The interesting cell: how negative the analysts sound compared to management.</a:t>
            </a:r>
            <a:endParaRPr lang="en-US" sz="1100" dirty="0"/>
          </a:p>
        </p:txBody>
      </p:sp>
      <p:sp>
        <p:nvSpPr>
          <p:cNvPr id="9" name="Shape 7"/>
          <p:cNvSpPr/>
          <p:nvPr/>
        </p:nvSpPr>
        <p:spPr>
          <a:xfrm>
            <a:off x="457200" y="4389120"/>
            <a:ext cx="11247120" cy="1371600"/>
          </a:xfrm>
          <a:prstGeom prst="rect">
            <a:avLst/>
          </a:prstGeom>
          <a:solidFill>
            <a:srgbClr val="F3F3F1"/>
          </a:solidFill>
          <a:ln w="6350">
            <a:solidFill>
              <a:srgbClr val="8996A0"/>
            </a:solidFill>
            <a:prstDash val="solid"/>
          </a:ln>
        </p:spPr>
      </p:sp>
      <p:sp>
        <p:nvSpPr>
          <p:cNvPr id="10" name="Text 8"/>
          <p:cNvSpPr/>
          <p:nvPr/>
        </p:nvSpPr>
        <p:spPr>
          <a:xfrm>
            <a:off x="594360" y="4480560"/>
            <a:ext cx="1097280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Level 3  ·  Overall (whole call)</a:t>
            </a:r>
            <a:endParaRPr lang="en-US" sz="1400" dirty="0"/>
          </a:p>
        </p:txBody>
      </p:sp>
      <p:sp>
        <p:nvSpPr>
          <p:cNvPr id="11" name="Text 9"/>
          <p:cNvSpPr/>
          <p:nvPr/>
        </p:nvSpPr>
        <p:spPr>
          <a:xfrm>
            <a:off x="594360" y="4892040"/>
            <a:ext cx="10972800" cy="77724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One label for the entire earnings call. Density preserved across every aggregation step.</a:t>
            </a: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Averaging labels would drop the density weighting. Summing counts keeps it.</a:t>
            </a:r>
            <a:endParaRPr lang="en-US" sz="1100" dirty="0"/>
          </a:p>
        </p:txBody>
      </p:sp>
      <p:sp>
        <p:nvSpPr>
          <p:cNvPr id="12" name="Text 10"/>
          <p:cNvSpPr/>
          <p:nvPr/>
        </p:nvSpPr>
        <p:spPr>
          <a:xfrm>
            <a:off x="457200" y="6035040"/>
            <a:ext cx="11247120" cy="365760"/>
          </a:xfrm>
          <a:prstGeom prst="rect">
            <a:avLst/>
          </a:prstGeom>
          <a:noFill/>
          <a:ln/>
        </p:spPr>
        <p:txBody>
          <a:bodyPr wrap="square" lIns="0" tIns="0" rIns="0" bIns="0" rtlCol="0" anchor="ctr"/>
          <a:lstStyle/>
          <a:p>
            <a:pPr marL="0" indent="0" algn="ctr">
              <a:buNone/>
            </a:pPr>
            <a:r>
              <a:rPr lang="en-US" sz="1200" i="1" dirty="0">
                <a:solidFill>
                  <a:srgbClr val="8996A0"/>
                </a:solidFill>
                <a:latin typeface="Arial" pitchFamily="34" charset="0"/>
                <a:ea typeface="Arial" pitchFamily="34" charset="-122"/>
                <a:cs typeface="Arial" pitchFamily="34" charset="-120"/>
              </a:rPr>
              <a:t>Extremes surface for free: most-positive and most-negative speakers among management, and among analysts.</a:t>
            </a:r>
            <a:endParaRPr lang="en-US" sz="1200" dirty="0"/>
          </a:p>
        </p:txBody>
      </p:sp>
      <p:sp>
        <p:nvSpPr>
          <p:cNvPr id="13"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4" name="Harvard Page Number"/>
          <p:cNvSpPr txBox="1"/>
          <p:nvPr/>
        </p:nvSpPr>
        <p:spPr>
          <a:xfrm>
            <a:off x="11730577" y="6446043"/>
            <a:ext cx="324104" cy="274638"/>
          </a:xfrm>
          <a:prstGeom prst="rect">
            <a:avLst/>
          </a:prstGeom>
          <a:noFill/>
        </p:spPr>
        <p:txBody>
          <a:bodyPr wrap="none" lIns="0" tIns="0" rIns="0" bIns="0">
            <a:noAutofit/>
          </a:bodyPr>
          <a:lstStyle/>
          <a:p>
            <a:pPr algn="r"/>
            <a:fld id="{659C06DF-D1F1-4AD3-BFD4-EAACEF5A4532}" type="slidenum">
              <a:rPr lang="en-US" sz="1000">
                <a:solidFill>
                  <a:srgbClr val="8996A0"/>
                </a:solidFill>
                <a:latin typeface="Arial"/>
              </a:rPr>
              <a:t>11</a:t>
            </a:fld>
            <a:endParaRPr lang="en-US" sz="1000">
              <a:solidFill>
                <a:srgbClr val="8996A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51C30"/>
        </a:solidFill>
        <a:effectLst/>
      </p:bgPr>
    </p:bg>
    <p:spTree>
      <p:nvGrpSpPr>
        <p:cNvPr id="1" name=""/>
        <p:cNvGrpSpPr/>
        <p:nvPr/>
      </p:nvGrpSpPr>
      <p:grpSpPr>
        <a:xfrm>
          <a:off x="0" y="0"/>
          <a:ext cx="0" cy="0"/>
          <a:chOff x="0" y="0"/>
          <a:chExt cx="0" cy="0"/>
        </a:xfrm>
      </p:grpSpPr>
      <p:sp>
        <p:nvSpPr>
          <p:cNvPr id="2" name="Text 0"/>
          <p:cNvSpPr/>
          <p:nvPr/>
        </p:nvSpPr>
        <p:spPr>
          <a:xfrm>
            <a:off x="457200" y="2743200"/>
            <a:ext cx="11247120" cy="1371600"/>
          </a:xfrm>
          <a:prstGeom prst="rect">
            <a:avLst/>
          </a:prstGeom>
          <a:noFill/>
          <a:ln/>
        </p:spPr>
        <p:txBody>
          <a:bodyPr wrap="square" rtlCol="0" anchor="ctr"/>
          <a:lstStyle/>
          <a:p>
            <a:pPr marL="0" indent="0" algn="ctr">
              <a:buNone/>
            </a:pPr>
            <a:r>
              <a:rPr lang="en-US" sz="4800" b="1" dirty="0">
                <a:solidFill>
                  <a:srgbClr val="FFFFFF"/>
                </a:solidFill>
                <a:latin typeface="Arial" pitchFamily="34" charset="0"/>
                <a:ea typeface="Arial" pitchFamily="34" charset="-122"/>
                <a:cs typeface="Arial" pitchFamily="34" charset="-120"/>
              </a:rPr>
              <a:t>FIN_F: Extraction</a:t>
            </a:r>
            <a:endParaRPr lang="en-US" sz="4800" dirty="0"/>
          </a:p>
        </p:txBody>
      </p:sp>
      <p:sp>
        <p:nvSpPr>
          <p:cNvPr id="3"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F3F3F1"/>
                </a:solidFill>
                <a:latin typeface="Arial"/>
              </a:rPr>
              <a:t>© 2026 Ted Kwartler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Five Categories, One Structured Response</a:t>
            </a:r>
            <a:endParaRPr lang="en-US" sz="3200" dirty="0"/>
          </a:p>
        </p:txBody>
      </p:sp>
      <p:sp>
        <p:nvSpPr>
          <p:cNvPr id="3" name="Shape 1"/>
          <p:cNvSpPr/>
          <p:nvPr/>
        </p:nvSpPr>
        <p:spPr>
          <a:xfrm>
            <a:off x="457200" y="1280160"/>
            <a:ext cx="3703320" cy="2286000"/>
          </a:xfrm>
          <a:prstGeom prst="rect">
            <a:avLst/>
          </a:prstGeom>
          <a:solidFill>
            <a:srgbClr val="F3F3F1"/>
          </a:solidFill>
          <a:ln w="6350">
            <a:solidFill>
              <a:srgbClr val="8996A0"/>
            </a:solidFill>
            <a:prstDash val="solid"/>
          </a:ln>
        </p:spPr>
      </p:sp>
      <p:sp>
        <p:nvSpPr>
          <p:cNvPr id="4" name="Text 2"/>
          <p:cNvSpPr/>
          <p:nvPr/>
        </p:nvSpPr>
        <p:spPr>
          <a:xfrm>
            <a:off x="594360" y="1371600"/>
            <a:ext cx="342900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companies</a:t>
            </a:r>
            <a:endParaRPr lang="en-US" sz="1400" dirty="0"/>
          </a:p>
        </p:txBody>
      </p:sp>
      <p:sp>
        <p:nvSpPr>
          <p:cNvPr id="5" name="Text 3"/>
          <p:cNvSpPr/>
          <p:nvPr/>
        </p:nvSpPr>
        <p:spPr>
          <a:xfrm>
            <a:off x="594360" y="1783080"/>
            <a:ext cx="3429000" cy="169164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Named third parties. Competitors, customers, partners. NOT the reporting company itself.</a:t>
            </a: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Array of strings.</a:t>
            </a:r>
            <a:endParaRPr lang="en-US" sz="1100" dirty="0"/>
          </a:p>
        </p:txBody>
      </p:sp>
      <p:sp>
        <p:nvSpPr>
          <p:cNvPr id="6" name="Shape 4"/>
          <p:cNvSpPr/>
          <p:nvPr/>
        </p:nvSpPr>
        <p:spPr>
          <a:xfrm>
            <a:off x="4297680" y="1280160"/>
            <a:ext cx="3703320" cy="2286000"/>
          </a:xfrm>
          <a:prstGeom prst="rect">
            <a:avLst/>
          </a:prstGeom>
          <a:solidFill>
            <a:srgbClr val="F3F3F1"/>
          </a:solidFill>
          <a:ln w="6350">
            <a:solidFill>
              <a:srgbClr val="8996A0"/>
            </a:solidFill>
            <a:prstDash val="solid"/>
          </a:ln>
        </p:spPr>
      </p:sp>
      <p:sp>
        <p:nvSpPr>
          <p:cNvPr id="7" name="Text 5"/>
          <p:cNvSpPr/>
          <p:nvPr/>
        </p:nvSpPr>
        <p:spPr>
          <a:xfrm>
            <a:off x="4434840" y="1371600"/>
            <a:ext cx="342900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executives</a:t>
            </a:r>
            <a:endParaRPr lang="en-US" sz="1400" dirty="0"/>
          </a:p>
        </p:txBody>
      </p:sp>
      <p:sp>
        <p:nvSpPr>
          <p:cNvPr id="8" name="Text 6"/>
          <p:cNvSpPr/>
          <p:nvPr/>
        </p:nvSpPr>
        <p:spPr>
          <a:xfrm>
            <a:off x="4434840" y="1783080"/>
            <a:ext cx="3429000" cy="169164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Named individuals with their role. May be a job title (CEO) or a description (analyst at Morgan Stanley).</a:t>
            </a: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Array of {name, role}.</a:t>
            </a:r>
            <a:endParaRPr lang="en-US" sz="1100" dirty="0"/>
          </a:p>
        </p:txBody>
      </p:sp>
      <p:sp>
        <p:nvSpPr>
          <p:cNvPr id="9" name="Shape 7"/>
          <p:cNvSpPr/>
          <p:nvPr/>
        </p:nvSpPr>
        <p:spPr>
          <a:xfrm>
            <a:off x="8138160" y="1280160"/>
            <a:ext cx="3703320" cy="2286000"/>
          </a:xfrm>
          <a:prstGeom prst="rect">
            <a:avLst/>
          </a:prstGeom>
          <a:solidFill>
            <a:srgbClr val="F3F3F1"/>
          </a:solidFill>
          <a:ln w="6350">
            <a:solidFill>
              <a:srgbClr val="8996A0"/>
            </a:solidFill>
            <a:prstDash val="solid"/>
          </a:ln>
        </p:spPr>
      </p:sp>
      <p:sp>
        <p:nvSpPr>
          <p:cNvPr id="10" name="Text 8"/>
          <p:cNvSpPr/>
          <p:nvPr/>
        </p:nvSpPr>
        <p:spPr>
          <a:xfrm>
            <a:off x="8275320" y="1371600"/>
            <a:ext cx="342900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products</a:t>
            </a:r>
            <a:endParaRPr lang="en-US" sz="1400" dirty="0"/>
          </a:p>
        </p:txBody>
      </p:sp>
      <p:sp>
        <p:nvSpPr>
          <p:cNvPr id="11" name="Text 9"/>
          <p:cNvSpPr/>
          <p:nvPr/>
        </p:nvSpPr>
        <p:spPr>
          <a:xfrm>
            <a:off x="8275320" y="1783080"/>
            <a:ext cx="3429000" cy="169164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Distinct products, services, or business segments named in the passage.</a:t>
            </a: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Array of strings.</a:t>
            </a:r>
            <a:endParaRPr lang="en-US" sz="1100" dirty="0"/>
          </a:p>
        </p:txBody>
      </p:sp>
      <p:sp>
        <p:nvSpPr>
          <p:cNvPr id="12" name="Shape 10"/>
          <p:cNvSpPr/>
          <p:nvPr/>
        </p:nvSpPr>
        <p:spPr>
          <a:xfrm>
            <a:off x="457200" y="3749040"/>
            <a:ext cx="3703320" cy="2286000"/>
          </a:xfrm>
          <a:prstGeom prst="rect">
            <a:avLst/>
          </a:prstGeom>
          <a:solidFill>
            <a:srgbClr val="F3F3F1"/>
          </a:solidFill>
          <a:ln w="6350">
            <a:solidFill>
              <a:srgbClr val="8996A0"/>
            </a:solidFill>
            <a:prstDash val="solid"/>
          </a:ln>
        </p:spPr>
      </p:sp>
      <p:sp>
        <p:nvSpPr>
          <p:cNvPr id="13" name="Text 11"/>
          <p:cNvSpPr/>
          <p:nvPr/>
        </p:nvSpPr>
        <p:spPr>
          <a:xfrm>
            <a:off x="594360" y="3840480"/>
            <a:ext cx="342900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financial_figures</a:t>
            </a:r>
            <a:endParaRPr lang="en-US" sz="1400" dirty="0"/>
          </a:p>
        </p:txBody>
      </p:sp>
      <p:sp>
        <p:nvSpPr>
          <p:cNvPr id="14" name="Text 12"/>
          <p:cNvSpPr/>
          <p:nvPr/>
        </p:nvSpPr>
        <p:spPr>
          <a:xfrm>
            <a:off x="594360" y="4251960"/>
            <a:ext cx="3429000" cy="169164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A numeric value tied to what it measures. A bare number is not enough. "$51B" alone fails; "$51B in iPhone revenue" qualifies.</a:t>
            </a: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Array of {figure, metric}.</a:t>
            </a:r>
            <a:endParaRPr lang="en-US" sz="1100" dirty="0"/>
          </a:p>
        </p:txBody>
      </p:sp>
      <p:sp>
        <p:nvSpPr>
          <p:cNvPr id="15" name="Shape 13"/>
          <p:cNvSpPr/>
          <p:nvPr/>
        </p:nvSpPr>
        <p:spPr>
          <a:xfrm>
            <a:off x="4297680" y="3749040"/>
            <a:ext cx="3703320" cy="2286000"/>
          </a:xfrm>
          <a:prstGeom prst="rect">
            <a:avLst/>
          </a:prstGeom>
          <a:solidFill>
            <a:srgbClr val="F3F3F1"/>
          </a:solidFill>
          <a:ln w="6350">
            <a:solidFill>
              <a:srgbClr val="8996A0"/>
            </a:solidFill>
            <a:prstDash val="solid"/>
          </a:ln>
        </p:spPr>
      </p:sp>
      <p:sp>
        <p:nvSpPr>
          <p:cNvPr id="16" name="Text 14"/>
          <p:cNvSpPr/>
          <p:nvPr/>
        </p:nvSpPr>
        <p:spPr>
          <a:xfrm>
            <a:off x="4434840" y="3840480"/>
            <a:ext cx="342900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forward_looking_statements</a:t>
            </a:r>
            <a:endParaRPr lang="en-US" sz="1400" dirty="0"/>
          </a:p>
        </p:txBody>
      </p:sp>
      <p:sp>
        <p:nvSpPr>
          <p:cNvPr id="17" name="Text 15"/>
          <p:cNvSpPr/>
          <p:nvPr/>
        </p:nvSpPr>
        <p:spPr>
          <a:xfrm>
            <a:off x="4434840" y="4251960"/>
            <a:ext cx="3429000" cy="169164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Any claim about the future. Guidance, expectations, projections, plans. Quoted verbatim from the passage.</a:t>
            </a: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Array of strings.</a:t>
            </a:r>
            <a:endParaRPr lang="en-US" sz="1100" dirty="0"/>
          </a:p>
        </p:txBody>
      </p:sp>
      <p:sp>
        <p:nvSpPr>
          <p:cNvPr id="18" name="Shape 16"/>
          <p:cNvSpPr/>
          <p:nvPr/>
        </p:nvSpPr>
        <p:spPr>
          <a:xfrm>
            <a:off x="8138160" y="3749040"/>
            <a:ext cx="3703320" cy="2286000"/>
          </a:xfrm>
          <a:prstGeom prst="rect">
            <a:avLst/>
          </a:prstGeom>
          <a:solidFill>
            <a:srgbClr val="FFFFFF"/>
          </a:solidFill>
          <a:ln w="6350">
            <a:solidFill>
              <a:srgbClr val="8996A0"/>
            </a:solidFill>
            <a:prstDash val="solid"/>
          </a:ln>
        </p:spPr>
      </p:sp>
      <p:sp>
        <p:nvSpPr>
          <p:cNvPr id="19" name="Text 17"/>
          <p:cNvSpPr/>
          <p:nvPr/>
        </p:nvSpPr>
        <p:spPr>
          <a:xfrm>
            <a:off x="8275320" y="3840480"/>
            <a:ext cx="3429000" cy="365760"/>
          </a:xfrm>
          <a:prstGeom prst="rect">
            <a:avLst/>
          </a:prstGeom>
          <a:noFill/>
          <a:ln/>
        </p:spPr>
        <p:txBody>
          <a:bodyPr wrap="square" lIns="0" tIns="0" rIns="0" bIns="0" rtlCol="0" anchor="ctr"/>
          <a:lstStyle/>
          <a:p>
            <a:pPr marL="0" indent="0">
              <a:buNone/>
            </a:pPr>
            <a:r>
              <a:rPr lang="en-US" sz="1400" b="1" dirty="0">
                <a:solidFill>
                  <a:srgbClr val="293352"/>
                </a:solidFill>
                <a:latin typeface="Arial" pitchFamily="34" charset="0"/>
                <a:ea typeface="Arial" pitchFamily="34" charset="-122"/>
                <a:cs typeface="Arial" pitchFamily="34" charset="-120"/>
              </a:rPr>
              <a:t>The design</a:t>
            </a:r>
            <a:endParaRPr lang="en-US" sz="1400" dirty="0"/>
          </a:p>
        </p:txBody>
      </p:sp>
      <p:sp>
        <p:nvSpPr>
          <p:cNvPr id="20" name="Text 18"/>
          <p:cNvSpPr/>
          <p:nvPr/>
        </p:nvSpPr>
        <p:spPr>
          <a:xfrm>
            <a:off x="8275320" y="4251960"/>
            <a:ext cx="3429000" cy="169164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Entities dedupe.</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Claims (figures, forward looking) stay separate, attributed to the speaker who said them.</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Every field is required. Empty arrays are allowed.</a:t>
            </a:r>
            <a:endParaRPr lang="en-US" sz="1100" dirty="0"/>
          </a:p>
        </p:txBody>
      </p:sp>
      <p:sp>
        <p:nvSpPr>
          <p:cNvPr id="21"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22" name="Harvard Page Number"/>
          <p:cNvSpPr txBox="1"/>
          <p:nvPr/>
        </p:nvSpPr>
        <p:spPr>
          <a:xfrm>
            <a:off x="11730577" y="6446043"/>
            <a:ext cx="324104" cy="274638"/>
          </a:xfrm>
          <a:prstGeom prst="rect">
            <a:avLst/>
          </a:prstGeom>
          <a:noFill/>
        </p:spPr>
        <p:txBody>
          <a:bodyPr wrap="none" lIns="0" tIns="0" rIns="0" bIns="0">
            <a:noAutofit/>
          </a:bodyPr>
          <a:lstStyle/>
          <a:p>
            <a:pPr algn="r"/>
            <a:fld id="{7EE3BCCF-09D8-45FB-9272-877E846C126C}" type="slidenum">
              <a:rPr lang="en-US" sz="1000">
                <a:solidFill>
                  <a:srgbClr val="8996A0"/>
                </a:solidFill>
                <a:latin typeface="Arial"/>
              </a:rPr>
              <a:t>13</a:t>
            </a:fld>
            <a:endParaRPr lang="en-US" sz="1000">
              <a:solidFill>
                <a:srgbClr val="8996A0"/>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2800" b="1" dirty="0">
                <a:solidFill>
                  <a:srgbClr val="293352"/>
                </a:solidFill>
                <a:latin typeface="Arial" pitchFamily="34" charset="0"/>
                <a:ea typeface="Arial" pitchFamily="34" charset="-122"/>
                <a:cs typeface="Arial" pitchFamily="34" charset="-120"/>
              </a:rPr>
              <a:t>LLMs are great at Named Entity Recognition with instructions</a:t>
            </a:r>
            <a:endParaRPr lang="en-US" sz="2800" dirty="0"/>
          </a:p>
        </p:txBody>
      </p:sp>
      <p:sp>
        <p:nvSpPr>
          <p:cNvPr id="3" name="Text 1"/>
          <p:cNvSpPr/>
          <p:nvPr/>
        </p:nvSpPr>
        <p:spPr>
          <a:xfrm>
            <a:off x="457200" y="1280160"/>
            <a:ext cx="5486400" cy="365760"/>
          </a:xfrm>
          <a:prstGeom prst="rect">
            <a:avLst/>
          </a:prstGeom>
          <a:noFill/>
          <a:ln/>
        </p:spPr>
        <p:txBody>
          <a:bodyPr wrap="square" lIns="0" tIns="0" rIns="0" bIns="0" rtlCol="0" anchor="ctr"/>
          <a:lstStyle/>
          <a:p>
            <a:pPr marL="0" indent="0">
              <a:buNone/>
            </a:pPr>
            <a:r>
              <a:rPr lang="en-US" sz="1300" b="1" dirty="0">
                <a:solidFill>
                  <a:srgbClr val="293352"/>
                </a:solidFill>
                <a:latin typeface="Arial" pitchFamily="34" charset="0"/>
                <a:ea typeface="Arial" pitchFamily="34" charset="-122"/>
                <a:cs typeface="Arial" pitchFamily="34" charset="-120"/>
              </a:rPr>
              <a:t>EXAMPLE INPUT (in the system prompt)</a:t>
            </a:r>
            <a:endParaRPr lang="en-US" sz="1300" dirty="0"/>
          </a:p>
        </p:txBody>
      </p:sp>
      <p:sp>
        <p:nvSpPr>
          <p:cNvPr id="4" name="Shape 2"/>
          <p:cNvSpPr/>
          <p:nvPr/>
        </p:nvSpPr>
        <p:spPr>
          <a:xfrm>
            <a:off x="457200" y="1691640"/>
            <a:ext cx="5486400" cy="4114800"/>
          </a:xfrm>
          <a:prstGeom prst="rect">
            <a:avLst/>
          </a:prstGeom>
          <a:solidFill>
            <a:srgbClr val="F3F3F1"/>
          </a:solidFill>
          <a:ln w="6350">
            <a:solidFill>
              <a:srgbClr val="8996A0"/>
            </a:solidFill>
            <a:prstDash val="solid"/>
          </a:ln>
        </p:spPr>
      </p:sp>
      <p:sp>
        <p:nvSpPr>
          <p:cNvPr id="5" name="Text 3"/>
          <p:cNvSpPr/>
          <p:nvPr/>
        </p:nvSpPr>
        <p:spPr>
          <a:xfrm>
            <a:off x="640080" y="1783080"/>
            <a:ext cx="5120640" cy="3931920"/>
          </a:xfrm>
          <a:prstGeom prst="rect">
            <a:avLst/>
          </a:prstGeom>
          <a:noFill/>
          <a:ln/>
        </p:spPr>
        <p:txBody>
          <a:bodyPr wrap="square" lIns="0" tIns="0" rIns="0" bIns="0" rtlCol="0" anchor="t"/>
          <a:lstStyle/>
          <a:p>
            <a:pPr marL="0" indent="0">
              <a:buNone/>
            </a:pPr>
            <a:r>
              <a:rPr lang="en-US" sz="1100" i="1" dirty="0">
                <a:solidFill>
                  <a:srgbClr val="1E1E1E"/>
                </a:solidFill>
                <a:latin typeface="Arial" pitchFamily="34" charset="0"/>
                <a:ea typeface="Arial" pitchFamily="34" charset="-122"/>
                <a:cs typeface="Arial" pitchFamily="34" charset="-120"/>
              </a:rPr>
              <a:t>"We had an exceptional September quarter. iPhone revenue reached $51.3 billion, up 6 percent year over year, and Services set an all-time record of $24.2 billion. Tim Cook commented that customer response has been strong. Looking ahead, we expect December quarter revenue growth to accelerate. In enterprise, Apple platforms displace Windows PCs at Deloitte."</a:t>
            </a:r>
            <a:endParaRPr lang="en-US" sz="1100" dirty="0"/>
          </a:p>
        </p:txBody>
      </p:sp>
      <p:sp>
        <p:nvSpPr>
          <p:cNvPr id="6" name="Text 4"/>
          <p:cNvSpPr/>
          <p:nvPr/>
        </p:nvSpPr>
        <p:spPr>
          <a:xfrm>
            <a:off x="6217920" y="1280160"/>
            <a:ext cx="5486400" cy="365760"/>
          </a:xfrm>
          <a:prstGeom prst="rect">
            <a:avLst/>
          </a:prstGeom>
          <a:noFill/>
          <a:ln/>
        </p:spPr>
        <p:txBody>
          <a:bodyPr wrap="square" lIns="0" tIns="0" rIns="0" bIns="0" rtlCol="0" anchor="ctr"/>
          <a:lstStyle/>
          <a:p>
            <a:pPr marL="0" indent="0">
              <a:buNone/>
            </a:pPr>
            <a:r>
              <a:rPr lang="en-US" sz="1300" b="1" dirty="0">
                <a:solidFill>
                  <a:srgbClr val="A51C30"/>
                </a:solidFill>
                <a:latin typeface="Arial" pitchFamily="34" charset="0"/>
                <a:ea typeface="Arial" pitchFamily="34" charset="-122"/>
                <a:cs typeface="Arial" pitchFamily="34" charset="-120"/>
              </a:rPr>
              <a:t>EXAMPLE OUTPUT (in the system prompt)</a:t>
            </a:r>
            <a:endParaRPr lang="en-US" sz="1300" dirty="0"/>
          </a:p>
        </p:txBody>
      </p:sp>
      <p:sp>
        <p:nvSpPr>
          <p:cNvPr id="7" name="Shape 5"/>
          <p:cNvSpPr/>
          <p:nvPr/>
        </p:nvSpPr>
        <p:spPr>
          <a:xfrm>
            <a:off x="6217920" y="1691640"/>
            <a:ext cx="5486400" cy="4114800"/>
          </a:xfrm>
          <a:prstGeom prst="rect">
            <a:avLst/>
          </a:prstGeom>
          <a:solidFill>
            <a:srgbClr val="F3F3F1"/>
          </a:solidFill>
          <a:ln w="6350">
            <a:solidFill>
              <a:srgbClr val="8996A0"/>
            </a:solidFill>
            <a:prstDash val="solid"/>
          </a:ln>
        </p:spPr>
      </p:sp>
      <p:sp>
        <p:nvSpPr>
          <p:cNvPr id="8" name="Text 6"/>
          <p:cNvSpPr/>
          <p:nvPr/>
        </p:nvSpPr>
        <p:spPr>
          <a:xfrm>
            <a:off x="6355080" y="1783080"/>
            <a:ext cx="5212080" cy="3931920"/>
          </a:xfrm>
          <a:prstGeom prst="rect">
            <a:avLst/>
          </a:prstGeom>
          <a:noFill/>
          <a:ln/>
        </p:spPr>
        <p:txBody>
          <a:bodyPr wrap="square" lIns="0" tIns="0" rIns="0" bIns="0" rtlCol="0" anchor="t"/>
          <a:lstStyle/>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  "companies": ["Microsoft", "Deloitte"],</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  "executives": [{"name":"Tim Cook", "role":"CEO"}],</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  "products": ["iPhone", "Services", "Windows PCs"],</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  "financial_figures": [</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    {"figure":"$51.3B", "metric":"iPhone revenue"},</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    {"figure":"6%", "metric":"iPhone YoY growth"},</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    {"figure":"$24.2B", "metric":"Services revenue"}</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  ],</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  "forward_looking_statements": [</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    "we expect December quarter revenue growth to accelerate"</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  ]</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a:t>
            </a:r>
            <a:endParaRPr lang="en-US" sz="1000" dirty="0">
              <a:latin typeface="Consolas" panose="020B0609020204030204" pitchFamily="49" charset="0"/>
              <a:cs typeface="Consolas" panose="020B0609020204030204" pitchFamily="49" charset="0"/>
            </a:endParaRPr>
          </a:p>
        </p:txBody>
      </p:sp>
      <p:sp>
        <p:nvSpPr>
          <p:cNvPr id="9" name="Text 7"/>
          <p:cNvSpPr/>
          <p:nvPr/>
        </p:nvSpPr>
        <p:spPr>
          <a:xfrm>
            <a:off x="457200" y="5943600"/>
            <a:ext cx="11247120" cy="548640"/>
          </a:xfrm>
          <a:prstGeom prst="rect">
            <a:avLst/>
          </a:prstGeom>
          <a:noFill/>
          <a:ln/>
        </p:spPr>
        <p:txBody>
          <a:bodyPr wrap="square" lIns="0" tIns="0" rIns="0" bIns="0" rtlCol="0" anchor="ctr"/>
          <a:lstStyle/>
          <a:p>
            <a:pPr marL="0" indent="0" algn="ctr">
              <a:buNone/>
            </a:pPr>
            <a:r>
              <a:rPr lang="en-US" sz="1200" i="1" dirty="0">
                <a:solidFill>
                  <a:srgbClr val="8996A0"/>
                </a:solidFill>
                <a:latin typeface="Arial" pitchFamily="34" charset="0"/>
                <a:ea typeface="Arial" pitchFamily="34" charset="-122"/>
                <a:cs typeface="Arial" pitchFamily="34" charset="-120"/>
              </a:rPr>
              <a:t>One example pins down: reporting-company exclusion, figure-plus-metric rule, verbatim quote rule. All three, without a paragraph of instructions.</a:t>
            </a:r>
            <a:endParaRPr lang="en-US" sz="1200" dirty="0"/>
          </a:p>
        </p:txBody>
      </p:sp>
      <p:sp>
        <p:nvSpPr>
          <p:cNvPr id="10" name="Harvard Footer"/>
          <p:cNvSpPr txBox="1"/>
          <p:nvPr/>
        </p:nvSpPr>
        <p:spPr>
          <a:xfrm>
            <a:off x="137319" y="649176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1" name="Harvard Page Number"/>
          <p:cNvSpPr txBox="1"/>
          <p:nvPr/>
        </p:nvSpPr>
        <p:spPr>
          <a:xfrm>
            <a:off x="11730577" y="6446043"/>
            <a:ext cx="324104" cy="274638"/>
          </a:xfrm>
          <a:prstGeom prst="rect">
            <a:avLst/>
          </a:prstGeom>
          <a:noFill/>
        </p:spPr>
        <p:txBody>
          <a:bodyPr wrap="none" lIns="0" tIns="0" rIns="0" bIns="0">
            <a:noAutofit/>
          </a:bodyPr>
          <a:lstStyle/>
          <a:p>
            <a:pPr algn="r"/>
            <a:fld id="{554F1FEB-988B-4D07-B248-53481FFFF0B4}" type="slidenum">
              <a:rPr lang="en-US" sz="1000">
                <a:solidFill>
                  <a:srgbClr val="8996A0"/>
                </a:solidFill>
                <a:latin typeface="Arial"/>
              </a:rPr>
              <a:t>14</a:t>
            </a:fld>
            <a:endParaRPr lang="en-US" sz="1000">
              <a:solidFill>
                <a:srgbClr val="8996A0"/>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A Schema That Nests</a:t>
            </a:r>
            <a:endParaRPr lang="en-US" sz="3200" dirty="0"/>
          </a:p>
        </p:txBody>
      </p:sp>
      <p:sp>
        <p:nvSpPr>
          <p:cNvPr id="3" name="Text 1"/>
          <p:cNvSpPr/>
          <p:nvPr/>
        </p:nvSpPr>
        <p:spPr>
          <a:xfrm>
            <a:off x="457200" y="1280160"/>
            <a:ext cx="11247120" cy="914400"/>
          </a:xfrm>
          <a:prstGeom prst="rect">
            <a:avLst/>
          </a:prstGeom>
          <a:noFill/>
          <a:ln/>
        </p:spPr>
        <p:txBody>
          <a:bodyPr wrap="square" lIns="0" tIns="0" rIns="0" bIns="0" rtlCol="0" anchor="t"/>
          <a:lstStyle/>
          <a:p>
            <a:pPr marL="0" indent="0">
              <a:buNone/>
            </a:pPr>
            <a:r>
              <a:rPr lang="en-US" sz="1400" b="1" dirty="0">
                <a:solidFill>
                  <a:srgbClr val="1E1E1E"/>
                </a:solidFill>
                <a:latin typeface="Arial" pitchFamily="34" charset="0"/>
                <a:ea typeface="Arial" pitchFamily="34" charset="-122"/>
                <a:cs typeface="Arial" pitchFamily="34" charset="-120"/>
              </a:rPr>
              <a:t>Three fields are arrays of strings: </a:t>
            </a:r>
            <a:r>
              <a:rPr lang="en-US" sz="1400" dirty="0">
                <a:solidFill>
                  <a:srgbClr val="1E1E1E"/>
                </a:solidFill>
                <a:latin typeface="Arial" pitchFamily="34" charset="0"/>
                <a:ea typeface="Arial" pitchFamily="34" charset="-122"/>
                <a:cs typeface="Arial" pitchFamily="34" charset="-120"/>
              </a:rPr>
              <a:t>companies, products, forward_looking_statements.
</a:t>
            </a:r>
            <a:r>
              <a:rPr lang="en-US" sz="1400" b="1" dirty="0">
                <a:solidFill>
                  <a:srgbClr val="1E1E1E"/>
                </a:solidFill>
                <a:latin typeface="Arial" pitchFamily="34" charset="0"/>
                <a:ea typeface="Arial" pitchFamily="34" charset="-122"/>
                <a:cs typeface="Arial" pitchFamily="34" charset="-120"/>
              </a:rPr>
              <a:t>Two fields are arrays of objects: </a:t>
            </a:r>
            <a:r>
              <a:rPr lang="en-US" sz="1400" dirty="0">
                <a:solidFill>
                  <a:srgbClr val="1E1E1E"/>
                </a:solidFill>
                <a:latin typeface="Arial" pitchFamily="34" charset="0"/>
                <a:ea typeface="Arial" pitchFamily="34" charset="-122"/>
                <a:cs typeface="Arial" pitchFamily="34" charset="-120"/>
              </a:rPr>
              <a:t>executives, financial_figures. Each object has its own required fields, and its own additionalProperties: false.</a:t>
            </a:r>
            <a:endParaRPr lang="en-US" sz="1400" dirty="0"/>
          </a:p>
        </p:txBody>
      </p:sp>
      <p:sp>
        <p:nvSpPr>
          <p:cNvPr id="4" name="Shape 2"/>
          <p:cNvSpPr/>
          <p:nvPr/>
        </p:nvSpPr>
        <p:spPr>
          <a:xfrm>
            <a:off x="457200" y="2377440"/>
            <a:ext cx="11247120" cy="3474720"/>
          </a:xfrm>
          <a:prstGeom prst="rect">
            <a:avLst/>
          </a:prstGeom>
          <a:solidFill>
            <a:srgbClr val="F3F3F1"/>
          </a:solidFill>
          <a:ln w="6350">
            <a:solidFill>
              <a:srgbClr val="8996A0"/>
            </a:solidFill>
            <a:prstDash val="solid"/>
          </a:ln>
        </p:spPr>
      </p:sp>
      <p:sp>
        <p:nvSpPr>
          <p:cNvPr id="5" name="Text 3"/>
          <p:cNvSpPr/>
          <p:nvPr/>
        </p:nvSpPr>
        <p:spPr>
          <a:xfrm>
            <a:off x="640080" y="2468880"/>
            <a:ext cx="10972800" cy="3291840"/>
          </a:xfrm>
          <a:prstGeom prst="rect">
            <a:avLst/>
          </a:prstGeom>
          <a:noFill/>
          <a:ln/>
        </p:spPr>
        <p:txBody>
          <a:bodyPr wrap="square" lIns="0" tIns="0" rIns="0" bIns="0" rtlCol="0" anchor="t"/>
          <a:lstStyle/>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executives = </a:t>
            </a:r>
            <a:r>
              <a:rPr lang="en-US" sz="1400" dirty="0">
                <a:solidFill>
                  <a:srgbClr val="FF0000"/>
                </a:solidFill>
                <a:latin typeface="Consolas" panose="020B0609020204030204" pitchFamily="49" charset="0"/>
                <a:ea typeface="Courier New" pitchFamily="34" charset="-122"/>
                <a:cs typeface="Consolas" panose="020B0609020204030204" pitchFamily="49" charset="0"/>
              </a:rPr>
              <a:t>list</a:t>
            </a:r>
            <a:r>
              <a:rPr lang="en-US" sz="1400" dirty="0">
                <a:solidFill>
                  <a:srgbClr val="293352"/>
                </a:solidFill>
                <a:latin typeface="Consolas" panose="020B0609020204030204" pitchFamily="49" charset="0"/>
                <a:ea typeface="Courier New" pitchFamily="34" charset="-122"/>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  type = "array",</a:t>
            </a:r>
            <a:endParaRPr lang="en-US" sz="1400" dirty="0">
              <a:latin typeface="Consolas" panose="020B0609020204030204" pitchFamily="49" charset="0"/>
              <a:cs typeface="Consolas" panose="020B0609020204030204" pitchFamily="49" charset="0"/>
            </a:endParaRPr>
          </a:p>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  items = </a:t>
            </a:r>
            <a:r>
              <a:rPr lang="en-US" sz="1400" dirty="0">
                <a:solidFill>
                  <a:srgbClr val="FF0000"/>
                </a:solidFill>
                <a:latin typeface="Consolas" panose="020B0609020204030204" pitchFamily="49" charset="0"/>
                <a:ea typeface="Courier New" pitchFamily="34" charset="-122"/>
                <a:cs typeface="Consolas" panose="020B0609020204030204" pitchFamily="49" charset="0"/>
              </a:rPr>
              <a:t>list</a:t>
            </a:r>
            <a:r>
              <a:rPr lang="en-US" sz="1400" dirty="0">
                <a:solidFill>
                  <a:srgbClr val="293352"/>
                </a:solidFill>
                <a:latin typeface="Consolas" panose="020B0609020204030204" pitchFamily="49" charset="0"/>
                <a:ea typeface="Courier New" pitchFamily="34" charset="-122"/>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    type = "object",</a:t>
            </a:r>
            <a:endParaRPr lang="en-US" sz="1400" dirty="0">
              <a:latin typeface="Consolas" panose="020B0609020204030204" pitchFamily="49" charset="0"/>
              <a:cs typeface="Consolas" panose="020B0609020204030204" pitchFamily="49" charset="0"/>
            </a:endParaRPr>
          </a:p>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    properties = </a:t>
            </a:r>
            <a:r>
              <a:rPr lang="en-US" sz="1400" dirty="0">
                <a:solidFill>
                  <a:srgbClr val="FF0000"/>
                </a:solidFill>
                <a:latin typeface="Consolas" panose="020B0609020204030204" pitchFamily="49" charset="0"/>
                <a:ea typeface="Courier New" pitchFamily="34" charset="-122"/>
                <a:cs typeface="Consolas" panose="020B0609020204030204" pitchFamily="49" charset="0"/>
              </a:rPr>
              <a:t>list</a:t>
            </a:r>
            <a:r>
              <a:rPr lang="en-US" sz="1400" dirty="0">
                <a:solidFill>
                  <a:srgbClr val="293352"/>
                </a:solidFill>
                <a:latin typeface="Consolas" panose="020B0609020204030204" pitchFamily="49" charset="0"/>
                <a:ea typeface="Courier New" pitchFamily="34" charset="-122"/>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      name = </a:t>
            </a:r>
            <a:r>
              <a:rPr lang="en-US" sz="1400" dirty="0">
                <a:solidFill>
                  <a:srgbClr val="FF0000"/>
                </a:solidFill>
                <a:latin typeface="Consolas" panose="020B0609020204030204" pitchFamily="49" charset="0"/>
                <a:ea typeface="Courier New" pitchFamily="34" charset="-122"/>
                <a:cs typeface="Consolas" panose="020B0609020204030204" pitchFamily="49" charset="0"/>
              </a:rPr>
              <a:t>list</a:t>
            </a:r>
            <a:r>
              <a:rPr lang="en-US" sz="1400" dirty="0">
                <a:solidFill>
                  <a:srgbClr val="293352"/>
                </a:solidFill>
                <a:latin typeface="Consolas" panose="020B0609020204030204" pitchFamily="49" charset="0"/>
                <a:ea typeface="Courier New" pitchFamily="34" charset="-122"/>
                <a:cs typeface="Consolas" panose="020B0609020204030204" pitchFamily="49" charset="0"/>
              </a:rPr>
              <a:t>(type = "string"),</a:t>
            </a:r>
            <a:endParaRPr lang="en-US" sz="1400" dirty="0">
              <a:latin typeface="Consolas" panose="020B0609020204030204" pitchFamily="49" charset="0"/>
              <a:cs typeface="Consolas" panose="020B0609020204030204" pitchFamily="49" charset="0"/>
            </a:endParaRPr>
          </a:p>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      role = </a:t>
            </a:r>
            <a:r>
              <a:rPr lang="en-US" sz="1400" dirty="0">
                <a:solidFill>
                  <a:srgbClr val="FF0000"/>
                </a:solidFill>
                <a:latin typeface="Consolas" panose="020B0609020204030204" pitchFamily="49" charset="0"/>
                <a:ea typeface="Courier New" pitchFamily="34" charset="-122"/>
                <a:cs typeface="Consolas" panose="020B0609020204030204" pitchFamily="49" charset="0"/>
              </a:rPr>
              <a:t>list</a:t>
            </a:r>
            <a:r>
              <a:rPr lang="en-US" sz="1400" dirty="0">
                <a:solidFill>
                  <a:srgbClr val="293352"/>
                </a:solidFill>
                <a:latin typeface="Consolas" panose="020B0609020204030204" pitchFamily="49" charset="0"/>
                <a:ea typeface="Courier New" pitchFamily="34" charset="-122"/>
                <a:cs typeface="Consolas" panose="020B0609020204030204" pitchFamily="49" charset="0"/>
              </a:rPr>
              <a:t>(type = "string")</a:t>
            </a:r>
            <a:endParaRPr lang="en-US" sz="1400" dirty="0">
              <a:latin typeface="Consolas" panose="020B0609020204030204" pitchFamily="49" charset="0"/>
              <a:cs typeface="Consolas" panose="020B0609020204030204" pitchFamily="49" charset="0"/>
            </a:endParaRPr>
          </a:p>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    required = </a:t>
            </a:r>
            <a:r>
              <a:rPr lang="en-US" sz="1400" dirty="0">
                <a:solidFill>
                  <a:srgbClr val="FF0000"/>
                </a:solidFill>
                <a:latin typeface="Consolas" panose="020B0609020204030204" pitchFamily="49" charset="0"/>
                <a:ea typeface="Courier New" pitchFamily="34" charset="-122"/>
                <a:cs typeface="Consolas" panose="020B0609020204030204" pitchFamily="49" charset="0"/>
              </a:rPr>
              <a:t>list</a:t>
            </a:r>
            <a:r>
              <a:rPr lang="en-US" sz="1400" dirty="0">
                <a:solidFill>
                  <a:srgbClr val="293352"/>
                </a:solidFill>
                <a:latin typeface="Consolas" panose="020B0609020204030204" pitchFamily="49" charset="0"/>
                <a:ea typeface="Courier New" pitchFamily="34" charset="-122"/>
                <a:cs typeface="Consolas" panose="020B0609020204030204" pitchFamily="49" charset="0"/>
              </a:rPr>
              <a:t>("name", "role"),</a:t>
            </a:r>
            <a:endParaRPr lang="en-US" sz="1400" dirty="0">
              <a:latin typeface="Consolas" panose="020B0609020204030204" pitchFamily="49" charset="0"/>
              <a:cs typeface="Consolas" panose="020B0609020204030204" pitchFamily="49" charset="0"/>
            </a:endParaRPr>
          </a:p>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    additionalProperties = FALSE</a:t>
            </a:r>
            <a:endParaRPr lang="en-US" sz="1400" dirty="0">
              <a:latin typeface="Consolas" panose="020B0609020204030204" pitchFamily="49" charset="0"/>
              <a:cs typeface="Consolas" panose="020B0609020204030204" pitchFamily="49" charset="0"/>
            </a:endParaRPr>
          </a:p>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p:txBody>
      </p:sp>
      <p:sp>
        <p:nvSpPr>
          <p:cNvPr id="6" name="Text 4"/>
          <p:cNvSpPr/>
          <p:nvPr/>
        </p:nvSpPr>
        <p:spPr>
          <a:xfrm>
            <a:off x="457200" y="5943600"/>
            <a:ext cx="11247120" cy="365760"/>
          </a:xfrm>
          <a:prstGeom prst="rect">
            <a:avLst/>
          </a:prstGeom>
          <a:noFill/>
          <a:ln/>
        </p:spPr>
        <p:txBody>
          <a:bodyPr wrap="square" lIns="0" tIns="0" rIns="0" bIns="0" rtlCol="0" anchor="ctr"/>
          <a:lstStyle/>
          <a:p>
            <a:pPr marL="0" indent="0" algn="ctr">
              <a:buNone/>
            </a:pPr>
            <a:r>
              <a:rPr lang="en-US" sz="1200" i="1" dirty="0">
                <a:solidFill>
                  <a:srgbClr val="8996A0"/>
                </a:solidFill>
                <a:latin typeface="Arial" pitchFamily="34" charset="0"/>
                <a:ea typeface="Arial" pitchFamily="34" charset="-122"/>
                <a:cs typeface="Arial" pitchFamily="34" charset="-120"/>
              </a:rPr>
              <a:t>On parse, use fromJSON(..., simplifyVector = FALSE) so jsonlite keeps nested objects as named lists.</a:t>
            </a:r>
            <a:endParaRPr lang="en-US" sz="1200" dirty="0"/>
          </a:p>
        </p:txBody>
      </p:sp>
      <p:sp>
        <p:nvSpPr>
          <p:cNvPr id="7"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8" name="Harvard Page Number"/>
          <p:cNvSpPr txBox="1"/>
          <p:nvPr/>
        </p:nvSpPr>
        <p:spPr>
          <a:xfrm>
            <a:off x="11730577" y="6446043"/>
            <a:ext cx="324104" cy="274638"/>
          </a:xfrm>
          <a:prstGeom prst="rect">
            <a:avLst/>
          </a:prstGeom>
          <a:noFill/>
        </p:spPr>
        <p:txBody>
          <a:bodyPr wrap="none" lIns="0" tIns="0" rIns="0" bIns="0">
            <a:noAutofit/>
          </a:bodyPr>
          <a:lstStyle/>
          <a:p>
            <a:pPr algn="r"/>
            <a:fld id="{870DAFCA-B9DD-4051-B07F-0FECA4A98A02}" type="slidenum">
              <a:rPr lang="en-US" sz="1000">
                <a:solidFill>
                  <a:srgbClr val="8996A0"/>
                </a:solidFill>
                <a:latin typeface="Arial"/>
              </a:rPr>
              <a:t>15</a:t>
            </a:fld>
            <a:endParaRPr lang="en-US" sz="1000">
              <a:solidFill>
                <a:srgbClr val="8996A0"/>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Entities Dedupe. Claims Do Not.</a:t>
            </a:r>
            <a:endParaRPr lang="en-US" sz="3200" dirty="0"/>
          </a:p>
        </p:txBody>
      </p:sp>
      <p:sp>
        <p:nvSpPr>
          <p:cNvPr id="3" name="Shape 1"/>
          <p:cNvSpPr/>
          <p:nvPr/>
        </p:nvSpPr>
        <p:spPr>
          <a:xfrm>
            <a:off x="457200" y="1280160"/>
            <a:ext cx="5486400" cy="4572000"/>
          </a:xfrm>
          <a:prstGeom prst="rect">
            <a:avLst/>
          </a:prstGeom>
          <a:solidFill>
            <a:srgbClr val="F3F3F1"/>
          </a:solidFill>
          <a:ln w="6350">
            <a:solidFill>
              <a:srgbClr val="8996A0"/>
            </a:solidFill>
            <a:prstDash val="solid"/>
          </a:ln>
        </p:spPr>
      </p:sp>
      <p:sp>
        <p:nvSpPr>
          <p:cNvPr id="4" name="Text 2"/>
          <p:cNvSpPr/>
          <p:nvPr/>
        </p:nvSpPr>
        <p:spPr>
          <a:xfrm>
            <a:off x="594360" y="1371600"/>
            <a:ext cx="521208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Entities  ·  DEDUPE</a:t>
            </a:r>
            <a:endParaRPr lang="en-US" sz="1400" dirty="0"/>
          </a:p>
        </p:txBody>
      </p:sp>
      <p:sp>
        <p:nvSpPr>
          <p:cNvPr id="5" name="Text 3"/>
          <p:cNvSpPr/>
          <p:nvPr/>
        </p:nvSpPr>
        <p:spPr>
          <a:xfrm>
            <a:off x="594360" y="1783080"/>
            <a:ext cx="5212080" cy="3977640"/>
          </a:xfrm>
          <a:prstGeom prst="rect">
            <a:avLst/>
          </a:prstGeom>
          <a:noFill/>
          <a:ln/>
        </p:spPr>
        <p:txBody>
          <a:bodyPr wrap="square" lIns="0" tIns="0" rIns="0" bIns="0" rtlCol="0" anchor="t"/>
          <a:lstStyle/>
          <a:p>
            <a:pPr marL="342900" indent="-342900">
              <a:spcAft>
                <a:spcPts val="400"/>
              </a:spcAft>
              <a:buSzPct val="100000"/>
              <a:buChar char="•"/>
            </a:pPr>
            <a:r>
              <a:rPr lang="en-US" sz="1100" b="1" dirty="0">
                <a:solidFill>
                  <a:srgbClr val="1E1E1E"/>
                </a:solidFill>
                <a:latin typeface="Arial" pitchFamily="34" charset="0"/>
                <a:ea typeface="Arial" pitchFamily="34" charset="-122"/>
                <a:cs typeface="Arial" pitchFamily="34" charset="-120"/>
              </a:rPr>
              <a:t>companies</a:t>
            </a:r>
            <a:endParaRPr lang="en-US" sz="1100" dirty="0"/>
          </a:p>
          <a:p>
            <a:pPr marL="342900" indent="-342900">
              <a:spcAft>
                <a:spcPts val="400"/>
              </a:spcAft>
              <a:buSzPct val="100000"/>
              <a:buChar char="•"/>
            </a:pPr>
            <a:r>
              <a:rPr lang="en-US" sz="1100" b="1" dirty="0">
                <a:solidFill>
                  <a:srgbClr val="1E1E1E"/>
                </a:solidFill>
                <a:latin typeface="Arial" pitchFamily="34" charset="0"/>
                <a:ea typeface="Arial" pitchFamily="34" charset="-122"/>
                <a:cs typeface="Arial" pitchFamily="34" charset="-120"/>
              </a:rPr>
              <a:t>executives (by name)</a:t>
            </a:r>
            <a:endParaRPr lang="en-US" sz="1100" dirty="0"/>
          </a:p>
          <a:p>
            <a:pPr marL="342900" indent="-342900">
              <a:spcAft>
                <a:spcPts val="400"/>
              </a:spcAft>
              <a:buSzPct val="100000"/>
              <a:buChar char="•"/>
            </a:pPr>
            <a:r>
              <a:rPr lang="en-US" sz="1100" b="1" dirty="0">
                <a:solidFill>
                  <a:srgbClr val="1E1E1E"/>
                </a:solidFill>
                <a:latin typeface="Arial" pitchFamily="34" charset="0"/>
                <a:ea typeface="Arial" pitchFamily="34" charset="-122"/>
                <a:cs typeface="Arial" pitchFamily="34" charset="-120"/>
              </a:rPr>
              <a:t>products</a:t>
            </a:r>
            <a:endParaRPr lang="en-US" sz="1100" dirty="0"/>
          </a:p>
          <a:p>
            <a:pPr marL="0" indent="0">
              <a:spcAft>
                <a:spcPts val="400"/>
              </a:spcAft>
              <a:buNone/>
            </a:pP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These get named many times across a call. One clean list per category is what the reader wants.</a:t>
            </a:r>
            <a:endParaRPr lang="en-US" sz="1100" dirty="0"/>
          </a:p>
        </p:txBody>
      </p:sp>
      <p:sp>
        <p:nvSpPr>
          <p:cNvPr id="6" name="Shape 4"/>
          <p:cNvSpPr/>
          <p:nvPr/>
        </p:nvSpPr>
        <p:spPr>
          <a:xfrm>
            <a:off x="6217920" y="1280160"/>
            <a:ext cx="5486400" cy="4572000"/>
          </a:xfrm>
          <a:prstGeom prst="rect">
            <a:avLst/>
          </a:prstGeom>
          <a:solidFill>
            <a:srgbClr val="F3F3F1"/>
          </a:solidFill>
          <a:ln w="6350">
            <a:solidFill>
              <a:srgbClr val="8996A0"/>
            </a:solidFill>
            <a:prstDash val="solid"/>
          </a:ln>
        </p:spPr>
      </p:sp>
      <p:sp>
        <p:nvSpPr>
          <p:cNvPr id="7" name="Text 5"/>
          <p:cNvSpPr/>
          <p:nvPr/>
        </p:nvSpPr>
        <p:spPr>
          <a:xfrm>
            <a:off x="6355080" y="1371600"/>
            <a:ext cx="5212080" cy="365760"/>
          </a:xfrm>
          <a:prstGeom prst="rect">
            <a:avLst/>
          </a:prstGeom>
          <a:noFill/>
          <a:ln/>
        </p:spPr>
        <p:txBody>
          <a:bodyPr wrap="square" lIns="0" tIns="0" rIns="0" bIns="0" rtlCol="0" anchor="ctr"/>
          <a:lstStyle/>
          <a:p>
            <a:pPr marL="0" indent="0">
              <a:buNone/>
            </a:pPr>
            <a:r>
              <a:rPr lang="en-US" sz="1400" b="1" dirty="0">
                <a:solidFill>
                  <a:srgbClr val="293352"/>
                </a:solidFill>
                <a:latin typeface="Arial" pitchFamily="34" charset="0"/>
                <a:ea typeface="Arial" pitchFamily="34" charset="-122"/>
                <a:cs typeface="Arial" pitchFamily="34" charset="-120"/>
              </a:rPr>
              <a:t>Claims  ·  KEEP ALL, ATTRIBUTE</a:t>
            </a:r>
            <a:endParaRPr lang="en-US" sz="1400" dirty="0"/>
          </a:p>
        </p:txBody>
      </p:sp>
      <p:sp>
        <p:nvSpPr>
          <p:cNvPr id="8" name="Text 6"/>
          <p:cNvSpPr/>
          <p:nvPr/>
        </p:nvSpPr>
        <p:spPr>
          <a:xfrm>
            <a:off x="6355080" y="1783080"/>
            <a:ext cx="5212080" cy="3977640"/>
          </a:xfrm>
          <a:prstGeom prst="rect">
            <a:avLst/>
          </a:prstGeom>
          <a:noFill/>
          <a:ln/>
        </p:spPr>
        <p:txBody>
          <a:bodyPr wrap="square" lIns="0" tIns="0" rIns="0" bIns="0" rtlCol="0" anchor="t"/>
          <a:lstStyle/>
          <a:p>
            <a:pPr marL="342900" indent="-342900">
              <a:spcAft>
                <a:spcPts val="400"/>
              </a:spcAft>
              <a:buSzPct val="100000"/>
              <a:buChar char="•"/>
            </a:pPr>
            <a:r>
              <a:rPr lang="en-US" sz="1100" b="1" dirty="0">
                <a:solidFill>
                  <a:srgbClr val="1E1E1E"/>
                </a:solidFill>
                <a:latin typeface="Arial" pitchFamily="34" charset="0"/>
                <a:ea typeface="Arial" pitchFamily="34" charset="-122"/>
                <a:cs typeface="Arial" pitchFamily="34" charset="-120"/>
              </a:rPr>
              <a:t>financial_figures</a:t>
            </a:r>
            <a:endParaRPr lang="en-US" sz="1100" dirty="0"/>
          </a:p>
          <a:p>
            <a:pPr marL="342900" indent="-342900">
              <a:spcAft>
                <a:spcPts val="400"/>
              </a:spcAft>
              <a:buSzPct val="100000"/>
              <a:buChar char="•"/>
            </a:pPr>
            <a:r>
              <a:rPr lang="en-US" sz="1100" b="1" dirty="0">
                <a:solidFill>
                  <a:srgbClr val="1E1E1E"/>
                </a:solidFill>
                <a:latin typeface="Arial" pitchFamily="34" charset="0"/>
                <a:ea typeface="Arial" pitchFamily="34" charset="-122"/>
                <a:cs typeface="Arial" pitchFamily="34" charset="-120"/>
              </a:rPr>
              <a:t>forward_looking_statements</a:t>
            </a:r>
            <a:endParaRPr lang="en-US" sz="1100" dirty="0"/>
          </a:p>
          <a:p>
            <a:pPr marL="0" indent="0">
              <a:spcAft>
                <a:spcPts val="400"/>
              </a:spcAft>
              <a:buNone/>
            </a:pP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Each figure and each statement is a separate claim by a specific speaker at a specific point in the call.</a:t>
            </a:r>
            <a:endParaRPr lang="en-US" sz="1100" dirty="0"/>
          </a:p>
          <a:p>
            <a:pPr marL="0" indent="0">
              <a:spcAft>
                <a:spcPts val="400"/>
              </a:spcAft>
              <a:buNone/>
            </a:pPr>
            <a:endParaRPr lang="en-US" sz="1100" dirty="0"/>
          </a:p>
          <a:p>
            <a:pPr marL="0" indent="0">
              <a:spcAft>
                <a:spcPts val="400"/>
              </a:spcAft>
              <a:buNone/>
            </a:pPr>
            <a:r>
              <a:rPr lang="en-US" sz="1100" i="1" dirty="0">
                <a:solidFill>
                  <a:srgbClr val="1E1E1E"/>
                </a:solidFill>
                <a:latin typeface="Arial" pitchFamily="34" charset="0"/>
                <a:ea typeface="Arial" pitchFamily="34" charset="-122"/>
                <a:cs typeface="Arial" pitchFamily="34" charset="-120"/>
              </a:rPr>
              <a:t>"The CFO said Q4 revenue would grow" is information. "Q4 revenue would grow" is a rumor.</a:t>
            </a:r>
            <a:endParaRPr lang="en-US" sz="1100" dirty="0"/>
          </a:p>
        </p:txBody>
      </p:sp>
      <p:sp>
        <p:nvSpPr>
          <p:cNvPr id="9" name="Text 7"/>
          <p:cNvSpPr/>
          <p:nvPr/>
        </p:nvSpPr>
        <p:spPr>
          <a:xfrm>
            <a:off x="457200" y="6035040"/>
            <a:ext cx="11247120" cy="365760"/>
          </a:xfrm>
          <a:prstGeom prst="rect">
            <a:avLst/>
          </a:prstGeom>
          <a:noFill/>
          <a:ln/>
        </p:spPr>
        <p:txBody>
          <a:bodyPr wrap="square" lIns="0" tIns="0" rIns="0" bIns="0" rtlCol="0" anchor="ctr"/>
          <a:lstStyle/>
          <a:p>
            <a:pPr marL="0" indent="0" algn="ctr">
              <a:buNone/>
            </a:pPr>
            <a:r>
              <a:rPr lang="en-US" sz="1300" i="1" dirty="0">
                <a:solidFill>
                  <a:srgbClr val="8996A0"/>
                </a:solidFill>
                <a:latin typeface="Arial" pitchFamily="34" charset="0"/>
                <a:ea typeface="Arial" pitchFamily="34" charset="-122"/>
                <a:cs typeface="Arial" pitchFamily="34" charset="-120"/>
              </a:rPr>
              <a:t>Attribution is the difference between a claim and a fact stripped of its speaker.</a:t>
            </a:r>
            <a:endParaRPr lang="en-US" sz="1300" dirty="0"/>
          </a:p>
        </p:txBody>
      </p:sp>
      <p:sp>
        <p:nvSpPr>
          <p:cNvPr id="10"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1" name="Harvard Page Number"/>
          <p:cNvSpPr txBox="1"/>
          <p:nvPr/>
        </p:nvSpPr>
        <p:spPr>
          <a:xfrm>
            <a:off x="11730577" y="6446043"/>
            <a:ext cx="324104" cy="274638"/>
          </a:xfrm>
          <a:prstGeom prst="rect">
            <a:avLst/>
          </a:prstGeom>
          <a:noFill/>
        </p:spPr>
        <p:txBody>
          <a:bodyPr wrap="none" lIns="0" tIns="0" rIns="0" bIns="0">
            <a:noAutofit/>
          </a:bodyPr>
          <a:lstStyle/>
          <a:p>
            <a:pPr algn="r"/>
            <a:fld id="{40A0454B-F84C-4F5F-A0FE-3F24747F46D0}" type="slidenum">
              <a:rPr lang="en-US" sz="1000">
                <a:solidFill>
                  <a:srgbClr val="8996A0"/>
                </a:solidFill>
                <a:latin typeface="Arial"/>
              </a:rPr>
              <a:t>16</a:t>
            </a:fld>
            <a:endParaRPr lang="en-US" sz="1000">
              <a:solidFill>
                <a:srgbClr val="8996A0"/>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A51C30"/>
        </a:solidFill>
        <a:effectLst/>
      </p:bgPr>
    </p:bg>
    <p:spTree>
      <p:nvGrpSpPr>
        <p:cNvPr id="1" name=""/>
        <p:cNvGrpSpPr/>
        <p:nvPr/>
      </p:nvGrpSpPr>
      <p:grpSpPr>
        <a:xfrm>
          <a:off x="0" y="0"/>
          <a:ext cx="0" cy="0"/>
          <a:chOff x="0" y="0"/>
          <a:chExt cx="0" cy="0"/>
        </a:xfrm>
      </p:grpSpPr>
      <p:sp>
        <p:nvSpPr>
          <p:cNvPr id="2" name="Text 0"/>
          <p:cNvSpPr/>
          <p:nvPr/>
        </p:nvSpPr>
        <p:spPr>
          <a:xfrm>
            <a:off x="457200" y="2743200"/>
            <a:ext cx="11247120" cy="1371600"/>
          </a:xfrm>
          <a:prstGeom prst="rect">
            <a:avLst/>
          </a:prstGeom>
          <a:noFill/>
          <a:ln/>
        </p:spPr>
        <p:txBody>
          <a:bodyPr wrap="square" rtlCol="0" anchor="ctr"/>
          <a:lstStyle/>
          <a:p>
            <a:pPr marL="0" indent="0" algn="ctr">
              <a:buNone/>
            </a:pPr>
            <a:r>
              <a:rPr lang="en-US" sz="4800" b="1" dirty="0">
                <a:solidFill>
                  <a:srgbClr val="FFFFFF"/>
                </a:solidFill>
                <a:latin typeface="Arial" pitchFamily="34" charset="0"/>
                <a:ea typeface="Arial" pitchFamily="34" charset="-122"/>
                <a:cs typeface="Arial" pitchFamily="34" charset="-120"/>
              </a:rPr>
              <a:t>FIN_G: The Human Review Surface</a:t>
            </a:r>
            <a:endParaRPr lang="en-US" sz="4800" dirty="0"/>
          </a:p>
        </p:txBody>
      </p:sp>
      <p:sp>
        <p:nvSpPr>
          <p:cNvPr id="3"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F3F3F1"/>
                </a:solidFill>
                <a:latin typeface="Arial"/>
              </a:rPr>
              <a:t>© 2026 Ted Kwartler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The Human Review Surface</a:t>
            </a:r>
            <a:endParaRPr lang="en-US" sz="3200" dirty="0"/>
          </a:p>
        </p:txBody>
      </p:sp>
      <p:sp>
        <p:nvSpPr>
          <p:cNvPr id="3" name="Shape 1"/>
          <p:cNvSpPr/>
          <p:nvPr/>
        </p:nvSpPr>
        <p:spPr>
          <a:xfrm>
            <a:off x="457200" y="1280160"/>
            <a:ext cx="11247120" cy="1828800"/>
          </a:xfrm>
          <a:prstGeom prst="rect">
            <a:avLst/>
          </a:prstGeom>
          <a:solidFill>
            <a:srgbClr val="F3F3F1"/>
          </a:solidFill>
          <a:ln w="6350">
            <a:solidFill>
              <a:srgbClr val="8996A0"/>
            </a:solidFill>
            <a:prstDash val="solid"/>
          </a:ln>
        </p:spPr>
      </p:sp>
      <p:sp>
        <p:nvSpPr>
          <p:cNvPr id="4" name="Text 2"/>
          <p:cNvSpPr/>
          <p:nvPr/>
        </p:nvSpPr>
        <p:spPr>
          <a:xfrm>
            <a:off x="594360" y="1371600"/>
            <a:ext cx="1097280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Definition</a:t>
            </a:r>
            <a:endParaRPr lang="en-US" sz="1400" dirty="0"/>
          </a:p>
        </p:txBody>
      </p:sp>
      <p:sp>
        <p:nvSpPr>
          <p:cNvPr id="5" name="Text 3"/>
          <p:cNvSpPr/>
          <p:nvPr/>
        </p:nvSpPr>
        <p:spPr>
          <a:xfrm>
            <a:off x="594360" y="1783080"/>
            <a:ext cx="10972800" cy="123444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One artifact that gathers every piece of evidence and every derived label into one place, so a human can open it, read it, and decide whether it should become a research note that gets shared.</a:t>
            </a:r>
            <a:endParaRPr lang="en-US" sz="1100" dirty="0"/>
          </a:p>
        </p:txBody>
      </p:sp>
      <p:sp>
        <p:nvSpPr>
          <p:cNvPr id="6" name="Shape 4"/>
          <p:cNvSpPr/>
          <p:nvPr/>
        </p:nvSpPr>
        <p:spPr>
          <a:xfrm>
            <a:off x="457200" y="3383280"/>
            <a:ext cx="11247120" cy="2377440"/>
          </a:xfrm>
          <a:prstGeom prst="rect">
            <a:avLst/>
          </a:prstGeom>
          <a:solidFill>
            <a:srgbClr val="293352"/>
          </a:solidFill>
          <a:ln w="12700">
            <a:solidFill>
              <a:srgbClr val="293352"/>
            </a:solidFill>
            <a:prstDash val="solid"/>
          </a:ln>
        </p:spPr>
      </p:sp>
      <p:sp>
        <p:nvSpPr>
          <p:cNvPr id="7" name="Text 5"/>
          <p:cNvSpPr/>
          <p:nvPr/>
        </p:nvSpPr>
        <p:spPr>
          <a:xfrm>
            <a:off x="640080" y="3566160"/>
            <a:ext cx="10881360" cy="822960"/>
          </a:xfrm>
          <a:prstGeom prst="rect">
            <a:avLst/>
          </a:prstGeom>
          <a:noFill/>
          <a:ln/>
        </p:spPr>
        <p:txBody>
          <a:bodyPr wrap="square" lIns="0" tIns="0" rIns="0" bIns="0" rtlCol="0" anchor="ctr"/>
          <a:lstStyle/>
          <a:p>
            <a:pPr marL="0" indent="0" algn="ctr">
              <a:buNone/>
            </a:pPr>
            <a:r>
              <a:rPr lang="en-US" sz="2800" i="1" dirty="0">
                <a:solidFill>
                  <a:srgbClr val="FFFFFF"/>
                </a:solidFill>
                <a:latin typeface="Arial" pitchFamily="34" charset="0"/>
                <a:ea typeface="Arial" pitchFamily="34" charset="-122"/>
                <a:cs typeface="Arial" pitchFamily="34" charset="-120"/>
              </a:rPr>
              <a:t>“The checkpoint Knight Capital did not build.</a:t>
            </a:r>
            <a:endParaRPr lang="en-US" sz="2800" dirty="0"/>
          </a:p>
        </p:txBody>
      </p:sp>
      <p:sp>
        <p:nvSpPr>
          <p:cNvPr id="8" name="Text 6"/>
          <p:cNvSpPr/>
          <p:nvPr/>
        </p:nvSpPr>
        <p:spPr>
          <a:xfrm>
            <a:off x="640080" y="4434840"/>
            <a:ext cx="10881360" cy="822960"/>
          </a:xfrm>
          <a:prstGeom prst="rect">
            <a:avLst/>
          </a:prstGeom>
          <a:noFill/>
          <a:ln/>
        </p:spPr>
        <p:txBody>
          <a:bodyPr wrap="square" lIns="0" tIns="0" rIns="0" bIns="0" rtlCol="0" anchor="ctr"/>
          <a:lstStyle/>
          <a:p>
            <a:pPr marL="0" indent="0" algn="ctr">
              <a:buNone/>
            </a:pPr>
            <a:r>
              <a:rPr lang="en-US" sz="2800" b="1" i="1" dirty="0">
                <a:solidFill>
                  <a:srgbClr val="FFFFFF"/>
                </a:solidFill>
                <a:latin typeface="Arial" pitchFamily="34" charset="0"/>
                <a:ea typeface="Arial" pitchFamily="34" charset="-122"/>
                <a:cs typeface="Arial" pitchFamily="34" charset="-120"/>
              </a:rPr>
              <a:t>But ours does!”</a:t>
            </a:r>
            <a:endParaRPr lang="en-US" sz="2800" dirty="0"/>
          </a:p>
        </p:txBody>
      </p:sp>
      <p:sp>
        <p:nvSpPr>
          <p:cNvPr id="9" name="Text 7"/>
          <p:cNvSpPr/>
          <p:nvPr/>
        </p:nvSpPr>
        <p:spPr>
          <a:xfrm>
            <a:off x="640080" y="5303520"/>
            <a:ext cx="10881360" cy="365760"/>
          </a:xfrm>
          <a:prstGeom prst="rect">
            <a:avLst/>
          </a:prstGeom>
          <a:noFill/>
          <a:ln/>
        </p:spPr>
        <p:txBody>
          <a:bodyPr wrap="square" lIns="0" tIns="0" rIns="0" bIns="0" rtlCol="0" anchor="ctr"/>
          <a:lstStyle/>
          <a:p>
            <a:pPr marL="0" indent="0" algn="ctr">
              <a:buNone/>
            </a:pPr>
            <a:r>
              <a:rPr lang="en-US" sz="1300" dirty="0">
                <a:solidFill>
                  <a:srgbClr val="F3F3F1"/>
                </a:solidFill>
                <a:latin typeface="Arial" pitchFamily="34" charset="0"/>
                <a:ea typeface="Arial" pitchFamily="34" charset="-122"/>
                <a:cs typeface="Arial" pitchFamily="34" charset="-120"/>
              </a:rPr>
              <a:t>Knight's code acted the moment it fired. No surface, no artifact, no human between the model and the market.</a:t>
            </a:r>
            <a:endParaRPr lang="en-US" sz="1300" dirty="0"/>
          </a:p>
        </p:txBody>
      </p:sp>
      <p:sp>
        <p:nvSpPr>
          <p:cNvPr id="10" name="Text 8"/>
          <p:cNvSpPr/>
          <p:nvPr/>
        </p:nvSpPr>
        <p:spPr>
          <a:xfrm>
            <a:off x="457200" y="5943600"/>
            <a:ext cx="11247120" cy="457200"/>
          </a:xfrm>
          <a:prstGeom prst="rect">
            <a:avLst/>
          </a:prstGeom>
          <a:noFill/>
          <a:ln/>
        </p:spPr>
        <p:txBody>
          <a:bodyPr wrap="square" lIns="0" tIns="0" rIns="0" bIns="0" rtlCol="0" anchor="ctr"/>
          <a:lstStyle/>
          <a:p>
            <a:pPr marL="0" indent="0" algn="ctr">
              <a:buNone/>
            </a:pPr>
            <a:r>
              <a:rPr lang="en-US" sz="1400" b="1" i="1" dirty="0">
                <a:solidFill>
                  <a:srgbClr val="A51C30"/>
                </a:solidFill>
                <a:latin typeface="Arial" pitchFamily="34" charset="0"/>
                <a:ea typeface="Arial" pitchFamily="34" charset="-122"/>
                <a:cs typeface="Arial" pitchFamily="34" charset="-120"/>
              </a:rPr>
              <a:t>Assemble the review surface deliberately. Read it before publishing.</a:t>
            </a:r>
            <a:endParaRPr lang="en-US" sz="1400" dirty="0"/>
          </a:p>
        </p:txBody>
      </p:sp>
      <p:sp>
        <p:nvSpPr>
          <p:cNvPr id="11"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2" name="Harvard Page Number"/>
          <p:cNvSpPr txBox="1"/>
          <p:nvPr/>
        </p:nvSpPr>
        <p:spPr>
          <a:xfrm>
            <a:off x="11730577" y="6446043"/>
            <a:ext cx="324104" cy="274638"/>
          </a:xfrm>
          <a:prstGeom prst="rect">
            <a:avLst/>
          </a:prstGeom>
          <a:noFill/>
        </p:spPr>
        <p:txBody>
          <a:bodyPr wrap="none" lIns="0" tIns="0" rIns="0" bIns="0">
            <a:noAutofit/>
          </a:bodyPr>
          <a:lstStyle/>
          <a:p>
            <a:pPr algn="r"/>
            <a:fld id="{D7F2A22C-418F-4F03-89E9-D86BA500D25F}" type="slidenum">
              <a:rPr lang="en-US" sz="1000">
                <a:solidFill>
                  <a:srgbClr val="8996A0"/>
                </a:solidFill>
                <a:latin typeface="Arial"/>
              </a:rPr>
              <a:t>18</a:t>
            </a:fld>
            <a:endParaRPr lang="en-US" sz="1000">
              <a:solidFill>
                <a:srgbClr val="8996A0"/>
              </a:solidFill>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FIN_G: Zero API Calls, Pure Assembly</a:t>
            </a:r>
            <a:endParaRPr lang="en-US" sz="3200" dirty="0"/>
          </a:p>
        </p:txBody>
      </p:sp>
      <p:sp>
        <p:nvSpPr>
          <p:cNvPr id="3" name="Shape 1"/>
          <p:cNvSpPr/>
          <p:nvPr/>
        </p:nvSpPr>
        <p:spPr>
          <a:xfrm>
            <a:off x="457200" y="1463040"/>
            <a:ext cx="3200400" cy="1188720"/>
          </a:xfrm>
          <a:prstGeom prst="rect">
            <a:avLst/>
          </a:prstGeom>
          <a:solidFill>
            <a:srgbClr val="F3F3F1"/>
          </a:solidFill>
          <a:ln w="6350">
            <a:solidFill>
              <a:srgbClr val="8996A0"/>
            </a:solidFill>
            <a:prstDash val="solid"/>
          </a:ln>
        </p:spPr>
      </p:sp>
      <p:sp>
        <p:nvSpPr>
          <p:cNvPr id="4" name="Text 2"/>
          <p:cNvSpPr/>
          <p:nvPr/>
        </p:nvSpPr>
        <p:spPr>
          <a:xfrm>
            <a:off x="594360" y="1554480"/>
            <a:ext cx="292608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From FIN_D</a:t>
            </a:r>
            <a:endParaRPr lang="en-US" sz="1400" dirty="0"/>
          </a:p>
        </p:txBody>
      </p:sp>
      <p:sp>
        <p:nvSpPr>
          <p:cNvPr id="5" name="Text 3"/>
          <p:cNvSpPr/>
          <p:nvPr/>
        </p:nvSpPr>
        <p:spPr>
          <a:xfrm>
            <a:off x="594360" y="1965960"/>
            <a:ext cx="2926080" cy="59436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assembled_context.rds (transcript + news + macro)</a:t>
            </a:r>
            <a:endParaRPr lang="en-US" sz="1100" dirty="0"/>
          </a:p>
        </p:txBody>
      </p:sp>
      <p:sp>
        <p:nvSpPr>
          <p:cNvPr id="6" name="Shape 4"/>
          <p:cNvSpPr/>
          <p:nvPr/>
        </p:nvSpPr>
        <p:spPr>
          <a:xfrm>
            <a:off x="457200" y="2788920"/>
            <a:ext cx="3200400" cy="1188720"/>
          </a:xfrm>
          <a:prstGeom prst="rect">
            <a:avLst/>
          </a:prstGeom>
          <a:solidFill>
            <a:srgbClr val="F3F3F1"/>
          </a:solidFill>
          <a:ln w="6350">
            <a:solidFill>
              <a:srgbClr val="8996A0"/>
            </a:solidFill>
            <a:prstDash val="solid"/>
          </a:ln>
        </p:spPr>
      </p:sp>
      <p:sp>
        <p:nvSpPr>
          <p:cNvPr id="7" name="Text 5"/>
          <p:cNvSpPr/>
          <p:nvPr/>
        </p:nvSpPr>
        <p:spPr>
          <a:xfrm>
            <a:off x="594360" y="2880360"/>
            <a:ext cx="292608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From FIN_E</a:t>
            </a:r>
            <a:endParaRPr lang="en-US" sz="1400" dirty="0"/>
          </a:p>
        </p:txBody>
      </p:sp>
      <p:sp>
        <p:nvSpPr>
          <p:cNvPr id="8" name="Text 6"/>
          <p:cNvSpPr/>
          <p:nvPr/>
        </p:nvSpPr>
        <p:spPr>
          <a:xfrm>
            <a:off x="594360" y="3291840"/>
            <a:ext cx="2926080" cy="59436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sentiment_scores + sentiment_summary</a:t>
            </a:r>
            <a:endParaRPr lang="en-US" sz="1100" dirty="0"/>
          </a:p>
        </p:txBody>
      </p:sp>
      <p:sp>
        <p:nvSpPr>
          <p:cNvPr id="9" name="Shape 7"/>
          <p:cNvSpPr/>
          <p:nvPr/>
        </p:nvSpPr>
        <p:spPr>
          <a:xfrm>
            <a:off x="457200" y="4114800"/>
            <a:ext cx="3200400" cy="1188720"/>
          </a:xfrm>
          <a:prstGeom prst="rect">
            <a:avLst/>
          </a:prstGeom>
          <a:solidFill>
            <a:srgbClr val="F3F3F1"/>
          </a:solidFill>
          <a:ln w="6350">
            <a:solidFill>
              <a:srgbClr val="8996A0"/>
            </a:solidFill>
            <a:prstDash val="solid"/>
          </a:ln>
        </p:spPr>
      </p:sp>
      <p:sp>
        <p:nvSpPr>
          <p:cNvPr id="10" name="Text 8"/>
          <p:cNvSpPr/>
          <p:nvPr/>
        </p:nvSpPr>
        <p:spPr>
          <a:xfrm>
            <a:off x="594360" y="4206240"/>
            <a:ext cx="292608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From FIN_F</a:t>
            </a:r>
            <a:endParaRPr lang="en-US" sz="1400" dirty="0"/>
          </a:p>
        </p:txBody>
      </p:sp>
      <p:sp>
        <p:nvSpPr>
          <p:cNvPr id="11" name="Text 9"/>
          <p:cNvSpPr/>
          <p:nvPr/>
        </p:nvSpPr>
        <p:spPr>
          <a:xfrm>
            <a:off x="594360" y="4617720"/>
            <a:ext cx="2926080" cy="59436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extraction_per_turn + extraction_summary</a:t>
            </a:r>
            <a:endParaRPr lang="en-US" sz="1100" dirty="0"/>
          </a:p>
        </p:txBody>
      </p:sp>
      <p:sp>
        <p:nvSpPr>
          <p:cNvPr id="12" name="Shape 10"/>
          <p:cNvSpPr/>
          <p:nvPr/>
        </p:nvSpPr>
        <p:spPr>
          <a:xfrm>
            <a:off x="3749040" y="3200400"/>
            <a:ext cx="640080" cy="457200"/>
          </a:xfrm>
          <a:prstGeom prst="rightArrow">
            <a:avLst/>
          </a:prstGeom>
          <a:solidFill>
            <a:srgbClr val="8996A0"/>
          </a:solidFill>
          <a:ln w="12700">
            <a:solidFill>
              <a:srgbClr val="8996A0"/>
            </a:solidFill>
            <a:prstDash val="solid"/>
          </a:ln>
        </p:spPr>
      </p:sp>
      <p:sp>
        <p:nvSpPr>
          <p:cNvPr id="13" name="Shape 11"/>
          <p:cNvSpPr/>
          <p:nvPr/>
        </p:nvSpPr>
        <p:spPr>
          <a:xfrm>
            <a:off x="4480560" y="2377440"/>
            <a:ext cx="3200400" cy="2194560"/>
          </a:xfrm>
          <a:prstGeom prst="rect">
            <a:avLst/>
          </a:prstGeom>
          <a:solidFill>
            <a:srgbClr val="FFFFFF"/>
          </a:solidFill>
          <a:ln w="6350">
            <a:solidFill>
              <a:srgbClr val="8996A0"/>
            </a:solidFill>
            <a:prstDash val="solid"/>
          </a:ln>
        </p:spPr>
      </p:sp>
      <p:sp>
        <p:nvSpPr>
          <p:cNvPr id="14" name="Text 12"/>
          <p:cNvSpPr/>
          <p:nvPr/>
        </p:nvSpPr>
        <p:spPr>
          <a:xfrm>
            <a:off x="4617720" y="2468880"/>
            <a:ext cx="2926080" cy="365760"/>
          </a:xfrm>
          <a:prstGeom prst="rect">
            <a:avLst/>
          </a:prstGeom>
          <a:noFill/>
          <a:ln/>
        </p:spPr>
        <p:txBody>
          <a:bodyPr wrap="square" lIns="0" tIns="0" rIns="0" bIns="0" rtlCol="0" anchor="ctr"/>
          <a:lstStyle/>
          <a:p>
            <a:pPr marL="0" indent="0">
              <a:buNone/>
            </a:pPr>
            <a:r>
              <a:rPr lang="en-US" sz="1400" b="1" dirty="0">
                <a:solidFill>
                  <a:srgbClr val="293352"/>
                </a:solidFill>
                <a:latin typeface="Arial" pitchFamily="34" charset="0"/>
                <a:ea typeface="Arial" pitchFamily="34" charset="-122"/>
                <a:cs typeface="Arial" pitchFamily="34" charset="-120"/>
              </a:rPr>
              <a:t>FIN_G assembly</a:t>
            </a:r>
            <a:endParaRPr lang="en-US" sz="1400" dirty="0"/>
          </a:p>
        </p:txBody>
      </p:sp>
      <p:sp>
        <p:nvSpPr>
          <p:cNvPr id="15" name="Text 13"/>
          <p:cNvSpPr/>
          <p:nvPr/>
        </p:nvSpPr>
        <p:spPr>
          <a:xfrm>
            <a:off x="4617720" y="2880360"/>
            <a:ext cx="2926080" cy="16002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One nested list</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jsonlite::toJSON pretty printed</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Coverage sanity check</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Written to context_files/</a:t>
            </a:r>
            <a:endParaRPr lang="en-US" sz="1100" dirty="0"/>
          </a:p>
        </p:txBody>
      </p:sp>
      <p:sp>
        <p:nvSpPr>
          <p:cNvPr id="16" name="Shape 14"/>
          <p:cNvSpPr/>
          <p:nvPr/>
        </p:nvSpPr>
        <p:spPr>
          <a:xfrm>
            <a:off x="7772400" y="3200400"/>
            <a:ext cx="640080" cy="457200"/>
          </a:xfrm>
          <a:prstGeom prst="rightArrow">
            <a:avLst/>
          </a:prstGeom>
          <a:solidFill>
            <a:srgbClr val="8996A0"/>
          </a:solidFill>
          <a:ln w="12700">
            <a:solidFill>
              <a:srgbClr val="8996A0"/>
            </a:solidFill>
            <a:prstDash val="solid"/>
          </a:ln>
        </p:spPr>
      </p:sp>
      <p:sp>
        <p:nvSpPr>
          <p:cNvPr id="17" name="Shape 15"/>
          <p:cNvSpPr/>
          <p:nvPr/>
        </p:nvSpPr>
        <p:spPr>
          <a:xfrm>
            <a:off x="8503920" y="1463040"/>
            <a:ext cx="3200400" cy="1737360"/>
          </a:xfrm>
          <a:prstGeom prst="rect">
            <a:avLst/>
          </a:prstGeom>
          <a:solidFill>
            <a:srgbClr val="F3F3F1"/>
          </a:solidFill>
          <a:ln w="6350">
            <a:solidFill>
              <a:srgbClr val="8996A0"/>
            </a:solidFill>
            <a:prstDash val="solid"/>
          </a:ln>
        </p:spPr>
      </p:sp>
      <p:sp>
        <p:nvSpPr>
          <p:cNvPr id="18" name="Text 16"/>
          <p:cNvSpPr/>
          <p:nvPr/>
        </p:nvSpPr>
        <p:spPr>
          <a:xfrm>
            <a:off x="8641080" y="1554480"/>
            <a:ext cx="292608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human_review_surface.json</a:t>
            </a:r>
            <a:endParaRPr lang="en-US" sz="1400" dirty="0"/>
          </a:p>
        </p:txBody>
      </p:sp>
      <p:sp>
        <p:nvSpPr>
          <p:cNvPr id="19" name="Text 17"/>
          <p:cNvSpPr/>
          <p:nvPr/>
        </p:nvSpPr>
        <p:spPr>
          <a:xfrm>
            <a:off x="8641080" y="1965960"/>
            <a:ext cx="2926080" cy="114300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The artifact a human opens and reads. Every piece of evidence, every derived label.</a:t>
            </a:r>
            <a:endParaRPr lang="en-US" sz="1100" dirty="0"/>
          </a:p>
        </p:txBody>
      </p:sp>
      <p:sp>
        <p:nvSpPr>
          <p:cNvPr id="20" name="Shape 18"/>
          <p:cNvSpPr/>
          <p:nvPr/>
        </p:nvSpPr>
        <p:spPr>
          <a:xfrm>
            <a:off x="8503920" y="3337560"/>
            <a:ext cx="3200400" cy="1737360"/>
          </a:xfrm>
          <a:prstGeom prst="rect">
            <a:avLst/>
          </a:prstGeom>
          <a:solidFill>
            <a:srgbClr val="F3F3F1"/>
          </a:solidFill>
          <a:ln w="6350">
            <a:solidFill>
              <a:srgbClr val="8996A0"/>
            </a:solidFill>
            <a:prstDash val="solid"/>
          </a:ln>
        </p:spPr>
      </p:sp>
      <p:sp>
        <p:nvSpPr>
          <p:cNvPr id="21" name="Text 19"/>
          <p:cNvSpPr/>
          <p:nvPr/>
        </p:nvSpPr>
        <p:spPr>
          <a:xfrm>
            <a:off x="8641080" y="3429000"/>
            <a:ext cx="292608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chatbot_prompt.txt</a:t>
            </a:r>
            <a:endParaRPr lang="en-US" sz="1400" dirty="0"/>
          </a:p>
        </p:txBody>
      </p:sp>
      <p:sp>
        <p:nvSpPr>
          <p:cNvPr id="22" name="Text 20"/>
          <p:cNvSpPr/>
          <p:nvPr/>
        </p:nvSpPr>
        <p:spPr>
          <a:xfrm>
            <a:off x="8641080" y="3840480"/>
            <a:ext cx="2926080" cy="114300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System + user prompt with the JSON inline. Copy into Gemini, Claude, ChatGPT, or duck.ai.</a:t>
            </a:r>
            <a:endParaRPr lang="en-US" sz="1100" dirty="0"/>
          </a:p>
        </p:txBody>
      </p:sp>
      <p:sp>
        <p:nvSpPr>
          <p:cNvPr id="23" name="Text 21"/>
          <p:cNvSpPr/>
          <p:nvPr/>
        </p:nvSpPr>
        <p:spPr>
          <a:xfrm>
            <a:off x="457200" y="5943600"/>
            <a:ext cx="11247120" cy="457200"/>
          </a:xfrm>
          <a:prstGeom prst="rect">
            <a:avLst/>
          </a:prstGeom>
          <a:noFill/>
          <a:ln/>
        </p:spPr>
        <p:txBody>
          <a:bodyPr wrap="square" lIns="0" tIns="0" rIns="0" bIns="0" rtlCol="0" anchor="ctr"/>
          <a:lstStyle/>
          <a:p>
            <a:pPr marL="0" indent="0" algn="ctr">
              <a:buNone/>
            </a:pPr>
            <a:r>
              <a:rPr lang="en-US" sz="1300" i="1" dirty="0">
                <a:solidFill>
                  <a:srgbClr val="8996A0"/>
                </a:solidFill>
                <a:latin typeface="Arial" pitchFamily="34" charset="0"/>
                <a:ea typeface="Arial" pitchFamily="34" charset="-122"/>
                <a:cs typeface="Arial" pitchFamily="34" charset="-120"/>
              </a:rPr>
              <a:t>The interpretation step is portable. The review surface is not tied to any one model.</a:t>
            </a:r>
            <a:endParaRPr lang="en-US" sz="1300" dirty="0"/>
          </a:p>
        </p:txBody>
      </p:sp>
      <p:sp>
        <p:nvSpPr>
          <p:cNvPr id="24"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25" name="Harvard Page Number"/>
          <p:cNvSpPr txBox="1"/>
          <p:nvPr/>
        </p:nvSpPr>
        <p:spPr>
          <a:xfrm>
            <a:off x="11730577" y="6446043"/>
            <a:ext cx="324104" cy="274638"/>
          </a:xfrm>
          <a:prstGeom prst="rect">
            <a:avLst/>
          </a:prstGeom>
          <a:noFill/>
        </p:spPr>
        <p:txBody>
          <a:bodyPr wrap="none" lIns="0" tIns="0" rIns="0" bIns="0">
            <a:noAutofit/>
          </a:bodyPr>
          <a:lstStyle/>
          <a:p>
            <a:pPr algn="r"/>
            <a:fld id="{951EE521-30A2-4020-802B-85DE43A66086}" type="slidenum">
              <a:rPr lang="en-US" sz="1000">
                <a:solidFill>
                  <a:srgbClr val="8996A0"/>
                </a:solidFill>
                <a:latin typeface="Arial"/>
              </a:rPr>
              <a:t>19</a:t>
            </a:fld>
            <a:endParaRPr lang="en-US" sz="1000">
              <a:solidFill>
                <a:srgbClr val="8996A0"/>
              </a:solidFill>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The Workflow: One Block Per Script</a:t>
            </a:r>
            <a:endParaRPr lang="en-US" sz="3200" dirty="0"/>
          </a:p>
        </p:txBody>
      </p:sp>
      <p:sp>
        <p:nvSpPr>
          <p:cNvPr id="3" name="Text 1"/>
          <p:cNvSpPr/>
          <p:nvPr/>
        </p:nvSpPr>
        <p:spPr>
          <a:xfrm>
            <a:off x="457200" y="1234440"/>
            <a:ext cx="2743200" cy="320040"/>
          </a:xfrm>
          <a:prstGeom prst="rect">
            <a:avLst/>
          </a:prstGeom>
          <a:noFill/>
          <a:ln/>
        </p:spPr>
        <p:txBody>
          <a:bodyPr wrap="square" lIns="0" tIns="0" rIns="0" bIns="0" rtlCol="0" anchor="ctr"/>
          <a:lstStyle/>
          <a:p>
            <a:pPr marL="0" indent="0" algn="ctr">
              <a:buNone/>
            </a:pPr>
            <a:r>
              <a:rPr lang="en-US" sz="1100" b="1" dirty="0">
                <a:solidFill>
                  <a:srgbClr val="8996A0"/>
                </a:solidFill>
                <a:latin typeface="Arial" pitchFamily="34" charset="0"/>
                <a:ea typeface="Arial" pitchFamily="34" charset="-122"/>
                <a:cs typeface="Arial" pitchFamily="34" charset="-120"/>
              </a:rPr>
              <a:t>SOURCES</a:t>
            </a:r>
            <a:endParaRPr lang="en-US" sz="1100" dirty="0"/>
          </a:p>
        </p:txBody>
      </p:sp>
      <p:sp>
        <p:nvSpPr>
          <p:cNvPr id="4" name="Text 2"/>
          <p:cNvSpPr/>
          <p:nvPr/>
        </p:nvSpPr>
        <p:spPr>
          <a:xfrm>
            <a:off x="3383280" y="1234440"/>
            <a:ext cx="2743200" cy="320040"/>
          </a:xfrm>
          <a:prstGeom prst="rect">
            <a:avLst/>
          </a:prstGeom>
          <a:noFill/>
          <a:ln/>
        </p:spPr>
        <p:txBody>
          <a:bodyPr wrap="square" lIns="0" tIns="0" rIns="0" bIns="0" rtlCol="0" anchor="ctr"/>
          <a:lstStyle/>
          <a:p>
            <a:pPr marL="0" indent="0" algn="ctr">
              <a:buNone/>
            </a:pPr>
            <a:r>
              <a:rPr lang="en-US" sz="1100" b="1" dirty="0">
                <a:solidFill>
                  <a:srgbClr val="8996A0"/>
                </a:solidFill>
                <a:latin typeface="Arial" pitchFamily="34" charset="0"/>
                <a:ea typeface="Arial" pitchFamily="34" charset="-122"/>
                <a:cs typeface="Arial" pitchFamily="34" charset="-120"/>
              </a:rPr>
              <a:t>ANALYSIS</a:t>
            </a:r>
            <a:endParaRPr lang="en-US" sz="1100" dirty="0"/>
          </a:p>
        </p:txBody>
      </p:sp>
      <p:sp>
        <p:nvSpPr>
          <p:cNvPr id="5" name="Text 3"/>
          <p:cNvSpPr/>
          <p:nvPr/>
        </p:nvSpPr>
        <p:spPr>
          <a:xfrm>
            <a:off x="6309360" y="1234440"/>
            <a:ext cx="2743200" cy="320040"/>
          </a:xfrm>
          <a:prstGeom prst="rect">
            <a:avLst/>
          </a:prstGeom>
          <a:noFill/>
          <a:ln/>
        </p:spPr>
        <p:txBody>
          <a:bodyPr wrap="square" lIns="0" tIns="0" rIns="0" bIns="0" rtlCol="0" anchor="ctr"/>
          <a:lstStyle/>
          <a:p>
            <a:pPr marL="0" indent="0" algn="ctr">
              <a:buNone/>
            </a:pPr>
            <a:r>
              <a:rPr lang="en-US" sz="1100" b="1" dirty="0">
                <a:solidFill>
                  <a:srgbClr val="8996A0"/>
                </a:solidFill>
                <a:latin typeface="Arial" pitchFamily="34" charset="0"/>
                <a:ea typeface="Arial" pitchFamily="34" charset="-122"/>
                <a:cs typeface="Arial" pitchFamily="34" charset="-120"/>
              </a:rPr>
              <a:t>REVIEW SURFACE</a:t>
            </a:r>
            <a:endParaRPr lang="en-US" sz="1100" dirty="0"/>
          </a:p>
        </p:txBody>
      </p:sp>
      <p:sp>
        <p:nvSpPr>
          <p:cNvPr id="6" name="Text 4"/>
          <p:cNvSpPr/>
          <p:nvPr/>
        </p:nvSpPr>
        <p:spPr>
          <a:xfrm>
            <a:off x="9235440" y="1234440"/>
            <a:ext cx="2743200" cy="320040"/>
          </a:xfrm>
          <a:prstGeom prst="rect">
            <a:avLst/>
          </a:prstGeom>
          <a:noFill/>
          <a:ln/>
        </p:spPr>
        <p:txBody>
          <a:bodyPr wrap="square" lIns="0" tIns="0" rIns="0" bIns="0" rtlCol="0" anchor="ctr"/>
          <a:lstStyle/>
          <a:p>
            <a:pPr marL="0" indent="0" algn="ctr">
              <a:buNone/>
            </a:pPr>
            <a:r>
              <a:rPr lang="en-US" sz="1100" b="1" dirty="0">
                <a:solidFill>
                  <a:srgbClr val="8996A0"/>
                </a:solidFill>
                <a:latin typeface="Arial" pitchFamily="34" charset="0"/>
                <a:ea typeface="Arial" pitchFamily="34" charset="-122"/>
                <a:cs typeface="Arial" pitchFamily="34" charset="-120"/>
              </a:rPr>
              <a:t>OUTPUT</a:t>
            </a:r>
            <a:endParaRPr lang="en-US" sz="1100" dirty="0"/>
          </a:p>
        </p:txBody>
      </p:sp>
      <p:sp>
        <p:nvSpPr>
          <p:cNvPr id="7" name="Shape 5"/>
          <p:cNvSpPr/>
          <p:nvPr/>
        </p:nvSpPr>
        <p:spPr>
          <a:xfrm>
            <a:off x="457200" y="1691640"/>
            <a:ext cx="2743200" cy="1280160"/>
          </a:xfrm>
          <a:prstGeom prst="rect">
            <a:avLst/>
          </a:prstGeom>
          <a:solidFill>
            <a:srgbClr val="F3F3F1"/>
          </a:solidFill>
          <a:ln w="6350">
            <a:solidFill>
              <a:srgbClr val="8996A0"/>
            </a:solidFill>
            <a:prstDash val="solid"/>
          </a:ln>
        </p:spPr>
      </p:sp>
      <p:sp>
        <p:nvSpPr>
          <p:cNvPr id="8" name="Text 6"/>
          <p:cNvSpPr/>
          <p:nvPr/>
        </p:nvSpPr>
        <p:spPr>
          <a:xfrm>
            <a:off x="594360" y="1737360"/>
            <a:ext cx="2468880" cy="320040"/>
          </a:xfrm>
          <a:prstGeom prst="rect">
            <a:avLst/>
          </a:prstGeom>
          <a:noFill/>
          <a:ln/>
        </p:spPr>
        <p:txBody>
          <a:bodyPr wrap="square" lIns="0" tIns="0" rIns="0" bIns="0" rtlCol="0" anchor="ctr"/>
          <a:lstStyle/>
          <a:p>
            <a:pPr marL="0" indent="0">
              <a:buNone/>
            </a:pPr>
            <a:r>
              <a:rPr lang="en-US" sz="1300" b="1" dirty="0">
                <a:solidFill>
                  <a:srgbClr val="A51C30"/>
                </a:solidFill>
                <a:latin typeface="Arial" pitchFamily="34" charset="0"/>
                <a:ea typeface="Arial" pitchFamily="34" charset="-122"/>
                <a:cs typeface="Arial" pitchFamily="34" charset="-120"/>
              </a:rPr>
              <a:t>A: </a:t>
            </a:r>
            <a:r>
              <a:rPr lang="en-US" sz="1300" b="1" dirty="0">
                <a:solidFill>
                  <a:srgbClr val="293352"/>
                </a:solidFill>
                <a:latin typeface="Arial" pitchFamily="34" charset="0"/>
                <a:ea typeface="Arial" pitchFamily="34" charset="-122"/>
                <a:cs typeface="Arial" pitchFamily="34" charset="-120"/>
              </a:rPr>
              <a:t>Load Documents</a:t>
            </a:r>
            <a:endParaRPr lang="en-US" sz="1300" dirty="0"/>
          </a:p>
        </p:txBody>
      </p:sp>
      <p:sp>
        <p:nvSpPr>
          <p:cNvPr id="9" name="Text 7"/>
          <p:cNvSpPr/>
          <p:nvPr/>
        </p:nvSpPr>
        <p:spPr>
          <a:xfrm>
            <a:off x="594360" y="2075688"/>
            <a:ext cx="2468880" cy="822960"/>
          </a:xfrm>
          <a:prstGeom prst="rect">
            <a:avLst/>
          </a:prstGeom>
          <a:noFill/>
          <a:ln/>
        </p:spPr>
        <p:txBody>
          <a:bodyPr wrap="square" lIns="0" tIns="0" rIns="0" bIns="0" rtlCol="0" anchor="t"/>
          <a:lstStyle/>
          <a:p>
            <a:pPr marL="0" indent="0">
              <a:buNone/>
            </a:pPr>
            <a:r>
              <a:rPr lang="en-US" sz="1000" dirty="0">
                <a:solidFill>
                  <a:srgbClr val="1E1E1E"/>
                </a:solidFill>
                <a:latin typeface="Arial" pitchFamily="34" charset="0"/>
                <a:ea typeface="Arial" pitchFamily="34" charset="-122"/>
                <a:cs typeface="Arial" pitchFamily="34" charset="-120"/>
              </a:rPr>
              <a:t>Read transcript CSVs.</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Split by speaker role.</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Size the context problem.</a:t>
            </a:r>
            <a:endParaRPr lang="en-US" sz="1000" dirty="0"/>
          </a:p>
        </p:txBody>
      </p:sp>
      <p:sp>
        <p:nvSpPr>
          <p:cNvPr id="10" name="Shape 8"/>
          <p:cNvSpPr/>
          <p:nvPr/>
        </p:nvSpPr>
        <p:spPr>
          <a:xfrm>
            <a:off x="457200" y="3090672"/>
            <a:ext cx="2743200" cy="1280160"/>
          </a:xfrm>
          <a:prstGeom prst="rect">
            <a:avLst/>
          </a:prstGeom>
          <a:solidFill>
            <a:srgbClr val="F3F3F1"/>
          </a:solidFill>
          <a:ln w="6350">
            <a:solidFill>
              <a:srgbClr val="8996A0"/>
            </a:solidFill>
            <a:prstDash val="solid"/>
          </a:ln>
        </p:spPr>
      </p:sp>
      <p:sp>
        <p:nvSpPr>
          <p:cNvPr id="11" name="Text 9"/>
          <p:cNvSpPr/>
          <p:nvPr/>
        </p:nvSpPr>
        <p:spPr>
          <a:xfrm>
            <a:off x="594360" y="3136392"/>
            <a:ext cx="2468880" cy="320040"/>
          </a:xfrm>
          <a:prstGeom prst="rect">
            <a:avLst/>
          </a:prstGeom>
          <a:noFill/>
          <a:ln/>
        </p:spPr>
        <p:txBody>
          <a:bodyPr wrap="square" lIns="0" tIns="0" rIns="0" bIns="0" rtlCol="0" anchor="ctr"/>
          <a:lstStyle/>
          <a:p>
            <a:pPr marL="0" indent="0">
              <a:buNone/>
            </a:pPr>
            <a:r>
              <a:rPr lang="en-US" sz="1300" b="1" dirty="0">
                <a:solidFill>
                  <a:srgbClr val="A51C30"/>
                </a:solidFill>
                <a:latin typeface="Arial" pitchFamily="34" charset="0"/>
                <a:ea typeface="Arial" pitchFamily="34" charset="-122"/>
                <a:cs typeface="Arial" pitchFamily="34" charset="-120"/>
              </a:rPr>
              <a:t>B: </a:t>
            </a:r>
            <a:r>
              <a:rPr lang="en-US" sz="1300" b="1" dirty="0">
                <a:solidFill>
                  <a:srgbClr val="293352"/>
                </a:solidFill>
                <a:latin typeface="Arial" pitchFamily="34" charset="0"/>
                <a:ea typeface="Arial" pitchFamily="34" charset="-122"/>
                <a:cs typeface="Arial" pitchFamily="34" charset="-120"/>
              </a:rPr>
              <a:t>Macro Risk</a:t>
            </a:r>
            <a:endParaRPr lang="en-US" sz="1300" dirty="0"/>
          </a:p>
        </p:txBody>
      </p:sp>
      <p:sp>
        <p:nvSpPr>
          <p:cNvPr id="12" name="Text 10"/>
          <p:cNvSpPr/>
          <p:nvPr/>
        </p:nvSpPr>
        <p:spPr>
          <a:xfrm>
            <a:off x="594360" y="3474720"/>
            <a:ext cx="2468880" cy="822960"/>
          </a:xfrm>
          <a:prstGeom prst="rect">
            <a:avLst/>
          </a:prstGeom>
          <a:noFill/>
          <a:ln/>
        </p:spPr>
        <p:txBody>
          <a:bodyPr wrap="square" lIns="0" tIns="0" rIns="0" bIns="0" rtlCol="0" anchor="t"/>
          <a:lstStyle/>
          <a:p>
            <a:pPr marL="0" indent="0">
              <a:buNone/>
            </a:pPr>
            <a:r>
              <a:rPr lang="en-US" sz="1000" dirty="0">
                <a:solidFill>
                  <a:srgbClr val="1E1E1E"/>
                </a:solidFill>
                <a:latin typeface="Arial" pitchFamily="34" charset="0"/>
                <a:ea typeface="Arial" pitchFamily="34" charset="-122"/>
                <a:cs typeface="Arial" pitchFamily="34" charset="-120"/>
              </a:rPr>
              <a:t>Riskline alerts, no key.</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Filter to relevant countries.</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Render as prose.</a:t>
            </a:r>
            <a:endParaRPr lang="en-US" sz="1000" dirty="0"/>
          </a:p>
        </p:txBody>
      </p:sp>
      <p:sp>
        <p:nvSpPr>
          <p:cNvPr id="13" name="Shape 11"/>
          <p:cNvSpPr/>
          <p:nvPr/>
        </p:nvSpPr>
        <p:spPr>
          <a:xfrm>
            <a:off x="457200" y="4489704"/>
            <a:ext cx="2743200" cy="1280160"/>
          </a:xfrm>
          <a:prstGeom prst="rect">
            <a:avLst/>
          </a:prstGeom>
          <a:solidFill>
            <a:srgbClr val="F3F3F1"/>
          </a:solidFill>
          <a:ln w="6350">
            <a:solidFill>
              <a:srgbClr val="8996A0"/>
            </a:solidFill>
            <a:prstDash val="solid"/>
          </a:ln>
        </p:spPr>
      </p:sp>
      <p:sp>
        <p:nvSpPr>
          <p:cNvPr id="14" name="Text 12"/>
          <p:cNvSpPr/>
          <p:nvPr/>
        </p:nvSpPr>
        <p:spPr>
          <a:xfrm>
            <a:off x="594360" y="4535424"/>
            <a:ext cx="2468880" cy="320040"/>
          </a:xfrm>
          <a:prstGeom prst="rect">
            <a:avLst/>
          </a:prstGeom>
          <a:noFill/>
          <a:ln/>
        </p:spPr>
        <p:txBody>
          <a:bodyPr wrap="square" lIns="0" tIns="0" rIns="0" bIns="0" rtlCol="0" anchor="ctr"/>
          <a:lstStyle/>
          <a:p>
            <a:pPr marL="0" indent="0">
              <a:buNone/>
            </a:pPr>
            <a:r>
              <a:rPr lang="en-US" sz="1300" b="1" dirty="0">
                <a:solidFill>
                  <a:srgbClr val="A51C30"/>
                </a:solidFill>
                <a:latin typeface="Arial" pitchFamily="34" charset="0"/>
                <a:ea typeface="Arial" pitchFamily="34" charset="-122"/>
                <a:cs typeface="Arial" pitchFamily="34" charset="-120"/>
              </a:rPr>
              <a:t>C: </a:t>
            </a:r>
            <a:r>
              <a:rPr lang="en-US" sz="1300" b="1" dirty="0">
                <a:solidFill>
                  <a:srgbClr val="293352"/>
                </a:solidFill>
                <a:latin typeface="Arial" pitchFamily="34" charset="0"/>
                <a:ea typeface="Arial" pitchFamily="34" charset="-122"/>
                <a:cs typeface="Arial" pitchFamily="34" charset="-120"/>
              </a:rPr>
              <a:t>Company News</a:t>
            </a:r>
            <a:endParaRPr lang="en-US" sz="1300" dirty="0"/>
          </a:p>
        </p:txBody>
      </p:sp>
      <p:sp>
        <p:nvSpPr>
          <p:cNvPr id="15" name="Text 13"/>
          <p:cNvSpPr/>
          <p:nvPr/>
        </p:nvSpPr>
        <p:spPr>
          <a:xfrm>
            <a:off x="594360" y="4873752"/>
            <a:ext cx="2468880" cy="822960"/>
          </a:xfrm>
          <a:prstGeom prst="rect">
            <a:avLst/>
          </a:prstGeom>
          <a:noFill/>
          <a:ln/>
        </p:spPr>
        <p:txBody>
          <a:bodyPr wrap="square" lIns="0" tIns="0" rIns="0" bIns="0" rtlCol="0" anchor="t"/>
          <a:lstStyle/>
          <a:p>
            <a:pPr marL="0" indent="0">
              <a:buNone/>
            </a:pPr>
            <a:r>
              <a:rPr lang="en-US" sz="1000" dirty="0">
                <a:solidFill>
                  <a:srgbClr val="1E1E1E"/>
                </a:solidFill>
                <a:latin typeface="Arial" pitchFamily="34" charset="0"/>
                <a:ea typeface="Arial" pitchFamily="34" charset="-122"/>
                <a:cs typeface="Arial" pitchFamily="34" charset="-120"/>
              </a:rPr>
              <a:t>NewsAPI headlines.</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Perplexity Sonar for depth.</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Cited briefing.</a:t>
            </a:r>
            <a:endParaRPr lang="en-US" sz="1000" dirty="0"/>
          </a:p>
        </p:txBody>
      </p:sp>
      <p:sp>
        <p:nvSpPr>
          <p:cNvPr id="16" name="Shape 14"/>
          <p:cNvSpPr/>
          <p:nvPr/>
        </p:nvSpPr>
        <p:spPr>
          <a:xfrm>
            <a:off x="3383280" y="1691640"/>
            <a:ext cx="2743200" cy="1280160"/>
          </a:xfrm>
          <a:prstGeom prst="rect">
            <a:avLst/>
          </a:prstGeom>
          <a:solidFill>
            <a:srgbClr val="F3F3F1"/>
          </a:solidFill>
          <a:ln w="6350">
            <a:solidFill>
              <a:srgbClr val="8996A0"/>
            </a:solidFill>
            <a:prstDash val="solid"/>
          </a:ln>
        </p:spPr>
      </p:sp>
      <p:sp>
        <p:nvSpPr>
          <p:cNvPr id="17" name="Text 15"/>
          <p:cNvSpPr/>
          <p:nvPr/>
        </p:nvSpPr>
        <p:spPr>
          <a:xfrm>
            <a:off x="3520440" y="1737360"/>
            <a:ext cx="2468880" cy="320040"/>
          </a:xfrm>
          <a:prstGeom prst="rect">
            <a:avLst/>
          </a:prstGeom>
          <a:noFill/>
          <a:ln/>
        </p:spPr>
        <p:txBody>
          <a:bodyPr wrap="square" lIns="0" tIns="0" rIns="0" bIns="0" rtlCol="0" anchor="ctr"/>
          <a:lstStyle/>
          <a:p>
            <a:pPr marL="0" indent="0">
              <a:buNone/>
            </a:pPr>
            <a:r>
              <a:rPr lang="en-US" sz="1300" b="1" dirty="0">
                <a:solidFill>
                  <a:srgbClr val="A51C30"/>
                </a:solidFill>
                <a:latin typeface="Arial" pitchFamily="34" charset="0"/>
                <a:ea typeface="Arial" pitchFamily="34" charset="-122"/>
                <a:cs typeface="Arial" pitchFamily="34" charset="-120"/>
              </a:rPr>
              <a:t>D: </a:t>
            </a:r>
            <a:r>
              <a:rPr lang="en-US" sz="1300" b="1" dirty="0">
                <a:solidFill>
                  <a:srgbClr val="293352"/>
                </a:solidFill>
                <a:latin typeface="Arial" pitchFamily="34" charset="0"/>
                <a:ea typeface="Arial" pitchFamily="34" charset="-122"/>
                <a:cs typeface="Arial" pitchFamily="34" charset="-120"/>
              </a:rPr>
              <a:t>Build Context</a:t>
            </a:r>
            <a:endParaRPr lang="en-US" sz="1300" dirty="0"/>
          </a:p>
        </p:txBody>
      </p:sp>
      <p:sp>
        <p:nvSpPr>
          <p:cNvPr id="18" name="Text 16"/>
          <p:cNvSpPr/>
          <p:nvPr/>
        </p:nvSpPr>
        <p:spPr>
          <a:xfrm>
            <a:off x="3520440" y="2075688"/>
            <a:ext cx="2468880" cy="822960"/>
          </a:xfrm>
          <a:prstGeom prst="rect">
            <a:avLst/>
          </a:prstGeom>
          <a:noFill/>
          <a:ln/>
        </p:spPr>
        <p:txBody>
          <a:bodyPr wrap="square" lIns="0" tIns="0" rIns="0" bIns="0" rtlCol="0" anchor="t"/>
          <a:lstStyle/>
          <a:p>
            <a:pPr marL="0" indent="0">
              <a:buNone/>
            </a:pPr>
            <a:r>
              <a:rPr lang="en-US" sz="1000" dirty="0">
                <a:solidFill>
                  <a:srgbClr val="1E1E1E"/>
                </a:solidFill>
                <a:latin typeface="Arial" pitchFamily="34" charset="0"/>
                <a:ea typeface="Arial" pitchFamily="34" charset="-122"/>
                <a:cs typeface="Arial" pitchFamily="34" charset="-120"/>
              </a:rPr>
              <a:t>Assemble transcript, news, macro.</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System prompt with rules.</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First research note.</a:t>
            </a:r>
            <a:endParaRPr lang="en-US" sz="1000" dirty="0"/>
          </a:p>
        </p:txBody>
      </p:sp>
      <p:sp>
        <p:nvSpPr>
          <p:cNvPr id="19" name="Shape 17"/>
          <p:cNvSpPr/>
          <p:nvPr/>
        </p:nvSpPr>
        <p:spPr>
          <a:xfrm>
            <a:off x="3383280" y="3090672"/>
            <a:ext cx="2743200" cy="1280160"/>
          </a:xfrm>
          <a:prstGeom prst="rect">
            <a:avLst/>
          </a:prstGeom>
          <a:solidFill>
            <a:srgbClr val="F3F3F1"/>
          </a:solidFill>
          <a:ln w="6350">
            <a:solidFill>
              <a:srgbClr val="8996A0"/>
            </a:solidFill>
            <a:prstDash val="solid"/>
          </a:ln>
        </p:spPr>
      </p:sp>
      <p:sp>
        <p:nvSpPr>
          <p:cNvPr id="20" name="Text 18"/>
          <p:cNvSpPr/>
          <p:nvPr/>
        </p:nvSpPr>
        <p:spPr>
          <a:xfrm>
            <a:off x="3520440" y="3136392"/>
            <a:ext cx="2468880" cy="320040"/>
          </a:xfrm>
          <a:prstGeom prst="rect">
            <a:avLst/>
          </a:prstGeom>
          <a:noFill/>
          <a:ln/>
        </p:spPr>
        <p:txBody>
          <a:bodyPr wrap="square" lIns="0" tIns="0" rIns="0" bIns="0" rtlCol="0" anchor="ctr"/>
          <a:lstStyle/>
          <a:p>
            <a:pPr marL="0" indent="0">
              <a:buNone/>
            </a:pPr>
            <a:r>
              <a:rPr lang="en-US" sz="1300" b="1" dirty="0">
                <a:solidFill>
                  <a:srgbClr val="A51C30"/>
                </a:solidFill>
                <a:latin typeface="Arial" pitchFamily="34" charset="0"/>
                <a:ea typeface="Arial" pitchFamily="34" charset="-122"/>
                <a:cs typeface="Arial" pitchFamily="34" charset="-120"/>
              </a:rPr>
              <a:t>E: </a:t>
            </a:r>
            <a:r>
              <a:rPr lang="en-US" sz="1300" b="1" dirty="0">
                <a:solidFill>
                  <a:srgbClr val="293352"/>
                </a:solidFill>
                <a:latin typeface="Arial" pitchFamily="34" charset="0"/>
                <a:ea typeface="Arial" pitchFamily="34" charset="-122"/>
                <a:cs typeface="Arial" pitchFamily="34" charset="-120"/>
              </a:rPr>
              <a:t>Sentiment</a:t>
            </a:r>
            <a:endParaRPr lang="en-US" sz="1300" dirty="0"/>
          </a:p>
        </p:txBody>
      </p:sp>
      <p:sp>
        <p:nvSpPr>
          <p:cNvPr id="21" name="Text 19"/>
          <p:cNvSpPr/>
          <p:nvPr/>
        </p:nvSpPr>
        <p:spPr>
          <a:xfrm>
            <a:off x="3520440" y="3474720"/>
            <a:ext cx="2468880" cy="822960"/>
          </a:xfrm>
          <a:prstGeom prst="rect">
            <a:avLst/>
          </a:prstGeom>
          <a:noFill/>
          <a:ln/>
        </p:spPr>
        <p:txBody>
          <a:bodyPr wrap="square" lIns="0" tIns="0" rIns="0" bIns="0" rtlCol="0" anchor="t"/>
          <a:lstStyle/>
          <a:p>
            <a:pPr marL="0" indent="0">
              <a:buNone/>
            </a:pPr>
            <a:r>
              <a:rPr lang="en-US" sz="1000" dirty="0">
                <a:solidFill>
                  <a:srgbClr val="1E1E1E"/>
                </a:solidFill>
                <a:latin typeface="Arial" pitchFamily="34" charset="0"/>
                <a:ea typeface="Arial" pitchFamily="34" charset="-122"/>
                <a:cs typeface="Arial" pitchFamily="34" charset="-120"/>
              </a:rPr>
              <a:t>JSON schema per turn.</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Phrases + density + label.</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Aggregate to speaker, role, overall.</a:t>
            </a:r>
            <a:endParaRPr lang="en-US" sz="1000" dirty="0"/>
          </a:p>
        </p:txBody>
      </p:sp>
      <p:sp>
        <p:nvSpPr>
          <p:cNvPr id="22" name="Shape 20"/>
          <p:cNvSpPr/>
          <p:nvPr/>
        </p:nvSpPr>
        <p:spPr>
          <a:xfrm>
            <a:off x="3383280" y="4489704"/>
            <a:ext cx="2743200" cy="1280160"/>
          </a:xfrm>
          <a:prstGeom prst="rect">
            <a:avLst/>
          </a:prstGeom>
          <a:solidFill>
            <a:srgbClr val="F3F3F1"/>
          </a:solidFill>
          <a:ln w="6350">
            <a:solidFill>
              <a:srgbClr val="8996A0"/>
            </a:solidFill>
            <a:prstDash val="solid"/>
          </a:ln>
        </p:spPr>
      </p:sp>
      <p:sp>
        <p:nvSpPr>
          <p:cNvPr id="23" name="Text 21"/>
          <p:cNvSpPr/>
          <p:nvPr/>
        </p:nvSpPr>
        <p:spPr>
          <a:xfrm>
            <a:off x="3520440" y="4535424"/>
            <a:ext cx="2468880" cy="320040"/>
          </a:xfrm>
          <a:prstGeom prst="rect">
            <a:avLst/>
          </a:prstGeom>
          <a:noFill/>
          <a:ln/>
        </p:spPr>
        <p:txBody>
          <a:bodyPr wrap="square" lIns="0" tIns="0" rIns="0" bIns="0" rtlCol="0" anchor="ctr"/>
          <a:lstStyle/>
          <a:p>
            <a:pPr marL="0" indent="0">
              <a:buNone/>
            </a:pPr>
            <a:r>
              <a:rPr lang="en-US" sz="1300" b="1" dirty="0">
                <a:solidFill>
                  <a:srgbClr val="A51C30"/>
                </a:solidFill>
                <a:latin typeface="Arial" pitchFamily="34" charset="0"/>
                <a:ea typeface="Arial" pitchFamily="34" charset="-122"/>
                <a:cs typeface="Arial" pitchFamily="34" charset="-120"/>
              </a:rPr>
              <a:t>F: </a:t>
            </a:r>
            <a:r>
              <a:rPr lang="en-US" sz="1300" b="1" dirty="0">
                <a:solidFill>
                  <a:srgbClr val="293352"/>
                </a:solidFill>
                <a:latin typeface="Arial" pitchFamily="34" charset="0"/>
                <a:ea typeface="Arial" pitchFamily="34" charset="-122"/>
                <a:cs typeface="Arial" pitchFamily="34" charset="-120"/>
              </a:rPr>
              <a:t>Extraction</a:t>
            </a:r>
            <a:endParaRPr lang="en-US" sz="1300" dirty="0"/>
          </a:p>
        </p:txBody>
      </p:sp>
      <p:sp>
        <p:nvSpPr>
          <p:cNvPr id="24" name="Text 22"/>
          <p:cNvSpPr/>
          <p:nvPr/>
        </p:nvSpPr>
        <p:spPr>
          <a:xfrm>
            <a:off x="3520440" y="4873752"/>
            <a:ext cx="2468880" cy="822960"/>
          </a:xfrm>
          <a:prstGeom prst="rect">
            <a:avLst/>
          </a:prstGeom>
          <a:noFill/>
          <a:ln/>
        </p:spPr>
        <p:txBody>
          <a:bodyPr wrap="square" lIns="0" tIns="0" rIns="0" bIns="0" rtlCol="0" anchor="t"/>
          <a:lstStyle/>
          <a:p>
            <a:pPr marL="0" indent="0">
              <a:buNone/>
            </a:pPr>
            <a:r>
              <a:rPr lang="en-US" sz="1000" dirty="0">
                <a:solidFill>
                  <a:srgbClr val="1E1E1E"/>
                </a:solidFill>
                <a:latin typeface="Arial" pitchFamily="34" charset="0"/>
                <a:ea typeface="Arial" pitchFamily="34" charset="-122"/>
                <a:cs typeface="Arial" pitchFamily="34" charset="-120"/>
              </a:rPr>
              <a:t>Five categories per turn.</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Nested schema, worked example.</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Dedupe entities, attribute claims.</a:t>
            </a:r>
            <a:endParaRPr lang="en-US" sz="1000" dirty="0"/>
          </a:p>
        </p:txBody>
      </p:sp>
      <p:sp>
        <p:nvSpPr>
          <p:cNvPr id="25" name="Shape 23"/>
          <p:cNvSpPr/>
          <p:nvPr/>
        </p:nvSpPr>
        <p:spPr>
          <a:xfrm>
            <a:off x="6309360" y="1691640"/>
            <a:ext cx="2743200" cy="4078224"/>
          </a:xfrm>
          <a:prstGeom prst="rect">
            <a:avLst/>
          </a:prstGeom>
          <a:solidFill>
            <a:srgbClr val="293352"/>
          </a:solidFill>
          <a:ln w="12700">
            <a:solidFill>
              <a:srgbClr val="293352"/>
            </a:solidFill>
            <a:prstDash val="solid"/>
          </a:ln>
        </p:spPr>
      </p:sp>
      <p:sp>
        <p:nvSpPr>
          <p:cNvPr id="26" name="Text 24"/>
          <p:cNvSpPr/>
          <p:nvPr/>
        </p:nvSpPr>
        <p:spPr>
          <a:xfrm>
            <a:off x="6446520" y="1783080"/>
            <a:ext cx="2468880" cy="45720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G: Assemble</a:t>
            </a:r>
            <a:endParaRPr lang="en-US" sz="1600" dirty="0"/>
          </a:p>
        </p:txBody>
      </p:sp>
      <p:sp>
        <p:nvSpPr>
          <p:cNvPr id="27" name="Text 25"/>
          <p:cNvSpPr/>
          <p:nvPr/>
        </p:nvSpPr>
        <p:spPr>
          <a:xfrm>
            <a:off x="6446520" y="2331720"/>
            <a:ext cx="2468880" cy="3346704"/>
          </a:xfrm>
          <a:prstGeom prst="rect">
            <a:avLst/>
          </a:prstGeom>
          <a:noFill/>
          <a:ln/>
        </p:spPr>
        <p:txBody>
          <a:bodyPr wrap="square" lIns="0" tIns="0" rIns="0" bIns="0" rtlCol="0" anchor="t"/>
          <a:lstStyle/>
          <a:p>
            <a:pPr marL="0" indent="0">
              <a:buNone/>
            </a:pPr>
            <a:r>
              <a:rPr lang="en-US" sz="1100" b="1" dirty="0">
                <a:solidFill>
                  <a:srgbClr val="F3F3F1"/>
                </a:solidFill>
                <a:latin typeface="Arial" pitchFamily="34" charset="0"/>
                <a:ea typeface="Arial" pitchFamily="34" charset="-122"/>
                <a:cs typeface="Arial" pitchFamily="34" charset="-120"/>
              </a:rPr>
              <a:t>Zero API calls.</a:t>
            </a:r>
            <a:endParaRPr lang="en-US" sz="1100" dirty="0"/>
          </a:p>
          <a:p>
            <a:pPr marL="0" indent="0">
              <a:buNone/>
            </a:pPr>
            <a:endParaRPr lang="en-US" sz="1100" dirty="0"/>
          </a:p>
          <a:p>
            <a:pPr marL="0" indent="0">
              <a:buNone/>
            </a:pPr>
            <a:r>
              <a:rPr lang="en-US" sz="1100" dirty="0">
                <a:solidFill>
                  <a:srgbClr val="F3F3F1"/>
                </a:solidFill>
                <a:latin typeface="Arial" pitchFamily="34" charset="0"/>
                <a:ea typeface="Arial" pitchFamily="34" charset="-122"/>
                <a:cs typeface="Arial" pitchFamily="34" charset="-120"/>
              </a:rPr>
              <a:t>Reads D, E, F.</a:t>
            </a:r>
            <a:endParaRPr lang="en-US" sz="1100" dirty="0"/>
          </a:p>
          <a:p>
            <a:pPr marL="0" indent="0">
              <a:buNone/>
            </a:pPr>
            <a:r>
              <a:rPr lang="en-US" sz="1100" dirty="0">
                <a:solidFill>
                  <a:srgbClr val="F3F3F1"/>
                </a:solidFill>
                <a:latin typeface="Arial" pitchFamily="34" charset="0"/>
                <a:ea typeface="Arial" pitchFamily="34" charset="-122"/>
                <a:cs typeface="Arial" pitchFamily="34" charset="-120"/>
              </a:rPr>
              <a:t>Writes one JSON.</a:t>
            </a:r>
            <a:endParaRPr lang="en-US" sz="1100" dirty="0"/>
          </a:p>
          <a:p>
            <a:pPr marL="0" indent="0">
              <a:buNone/>
            </a:pPr>
            <a:r>
              <a:rPr lang="en-US" sz="1100" dirty="0">
                <a:solidFill>
                  <a:srgbClr val="F3F3F1"/>
                </a:solidFill>
                <a:latin typeface="Arial" pitchFamily="34" charset="0"/>
                <a:ea typeface="Arial" pitchFamily="34" charset="-122"/>
                <a:cs typeface="Arial" pitchFamily="34" charset="-120"/>
              </a:rPr>
              <a:t>Writes one prompt.</a:t>
            </a:r>
            <a:endParaRPr lang="en-US" sz="1100" dirty="0"/>
          </a:p>
          <a:p>
            <a:pPr marL="0" indent="0">
              <a:buNone/>
            </a:pPr>
            <a:endParaRPr lang="en-US" sz="1100" dirty="0"/>
          </a:p>
          <a:p>
            <a:pPr marL="0" indent="0">
              <a:buNone/>
            </a:pPr>
            <a:r>
              <a:rPr lang="en-US" sz="1100" i="1" dirty="0">
                <a:solidFill>
                  <a:srgbClr val="F3F3F1"/>
                </a:solidFill>
                <a:latin typeface="Arial" pitchFamily="34" charset="0"/>
                <a:ea typeface="Arial" pitchFamily="34" charset="-122"/>
                <a:cs typeface="Arial" pitchFamily="34" charset="-120"/>
              </a:rPr>
              <a:t>The checkpoint that turns evidence into a decision.</a:t>
            </a:r>
            <a:endParaRPr lang="en-US" sz="1100" dirty="0"/>
          </a:p>
        </p:txBody>
      </p:sp>
      <p:sp>
        <p:nvSpPr>
          <p:cNvPr id="28" name="Shape 26"/>
          <p:cNvSpPr/>
          <p:nvPr/>
        </p:nvSpPr>
        <p:spPr>
          <a:xfrm>
            <a:off x="9235440" y="1691640"/>
            <a:ext cx="2743200" cy="4078224"/>
          </a:xfrm>
          <a:prstGeom prst="rect">
            <a:avLst/>
          </a:prstGeom>
          <a:solidFill>
            <a:srgbClr val="A51C30"/>
          </a:solidFill>
          <a:ln w="12700">
            <a:solidFill>
              <a:srgbClr val="A51C30"/>
            </a:solidFill>
            <a:prstDash val="solid"/>
          </a:ln>
        </p:spPr>
      </p:sp>
      <p:sp>
        <p:nvSpPr>
          <p:cNvPr id="29" name="Text 27"/>
          <p:cNvSpPr/>
          <p:nvPr/>
        </p:nvSpPr>
        <p:spPr>
          <a:xfrm>
            <a:off x="9372600" y="1783080"/>
            <a:ext cx="2468880" cy="45720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Research Note</a:t>
            </a:r>
            <a:endParaRPr lang="en-US" sz="1600" dirty="0"/>
          </a:p>
        </p:txBody>
      </p:sp>
      <p:sp>
        <p:nvSpPr>
          <p:cNvPr id="30" name="Text 28"/>
          <p:cNvSpPr/>
          <p:nvPr/>
        </p:nvSpPr>
        <p:spPr>
          <a:xfrm>
            <a:off x="9372600" y="2331720"/>
            <a:ext cx="2468880" cy="3346704"/>
          </a:xfrm>
          <a:prstGeom prst="rect">
            <a:avLst/>
          </a:prstGeom>
          <a:noFill/>
          <a:ln/>
        </p:spPr>
        <p:txBody>
          <a:bodyPr wrap="square" lIns="0" tIns="0" rIns="0" bIns="0" rtlCol="0" anchor="t"/>
          <a:lstStyle/>
          <a:p>
            <a:pPr marL="0" indent="0">
              <a:buNone/>
            </a:pPr>
            <a:r>
              <a:rPr lang="en-US" sz="1100" b="1" dirty="0">
                <a:solidFill>
                  <a:srgbClr val="F3F3F1"/>
                </a:solidFill>
                <a:latin typeface="Arial" pitchFamily="34" charset="0"/>
                <a:ea typeface="Arial" pitchFamily="34" charset="-122"/>
                <a:cs typeface="Arial" pitchFamily="34" charset="-120"/>
              </a:rPr>
              <a:t>Chatbot handoff.</a:t>
            </a:r>
            <a:endParaRPr lang="en-US" sz="1100" dirty="0"/>
          </a:p>
          <a:p>
            <a:pPr marL="0" indent="0">
              <a:buNone/>
            </a:pPr>
            <a:endParaRPr lang="en-US" sz="1100" dirty="0"/>
          </a:p>
          <a:p>
            <a:pPr marL="0" indent="0">
              <a:buNone/>
            </a:pPr>
            <a:r>
              <a:rPr lang="en-US" sz="1100" dirty="0">
                <a:solidFill>
                  <a:srgbClr val="F3F3F1"/>
                </a:solidFill>
                <a:latin typeface="Arial" pitchFamily="34" charset="0"/>
                <a:ea typeface="Arial" pitchFamily="34" charset="-122"/>
                <a:cs typeface="Arial" pitchFamily="34" charset="-120"/>
              </a:rPr>
              <a:t>Gemini, Claude, ChatGPT, or duck.ai.</a:t>
            </a:r>
            <a:endParaRPr lang="en-US" sz="1100" dirty="0"/>
          </a:p>
          <a:p>
            <a:pPr marL="0" indent="0">
              <a:buNone/>
            </a:pPr>
            <a:endParaRPr lang="en-US" sz="1100" dirty="0"/>
          </a:p>
          <a:p>
            <a:pPr marL="0" indent="0">
              <a:buNone/>
            </a:pPr>
            <a:r>
              <a:rPr lang="en-US" sz="1100" dirty="0">
                <a:solidFill>
                  <a:srgbClr val="F3F3F1"/>
                </a:solidFill>
                <a:latin typeface="Arial" pitchFamily="34" charset="0"/>
                <a:ea typeface="Arial" pitchFamily="34" charset="-122"/>
                <a:cs typeface="Arial" pitchFamily="34" charset="-120"/>
              </a:rPr>
              <a:t>Plain English, cited by section (context, sentiment, extraction).</a:t>
            </a:r>
            <a:endParaRPr lang="en-US" sz="1100" dirty="0"/>
          </a:p>
          <a:p>
            <a:pPr marL="0" indent="0">
              <a:buNone/>
            </a:pPr>
            <a:endParaRPr lang="en-US" sz="1100" dirty="0"/>
          </a:p>
          <a:p>
            <a:pPr marL="0" indent="0">
              <a:buNone/>
            </a:pPr>
            <a:r>
              <a:rPr lang="en-US" sz="1100" i="1" dirty="0">
                <a:solidFill>
                  <a:srgbClr val="F3F3F1"/>
                </a:solidFill>
                <a:latin typeface="Arial" pitchFamily="34" charset="0"/>
                <a:ea typeface="Arial" pitchFamily="34" charset="-122"/>
                <a:cs typeface="Arial" pitchFamily="34" charset="-120"/>
              </a:rPr>
              <a:t>A human reads the surface first.</a:t>
            </a:r>
            <a:endParaRPr lang="en-US" sz="1100" dirty="0"/>
          </a:p>
        </p:txBody>
      </p:sp>
      <p:sp>
        <p:nvSpPr>
          <p:cNvPr id="31" name="Text 29"/>
          <p:cNvSpPr/>
          <p:nvPr/>
        </p:nvSpPr>
        <p:spPr>
          <a:xfrm>
            <a:off x="457200" y="6035040"/>
            <a:ext cx="11247120" cy="365760"/>
          </a:xfrm>
          <a:prstGeom prst="rect">
            <a:avLst/>
          </a:prstGeom>
          <a:noFill/>
          <a:ln/>
        </p:spPr>
        <p:txBody>
          <a:bodyPr wrap="square" lIns="0" tIns="0" rIns="0" bIns="0" rtlCol="0" anchor="ctr"/>
          <a:lstStyle/>
          <a:p>
            <a:pPr marL="0" indent="0" algn="ctr">
              <a:buNone/>
            </a:pPr>
            <a:r>
              <a:rPr lang="en-US" sz="1200" i="1" dirty="0">
                <a:solidFill>
                  <a:srgbClr val="8996A0"/>
                </a:solidFill>
                <a:latin typeface="Arial" pitchFamily="34" charset="0"/>
                <a:ea typeface="Arial" pitchFamily="34" charset="-122"/>
                <a:cs typeface="Arial" pitchFamily="34" charset="-120"/>
              </a:rPr>
              <a:t>R does the math and structures the evidence. An LLM interprets finished evidence. A human reads before publishing.</a:t>
            </a:r>
            <a:endParaRPr lang="en-US" sz="1200" dirty="0"/>
          </a:p>
        </p:txBody>
      </p:sp>
      <p:sp>
        <p:nvSpPr>
          <p:cNvPr id="32"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33" name="Harvard Page Number"/>
          <p:cNvSpPr txBox="1"/>
          <p:nvPr/>
        </p:nvSpPr>
        <p:spPr>
          <a:xfrm>
            <a:off x="11730577" y="6446043"/>
            <a:ext cx="324104" cy="274638"/>
          </a:xfrm>
          <a:prstGeom prst="rect">
            <a:avLst/>
          </a:prstGeom>
          <a:noFill/>
        </p:spPr>
        <p:txBody>
          <a:bodyPr wrap="none" lIns="0" tIns="0" rIns="0" bIns="0">
            <a:noAutofit/>
          </a:bodyPr>
          <a:lstStyle/>
          <a:p>
            <a:pPr algn="r"/>
            <a:fld id="{2F5DD118-65C9-4606-80B4-54D533B6364C}" type="slidenum">
              <a:rPr lang="en-US" sz="1000">
                <a:solidFill>
                  <a:srgbClr val="8996A0"/>
                </a:solidFill>
                <a:latin typeface="Arial"/>
              </a:rPr>
              <a:t>20</a:t>
            </a:fld>
            <a:endParaRPr lang="en-US" sz="1000">
              <a:solidFill>
                <a:srgbClr val="8996A0"/>
              </a:solidFill>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Bridge to your new SPA.  Create another application.</a:t>
            </a:r>
            <a:endParaRPr lang="en-US" sz="3200" dirty="0"/>
          </a:p>
        </p:txBody>
      </p:sp>
      <p:sp>
        <p:nvSpPr>
          <p:cNvPr id="3" name="Text 1"/>
          <p:cNvSpPr/>
          <p:nvPr/>
        </p:nvSpPr>
        <p:spPr>
          <a:xfrm>
            <a:off x="457200" y="1280160"/>
            <a:ext cx="11247120" cy="457200"/>
          </a:xfrm>
          <a:prstGeom prst="rect">
            <a:avLst/>
          </a:prstGeom>
          <a:noFill/>
          <a:ln/>
        </p:spPr>
        <p:txBody>
          <a:bodyPr wrap="square" lIns="0" tIns="0" rIns="0" bIns="0" rtlCol="0" anchor="ctr"/>
          <a:lstStyle/>
          <a:p>
            <a:pPr marL="0" indent="0" algn="ctr">
              <a:buNone/>
            </a:pPr>
            <a:r>
              <a:rPr lang="en-US" sz="1800" b="1" dirty="0">
                <a:solidFill>
                  <a:srgbClr val="A51C30"/>
                </a:solidFill>
                <a:latin typeface="Arial" pitchFamily="34" charset="0"/>
                <a:ea typeface="Arial" pitchFamily="34" charset="-122"/>
                <a:cs typeface="Arial" pitchFamily="34" charset="-120"/>
              </a:rPr>
              <a:t>Same architecture. Different language.</a:t>
            </a:r>
            <a:endParaRPr lang="en-US" sz="1800" dirty="0"/>
          </a:p>
        </p:txBody>
      </p:sp>
      <p:sp>
        <p:nvSpPr>
          <p:cNvPr id="4" name="Shape 2"/>
          <p:cNvSpPr/>
          <p:nvPr/>
        </p:nvSpPr>
        <p:spPr>
          <a:xfrm>
            <a:off x="457200" y="2011680"/>
            <a:ext cx="4114800" cy="502920"/>
          </a:xfrm>
          <a:prstGeom prst="rect">
            <a:avLst/>
          </a:prstGeom>
          <a:solidFill>
            <a:srgbClr val="293352"/>
          </a:solidFill>
          <a:ln w="12700">
            <a:solidFill>
              <a:srgbClr val="293352"/>
            </a:solidFill>
            <a:prstDash val="solid"/>
          </a:ln>
        </p:spPr>
      </p:sp>
      <p:sp>
        <p:nvSpPr>
          <p:cNvPr id="5" name="Shape 3"/>
          <p:cNvSpPr/>
          <p:nvPr/>
        </p:nvSpPr>
        <p:spPr>
          <a:xfrm>
            <a:off x="4572000" y="2011680"/>
            <a:ext cx="3657600" cy="502920"/>
          </a:xfrm>
          <a:prstGeom prst="rect">
            <a:avLst/>
          </a:prstGeom>
          <a:solidFill>
            <a:srgbClr val="293352"/>
          </a:solidFill>
          <a:ln w="12700">
            <a:solidFill>
              <a:srgbClr val="293352"/>
            </a:solidFill>
            <a:prstDash val="solid"/>
          </a:ln>
        </p:spPr>
      </p:sp>
      <p:sp>
        <p:nvSpPr>
          <p:cNvPr id="6" name="Shape 4"/>
          <p:cNvSpPr/>
          <p:nvPr/>
        </p:nvSpPr>
        <p:spPr>
          <a:xfrm>
            <a:off x="8229600" y="2011680"/>
            <a:ext cx="3474720" cy="502920"/>
          </a:xfrm>
          <a:prstGeom prst="rect">
            <a:avLst/>
          </a:prstGeom>
          <a:solidFill>
            <a:srgbClr val="293352"/>
          </a:solidFill>
          <a:ln w="12700">
            <a:solidFill>
              <a:srgbClr val="293352"/>
            </a:solidFill>
            <a:prstDash val="solid"/>
          </a:ln>
        </p:spPr>
      </p:sp>
      <p:sp>
        <p:nvSpPr>
          <p:cNvPr id="7" name="Text 5"/>
          <p:cNvSpPr/>
          <p:nvPr/>
        </p:nvSpPr>
        <p:spPr>
          <a:xfrm>
            <a:off x="594360" y="2011680"/>
            <a:ext cx="384048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R script (Hour 1 + 2)</a:t>
            </a:r>
            <a:endParaRPr lang="en-US" sz="1300" dirty="0"/>
          </a:p>
        </p:txBody>
      </p:sp>
      <p:sp>
        <p:nvSpPr>
          <p:cNvPr id="8" name="Text 6"/>
          <p:cNvSpPr/>
          <p:nvPr/>
        </p:nvSpPr>
        <p:spPr>
          <a:xfrm>
            <a:off x="4709160" y="2011680"/>
            <a:ext cx="338328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Contributes</a:t>
            </a:r>
            <a:endParaRPr lang="en-US" sz="1300" dirty="0"/>
          </a:p>
        </p:txBody>
      </p:sp>
      <p:sp>
        <p:nvSpPr>
          <p:cNvPr id="9" name="Text 7"/>
          <p:cNvSpPr/>
          <p:nvPr/>
        </p:nvSpPr>
        <p:spPr>
          <a:xfrm>
            <a:off x="8366760" y="2011680"/>
            <a:ext cx="320040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SPA equivalent</a:t>
            </a:r>
            <a:endParaRPr lang="en-US" sz="1300" dirty="0"/>
          </a:p>
        </p:txBody>
      </p:sp>
      <p:sp>
        <p:nvSpPr>
          <p:cNvPr id="10" name="Shape 8"/>
          <p:cNvSpPr/>
          <p:nvPr/>
        </p:nvSpPr>
        <p:spPr>
          <a:xfrm>
            <a:off x="457200" y="2514600"/>
            <a:ext cx="4114800" cy="502920"/>
          </a:xfrm>
          <a:prstGeom prst="rect">
            <a:avLst/>
          </a:prstGeom>
          <a:solidFill>
            <a:srgbClr val="F3F3F1"/>
          </a:solidFill>
          <a:ln w="3175">
            <a:solidFill>
              <a:srgbClr val="8996A0"/>
            </a:solidFill>
            <a:prstDash val="solid"/>
          </a:ln>
        </p:spPr>
      </p:sp>
      <p:sp>
        <p:nvSpPr>
          <p:cNvPr id="11" name="Shape 9"/>
          <p:cNvSpPr/>
          <p:nvPr/>
        </p:nvSpPr>
        <p:spPr>
          <a:xfrm>
            <a:off x="4572000" y="2514600"/>
            <a:ext cx="3657600" cy="502920"/>
          </a:xfrm>
          <a:prstGeom prst="rect">
            <a:avLst/>
          </a:prstGeom>
          <a:solidFill>
            <a:srgbClr val="F3F3F1"/>
          </a:solidFill>
          <a:ln w="3175">
            <a:solidFill>
              <a:srgbClr val="8996A0"/>
            </a:solidFill>
            <a:prstDash val="solid"/>
          </a:ln>
        </p:spPr>
      </p:sp>
      <p:sp>
        <p:nvSpPr>
          <p:cNvPr id="12" name="Shape 10"/>
          <p:cNvSpPr/>
          <p:nvPr/>
        </p:nvSpPr>
        <p:spPr>
          <a:xfrm>
            <a:off x="8229600" y="2514600"/>
            <a:ext cx="3474720" cy="502920"/>
          </a:xfrm>
          <a:prstGeom prst="rect">
            <a:avLst/>
          </a:prstGeom>
          <a:solidFill>
            <a:srgbClr val="F3F3F1"/>
          </a:solidFill>
          <a:ln w="3175">
            <a:solidFill>
              <a:srgbClr val="8996A0"/>
            </a:solidFill>
            <a:prstDash val="solid"/>
          </a:ln>
        </p:spPr>
      </p:sp>
      <p:sp>
        <p:nvSpPr>
          <p:cNvPr id="13" name="Text 11"/>
          <p:cNvSpPr/>
          <p:nvPr/>
        </p:nvSpPr>
        <p:spPr>
          <a:xfrm>
            <a:off x="594360" y="2514600"/>
            <a:ext cx="384048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FIN_B, FIN_C (fetch)</a:t>
            </a:r>
            <a:endParaRPr lang="en-US" sz="1200" dirty="0"/>
          </a:p>
        </p:txBody>
      </p:sp>
      <p:sp>
        <p:nvSpPr>
          <p:cNvPr id="14" name="Text 12"/>
          <p:cNvSpPr/>
          <p:nvPr/>
        </p:nvSpPr>
        <p:spPr>
          <a:xfrm>
            <a:off x="4709160" y="251460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Riskline + NewsAPI</a:t>
            </a:r>
            <a:endParaRPr lang="en-US" sz="1200" dirty="0"/>
          </a:p>
        </p:txBody>
      </p:sp>
      <p:sp>
        <p:nvSpPr>
          <p:cNvPr id="15" name="Text 13"/>
          <p:cNvSpPr/>
          <p:nvPr/>
        </p:nvSpPr>
        <p:spPr>
          <a:xfrm>
            <a:off x="8366760" y="2514600"/>
            <a:ext cx="3200400" cy="502920"/>
          </a:xfrm>
          <a:prstGeom prst="rect">
            <a:avLst/>
          </a:prstGeom>
          <a:noFill/>
          <a:ln/>
        </p:spPr>
        <p:txBody>
          <a:bodyPr wrap="square" lIns="0" tIns="0" rIns="0" bIns="0" rtlCol="0" anchor="ctr"/>
          <a:lstStyle/>
          <a:p>
            <a:pPr marL="0" indent="0">
              <a:buNone/>
            </a:pPr>
            <a:r>
              <a:rPr lang="en-US" sz="1100" dirty="0">
                <a:solidFill>
                  <a:srgbClr val="1E1E1E"/>
                </a:solidFill>
                <a:latin typeface="Arial" pitchFamily="34" charset="0"/>
                <a:cs typeface="Arial" pitchFamily="34" charset="-120"/>
              </a:rPr>
              <a:t>Share unauthenticated </a:t>
            </a:r>
            <a:r>
              <a:rPr lang="en-US" sz="1100" dirty="0" err="1">
                <a:solidFill>
                  <a:srgbClr val="1E1E1E"/>
                </a:solidFill>
                <a:latin typeface="Arial" pitchFamily="34" charset="0"/>
                <a:cs typeface="Arial" pitchFamily="34" charset="-120"/>
              </a:rPr>
              <a:t>riskline</a:t>
            </a:r>
            <a:r>
              <a:rPr lang="en-US" sz="1100" dirty="0">
                <a:solidFill>
                  <a:srgbClr val="1E1E1E"/>
                </a:solidFill>
                <a:latin typeface="Arial" pitchFamily="34" charset="0"/>
                <a:cs typeface="Arial" pitchFamily="34" charset="-120"/>
              </a:rPr>
              <a:t> API URL</a:t>
            </a:r>
          </a:p>
          <a:p>
            <a:pPr marL="0" indent="0">
              <a:buNone/>
            </a:pPr>
            <a:r>
              <a:rPr lang="en-US" sz="1100" dirty="0">
                <a:solidFill>
                  <a:srgbClr val="1E1E1E"/>
                </a:solidFill>
                <a:latin typeface="Arial" pitchFamily="34" charset="0"/>
                <a:cs typeface="Arial" pitchFamily="34" charset="-120"/>
              </a:rPr>
              <a:t>Add </a:t>
            </a:r>
            <a:r>
              <a:rPr lang="en-US" sz="1100" dirty="0" err="1">
                <a:solidFill>
                  <a:srgbClr val="1E1E1E"/>
                </a:solidFill>
                <a:latin typeface="Arial" pitchFamily="34" charset="0"/>
                <a:cs typeface="Arial" pitchFamily="34" charset="-120"/>
              </a:rPr>
              <a:t>newsAPI</a:t>
            </a:r>
            <a:r>
              <a:rPr lang="en-US" sz="1100" dirty="0">
                <a:solidFill>
                  <a:srgbClr val="1E1E1E"/>
                </a:solidFill>
                <a:latin typeface="Arial" pitchFamily="34" charset="0"/>
                <a:cs typeface="Arial" pitchFamily="34" charset="-120"/>
              </a:rPr>
              <a:t> key input</a:t>
            </a:r>
          </a:p>
          <a:p>
            <a:pPr marL="0" indent="0">
              <a:buNone/>
            </a:pPr>
            <a:r>
              <a:rPr lang="en-US" sz="1100" dirty="0">
                <a:solidFill>
                  <a:srgbClr val="1E1E1E"/>
                </a:solidFill>
                <a:latin typeface="Arial" pitchFamily="34" charset="0"/>
                <a:cs typeface="Arial" pitchFamily="34" charset="-120"/>
              </a:rPr>
              <a:t>Describe the headline to perplexity workflow</a:t>
            </a:r>
            <a:endParaRPr lang="en-US" sz="1100" dirty="0"/>
          </a:p>
        </p:txBody>
      </p:sp>
      <p:sp>
        <p:nvSpPr>
          <p:cNvPr id="16" name="Shape 14"/>
          <p:cNvSpPr/>
          <p:nvPr/>
        </p:nvSpPr>
        <p:spPr>
          <a:xfrm>
            <a:off x="457200" y="3017520"/>
            <a:ext cx="4114800" cy="502920"/>
          </a:xfrm>
          <a:prstGeom prst="rect">
            <a:avLst/>
          </a:prstGeom>
          <a:solidFill>
            <a:srgbClr val="FFFFFF"/>
          </a:solidFill>
          <a:ln w="3175">
            <a:solidFill>
              <a:srgbClr val="8996A0"/>
            </a:solidFill>
            <a:prstDash val="solid"/>
          </a:ln>
        </p:spPr>
      </p:sp>
      <p:sp>
        <p:nvSpPr>
          <p:cNvPr id="17" name="Shape 15"/>
          <p:cNvSpPr/>
          <p:nvPr/>
        </p:nvSpPr>
        <p:spPr>
          <a:xfrm>
            <a:off x="4572000" y="3017520"/>
            <a:ext cx="3657600" cy="502920"/>
          </a:xfrm>
          <a:prstGeom prst="rect">
            <a:avLst/>
          </a:prstGeom>
          <a:solidFill>
            <a:srgbClr val="FFFFFF"/>
          </a:solidFill>
          <a:ln w="3175">
            <a:solidFill>
              <a:srgbClr val="8996A0"/>
            </a:solidFill>
            <a:prstDash val="solid"/>
          </a:ln>
        </p:spPr>
      </p:sp>
      <p:sp>
        <p:nvSpPr>
          <p:cNvPr id="18" name="Shape 16"/>
          <p:cNvSpPr/>
          <p:nvPr/>
        </p:nvSpPr>
        <p:spPr>
          <a:xfrm>
            <a:off x="8229600" y="3017520"/>
            <a:ext cx="3474720" cy="502920"/>
          </a:xfrm>
          <a:prstGeom prst="rect">
            <a:avLst/>
          </a:prstGeom>
          <a:solidFill>
            <a:srgbClr val="FFFFFF"/>
          </a:solidFill>
          <a:ln w="3175">
            <a:solidFill>
              <a:srgbClr val="8996A0"/>
            </a:solidFill>
            <a:prstDash val="solid"/>
          </a:ln>
        </p:spPr>
      </p:sp>
      <p:sp>
        <p:nvSpPr>
          <p:cNvPr id="19" name="Text 17"/>
          <p:cNvSpPr/>
          <p:nvPr/>
        </p:nvSpPr>
        <p:spPr>
          <a:xfrm>
            <a:off x="594360" y="3017520"/>
            <a:ext cx="384048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FIN_A (transcript loading)</a:t>
            </a:r>
            <a:endParaRPr lang="en-US" sz="1200" dirty="0"/>
          </a:p>
        </p:txBody>
      </p:sp>
      <p:sp>
        <p:nvSpPr>
          <p:cNvPr id="20" name="Text 18"/>
          <p:cNvSpPr/>
          <p:nvPr/>
        </p:nvSpPr>
        <p:spPr>
          <a:xfrm>
            <a:off x="4709160" y="301752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Text file or paste</a:t>
            </a:r>
            <a:endParaRPr lang="en-US" sz="1200" dirty="0"/>
          </a:p>
        </p:txBody>
      </p:sp>
      <p:sp>
        <p:nvSpPr>
          <p:cNvPr id="21" name="Text 19"/>
          <p:cNvSpPr/>
          <p:nvPr/>
        </p:nvSpPr>
        <p:spPr>
          <a:xfrm>
            <a:off x="8366760" y="3017520"/>
            <a:ext cx="320040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File upload or paste box of raw </a:t>
            </a:r>
            <a:r>
              <a:rPr lang="en-US" sz="1200" dirty="0" err="1">
                <a:solidFill>
                  <a:srgbClr val="1E1E1E"/>
                </a:solidFill>
                <a:latin typeface="Arial" pitchFamily="34" charset="0"/>
                <a:ea typeface="Arial" pitchFamily="34" charset="-122"/>
                <a:cs typeface="Arial" pitchFamily="34" charset="-120"/>
              </a:rPr>
              <a:t>github</a:t>
            </a:r>
            <a:r>
              <a:rPr lang="en-US" sz="1200" dirty="0">
                <a:solidFill>
                  <a:srgbClr val="1E1E1E"/>
                </a:solidFill>
                <a:latin typeface="Arial" pitchFamily="34" charset="0"/>
                <a:ea typeface="Arial" pitchFamily="34" charset="-122"/>
                <a:cs typeface="Arial" pitchFamily="34" charset="-120"/>
              </a:rPr>
              <a:t> URL, can add more than 1</a:t>
            </a:r>
            <a:endParaRPr lang="en-US" sz="1200" dirty="0"/>
          </a:p>
        </p:txBody>
      </p:sp>
      <p:sp>
        <p:nvSpPr>
          <p:cNvPr id="22" name="Shape 20"/>
          <p:cNvSpPr/>
          <p:nvPr/>
        </p:nvSpPr>
        <p:spPr>
          <a:xfrm>
            <a:off x="457200" y="3520440"/>
            <a:ext cx="4114800" cy="502920"/>
          </a:xfrm>
          <a:prstGeom prst="rect">
            <a:avLst/>
          </a:prstGeom>
          <a:solidFill>
            <a:srgbClr val="F3F3F1"/>
          </a:solidFill>
          <a:ln w="3175">
            <a:solidFill>
              <a:srgbClr val="8996A0"/>
            </a:solidFill>
            <a:prstDash val="solid"/>
          </a:ln>
        </p:spPr>
      </p:sp>
      <p:sp>
        <p:nvSpPr>
          <p:cNvPr id="23" name="Shape 21"/>
          <p:cNvSpPr/>
          <p:nvPr/>
        </p:nvSpPr>
        <p:spPr>
          <a:xfrm>
            <a:off x="4572000" y="3520440"/>
            <a:ext cx="3657600" cy="502920"/>
          </a:xfrm>
          <a:prstGeom prst="rect">
            <a:avLst/>
          </a:prstGeom>
          <a:solidFill>
            <a:srgbClr val="F3F3F1"/>
          </a:solidFill>
          <a:ln w="3175">
            <a:solidFill>
              <a:srgbClr val="8996A0"/>
            </a:solidFill>
            <a:prstDash val="solid"/>
          </a:ln>
        </p:spPr>
      </p:sp>
      <p:sp>
        <p:nvSpPr>
          <p:cNvPr id="24" name="Shape 22"/>
          <p:cNvSpPr/>
          <p:nvPr/>
        </p:nvSpPr>
        <p:spPr>
          <a:xfrm>
            <a:off x="8229600" y="3520440"/>
            <a:ext cx="3474720" cy="502920"/>
          </a:xfrm>
          <a:prstGeom prst="rect">
            <a:avLst/>
          </a:prstGeom>
          <a:solidFill>
            <a:srgbClr val="F3F3F1"/>
          </a:solidFill>
          <a:ln w="3175">
            <a:solidFill>
              <a:srgbClr val="8996A0"/>
            </a:solidFill>
            <a:prstDash val="solid"/>
          </a:ln>
        </p:spPr>
      </p:sp>
      <p:sp>
        <p:nvSpPr>
          <p:cNvPr id="25" name="Text 23"/>
          <p:cNvSpPr/>
          <p:nvPr/>
        </p:nvSpPr>
        <p:spPr>
          <a:xfrm>
            <a:off x="594360" y="3520440"/>
            <a:ext cx="384048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FIN_D (assemble context)</a:t>
            </a:r>
            <a:endParaRPr lang="en-US" sz="1200" dirty="0"/>
          </a:p>
        </p:txBody>
      </p:sp>
      <p:sp>
        <p:nvSpPr>
          <p:cNvPr id="26" name="Text 24"/>
          <p:cNvSpPr/>
          <p:nvPr/>
        </p:nvSpPr>
        <p:spPr>
          <a:xfrm>
            <a:off x="4709160" y="352044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Prose block, labeled</a:t>
            </a:r>
            <a:endParaRPr lang="en-US" sz="1200" dirty="0"/>
          </a:p>
        </p:txBody>
      </p:sp>
      <p:sp>
        <p:nvSpPr>
          <p:cNvPr id="27" name="Text 25"/>
          <p:cNvSpPr/>
          <p:nvPr/>
        </p:nvSpPr>
        <p:spPr>
          <a:xfrm>
            <a:off x="8366760" y="3520440"/>
            <a:ext cx="320040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Context object in JS; vibe code the context collection</a:t>
            </a:r>
            <a:endParaRPr lang="en-US" sz="1200" dirty="0"/>
          </a:p>
        </p:txBody>
      </p:sp>
      <p:sp>
        <p:nvSpPr>
          <p:cNvPr id="28" name="Shape 26"/>
          <p:cNvSpPr/>
          <p:nvPr/>
        </p:nvSpPr>
        <p:spPr>
          <a:xfrm>
            <a:off x="457200" y="4023360"/>
            <a:ext cx="4114800" cy="502920"/>
          </a:xfrm>
          <a:prstGeom prst="rect">
            <a:avLst/>
          </a:prstGeom>
          <a:solidFill>
            <a:srgbClr val="FFFFFF"/>
          </a:solidFill>
          <a:ln w="3175">
            <a:solidFill>
              <a:srgbClr val="8996A0"/>
            </a:solidFill>
            <a:prstDash val="solid"/>
          </a:ln>
        </p:spPr>
      </p:sp>
      <p:sp>
        <p:nvSpPr>
          <p:cNvPr id="29" name="Shape 27"/>
          <p:cNvSpPr/>
          <p:nvPr/>
        </p:nvSpPr>
        <p:spPr>
          <a:xfrm>
            <a:off x="4572000" y="4023360"/>
            <a:ext cx="3657600" cy="502920"/>
          </a:xfrm>
          <a:prstGeom prst="rect">
            <a:avLst/>
          </a:prstGeom>
          <a:solidFill>
            <a:srgbClr val="FFFFFF"/>
          </a:solidFill>
          <a:ln w="3175">
            <a:solidFill>
              <a:srgbClr val="8996A0"/>
            </a:solidFill>
            <a:prstDash val="solid"/>
          </a:ln>
        </p:spPr>
      </p:sp>
      <p:sp>
        <p:nvSpPr>
          <p:cNvPr id="30" name="Shape 28"/>
          <p:cNvSpPr/>
          <p:nvPr/>
        </p:nvSpPr>
        <p:spPr>
          <a:xfrm>
            <a:off x="8229600" y="4023360"/>
            <a:ext cx="3474720" cy="502920"/>
          </a:xfrm>
          <a:prstGeom prst="rect">
            <a:avLst/>
          </a:prstGeom>
          <a:solidFill>
            <a:srgbClr val="FFFFFF"/>
          </a:solidFill>
          <a:ln w="3175">
            <a:solidFill>
              <a:srgbClr val="8996A0"/>
            </a:solidFill>
            <a:prstDash val="solid"/>
          </a:ln>
        </p:spPr>
      </p:sp>
      <p:sp>
        <p:nvSpPr>
          <p:cNvPr id="31" name="Text 29"/>
          <p:cNvSpPr/>
          <p:nvPr/>
        </p:nvSpPr>
        <p:spPr>
          <a:xfrm>
            <a:off x="594360" y="4023360"/>
            <a:ext cx="384048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FIN_E (sentiment)</a:t>
            </a:r>
            <a:endParaRPr lang="en-US" sz="1200" dirty="0"/>
          </a:p>
        </p:txBody>
      </p:sp>
      <p:sp>
        <p:nvSpPr>
          <p:cNvPr id="32" name="Text 30"/>
          <p:cNvSpPr/>
          <p:nvPr/>
        </p:nvSpPr>
        <p:spPr>
          <a:xfrm>
            <a:off x="4709160" y="402336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Per-turn JSON schema</a:t>
            </a:r>
            <a:endParaRPr lang="en-US" sz="1200" dirty="0"/>
          </a:p>
        </p:txBody>
      </p:sp>
      <p:sp>
        <p:nvSpPr>
          <p:cNvPr id="33" name="Text 31"/>
          <p:cNvSpPr/>
          <p:nvPr/>
        </p:nvSpPr>
        <p:spPr>
          <a:xfrm>
            <a:off x="8366760" y="4023360"/>
            <a:ext cx="320040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OpenRouter call, JS loop on the data</a:t>
            </a:r>
            <a:endParaRPr lang="en-US" sz="1200" dirty="0"/>
          </a:p>
        </p:txBody>
      </p:sp>
      <p:sp>
        <p:nvSpPr>
          <p:cNvPr id="34" name="Shape 32"/>
          <p:cNvSpPr/>
          <p:nvPr/>
        </p:nvSpPr>
        <p:spPr>
          <a:xfrm>
            <a:off x="457200" y="4526280"/>
            <a:ext cx="4114800" cy="502920"/>
          </a:xfrm>
          <a:prstGeom prst="rect">
            <a:avLst/>
          </a:prstGeom>
          <a:solidFill>
            <a:srgbClr val="F3F3F1"/>
          </a:solidFill>
          <a:ln w="3175">
            <a:solidFill>
              <a:srgbClr val="8996A0"/>
            </a:solidFill>
            <a:prstDash val="solid"/>
          </a:ln>
        </p:spPr>
      </p:sp>
      <p:sp>
        <p:nvSpPr>
          <p:cNvPr id="35" name="Shape 33"/>
          <p:cNvSpPr/>
          <p:nvPr/>
        </p:nvSpPr>
        <p:spPr>
          <a:xfrm>
            <a:off x="4572000" y="4526280"/>
            <a:ext cx="3657600" cy="502920"/>
          </a:xfrm>
          <a:prstGeom prst="rect">
            <a:avLst/>
          </a:prstGeom>
          <a:solidFill>
            <a:srgbClr val="F3F3F1"/>
          </a:solidFill>
          <a:ln w="3175">
            <a:solidFill>
              <a:srgbClr val="8996A0"/>
            </a:solidFill>
            <a:prstDash val="solid"/>
          </a:ln>
        </p:spPr>
      </p:sp>
      <p:sp>
        <p:nvSpPr>
          <p:cNvPr id="36" name="Shape 34"/>
          <p:cNvSpPr/>
          <p:nvPr/>
        </p:nvSpPr>
        <p:spPr>
          <a:xfrm>
            <a:off x="8229600" y="4526280"/>
            <a:ext cx="3474720" cy="502920"/>
          </a:xfrm>
          <a:prstGeom prst="rect">
            <a:avLst/>
          </a:prstGeom>
          <a:solidFill>
            <a:srgbClr val="F3F3F1"/>
          </a:solidFill>
          <a:ln w="3175">
            <a:solidFill>
              <a:srgbClr val="8996A0"/>
            </a:solidFill>
            <a:prstDash val="solid"/>
          </a:ln>
        </p:spPr>
      </p:sp>
      <p:sp>
        <p:nvSpPr>
          <p:cNvPr id="37" name="Text 35"/>
          <p:cNvSpPr/>
          <p:nvPr/>
        </p:nvSpPr>
        <p:spPr>
          <a:xfrm>
            <a:off x="594360" y="4526280"/>
            <a:ext cx="384048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FIN_F (extraction)</a:t>
            </a:r>
            <a:endParaRPr lang="en-US" sz="1200" dirty="0"/>
          </a:p>
        </p:txBody>
      </p:sp>
      <p:sp>
        <p:nvSpPr>
          <p:cNvPr id="38" name="Text 36"/>
          <p:cNvSpPr/>
          <p:nvPr/>
        </p:nvSpPr>
        <p:spPr>
          <a:xfrm>
            <a:off x="4709160" y="452628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Per-turn JSON schema</a:t>
            </a:r>
            <a:endParaRPr lang="en-US" sz="1200" dirty="0"/>
          </a:p>
        </p:txBody>
      </p:sp>
      <p:sp>
        <p:nvSpPr>
          <p:cNvPr id="39" name="Text 37"/>
          <p:cNvSpPr/>
          <p:nvPr/>
        </p:nvSpPr>
        <p:spPr>
          <a:xfrm>
            <a:off x="8366760" y="4526280"/>
            <a:ext cx="320040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OpenRouter call, JS loop on the data</a:t>
            </a:r>
            <a:endParaRPr lang="en-US" sz="1200" dirty="0"/>
          </a:p>
        </p:txBody>
      </p:sp>
      <p:sp>
        <p:nvSpPr>
          <p:cNvPr id="40" name="Shape 38"/>
          <p:cNvSpPr/>
          <p:nvPr/>
        </p:nvSpPr>
        <p:spPr>
          <a:xfrm>
            <a:off x="457200" y="5029200"/>
            <a:ext cx="4114800" cy="502920"/>
          </a:xfrm>
          <a:prstGeom prst="rect">
            <a:avLst/>
          </a:prstGeom>
          <a:solidFill>
            <a:srgbClr val="FFFFFF"/>
          </a:solidFill>
          <a:ln w="3175">
            <a:solidFill>
              <a:srgbClr val="8996A0"/>
            </a:solidFill>
            <a:prstDash val="solid"/>
          </a:ln>
        </p:spPr>
      </p:sp>
      <p:sp>
        <p:nvSpPr>
          <p:cNvPr id="41" name="Shape 39"/>
          <p:cNvSpPr/>
          <p:nvPr/>
        </p:nvSpPr>
        <p:spPr>
          <a:xfrm>
            <a:off x="4572000" y="5029200"/>
            <a:ext cx="3657600" cy="502920"/>
          </a:xfrm>
          <a:prstGeom prst="rect">
            <a:avLst/>
          </a:prstGeom>
          <a:solidFill>
            <a:srgbClr val="FFFFFF"/>
          </a:solidFill>
          <a:ln w="3175">
            <a:solidFill>
              <a:srgbClr val="8996A0"/>
            </a:solidFill>
            <a:prstDash val="solid"/>
          </a:ln>
        </p:spPr>
      </p:sp>
      <p:sp>
        <p:nvSpPr>
          <p:cNvPr id="42" name="Shape 40"/>
          <p:cNvSpPr/>
          <p:nvPr/>
        </p:nvSpPr>
        <p:spPr>
          <a:xfrm>
            <a:off x="8229600" y="5029200"/>
            <a:ext cx="3474720" cy="502920"/>
          </a:xfrm>
          <a:prstGeom prst="rect">
            <a:avLst/>
          </a:prstGeom>
          <a:solidFill>
            <a:srgbClr val="FFFFFF"/>
          </a:solidFill>
          <a:ln w="3175">
            <a:solidFill>
              <a:srgbClr val="8996A0"/>
            </a:solidFill>
            <a:prstDash val="solid"/>
          </a:ln>
        </p:spPr>
      </p:sp>
      <p:sp>
        <p:nvSpPr>
          <p:cNvPr id="43" name="Text 41"/>
          <p:cNvSpPr/>
          <p:nvPr/>
        </p:nvSpPr>
        <p:spPr>
          <a:xfrm>
            <a:off x="594360" y="5029200"/>
            <a:ext cx="384048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FIN_G (review surface)</a:t>
            </a:r>
            <a:endParaRPr lang="en-US" sz="1200" dirty="0"/>
          </a:p>
        </p:txBody>
      </p:sp>
      <p:sp>
        <p:nvSpPr>
          <p:cNvPr id="44" name="Text 42"/>
          <p:cNvSpPr/>
          <p:nvPr/>
        </p:nvSpPr>
        <p:spPr>
          <a:xfrm>
            <a:off x="4709160" y="502920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Assembled JSON</a:t>
            </a:r>
            <a:endParaRPr lang="en-US" sz="1200" dirty="0"/>
          </a:p>
        </p:txBody>
      </p:sp>
      <p:sp>
        <p:nvSpPr>
          <p:cNvPr id="45" name="Text 43"/>
          <p:cNvSpPr/>
          <p:nvPr/>
        </p:nvSpPr>
        <p:spPr>
          <a:xfrm>
            <a:off x="8366760" y="5029200"/>
            <a:ext cx="3200400" cy="502920"/>
          </a:xfrm>
          <a:prstGeom prst="rect">
            <a:avLst/>
          </a:prstGeom>
          <a:noFill/>
          <a:ln/>
        </p:spPr>
        <p:txBody>
          <a:bodyPr wrap="square" lIns="0" tIns="0" rIns="0" bIns="0" rtlCol="0" anchor="ctr"/>
          <a:lstStyle/>
          <a:p>
            <a:pPr marL="0" indent="0">
              <a:buNone/>
            </a:pPr>
            <a:r>
              <a:rPr lang="en-US" sz="1100" dirty="0">
                <a:solidFill>
                  <a:srgbClr val="1E1E1E"/>
                </a:solidFill>
                <a:latin typeface="Arial" pitchFamily="34" charset="0"/>
                <a:ea typeface="Arial" pitchFamily="34" charset="-122"/>
                <a:cs typeface="Arial" pitchFamily="34" charset="-120"/>
              </a:rPr>
              <a:t>Panel that renders it</a:t>
            </a:r>
          </a:p>
          <a:p>
            <a:pPr marL="0" indent="0">
              <a:buNone/>
            </a:pPr>
            <a:r>
              <a:rPr lang="en-US" sz="1100" dirty="0">
                <a:solidFill>
                  <a:srgbClr val="1E1E1E"/>
                </a:solidFill>
                <a:latin typeface="Arial" pitchFamily="34" charset="0"/>
                <a:cs typeface="Arial" pitchFamily="34" charset="-120"/>
              </a:rPr>
              <a:t>Maybe a word cloud, table of data information &amp; improved research note along with older indicators</a:t>
            </a:r>
            <a:endParaRPr lang="en-US" sz="1100" dirty="0"/>
          </a:p>
        </p:txBody>
      </p:sp>
      <p:sp>
        <p:nvSpPr>
          <p:cNvPr id="46" name="Text 44"/>
          <p:cNvSpPr/>
          <p:nvPr/>
        </p:nvSpPr>
        <p:spPr>
          <a:xfrm>
            <a:off x="457200" y="6035040"/>
            <a:ext cx="11247120" cy="457200"/>
          </a:xfrm>
          <a:prstGeom prst="rect">
            <a:avLst/>
          </a:prstGeom>
          <a:noFill/>
          <a:ln/>
        </p:spPr>
        <p:txBody>
          <a:bodyPr wrap="square" lIns="0" tIns="0" rIns="0" bIns="0" rtlCol="0" anchor="ctr"/>
          <a:lstStyle/>
          <a:p>
            <a:pPr marL="0" indent="0" algn="ctr">
              <a:buNone/>
            </a:pPr>
            <a:r>
              <a:rPr lang="en-US" sz="1400" b="1" i="1" dirty="0">
                <a:solidFill>
                  <a:srgbClr val="A51C30"/>
                </a:solidFill>
                <a:latin typeface="Arial" pitchFamily="34" charset="0"/>
                <a:ea typeface="Arial" pitchFamily="34" charset="-122"/>
                <a:cs typeface="Arial" pitchFamily="34" charset="-120"/>
              </a:rPr>
              <a:t>What did not change: the split. Code collects and structures. An LLM interprets. A human reads.</a:t>
            </a:r>
            <a:endParaRPr lang="en-US" sz="1400" dirty="0"/>
          </a:p>
        </p:txBody>
      </p:sp>
      <p:sp>
        <p:nvSpPr>
          <p:cNvPr id="47" name="Harvard Footer"/>
          <p:cNvSpPr txBox="1"/>
          <p:nvPr/>
        </p:nvSpPr>
        <p:spPr>
          <a:xfrm>
            <a:off x="137319" y="649176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48" name="Harvard Page Number"/>
          <p:cNvSpPr txBox="1"/>
          <p:nvPr/>
        </p:nvSpPr>
        <p:spPr>
          <a:xfrm>
            <a:off x="11730577" y="6446043"/>
            <a:ext cx="324104" cy="274638"/>
          </a:xfrm>
          <a:prstGeom prst="rect">
            <a:avLst/>
          </a:prstGeom>
          <a:noFill/>
        </p:spPr>
        <p:txBody>
          <a:bodyPr wrap="none" lIns="0" tIns="0" rIns="0" bIns="0">
            <a:noAutofit/>
          </a:bodyPr>
          <a:lstStyle/>
          <a:p>
            <a:pPr algn="r"/>
            <a:fld id="{3AF72110-3925-4B7C-A6F7-A1BA43B5C9E5}" type="slidenum">
              <a:rPr lang="en-US" sz="1000">
                <a:solidFill>
                  <a:srgbClr val="8996A0"/>
                </a:solidFill>
                <a:latin typeface="Arial"/>
              </a:rPr>
              <a:t>21</a:t>
            </a:fld>
            <a:endParaRPr lang="en-US" sz="1000">
              <a:solidFill>
                <a:srgbClr val="8996A0"/>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1E1E1E"/>
      </a:dk1>
      <a:lt1>
        <a:srgbClr val="FFFFFF"/>
      </a:lt1>
      <a:dk2>
        <a:srgbClr val="293352"/>
      </a:dk2>
      <a:lt2>
        <a:srgbClr val="F3F3F1"/>
      </a:lt2>
      <a:accent1>
        <a:srgbClr val="A51C30"/>
      </a:accent1>
      <a:accent2>
        <a:srgbClr val="293352"/>
      </a:accent2>
      <a:accent3>
        <a:srgbClr val="4E84C4"/>
      </a:accent3>
      <a:accent4>
        <a:srgbClr val="C4961A"/>
      </a:accent4>
      <a:accent5>
        <a:srgbClr val="8996A0"/>
      </a:accent5>
      <a:accent6>
        <a:srgbClr val="1E1E1E"/>
      </a:accent6>
      <a:hlink>
        <a:srgbClr val="4E84C4"/>
      </a:hlink>
      <a:folHlink>
        <a:srgbClr val="946EB7"/>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2572</Words>
  <Application>Microsoft Macintosh PowerPoint</Application>
  <PresentationFormat>Widescreen</PresentationFormat>
  <Paragraphs>351</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Ted Kwartler</cp:lastModifiedBy>
  <cp:revision>2</cp:revision>
  <dcterms:created xsi:type="dcterms:W3CDTF">2026-07-23T03:43:38Z</dcterms:created>
  <dcterms:modified xsi:type="dcterms:W3CDTF">2026-08-03T01:09:31Z</dcterms:modified>
</cp:coreProperties>
</file>